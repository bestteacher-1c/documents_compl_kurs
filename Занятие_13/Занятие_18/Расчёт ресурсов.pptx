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63" r:id="rId3"/>
    <p:sldId id="257" r:id="rId4"/>
    <p:sldId id="261" r:id="rId5"/>
    <p:sldId id="260" r:id="rId6"/>
    <p:sldId id="259" r:id="rId7"/>
    <p:sldId id="258" r:id="rId8"/>
    <p:sldId id="262" r:id="rId9"/>
    <p:sldId id="265" r:id="rId10"/>
    <p:sldId id="264" r:id="rId11"/>
    <p:sldId id="266" r:id="rId12"/>
    <p:sldId id="274" r:id="rId13"/>
    <p:sldId id="270" r:id="rId14"/>
    <p:sldId id="267" r:id="rId15"/>
    <p:sldId id="271" r:id="rId16"/>
    <p:sldId id="268" r:id="rId17"/>
    <p:sldId id="273" r:id="rId18"/>
    <p:sldId id="269" r:id="rId19"/>
    <p:sldId id="272" r:id="rId20"/>
    <p:sldId id="275" r:id="rId2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24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одзаголовок 2"/>
          <p:cNvSpPr txBox="1">
            <a:spLocks/>
          </p:cNvSpPr>
          <p:nvPr/>
        </p:nvSpPr>
        <p:spPr bwMode="auto">
          <a:xfrm>
            <a:off x="179388" y="115888"/>
            <a:ext cx="6768876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Clr>
                <a:srgbClr val="C00000"/>
              </a:buClr>
              <a:defRPr/>
            </a:pPr>
            <a:r>
              <a:rPr kumimoji="0" lang="ru-RU" sz="1800" b="1" dirty="0" smtClean="0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Конфигурирование</a:t>
            </a:r>
            <a:r>
              <a:rPr kumimoji="0" lang="ru-RU" sz="1800" b="1" baseline="0" dirty="0" smtClean="0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в системе 1С: Предприятие 8</a:t>
            </a:r>
            <a:endParaRPr kumimoji="0" lang="ru-RU" sz="1800" b="1" dirty="0" smtClean="0">
              <a:solidFill>
                <a:srgbClr val="0070C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79388" y="548679"/>
            <a:ext cx="8784000" cy="720081"/>
          </a:xfrm>
        </p:spPr>
        <p:txBody>
          <a:bodyPr/>
          <a:lstStyle>
            <a:lvl1pPr algn="ctr">
              <a:defRPr sz="3200" baseline="0"/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79388" y="1293839"/>
            <a:ext cx="8782050" cy="222339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rgbClr val="0070C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700520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85862" y="1268680"/>
            <a:ext cx="8784000" cy="4968631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buClr>
                <a:srgbClr val="C00000"/>
              </a:buClr>
              <a:buFontTx/>
              <a:buBlip>
                <a:blip r:embed="rId2"/>
              </a:buBlip>
              <a:defRPr/>
            </a:lvl1pPr>
            <a:lvl2pPr>
              <a:buClr>
                <a:srgbClr val="FF0000"/>
              </a:buClr>
              <a:buFont typeface="Verdana" pitchFamily="34" charset="0"/>
              <a:buChar char="•"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Clr>
                <a:srgbClr val="FF0000"/>
              </a:buClr>
              <a:buFont typeface="Wingdings" pitchFamily="2" charset="2"/>
              <a:buChar char="§"/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b="0"/>
            </a:lvl4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 dirty="0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185862" y="548680"/>
            <a:ext cx="8784000" cy="720000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73924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85862" y="1340768"/>
            <a:ext cx="3954090" cy="4896543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buClr>
                <a:srgbClr val="C00000"/>
              </a:buClr>
              <a:buFontTx/>
              <a:buBlip>
                <a:blip r:embed="rId2"/>
              </a:buBlip>
              <a:defRPr/>
            </a:lvl1pPr>
            <a:lvl2pPr>
              <a:buClr>
                <a:srgbClr val="FF0000"/>
              </a:buClr>
              <a:buFont typeface="Verdana" pitchFamily="34" charset="0"/>
              <a:buChar char="•"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Clr>
                <a:srgbClr val="FF0000"/>
              </a:buClr>
              <a:buFont typeface="Wingdings" pitchFamily="2" charset="2"/>
              <a:buChar char="§"/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b="0"/>
            </a:lvl4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 dirty="0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185862" y="548680"/>
            <a:ext cx="8784000" cy="720080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5" name="Рисунок 2"/>
          <p:cNvSpPr>
            <a:spLocks noGrp="1"/>
          </p:cNvSpPr>
          <p:nvPr>
            <p:ph type="pic" idx="10"/>
          </p:nvPr>
        </p:nvSpPr>
        <p:spPr>
          <a:xfrm>
            <a:off x="4314207" y="1340768"/>
            <a:ext cx="4629150" cy="48965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ru-RU" noProof="0" smtClean="0"/>
              <a:t>Вставка рисунка</a:t>
            </a:r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391599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85862" y="1268680"/>
            <a:ext cx="8784000" cy="4968631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buClr>
                <a:srgbClr val="C00000"/>
              </a:buClr>
              <a:buFontTx/>
              <a:buBlip>
                <a:blip r:embed="rId2"/>
              </a:buBlip>
              <a:defRPr/>
            </a:lvl1pPr>
            <a:lvl2pPr>
              <a:buClr>
                <a:srgbClr val="FF0000"/>
              </a:buClr>
              <a:buFont typeface="Verdana" pitchFamily="34" charset="0"/>
              <a:buChar char="•"/>
              <a:defRPr sz="2400">
                <a:solidFill>
                  <a:srgbClr val="FF0000"/>
                </a:solidFill>
              </a:defRPr>
            </a:lvl2pPr>
            <a:lvl3pPr>
              <a:buClr>
                <a:srgbClr val="FF0000"/>
              </a:buClr>
              <a:buFont typeface="Wingdings" pitchFamily="2" charset="2"/>
              <a:buChar char="§"/>
              <a:defRPr b="1">
                <a:solidFill>
                  <a:srgbClr val="0070C0"/>
                </a:solidFill>
              </a:defRPr>
            </a:lvl3pPr>
            <a:lvl4pPr>
              <a:defRPr b="0"/>
            </a:lvl4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 dirty="0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174651" y="548680"/>
            <a:ext cx="8784000" cy="720000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15448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32998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4788" y="548680"/>
            <a:ext cx="8784000" cy="720000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74788" y="1268680"/>
            <a:ext cx="8784000" cy="4968632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49317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87914-0B35-4492-8352-3BA708B946E3}" type="datetimeFigureOut">
              <a:rPr lang="ru-RU" smtClean="0"/>
              <a:t>10.07.2018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85BF4-D2AA-4878-8A9A-7FDE60BCF0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836612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87914-0B35-4492-8352-3BA708B946E3}" type="datetimeFigureOut">
              <a:rPr lang="ru-RU" smtClean="0"/>
              <a:t>10.07.2018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85BF4-D2AA-4878-8A9A-7FDE60BCF0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461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Группа 3"/>
          <p:cNvGrpSpPr>
            <a:grpSpLocks/>
          </p:cNvGrpSpPr>
          <p:nvPr/>
        </p:nvGrpSpPr>
        <p:grpSpPr bwMode="auto">
          <a:xfrm>
            <a:off x="185738" y="549275"/>
            <a:ext cx="8784000" cy="0"/>
            <a:chOff x="185862" y="620688"/>
            <a:chExt cx="8775700" cy="0"/>
          </a:xfrm>
        </p:grpSpPr>
        <p:cxnSp>
          <p:nvCxnSpPr>
            <p:cNvPr id="16" name="Прямая соединительная линия 15"/>
            <p:cNvCxnSpPr/>
            <p:nvPr/>
          </p:nvCxnSpPr>
          <p:spPr>
            <a:xfrm>
              <a:off x="185862" y="620688"/>
              <a:ext cx="877570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Прямая соединительная линия 16"/>
            <p:cNvCxnSpPr/>
            <p:nvPr/>
          </p:nvCxnSpPr>
          <p:spPr>
            <a:xfrm>
              <a:off x="185862" y="620688"/>
              <a:ext cx="2522537" cy="0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88119" y="571977"/>
            <a:ext cx="8784000" cy="5487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dirty="0" smtClean="0"/>
              <a:t>Заголовок</a:t>
            </a:r>
          </a:p>
        </p:txBody>
      </p:sp>
      <p:sp>
        <p:nvSpPr>
          <p:cNvPr id="8" name="Номер слайда 5"/>
          <p:cNvSpPr txBox="1">
            <a:spLocks/>
          </p:cNvSpPr>
          <p:nvPr/>
        </p:nvSpPr>
        <p:spPr>
          <a:xfrm>
            <a:off x="-1" y="6310313"/>
            <a:ext cx="855663" cy="293687"/>
          </a:xfrm>
          <a:prstGeom prst="rect">
            <a:avLst/>
          </a:prstGeom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defRPr/>
            </a:pPr>
            <a:fld id="{84FD9DA7-1D53-4DDE-8D05-49E2417E29ED}" type="slidenum">
              <a:rPr lang="ru-RU" sz="1600" smtClean="0">
                <a:solidFill>
                  <a:srgbClr val="0066CC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pPr algn="r">
                <a:defRPr/>
              </a:pPr>
              <a:t>‹#›</a:t>
            </a:fld>
            <a:r>
              <a:rPr lang="ru-RU" sz="1600" dirty="0" smtClean="0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/20</a:t>
            </a:r>
          </a:p>
        </p:txBody>
      </p:sp>
      <p:grpSp>
        <p:nvGrpSpPr>
          <p:cNvPr id="1029" name="Группа 17"/>
          <p:cNvGrpSpPr>
            <a:grpSpLocks/>
          </p:cNvGrpSpPr>
          <p:nvPr/>
        </p:nvGrpSpPr>
        <p:grpSpPr bwMode="auto">
          <a:xfrm>
            <a:off x="185738" y="6604000"/>
            <a:ext cx="6402387" cy="180975"/>
            <a:chOff x="185862" y="620688"/>
            <a:chExt cx="8775700" cy="0"/>
          </a:xfrm>
        </p:grpSpPr>
        <p:cxnSp>
          <p:nvCxnSpPr>
            <p:cNvPr id="19" name="Прямая соединительная линия 18"/>
            <p:cNvCxnSpPr/>
            <p:nvPr/>
          </p:nvCxnSpPr>
          <p:spPr>
            <a:xfrm>
              <a:off x="185862" y="620688"/>
              <a:ext cx="877570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Прямая соединительная линия 19"/>
            <p:cNvCxnSpPr/>
            <p:nvPr/>
          </p:nvCxnSpPr>
          <p:spPr>
            <a:xfrm>
              <a:off x="185862" y="620688"/>
              <a:ext cx="2521952" cy="0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30" name="Рисунок 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588" y="6310313"/>
            <a:ext cx="2224087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Подзаголовок 2"/>
          <p:cNvSpPr txBox="1">
            <a:spLocks/>
          </p:cNvSpPr>
          <p:nvPr/>
        </p:nvSpPr>
        <p:spPr bwMode="auto">
          <a:xfrm>
            <a:off x="179388" y="115888"/>
            <a:ext cx="6768876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Clr>
                <a:srgbClr val="C00000"/>
              </a:buClr>
              <a:defRPr/>
            </a:pPr>
            <a:r>
              <a:rPr kumimoji="0" lang="ru-RU" sz="1800" b="1" dirty="0" smtClean="0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Конфигурирование</a:t>
            </a:r>
            <a:r>
              <a:rPr kumimoji="0" lang="ru-RU" sz="1800" b="1" baseline="0" dirty="0" smtClean="0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в системе 1С: Предприятие 8</a:t>
            </a:r>
            <a:endParaRPr kumimoji="0" lang="ru-RU" sz="1800" b="1" dirty="0" smtClean="0">
              <a:solidFill>
                <a:srgbClr val="0070C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TextBox 14"/>
          <p:cNvSpPr txBox="1">
            <a:spLocks noChangeArrowheads="1"/>
          </p:cNvSpPr>
          <p:nvPr/>
        </p:nvSpPr>
        <p:spPr bwMode="auto">
          <a:xfrm>
            <a:off x="5435600" y="138113"/>
            <a:ext cx="352583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>
              <a:defRPr/>
            </a:pPr>
            <a:r>
              <a:rPr lang="ru-RU" sz="1600" dirty="0" smtClean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Расчётные задачи</a:t>
            </a:r>
          </a:p>
        </p:txBody>
      </p:sp>
    </p:spTree>
    <p:extLst>
      <p:ext uri="{BB962C8B-B14F-4D97-AF65-F5344CB8AC3E}">
        <p14:creationId xmlns:p14="http://schemas.microsoft.com/office/powerpoint/2010/main" val="4158545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3200" b="1" kern="1200">
          <a:ln>
            <a:solidFill>
              <a:schemeClr val="bg1"/>
            </a:solidFill>
          </a:ln>
          <a:gradFill>
            <a:gsLst>
              <a:gs pos="55000">
                <a:srgbClr val="F50516"/>
              </a:gs>
              <a:gs pos="86000">
                <a:srgbClr val="C00000"/>
              </a:gs>
            </a:gsLst>
            <a:lin ang="5400000" scaled="0"/>
          </a:gradFill>
          <a:effectLst>
            <a:outerShdw blurRad="38100" dist="38100" dir="5400000" algn="ctr" rotWithShape="0">
              <a:schemeClr val="bg1">
                <a:lumMod val="50000"/>
              </a:schemeClr>
            </a:outerShdw>
          </a:effectLst>
          <a:latin typeface="Arial Black" pitchFamily="34" charset="0"/>
          <a:ea typeface="Verdana" pitchFamily="34" charset="0"/>
          <a:cs typeface="Verdana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 Black" pitchFamily="34" charset="0"/>
          <a:ea typeface="Verdana" pitchFamily="34" charset="0"/>
          <a:cs typeface="Verdana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 Black" pitchFamily="34" charset="0"/>
          <a:ea typeface="Verdana" pitchFamily="34" charset="0"/>
          <a:cs typeface="Verdana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 Black" pitchFamily="34" charset="0"/>
          <a:ea typeface="Verdana" pitchFamily="34" charset="0"/>
          <a:cs typeface="Verdana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 Black" pitchFamily="34" charset="0"/>
          <a:ea typeface="Verdana" pitchFamily="34" charset="0"/>
          <a:cs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C00000"/>
          </a:solidFill>
          <a:latin typeface="Verdana" pitchFamily="34" charset="0"/>
          <a:ea typeface="Verdana" pitchFamily="34" charset="0"/>
          <a:cs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C00000"/>
          </a:solidFill>
          <a:latin typeface="Verdana" pitchFamily="34" charset="0"/>
          <a:ea typeface="Verdana" pitchFamily="34" charset="0"/>
          <a:cs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C00000"/>
          </a:solidFill>
          <a:latin typeface="Verdana" pitchFamily="34" charset="0"/>
          <a:ea typeface="Verdana" pitchFamily="34" charset="0"/>
          <a:cs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C00000"/>
          </a:solidFill>
          <a:latin typeface="Verdana" pitchFamily="34" charset="0"/>
          <a:ea typeface="Verdana" pitchFamily="34" charset="0"/>
          <a:cs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C00000"/>
        </a:buClr>
        <a:defRPr sz="2800" b="1" kern="1200">
          <a:solidFill>
            <a:srgbClr val="0070C0"/>
          </a:solidFill>
          <a:latin typeface="Tahoma" pitchFamily="34" charset="0"/>
          <a:ea typeface="Tahoma" pitchFamily="34" charset="0"/>
          <a:cs typeface="Tahoma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Blip>
          <a:blip r:embed="rId11"/>
        </a:buBlip>
        <a:defRPr sz="2800" b="1" kern="1200">
          <a:solidFill>
            <a:srgbClr val="FF0000"/>
          </a:solidFill>
          <a:latin typeface="Tahoma" pitchFamily="34" charset="0"/>
          <a:ea typeface="Tahoma" pitchFamily="34" charset="0"/>
          <a:cs typeface="Tahoma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Blip>
          <a:blip r:embed="rId12"/>
        </a:buBlip>
        <a:defRPr sz="2000" b="1" kern="1200">
          <a:solidFill>
            <a:srgbClr val="0070C0"/>
          </a:solidFill>
          <a:latin typeface="Tahoma" pitchFamily="34" charset="0"/>
          <a:ea typeface="Tahoma" pitchFamily="34" charset="0"/>
          <a:cs typeface="Tahoma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§"/>
        <a:defRPr b="1" kern="1200">
          <a:solidFill>
            <a:srgbClr val="404040"/>
          </a:solidFill>
          <a:latin typeface="Tahoma" pitchFamily="34" charset="0"/>
          <a:ea typeface="Tahoma" pitchFamily="34" charset="0"/>
          <a:cs typeface="Tahoma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Arial" panose="020B0604020202020204" pitchFamily="34" charset="0"/>
        <a:buChar char="•"/>
        <a:defRPr sz="1600" kern="1200">
          <a:solidFill>
            <a:srgbClr val="404040"/>
          </a:solidFill>
          <a:latin typeface="Tahoma" pitchFamily="34" charset="0"/>
          <a:ea typeface="Tahoma" pitchFamily="34" charset="0"/>
          <a:cs typeface="Tahoma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Расчёт ресурсов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Алгоритм расчёта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89929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261851" y="598514"/>
            <a:ext cx="8784000" cy="548798"/>
          </a:xfrm>
        </p:spPr>
        <p:txBody>
          <a:bodyPr/>
          <a:lstStyle/>
          <a:p>
            <a:r>
              <a:rPr lang="ru-RU" dirty="0" smtClean="0"/>
              <a:t>Схема данных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792480" y="1305097"/>
            <a:ext cx="8027670" cy="16957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Набор записей</a:t>
            </a:r>
            <a:br>
              <a:rPr lang="ru-RU" dirty="0" smtClean="0"/>
            </a:br>
            <a:r>
              <a:rPr lang="ru-RU" dirty="0" smtClean="0"/>
              <a:t>(каждая запись содержит ресурсы, которые надо рассчитать)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792480" y="3549535"/>
            <a:ext cx="3950970" cy="218624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b="1" dirty="0" smtClean="0"/>
              <a:t>Результат Запроса</a:t>
            </a:r>
            <a:r>
              <a:rPr lang="ru-RU" dirty="0" smtClean="0"/>
              <a:t> к таблице движений с отбором по регистратору.</a:t>
            </a:r>
            <a:br>
              <a:rPr lang="ru-RU" dirty="0" smtClean="0"/>
            </a:br>
            <a:r>
              <a:rPr lang="ru-RU" dirty="0" smtClean="0"/>
              <a:t>Данные упорядочены по приоритету и номеру строки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5084618" y="3549534"/>
            <a:ext cx="3735532" cy="218624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b="1" dirty="0" smtClean="0"/>
              <a:t>Результат Запрос</a:t>
            </a:r>
            <a:r>
              <a:rPr lang="ru-RU" dirty="0" smtClean="0"/>
              <a:t> к виртуальным таблицам регистра расчета: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Данные графика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База</a:t>
            </a:r>
            <a:endParaRPr lang="ru-RU" dirty="0"/>
          </a:p>
        </p:txBody>
      </p:sp>
      <p:sp>
        <p:nvSpPr>
          <p:cNvPr id="8" name="Развернутая стрелка 7"/>
          <p:cNvSpPr/>
          <p:nvPr/>
        </p:nvSpPr>
        <p:spPr>
          <a:xfrm rot="16200000">
            <a:off x="-894310" y="2901834"/>
            <a:ext cx="2842952" cy="530629"/>
          </a:xfrm>
          <a:prstGeom prst="uturnArrow">
            <a:avLst>
              <a:gd name="adj1" fmla="val 25000"/>
              <a:gd name="adj2" fmla="val 25000"/>
              <a:gd name="adj3" fmla="val 26567"/>
              <a:gd name="adj4" fmla="val 43750"/>
              <a:gd name="adj5" fmla="val 75000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9" name="Развернутая стрелка 8"/>
          <p:cNvSpPr/>
          <p:nvPr/>
        </p:nvSpPr>
        <p:spPr>
          <a:xfrm>
            <a:off x="903316" y="3158679"/>
            <a:ext cx="4624647" cy="748303"/>
          </a:xfrm>
          <a:prstGeom prst="uturnArrow">
            <a:avLst>
              <a:gd name="adj1" fmla="val 19899"/>
              <a:gd name="adj2" fmla="val 25000"/>
              <a:gd name="adj3" fmla="val 21939"/>
              <a:gd name="adj4" fmla="val 43750"/>
              <a:gd name="adj5" fmla="val 66838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2465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Набор записей</a:t>
            </a:r>
            <a:endParaRPr lang="ru-RU" dirty="0"/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6645157"/>
              </p:ext>
            </p:extLst>
          </p:nvPr>
        </p:nvGraphicFramePr>
        <p:xfrm>
          <a:off x="188119" y="1239087"/>
          <a:ext cx="8783999" cy="3247187"/>
        </p:xfrm>
        <a:graphic>
          <a:graphicData uri="http://schemas.openxmlformats.org/drawingml/2006/table">
            <a:tbl>
              <a:tblPr/>
              <a:tblGrid>
                <a:gridCol w="570841">
                  <a:extLst>
                    <a:ext uri="{9D8B030D-6E8A-4147-A177-3AD203B41FA5}">
                      <a16:colId xmlns:a16="http://schemas.microsoft.com/office/drawing/2014/main" val="2998289165"/>
                    </a:ext>
                  </a:extLst>
                </a:gridCol>
                <a:gridCol w="1193511">
                  <a:extLst>
                    <a:ext uri="{9D8B030D-6E8A-4147-A177-3AD203B41FA5}">
                      <a16:colId xmlns:a16="http://schemas.microsoft.com/office/drawing/2014/main" val="1309104618"/>
                    </a:ext>
                  </a:extLst>
                </a:gridCol>
                <a:gridCol w="630814">
                  <a:extLst>
                    <a:ext uri="{9D8B030D-6E8A-4147-A177-3AD203B41FA5}">
                      <a16:colId xmlns:a16="http://schemas.microsoft.com/office/drawing/2014/main" val="1376281065"/>
                    </a:ext>
                  </a:extLst>
                </a:gridCol>
                <a:gridCol w="825536">
                  <a:extLst>
                    <a:ext uri="{9D8B030D-6E8A-4147-A177-3AD203B41FA5}">
                      <a16:colId xmlns:a16="http://schemas.microsoft.com/office/drawing/2014/main" val="3570388436"/>
                    </a:ext>
                  </a:extLst>
                </a:gridCol>
                <a:gridCol w="552332">
                  <a:extLst>
                    <a:ext uri="{9D8B030D-6E8A-4147-A177-3AD203B41FA5}">
                      <a16:colId xmlns:a16="http://schemas.microsoft.com/office/drawing/2014/main" val="2590104709"/>
                    </a:ext>
                  </a:extLst>
                </a:gridCol>
                <a:gridCol w="833680">
                  <a:extLst>
                    <a:ext uri="{9D8B030D-6E8A-4147-A177-3AD203B41FA5}">
                      <a16:colId xmlns:a16="http://schemas.microsoft.com/office/drawing/2014/main" val="3796838509"/>
                    </a:ext>
                  </a:extLst>
                </a:gridCol>
                <a:gridCol w="570841">
                  <a:extLst>
                    <a:ext uri="{9D8B030D-6E8A-4147-A177-3AD203B41FA5}">
                      <a16:colId xmlns:a16="http://schemas.microsoft.com/office/drawing/2014/main" val="1472304097"/>
                    </a:ext>
                  </a:extLst>
                </a:gridCol>
                <a:gridCol w="828497">
                  <a:extLst>
                    <a:ext uri="{9D8B030D-6E8A-4147-A177-3AD203B41FA5}">
                      <a16:colId xmlns:a16="http://schemas.microsoft.com/office/drawing/2014/main" val="2197324808"/>
                    </a:ext>
                  </a:extLst>
                </a:gridCol>
                <a:gridCol w="710035">
                  <a:extLst>
                    <a:ext uri="{9D8B030D-6E8A-4147-A177-3AD203B41FA5}">
                      <a16:colId xmlns:a16="http://schemas.microsoft.com/office/drawing/2014/main" val="2571466262"/>
                    </a:ext>
                  </a:extLst>
                </a:gridCol>
                <a:gridCol w="710035">
                  <a:extLst>
                    <a:ext uri="{9D8B030D-6E8A-4147-A177-3AD203B41FA5}">
                      <a16:colId xmlns:a16="http://schemas.microsoft.com/office/drawing/2014/main" val="2409714820"/>
                    </a:ext>
                  </a:extLst>
                </a:gridCol>
                <a:gridCol w="710035">
                  <a:extLst>
                    <a:ext uri="{9D8B030D-6E8A-4147-A177-3AD203B41FA5}">
                      <a16:colId xmlns:a16="http://schemas.microsoft.com/office/drawing/2014/main" val="1458703185"/>
                    </a:ext>
                  </a:extLst>
                </a:gridCol>
                <a:gridCol w="647842">
                  <a:extLst>
                    <a:ext uri="{9D8B030D-6E8A-4147-A177-3AD203B41FA5}">
                      <a16:colId xmlns:a16="http://schemas.microsoft.com/office/drawing/2014/main" val="2672061986"/>
                    </a:ext>
                  </a:extLst>
                </a:gridCol>
              </a:tblGrid>
              <a:tr h="225571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 стр.</a:t>
                      </a:r>
                      <a:endParaRPr lang="ru-RU" sz="600">
                        <a:effectLst/>
                      </a:endParaRP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Регистратор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ВР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Физическое Лицо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Результат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Отработано Дней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Размер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График Работы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ПДН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ПДК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БПН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БПК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2473155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4 от 06.03.2018 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Оклад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Полушко 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8 000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05.02.2018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0508099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Доплата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Полушко 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05.02.2018 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28.02.2018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1514436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Надбавка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Полушко 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05.02.2018 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28.02.2018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7112024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Оклад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Мальцев 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8 000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04.02.2018 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4392649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Доплата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Мальцев 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04.02.2018 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04.02.2018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8501475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Надбавка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Мальцев 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04.02.2018 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04.02.2018 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9504043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Оклад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Соловьев 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5 000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Сутки через 3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2010696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Надбавка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Соловьев 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Сутки через 3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28.02.2018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3228266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Доплата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Соловьев 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Сутки через 3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1921888"/>
                  </a:ext>
                </a:extLst>
              </a:tr>
              <a:tr h="249836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Доплата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Иванцева 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Пятидневка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28.02.2018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719270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Надбавка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Иванцева 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Пятидневка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28.02.2018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940674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Оклад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Иванцева 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10 000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Пятидневка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0565783"/>
                  </a:ext>
                </a:extLst>
              </a:tr>
            </a:tbl>
          </a:graphicData>
        </a:graphic>
      </p:graphicFrame>
      <p:sp>
        <p:nvSpPr>
          <p:cNvPr id="5" name="Скругленный прямоугольник 4"/>
          <p:cNvSpPr/>
          <p:nvPr/>
        </p:nvSpPr>
        <p:spPr>
          <a:xfrm>
            <a:off x="3337930" y="1120775"/>
            <a:ext cx="1557920" cy="3460750"/>
          </a:xfrm>
          <a:prstGeom prst="roundRect">
            <a:avLst/>
          </a:prstGeom>
          <a:noFill/>
          <a:ln w="381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3765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10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50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Вид расчета «Надбавка»</a:t>
            </a:r>
            <a:endParaRPr lang="ru-RU" dirty="0"/>
          </a:p>
        </p:txBody>
      </p:sp>
      <p:pic>
        <p:nvPicPr>
          <p:cNvPr id="2050" name="Picture 2" descr="C:\Users\sizov\AppData\Local\Temp\SNAGHTML468d1e7c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717" y="1045803"/>
            <a:ext cx="5943600" cy="552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2045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Вид расчета «Доплата»</a:t>
            </a:r>
            <a:endParaRPr lang="ru-RU" dirty="0"/>
          </a:p>
        </p:txBody>
      </p:sp>
      <p:pic>
        <p:nvPicPr>
          <p:cNvPr id="1026" name="Picture 2" descr="C:\Users\sizov\AppData\Local\Temp\SNAGHTML468c31f9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718" y="1045961"/>
            <a:ext cx="5943600" cy="552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7010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Вид расчета «Оклад»</a:t>
            </a:r>
            <a:endParaRPr lang="ru-RU" dirty="0"/>
          </a:p>
        </p:txBody>
      </p:sp>
      <p:pic>
        <p:nvPicPr>
          <p:cNvPr id="3074" name="Picture 2" descr="C:\Users\sizov\AppData\Local\Temp\SNAGHTML468e22eb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717" y="1048040"/>
            <a:ext cx="5943600" cy="552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7463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Результат запроса к таблице движений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63" y="1216025"/>
            <a:ext cx="8352511" cy="427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127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Обход итоговых записей</a:t>
            </a:r>
            <a:endParaRPr lang="ru-RU" dirty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7443253"/>
              </p:ext>
            </p:extLst>
          </p:nvPr>
        </p:nvGraphicFramePr>
        <p:xfrm>
          <a:off x="188119" y="1485770"/>
          <a:ext cx="6849769" cy="4033520"/>
        </p:xfrm>
        <a:graphic>
          <a:graphicData uri="http://schemas.openxmlformats.org/drawingml/2006/table">
            <a:tbl>
              <a:tblPr/>
              <a:tblGrid>
                <a:gridCol w="738835">
                  <a:extLst>
                    <a:ext uri="{9D8B030D-6E8A-4147-A177-3AD203B41FA5}">
                      <a16:colId xmlns:a16="http://schemas.microsoft.com/office/drawing/2014/main" val="2810753153"/>
                    </a:ext>
                  </a:extLst>
                </a:gridCol>
                <a:gridCol w="617220">
                  <a:extLst>
                    <a:ext uri="{9D8B030D-6E8A-4147-A177-3AD203B41FA5}">
                      <a16:colId xmlns:a16="http://schemas.microsoft.com/office/drawing/2014/main" val="2884761587"/>
                    </a:ext>
                  </a:extLst>
                </a:gridCol>
                <a:gridCol w="1089050">
                  <a:extLst>
                    <a:ext uri="{9D8B030D-6E8A-4147-A177-3AD203B41FA5}">
                      <a16:colId xmlns:a16="http://schemas.microsoft.com/office/drawing/2014/main" val="2742937019"/>
                    </a:ext>
                  </a:extLst>
                </a:gridCol>
                <a:gridCol w="2725826">
                  <a:extLst>
                    <a:ext uri="{9D8B030D-6E8A-4147-A177-3AD203B41FA5}">
                      <a16:colId xmlns:a16="http://schemas.microsoft.com/office/drawing/2014/main" val="1307113957"/>
                    </a:ext>
                  </a:extLst>
                </a:gridCol>
                <a:gridCol w="1678838">
                  <a:extLst>
                    <a:ext uri="{9D8B030D-6E8A-4147-A177-3AD203B41FA5}">
                      <a16:colId xmlns:a16="http://schemas.microsoft.com/office/drawing/2014/main" val="15394111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>
                          <a:effectLst/>
                          <a:latin typeface="Arial" panose="020B0604020202020204" pitchFamily="34" charset="0"/>
                        </a:rPr>
                        <a:t>Приоритет</a:t>
                      </a:r>
                      <a:endParaRPr lang="ru-RU" sz="8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800" b="1">
                          <a:effectLst/>
                          <a:latin typeface="Arial" panose="020B0604020202020204" pitchFamily="34" charset="0"/>
                        </a:rPr>
                        <a:t> стр.</a:t>
                      </a:r>
                      <a:endParaRPr lang="ru-RU" sz="800"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>
                          <a:effectLst/>
                          <a:latin typeface="Arial" panose="020B0604020202020204" pitchFamily="34" charset="0"/>
                        </a:rPr>
                        <a:t>Вид Расчета</a:t>
                      </a:r>
                      <a:endParaRPr lang="ru-RU" sz="8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>
                          <a:effectLst/>
                          <a:latin typeface="Arial" panose="020B0604020202020204" pitchFamily="34" charset="0"/>
                        </a:rPr>
                        <a:t>Способ Расчета</a:t>
                      </a:r>
                      <a:endParaRPr lang="ru-RU" sz="8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>
                          <a:effectLst/>
                          <a:latin typeface="Arial" panose="020B0604020202020204" pitchFamily="34" charset="0"/>
                        </a:rPr>
                        <a:t>Зачет Отработанного Времени</a:t>
                      </a:r>
                      <a:endParaRPr lang="ru-RU" sz="8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94191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88736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Оклад по дням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По месячной тарифной ставке по дням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Да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2447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Оклад по дням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По месячной тарифной ставке по дням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Да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96726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Оклад по дням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По месячной тарифной ставке по дням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Да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1134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Оклад по дням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По месячной тарифной ставке по дням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Да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29628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5626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Процентом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Нет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8305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Процентом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Нет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14508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По формуле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Нет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98457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Процентом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Нет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39082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725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Процентом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Arial" panose="020B0604020202020204" pitchFamily="34" charset="0"/>
                        </a:rPr>
                        <a:t>Нет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10866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Процентом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Нет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47774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Процентом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Нет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82406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Процентом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Arial" panose="020B0604020202020204" pitchFamily="34" charset="0"/>
                        </a:rPr>
                        <a:t>Нет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3317194"/>
                  </a:ext>
                </a:extLst>
              </a:tr>
            </a:tbl>
          </a:graphicData>
        </a:graphic>
      </p:graphicFrame>
      <p:sp>
        <p:nvSpPr>
          <p:cNvPr id="4" name="Скругленный прямоугольник 3"/>
          <p:cNvSpPr/>
          <p:nvPr/>
        </p:nvSpPr>
        <p:spPr>
          <a:xfrm>
            <a:off x="74815" y="1662545"/>
            <a:ext cx="7076377" cy="332510"/>
          </a:xfrm>
          <a:prstGeom prst="round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83128" y="2927466"/>
            <a:ext cx="7068064" cy="332510"/>
          </a:xfrm>
          <a:prstGeom prst="roundRect">
            <a:avLst/>
          </a:prstGeom>
          <a:noFill/>
          <a:ln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74815" y="4203469"/>
            <a:ext cx="7076377" cy="332510"/>
          </a:xfrm>
          <a:prstGeom prst="roundRect">
            <a:avLst/>
          </a:prstGeom>
          <a:noFill/>
          <a:ln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/>
          <p:cNvSpPr txBox="1"/>
          <p:nvPr/>
        </p:nvSpPr>
        <p:spPr>
          <a:xfrm>
            <a:off x="7151192" y="1510130"/>
            <a:ext cx="18209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>
                <a:solidFill>
                  <a:srgbClr val="C00000"/>
                </a:solidFill>
              </a:rPr>
              <a:t>Получение данных графика и базы для записей с приоритетом 0</a:t>
            </a:r>
            <a:endParaRPr lang="ru-RU" sz="1200" dirty="0">
              <a:solidFill>
                <a:srgbClr val="C0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151192" y="2776096"/>
            <a:ext cx="18209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>
                <a:solidFill>
                  <a:srgbClr val="0070C0"/>
                </a:solidFill>
              </a:rPr>
              <a:t>Получение данных графика и базы для записей с приоритетом 1</a:t>
            </a:r>
            <a:endParaRPr lang="ru-RU" sz="1200" dirty="0">
              <a:solidFill>
                <a:srgbClr val="0070C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151192" y="4046558"/>
            <a:ext cx="18209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>
                <a:solidFill>
                  <a:srgbClr val="7030A0"/>
                </a:solidFill>
              </a:rPr>
              <a:t>Получение данных графика и базы для записей с приоритетом 2</a:t>
            </a:r>
            <a:endParaRPr lang="ru-RU" sz="12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4561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/>
      <p:bldP spid="8" grpId="0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Данные графика и расчетная база</a:t>
            </a:r>
            <a:endParaRPr lang="ru-RU" dirty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8174448"/>
              </p:ext>
            </p:extLst>
          </p:nvPr>
        </p:nvGraphicFramePr>
        <p:xfrm>
          <a:off x="1856259" y="1396524"/>
          <a:ext cx="7115860" cy="1361440"/>
        </p:xfrm>
        <a:graphic>
          <a:graphicData uri="http://schemas.openxmlformats.org/drawingml/2006/table">
            <a:tbl>
              <a:tblPr/>
              <a:tblGrid>
                <a:gridCol w="874166">
                  <a:extLst>
                    <a:ext uri="{9D8B030D-6E8A-4147-A177-3AD203B41FA5}">
                      <a16:colId xmlns:a16="http://schemas.microsoft.com/office/drawing/2014/main" val="2538296695"/>
                    </a:ext>
                  </a:extLst>
                </a:gridCol>
                <a:gridCol w="1721815">
                  <a:extLst>
                    <a:ext uri="{9D8B030D-6E8A-4147-A177-3AD203B41FA5}">
                      <a16:colId xmlns:a16="http://schemas.microsoft.com/office/drawing/2014/main" val="2901817851"/>
                    </a:ext>
                  </a:extLst>
                </a:gridCol>
                <a:gridCol w="2398471">
                  <a:extLst>
                    <a:ext uri="{9D8B030D-6E8A-4147-A177-3AD203B41FA5}">
                      <a16:colId xmlns:a16="http://schemas.microsoft.com/office/drawing/2014/main" val="3100881228"/>
                    </a:ext>
                  </a:extLst>
                </a:gridCol>
                <a:gridCol w="937260">
                  <a:extLst>
                    <a:ext uri="{9D8B030D-6E8A-4147-A177-3AD203B41FA5}">
                      <a16:colId xmlns:a16="http://schemas.microsoft.com/office/drawing/2014/main" val="1832140104"/>
                    </a:ext>
                  </a:extLst>
                </a:gridCol>
                <a:gridCol w="1184148">
                  <a:extLst>
                    <a:ext uri="{9D8B030D-6E8A-4147-A177-3AD203B41FA5}">
                      <a16:colId xmlns:a16="http://schemas.microsoft.com/office/drawing/2014/main" val="24760648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effectLst/>
                          <a:latin typeface="Arial" panose="020B0604020202020204" pitchFamily="34" charset="0"/>
                        </a:rPr>
                        <a:t>Номер Строки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effectLst/>
                          <a:latin typeface="Arial" panose="020B0604020202020204" pitchFamily="34" charset="0"/>
                        </a:rPr>
                        <a:t>Значение Дни </a:t>
                      </a:r>
                      <a:r>
                        <a:rPr lang="ru-RU" sz="800" b="1" dirty="0" smtClean="0">
                          <a:effectLst/>
                          <a:latin typeface="Arial" panose="020B0604020202020204" pitchFamily="34" charset="0"/>
                        </a:rPr>
                        <a:t>Период Действия</a:t>
                      </a:r>
                      <a:endParaRPr lang="ru-RU" sz="800" b="1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effectLst/>
                          <a:latin typeface="Arial" panose="020B0604020202020204" pitchFamily="34" charset="0"/>
                        </a:rPr>
                        <a:t>Значение Дни Фактический Период Действия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effectLst/>
                          <a:latin typeface="Arial" panose="020B0604020202020204" pitchFamily="34" charset="0"/>
                        </a:rPr>
                        <a:t>Результат База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effectLst/>
                          <a:latin typeface="Arial" panose="020B0604020202020204" pitchFamily="34" charset="0"/>
                        </a:rPr>
                        <a:t>Отработано Дней База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61917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Arial" panose="020B060402020202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84662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57592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 smtClean="0">
                          <a:effectLst/>
                          <a:latin typeface="Arial" panose="020B0604020202020204" pitchFamily="34" charset="0"/>
                        </a:rPr>
                        <a:t>7</a:t>
                      </a:r>
                      <a:endParaRPr lang="ru-RU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 smtClean="0">
                          <a:effectLst/>
                          <a:latin typeface="Arial" panose="020B0604020202020204" pitchFamily="34" charset="0"/>
                        </a:rPr>
                        <a:t>7</a:t>
                      </a:r>
                      <a:endParaRPr lang="ru-RU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 smtClean="0">
                          <a:effectLst/>
                          <a:latin typeface="Arial" panose="020B0604020202020204" pitchFamily="34" charset="0"/>
                        </a:rPr>
                        <a:t>7</a:t>
                      </a:r>
                      <a:endParaRPr lang="ru-RU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84684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 smtClean="0">
                          <a:effectLst/>
                          <a:latin typeface="Arial" panose="020B0604020202020204" pitchFamily="34" charset="0"/>
                        </a:rPr>
                        <a:t>12</a:t>
                      </a:r>
                      <a:endParaRPr lang="ru-RU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 smtClean="0">
                          <a:effectLst/>
                          <a:latin typeface="Arial" panose="020B0604020202020204" pitchFamily="34" charset="0"/>
                        </a:rPr>
                        <a:t>21</a:t>
                      </a:r>
                      <a:endParaRPr lang="ru-RU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 smtClean="0">
                          <a:effectLst/>
                          <a:latin typeface="Arial" panose="020B0604020202020204" pitchFamily="34" charset="0"/>
                        </a:rPr>
                        <a:t>21</a:t>
                      </a:r>
                      <a:endParaRPr lang="ru-RU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35042"/>
                  </a:ext>
                </a:extLst>
              </a:tr>
            </a:tbl>
          </a:graphicData>
        </a:graphic>
      </p:graphicFrame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292641"/>
              </p:ext>
            </p:extLst>
          </p:nvPr>
        </p:nvGraphicFramePr>
        <p:xfrm>
          <a:off x="1856259" y="3143409"/>
          <a:ext cx="7120433" cy="1361440"/>
        </p:xfrm>
        <a:graphic>
          <a:graphicData uri="http://schemas.openxmlformats.org/drawingml/2006/table">
            <a:tbl>
              <a:tblPr/>
              <a:tblGrid>
                <a:gridCol w="948233">
                  <a:extLst>
                    <a:ext uri="{9D8B030D-6E8A-4147-A177-3AD203B41FA5}">
                      <a16:colId xmlns:a16="http://schemas.microsoft.com/office/drawing/2014/main" val="1359196682"/>
                    </a:ext>
                  </a:extLst>
                </a:gridCol>
                <a:gridCol w="1708099">
                  <a:extLst>
                    <a:ext uri="{9D8B030D-6E8A-4147-A177-3AD203B41FA5}">
                      <a16:colId xmlns:a16="http://schemas.microsoft.com/office/drawing/2014/main" val="994377240"/>
                    </a:ext>
                  </a:extLst>
                </a:gridCol>
                <a:gridCol w="2327148">
                  <a:extLst>
                    <a:ext uri="{9D8B030D-6E8A-4147-A177-3AD203B41FA5}">
                      <a16:colId xmlns:a16="http://schemas.microsoft.com/office/drawing/2014/main" val="1644668080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637251917"/>
                    </a:ext>
                  </a:extLst>
                </a:gridCol>
                <a:gridCol w="1204265">
                  <a:extLst>
                    <a:ext uri="{9D8B030D-6E8A-4147-A177-3AD203B41FA5}">
                      <a16:colId xmlns:a16="http://schemas.microsoft.com/office/drawing/2014/main" val="4966172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effectLst/>
                          <a:latin typeface="Arial" panose="020B0604020202020204" pitchFamily="34" charset="0"/>
                        </a:rPr>
                        <a:t>Номер Строки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effectLst/>
                          <a:latin typeface="Arial" panose="020B0604020202020204" pitchFamily="34" charset="0"/>
                        </a:rPr>
                        <a:t>Значение Дни Период Действия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effectLst/>
                          <a:latin typeface="Arial" panose="020B0604020202020204" pitchFamily="34" charset="0"/>
                        </a:rPr>
                        <a:t>Значение Дни Фактический Период Действия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effectLst/>
                          <a:latin typeface="Arial" panose="020B0604020202020204" pitchFamily="34" charset="0"/>
                        </a:rPr>
                        <a:t>Результат База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effectLst/>
                          <a:latin typeface="Arial" panose="020B0604020202020204" pitchFamily="34" charset="0"/>
                        </a:rPr>
                        <a:t>Отработано Дней База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66986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7 040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38975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960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74646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 smtClean="0">
                          <a:effectLst/>
                          <a:latin typeface="Arial" panose="020B0604020202020204" pitchFamily="34" charset="0"/>
                        </a:rPr>
                        <a:t>9</a:t>
                      </a:r>
                      <a:endParaRPr lang="ru-RU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10 000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21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4200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 smtClean="0">
                          <a:effectLst/>
                          <a:latin typeface="Arial" panose="020B0604020202020204" pitchFamily="34" charset="0"/>
                        </a:rPr>
                        <a:t>11</a:t>
                      </a:r>
                      <a:endParaRPr lang="ru-RU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5 000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976352"/>
                  </a:ext>
                </a:extLst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7296523"/>
              </p:ext>
            </p:extLst>
          </p:nvPr>
        </p:nvGraphicFramePr>
        <p:xfrm>
          <a:off x="1827912" y="4890294"/>
          <a:ext cx="7144207" cy="1361440"/>
        </p:xfrm>
        <a:graphic>
          <a:graphicData uri="http://schemas.openxmlformats.org/drawingml/2006/table">
            <a:tbl>
              <a:tblPr/>
              <a:tblGrid>
                <a:gridCol w="950976">
                  <a:extLst>
                    <a:ext uri="{9D8B030D-6E8A-4147-A177-3AD203B41FA5}">
                      <a16:colId xmlns:a16="http://schemas.microsoft.com/office/drawing/2014/main" val="534234292"/>
                    </a:ext>
                  </a:extLst>
                </a:gridCol>
                <a:gridCol w="1721815">
                  <a:extLst>
                    <a:ext uri="{9D8B030D-6E8A-4147-A177-3AD203B41FA5}">
                      <a16:colId xmlns:a16="http://schemas.microsoft.com/office/drawing/2014/main" val="2836753277"/>
                    </a:ext>
                  </a:extLst>
                </a:gridCol>
                <a:gridCol w="2350008">
                  <a:extLst>
                    <a:ext uri="{9D8B030D-6E8A-4147-A177-3AD203B41FA5}">
                      <a16:colId xmlns:a16="http://schemas.microsoft.com/office/drawing/2014/main" val="3164945680"/>
                    </a:ext>
                  </a:extLst>
                </a:gridCol>
                <a:gridCol w="937260">
                  <a:extLst>
                    <a:ext uri="{9D8B030D-6E8A-4147-A177-3AD203B41FA5}">
                      <a16:colId xmlns:a16="http://schemas.microsoft.com/office/drawing/2014/main" val="2428682511"/>
                    </a:ext>
                  </a:extLst>
                </a:gridCol>
                <a:gridCol w="1184148">
                  <a:extLst>
                    <a:ext uri="{9D8B030D-6E8A-4147-A177-3AD203B41FA5}">
                      <a16:colId xmlns:a16="http://schemas.microsoft.com/office/drawing/2014/main" val="27575639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effectLst/>
                          <a:latin typeface="Arial" panose="020B0604020202020204" pitchFamily="34" charset="0"/>
                        </a:rPr>
                        <a:t>Номер Строки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effectLst/>
                          <a:latin typeface="Arial" panose="020B0604020202020204" pitchFamily="34" charset="0"/>
                        </a:rPr>
                        <a:t>Значение Дни Период Действия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>
                          <a:effectLst/>
                          <a:latin typeface="Arial" panose="020B0604020202020204" pitchFamily="34" charset="0"/>
                        </a:rPr>
                        <a:t>Значение Дни Фактический Период Действия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>
                          <a:effectLst/>
                          <a:latin typeface="Arial" panose="020B0604020202020204" pitchFamily="34" charset="0"/>
                        </a:rPr>
                        <a:t>Результат База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effectLst/>
                          <a:latin typeface="Arial" panose="020B0604020202020204" pitchFamily="34" charset="0"/>
                        </a:rPr>
                        <a:t>Отработано Дней База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2399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Arial" panose="020B0604020202020204" pitchFamily="34" charset="0"/>
                        </a:rPr>
                        <a:t>8 096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Arial" panose="020B060402020202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5557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1 104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04214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12 000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21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01633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 smtClean="0">
                          <a:effectLst/>
                          <a:latin typeface="Arial" panose="020B0604020202020204" pitchFamily="34" charset="0"/>
                        </a:rPr>
                        <a:t>10</a:t>
                      </a:r>
                      <a:endParaRPr lang="ru-RU" sz="1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5 000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3629808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314" y="1702428"/>
            <a:ext cx="18195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>
                <a:solidFill>
                  <a:srgbClr val="C00000"/>
                </a:solidFill>
              </a:rPr>
              <a:t>Получение данных графика и расчетной базы для записей с приоритетом 0</a:t>
            </a:r>
            <a:endParaRPr lang="ru-RU" sz="1200" dirty="0">
              <a:solidFill>
                <a:srgbClr val="C0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3115529"/>
            <a:ext cx="18279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>
                <a:solidFill>
                  <a:srgbClr val="0070C0"/>
                </a:solidFill>
              </a:rPr>
              <a:t>Получение данных графика и расчетной базы для записей с приоритетом 1</a:t>
            </a:r>
            <a:endParaRPr lang="ru-RU" sz="1200" dirty="0">
              <a:solidFill>
                <a:srgbClr val="0070C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0" y="4890294"/>
            <a:ext cx="18279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>
                <a:solidFill>
                  <a:srgbClr val="7030A0"/>
                </a:solidFill>
              </a:rPr>
              <a:t>Получение данных графика и расчетной базы для записей с приоритетом </a:t>
            </a:r>
            <a:r>
              <a:rPr lang="ru-RU" sz="1200" dirty="0">
                <a:solidFill>
                  <a:srgbClr val="7030A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287516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Обход детальных записей</a:t>
            </a:r>
            <a:endParaRPr lang="ru-RU" dirty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/>
          </p:nvPr>
        </p:nvGraphicFramePr>
        <p:xfrm>
          <a:off x="188119" y="1485770"/>
          <a:ext cx="6849769" cy="4033520"/>
        </p:xfrm>
        <a:graphic>
          <a:graphicData uri="http://schemas.openxmlformats.org/drawingml/2006/table">
            <a:tbl>
              <a:tblPr/>
              <a:tblGrid>
                <a:gridCol w="738835">
                  <a:extLst>
                    <a:ext uri="{9D8B030D-6E8A-4147-A177-3AD203B41FA5}">
                      <a16:colId xmlns:a16="http://schemas.microsoft.com/office/drawing/2014/main" val="2810753153"/>
                    </a:ext>
                  </a:extLst>
                </a:gridCol>
                <a:gridCol w="617220">
                  <a:extLst>
                    <a:ext uri="{9D8B030D-6E8A-4147-A177-3AD203B41FA5}">
                      <a16:colId xmlns:a16="http://schemas.microsoft.com/office/drawing/2014/main" val="2884761587"/>
                    </a:ext>
                  </a:extLst>
                </a:gridCol>
                <a:gridCol w="1089050">
                  <a:extLst>
                    <a:ext uri="{9D8B030D-6E8A-4147-A177-3AD203B41FA5}">
                      <a16:colId xmlns:a16="http://schemas.microsoft.com/office/drawing/2014/main" val="2742937019"/>
                    </a:ext>
                  </a:extLst>
                </a:gridCol>
                <a:gridCol w="2725826">
                  <a:extLst>
                    <a:ext uri="{9D8B030D-6E8A-4147-A177-3AD203B41FA5}">
                      <a16:colId xmlns:a16="http://schemas.microsoft.com/office/drawing/2014/main" val="1307113957"/>
                    </a:ext>
                  </a:extLst>
                </a:gridCol>
                <a:gridCol w="1678838">
                  <a:extLst>
                    <a:ext uri="{9D8B030D-6E8A-4147-A177-3AD203B41FA5}">
                      <a16:colId xmlns:a16="http://schemas.microsoft.com/office/drawing/2014/main" val="15394111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effectLst/>
                          <a:latin typeface="Arial" panose="020B0604020202020204" pitchFamily="34" charset="0"/>
                        </a:rPr>
                        <a:t>Приоритет</a:t>
                      </a:r>
                      <a:endParaRPr lang="ru-RU" sz="8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800" b="1" dirty="0">
                          <a:effectLst/>
                          <a:latin typeface="Arial" panose="020B0604020202020204" pitchFamily="34" charset="0"/>
                        </a:rPr>
                        <a:t> стр.</a:t>
                      </a:r>
                      <a:endParaRPr lang="ru-RU" sz="800" dirty="0"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>
                          <a:effectLst/>
                          <a:latin typeface="Arial" panose="020B0604020202020204" pitchFamily="34" charset="0"/>
                        </a:rPr>
                        <a:t>Вид Расчета</a:t>
                      </a:r>
                      <a:endParaRPr lang="ru-RU" sz="8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>
                          <a:effectLst/>
                          <a:latin typeface="Arial" panose="020B0604020202020204" pitchFamily="34" charset="0"/>
                        </a:rPr>
                        <a:t>Способ Расчета</a:t>
                      </a:r>
                      <a:endParaRPr lang="ru-RU" sz="8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>
                          <a:effectLst/>
                          <a:latin typeface="Arial" panose="020B0604020202020204" pitchFamily="34" charset="0"/>
                        </a:rPr>
                        <a:t>Зачет Отработанного Времени</a:t>
                      </a:r>
                      <a:endParaRPr lang="ru-RU" sz="8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94191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88736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Arial" panose="020B0604020202020204" pitchFamily="34" charset="0"/>
                        </a:rPr>
                        <a:t>Оклад по дням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Arial" panose="020B0604020202020204" pitchFamily="34" charset="0"/>
                        </a:rPr>
                        <a:t>По месячной тарифной ставке по дням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Да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2447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Оклад по дням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Arial" panose="020B0604020202020204" pitchFamily="34" charset="0"/>
                        </a:rPr>
                        <a:t>По месячной тарифной ставке по дням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Да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96726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Оклад по дням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Arial" panose="020B0604020202020204" pitchFamily="34" charset="0"/>
                        </a:rPr>
                        <a:t>По месячной тарифной ставке по дням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Да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1134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Оклад по дням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Arial" panose="020B0604020202020204" pitchFamily="34" charset="0"/>
                        </a:rPr>
                        <a:t>По месячной тарифной ставке по дням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Arial" panose="020B0604020202020204" pitchFamily="34" charset="0"/>
                        </a:rPr>
                        <a:t>Да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29628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5626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Процентом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Нет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8305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Процентом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Нет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14508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По формуле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Нет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98457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Доплата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Процентом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Нет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39082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725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Процентом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Arial" panose="020B0604020202020204" pitchFamily="34" charset="0"/>
                        </a:rPr>
                        <a:t>Нет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10866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Процентом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Нет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47774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Процентом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Нет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82406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Надбавка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Arial" panose="020B0604020202020204" pitchFamily="34" charset="0"/>
                        </a:rPr>
                        <a:t>Процентом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Arial" panose="020B0604020202020204" pitchFamily="34" charset="0"/>
                        </a:rPr>
                        <a:t>Нет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3317194"/>
                  </a:ext>
                </a:extLst>
              </a:tr>
            </a:tbl>
          </a:graphicData>
        </a:graphic>
      </p:graphicFrame>
      <p:sp>
        <p:nvSpPr>
          <p:cNvPr id="4" name="Скругленный прямоугольник 3"/>
          <p:cNvSpPr/>
          <p:nvPr/>
        </p:nvSpPr>
        <p:spPr>
          <a:xfrm>
            <a:off x="74814" y="1915672"/>
            <a:ext cx="7076377" cy="1081246"/>
          </a:xfrm>
          <a:prstGeom prst="round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74814" y="3246827"/>
            <a:ext cx="7068064" cy="1029897"/>
          </a:xfrm>
          <a:prstGeom prst="roundRect">
            <a:avLst/>
          </a:prstGeom>
          <a:noFill/>
          <a:ln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74814" y="4526633"/>
            <a:ext cx="7076377" cy="1064541"/>
          </a:xfrm>
          <a:prstGeom prst="roundRect">
            <a:avLst/>
          </a:prstGeom>
          <a:noFill/>
          <a:ln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/>
          <p:cNvSpPr txBox="1"/>
          <p:nvPr/>
        </p:nvSpPr>
        <p:spPr>
          <a:xfrm>
            <a:off x="7151192" y="1937335"/>
            <a:ext cx="19928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>
                <a:solidFill>
                  <a:srgbClr val="C00000"/>
                </a:solidFill>
              </a:rPr>
              <a:t>Получение номеров строк и значений реквизитов и ТЧ видов расчета для записей с приоритетом 0</a:t>
            </a:r>
            <a:endParaRPr lang="ru-RU" sz="1200" dirty="0">
              <a:solidFill>
                <a:srgbClr val="C0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142878" y="3208876"/>
            <a:ext cx="19928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>
                <a:solidFill>
                  <a:srgbClr val="0070C0"/>
                </a:solidFill>
              </a:rPr>
              <a:t>Получение номеров строк и значений реквизитов и ТЧ видов расчета для записей с приоритетом 1</a:t>
            </a:r>
            <a:endParaRPr lang="ru-RU" sz="1200" dirty="0">
              <a:solidFill>
                <a:srgbClr val="0070C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151192" y="4518742"/>
            <a:ext cx="19928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>
                <a:solidFill>
                  <a:srgbClr val="7030A0"/>
                </a:solidFill>
              </a:rPr>
              <a:t>Получение номеров строк и значений реквизитов и ТЧ видов расчета для записей с приоритетом 2</a:t>
            </a:r>
            <a:endParaRPr lang="ru-RU" sz="12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1950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/>
      <p:bldP spid="10" grpId="0"/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99393"/>
              </p:ext>
            </p:extLst>
          </p:nvPr>
        </p:nvGraphicFramePr>
        <p:xfrm>
          <a:off x="178594" y="591387"/>
          <a:ext cx="8783999" cy="3247187"/>
        </p:xfrm>
        <a:graphic>
          <a:graphicData uri="http://schemas.openxmlformats.org/drawingml/2006/table">
            <a:tbl>
              <a:tblPr/>
              <a:tblGrid>
                <a:gridCol w="570841">
                  <a:extLst>
                    <a:ext uri="{9D8B030D-6E8A-4147-A177-3AD203B41FA5}">
                      <a16:colId xmlns:a16="http://schemas.microsoft.com/office/drawing/2014/main" val="2998289165"/>
                    </a:ext>
                  </a:extLst>
                </a:gridCol>
                <a:gridCol w="1193511">
                  <a:extLst>
                    <a:ext uri="{9D8B030D-6E8A-4147-A177-3AD203B41FA5}">
                      <a16:colId xmlns:a16="http://schemas.microsoft.com/office/drawing/2014/main" val="1309104618"/>
                    </a:ext>
                  </a:extLst>
                </a:gridCol>
                <a:gridCol w="630814">
                  <a:extLst>
                    <a:ext uri="{9D8B030D-6E8A-4147-A177-3AD203B41FA5}">
                      <a16:colId xmlns:a16="http://schemas.microsoft.com/office/drawing/2014/main" val="1376281065"/>
                    </a:ext>
                  </a:extLst>
                </a:gridCol>
                <a:gridCol w="825536">
                  <a:extLst>
                    <a:ext uri="{9D8B030D-6E8A-4147-A177-3AD203B41FA5}">
                      <a16:colId xmlns:a16="http://schemas.microsoft.com/office/drawing/2014/main" val="3570388436"/>
                    </a:ext>
                  </a:extLst>
                </a:gridCol>
                <a:gridCol w="552332">
                  <a:extLst>
                    <a:ext uri="{9D8B030D-6E8A-4147-A177-3AD203B41FA5}">
                      <a16:colId xmlns:a16="http://schemas.microsoft.com/office/drawing/2014/main" val="2590104709"/>
                    </a:ext>
                  </a:extLst>
                </a:gridCol>
                <a:gridCol w="833680">
                  <a:extLst>
                    <a:ext uri="{9D8B030D-6E8A-4147-A177-3AD203B41FA5}">
                      <a16:colId xmlns:a16="http://schemas.microsoft.com/office/drawing/2014/main" val="3796838509"/>
                    </a:ext>
                  </a:extLst>
                </a:gridCol>
                <a:gridCol w="570841">
                  <a:extLst>
                    <a:ext uri="{9D8B030D-6E8A-4147-A177-3AD203B41FA5}">
                      <a16:colId xmlns:a16="http://schemas.microsoft.com/office/drawing/2014/main" val="1472304097"/>
                    </a:ext>
                  </a:extLst>
                </a:gridCol>
                <a:gridCol w="828497">
                  <a:extLst>
                    <a:ext uri="{9D8B030D-6E8A-4147-A177-3AD203B41FA5}">
                      <a16:colId xmlns:a16="http://schemas.microsoft.com/office/drawing/2014/main" val="2197324808"/>
                    </a:ext>
                  </a:extLst>
                </a:gridCol>
                <a:gridCol w="710035">
                  <a:extLst>
                    <a:ext uri="{9D8B030D-6E8A-4147-A177-3AD203B41FA5}">
                      <a16:colId xmlns:a16="http://schemas.microsoft.com/office/drawing/2014/main" val="2571466262"/>
                    </a:ext>
                  </a:extLst>
                </a:gridCol>
                <a:gridCol w="710035">
                  <a:extLst>
                    <a:ext uri="{9D8B030D-6E8A-4147-A177-3AD203B41FA5}">
                      <a16:colId xmlns:a16="http://schemas.microsoft.com/office/drawing/2014/main" val="2409714820"/>
                    </a:ext>
                  </a:extLst>
                </a:gridCol>
                <a:gridCol w="710035">
                  <a:extLst>
                    <a:ext uri="{9D8B030D-6E8A-4147-A177-3AD203B41FA5}">
                      <a16:colId xmlns:a16="http://schemas.microsoft.com/office/drawing/2014/main" val="1458703185"/>
                    </a:ext>
                  </a:extLst>
                </a:gridCol>
                <a:gridCol w="647842">
                  <a:extLst>
                    <a:ext uri="{9D8B030D-6E8A-4147-A177-3AD203B41FA5}">
                      <a16:colId xmlns:a16="http://schemas.microsoft.com/office/drawing/2014/main" val="2672061986"/>
                    </a:ext>
                  </a:extLst>
                </a:gridCol>
              </a:tblGrid>
              <a:tr h="225571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 стр.</a:t>
                      </a:r>
                      <a:endParaRPr lang="ru-RU" sz="600">
                        <a:effectLst/>
                      </a:endParaRP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Регистратор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ВР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Физическое Лицо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Результат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Отработано Дней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Размер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График Работы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ПДН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ПДК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БПН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 dirty="0">
                          <a:effectLst/>
                          <a:latin typeface="Arial" panose="020B0604020202020204" pitchFamily="34" charset="0"/>
                        </a:rPr>
                        <a:t>БПК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2473155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4 от </a:t>
                      </a:r>
                      <a:r>
                        <a:rPr lang="ru-RU" sz="700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06.03.2018</a:t>
                      </a:r>
                      <a:endParaRPr lang="ru-RU" sz="7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Оклад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Полушко</a:t>
                      </a:r>
                      <a:endParaRPr lang="ru-RU" sz="7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8 000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05.02.2018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7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7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0508099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Доплата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Полушко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05.02.2018 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28.02.2018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1514436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Надбавка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Полушко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05.02.2018 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28.02.2018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7112024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Оклад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Мальцев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8 000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04.02.2018 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4392649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Доплата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Мальцев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04.02.2018 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04.02.2018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8501475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Надбавка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Мальцев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04.02.2018 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04.02.2018 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9504043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Оклад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Соловьев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5 000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Сутки через 3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2010696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Надбавка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Соловьев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Сутки через 3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28.02.2018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3228266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Доплата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Соловьев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Сутки через 3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1921888"/>
                  </a:ext>
                </a:extLst>
              </a:tr>
              <a:tr h="249836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Доплата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Иванцева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Пятидневка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28.02.2018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719270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Надбавка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Иванцева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Пятидневка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28.02.2018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940674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Оклад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Иванцева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10 000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Пятидневка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0565783"/>
                  </a:ext>
                </a:extLst>
              </a:tr>
            </a:tbl>
          </a:graphicData>
        </a:graphic>
      </p:graphicFrame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9192746"/>
              </p:ext>
            </p:extLst>
          </p:nvPr>
        </p:nvGraphicFramePr>
        <p:xfrm>
          <a:off x="178594" y="3876674"/>
          <a:ext cx="6849769" cy="1341120"/>
        </p:xfrm>
        <a:graphic>
          <a:graphicData uri="http://schemas.openxmlformats.org/drawingml/2006/table">
            <a:tbl>
              <a:tblPr/>
              <a:tblGrid>
                <a:gridCol w="738835">
                  <a:extLst>
                    <a:ext uri="{9D8B030D-6E8A-4147-A177-3AD203B41FA5}">
                      <a16:colId xmlns:a16="http://schemas.microsoft.com/office/drawing/2014/main" val="3313011995"/>
                    </a:ext>
                  </a:extLst>
                </a:gridCol>
                <a:gridCol w="617220">
                  <a:extLst>
                    <a:ext uri="{9D8B030D-6E8A-4147-A177-3AD203B41FA5}">
                      <a16:colId xmlns:a16="http://schemas.microsoft.com/office/drawing/2014/main" val="1831329169"/>
                    </a:ext>
                  </a:extLst>
                </a:gridCol>
                <a:gridCol w="1089050">
                  <a:extLst>
                    <a:ext uri="{9D8B030D-6E8A-4147-A177-3AD203B41FA5}">
                      <a16:colId xmlns:a16="http://schemas.microsoft.com/office/drawing/2014/main" val="1362020611"/>
                    </a:ext>
                  </a:extLst>
                </a:gridCol>
                <a:gridCol w="2725826">
                  <a:extLst>
                    <a:ext uri="{9D8B030D-6E8A-4147-A177-3AD203B41FA5}">
                      <a16:colId xmlns:a16="http://schemas.microsoft.com/office/drawing/2014/main" val="1500971267"/>
                    </a:ext>
                  </a:extLst>
                </a:gridCol>
                <a:gridCol w="1678838">
                  <a:extLst>
                    <a:ext uri="{9D8B030D-6E8A-4147-A177-3AD203B41FA5}">
                      <a16:colId xmlns:a16="http://schemas.microsoft.com/office/drawing/2014/main" val="7132611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effectLst/>
                          <a:latin typeface="Arial" panose="020B0604020202020204" pitchFamily="34" charset="0"/>
                        </a:rPr>
                        <a:t>Приоритет</a:t>
                      </a:r>
                      <a:endParaRPr lang="ru-RU" sz="8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800" b="1" dirty="0">
                          <a:effectLst/>
                          <a:latin typeface="Arial" panose="020B0604020202020204" pitchFamily="34" charset="0"/>
                        </a:rPr>
                        <a:t> стр.</a:t>
                      </a:r>
                      <a:endParaRPr lang="ru-RU" sz="800" dirty="0"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>
                          <a:effectLst/>
                          <a:latin typeface="Arial" panose="020B0604020202020204" pitchFamily="34" charset="0"/>
                        </a:rPr>
                        <a:t>Вид Расчета</a:t>
                      </a:r>
                      <a:endParaRPr lang="ru-RU" sz="8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>
                          <a:effectLst/>
                          <a:latin typeface="Arial" panose="020B0604020202020204" pitchFamily="34" charset="0"/>
                        </a:rPr>
                        <a:t>Способ Расчета</a:t>
                      </a:r>
                      <a:endParaRPr lang="ru-RU" sz="8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>
                          <a:effectLst/>
                          <a:latin typeface="Arial" panose="020B0604020202020204" pitchFamily="34" charset="0"/>
                        </a:rPr>
                        <a:t>Зачет Отработанного Времени</a:t>
                      </a:r>
                      <a:endParaRPr lang="ru-RU" sz="8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4552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345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Оклад по дням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По месячной тарифной ставке по дням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Да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70162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Оклад по дням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По месячной тарифной ставке по дням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Да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53295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Оклад по дням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По месячной тарифной ставке по дням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Да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97569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Оклад по дням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По месячной тарифной ставке по дням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Да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3035673"/>
                  </a:ext>
                </a:extLst>
              </a:tr>
            </a:tbl>
          </a:graphicData>
        </a:graphic>
      </p:graphicFrame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457638"/>
              </p:ext>
            </p:extLst>
          </p:nvPr>
        </p:nvGraphicFramePr>
        <p:xfrm>
          <a:off x="178594" y="5265419"/>
          <a:ext cx="7935011" cy="1117600"/>
        </p:xfrm>
        <a:graphic>
          <a:graphicData uri="http://schemas.openxmlformats.org/drawingml/2006/table">
            <a:tbl>
              <a:tblPr/>
              <a:tblGrid>
                <a:gridCol w="974797">
                  <a:extLst>
                    <a:ext uri="{9D8B030D-6E8A-4147-A177-3AD203B41FA5}">
                      <a16:colId xmlns:a16="http://schemas.microsoft.com/office/drawing/2014/main" val="1923638644"/>
                    </a:ext>
                  </a:extLst>
                </a:gridCol>
                <a:gridCol w="1920024">
                  <a:extLst>
                    <a:ext uri="{9D8B030D-6E8A-4147-A177-3AD203B41FA5}">
                      <a16:colId xmlns:a16="http://schemas.microsoft.com/office/drawing/2014/main" val="3358790280"/>
                    </a:ext>
                  </a:extLst>
                </a:gridCol>
                <a:gridCol w="2674574">
                  <a:extLst>
                    <a:ext uri="{9D8B030D-6E8A-4147-A177-3AD203B41FA5}">
                      <a16:colId xmlns:a16="http://schemas.microsoft.com/office/drawing/2014/main" val="2253315689"/>
                    </a:ext>
                  </a:extLst>
                </a:gridCol>
                <a:gridCol w="1045154">
                  <a:extLst>
                    <a:ext uri="{9D8B030D-6E8A-4147-A177-3AD203B41FA5}">
                      <a16:colId xmlns:a16="http://schemas.microsoft.com/office/drawing/2014/main" val="2669761967"/>
                    </a:ext>
                  </a:extLst>
                </a:gridCol>
                <a:gridCol w="1320462">
                  <a:extLst>
                    <a:ext uri="{9D8B030D-6E8A-4147-A177-3AD203B41FA5}">
                      <a16:colId xmlns:a16="http://schemas.microsoft.com/office/drawing/2014/main" val="14624673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effectLst/>
                          <a:latin typeface="Arial" panose="020B0604020202020204" pitchFamily="34" charset="0"/>
                        </a:rPr>
                        <a:t>Номер Строки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effectLst/>
                          <a:latin typeface="Arial" panose="020B0604020202020204" pitchFamily="34" charset="0"/>
                        </a:rPr>
                        <a:t>Значение Дни </a:t>
                      </a:r>
                      <a:r>
                        <a:rPr lang="ru-RU" sz="800" b="1" dirty="0" smtClean="0">
                          <a:effectLst/>
                          <a:latin typeface="Arial" panose="020B0604020202020204" pitchFamily="34" charset="0"/>
                        </a:rPr>
                        <a:t>Период Действия</a:t>
                      </a:r>
                      <a:endParaRPr lang="ru-RU" sz="800" b="1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effectLst/>
                          <a:latin typeface="Arial" panose="020B0604020202020204" pitchFamily="34" charset="0"/>
                        </a:rPr>
                        <a:t>Значение Дни Фактический Период Действия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effectLst/>
                          <a:latin typeface="Arial" panose="020B0604020202020204" pitchFamily="34" charset="0"/>
                        </a:rPr>
                        <a:t>Результат База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effectLst/>
                          <a:latin typeface="Arial" panose="020B0604020202020204" pitchFamily="34" charset="0"/>
                        </a:rPr>
                        <a:t>Отработано Дней База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1745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5015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84558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 smtClean="0">
                          <a:effectLst/>
                          <a:latin typeface="Arial" panose="020B0604020202020204" pitchFamily="34" charset="0"/>
                        </a:rPr>
                        <a:t>7</a:t>
                      </a:r>
                      <a:endParaRPr lang="ru-RU" sz="8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 smtClean="0">
                          <a:effectLst/>
                          <a:latin typeface="Arial" panose="020B0604020202020204" pitchFamily="34" charset="0"/>
                        </a:rPr>
                        <a:t>7</a:t>
                      </a:r>
                      <a:endParaRPr lang="ru-RU" sz="8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 smtClean="0">
                          <a:effectLst/>
                          <a:latin typeface="Arial" panose="020B0604020202020204" pitchFamily="34" charset="0"/>
                        </a:rPr>
                        <a:t>7</a:t>
                      </a:r>
                      <a:endParaRPr lang="ru-RU" sz="8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13573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 smtClean="0">
                          <a:effectLst/>
                          <a:latin typeface="Arial" panose="020B0604020202020204" pitchFamily="34" charset="0"/>
                        </a:rPr>
                        <a:t>12</a:t>
                      </a:r>
                      <a:endParaRPr lang="ru-RU" sz="8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 smtClean="0">
                          <a:effectLst/>
                          <a:latin typeface="Arial" panose="020B0604020202020204" pitchFamily="34" charset="0"/>
                        </a:rPr>
                        <a:t>21</a:t>
                      </a:r>
                      <a:endParaRPr lang="ru-RU" sz="8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 smtClean="0">
                          <a:effectLst/>
                          <a:latin typeface="Arial" panose="020B0604020202020204" pitchFamily="34" charset="0"/>
                        </a:rPr>
                        <a:t>21</a:t>
                      </a:r>
                      <a:endParaRPr lang="ru-RU" sz="8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03946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7643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7411265"/>
              </p:ext>
            </p:extLst>
          </p:nvPr>
        </p:nvGraphicFramePr>
        <p:xfrm>
          <a:off x="178594" y="591387"/>
          <a:ext cx="8783999" cy="3247187"/>
        </p:xfrm>
        <a:graphic>
          <a:graphicData uri="http://schemas.openxmlformats.org/drawingml/2006/table">
            <a:tbl>
              <a:tblPr/>
              <a:tblGrid>
                <a:gridCol w="570841">
                  <a:extLst>
                    <a:ext uri="{9D8B030D-6E8A-4147-A177-3AD203B41FA5}">
                      <a16:colId xmlns:a16="http://schemas.microsoft.com/office/drawing/2014/main" val="2998289165"/>
                    </a:ext>
                  </a:extLst>
                </a:gridCol>
                <a:gridCol w="1193511">
                  <a:extLst>
                    <a:ext uri="{9D8B030D-6E8A-4147-A177-3AD203B41FA5}">
                      <a16:colId xmlns:a16="http://schemas.microsoft.com/office/drawing/2014/main" val="1309104618"/>
                    </a:ext>
                  </a:extLst>
                </a:gridCol>
                <a:gridCol w="630814">
                  <a:extLst>
                    <a:ext uri="{9D8B030D-6E8A-4147-A177-3AD203B41FA5}">
                      <a16:colId xmlns:a16="http://schemas.microsoft.com/office/drawing/2014/main" val="1376281065"/>
                    </a:ext>
                  </a:extLst>
                </a:gridCol>
                <a:gridCol w="825536">
                  <a:extLst>
                    <a:ext uri="{9D8B030D-6E8A-4147-A177-3AD203B41FA5}">
                      <a16:colId xmlns:a16="http://schemas.microsoft.com/office/drawing/2014/main" val="3570388436"/>
                    </a:ext>
                  </a:extLst>
                </a:gridCol>
                <a:gridCol w="552332">
                  <a:extLst>
                    <a:ext uri="{9D8B030D-6E8A-4147-A177-3AD203B41FA5}">
                      <a16:colId xmlns:a16="http://schemas.microsoft.com/office/drawing/2014/main" val="2590104709"/>
                    </a:ext>
                  </a:extLst>
                </a:gridCol>
                <a:gridCol w="833680">
                  <a:extLst>
                    <a:ext uri="{9D8B030D-6E8A-4147-A177-3AD203B41FA5}">
                      <a16:colId xmlns:a16="http://schemas.microsoft.com/office/drawing/2014/main" val="3796838509"/>
                    </a:ext>
                  </a:extLst>
                </a:gridCol>
                <a:gridCol w="570841">
                  <a:extLst>
                    <a:ext uri="{9D8B030D-6E8A-4147-A177-3AD203B41FA5}">
                      <a16:colId xmlns:a16="http://schemas.microsoft.com/office/drawing/2014/main" val="1472304097"/>
                    </a:ext>
                  </a:extLst>
                </a:gridCol>
                <a:gridCol w="828497">
                  <a:extLst>
                    <a:ext uri="{9D8B030D-6E8A-4147-A177-3AD203B41FA5}">
                      <a16:colId xmlns:a16="http://schemas.microsoft.com/office/drawing/2014/main" val="2197324808"/>
                    </a:ext>
                  </a:extLst>
                </a:gridCol>
                <a:gridCol w="710035">
                  <a:extLst>
                    <a:ext uri="{9D8B030D-6E8A-4147-A177-3AD203B41FA5}">
                      <a16:colId xmlns:a16="http://schemas.microsoft.com/office/drawing/2014/main" val="2571466262"/>
                    </a:ext>
                  </a:extLst>
                </a:gridCol>
                <a:gridCol w="710035">
                  <a:extLst>
                    <a:ext uri="{9D8B030D-6E8A-4147-A177-3AD203B41FA5}">
                      <a16:colId xmlns:a16="http://schemas.microsoft.com/office/drawing/2014/main" val="2409714820"/>
                    </a:ext>
                  </a:extLst>
                </a:gridCol>
                <a:gridCol w="710035">
                  <a:extLst>
                    <a:ext uri="{9D8B030D-6E8A-4147-A177-3AD203B41FA5}">
                      <a16:colId xmlns:a16="http://schemas.microsoft.com/office/drawing/2014/main" val="1458703185"/>
                    </a:ext>
                  </a:extLst>
                </a:gridCol>
                <a:gridCol w="647842">
                  <a:extLst>
                    <a:ext uri="{9D8B030D-6E8A-4147-A177-3AD203B41FA5}">
                      <a16:colId xmlns:a16="http://schemas.microsoft.com/office/drawing/2014/main" val="2672061986"/>
                    </a:ext>
                  </a:extLst>
                </a:gridCol>
              </a:tblGrid>
              <a:tr h="225571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 стр.</a:t>
                      </a:r>
                      <a:endParaRPr lang="ru-RU" sz="600">
                        <a:effectLst/>
                      </a:endParaRP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Регистратор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ВР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Физическое Лицо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Результат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Отработано Дней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Размер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График Работы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ПДН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ПДК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БПН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 dirty="0">
                          <a:effectLst/>
                          <a:latin typeface="Arial" panose="020B0604020202020204" pitchFamily="34" charset="0"/>
                        </a:rPr>
                        <a:t>БПК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2473155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4 от </a:t>
                      </a:r>
                      <a:r>
                        <a:rPr lang="ru-RU" sz="700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06.03.2018</a:t>
                      </a:r>
                      <a:endParaRPr lang="ru-RU" sz="7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Оклад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Полушко</a:t>
                      </a:r>
                      <a:endParaRPr lang="ru-RU" sz="7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8 000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05.02.2018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7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7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0508099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Доплата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Полушко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05.02.2018 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28.02.2018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1514436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Надбавка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Полушко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05.02.2018 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28.02.2018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7112024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Оклад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Мальцев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8 000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04.02.2018 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4392649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Доплата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Мальцев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04.02.2018 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04.02.2018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8501475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Надбавка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Мальцев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04.02.2018 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04.02.2018 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9504043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Оклад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Соловьев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5 000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Сутки через 3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2010696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Надбавка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Соловьев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Сутки через 3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28.02.2018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3228266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Доплата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Соловьев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Сутки через 3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1921888"/>
                  </a:ext>
                </a:extLst>
              </a:tr>
              <a:tr h="249836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Доплата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Иванцева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Пятидневка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28.02.2018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719270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Надбавка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Иванцева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Пятидневка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28.02.2018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940674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Оклад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Иванцева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10 000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Пятидневка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0565783"/>
                  </a:ext>
                </a:extLst>
              </a:tr>
            </a:tbl>
          </a:graphicData>
        </a:graphic>
      </p:graphicFrame>
      <p:graphicFrame>
        <p:nvGraphicFramePr>
          <p:cNvPr id="2" name="Таблица 1"/>
          <p:cNvGraphicFramePr>
            <a:graphicFrameLocks noGrp="1"/>
          </p:cNvGraphicFramePr>
          <p:nvPr/>
        </p:nvGraphicFramePr>
        <p:xfrm>
          <a:off x="178594" y="3876674"/>
          <a:ext cx="6849769" cy="1341120"/>
        </p:xfrm>
        <a:graphic>
          <a:graphicData uri="http://schemas.openxmlformats.org/drawingml/2006/table">
            <a:tbl>
              <a:tblPr/>
              <a:tblGrid>
                <a:gridCol w="738835">
                  <a:extLst>
                    <a:ext uri="{9D8B030D-6E8A-4147-A177-3AD203B41FA5}">
                      <a16:colId xmlns:a16="http://schemas.microsoft.com/office/drawing/2014/main" val="3313011995"/>
                    </a:ext>
                  </a:extLst>
                </a:gridCol>
                <a:gridCol w="617220">
                  <a:extLst>
                    <a:ext uri="{9D8B030D-6E8A-4147-A177-3AD203B41FA5}">
                      <a16:colId xmlns:a16="http://schemas.microsoft.com/office/drawing/2014/main" val="1831329169"/>
                    </a:ext>
                  </a:extLst>
                </a:gridCol>
                <a:gridCol w="1089050">
                  <a:extLst>
                    <a:ext uri="{9D8B030D-6E8A-4147-A177-3AD203B41FA5}">
                      <a16:colId xmlns:a16="http://schemas.microsoft.com/office/drawing/2014/main" val="1362020611"/>
                    </a:ext>
                  </a:extLst>
                </a:gridCol>
                <a:gridCol w="2725826">
                  <a:extLst>
                    <a:ext uri="{9D8B030D-6E8A-4147-A177-3AD203B41FA5}">
                      <a16:colId xmlns:a16="http://schemas.microsoft.com/office/drawing/2014/main" val="1500971267"/>
                    </a:ext>
                  </a:extLst>
                </a:gridCol>
                <a:gridCol w="1678838">
                  <a:extLst>
                    <a:ext uri="{9D8B030D-6E8A-4147-A177-3AD203B41FA5}">
                      <a16:colId xmlns:a16="http://schemas.microsoft.com/office/drawing/2014/main" val="7132611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effectLst/>
                          <a:latin typeface="Arial" panose="020B0604020202020204" pitchFamily="34" charset="0"/>
                        </a:rPr>
                        <a:t>Приоритет</a:t>
                      </a:r>
                      <a:endParaRPr lang="ru-RU" sz="8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800" b="1" dirty="0">
                          <a:effectLst/>
                          <a:latin typeface="Arial" panose="020B0604020202020204" pitchFamily="34" charset="0"/>
                        </a:rPr>
                        <a:t> стр.</a:t>
                      </a:r>
                      <a:endParaRPr lang="ru-RU" sz="800" dirty="0"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>
                          <a:effectLst/>
                          <a:latin typeface="Arial" panose="020B0604020202020204" pitchFamily="34" charset="0"/>
                        </a:rPr>
                        <a:t>Вид Расчета</a:t>
                      </a:r>
                      <a:endParaRPr lang="ru-RU" sz="8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>
                          <a:effectLst/>
                          <a:latin typeface="Arial" panose="020B0604020202020204" pitchFamily="34" charset="0"/>
                        </a:rPr>
                        <a:t>Способ Расчета</a:t>
                      </a:r>
                      <a:endParaRPr lang="ru-RU" sz="8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>
                          <a:effectLst/>
                          <a:latin typeface="Arial" panose="020B0604020202020204" pitchFamily="34" charset="0"/>
                        </a:rPr>
                        <a:t>Зачет Отработанного Времени</a:t>
                      </a:r>
                      <a:endParaRPr lang="ru-RU" sz="8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4552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345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Оклад по дням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По месячной тарифной ставке по дням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Да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70162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Оклад по дням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По месячной тарифной ставке по дням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Да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53295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Оклад по дням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По месячной тарифной ставке по дням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Да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97569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Оклад по дням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По месячной тарифной ставке по дням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Да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3035673"/>
                  </a:ext>
                </a:extLst>
              </a:tr>
            </a:tbl>
          </a:graphicData>
        </a:graphic>
      </p:graphicFrame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178594" y="5265419"/>
          <a:ext cx="7935011" cy="1117600"/>
        </p:xfrm>
        <a:graphic>
          <a:graphicData uri="http://schemas.openxmlformats.org/drawingml/2006/table">
            <a:tbl>
              <a:tblPr/>
              <a:tblGrid>
                <a:gridCol w="974797">
                  <a:extLst>
                    <a:ext uri="{9D8B030D-6E8A-4147-A177-3AD203B41FA5}">
                      <a16:colId xmlns:a16="http://schemas.microsoft.com/office/drawing/2014/main" val="1923638644"/>
                    </a:ext>
                  </a:extLst>
                </a:gridCol>
                <a:gridCol w="1920024">
                  <a:extLst>
                    <a:ext uri="{9D8B030D-6E8A-4147-A177-3AD203B41FA5}">
                      <a16:colId xmlns:a16="http://schemas.microsoft.com/office/drawing/2014/main" val="3358790280"/>
                    </a:ext>
                  </a:extLst>
                </a:gridCol>
                <a:gridCol w="2674574">
                  <a:extLst>
                    <a:ext uri="{9D8B030D-6E8A-4147-A177-3AD203B41FA5}">
                      <a16:colId xmlns:a16="http://schemas.microsoft.com/office/drawing/2014/main" val="2253315689"/>
                    </a:ext>
                  </a:extLst>
                </a:gridCol>
                <a:gridCol w="1045154">
                  <a:extLst>
                    <a:ext uri="{9D8B030D-6E8A-4147-A177-3AD203B41FA5}">
                      <a16:colId xmlns:a16="http://schemas.microsoft.com/office/drawing/2014/main" val="2669761967"/>
                    </a:ext>
                  </a:extLst>
                </a:gridCol>
                <a:gridCol w="1320462">
                  <a:extLst>
                    <a:ext uri="{9D8B030D-6E8A-4147-A177-3AD203B41FA5}">
                      <a16:colId xmlns:a16="http://schemas.microsoft.com/office/drawing/2014/main" val="14624673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effectLst/>
                          <a:latin typeface="Arial" panose="020B0604020202020204" pitchFamily="34" charset="0"/>
                        </a:rPr>
                        <a:t>Номер Строки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effectLst/>
                          <a:latin typeface="Arial" panose="020B0604020202020204" pitchFamily="34" charset="0"/>
                        </a:rPr>
                        <a:t>Значение Дни </a:t>
                      </a:r>
                      <a:r>
                        <a:rPr lang="ru-RU" sz="800" b="1" dirty="0" smtClean="0">
                          <a:effectLst/>
                          <a:latin typeface="Arial" panose="020B0604020202020204" pitchFamily="34" charset="0"/>
                        </a:rPr>
                        <a:t>Период Действия</a:t>
                      </a:r>
                      <a:endParaRPr lang="ru-RU" sz="800" b="1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effectLst/>
                          <a:latin typeface="Arial" panose="020B0604020202020204" pitchFamily="34" charset="0"/>
                        </a:rPr>
                        <a:t>Значение Дни Фактический Период Действия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effectLst/>
                          <a:latin typeface="Arial" panose="020B0604020202020204" pitchFamily="34" charset="0"/>
                        </a:rPr>
                        <a:t>Результат База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effectLst/>
                          <a:latin typeface="Arial" panose="020B0604020202020204" pitchFamily="34" charset="0"/>
                        </a:rPr>
                        <a:t>Отработано Дней База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1745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5015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84558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 smtClean="0">
                          <a:effectLst/>
                          <a:latin typeface="Arial" panose="020B0604020202020204" pitchFamily="34" charset="0"/>
                        </a:rPr>
                        <a:t>7</a:t>
                      </a:r>
                      <a:endParaRPr lang="ru-RU" sz="8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 smtClean="0">
                          <a:effectLst/>
                          <a:latin typeface="Arial" panose="020B0604020202020204" pitchFamily="34" charset="0"/>
                        </a:rPr>
                        <a:t>7</a:t>
                      </a:r>
                      <a:endParaRPr lang="ru-RU" sz="8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 smtClean="0">
                          <a:effectLst/>
                          <a:latin typeface="Arial" panose="020B0604020202020204" pitchFamily="34" charset="0"/>
                        </a:rPr>
                        <a:t>7</a:t>
                      </a:r>
                      <a:endParaRPr lang="ru-RU" sz="8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13573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 smtClean="0">
                          <a:effectLst/>
                          <a:latin typeface="Arial" panose="020B0604020202020204" pitchFamily="34" charset="0"/>
                        </a:rPr>
                        <a:t>12</a:t>
                      </a:r>
                      <a:endParaRPr lang="ru-RU" sz="8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 smtClean="0">
                          <a:effectLst/>
                          <a:latin typeface="Arial" panose="020B0604020202020204" pitchFamily="34" charset="0"/>
                        </a:rPr>
                        <a:t>21</a:t>
                      </a:r>
                      <a:endParaRPr lang="ru-RU" sz="8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 smtClean="0">
                          <a:effectLst/>
                          <a:latin typeface="Arial" panose="020B0604020202020204" pitchFamily="34" charset="0"/>
                        </a:rPr>
                        <a:t>21</a:t>
                      </a:r>
                      <a:endParaRPr lang="ru-RU" sz="8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0394672"/>
                  </a:ext>
                </a:extLst>
              </a:tr>
            </a:tbl>
          </a:graphicData>
        </a:graphic>
      </p:graphicFrame>
      <p:sp>
        <p:nvSpPr>
          <p:cNvPr id="7" name="Скругленный прямоугольник 6"/>
          <p:cNvSpPr/>
          <p:nvPr/>
        </p:nvSpPr>
        <p:spPr>
          <a:xfrm>
            <a:off x="73819" y="4314825"/>
            <a:ext cx="7076377" cy="232409"/>
          </a:xfrm>
          <a:prstGeom prst="round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73819" y="828675"/>
            <a:ext cx="8965406" cy="232409"/>
          </a:xfrm>
          <a:prstGeom prst="round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87890" y="5460682"/>
            <a:ext cx="8132185" cy="232409"/>
          </a:xfrm>
          <a:prstGeom prst="round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0691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0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50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0"/>
                            </p:stCondLst>
                            <p:childTnLst>
                              <p:par>
                                <p:cTn id="17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10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50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9000"/>
                            </p:stCondLst>
                            <p:childTnLst>
                              <p:par>
                                <p:cTn id="25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10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50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7" grpId="2" animBg="1"/>
      <p:bldP spid="8" grpId="0" animBg="1"/>
      <p:bldP spid="8" grpId="1" animBg="1"/>
      <p:bldP spid="8" grpId="2" animBg="1"/>
      <p:bldP spid="9" grpId="0" animBg="1"/>
      <p:bldP spid="9" grpId="1" animBg="1"/>
      <p:bldP spid="9" grpId="2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7846548"/>
              </p:ext>
            </p:extLst>
          </p:nvPr>
        </p:nvGraphicFramePr>
        <p:xfrm>
          <a:off x="178594" y="591387"/>
          <a:ext cx="8783999" cy="3247187"/>
        </p:xfrm>
        <a:graphic>
          <a:graphicData uri="http://schemas.openxmlformats.org/drawingml/2006/table">
            <a:tbl>
              <a:tblPr/>
              <a:tblGrid>
                <a:gridCol w="570841">
                  <a:extLst>
                    <a:ext uri="{9D8B030D-6E8A-4147-A177-3AD203B41FA5}">
                      <a16:colId xmlns:a16="http://schemas.microsoft.com/office/drawing/2014/main" val="2998289165"/>
                    </a:ext>
                  </a:extLst>
                </a:gridCol>
                <a:gridCol w="1193511">
                  <a:extLst>
                    <a:ext uri="{9D8B030D-6E8A-4147-A177-3AD203B41FA5}">
                      <a16:colId xmlns:a16="http://schemas.microsoft.com/office/drawing/2014/main" val="1309104618"/>
                    </a:ext>
                  </a:extLst>
                </a:gridCol>
                <a:gridCol w="630814">
                  <a:extLst>
                    <a:ext uri="{9D8B030D-6E8A-4147-A177-3AD203B41FA5}">
                      <a16:colId xmlns:a16="http://schemas.microsoft.com/office/drawing/2014/main" val="1376281065"/>
                    </a:ext>
                  </a:extLst>
                </a:gridCol>
                <a:gridCol w="825536">
                  <a:extLst>
                    <a:ext uri="{9D8B030D-6E8A-4147-A177-3AD203B41FA5}">
                      <a16:colId xmlns:a16="http://schemas.microsoft.com/office/drawing/2014/main" val="3570388436"/>
                    </a:ext>
                  </a:extLst>
                </a:gridCol>
                <a:gridCol w="552332">
                  <a:extLst>
                    <a:ext uri="{9D8B030D-6E8A-4147-A177-3AD203B41FA5}">
                      <a16:colId xmlns:a16="http://schemas.microsoft.com/office/drawing/2014/main" val="2590104709"/>
                    </a:ext>
                  </a:extLst>
                </a:gridCol>
                <a:gridCol w="833680">
                  <a:extLst>
                    <a:ext uri="{9D8B030D-6E8A-4147-A177-3AD203B41FA5}">
                      <a16:colId xmlns:a16="http://schemas.microsoft.com/office/drawing/2014/main" val="3796838509"/>
                    </a:ext>
                  </a:extLst>
                </a:gridCol>
                <a:gridCol w="570841">
                  <a:extLst>
                    <a:ext uri="{9D8B030D-6E8A-4147-A177-3AD203B41FA5}">
                      <a16:colId xmlns:a16="http://schemas.microsoft.com/office/drawing/2014/main" val="1472304097"/>
                    </a:ext>
                  </a:extLst>
                </a:gridCol>
                <a:gridCol w="828497">
                  <a:extLst>
                    <a:ext uri="{9D8B030D-6E8A-4147-A177-3AD203B41FA5}">
                      <a16:colId xmlns:a16="http://schemas.microsoft.com/office/drawing/2014/main" val="2197324808"/>
                    </a:ext>
                  </a:extLst>
                </a:gridCol>
                <a:gridCol w="710035">
                  <a:extLst>
                    <a:ext uri="{9D8B030D-6E8A-4147-A177-3AD203B41FA5}">
                      <a16:colId xmlns:a16="http://schemas.microsoft.com/office/drawing/2014/main" val="2571466262"/>
                    </a:ext>
                  </a:extLst>
                </a:gridCol>
                <a:gridCol w="710035">
                  <a:extLst>
                    <a:ext uri="{9D8B030D-6E8A-4147-A177-3AD203B41FA5}">
                      <a16:colId xmlns:a16="http://schemas.microsoft.com/office/drawing/2014/main" val="2409714820"/>
                    </a:ext>
                  </a:extLst>
                </a:gridCol>
                <a:gridCol w="710035">
                  <a:extLst>
                    <a:ext uri="{9D8B030D-6E8A-4147-A177-3AD203B41FA5}">
                      <a16:colId xmlns:a16="http://schemas.microsoft.com/office/drawing/2014/main" val="1458703185"/>
                    </a:ext>
                  </a:extLst>
                </a:gridCol>
                <a:gridCol w="647842">
                  <a:extLst>
                    <a:ext uri="{9D8B030D-6E8A-4147-A177-3AD203B41FA5}">
                      <a16:colId xmlns:a16="http://schemas.microsoft.com/office/drawing/2014/main" val="2672061986"/>
                    </a:ext>
                  </a:extLst>
                </a:gridCol>
              </a:tblGrid>
              <a:tr h="225571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 стр.</a:t>
                      </a:r>
                      <a:endParaRPr lang="ru-RU" sz="600">
                        <a:effectLst/>
                      </a:endParaRP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Регистратор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ВР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Физическое Лицо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Результат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Отработано Дней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Размер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График Работы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ПДН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ПДК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БПН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 dirty="0">
                          <a:effectLst/>
                          <a:latin typeface="Arial" panose="020B0604020202020204" pitchFamily="34" charset="0"/>
                        </a:rPr>
                        <a:t>БПК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2473155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Док 4 от </a:t>
                      </a:r>
                      <a:r>
                        <a:rPr lang="ru-RU" sz="700" dirty="0" smtClean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06.03.2018</a:t>
                      </a:r>
                      <a:endParaRPr lang="ru-RU" sz="700" dirty="0"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Оклад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 smtClean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Полушко</a:t>
                      </a:r>
                      <a:endParaRPr lang="ru-RU" sz="700" dirty="0"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  <a:r>
                        <a:rPr lang="ru-RU" sz="1000" dirty="0" smtClean="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7040</a:t>
                      </a:r>
                      <a:endParaRPr lang="ru-RU" sz="1000" dirty="0">
                        <a:solidFill>
                          <a:srgbClr val="C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  <a:r>
                        <a:rPr lang="ru-RU" sz="1000" dirty="0" smtClean="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22</a:t>
                      </a:r>
                      <a:endParaRPr lang="ru-RU" sz="1000" dirty="0">
                        <a:solidFill>
                          <a:srgbClr val="C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8 000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05.02.2018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700" dirty="0">
                        <a:solidFill>
                          <a:srgbClr val="C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700" dirty="0">
                        <a:solidFill>
                          <a:srgbClr val="C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0508099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Доплата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Полушко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05.02.2018 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28.02.2018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1514436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Надбавка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Полушко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05.02.2018 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28.02.2018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7112024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Оклад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Мальцев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8 000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04.02.2018 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4392649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Доплата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Мальцев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04.02.2018 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04.02.2018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8501475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Надбавка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Мальцев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04.02.2018 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04.02.2018 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9504043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Оклад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Соловьев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5 000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Сутки через 3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2010696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Надбавка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Соловьев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Сутки через 3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28.02.2018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3228266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Доплата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Соловьев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Сутки через 3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1921888"/>
                  </a:ext>
                </a:extLst>
              </a:tr>
              <a:tr h="249836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Доплата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Иванцева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Пятидневка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28.02.2018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719270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Надбавка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Иванцева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Пятидневка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28.02.2018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940674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Оклад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Иванцева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10 000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Пятидневка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0565783"/>
                  </a:ext>
                </a:extLst>
              </a:tr>
            </a:tbl>
          </a:graphicData>
        </a:graphic>
      </p:graphicFrame>
      <p:graphicFrame>
        <p:nvGraphicFramePr>
          <p:cNvPr id="2" name="Таблица 1"/>
          <p:cNvGraphicFramePr>
            <a:graphicFrameLocks noGrp="1"/>
          </p:cNvGraphicFramePr>
          <p:nvPr/>
        </p:nvGraphicFramePr>
        <p:xfrm>
          <a:off x="178594" y="3876674"/>
          <a:ext cx="6849769" cy="1341120"/>
        </p:xfrm>
        <a:graphic>
          <a:graphicData uri="http://schemas.openxmlformats.org/drawingml/2006/table">
            <a:tbl>
              <a:tblPr/>
              <a:tblGrid>
                <a:gridCol w="738835">
                  <a:extLst>
                    <a:ext uri="{9D8B030D-6E8A-4147-A177-3AD203B41FA5}">
                      <a16:colId xmlns:a16="http://schemas.microsoft.com/office/drawing/2014/main" val="3313011995"/>
                    </a:ext>
                  </a:extLst>
                </a:gridCol>
                <a:gridCol w="617220">
                  <a:extLst>
                    <a:ext uri="{9D8B030D-6E8A-4147-A177-3AD203B41FA5}">
                      <a16:colId xmlns:a16="http://schemas.microsoft.com/office/drawing/2014/main" val="1831329169"/>
                    </a:ext>
                  </a:extLst>
                </a:gridCol>
                <a:gridCol w="1089050">
                  <a:extLst>
                    <a:ext uri="{9D8B030D-6E8A-4147-A177-3AD203B41FA5}">
                      <a16:colId xmlns:a16="http://schemas.microsoft.com/office/drawing/2014/main" val="1362020611"/>
                    </a:ext>
                  </a:extLst>
                </a:gridCol>
                <a:gridCol w="2725826">
                  <a:extLst>
                    <a:ext uri="{9D8B030D-6E8A-4147-A177-3AD203B41FA5}">
                      <a16:colId xmlns:a16="http://schemas.microsoft.com/office/drawing/2014/main" val="1500971267"/>
                    </a:ext>
                  </a:extLst>
                </a:gridCol>
                <a:gridCol w="1678838">
                  <a:extLst>
                    <a:ext uri="{9D8B030D-6E8A-4147-A177-3AD203B41FA5}">
                      <a16:colId xmlns:a16="http://schemas.microsoft.com/office/drawing/2014/main" val="7132611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effectLst/>
                          <a:latin typeface="Arial" panose="020B0604020202020204" pitchFamily="34" charset="0"/>
                        </a:rPr>
                        <a:t>Приоритет</a:t>
                      </a:r>
                      <a:endParaRPr lang="ru-RU" sz="8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800" b="1" dirty="0">
                          <a:effectLst/>
                          <a:latin typeface="Arial" panose="020B0604020202020204" pitchFamily="34" charset="0"/>
                        </a:rPr>
                        <a:t> стр.</a:t>
                      </a:r>
                      <a:endParaRPr lang="ru-RU" sz="800" dirty="0"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>
                          <a:effectLst/>
                          <a:latin typeface="Arial" panose="020B0604020202020204" pitchFamily="34" charset="0"/>
                        </a:rPr>
                        <a:t>Вид Расчета</a:t>
                      </a:r>
                      <a:endParaRPr lang="ru-RU" sz="8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>
                          <a:effectLst/>
                          <a:latin typeface="Arial" panose="020B0604020202020204" pitchFamily="34" charset="0"/>
                        </a:rPr>
                        <a:t>Способ Расчета</a:t>
                      </a:r>
                      <a:endParaRPr lang="ru-RU" sz="8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>
                          <a:effectLst/>
                          <a:latin typeface="Arial" panose="020B0604020202020204" pitchFamily="34" charset="0"/>
                        </a:rPr>
                        <a:t>Зачет Отработанного Времени</a:t>
                      </a:r>
                      <a:endParaRPr lang="ru-RU" sz="8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4552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345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Оклад по дням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По месячной тарифной ставке по дням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Да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70162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Оклад по дням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По месячной тарифной ставке по дням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Да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53295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Оклад по дням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По месячной тарифной ставке по дням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Да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97569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Оклад по дням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По месячной тарифной ставке по дням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Да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3035673"/>
                  </a:ext>
                </a:extLst>
              </a:tr>
            </a:tbl>
          </a:graphicData>
        </a:graphic>
      </p:graphicFrame>
      <p:graphicFrame>
        <p:nvGraphicFramePr>
          <p:cNvPr id="10" name="Таблица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0471005"/>
              </p:ext>
            </p:extLst>
          </p:nvPr>
        </p:nvGraphicFramePr>
        <p:xfrm>
          <a:off x="178594" y="5265419"/>
          <a:ext cx="7935011" cy="1117600"/>
        </p:xfrm>
        <a:graphic>
          <a:graphicData uri="http://schemas.openxmlformats.org/drawingml/2006/table">
            <a:tbl>
              <a:tblPr/>
              <a:tblGrid>
                <a:gridCol w="974797">
                  <a:extLst>
                    <a:ext uri="{9D8B030D-6E8A-4147-A177-3AD203B41FA5}">
                      <a16:colId xmlns:a16="http://schemas.microsoft.com/office/drawing/2014/main" val="1923638644"/>
                    </a:ext>
                  </a:extLst>
                </a:gridCol>
                <a:gridCol w="1920024">
                  <a:extLst>
                    <a:ext uri="{9D8B030D-6E8A-4147-A177-3AD203B41FA5}">
                      <a16:colId xmlns:a16="http://schemas.microsoft.com/office/drawing/2014/main" val="3358790280"/>
                    </a:ext>
                  </a:extLst>
                </a:gridCol>
                <a:gridCol w="2674574">
                  <a:extLst>
                    <a:ext uri="{9D8B030D-6E8A-4147-A177-3AD203B41FA5}">
                      <a16:colId xmlns:a16="http://schemas.microsoft.com/office/drawing/2014/main" val="2253315689"/>
                    </a:ext>
                  </a:extLst>
                </a:gridCol>
                <a:gridCol w="1045154">
                  <a:extLst>
                    <a:ext uri="{9D8B030D-6E8A-4147-A177-3AD203B41FA5}">
                      <a16:colId xmlns:a16="http://schemas.microsoft.com/office/drawing/2014/main" val="2669761967"/>
                    </a:ext>
                  </a:extLst>
                </a:gridCol>
                <a:gridCol w="1320462">
                  <a:extLst>
                    <a:ext uri="{9D8B030D-6E8A-4147-A177-3AD203B41FA5}">
                      <a16:colId xmlns:a16="http://schemas.microsoft.com/office/drawing/2014/main" val="14624673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effectLst/>
                          <a:latin typeface="Arial" panose="020B0604020202020204" pitchFamily="34" charset="0"/>
                        </a:rPr>
                        <a:t>Номер Строки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effectLst/>
                          <a:latin typeface="Arial" panose="020B0604020202020204" pitchFamily="34" charset="0"/>
                        </a:rPr>
                        <a:t>Значение Дни </a:t>
                      </a:r>
                      <a:r>
                        <a:rPr lang="ru-RU" sz="800" b="1" dirty="0" smtClean="0">
                          <a:effectLst/>
                          <a:latin typeface="Arial" panose="020B0604020202020204" pitchFamily="34" charset="0"/>
                        </a:rPr>
                        <a:t>Период Действия</a:t>
                      </a:r>
                      <a:endParaRPr lang="ru-RU" sz="800" b="1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effectLst/>
                          <a:latin typeface="Arial" panose="020B0604020202020204" pitchFamily="34" charset="0"/>
                        </a:rPr>
                        <a:t>Значение Дни Фактический Период Действия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effectLst/>
                          <a:latin typeface="Arial" panose="020B0604020202020204" pitchFamily="34" charset="0"/>
                        </a:rPr>
                        <a:t>Результат База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effectLst/>
                          <a:latin typeface="Arial" panose="020B0604020202020204" pitchFamily="34" charset="0"/>
                        </a:rPr>
                        <a:t>Отработано Дней База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1745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5015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84558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 smtClean="0">
                          <a:effectLst/>
                          <a:latin typeface="Arial" panose="020B0604020202020204" pitchFamily="34" charset="0"/>
                        </a:rPr>
                        <a:t>7</a:t>
                      </a:r>
                      <a:endParaRPr lang="ru-RU" sz="8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 smtClean="0">
                          <a:effectLst/>
                          <a:latin typeface="Arial" panose="020B0604020202020204" pitchFamily="34" charset="0"/>
                        </a:rPr>
                        <a:t>7</a:t>
                      </a:r>
                      <a:endParaRPr lang="ru-RU" sz="8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 smtClean="0">
                          <a:effectLst/>
                          <a:latin typeface="Arial" panose="020B0604020202020204" pitchFamily="34" charset="0"/>
                        </a:rPr>
                        <a:t>7</a:t>
                      </a:r>
                      <a:endParaRPr lang="ru-RU" sz="8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13573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 smtClean="0">
                          <a:effectLst/>
                          <a:latin typeface="Arial" panose="020B0604020202020204" pitchFamily="34" charset="0"/>
                        </a:rPr>
                        <a:t>12</a:t>
                      </a:r>
                      <a:endParaRPr lang="ru-RU" sz="8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 smtClean="0">
                          <a:effectLst/>
                          <a:latin typeface="Arial" panose="020B0604020202020204" pitchFamily="34" charset="0"/>
                        </a:rPr>
                        <a:t>21</a:t>
                      </a:r>
                      <a:endParaRPr lang="ru-RU" sz="8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 smtClean="0">
                          <a:effectLst/>
                          <a:latin typeface="Arial" panose="020B0604020202020204" pitchFamily="34" charset="0"/>
                        </a:rPr>
                        <a:t>21</a:t>
                      </a:r>
                      <a:endParaRPr lang="ru-RU" sz="8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03946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5542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Таблица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439740"/>
              </p:ext>
            </p:extLst>
          </p:nvPr>
        </p:nvGraphicFramePr>
        <p:xfrm>
          <a:off x="178594" y="5265419"/>
          <a:ext cx="7935011" cy="1117600"/>
        </p:xfrm>
        <a:graphic>
          <a:graphicData uri="http://schemas.openxmlformats.org/drawingml/2006/table">
            <a:tbl>
              <a:tblPr/>
              <a:tblGrid>
                <a:gridCol w="974797">
                  <a:extLst>
                    <a:ext uri="{9D8B030D-6E8A-4147-A177-3AD203B41FA5}">
                      <a16:colId xmlns:a16="http://schemas.microsoft.com/office/drawing/2014/main" val="1923638644"/>
                    </a:ext>
                  </a:extLst>
                </a:gridCol>
                <a:gridCol w="1920024">
                  <a:extLst>
                    <a:ext uri="{9D8B030D-6E8A-4147-A177-3AD203B41FA5}">
                      <a16:colId xmlns:a16="http://schemas.microsoft.com/office/drawing/2014/main" val="3358790280"/>
                    </a:ext>
                  </a:extLst>
                </a:gridCol>
                <a:gridCol w="2674574">
                  <a:extLst>
                    <a:ext uri="{9D8B030D-6E8A-4147-A177-3AD203B41FA5}">
                      <a16:colId xmlns:a16="http://schemas.microsoft.com/office/drawing/2014/main" val="2253315689"/>
                    </a:ext>
                  </a:extLst>
                </a:gridCol>
                <a:gridCol w="1045154">
                  <a:extLst>
                    <a:ext uri="{9D8B030D-6E8A-4147-A177-3AD203B41FA5}">
                      <a16:colId xmlns:a16="http://schemas.microsoft.com/office/drawing/2014/main" val="2669761967"/>
                    </a:ext>
                  </a:extLst>
                </a:gridCol>
                <a:gridCol w="1320462">
                  <a:extLst>
                    <a:ext uri="{9D8B030D-6E8A-4147-A177-3AD203B41FA5}">
                      <a16:colId xmlns:a16="http://schemas.microsoft.com/office/drawing/2014/main" val="14624673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effectLst/>
                          <a:latin typeface="Arial" panose="020B0604020202020204" pitchFamily="34" charset="0"/>
                        </a:rPr>
                        <a:t>Номер Строки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effectLst/>
                          <a:latin typeface="Arial" panose="020B0604020202020204" pitchFamily="34" charset="0"/>
                        </a:rPr>
                        <a:t>Значение Дни </a:t>
                      </a:r>
                      <a:r>
                        <a:rPr lang="ru-RU" sz="800" b="1" dirty="0" smtClean="0">
                          <a:effectLst/>
                          <a:latin typeface="Arial" panose="020B0604020202020204" pitchFamily="34" charset="0"/>
                        </a:rPr>
                        <a:t>Период Действия</a:t>
                      </a:r>
                      <a:endParaRPr lang="ru-RU" sz="800" b="1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effectLst/>
                          <a:latin typeface="Arial" panose="020B0604020202020204" pitchFamily="34" charset="0"/>
                        </a:rPr>
                        <a:t>Значение Дни Фактический Период Действия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effectLst/>
                          <a:latin typeface="Arial" panose="020B0604020202020204" pitchFamily="34" charset="0"/>
                        </a:rPr>
                        <a:t>Результат База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effectLst/>
                          <a:latin typeface="Arial" panose="020B0604020202020204" pitchFamily="34" charset="0"/>
                        </a:rPr>
                        <a:t>Отработано Дней База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1745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5015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84558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 smtClean="0">
                          <a:effectLst/>
                          <a:latin typeface="Arial" panose="020B0604020202020204" pitchFamily="34" charset="0"/>
                        </a:rPr>
                        <a:t>7</a:t>
                      </a:r>
                      <a:endParaRPr lang="ru-RU" sz="8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 smtClean="0">
                          <a:effectLst/>
                          <a:latin typeface="Arial" panose="020B0604020202020204" pitchFamily="34" charset="0"/>
                        </a:rPr>
                        <a:t>7</a:t>
                      </a:r>
                      <a:endParaRPr lang="ru-RU" sz="8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 smtClean="0">
                          <a:effectLst/>
                          <a:latin typeface="Arial" panose="020B0604020202020204" pitchFamily="34" charset="0"/>
                        </a:rPr>
                        <a:t>7</a:t>
                      </a:r>
                      <a:endParaRPr lang="ru-RU" sz="8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13573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 smtClean="0">
                          <a:effectLst/>
                          <a:latin typeface="Arial" panose="020B0604020202020204" pitchFamily="34" charset="0"/>
                        </a:rPr>
                        <a:t>12</a:t>
                      </a:r>
                      <a:endParaRPr lang="ru-RU" sz="8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 smtClean="0">
                          <a:effectLst/>
                          <a:latin typeface="Arial" panose="020B0604020202020204" pitchFamily="34" charset="0"/>
                        </a:rPr>
                        <a:t>21</a:t>
                      </a:r>
                      <a:endParaRPr lang="ru-RU" sz="8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 smtClean="0">
                          <a:effectLst/>
                          <a:latin typeface="Arial" panose="020B0604020202020204" pitchFamily="34" charset="0"/>
                        </a:rPr>
                        <a:t>21</a:t>
                      </a:r>
                      <a:endParaRPr lang="ru-RU" sz="8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0394672"/>
                  </a:ext>
                </a:extLst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3952281"/>
              </p:ext>
            </p:extLst>
          </p:nvPr>
        </p:nvGraphicFramePr>
        <p:xfrm>
          <a:off x="178594" y="591387"/>
          <a:ext cx="8783999" cy="3247187"/>
        </p:xfrm>
        <a:graphic>
          <a:graphicData uri="http://schemas.openxmlformats.org/drawingml/2006/table">
            <a:tbl>
              <a:tblPr/>
              <a:tblGrid>
                <a:gridCol w="570841">
                  <a:extLst>
                    <a:ext uri="{9D8B030D-6E8A-4147-A177-3AD203B41FA5}">
                      <a16:colId xmlns:a16="http://schemas.microsoft.com/office/drawing/2014/main" val="2998289165"/>
                    </a:ext>
                  </a:extLst>
                </a:gridCol>
                <a:gridCol w="1193511">
                  <a:extLst>
                    <a:ext uri="{9D8B030D-6E8A-4147-A177-3AD203B41FA5}">
                      <a16:colId xmlns:a16="http://schemas.microsoft.com/office/drawing/2014/main" val="1309104618"/>
                    </a:ext>
                  </a:extLst>
                </a:gridCol>
                <a:gridCol w="630814">
                  <a:extLst>
                    <a:ext uri="{9D8B030D-6E8A-4147-A177-3AD203B41FA5}">
                      <a16:colId xmlns:a16="http://schemas.microsoft.com/office/drawing/2014/main" val="1376281065"/>
                    </a:ext>
                  </a:extLst>
                </a:gridCol>
                <a:gridCol w="825536">
                  <a:extLst>
                    <a:ext uri="{9D8B030D-6E8A-4147-A177-3AD203B41FA5}">
                      <a16:colId xmlns:a16="http://schemas.microsoft.com/office/drawing/2014/main" val="3570388436"/>
                    </a:ext>
                  </a:extLst>
                </a:gridCol>
                <a:gridCol w="552332">
                  <a:extLst>
                    <a:ext uri="{9D8B030D-6E8A-4147-A177-3AD203B41FA5}">
                      <a16:colId xmlns:a16="http://schemas.microsoft.com/office/drawing/2014/main" val="2590104709"/>
                    </a:ext>
                  </a:extLst>
                </a:gridCol>
                <a:gridCol w="833680">
                  <a:extLst>
                    <a:ext uri="{9D8B030D-6E8A-4147-A177-3AD203B41FA5}">
                      <a16:colId xmlns:a16="http://schemas.microsoft.com/office/drawing/2014/main" val="3796838509"/>
                    </a:ext>
                  </a:extLst>
                </a:gridCol>
                <a:gridCol w="570841">
                  <a:extLst>
                    <a:ext uri="{9D8B030D-6E8A-4147-A177-3AD203B41FA5}">
                      <a16:colId xmlns:a16="http://schemas.microsoft.com/office/drawing/2014/main" val="1472304097"/>
                    </a:ext>
                  </a:extLst>
                </a:gridCol>
                <a:gridCol w="828497">
                  <a:extLst>
                    <a:ext uri="{9D8B030D-6E8A-4147-A177-3AD203B41FA5}">
                      <a16:colId xmlns:a16="http://schemas.microsoft.com/office/drawing/2014/main" val="2197324808"/>
                    </a:ext>
                  </a:extLst>
                </a:gridCol>
                <a:gridCol w="710035">
                  <a:extLst>
                    <a:ext uri="{9D8B030D-6E8A-4147-A177-3AD203B41FA5}">
                      <a16:colId xmlns:a16="http://schemas.microsoft.com/office/drawing/2014/main" val="2571466262"/>
                    </a:ext>
                  </a:extLst>
                </a:gridCol>
                <a:gridCol w="710035">
                  <a:extLst>
                    <a:ext uri="{9D8B030D-6E8A-4147-A177-3AD203B41FA5}">
                      <a16:colId xmlns:a16="http://schemas.microsoft.com/office/drawing/2014/main" val="2409714820"/>
                    </a:ext>
                  </a:extLst>
                </a:gridCol>
                <a:gridCol w="710035">
                  <a:extLst>
                    <a:ext uri="{9D8B030D-6E8A-4147-A177-3AD203B41FA5}">
                      <a16:colId xmlns:a16="http://schemas.microsoft.com/office/drawing/2014/main" val="1458703185"/>
                    </a:ext>
                  </a:extLst>
                </a:gridCol>
                <a:gridCol w="647842">
                  <a:extLst>
                    <a:ext uri="{9D8B030D-6E8A-4147-A177-3AD203B41FA5}">
                      <a16:colId xmlns:a16="http://schemas.microsoft.com/office/drawing/2014/main" val="2672061986"/>
                    </a:ext>
                  </a:extLst>
                </a:gridCol>
              </a:tblGrid>
              <a:tr h="225571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 стр.</a:t>
                      </a:r>
                      <a:endParaRPr lang="ru-RU" sz="600">
                        <a:effectLst/>
                      </a:endParaRP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Регистратор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ВР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Физическое Лицо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Результат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Отработано Дней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Размер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График Работы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ПДН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ПДК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БПН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 dirty="0">
                          <a:effectLst/>
                          <a:latin typeface="Arial" panose="020B0604020202020204" pitchFamily="34" charset="0"/>
                        </a:rPr>
                        <a:t>БПК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2473155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Док 4 от </a:t>
                      </a:r>
                      <a:r>
                        <a:rPr lang="ru-RU" sz="700" dirty="0" smtClean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06.03.2018</a:t>
                      </a:r>
                      <a:endParaRPr lang="ru-RU" sz="700" dirty="0"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Оклад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 smtClean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Полушко</a:t>
                      </a:r>
                      <a:endParaRPr lang="ru-RU" sz="700" dirty="0"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  <a:r>
                        <a:rPr lang="ru-RU" sz="700" dirty="0" smtClean="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7040</a:t>
                      </a:r>
                      <a:endParaRPr lang="ru-RU" sz="700" dirty="0">
                        <a:solidFill>
                          <a:srgbClr val="C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 smtClean="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22</a:t>
                      </a:r>
                      <a:r>
                        <a:rPr lang="ru-RU" sz="700" dirty="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8 000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05.02.2018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700" dirty="0">
                        <a:solidFill>
                          <a:srgbClr val="C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700" dirty="0">
                        <a:solidFill>
                          <a:srgbClr val="C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0508099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Доплата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Полушко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05.02.2018 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28.02.2018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1514436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Надбавка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Полушко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05.02.2018 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28.02.2018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7112024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Оклад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Мальцев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8 000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04.02.2018 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4392649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Доплата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Мальцев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04.02.2018 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04.02.2018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8501475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Надбавка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Мальцев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04.02.2018 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04.02.2018 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9504043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Оклад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Соловьев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5 000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Сутки через 3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2010696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Надбавка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Соловьев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Сутки через 3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28.02.2018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3228266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Доплата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Соловьев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Сутки через 3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1921888"/>
                  </a:ext>
                </a:extLst>
              </a:tr>
              <a:tr h="249836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Доплата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Иванцева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Пятидневка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28.02.2018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719270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Надбавка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Иванцева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Пятидневка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28.02.2018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940674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Оклад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Иванцева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10 000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Пятидневка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0565783"/>
                  </a:ext>
                </a:extLst>
              </a:tr>
            </a:tbl>
          </a:graphicData>
        </a:graphic>
      </p:graphicFrame>
      <p:graphicFrame>
        <p:nvGraphicFramePr>
          <p:cNvPr id="2" name="Таблица 1"/>
          <p:cNvGraphicFramePr>
            <a:graphicFrameLocks noGrp="1"/>
          </p:cNvGraphicFramePr>
          <p:nvPr/>
        </p:nvGraphicFramePr>
        <p:xfrm>
          <a:off x="178594" y="3876674"/>
          <a:ext cx="6849769" cy="1341120"/>
        </p:xfrm>
        <a:graphic>
          <a:graphicData uri="http://schemas.openxmlformats.org/drawingml/2006/table">
            <a:tbl>
              <a:tblPr/>
              <a:tblGrid>
                <a:gridCol w="738835">
                  <a:extLst>
                    <a:ext uri="{9D8B030D-6E8A-4147-A177-3AD203B41FA5}">
                      <a16:colId xmlns:a16="http://schemas.microsoft.com/office/drawing/2014/main" val="3313011995"/>
                    </a:ext>
                  </a:extLst>
                </a:gridCol>
                <a:gridCol w="617220">
                  <a:extLst>
                    <a:ext uri="{9D8B030D-6E8A-4147-A177-3AD203B41FA5}">
                      <a16:colId xmlns:a16="http://schemas.microsoft.com/office/drawing/2014/main" val="1831329169"/>
                    </a:ext>
                  </a:extLst>
                </a:gridCol>
                <a:gridCol w="1089050">
                  <a:extLst>
                    <a:ext uri="{9D8B030D-6E8A-4147-A177-3AD203B41FA5}">
                      <a16:colId xmlns:a16="http://schemas.microsoft.com/office/drawing/2014/main" val="1362020611"/>
                    </a:ext>
                  </a:extLst>
                </a:gridCol>
                <a:gridCol w="2725826">
                  <a:extLst>
                    <a:ext uri="{9D8B030D-6E8A-4147-A177-3AD203B41FA5}">
                      <a16:colId xmlns:a16="http://schemas.microsoft.com/office/drawing/2014/main" val="1500971267"/>
                    </a:ext>
                  </a:extLst>
                </a:gridCol>
                <a:gridCol w="1678838">
                  <a:extLst>
                    <a:ext uri="{9D8B030D-6E8A-4147-A177-3AD203B41FA5}">
                      <a16:colId xmlns:a16="http://schemas.microsoft.com/office/drawing/2014/main" val="7132611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effectLst/>
                          <a:latin typeface="Arial" panose="020B0604020202020204" pitchFamily="34" charset="0"/>
                        </a:rPr>
                        <a:t>Приоритет</a:t>
                      </a:r>
                      <a:endParaRPr lang="ru-RU" sz="8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800" b="1" dirty="0">
                          <a:effectLst/>
                          <a:latin typeface="Arial" panose="020B0604020202020204" pitchFamily="34" charset="0"/>
                        </a:rPr>
                        <a:t> стр.</a:t>
                      </a:r>
                      <a:endParaRPr lang="ru-RU" sz="800" dirty="0"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>
                          <a:effectLst/>
                          <a:latin typeface="Arial" panose="020B0604020202020204" pitchFamily="34" charset="0"/>
                        </a:rPr>
                        <a:t>Вид Расчета</a:t>
                      </a:r>
                      <a:endParaRPr lang="ru-RU" sz="8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>
                          <a:effectLst/>
                          <a:latin typeface="Arial" panose="020B0604020202020204" pitchFamily="34" charset="0"/>
                        </a:rPr>
                        <a:t>Способ Расчета</a:t>
                      </a:r>
                      <a:endParaRPr lang="ru-RU" sz="8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>
                          <a:effectLst/>
                          <a:latin typeface="Arial" panose="020B0604020202020204" pitchFamily="34" charset="0"/>
                        </a:rPr>
                        <a:t>Зачет Отработанного Времени</a:t>
                      </a:r>
                      <a:endParaRPr lang="ru-RU" sz="8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4552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345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Оклад по дням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По месячной тарифной ставке по дням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Да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70162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Оклад по дням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По месячной тарифной ставке по дням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Да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53295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Оклад по дням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По месячной тарифной ставке по дням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Да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97569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Оклад по дням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По месячной тарифной ставке по дням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Да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3035673"/>
                  </a:ext>
                </a:extLst>
              </a:tr>
            </a:tbl>
          </a:graphicData>
        </a:graphic>
      </p:graphicFrame>
      <p:sp>
        <p:nvSpPr>
          <p:cNvPr id="10" name="Скругленный прямоугольник 9"/>
          <p:cNvSpPr/>
          <p:nvPr/>
        </p:nvSpPr>
        <p:spPr>
          <a:xfrm>
            <a:off x="87890" y="4543584"/>
            <a:ext cx="7076377" cy="232409"/>
          </a:xfrm>
          <a:prstGeom prst="round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73819" y="1579283"/>
            <a:ext cx="8965406" cy="232409"/>
          </a:xfrm>
          <a:prstGeom prst="round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73819" y="5708014"/>
            <a:ext cx="8132185" cy="232409"/>
          </a:xfrm>
          <a:prstGeom prst="round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9846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0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50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0"/>
                            </p:stCondLst>
                            <p:childTnLst>
                              <p:par>
                                <p:cTn id="17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10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50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9000"/>
                            </p:stCondLst>
                            <p:childTnLst>
                              <p:par>
                                <p:cTn id="25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10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50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0" grpId="2" animBg="1"/>
      <p:bldP spid="11" grpId="0" animBg="1"/>
      <p:bldP spid="11" grpId="1" animBg="1"/>
      <p:bldP spid="11" grpId="2" animBg="1"/>
      <p:bldP spid="12" grpId="0" animBg="1"/>
      <p:bldP spid="12" grpId="1" animBg="1"/>
      <p:bldP spid="12" grpId="2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7797771"/>
              </p:ext>
            </p:extLst>
          </p:nvPr>
        </p:nvGraphicFramePr>
        <p:xfrm>
          <a:off x="178594" y="591387"/>
          <a:ext cx="8783999" cy="3247187"/>
        </p:xfrm>
        <a:graphic>
          <a:graphicData uri="http://schemas.openxmlformats.org/drawingml/2006/table">
            <a:tbl>
              <a:tblPr/>
              <a:tblGrid>
                <a:gridCol w="570841">
                  <a:extLst>
                    <a:ext uri="{9D8B030D-6E8A-4147-A177-3AD203B41FA5}">
                      <a16:colId xmlns:a16="http://schemas.microsoft.com/office/drawing/2014/main" val="2998289165"/>
                    </a:ext>
                  </a:extLst>
                </a:gridCol>
                <a:gridCol w="1193511">
                  <a:extLst>
                    <a:ext uri="{9D8B030D-6E8A-4147-A177-3AD203B41FA5}">
                      <a16:colId xmlns:a16="http://schemas.microsoft.com/office/drawing/2014/main" val="1309104618"/>
                    </a:ext>
                  </a:extLst>
                </a:gridCol>
                <a:gridCol w="630814">
                  <a:extLst>
                    <a:ext uri="{9D8B030D-6E8A-4147-A177-3AD203B41FA5}">
                      <a16:colId xmlns:a16="http://schemas.microsoft.com/office/drawing/2014/main" val="1376281065"/>
                    </a:ext>
                  </a:extLst>
                </a:gridCol>
                <a:gridCol w="825536">
                  <a:extLst>
                    <a:ext uri="{9D8B030D-6E8A-4147-A177-3AD203B41FA5}">
                      <a16:colId xmlns:a16="http://schemas.microsoft.com/office/drawing/2014/main" val="3570388436"/>
                    </a:ext>
                  </a:extLst>
                </a:gridCol>
                <a:gridCol w="552332">
                  <a:extLst>
                    <a:ext uri="{9D8B030D-6E8A-4147-A177-3AD203B41FA5}">
                      <a16:colId xmlns:a16="http://schemas.microsoft.com/office/drawing/2014/main" val="2590104709"/>
                    </a:ext>
                  </a:extLst>
                </a:gridCol>
                <a:gridCol w="833680">
                  <a:extLst>
                    <a:ext uri="{9D8B030D-6E8A-4147-A177-3AD203B41FA5}">
                      <a16:colId xmlns:a16="http://schemas.microsoft.com/office/drawing/2014/main" val="3796838509"/>
                    </a:ext>
                  </a:extLst>
                </a:gridCol>
                <a:gridCol w="570841">
                  <a:extLst>
                    <a:ext uri="{9D8B030D-6E8A-4147-A177-3AD203B41FA5}">
                      <a16:colId xmlns:a16="http://schemas.microsoft.com/office/drawing/2014/main" val="1472304097"/>
                    </a:ext>
                  </a:extLst>
                </a:gridCol>
                <a:gridCol w="828497">
                  <a:extLst>
                    <a:ext uri="{9D8B030D-6E8A-4147-A177-3AD203B41FA5}">
                      <a16:colId xmlns:a16="http://schemas.microsoft.com/office/drawing/2014/main" val="2197324808"/>
                    </a:ext>
                  </a:extLst>
                </a:gridCol>
                <a:gridCol w="710035">
                  <a:extLst>
                    <a:ext uri="{9D8B030D-6E8A-4147-A177-3AD203B41FA5}">
                      <a16:colId xmlns:a16="http://schemas.microsoft.com/office/drawing/2014/main" val="2571466262"/>
                    </a:ext>
                  </a:extLst>
                </a:gridCol>
                <a:gridCol w="710035">
                  <a:extLst>
                    <a:ext uri="{9D8B030D-6E8A-4147-A177-3AD203B41FA5}">
                      <a16:colId xmlns:a16="http://schemas.microsoft.com/office/drawing/2014/main" val="2409714820"/>
                    </a:ext>
                  </a:extLst>
                </a:gridCol>
                <a:gridCol w="710035">
                  <a:extLst>
                    <a:ext uri="{9D8B030D-6E8A-4147-A177-3AD203B41FA5}">
                      <a16:colId xmlns:a16="http://schemas.microsoft.com/office/drawing/2014/main" val="1458703185"/>
                    </a:ext>
                  </a:extLst>
                </a:gridCol>
                <a:gridCol w="647842">
                  <a:extLst>
                    <a:ext uri="{9D8B030D-6E8A-4147-A177-3AD203B41FA5}">
                      <a16:colId xmlns:a16="http://schemas.microsoft.com/office/drawing/2014/main" val="2672061986"/>
                    </a:ext>
                  </a:extLst>
                </a:gridCol>
              </a:tblGrid>
              <a:tr h="225571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 стр.</a:t>
                      </a:r>
                      <a:endParaRPr lang="ru-RU" sz="600">
                        <a:effectLst/>
                      </a:endParaRP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Регистратор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ВР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Физическое Лицо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Результат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Отработано Дней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Размер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График Работы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ПДН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ПДК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БПН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 dirty="0">
                          <a:effectLst/>
                          <a:latin typeface="Arial" panose="020B0604020202020204" pitchFamily="34" charset="0"/>
                        </a:rPr>
                        <a:t>БПК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2473155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Док 4 от </a:t>
                      </a:r>
                      <a:r>
                        <a:rPr lang="ru-RU" sz="700" dirty="0" smtClean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06.03.2018</a:t>
                      </a:r>
                      <a:endParaRPr lang="ru-RU" sz="700" dirty="0"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Оклад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 smtClean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Полушко</a:t>
                      </a:r>
                      <a:endParaRPr lang="ru-RU" sz="700" dirty="0"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  <a:r>
                        <a:rPr lang="ru-RU" sz="700" dirty="0" smtClean="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7040</a:t>
                      </a:r>
                      <a:endParaRPr lang="ru-RU" sz="700" dirty="0">
                        <a:solidFill>
                          <a:srgbClr val="C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 smtClean="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22</a:t>
                      </a:r>
                      <a:r>
                        <a:rPr lang="ru-RU" sz="700" dirty="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8 000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05.02.2018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700" dirty="0">
                        <a:solidFill>
                          <a:srgbClr val="C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700" dirty="0">
                        <a:solidFill>
                          <a:srgbClr val="C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0508099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Доплата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Полушко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05.02.2018 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28.02.2018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1514436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Надбавка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Полушко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05.02.2018 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28.02.2018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7112024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Оклад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Мальцев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  <a:r>
                        <a:rPr lang="ru-RU" sz="1000" dirty="0" smtClean="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960</a:t>
                      </a:r>
                      <a:endParaRPr lang="ru-RU" sz="1000" dirty="0">
                        <a:solidFill>
                          <a:srgbClr val="C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  <a:r>
                        <a:rPr lang="ru-RU" sz="1000" dirty="0" smtClean="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3</a:t>
                      </a:r>
                      <a:endParaRPr lang="ru-RU" sz="1000" dirty="0">
                        <a:solidFill>
                          <a:srgbClr val="C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8 000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04.02.2018 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4392649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Доплата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Мальцев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04.02.2018 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04.02.2018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8501475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Надбавка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Мальцев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04.02.2018 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04.02.2018 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9504043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Оклад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Соловьев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5 000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Сутки через 3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2010696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Надбавка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Соловьев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Сутки через 3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28.02.2018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3228266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Доплата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Соловьев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Сутки через 3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1921888"/>
                  </a:ext>
                </a:extLst>
              </a:tr>
              <a:tr h="249836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Доплата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Иванцева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Пятидневка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28.02.2018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719270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Надбавка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Иванцева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Пятидневка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28.02.2018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940674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Оклад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Иванцева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10 000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Пятидневка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0565783"/>
                  </a:ext>
                </a:extLst>
              </a:tr>
            </a:tbl>
          </a:graphicData>
        </a:graphic>
      </p:graphicFrame>
      <p:graphicFrame>
        <p:nvGraphicFramePr>
          <p:cNvPr id="2" name="Таблица 1"/>
          <p:cNvGraphicFramePr>
            <a:graphicFrameLocks noGrp="1"/>
          </p:cNvGraphicFramePr>
          <p:nvPr/>
        </p:nvGraphicFramePr>
        <p:xfrm>
          <a:off x="178594" y="3876674"/>
          <a:ext cx="6849769" cy="1341120"/>
        </p:xfrm>
        <a:graphic>
          <a:graphicData uri="http://schemas.openxmlformats.org/drawingml/2006/table">
            <a:tbl>
              <a:tblPr/>
              <a:tblGrid>
                <a:gridCol w="738835">
                  <a:extLst>
                    <a:ext uri="{9D8B030D-6E8A-4147-A177-3AD203B41FA5}">
                      <a16:colId xmlns:a16="http://schemas.microsoft.com/office/drawing/2014/main" val="3313011995"/>
                    </a:ext>
                  </a:extLst>
                </a:gridCol>
                <a:gridCol w="617220">
                  <a:extLst>
                    <a:ext uri="{9D8B030D-6E8A-4147-A177-3AD203B41FA5}">
                      <a16:colId xmlns:a16="http://schemas.microsoft.com/office/drawing/2014/main" val="1831329169"/>
                    </a:ext>
                  </a:extLst>
                </a:gridCol>
                <a:gridCol w="1089050">
                  <a:extLst>
                    <a:ext uri="{9D8B030D-6E8A-4147-A177-3AD203B41FA5}">
                      <a16:colId xmlns:a16="http://schemas.microsoft.com/office/drawing/2014/main" val="1362020611"/>
                    </a:ext>
                  </a:extLst>
                </a:gridCol>
                <a:gridCol w="2725826">
                  <a:extLst>
                    <a:ext uri="{9D8B030D-6E8A-4147-A177-3AD203B41FA5}">
                      <a16:colId xmlns:a16="http://schemas.microsoft.com/office/drawing/2014/main" val="1500971267"/>
                    </a:ext>
                  </a:extLst>
                </a:gridCol>
                <a:gridCol w="1678838">
                  <a:extLst>
                    <a:ext uri="{9D8B030D-6E8A-4147-A177-3AD203B41FA5}">
                      <a16:colId xmlns:a16="http://schemas.microsoft.com/office/drawing/2014/main" val="7132611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effectLst/>
                          <a:latin typeface="Arial" panose="020B0604020202020204" pitchFamily="34" charset="0"/>
                        </a:rPr>
                        <a:t>Приоритет</a:t>
                      </a:r>
                      <a:endParaRPr lang="ru-RU" sz="8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800" b="1" dirty="0">
                          <a:effectLst/>
                          <a:latin typeface="Arial" panose="020B0604020202020204" pitchFamily="34" charset="0"/>
                        </a:rPr>
                        <a:t> стр.</a:t>
                      </a:r>
                      <a:endParaRPr lang="ru-RU" sz="800" dirty="0"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>
                          <a:effectLst/>
                          <a:latin typeface="Arial" panose="020B0604020202020204" pitchFamily="34" charset="0"/>
                        </a:rPr>
                        <a:t>Вид Расчета</a:t>
                      </a:r>
                      <a:endParaRPr lang="ru-RU" sz="8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>
                          <a:effectLst/>
                          <a:latin typeface="Arial" panose="020B0604020202020204" pitchFamily="34" charset="0"/>
                        </a:rPr>
                        <a:t>Способ Расчета</a:t>
                      </a:r>
                      <a:endParaRPr lang="ru-RU" sz="8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>
                          <a:effectLst/>
                          <a:latin typeface="Arial" panose="020B0604020202020204" pitchFamily="34" charset="0"/>
                        </a:rPr>
                        <a:t>Зачет Отработанного Времени</a:t>
                      </a:r>
                      <a:endParaRPr lang="ru-RU" sz="8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4552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345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Оклад по дням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По месячной тарифной ставке по дням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Да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70162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Оклад по дням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По месячной тарифной ставке по дням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Да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53295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Оклад по дням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По месячной тарифной ставке по дням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Да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97569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Оклад по дням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По месячной тарифной ставке по дням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Да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3035673"/>
                  </a:ext>
                </a:extLst>
              </a:tr>
            </a:tbl>
          </a:graphicData>
        </a:graphic>
      </p:graphicFrame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0471005"/>
              </p:ext>
            </p:extLst>
          </p:nvPr>
        </p:nvGraphicFramePr>
        <p:xfrm>
          <a:off x="178594" y="5265419"/>
          <a:ext cx="7935011" cy="1117600"/>
        </p:xfrm>
        <a:graphic>
          <a:graphicData uri="http://schemas.openxmlformats.org/drawingml/2006/table">
            <a:tbl>
              <a:tblPr/>
              <a:tblGrid>
                <a:gridCol w="974797">
                  <a:extLst>
                    <a:ext uri="{9D8B030D-6E8A-4147-A177-3AD203B41FA5}">
                      <a16:colId xmlns:a16="http://schemas.microsoft.com/office/drawing/2014/main" val="1923638644"/>
                    </a:ext>
                  </a:extLst>
                </a:gridCol>
                <a:gridCol w="1920024">
                  <a:extLst>
                    <a:ext uri="{9D8B030D-6E8A-4147-A177-3AD203B41FA5}">
                      <a16:colId xmlns:a16="http://schemas.microsoft.com/office/drawing/2014/main" val="3358790280"/>
                    </a:ext>
                  </a:extLst>
                </a:gridCol>
                <a:gridCol w="2674574">
                  <a:extLst>
                    <a:ext uri="{9D8B030D-6E8A-4147-A177-3AD203B41FA5}">
                      <a16:colId xmlns:a16="http://schemas.microsoft.com/office/drawing/2014/main" val="2253315689"/>
                    </a:ext>
                  </a:extLst>
                </a:gridCol>
                <a:gridCol w="1045154">
                  <a:extLst>
                    <a:ext uri="{9D8B030D-6E8A-4147-A177-3AD203B41FA5}">
                      <a16:colId xmlns:a16="http://schemas.microsoft.com/office/drawing/2014/main" val="2669761967"/>
                    </a:ext>
                  </a:extLst>
                </a:gridCol>
                <a:gridCol w="1320462">
                  <a:extLst>
                    <a:ext uri="{9D8B030D-6E8A-4147-A177-3AD203B41FA5}">
                      <a16:colId xmlns:a16="http://schemas.microsoft.com/office/drawing/2014/main" val="14624673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effectLst/>
                          <a:latin typeface="Arial" panose="020B0604020202020204" pitchFamily="34" charset="0"/>
                        </a:rPr>
                        <a:t>Номер Строки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effectLst/>
                          <a:latin typeface="Arial" panose="020B0604020202020204" pitchFamily="34" charset="0"/>
                        </a:rPr>
                        <a:t>Значение Дни </a:t>
                      </a:r>
                      <a:r>
                        <a:rPr lang="ru-RU" sz="800" b="1" dirty="0" smtClean="0">
                          <a:effectLst/>
                          <a:latin typeface="Arial" panose="020B0604020202020204" pitchFamily="34" charset="0"/>
                        </a:rPr>
                        <a:t>Период Действия</a:t>
                      </a:r>
                      <a:endParaRPr lang="ru-RU" sz="800" b="1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effectLst/>
                          <a:latin typeface="Arial" panose="020B0604020202020204" pitchFamily="34" charset="0"/>
                        </a:rPr>
                        <a:t>Значение Дни Фактический Период Действия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effectLst/>
                          <a:latin typeface="Arial" panose="020B0604020202020204" pitchFamily="34" charset="0"/>
                        </a:rPr>
                        <a:t>Результат База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effectLst/>
                          <a:latin typeface="Arial" panose="020B0604020202020204" pitchFamily="34" charset="0"/>
                        </a:rPr>
                        <a:t>Отработано Дней База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1745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5015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84558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 smtClean="0">
                          <a:effectLst/>
                          <a:latin typeface="Arial" panose="020B0604020202020204" pitchFamily="34" charset="0"/>
                        </a:rPr>
                        <a:t>7</a:t>
                      </a:r>
                      <a:endParaRPr lang="ru-RU" sz="8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 smtClean="0">
                          <a:effectLst/>
                          <a:latin typeface="Arial" panose="020B0604020202020204" pitchFamily="34" charset="0"/>
                        </a:rPr>
                        <a:t>7</a:t>
                      </a:r>
                      <a:endParaRPr lang="ru-RU" sz="8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 smtClean="0">
                          <a:effectLst/>
                          <a:latin typeface="Arial" panose="020B0604020202020204" pitchFamily="34" charset="0"/>
                        </a:rPr>
                        <a:t>7</a:t>
                      </a:r>
                      <a:endParaRPr lang="ru-RU" sz="8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13573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 smtClean="0">
                          <a:effectLst/>
                          <a:latin typeface="Arial" panose="020B0604020202020204" pitchFamily="34" charset="0"/>
                        </a:rPr>
                        <a:t>12</a:t>
                      </a:r>
                      <a:endParaRPr lang="ru-RU" sz="8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 smtClean="0">
                          <a:effectLst/>
                          <a:latin typeface="Arial" panose="020B0604020202020204" pitchFamily="34" charset="0"/>
                        </a:rPr>
                        <a:t>21</a:t>
                      </a:r>
                      <a:endParaRPr lang="ru-RU" sz="8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 smtClean="0">
                          <a:effectLst/>
                          <a:latin typeface="Arial" panose="020B0604020202020204" pitchFamily="34" charset="0"/>
                        </a:rPr>
                        <a:t>21</a:t>
                      </a:r>
                      <a:endParaRPr lang="ru-RU" sz="8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03946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7878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Таблица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0427834"/>
              </p:ext>
            </p:extLst>
          </p:nvPr>
        </p:nvGraphicFramePr>
        <p:xfrm>
          <a:off x="178594" y="5265419"/>
          <a:ext cx="7935011" cy="1117600"/>
        </p:xfrm>
        <a:graphic>
          <a:graphicData uri="http://schemas.openxmlformats.org/drawingml/2006/table">
            <a:tbl>
              <a:tblPr/>
              <a:tblGrid>
                <a:gridCol w="974797">
                  <a:extLst>
                    <a:ext uri="{9D8B030D-6E8A-4147-A177-3AD203B41FA5}">
                      <a16:colId xmlns:a16="http://schemas.microsoft.com/office/drawing/2014/main" val="1923638644"/>
                    </a:ext>
                  </a:extLst>
                </a:gridCol>
                <a:gridCol w="1920024">
                  <a:extLst>
                    <a:ext uri="{9D8B030D-6E8A-4147-A177-3AD203B41FA5}">
                      <a16:colId xmlns:a16="http://schemas.microsoft.com/office/drawing/2014/main" val="3358790280"/>
                    </a:ext>
                  </a:extLst>
                </a:gridCol>
                <a:gridCol w="2674574">
                  <a:extLst>
                    <a:ext uri="{9D8B030D-6E8A-4147-A177-3AD203B41FA5}">
                      <a16:colId xmlns:a16="http://schemas.microsoft.com/office/drawing/2014/main" val="2253315689"/>
                    </a:ext>
                  </a:extLst>
                </a:gridCol>
                <a:gridCol w="1045154">
                  <a:extLst>
                    <a:ext uri="{9D8B030D-6E8A-4147-A177-3AD203B41FA5}">
                      <a16:colId xmlns:a16="http://schemas.microsoft.com/office/drawing/2014/main" val="2669761967"/>
                    </a:ext>
                  </a:extLst>
                </a:gridCol>
                <a:gridCol w="1320462">
                  <a:extLst>
                    <a:ext uri="{9D8B030D-6E8A-4147-A177-3AD203B41FA5}">
                      <a16:colId xmlns:a16="http://schemas.microsoft.com/office/drawing/2014/main" val="14624673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effectLst/>
                          <a:latin typeface="Arial" panose="020B0604020202020204" pitchFamily="34" charset="0"/>
                        </a:rPr>
                        <a:t>Номер Строки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effectLst/>
                          <a:latin typeface="Arial" panose="020B0604020202020204" pitchFamily="34" charset="0"/>
                        </a:rPr>
                        <a:t>Значение Дни </a:t>
                      </a:r>
                      <a:r>
                        <a:rPr lang="ru-RU" sz="800" b="1" dirty="0" smtClean="0">
                          <a:effectLst/>
                          <a:latin typeface="Arial" panose="020B0604020202020204" pitchFamily="34" charset="0"/>
                        </a:rPr>
                        <a:t>Период Действия</a:t>
                      </a:r>
                      <a:endParaRPr lang="ru-RU" sz="800" b="1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effectLst/>
                          <a:latin typeface="Arial" panose="020B0604020202020204" pitchFamily="34" charset="0"/>
                        </a:rPr>
                        <a:t>Значение Дни Фактический Период Действия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effectLst/>
                          <a:latin typeface="Arial" panose="020B0604020202020204" pitchFamily="34" charset="0"/>
                        </a:rPr>
                        <a:t>Результат База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effectLst/>
                          <a:latin typeface="Arial" panose="020B0604020202020204" pitchFamily="34" charset="0"/>
                        </a:rPr>
                        <a:t>Отработано Дней База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1745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5015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84558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 smtClean="0">
                          <a:effectLst/>
                          <a:latin typeface="Arial" panose="020B0604020202020204" pitchFamily="34" charset="0"/>
                        </a:rPr>
                        <a:t>7</a:t>
                      </a:r>
                      <a:endParaRPr lang="ru-RU" sz="8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 smtClean="0">
                          <a:effectLst/>
                          <a:latin typeface="Arial" panose="020B0604020202020204" pitchFamily="34" charset="0"/>
                        </a:rPr>
                        <a:t>7</a:t>
                      </a:r>
                      <a:endParaRPr lang="ru-RU" sz="8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 smtClean="0">
                          <a:effectLst/>
                          <a:latin typeface="Arial" panose="020B0604020202020204" pitchFamily="34" charset="0"/>
                        </a:rPr>
                        <a:t>7</a:t>
                      </a:r>
                      <a:endParaRPr lang="ru-RU" sz="8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13573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 smtClean="0">
                          <a:effectLst/>
                          <a:latin typeface="Arial" panose="020B0604020202020204" pitchFamily="34" charset="0"/>
                        </a:rPr>
                        <a:t>12</a:t>
                      </a:r>
                      <a:endParaRPr lang="ru-RU" sz="8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 smtClean="0">
                          <a:effectLst/>
                          <a:latin typeface="Arial" panose="020B0604020202020204" pitchFamily="34" charset="0"/>
                        </a:rPr>
                        <a:t>21</a:t>
                      </a:r>
                      <a:endParaRPr lang="ru-RU" sz="8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 smtClean="0">
                          <a:effectLst/>
                          <a:latin typeface="Arial" panose="020B0604020202020204" pitchFamily="34" charset="0"/>
                        </a:rPr>
                        <a:t>21</a:t>
                      </a:r>
                      <a:endParaRPr lang="ru-RU" sz="8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0394672"/>
                  </a:ext>
                </a:extLst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135189"/>
              </p:ext>
            </p:extLst>
          </p:nvPr>
        </p:nvGraphicFramePr>
        <p:xfrm>
          <a:off x="178594" y="591387"/>
          <a:ext cx="8783999" cy="3247187"/>
        </p:xfrm>
        <a:graphic>
          <a:graphicData uri="http://schemas.openxmlformats.org/drawingml/2006/table">
            <a:tbl>
              <a:tblPr/>
              <a:tblGrid>
                <a:gridCol w="570841">
                  <a:extLst>
                    <a:ext uri="{9D8B030D-6E8A-4147-A177-3AD203B41FA5}">
                      <a16:colId xmlns:a16="http://schemas.microsoft.com/office/drawing/2014/main" val="2998289165"/>
                    </a:ext>
                  </a:extLst>
                </a:gridCol>
                <a:gridCol w="1193511">
                  <a:extLst>
                    <a:ext uri="{9D8B030D-6E8A-4147-A177-3AD203B41FA5}">
                      <a16:colId xmlns:a16="http://schemas.microsoft.com/office/drawing/2014/main" val="1309104618"/>
                    </a:ext>
                  </a:extLst>
                </a:gridCol>
                <a:gridCol w="630814">
                  <a:extLst>
                    <a:ext uri="{9D8B030D-6E8A-4147-A177-3AD203B41FA5}">
                      <a16:colId xmlns:a16="http://schemas.microsoft.com/office/drawing/2014/main" val="1376281065"/>
                    </a:ext>
                  </a:extLst>
                </a:gridCol>
                <a:gridCol w="825536">
                  <a:extLst>
                    <a:ext uri="{9D8B030D-6E8A-4147-A177-3AD203B41FA5}">
                      <a16:colId xmlns:a16="http://schemas.microsoft.com/office/drawing/2014/main" val="3570388436"/>
                    </a:ext>
                  </a:extLst>
                </a:gridCol>
                <a:gridCol w="552332">
                  <a:extLst>
                    <a:ext uri="{9D8B030D-6E8A-4147-A177-3AD203B41FA5}">
                      <a16:colId xmlns:a16="http://schemas.microsoft.com/office/drawing/2014/main" val="2590104709"/>
                    </a:ext>
                  </a:extLst>
                </a:gridCol>
                <a:gridCol w="833680">
                  <a:extLst>
                    <a:ext uri="{9D8B030D-6E8A-4147-A177-3AD203B41FA5}">
                      <a16:colId xmlns:a16="http://schemas.microsoft.com/office/drawing/2014/main" val="3796838509"/>
                    </a:ext>
                  </a:extLst>
                </a:gridCol>
                <a:gridCol w="570841">
                  <a:extLst>
                    <a:ext uri="{9D8B030D-6E8A-4147-A177-3AD203B41FA5}">
                      <a16:colId xmlns:a16="http://schemas.microsoft.com/office/drawing/2014/main" val="1472304097"/>
                    </a:ext>
                  </a:extLst>
                </a:gridCol>
                <a:gridCol w="828497">
                  <a:extLst>
                    <a:ext uri="{9D8B030D-6E8A-4147-A177-3AD203B41FA5}">
                      <a16:colId xmlns:a16="http://schemas.microsoft.com/office/drawing/2014/main" val="2197324808"/>
                    </a:ext>
                  </a:extLst>
                </a:gridCol>
                <a:gridCol w="710035">
                  <a:extLst>
                    <a:ext uri="{9D8B030D-6E8A-4147-A177-3AD203B41FA5}">
                      <a16:colId xmlns:a16="http://schemas.microsoft.com/office/drawing/2014/main" val="2571466262"/>
                    </a:ext>
                  </a:extLst>
                </a:gridCol>
                <a:gridCol w="710035">
                  <a:extLst>
                    <a:ext uri="{9D8B030D-6E8A-4147-A177-3AD203B41FA5}">
                      <a16:colId xmlns:a16="http://schemas.microsoft.com/office/drawing/2014/main" val="2409714820"/>
                    </a:ext>
                  </a:extLst>
                </a:gridCol>
                <a:gridCol w="710035">
                  <a:extLst>
                    <a:ext uri="{9D8B030D-6E8A-4147-A177-3AD203B41FA5}">
                      <a16:colId xmlns:a16="http://schemas.microsoft.com/office/drawing/2014/main" val="1458703185"/>
                    </a:ext>
                  </a:extLst>
                </a:gridCol>
                <a:gridCol w="647842">
                  <a:extLst>
                    <a:ext uri="{9D8B030D-6E8A-4147-A177-3AD203B41FA5}">
                      <a16:colId xmlns:a16="http://schemas.microsoft.com/office/drawing/2014/main" val="2672061986"/>
                    </a:ext>
                  </a:extLst>
                </a:gridCol>
              </a:tblGrid>
              <a:tr h="225571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 стр.</a:t>
                      </a:r>
                      <a:endParaRPr lang="ru-RU" sz="600">
                        <a:effectLst/>
                      </a:endParaRP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Регистратор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ВР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Физическое Лицо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Результат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Отработано Дней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Размер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График Работы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ПДН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ПДК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БПН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 dirty="0">
                          <a:effectLst/>
                          <a:latin typeface="Arial" panose="020B0604020202020204" pitchFamily="34" charset="0"/>
                        </a:rPr>
                        <a:t>БПК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2473155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Док 4 от </a:t>
                      </a:r>
                      <a:r>
                        <a:rPr lang="ru-RU" sz="700" dirty="0" smtClean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06.03.2018</a:t>
                      </a:r>
                      <a:endParaRPr lang="ru-RU" sz="700" dirty="0"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Оклад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 smtClean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Полушко</a:t>
                      </a:r>
                      <a:endParaRPr lang="ru-RU" sz="700" dirty="0"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  <a:r>
                        <a:rPr lang="ru-RU" sz="700" dirty="0" smtClean="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7040</a:t>
                      </a:r>
                      <a:endParaRPr lang="ru-RU" sz="700" dirty="0">
                        <a:solidFill>
                          <a:srgbClr val="C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 smtClean="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22</a:t>
                      </a:r>
                      <a:endParaRPr lang="ru-RU" sz="700" dirty="0">
                        <a:solidFill>
                          <a:srgbClr val="C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8 000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05.02.2018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700" dirty="0">
                        <a:solidFill>
                          <a:srgbClr val="C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700" dirty="0">
                        <a:solidFill>
                          <a:srgbClr val="C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0508099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Доплата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Полушко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05.02.2018 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28.02.2018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1514436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Надбавка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Полушко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05.02.2018 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28.02.2018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7112024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Оклад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Мальцев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  <a:r>
                        <a:rPr lang="ru-RU" sz="700" dirty="0" smtClean="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960</a:t>
                      </a:r>
                      <a:endParaRPr lang="ru-RU" sz="700" dirty="0">
                        <a:solidFill>
                          <a:srgbClr val="C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 smtClean="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3</a:t>
                      </a:r>
                      <a:endParaRPr lang="ru-RU" sz="700" dirty="0">
                        <a:solidFill>
                          <a:srgbClr val="C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8 000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04.02.2018 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4392649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Доплата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Мальцев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04.02.2018 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04.02.2018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8501475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Надбавка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Мальцев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04.02.2018 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04.02.2018 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9504043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Оклад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Соловьев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5 000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Сутки через 3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2010696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Надбавка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Соловьев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Сутки через 3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28.02.2018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3228266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Доплата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Соловьев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Сутки через 3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1921888"/>
                  </a:ext>
                </a:extLst>
              </a:tr>
              <a:tr h="249836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Доплата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Иванцева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Пятидневка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28.02.2018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719270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Надбавка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Иванцева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Пятидневка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28.02.2018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940674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Оклад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Иванцева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10 000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Пятидневка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0565783"/>
                  </a:ext>
                </a:extLst>
              </a:tr>
            </a:tbl>
          </a:graphicData>
        </a:graphic>
      </p:graphicFrame>
      <p:graphicFrame>
        <p:nvGraphicFramePr>
          <p:cNvPr id="2" name="Таблица 1"/>
          <p:cNvGraphicFramePr>
            <a:graphicFrameLocks noGrp="1"/>
          </p:cNvGraphicFramePr>
          <p:nvPr/>
        </p:nvGraphicFramePr>
        <p:xfrm>
          <a:off x="178594" y="3876674"/>
          <a:ext cx="6849769" cy="1341120"/>
        </p:xfrm>
        <a:graphic>
          <a:graphicData uri="http://schemas.openxmlformats.org/drawingml/2006/table">
            <a:tbl>
              <a:tblPr/>
              <a:tblGrid>
                <a:gridCol w="738835">
                  <a:extLst>
                    <a:ext uri="{9D8B030D-6E8A-4147-A177-3AD203B41FA5}">
                      <a16:colId xmlns:a16="http://schemas.microsoft.com/office/drawing/2014/main" val="3313011995"/>
                    </a:ext>
                  </a:extLst>
                </a:gridCol>
                <a:gridCol w="617220">
                  <a:extLst>
                    <a:ext uri="{9D8B030D-6E8A-4147-A177-3AD203B41FA5}">
                      <a16:colId xmlns:a16="http://schemas.microsoft.com/office/drawing/2014/main" val="1831329169"/>
                    </a:ext>
                  </a:extLst>
                </a:gridCol>
                <a:gridCol w="1089050">
                  <a:extLst>
                    <a:ext uri="{9D8B030D-6E8A-4147-A177-3AD203B41FA5}">
                      <a16:colId xmlns:a16="http://schemas.microsoft.com/office/drawing/2014/main" val="1362020611"/>
                    </a:ext>
                  </a:extLst>
                </a:gridCol>
                <a:gridCol w="2725826">
                  <a:extLst>
                    <a:ext uri="{9D8B030D-6E8A-4147-A177-3AD203B41FA5}">
                      <a16:colId xmlns:a16="http://schemas.microsoft.com/office/drawing/2014/main" val="1500971267"/>
                    </a:ext>
                  </a:extLst>
                </a:gridCol>
                <a:gridCol w="1678838">
                  <a:extLst>
                    <a:ext uri="{9D8B030D-6E8A-4147-A177-3AD203B41FA5}">
                      <a16:colId xmlns:a16="http://schemas.microsoft.com/office/drawing/2014/main" val="7132611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effectLst/>
                          <a:latin typeface="Arial" panose="020B0604020202020204" pitchFamily="34" charset="0"/>
                        </a:rPr>
                        <a:t>Приоритет</a:t>
                      </a:r>
                      <a:endParaRPr lang="ru-RU" sz="8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800" b="1" dirty="0">
                          <a:effectLst/>
                          <a:latin typeface="Arial" panose="020B0604020202020204" pitchFamily="34" charset="0"/>
                        </a:rPr>
                        <a:t> стр.</a:t>
                      </a:r>
                      <a:endParaRPr lang="ru-RU" sz="800" dirty="0"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>
                          <a:effectLst/>
                          <a:latin typeface="Arial" panose="020B0604020202020204" pitchFamily="34" charset="0"/>
                        </a:rPr>
                        <a:t>Вид Расчета</a:t>
                      </a:r>
                      <a:endParaRPr lang="ru-RU" sz="8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>
                          <a:effectLst/>
                          <a:latin typeface="Arial" panose="020B0604020202020204" pitchFamily="34" charset="0"/>
                        </a:rPr>
                        <a:t>Способ Расчета</a:t>
                      </a:r>
                      <a:endParaRPr lang="ru-RU" sz="8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>
                          <a:effectLst/>
                          <a:latin typeface="Arial" panose="020B0604020202020204" pitchFamily="34" charset="0"/>
                        </a:rPr>
                        <a:t>Зачет Отработанного Времени</a:t>
                      </a:r>
                      <a:endParaRPr lang="ru-RU" sz="8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4552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345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Оклад по дням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По месячной тарифной ставке по дням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Да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70162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Оклад по дням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По месячной тарифной ставке по дням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Да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53295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Оклад по дням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По месячной тарифной ставке по дням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Да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97569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Оклад по дням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По месячной тарифной ставке по дням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Да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3035673"/>
                  </a:ext>
                </a:extLst>
              </a:tr>
            </a:tbl>
          </a:graphicData>
        </a:graphic>
      </p:graphicFrame>
      <p:sp>
        <p:nvSpPr>
          <p:cNvPr id="13" name="Скругленный прямоугольник 12"/>
          <p:cNvSpPr/>
          <p:nvPr/>
        </p:nvSpPr>
        <p:spPr>
          <a:xfrm>
            <a:off x="73819" y="4762976"/>
            <a:ext cx="7076377" cy="232409"/>
          </a:xfrm>
          <a:prstGeom prst="round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Скругленный прямоугольник 13"/>
          <p:cNvSpPr/>
          <p:nvPr/>
        </p:nvSpPr>
        <p:spPr>
          <a:xfrm>
            <a:off x="73819" y="2329892"/>
            <a:ext cx="8965406" cy="232409"/>
          </a:xfrm>
          <a:prstGeom prst="round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Скругленный прямоугольник 14"/>
          <p:cNvSpPr/>
          <p:nvPr/>
        </p:nvSpPr>
        <p:spPr>
          <a:xfrm>
            <a:off x="87889" y="5935979"/>
            <a:ext cx="8132185" cy="232409"/>
          </a:xfrm>
          <a:prstGeom prst="round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7553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0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50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0"/>
                            </p:stCondLst>
                            <p:childTnLst>
                              <p:par>
                                <p:cTn id="17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10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50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9000"/>
                            </p:stCondLst>
                            <p:childTnLst>
                              <p:par>
                                <p:cTn id="25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1000" tmFilter="0, 0; .2, .5; .8, .5; 1, 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50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3" grpId="1" animBg="1"/>
      <p:bldP spid="13" grpId="2" animBg="1"/>
      <p:bldP spid="14" grpId="0" animBg="1"/>
      <p:bldP spid="14" grpId="1" animBg="1"/>
      <p:bldP spid="14" grpId="2" animBg="1"/>
      <p:bldP spid="15" grpId="0" animBg="1"/>
      <p:bldP spid="15" grpId="1" animBg="1"/>
      <p:bldP spid="15" grpId="2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Таблица 18"/>
          <p:cNvGraphicFramePr>
            <a:graphicFrameLocks noGrp="1"/>
          </p:cNvGraphicFramePr>
          <p:nvPr/>
        </p:nvGraphicFramePr>
        <p:xfrm>
          <a:off x="178594" y="5265419"/>
          <a:ext cx="7935011" cy="1117600"/>
        </p:xfrm>
        <a:graphic>
          <a:graphicData uri="http://schemas.openxmlformats.org/drawingml/2006/table">
            <a:tbl>
              <a:tblPr/>
              <a:tblGrid>
                <a:gridCol w="974797">
                  <a:extLst>
                    <a:ext uri="{9D8B030D-6E8A-4147-A177-3AD203B41FA5}">
                      <a16:colId xmlns:a16="http://schemas.microsoft.com/office/drawing/2014/main" val="1923638644"/>
                    </a:ext>
                  </a:extLst>
                </a:gridCol>
                <a:gridCol w="1920024">
                  <a:extLst>
                    <a:ext uri="{9D8B030D-6E8A-4147-A177-3AD203B41FA5}">
                      <a16:colId xmlns:a16="http://schemas.microsoft.com/office/drawing/2014/main" val="3358790280"/>
                    </a:ext>
                  </a:extLst>
                </a:gridCol>
                <a:gridCol w="2674574">
                  <a:extLst>
                    <a:ext uri="{9D8B030D-6E8A-4147-A177-3AD203B41FA5}">
                      <a16:colId xmlns:a16="http://schemas.microsoft.com/office/drawing/2014/main" val="2253315689"/>
                    </a:ext>
                  </a:extLst>
                </a:gridCol>
                <a:gridCol w="1045154">
                  <a:extLst>
                    <a:ext uri="{9D8B030D-6E8A-4147-A177-3AD203B41FA5}">
                      <a16:colId xmlns:a16="http://schemas.microsoft.com/office/drawing/2014/main" val="2669761967"/>
                    </a:ext>
                  </a:extLst>
                </a:gridCol>
                <a:gridCol w="1320462">
                  <a:extLst>
                    <a:ext uri="{9D8B030D-6E8A-4147-A177-3AD203B41FA5}">
                      <a16:colId xmlns:a16="http://schemas.microsoft.com/office/drawing/2014/main" val="14624673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effectLst/>
                          <a:latin typeface="Arial" panose="020B0604020202020204" pitchFamily="34" charset="0"/>
                        </a:rPr>
                        <a:t>Номер Строки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effectLst/>
                          <a:latin typeface="Arial" panose="020B0604020202020204" pitchFamily="34" charset="0"/>
                        </a:rPr>
                        <a:t>Значение Дни </a:t>
                      </a:r>
                      <a:r>
                        <a:rPr lang="ru-RU" sz="800" b="1" dirty="0" smtClean="0">
                          <a:effectLst/>
                          <a:latin typeface="Arial" panose="020B0604020202020204" pitchFamily="34" charset="0"/>
                        </a:rPr>
                        <a:t>Период Действия</a:t>
                      </a:r>
                      <a:endParaRPr lang="ru-RU" sz="800" b="1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effectLst/>
                          <a:latin typeface="Arial" panose="020B0604020202020204" pitchFamily="34" charset="0"/>
                        </a:rPr>
                        <a:t>Значение Дни Фактический Период Действия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effectLst/>
                          <a:latin typeface="Arial" panose="020B0604020202020204" pitchFamily="34" charset="0"/>
                        </a:rPr>
                        <a:t>Результат База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effectLst/>
                          <a:latin typeface="Arial" panose="020B0604020202020204" pitchFamily="34" charset="0"/>
                        </a:rPr>
                        <a:t>Отработано Дней База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1745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5015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84558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 smtClean="0">
                          <a:effectLst/>
                          <a:latin typeface="Arial" panose="020B0604020202020204" pitchFamily="34" charset="0"/>
                        </a:rPr>
                        <a:t>7</a:t>
                      </a:r>
                      <a:endParaRPr lang="ru-RU" sz="8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 smtClean="0">
                          <a:effectLst/>
                          <a:latin typeface="Arial" panose="020B0604020202020204" pitchFamily="34" charset="0"/>
                        </a:rPr>
                        <a:t>7</a:t>
                      </a:r>
                      <a:endParaRPr lang="ru-RU" sz="8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 smtClean="0">
                          <a:effectLst/>
                          <a:latin typeface="Arial" panose="020B0604020202020204" pitchFamily="34" charset="0"/>
                        </a:rPr>
                        <a:t>7</a:t>
                      </a:r>
                      <a:endParaRPr lang="ru-RU" sz="8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13573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 smtClean="0">
                          <a:effectLst/>
                          <a:latin typeface="Arial" panose="020B0604020202020204" pitchFamily="34" charset="0"/>
                        </a:rPr>
                        <a:t>12</a:t>
                      </a:r>
                      <a:endParaRPr lang="ru-RU" sz="8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 smtClean="0">
                          <a:effectLst/>
                          <a:latin typeface="Arial" panose="020B0604020202020204" pitchFamily="34" charset="0"/>
                        </a:rPr>
                        <a:t>21</a:t>
                      </a:r>
                      <a:endParaRPr lang="ru-RU" sz="8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 smtClean="0">
                          <a:effectLst/>
                          <a:latin typeface="Arial" panose="020B0604020202020204" pitchFamily="34" charset="0"/>
                        </a:rPr>
                        <a:t>21</a:t>
                      </a:r>
                      <a:endParaRPr lang="ru-RU" sz="8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0394672"/>
                  </a:ext>
                </a:extLst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1787329"/>
              </p:ext>
            </p:extLst>
          </p:nvPr>
        </p:nvGraphicFramePr>
        <p:xfrm>
          <a:off x="178594" y="591387"/>
          <a:ext cx="8783999" cy="3247187"/>
        </p:xfrm>
        <a:graphic>
          <a:graphicData uri="http://schemas.openxmlformats.org/drawingml/2006/table">
            <a:tbl>
              <a:tblPr/>
              <a:tblGrid>
                <a:gridCol w="570841">
                  <a:extLst>
                    <a:ext uri="{9D8B030D-6E8A-4147-A177-3AD203B41FA5}">
                      <a16:colId xmlns:a16="http://schemas.microsoft.com/office/drawing/2014/main" val="2998289165"/>
                    </a:ext>
                  </a:extLst>
                </a:gridCol>
                <a:gridCol w="1193511">
                  <a:extLst>
                    <a:ext uri="{9D8B030D-6E8A-4147-A177-3AD203B41FA5}">
                      <a16:colId xmlns:a16="http://schemas.microsoft.com/office/drawing/2014/main" val="1309104618"/>
                    </a:ext>
                  </a:extLst>
                </a:gridCol>
                <a:gridCol w="630814">
                  <a:extLst>
                    <a:ext uri="{9D8B030D-6E8A-4147-A177-3AD203B41FA5}">
                      <a16:colId xmlns:a16="http://schemas.microsoft.com/office/drawing/2014/main" val="1376281065"/>
                    </a:ext>
                  </a:extLst>
                </a:gridCol>
                <a:gridCol w="825536">
                  <a:extLst>
                    <a:ext uri="{9D8B030D-6E8A-4147-A177-3AD203B41FA5}">
                      <a16:colId xmlns:a16="http://schemas.microsoft.com/office/drawing/2014/main" val="3570388436"/>
                    </a:ext>
                  </a:extLst>
                </a:gridCol>
                <a:gridCol w="552332">
                  <a:extLst>
                    <a:ext uri="{9D8B030D-6E8A-4147-A177-3AD203B41FA5}">
                      <a16:colId xmlns:a16="http://schemas.microsoft.com/office/drawing/2014/main" val="2590104709"/>
                    </a:ext>
                  </a:extLst>
                </a:gridCol>
                <a:gridCol w="833680">
                  <a:extLst>
                    <a:ext uri="{9D8B030D-6E8A-4147-A177-3AD203B41FA5}">
                      <a16:colId xmlns:a16="http://schemas.microsoft.com/office/drawing/2014/main" val="3796838509"/>
                    </a:ext>
                  </a:extLst>
                </a:gridCol>
                <a:gridCol w="570841">
                  <a:extLst>
                    <a:ext uri="{9D8B030D-6E8A-4147-A177-3AD203B41FA5}">
                      <a16:colId xmlns:a16="http://schemas.microsoft.com/office/drawing/2014/main" val="1472304097"/>
                    </a:ext>
                  </a:extLst>
                </a:gridCol>
                <a:gridCol w="828497">
                  <a:extLst>
                    <a:ext uri="{9D8B030D-6E8A-4147-A177-3AD203B41FA5}">
                      <a16:colId xmlns:a16="http://schemas.microsoft.com/office/drawing/2014/main" val="2197324808"/>
                    </a:ext>
                  </a:extLst>
                </a:gridCol>
                <a:gridCol w="710035">
                  <a:extLst>
                    <a:ext uri="{9D8B030D-6E8A-4147-A177-3AD203B41FA5}">
                      <a16:colId xmlns:a16="http://schemas.microsoft.com/office/drawing/2014/main" val="2571466262"/>
                    </a:ext>
                  </a:extLst>
                </a:gridCol>
                <a:gridCol w="710035">
                  <a:extLst>
                    <a:ext uri="{9D8B030D-6E8A-4147-A177-3AD203B41FA5}">
                      <a16:colId xmlns:a16="http://schemas.microsoft.com/office/drawing/2014/main" val="2409714820"/>
                    </a:ext>
                  </a:extLst>
                </a:gridCol>
                <a:gridCol w="710035">
                  <a:extLst>
                    <a:ext uri="{9D8B030D-6E8A-4147-A177-3AD203B41FA5}">
                      <a16:colId xmlns:a16="http://schemas.microsoft.com/office/drawing/2014/main" val="1458703185"/>
                    </a:ext>
                  </a:extLst>
                </a:gridCol>
                <a:gridCol w="647842">
                  <a:extLst>
                    <a:ext uri="{9D8B030D-6E8A-4147-A177-3AD203B41FA5}">
                      <a16:colId xmlns:a16="http://schemas.microsoft.com/office/drawing/2014/main" val="2672061986"/>
                    </a:ext>
                  </a:extLst>
                </a:gridCol>
              </a:tblGrid>
              <a:tr h="225571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 стр.</a:t>
                      </a:r>
                      <a:endParaRPr lang="ru-RU" sz="600">
                        <a:effectLst/>
                      </a:endParaRP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Регистратор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ВР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Физическое Лицо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Результат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Отработано Дней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Размер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График Работы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ПДН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ПДК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БПН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 dirty="0">
                          <a:effectLst/>
                          <a:latin typeface="Arial" panose="020B0604020202020204" pitchFamily="34" charset="0"/>
                        </a:rPr>
                        <a:t>БПК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2473155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Док 4 от </a:t>
                      </a:r>
                      <a:r>
                        <a:rPr lang="ru-RU" sz="700" dirty="0" smtClean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06.03.2018</a:t>
                      </a:r>
                      <a:endParaRPr lang="ru-RU" sz="700" dirty="0"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Оклад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 smtClean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Полушко</a:t>
                      </a:r>
                      <a:endParaRPr lang="ru-RU" sz="700" dirty="0"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  <a:r>
                        <a:rPr lang="ru-RU" sz="700" dirty="0" smtClean="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7040</a:t>
                      </a:r>
                      <a:endParaRPr lang="ru-RU" sz="700" dirty="0">
                        <a:solidFill>
                          <a:srgbClr val="C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 smtClean="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22</a:t>
                      </a:r>
                      <a:endParaRPr lang="ru-RU" sz="700" dirty="0">
                        <a:solidFill>
                          <a:srgbClr val="C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8 000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05.02.2018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700" dirty="0">
                        <a:solidFill>
                          <a:srgbClr val="C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700" dirty="0">
                        <a:solidFill>
                          <a:srgbClr val="C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0508099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Доплата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Полушко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05.02.2018 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28.02.2018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1514436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Надбавка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Полушко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05.02.2018 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28.02.2018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7112024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Оклад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Мальцев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  <a:r>
                        <a:rPr lang="ru-RU" sz="700" dirty="0" smtClean="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960</a:t>
                      </a:r>
                      <a:endParaRPr lang="ru-RU" sz="700" dirty="0">
                        <a:solidFill>
                          <a:srgbClr val="C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 smtClean="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3</a:t>
                      </a:r>
                      <a:endParaRPr lang="ru-RU" sz="700" dirty="0">
                        <a:solidFill>
                          <a:srgbClr val="C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8 000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04.02.2018 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4392649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Доплата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Мальцев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04.02.2018 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04.02.2018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8501475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Надбавка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Мальцев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04.02.2018 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04.02.2018 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9504043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Оклад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Соловьев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  <a:r>
                        <a:rPr lang="ru-RU" sz="1000" dirty="0" smtClean="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5000</a:t>
                      </a:r>
                      <a:endParaRPr lang="ru-RU" sz="1000" dirty="0">
                        <a:solidFill>
                          <a:srgbClr val="C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  <a:r>
                        <a:rPr lang="ru-RU" sz="1000" dirty="0" smtClean="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7</a:t>
                      </a:r>
                      <a:endParaRPr lang="ru-RU" sz="1000" dirty="0">
                        <a:solidFill>
                          <a:srgbClr val="C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5 000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Сутки через 3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2010696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Надбавка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Соловьев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Сутки через 3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28.02.2018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3228266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Доплата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Соловьев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Сутки через 3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1921888"/>
                  </a:ext>
                </a:extLst>
              </a:tr>
              <a:tr h="249836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Доплата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Иванцева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Пятидневка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28.02.2018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719270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Надбавка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Иванцева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Пятидневка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28.02.2018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940674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Оклад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Иванцева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10 000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Пятидневка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0565783"/>
                  </a:ext>
                </a:extLst>
              </a:tr>
            </a:tbl>
          </a:graphicData>
        </a:graphic>
      </p:graphicFrame>
      <p:graphicFrame>
        <p:nvGraphicFramePr>
          <p:cNvPr id="2" name="Таблица 1"/>
          <p:cNvGraphicFramePr>
            <a:graphicFrameLocks noGrp="1"/>
          </p:cNvGraphicFramePr>
          <p:nvPr/>
        </p:nvGraphicFramePr>
        <p:xfrm>
          <a:off x="178594" y="3876674"/>
          <a:ext cx="6849769" cy="1341120"/>
        </p:xfrm>
        <a:graphic>
          <a:graphicData uri="http://schemas.openxmlformats.org/drawingml/2006/table">
            <a:tbl>
              <a:tblPr/>
              <a:tblGrid>
                <a:gridCol w="738835">
                  <a:extLst>
                    <a:ext uri="{9D8B030D-6E8A-4147-A177-3AD203B41FA5}">
                      <a16:colId xmlns:a16="http://schemas.microsoft.com/office/drawing/2014/main" val="3313011995"/>
                    </a:ext>
                  </a:extLst>
                </a:gridCol>
                <a:gridCol w="617220">
                  <a:extLst>
                    <a:ext uri="{9D8B030D-6E8A-4147-A177-3AD203B41FA5}">
                      <a16:colId xmlns:a16="http://schemas.microsoft.com/office/drawing/2014/main" val="1831329169"/>
                    </a:ext>
                  </a:extLst>
                </a:gridCol>
                <a:gridCol w="1089050">
                  <a:extLst>
                    <a:ext uri="{9D8B030D-6E8A-4147-A177-3AD203B41FA5}">
                      <a16:colId xmlns:a16="http://schemas.microsoft.com/office/drawing/2014/main" val="1362020611"/>
                    </a:ext>
                  </a:extLst>
                </a:gridCol>
                <a:gridCol w="2725826">
                  <a:extLst>
                    <a:ext uri="{9D8B030D-6E8A-4147-A177-3AD203B41FA5}">
                      <a16:colId xmlns:a16="http://schemas.microsoft.com/office/drawing/2014/main" val="1500971267"/>
                    </a:ext>
                  </a:extLst>
                </a:gridCol>
                <a:gridCol w="1678838">
                  <a:extLst>
                    <a:ext uri="{9D8B030D-6E8A-4147-A177-3AD203B41FA5}">
                      <a16:colId xmlns:a16="http://schemas.microsoft.com/office/drawing/2014/main" val="7132611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effectLst/>
                          <a:latin typeface="Arial" panose="020B0604020202020204" pitchFamily="34" charset="0"/>
                        </a:rPr>
                        <a:t>Приоритет</a:t>
                      </a:r>
                      <a:endParaRPr lang="ru-RU" sz="8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800" b="1" dirty="0">
                          <a:effectLst/>
                          <a:latin typeface="Arial" panose="020B0604020202020204" pitchFamily="34" charset="0"/>
                        </a:rPr>
                        <a:t> стр.</a:t>
                      </a:r>
                      <a:endParaRPr lang="ru-RU" sz="800" dirty="0"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>
                          <a:effectLst/>
                          <a:latin typeface="Arial" panose="020B0604020202020204" pitchFamily="34" charset="0"/>
                        </a:rPr>
                        <a:t>Вид Расчета</a:t>
                      </a:r>
                      <a:endParaRPr lang="ru-RU" sz="8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>
                          <a:effectLst/>
                          <a:latin typeface="Arial" panose="020B0604020202020204" pitchFamily="34" charset="0"/>
                        </a:rPr>
                        <a:t>Способ Расчета</a:t>
                      </a:r>
                      <a:endParaRPr lang="ru-RU" sz="8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>
                          <a:effectLst/>
                          <a:latin typeface="Arial" panose="020B0604020202020204" pitchFamily="34" charset="0"/>
                        </a:rPr>
                        <a:t>Зачет Отработанного Времени</a:t>
                      </a:r>
                      <a:endParaRPr lang="ru-RU" sz="8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4552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345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Оклад по дням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По месячной тарифной ставке по дням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Да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70162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Оклад по дням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По месячной тарифной ставке по дням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Да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53295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Оклад по дням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По месячной тарифной ставке по дням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Да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97569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Оклад по дням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По месячной тарифной ставке по дням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Да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30356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5205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Таблица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3500361"/>
              </p:ext>
            </p:extLst>
          </p:nvPr>
        </p:nvGraphicFramePr>
        <p:xfrm>
          <a:off x="178594" y="5265419"/>
          <a:ext cx="7935011" cy="1117600"/>
        </p:xfrm>
        <a:graphic>
          <a:graphicData uri="http://schemas.openxmlformats.org/drawingml/2006/table">
            <a:tbl>
              <a:tblPr/>
              <a:tblGrid>
                <a:gridCol w="974797">
                  <a:extLst>
                    <a:ext uri="{9D8B030D-6E8A-4147-A177-3AD203B41FA5}">
                      <a16:colId xmlns:a16="http://schemas.microsoft.com/office/drawing/2014/main" val="1923638644"/>
                    </a:ext>
                  </a:extLst>
                </a:gridCol>
                <a:gridCol w="1920024">
                  <a:extLst>
                    <a:ext uri="{9D8B030D-6E8A-4147-A177-3AD203B41FA5}">
                      <a16:colId xmlns:a16="http://schemas.microsoft.com/office/drawing/2014/main" val="3358790280"/>
                    </a:ext>
                  </a:extLst>
                </a:gridCol>
                <a:gridCol w="2674574">
                  <a:extLst>
                    <a:ext uri="{9D8B030D-6E8A-4147-A177-3AD203B41FA5}">
                      <a16:colId xmlns:a16="http://schemas.microsoft.com/office/drawing/2014/main" val="2253315689"/>
                    </a:ext>
                  </a:extLst>
                </a:gridCol>
                <a:gridCol w="1045154">
                  <a:extLst>
                    <a:ext uri="{9D8B030D-6E8A-4147-A177-3AD203B41FA5}">
                      <a16:colId xmlns:a16="http://schemas.microsoft.com/office/drawing/2014/main" val="2669761967"/>
                    </a:ext>
                  </a:extLst>
                </a:gridCol>
                <a:gridCol w="1320462">
                  <a:extLst>
                    <a:ext uri="{9D8B030D-6E8A-4147-A177-3AD203B41FA5}">
                      <a16:colId xmlns:a16="http://schemas.microsoft.com/office/drawing/2014/main" val="14624673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effectLst/>
                          <a:latin typeface="Arial" panose="020B0604020202020204" pitchFamily="34" charset="0"/>
                        </a:rPr>
                        <a:t>Номер Строки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effectLst/>
                          <a:latin typeface="Arial" panose="020B0604020202020204" pitchFamily="34" charset="0"/>
                        </a:rPr>
                        <a:t>Значение Дни </a:t>
                      </a:r>
                      <a:r>
                        <a:rPr lang="ru-RU" sz="800" b="1" dirty="0" smtClean="0">
                          <a:effectLst/>
                          <a:latin typeface="Arial" panose="020B0604020202020204" pitchFamily="34" charset="0"/>
                        </a:rPr>
                        <a:t>Период Действия</a:t>
                      </a:r>
                      <a:endParaRPr lang="ru-RU" sz="800" b="1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effectLst/>
                          <a:latin typeface="Arial" panose="020B0604020202020204" pitchFamily="34" charset="0"/>
                        </a:rPr>
                        <a:t>Значение Дни Фактический Период Действия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effectLst/>
                          <a:latin typeface="Arial" panose="020B0604020202020204" pitchFamily="34" charset="0"/>
                        </a:rPr>
                        <a:t>Результат База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effectLst/>
                          <a:latin typeface="Arial" panose="020B0604020202020204" pitchFamily="34" charset="0"/>
                        </a:rPr>
                        <a:t>Отработано Дней База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1745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5015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84558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 smtClean="0">
                          <a:effectLst/>
                          <a:latin typeface="Arial" panose="020B0604020202020204" pitchFamily="34" charset="0"/>
                        </a:rPr>
                        <a:t>7</a:t>
                      </a:r>
                      <a:endParaRPr lang="ru-RU" sz="8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 smtClean="0">
                          <a:effectLst/>
                          <a:latin typeface="Arial" panose="020B0604020202020204" pitchFamily="34" charset="0"/>
                        </a:rPr>
                        <a:t>7</a:t>
                      </a:r>
                      <a:endParaRPr lang="ru-RU" sz="8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 smtClean="0">
                          <a:effectLst/>
                          <a:latin typeface="Arial" panose="020B0604020202020204" pitchFamily="34" charset="0"/>
                        </a:rPr>
                        <a:t>7</a:t>
                      </a:r>
                      <a:endParaRPr lang="ru-RU" sz="8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13573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 smtClean="0">
                          <a:effectLst/>
                          <a:latin typeface="Arial" panose="020B0604020202020204" pitchFamily="34" charset="0"/>
                        </a:rPr>
                        <a:t>12</a:t>
                      </a:r>
                      <a:endParaRPr lang="ru-RU" sz="8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 smtClean="0">
                          <a:effectLst/>
                          <a:latin typeface="Arial" panose="020B0604020202020204" pitchFamily="34" charset="0"/>
                        </a:rPr>
                        <a:t>21</a:t>
                      </a:r>
                      <a:endParaRPr lang="ru-RU" sz="8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 smtClean="0">
                          <a:effectLst/>
                          <a:latin typeface="Arial" panose="020B0604020202020204" pitchFamily="34" charset="0"/>
                        </a:rPr>
                        <a:t>21</a:t>
                      </a:r>
                      <a:endParaRPr lang="ru-RU" sz="8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0394672"/>
                  </a:ext>
                </a:extLst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0542266"/>
              </p:ext>
            </p:extLst>
          </p:nvPr>
        </p:nvGraphicFramePr>
        <p:xfrm>
          <a:off x="178594" y="591387"/>
          <a:ext cx="8783999" cy="3247187"/>
        </p:xfrm>
        <a:graphic>
          <a:graphicData uri="http://schemas.openxmlformats.org/drawingml/2006/table">
            <a:tbl>
              <a:tblPr/>
              <a:tblGrid>
                <a:gridCol w="570841">
                  <a:extLst>
                    <a:ext uri="{9D8B030D-6E8A-4147-A177-3AD203B41FA5}">
                      <a16:colId xmlns:a16="http://schemas.microsoft.com/office/drawing/2014/main" val="2998289165"/>
                    </a:ext>
                  </a:extLst>
                </a:gridCol>
                <a:gridCol w="1193511">
                  <a:extLst>
                    <a:ext uri="{9D8B030D-6E8A-4147-A177-3AD203B41FA5}">
                      <a16:colId xmlns:a16="http://schemas.microsoft.com/office/drawing/2014/main" val="1309104618"/>
                    </a:ext>
                  </a:extLst>
                </a:gridCol>
                <a:gridCol w="630814">
                  <a:extLst>
                    <a:ext uri="{9D8B030D-6E8A-4147-A177-3AD203B41FA5}">
                      <a16:colId xmlns:a16="http://schemas.microsoft.com/office/drawing/2014/main" val="1376281065"/>
                    </a:ext>
                  </a:extLst>
                </a:gridCol>
                <a:gridCol w="825536">
                  <a:extLst>
                    <a:ext uri="{9D8B030D-6E8A-4147-A177-3AD203B41FA5}">
                      <a16:colId xmlns:a16="http://schemas.microsoft.com/office/drawing/2014/main" val="3570388436"/>
                    </a:ext>
                  </a:extLst>
                </a:gridCol>
                <a:gridCol w="552332">
                  <a:extLst>
                    <a:ext uri="{9D8B030D-6E8A-4147-A177-3AD203B41FA5}">
                      <a16:colId xmlns:a16="http://schemas.microsoft.com/office/drawing/2014/main" val="2590104709"/>
                    </a:ext>
                  </a:extLst>
                </a:gridCol>
                <a:gridCol w="833680">
                  <a:extLst>
                    <a:ext uri="{9D8B030D-6E8A-4147-A177-3AD203B41FA5}">
                      <a16:colId xmlns:a16="http://schemas.microsoft.com/office/drawing/2014/main" val="3796838509"/>
                    </a:ext>
                  </a:extLst>
                </a:gridCol>
                <a:gridCol w="570841">
                  <a:extLst>
                    <a:ext uri="{9D8B030D-6E8A-4147-A177-3AD203B41FA5}">
                      <a16:colId xmlns:a16="http://schemas.microsoft.com/office/drawing/2014/main" val="1472304097"/>
                    </a:ext>
                  </a:extLst>
                </a:gridCol>
                <a:gridCol w="828497">
                  <a:extLst>
                    <a:ext uri="{9D8B030D-6E8A-4147-A177-3AD203B41FA5}">
                      <a16:colId xmlns:a16="http://schemas.microsoft.com/office/drawing/2014/main" val="2197324808"/>
                    </a:ext>
                  </a:extLst>
                </a:gridCol>
                <a:gridCol w="710035">
                  <a:extLst>
                    <a:ext uri="{9D8B030D-6E8A-4147-A177-3AD203B41FA5}">
                      <a16:colId xmlns:a16="http://schemas.microsoft.com/office/drawing/2014/main" val="2571466262"/>
                    </a:ext>
                  </a:extLst>
                </a:gridCol>
                <a:gridCol w="710035">
                  <a:extLst>
                    <a:ext uri="{9D8B030D-6E8A-4147-A177-3AD203B41FA5}">
                      <a16:colId xmlns:a16="http://schemas.microsoft.com/office/drawing/2014/main" val="2409714820"/>
                    </a:ext>
                  </a:extLst>
                </a:gridCol>
                <a:gridCol w="710035">
                  <a:extLst>
                    <a:ext uri="{9D8B030D-6E8A-4147-A177-3AD203B41FA5}">
                      <a16:colId xmlns:a16="http://schemas.microsoft.com/office/drawing/2014/main" val="1458703185"/>
                    </a:ext>
                  </a:extLst>
                </a:gridCol>
                <a:gridCol w="647842">
                  <a:extLst>
                    <a:ext uri="{9D8B030D-6E8A-4147-A177-3AD203B41FA5}">
                      <a16:colId xmlns:a16="http://schemas.microsoft.com/office/drawing/2014/main" val="2672061986"/>
                    </a:ext>
                  </a:extLst>
                </a:gridCol>
              </a:tblGrid>
              <a:tr h="225571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 стр.</a:t>
                      </a:r>
                      <a:endParaRPr lang="ru-RU" sz="600">
                        <a:effectLst/>
                      </a:endParaRP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Регистратор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ВР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Физическое Лицо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Результат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Отработано Дней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Размер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График Работы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ПДН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ПДК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БПН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 dirty="0">
                          <a:effectLst/>
                          <a:latin typeface="Arial" panose="020B0604020202020204" pitchFamily="34" charset="0"/>
                        </a:rPr>
                        <a:t>БПК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2473155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Док 4 от </a:t>
                      </a:r>
                      <a:r>
                        <a:rPr lang="ru-RU" sz="700" dirty="0" smtClean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06.03.2018</a:t>
                      </a:r>
                      <a:endParaRPr lang="ru-RU" sz="700" dirty="0"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Оклад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 smtClean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Полушко</a:t>
                      </a:r>
                      <a:endParaRPr lang="ru-RU" sz="700" dirty="0"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  <a:r>
                        <a:rPr lang="ru-RU" sz="700" dirty="0" smtClean="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7040</a:t>
                      </a:r>
                      <a:endParaRPr lang="ru-RU" sz="700" dirty="0">
                        <a:solidFill>
                          <a:srgbClr val="C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 smtClean="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22</a:t>
                      </a:r>
                      <a:endParaRPr lang="ru-RU" sz="700" dirty="0">
                        <a:solidFill>
                          <a:srgbClr val="C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8 000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05.02.2018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700" dirty="0">
                        <a:solidFill>
                          <a:srgbClr val="C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700" dirty="0">
                        <a:solidFill>
                          <a:srgbClr val="C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0508099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Доплата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Полушко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05.02.2018 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28.02.2018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1514436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Надбавка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Полушко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05.02.2018 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28.02.2018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7112024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Оклад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Мальцев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  <a:r>
                        <a:rPr lang="ru-RU" sz="700" dirty="0" smtClean="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960</a:t>
                      </a:r>
                      <a:endParaRPr lang="ru-RU" sz="700" dirty="0">
                        <a:solidFill>
                          <a:srgbClr val="C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 smtClean="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3</a:t>
                      </a:r>
                      <a:endParaRPr lang="ru-RU" sz="700" dirty="0">
                        <a:solidFill>
                          <a:srgbClr val="C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8 000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04.02.2018 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4392649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Доплата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Мальцев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04.02.2018 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04.02.2018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8501475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Надбавка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Мальцев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04.02.2018 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04.02.2018 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9504043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Оклад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Соловьев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  <a:r>
                        <a:rPr lang="ru-RU" sz="700" dirty="0" smtClean="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5000</a:t>
                      </a:r>
                      <a:endParaRPr lang="ru-RU" sz="700" dirty="0">
                        <a:solidFill>
                          <a:srgbClr val="C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  <a:r>
                        <a:rPr lang="ru-RU" sz="700" dirty="0" smtClean="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7</a:t>
                      </a:r>
                      <a:endParaRPr lang="ru-RU" sz="700" dirty="0">
                        <a:solidFill>
                          <a:srgbClr val="C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5 000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Сутки через 3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2010696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Надбавка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Соловьев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Сутки через 3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28.02.2018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3228266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Доплата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Соловьев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Сутки через 3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1921888"/>
                  </a:ext>
                </a:extLst>
              </a:tr>
              <a:tr h="249836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Доплата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Иванцева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Пятидневка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28.02.2018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719270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Надбавка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Иванцева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Пятидневка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28.02.2018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940674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Оклад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Иванцева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10 000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Пятидневка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0565783"/>
                  </a:ext>
                </a:extLst>
              </a:tr>
            </a:tbl>
          </a:graphicData>
        </a:graphic>
      </p:graphicFrame>
      <p:graphicFrame>
        <p:nvGraphicFramePr>
          <p:cNvPr id="2" name="Таблица 1"/>
          <p:cNvGraphicFramePr>
            <a:graphicFrameLocks noGrp="1"/>
          </p:cNvGraphicFramePr>
          <p:nvPr/>
        </p:nvGraphicFramePr>
        <p:xfrm>
          <a:off x="178594" y="3876674"/>
          <a:ext cx="6849769" cy="1341120"/>
        </p:xfrm>
        <a:graphic>
          <a:graphicData uri="http://schemas.openxmlformats.org/drawingml/2006/table">
            <a:tbl>
              <a:tblPr/>
              <a:tblGrid>
                <a:gridCol w="738835">
                  <a:extLst>
                    <a:ext uri="{9D8B030D-6E8A-4147-A177-3AD203B41FA5}">
                      <a16:colId xmlns:a16="http://schemas.microsoft.com/office/drawing/2014/main" val="3313011995"/>
                    </a:ext>
                  </a:extLst>
                </a:gridCol>
                <a:gridCol w="617220">
                  <a:extLst>
                    <a:ext uri="{9D8B030D-6E8A-4147-A177-3AD203B41FA5}">
                      <a16:colId xmlns:a16="http://schemas.microsoft.com/office/drawing/2014/main" val="1831329169"/>
                    </a:ext>
                  </a:extLst>
                </a:gridCol>
                <a:gridCol w="1089050">
                  <a:extLst>
                    <a:ext uri="{9D8B030D-6E8A-4147-A177-3AD203B41FA5}">
                      <a16:colId xmlns:a16="http://schemas.microsoft.com/office/drawing/2014/main" val="1362020611"/>
                    </a:ext>
                  </a:extLst>
                </a:gridCol>
                <a:gridCol w="2725826">
                  <a:extLst>
                    <a:ext uri="{9D8B030D-6E8A-4147-A177-3AD203B41FA5}">
                      <a16:colId xmlns:a16="http://schemas.microsoft.com/office/drawing/2014/main" val="1500971267"/>
                    </a:ext>
                  </a:extLst>
                </a:gridCol>
                <a:gridCol w="1678838">
                  <a:extLst>
                    <a:ext uri="{9D8B030D-6E8A-4147-A177-3AD203B41FA5}">
                      <a16:colId xmlns:a16="http://schemas.microsoft.com/office/drawing/2014/main" val="7132611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effectLst/>
                          <a:latin typeface="Arial" panose="020B0604020202020204" pitchFamily="34" charset="0"/>
                        </a:rPr>
                        <a:t>Приоритет</a:t>
                      </a:r>
                      <a:endParaRPr lang="ru-RU" sz="8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800" b="1" dirty="0">
                          <a:effectLst/>
                          <a:latin typeface="Arial" panose="020B0604020202020204" pitchFamily="34" charset="0"/>
                        </a:rPr>
                        <a:t> стр.</a:t>
                      </a:r>
                      <a:endParaRPr lang="ru-RU" sz="800" dirty="0"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>
                          <a:effectLst/>
                          <a:latin typeface="Arial" panose="020B0604020202020204" pitchFamily="34" charset="0"/>
                        </a:rPr>
                        <a:t>Вид Расчета</a:t>
                      </a:r>
                      <a:endParaRPr lang="ru-RU" sz="8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>
                          <a:effectLst/>
                          <a:latin typeface="Arial" panose="020B0604020202020204" pitchFamily="34" charset="0"/>
                        </a:rPr>
                        <a:t>Способ Расчета</a:t>
                      </a:r>
                      <a:endParaRPr lang="ru-RU" sz="8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>
                          <a:effectLst/>
                          <a:latin typeface="Arial" panose="020B0604020202020204" pitchFamily="34" charset="0"/>
                        </a:rPr>
                        <a:t>Зачет Отработанного Времени</a:t>
                      </a:r>
                      <a:endParaRPr lang="ru-RU" sz="8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4552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345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Оклад по дням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По месячной тарифной ставке по дням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Да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70162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Оклад по дням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По месячной тарифной ставке по дням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Да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53295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Оклад по дням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По месячной тарифной ставке по дням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Да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97569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Оклад по дням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По месячной тарифной ставке по дням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Да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3035673"/>
                  </a:ext>
                </a:extLst>
              </a:tr>
            </a:tbl>
          </a:graphicData>
        </a:graphic>
      </p:graphicFrame>
      <p:sp>
        <p:nvSpPr>
          <p:cNvPr id="16" name="Скругленный прямоугольник 15"/>
          <p:cNvSpPr/>
          <p:nvPr/>
        </p:nvSpPr>
        <p:spPr>
          <a:xfrm>
            <a:off x="87890" y="4976496"/>
            <a:ext cx="7076377" cy="232409"/>
          </a:xfrm>
          <a:prstGeom prst="round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Скругленный прямоугольник 16"/>
          <p:cNvSpPr/>
          <p:nvPr/>
        </p:nvSpPr>
        <p:spPr>
          <a:xfrm>
            <a:off x="87890" y="3586478"/>
            <a:ext cx="8965406" cy="232409"/>
          </a:xfrm>
          <a:prstGeom prst="round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Скругленный прямоугольник 17"/>
          <p:cNvSpPr/>
          <p:nvPr/>
        </p:nvSpPr>
        <p:spPr>
          <a:xfrm>
            <a:off x="87890" y="6165533"/>
            <a:ext cx="8132185" cy="232409"/>
          </a:xfrm>
          <a:prstGeom prst="round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6647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000" tmFilter="0, 0; .2, .5; .8, .5; 1, 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500" autoRev="1" fill="hold"/>
                                        <p:tgtEl>
                                          <p:spTgt spid="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0"/>
                            </p:stCondLst>
                            <p:childTnLst>
                              <p:par>
                                <p:cTn id="17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100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50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9000"/>
                            </p:stCondLst>
                            <p:childTnLst>
                              <p:par>
                                <p:cTn id="25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1000" tmFilter="0, 0; .2, .5; .8, .5; 1, 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50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6" grpId="1" animBg="1"/>
      <p:bldP spid="16" grpId="2" animBg="1"/>
      <p:bldP spid="17" grpId="0" animBg="1"/>
      <p:bldP spid="17" grpId="1" animBg="1"/>
      <p:bldP spid="17" grpId="2" animBg="1"/>
      <p:bldP spid="18" grpId="0" animBg="1"/>
      <p:bldP spid="18" grpId="1" animBg="1"/>
      <p:bldP spid="18" grpId="2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Таблица 18"/>
          <p:cNvGraphicFramePr>
            <a:graphicFrameLocks noGrp="1"/>
          </p:cNvGraphicFramePr>
          <p:nvPr/>
        </p:nvGraphicFramePr>
        <p:xfrm>
          <a:off x="178594" y="5265419"/>
          <a:ext cx="7935011" cy="1117600"/>
        </p:xfrm>
        <a:graphic>
          <a:graphicData uri="http://schemas.openxmlformats.org/drawingml/2006/table">
            <a:tbl>
              <a:tblPr/>
              <a:tblGrid>
                <a:gridCol w="974797">
                  <a:extLst>
                    <a:ext uri="{9D8B030D-6E8A-4147-A177-3AD203B41FA5}">
                      <a16:colId xmlns:a16="http://schemas.microsoft.com/office/drawing/2014/main" val="1923638644"/>
                    </a:ext>
                  </a:extLst>
                </a:gridCol>
                <a:gridCol w="1920024">
                  <a:extLst>
                    <a:ext uri="{9D8B030D-6E8A-4147-A177-3AD203B41FA5}">
                      <a16:colId xmlns:a16="http://schemas.microsoft.com/office/drawing/2014/main" val="3358790280"/>
                    </a:ext>
                  </a:extLst>
                </a:gridCol>
                <a:gridCol w="2674574">
                  <a:extLst>
                    <a:ext uri="{9D8B030D-6E8A-4147-A177-3AD203B41FA5}">
                      <a16:colId xmlns:a16="http://schemas.microsoft.com/office/drawing/2014/main" val="2253315689"/>
                    </a:ext>
                  </a:extLst>
                </a:gridCol>
                <a:gridCol w="1045154">
                  <a:extLst>
                    <a:ext uri="{9D8B030D-6E8A-4147-A177-3AD203B41FA5}">
                      <a16:colId xmlns:a16="http://schemas.microsoft.com/office/drawing/2014/main" val="2669761967"/>
                    </a:ext>
                  </a:extLst>
                </a:gridCol>
                <a:gridCol w="1320462">
                  <a:extLst>
                    <a:ext uri="{9D8B030D-6E8A-4147-A177-3AD203B41FA5}">
                      <a16:colId xmlns:a16="http://schemas.microsoft.com/office/drawing/2014/main" val="14624673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effectLst/>
                          <a:latin typeface="Arial" panose="020B0604020202020204" pitchFamily="34" charset="0"/>
                        </a:rPr>
                        <a:t>Номер Строки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effectLst/>
                          <a:latin typeface="Arial" panose="020B0604020202020204" pitchFamily="34" charset="0"/>
                        </a:rPr>
                        <a:t>Значение Дни </a:t>
                      </a:r>
                      <a:r>
                        <a:rPr lang="ru-RU" sz="800" b="1" dirty="0" smtClean="0">
                          <a:effectLst/>
                          <a:latin typeface="Arial" panose="020B0604020202020204" pitchFamily="34" charset="0"/>
                        </a:rPr>
                        <a:t>Период Действия</a:t>
                      </a:r>
                      <a:endParaRPr lang="ru-RU" sz="800" b="1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effectLst/>
                          <a:latin typeface="Arial" panose="020B0604020202020204" pitchFamily="34" charset="0"/>
                        </a:rPr>
                        <a:t>Значение Дни Фактический Период Действия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effectLst/>
                          <a:latin typeface="Arial" panose="020B0604020202020204" pitchFamily="34" charset="0"/>
                        </a:rPr>
                        <a:t>Результат База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effectLst/>
                          <a:latin typeface="Arial" panose="020B0604020202020204" pitchFamily="34" charset="0"/>
                        </a:rPr>
                        <a:t>Отработано Дней База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1745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22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5015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84558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 smtClean="0">
                          <a:effectLst/>
                          <a:latin typeface="Arial" panose="020B0604020202020204" pitchFamily="34" charset="0"/>
                        </a:rPr>
                        <a:t>7</a:t>
                      </a:r>
                      <a:endParaRPr lang="ru-RU" sz="8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 smtClean="0">
                          <a:effectLst/>
                          <a:latin typeface="Arial" panose="020B0604020202020204" pitchFamily="34" charset="0"/>
                        </a:rPr>
                        <a:t>7</a:t>
                      </a:r>
                      <a:endParaRPr lang="ru-RU" sz="8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 smtClean="0">
                          <a:effectLst/>
                          <a:latin typeface="Arial" panose="020B0604020202020204" pitchFamily="34" charset="0"/>
                        </a:rPr>
                        <a:t>7</a:t>
                      </a:r>
                      <a:endParaRPr lang="ru-RU" sz="8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13573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 smtClean="0">
                          <a:effectLst/>
                          <a:latin typeface="Arial" panose="020B0604020202020204" pitchFamily="34" charset="0"/>
                        </a:rPr>
                        <a:t>12</a:t>
                      </a:r>
                      <a:endParaRPr lang="ru-RU" sz="8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 smtClean="0">
                          <a:effectLst/>
                          <a:latin typeface="Arial" panose="020B0604020202020204" pitchFamily="34" charset="0"/>
                        </a:rPr>
                        <a:t>21</a:t>
                      </a:r>
                      <a:endParaRPr lang="ru-RU" sz="8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 smtClean="0">
                          <a:effectLst/>
                          <a:latin typeface="Arial" panose="020B0604020202020204" pitchFamily="34" charset="0"/>
                        </a:rPr>
                        <a:t>21</a:t>
                      </a:r>
                      <a:endParaRPr lang="ru-RU" sz="8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0394672"/>
                  </a:ext>
                </a:extLst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1102648"/>
              </p:ext>
            </p:extLst>
          </p:nvPr>
        </p:nvGraphicFramePr>
        <p:xfrm>
          <a:off x="178594" y="591387"/>
          <a:ext cx="8783999" cy="3247187"/>
        </p:xfrm>
        <a:graphic>
          <a:graphicData uri="http://schemas.openxmlformats.org/drawingml/2006/table">
            <a:tbl>
              <a:tblPr/>
              <a:tblGrid>
                <a:gridCol w="570841">
                  <a:extLst>
                    <a:ext uri="{9D8B030D-6E8A-4147-A177-3AD203B41FA5}">
                      <a16:colId xmlns:a16="http://schemas.microsoft.com/office/drawing/2014/main" val="2998289165"/>
                    </a:ext>
                  </a:extLst>
                </a:gridCol>
                <a:gridCol w="1193511">
                  <a:extLst>
                    <a:ext uri="{9D8B030D-6E8A-4147-A177-3AD203B41FA5}">
                      <a16:colId xmlns:a16="http://schemas.microsoft.com/office/drawing/2014/main" val="1309104618"/>
                    </a:ext>
                  </a:extLst>
                </a:gridCol>
                <a:gridCol w="630814">
                  <a:extLst>
                    <a:ext uri="{9D8B030D-6E8A-4147-A177-3AD203B41FA5}">
                      <a16:colId xmlns:a16="http://schemas.microsoft.com/office/drawing/2014/main" val="1376281065"/>
                    </a:ext>
                  </a:extLst>
                </a:gridCol>
                <a:gridCol w="825536">
                  <a:extLst>
                    <a:ext uri="{9D8B030D-6E8A-4147-A177-3AD203B41FA5}">
                      <a16:colId xmlns:a16="http://schemas.microsoft.com/office/drawing/2014/main" val="3570388436"/>
                    </a:ext>
                  </a:extLst>
                </a:gridCol>
                <a:gridCol w="552332">
                  <a:extLst>
                    <a:ext uri="{9D8B030D-6E8A-4147-A177-3AD203B41FA5}">
                      <a16:colId xmlns:a16="http://schemas.microsoft.com/office/drawing/2014/main" val="2590104709"/>
                    </a:ext>
                  </a:extLst>
                </a:gridCol>
                <a:gridCol w="833680">
                  <a:extLst>
                    <a:ext uri="{9D8B030D-6E8A-4147-A177-3AD203B41FA5}">
                      <a16:colId xmlns:a16="http://schemas.microsoft.com/office/drawing/2014/main" val="3796838509"/>
                    </a:ext>
                  </a:extLst>
                </a:gridCol>
                <a:gridCol w="570841">
                  <a:extLst>
                    <a:ext uri="{9D8B030D-6E8A-4147-A177-3AD203B41FA5}">
                      <a16:colId xmlns:a16="http://schemas.microsoft.com/office/drawing/2014/main" val="1472304097"/>
                    </a:ext>
                  </a:extLst>
                </a:gridCol>
                <a:gridCol w="828497">
                  <a:extLst>
                    <a:ext uri="{9D8B030D-6E8A-4147-A177-3AD203B41FA5}">
                      <a16:colId xmlns:a16="http://schemas.microsoft.com/office/drawing/2014/main" val="2197324808"/>
                    </a:ext>
                  </a:extLst>
                </a:gridCol>
                <a:gridCol w="710035">
                  <a:extLst>
                    <a:ext uri="{9D8B030D-6E8A-4147-A177-3AD203B41FA5}">
                      <a16:colId xmlns:a16="http://schemas.microsoft.com/office/drawing/2014/main" val="2571466262"/>
                    </a:ext>
                  </a:extLst>
                </a:gridCol>
                <a:gridCol w="710035">
                  <a:extLst>
                    <a:ext uri="{9D8B030D-6E8A-4147-A177-3AD203B41FA5}">
                      <a16:colId xmlns:a16="http://schemas.microsoft.com/office/drawing/2014/main" val="2409714820"/>
                    </a:ext>
                  </a:extLst>
                </a:gridCol>
                <a:gridCol w="710035">
                  <a:extLst>
                    <a:ext uri="{9D8B030D-6E8A-4147-A177-3AD203B41FA5}">
                      <a16:colId xmlns:a16="http://schemas.microsoft.com/office/drawing/2014/main" val="1458703185"/>
                    </a:ext>
                  </a:extLst>
                </a:gridCol>
                <a:gridCol w="647842">
                  <a:extLst>
                    <a:ext uri="{9D8B030D-6E8A-4147-A177-3AD203B41FA5}">
                      <a16:colId xmlns:a16="http://schemas.microsoft.com/office/drawing/2014/main" val="2672061986"/>
                    </a:ext>
                  </a:extLst>
                </a:gridCol>
              </a:tblGrid>
              <a:tr h="225571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 стр.</a:t>
                      </a:r>
                      <a:endParaRPr lang="ru-RU" sz="600">
                        <a:effectLst/>
                      </a:endParaRP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Регистратор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ВР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Физическое Лицо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Результат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Отработано Дней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Размер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График Работы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ПДН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ПДК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БПН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 dirty="0">
                          <a:effectLst/>
                          <a:latin typeface="Arial" panose="020B0604020202020204" pitchFamily="34" charset="0"/>
                        </a:rPr>
                        <a:t>БПК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2473155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Док 4 от </a:t>
                      </a:r>
                      <a:r>
                        <a:rPr lang="ru-RU" sz="700" dirty="0" smtClean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06.03.2018</a:t>
                      </a:r>
                      <a:endParaRPr lang="ru-RU" sz="700" dirty="0"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Оклад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 smtClean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Полушко</a:t>
                      </a:r>
                      <a:endParaRPr lang="ru-RU" sz="700" dirty="0"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  <a:r>
                        <a:rPr lang="ru-RU" sz="1000" dirty="0" smtClean="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7040</a:t>
                      </a:r>
                      <a:endParaRPr lang="ru-RU" sz="1000" dirty="0">
                        <a:solidFill>
                          <a:srgbClr val="C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 smtClean="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22</a:t>
                      </a:r>
                      <a:endParaRPr lang="ru-RU" sz="1000" dirty="0">
                        <a:solidFill>
                          <a:srgbClr val="C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8 000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05.02.2018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700" dirty="0">
                        <a:solidFill>
                          <a:srgbClr val="C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700" dirty="0">
                        <a:solidFill>
                          <a:srgbClr val="C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0508099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Доплата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Полушко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05.02.2018 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28.02.2018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1514436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Надбавка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Полушко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05.02.2018 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28.02.2018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7112024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Оклад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Мальцев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  <a:r>
                        <a:rPr lang="ru-RU" sz="1000" dirty="0" smtClean="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960</a:t>
                      </a:r>
                      <a:endParaRPr lang="ru-RU" sz="1000" dirty="0">
                        <a:solidFill>
                          <a:srgbClr val="C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 smtClean="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3</a:t>
                      </a:r>
                      <a:endParaRPr lang="ru-RU" sz="1000" dirty="0">
                        <a:solidFill>
                          <a:srgbClr val="C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8 000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04.02.2018 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4392649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Доплата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Мальцев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04.02.2018 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04.02.2018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8501475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Надбавка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Мальцев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04.02.2018 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04.02.2018 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9504043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Оклад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Соловьев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  <a:r>
                        <a:rPr lang="ru-RU" sz="1000" dirty="0" smtClean="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5000</a:t>
                      </a:r>
                      <a:endParaRPr lang="ru-RU" sz="1000" dirty="0">
                        <a:solidFill>
                          <a:srgbClr val="C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  <a:r>
                        <a:rPr lang="ru-RU" sz="1000" dirty="0" smtClean="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7</a:t>
                      </a:r>
                      <a:endParaRPr lang="ru-RU" sz="1000" dirty="0">
                        <a:solidFill>
                          <a:srgbClr val="C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5 000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Сутки через 3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2010696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Надбавка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Соловьев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Сутки через 3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28.02.2018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3228266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Доплата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Соловьев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Сутки через 3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1921888"/>
                  </a:ext>
                </a:extLst>
              </a:tr>
              <a:tr h="249836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Доплата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Иванцева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Пятидневка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28.02.2018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719270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Надбавка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Иванцева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Пятидневка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28.02.2018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940674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Оклад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Иванцева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  <a:r>
                        <a:rPr lang="ru-RU" sz="1000" dirty="0" smtClean="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  <a:endParaRPr lang="ru-RU" sz="1000" dirty="0">
                        <a:solidFill>
                          <a:srgbClr val="C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 smtClean="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21</a:t>
                      </a:r>
                      <a:endParaRPr lang="ru-RU" sz="1000" dirty="0">
                        <a:solidFill>
                          <a:srgbClr val="C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10 000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Пятидневка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0565783"/>
                  </a:ext>
                </a:extLst>
              </a:tr>
            </a:tbl>
          </a:graphicData>
        </a:graphic>
      </p:graphicFrame>
      <p:graphicFrame>
        <p:nvGraphicFramePr>
          <p:cNvPr id="2" name="Таблица 1"/>
          <p:cNvGraphicFramePr>
            <a:graphicFrameLocks noGrp="1"/>
          </p:cNvGraphicFramePr>
          <p:nvPr/>
        </p:nvGraphicFramePr>
        <p:xfrm>
          <a:off x="178594" y="3876674"/>
          <a:ext cx="6849769" cy="1341120"/>
        </p:xfrm>
        <a:graphic>
          <a:graphicData uri="http://schemas.openxmlformats.org/drawingml/2006/table">
            <a:tbl>
              <a:tblPr/>
              <a:tblGrid>
                <a:gridCol w="738835">
                  <a:extLst>
                    <a:ext uri="{9D8B030D-6E8A-4147-A177-3AD203B41FA5}">
                      <a16:colId xmlns:a16="http://schemas.microsoft.com/office/drawing/2014/main" val="3313011995"/>
                    </a:ext>
                  </a:extLst>
                </a:gridCol>
                <a:gridCol w="617220">
                  <a:extLst>
                    <a:ext uri="{9D8B030D-6E8A-4147-A177-3AD203B41FA5}">
                      <a16:colId xmlns:a16="http://schemas.microsoft.com/office/drawing/2014/main" val="1831329169"/>
                    </a:ext>
                  </a:extLst>
                </a:gridCol>
                <a:gridCol w="1089050">
                  <a:extLst>
                    <a:ext uri="{9D8B030D-6E8A-4147-A177-3AD203B41FA5}">
                      <a16:colId xmlns:a16="http://schemas.microsoft.com/office/drawing/2014/main" val="1362020611"/>
                    </a:ext>
                  </a:extLst>
                </a:gridCol>
                <a:gridCol w="2725826">
                  <a:extLst>
                    <a:ext uri="{9D8B030D-6E8A-4147-A177-3AD203B41FA5}">
                      <a16:colId xmlns:a16="http://schemas.microsoft.com/office/drawing/2014/main" val="1500971267"/>
                    </a:ext>
                  </a:extLst>
                </a:gridCol>
                <a:gridCol w="1678838">
                  <a:extLst>
                    <a:ext uri="{9D8B030D-6E8A-4147-A177-3AD203B41FA5}">
                      <a16:colId xmlns:a16="http://schemas.microsoft.com/office/drawing/2014/main" val="7132611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effectLst/>
                          <a:latin typeface="Arial" panose="020B0604020202020204" pitchFamily="34" charset="0"/>
                        </a:rPr>
                        <a:t>Приоритет</a:t>
                      </a:r>
                      <a:endParaRPr lang="ru-RU" sz="8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 dirty="0"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800" b="1" dirty="0">
                          <a:effectLst/>
                          <a:latin typeface="Arial" panose="020B0604020202020204" pitchFamily="34" charset="0"/>
                        </a:rPr>
                        <a:t> стр.</a:t>
                      </a:r>
                      <a:endParaRPr lang="ru-RU" sz="800" dirty="0"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>
                          <a:effectLst/>
                          <a:latin typeface="Arial" panose="020B0604020202020204" pitchFamily="34" charset="0"/>
                        </a:rPr>
                        <a:t>Вид Расчета</a:t>
                      </a:r>
                      <a:endParaRPr lang="ru-RU" sz="8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>
                          <a:effectLst/>
                          <a:latin typeface="Arial" panose="020B0604020202020204" pitchFamily="34" charset="0"/>
                        </a:rPr>
                        <a:t>Способ Расчета</a:t>
                      </a:r>
                      <a:endParaRPr lang="ru-RU" sz="8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b="1">
                          <a:effectLst/>
                          <a:latin typeface="Arial" panose="020B0604020202020204" pitchFamily="34" charset="0"/>
                        </a:rPr>
                        <a:t>Зачет Отработанного Времени</a:t>
                      </a:r>
                      <a:endParaRPr lang="ru-RU" sz="8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4552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345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Оклад по дням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По месячной тарифной ставке по дням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Да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70162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Оклад по дням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По месячной тарифной ставке по дням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Да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53295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Оклад по дням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По месячной тарифной ставке по дням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Да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97569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  <a:latin typeface="Arial" panose="020B0604020202020204" pitchFamily="34" charset="0"/>
                        </a:rPr>
                        <a:t>Оклад по дням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По месячной тарифной ставке по дням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  <a:latin typeface="Arial" panose="020B0604020202020204" pitchFamily="34" charset="0"/>
                        </a:rPr>
                        <a:t>Да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30356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5961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/>
          <p:cNvGraphicFramePr>
            <a:graphicFrameLocks noGrp="1"/>
          </p:cNvGraphicFramePr>
          <p:nvPr>
            <p:extLst/>
          </p:nvPr>
        </p:nvGraphicFramePr>
        <p:xfrm>
          <a:off x="178594" y="591387"/>
          <a:ext cx="8783999" cy="3247187"/>
        </p:xfrm>
        <a:graphic>
          <a:graphicData uri="http://schemas.openxmlformats.org/drawingml/2006/table">
            <a:tbl>
              <a:tblPr/>
              <a:tblGrid>
                <a:gridCol w="570841">
                  <a:extLst>
                    <a:ext uri="{9D8B030D-6E8A-4147-A177-3AD203B41FA5}">
                      <a16:colId xmlns:a16="http://schemas.microsoft.com/office/drawing/2014/main" val="2998289165"/>
                    </a:ext>
                  </a:extLst>
                </a:gridCol>
                <a:gridCol w="1193511">
                  <a:extLst>
                    <a:ext uri="{9D8B030D-6E8A-4147-A177-3AD203B41FA5}">
                      <a16:colId xmlns:a16="http://schemas.microsoft.com/office/drawing/2014/main" val="1309104618"/>
                    </a:ext>
                  </a:extLst>
                </a:gridCol>
                <a:gridCol w="630814">
                  <a:extLst>
                    <a:ext uri="{9D8B030D-6E8A-4147-A177-3AD203B41FA5}">
                      <a16:colId xmlns:a16="http://schemas.microsoft.com/office/drawing/2014/main" val="1376281065"/>
                    </a:ext>
                  </a:extLst>
                </a:gridCol>
                <a:gridCol w="825536">
                  <a:extLst>
                    <a:ext uri="{9D8B030D-6E8A-4147-A177-3AD203B41FA5}">
                      <a16:colId xmlns:a16="http://schemas.microsoft.com/office/drawing/2014/main" val="3570388436"/>
                    </a:ext>
                  </a:extLst>
                </a:gridCol>
                <a:gridCol w="552332">
                  <a:extLst>
                    <a:ext uri="{9D8B030D-6E8A-4147-A177-3AD203B41FA5}">
                      <a16:colId xmlns:a16="http://schemas.microsoft.com/office/drawing/2014/main" val="2590104709"/>
                    </a:ext>
                  </a:extLst>
                </a:gridCol>
                <a:gridCol w="833680">
                  <a:extLst>
                    <a:ext uri="{9D8B030D-6E8A-4147-A177-3AD203B41FA5}">
                      <a16:colId xmlns:a16="http://schemas.microsoft.com/office/drawing/2014/main" val="3796838509"/>
                    </a:ext>
                  </a:extLst>
                </a:gridCol>
                <a:gridCol w="570841">
                  <a:extLst>
                    <a:ext uri="{9D8B030D-6E8A-4147-A177-3AD203B41FA5}">
                      <a16:colId xmlns:a16="http://schemas.microsoft.com/office/drawing/2014/main" val="1472304097"/>
                    </a:ext>
                  </a:extLst>
                </a:gridCol>
                <a:gridCol w="828497">
                  <a:extLst>
                    <a:ext uri="{9D8B030D-6E8A-4147-A177-3AD203B41FA5}">
                      <a16:colId xmlns:a16="http://schemas.microsoft.com/office/drawing/2014/main" val="2197324808"/>
                    </a:ext>
                  </a:extLst>
                </a:gridCol>
                <a:gridCol w="710035">
                  <a:extLst>
                    <a:ext uri="{9D8B030D-6E8A-4147-A177-3AD203B41FA5}">
                      <a16:colId xmlns:a16="http://schemas.microsoft.com/office/drawing/2014/main" val="2571466262"/>
                    </a:ext>
                  </a:extLst>
                </a:gridCol>
                <a:gridCol w="710035">
                  <a:extLst>
                    <a:ext uri="{9D8B030D-6E8A-4147-A177-3AD203B41FA5}">
                      <a16:colId xmlns:a16="http://schemas.microsoft.com/office/drawing/2014/main" val="2409714820"/>
                    </a:ext>
                  </a:extLst>
                </a:gridCol>
                <a:gridCol w="710035">
                  <a:extLst>
                    <a:ext uri="{9D8B030D-6E8A-4147-A177-3AD203B41FA5}">
                      <a16:colId xmlns:a16="http://schemas.microsoft.com/office/drawing/2014/main" val="1458703185"/>
                    </a:ext>
                  </a:extLst>
                </a:gridCol>
                <a:gridCol w="647842">
                  <a:extLst>
                    <a:ext uri="{9D8B030D-6E8A-4147-A177-3AD203B41FA5}">
                      <a16:colId xmlns:a16="http://schemas.microsoft.com/office/drawing/2014/main" val="2672061986"/>
                    </a:ext>
                  </a:extLst>
                </a:gridCol>
              </a:tblGrid>
              <a:tr h="225571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Segoe UI Symbol" panose="020B0502040204020203" pitchFamily="34" charset="0"/>
                        </a:rPr>
                        <a:t>№</a:t>
                      </a: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 стр.</a:t>
                      </a:r>
                      <a:endParaRPr lang="ru-RU" sz="600">
                        <a:effectLst/>
                      </a:endParaRP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Регистратор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ВР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Физическое Лицо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Результат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Отработано Дней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Размер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График Работы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ПДН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ПДК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>
                          <a:effectLst/>
                          <a:latin typeface="Arial" panose="020B0604020202020204" pitchFamily="34" charset="0"/>
                        </a:rPr>
                        <a:t>БПН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600" dirty="0">
                          <a:effectLst/>
                          <a:latin typeface="Arial" panose="020B0604020202020204" pitchFamily="34" charset="0"/>
                        </a:rPr>
                        <a:t>БПК</a:t>
                      </a:r>
                    </a:p>
                  </a:txBody>
                  <a:tcPr marL="36931" marR="36931" marT="36931" marB="36931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2473155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Док 4 от </a:t>
                      </a:r>
                      <a:r>
                        <a:rPr lang="ru-RU" sz="700" dirty="0" smtClean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06.03.2018</a:t>
                      </a:r>
                      <a:endParaRPr lang="ru-RU" sz="700" dirty="0"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Оклад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 smtClean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Полушко</a:t>
                      </a:r>
                      <a:endParaRPr lang="ru-RU" sz="700" dirty="0"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  <a:r>
                        <a:rPr lang="ru-RU" sz="1000" dirty="0" smtClean="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7040</a:t>
                      </a:r>
                      <a:endParaRPr lang="ru-RU" sz="1000" dirty="0">
                        <a:solidFill>
                          <a:srgbClr val="C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 smtClean="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22</a:t>
                      </a:r>
                      <a:endParaRPr lang="ru-RU" sz="1000" dirty="0">
                        <a:solidFill>
                          <a:srgbClr val="C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8 000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05.02.2018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700" dirty="0">
                        <a:solidFill>
                          <a:srgbClr val="C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700" dirty="0">
                        <a:solidFill>
                          <a:srgbClr val="C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0508099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Доплата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Полушко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05.02.2018 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28.02.2018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1514436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Надбавка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Полушко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05.02.2018 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28.02.2018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7112024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Оклад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Мальцев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  <a:r>
                        <a:rPr lang="ru-RU" sz="1000" dirty="0" smtClean="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960</a:t>
                      </a:r>
                      <a:endParaRPr lang="ru-RU" sz="1000" dirty="0">
                        <a:solidFill>
                          <a:srgbClr val="C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 smtClean="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3</a:t>
                      </a:r>
                      <a:endParaRPr lang="ru-RU" sz="1000" dirty="0">
                        <a:solidFill>
                          <a:srgbClr val="C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8 000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04.02.2018 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4392649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Доплата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Мальцев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04.02.2018 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04.02.2018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8501475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Надбавка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Мальцев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Шестидневка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04.02.2018 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04.02.2018 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9504043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Оклад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Соловьев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  <a:r>
                        <a:rPr lang="ru-RU" sz="1000" dirty="0" smtClean="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5000</a:t>
                      </a:r>
                      <a:endParaRPr lang="ru-RU" sz="1000" dirty="0">
                        <a:solidFill>
                          <a:srgbClr val="C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  <a:r>
                        <a:rPr lang="ru-RU" sz="1000" dirty="0" smtClean="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7</a:t>
                      </a:r>
                      <a:endParaRPr lang="ru-RU" sz="1000" dirty="0">
                        <a:solidFill>
                          <a:srgbClr val="C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5 000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Сутки через 3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2010696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Надбавка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Соловьев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Сутки через 3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28.02.2018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3228266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Доплата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Соловьев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Сутки через 3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1921888"/>
                  </a:ext>
                </a:extLst>
              </a:tr>
              <a:tr h="249836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Доплата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Иванцева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Пятидневка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28.02.2018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719270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Надбавка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Иванцева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Пятидневка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effectLst/>
                          <a:latin typeface="Arial" panose="020B0604020202020204" pitchFamily="34" charset="0"/>
                        </a:rPr>
                        <a:t>28.02.2018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940674"/>
                  </a:ext>
                </a:extLst>
              </a:tr>
              <a:tr h="251980"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Док 4 от 06.03.2018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Оклад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Иванцева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  <a:r>
                        <a:rPr lang="ru-RU" sz="1000" dirty="0" smtClean="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10000</a:t>
                      </a:r>
                      <a:endParaRPr lang="ru-RU" sz="1000" dirty="0">
                        <a:solidFill>
                          <a:srgbClr val="C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 smtClean="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21</a:t>
                      </a:r>
                      <a:endParaRPr lang="ru-RU" sz="1000" dirty="0">
                        <a:solidFill>
                          <a:srgbClr val="C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10 000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Пятидневка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01.02.2018 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28.02.2018 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dirty="0">
                          <a:solidFill>
                            <a:srgbClr val="C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36931" marR="36931" marT="72000" marB="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0565783"/>
                  </a:ext>
                </a:extLst>
              </a:tr>
            </a:tbl>
          </a:graphicData>
        </a:graphic>
      </p:graphicFrame>
      <p:sp>
        <p:nvSpPr>
          <p:cNvPr id="3" name="Стрелка вниз 2"/>
          <p:cNvSpPr/>
          <p:nvPr/>
        </p:nvSpPr>
        <p:spPr>
          <a:xfrm>
            <a:off x="4305300" y="3990975"/>
            <a:ext cx="419100" cy="90487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3514725" y="4981575"/>
            <a:ext cx="2828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0070C0"/>
                </a:solidFill>
              </a:rPr>
              <a:t>Записать (</a:t>
            </a:r>
            <a:r>
              <a:rPr lang="ru-RU" dirty="0" smtClean="0">
                <a:solidFill>
                  <a:srgbClr val="FF0000"/>
                </a:solidFill>
              </a:rPr>
              <a:t>, Истина</a:t>
            </a:r>
            <a:r>
              <a:rPr lang="ru-RU" dirty="0" smtClean="0">
                <a:solidFill>
                  <a:srgbClr val="0070C0"/>
                </a:solidFill>
              </a:rPr>
              <a:t>)</a:t>
            </a:r>
            <a:r>
              <a:rPr lang="ru-RU" dirty="0" smtClean="0">
                <a:solidFill>
                  <a:srgbClr val="FF0000"/>
                </a:solidFill>
              </a:rPr>
              <a:t>;</a:t>
            </a:r>
            <a:endParaRPr lang="ru-R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9977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</p:bldLst>
  </p:timing>
</p:sld>
</file>

<file path=ppt/theme/theme1.xml><?xml version="1.0" encoding="utf-8"?>
<a:theme xmlns:a="http://schemas.openxmlformats.org/drawingml/2006/main" name="СофтБаланс_БухгалтерскийУчет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СофтБаланс_БухгалтерскийУчет" id="{7F72F8D9-2713-4673-8BBB-8953CDFC47FD}" vid="{7D13FDD6-802B-4F23-A255-BEF0D1C062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СофтБаланс_БухгалтерскийУчет</Template>
  <TotalTime>332</TotalTime>
  <Words>2379</Words>
  <Application>Microsoft Office PowerPoint</Application>
  <PresentationFormat>Экран (4:3)</PresentationFormat>
  <Paragraphs>2452</Paragraphs>
  <Slides>20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8" baseType="lpstr">
      <vt:lpstr>Arial</vt:lpstr>
      <vt:lpstr>Arial Black</vt:lpstr>
      <vt:lpstr>Calibri</vt:lpstr>
      <vt:lpstr>Segoe UI Symbol</vt:lpstr>
      <vt:lpstr>Tahoma</vt:lpstr>
      <vt:lpstr>Verdana</vt:lpstr>
      <vt:lpstr>Wingdings</vt:lpstr>
      <vt:lpstr>СофтБаланс_БухгалтерскийУчет</vt:lpstr>
      <vt:lpstr>Расчёт ресурсов</vt:lpstr>
      <vt:lpstr>Схема данных</vt:lpstr>
      <vt:lpstr>Набор записей</vt:lpstr>
      <vt:lpstr>Вид расчета «Надбавка»</vt:lpstr>
      <vt:lpstr>Вид расчета «Доплата»</vt:lpstr>
      <vt:lpstr>Вид расчета «Оклад»</vt:lpstr>
      <vt:lpstr>Результат запроса к таблице движений</vt:lpstr>
      <vt:lpstr>Обход итоговых записей</vt:lpstr>
      <vt:lpstr>Данные графика и расчетная база</vt:lpstr>
      <vt:lpstr>Обход детальных записей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Расчёт ресурсов</dc:title>
  <dc:creator>eugeniy sizov</dc:creator>
  <cp:lastModifiedBy>eugeniy sizov</cp:lastModifiedBy>
  <cp:revision>18</cp:revision>
  <dcterms:created xsi:type="dcterms:W3CDTF">2018-03-09T15:08:27Z</dcterms:created>
  <dcterms:modified xsi:type="dcterms:W3CDTF">2018-07-10T14:52:20Z</dcterms:modified>
</cp:coreProperties>
</file>