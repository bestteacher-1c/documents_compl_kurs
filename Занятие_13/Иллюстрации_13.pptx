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313" r:id="rId2"/>
    <p:sldId id="332" r:id="rId3"/>
    <p:sldId id="333" r:id="rId4"/>
    <p:sldId id="334" r:id="rId5"/>
    <p:sldId id="335" r:id="rId6"/>
    <p:sldId id="336" r:id="rId7"/>
    <p:sldId id="337" r:id="rId8"/>
    <p:sldId id="338" r:id="rId9"/>
    <p:sldId id="288" r:id="rId10"/>
    <p:sldId id="327" r:id="rId11"/>
    <p:sldId id="328" r:id="rId12"/>
    <p:sldId id="329" r:id="rId13"/>
    <p:sldId id="297" r:id="rId14"/>
    <p:sldId id="298" r:id="rId15"/>
    <p:sldId id="304" r:id="rId16"/>
    <p:sldId id="281" r:id="rId17"/>
    <p:sldId id="300" r:id="rId18"/>
    <p:sldId id="303" r:id="rId19"/>
    <p:sldId id="305" r:id="rId20"/>
    <p:sldId id="330" r:id="rId21"/>
    <p:sldId id="339" r:id="rId22"/>
    <p:sldId id="314" r:id="rId23"/>
    <p:sldId id="343" r:id="rId24"/>
    <p:sldId id="344" r:id="rId25"/>
    <p:sldId id="345" r:id="rId26"/>
    <p:sldId id="346" r:id="rId27"/>
    <p:sldId id="355" r:id="rId28"/>
    <p:sldId id="347" r:id="rId29"/>
    <p:sldId id="354" r:id="rId30"/>
    <p:sldId id="349" r:id="rId31"/>
    <p:sldId id="320" r:id="rId32"/>
    <p:sldId id="353" r:id="rId33"/>
    <p:sldId id="350" r:id="rId34"/>
    <p:sldId id="351" r:id="rId35"/>
    <p:sldId id="352" r:id="rId36"/>
    <p:sldId id="317" r:id="rId37"/>
    <p:sldId id="318" r:id="rId38"/>
    <p:sldId id="315" r:id="rId39"/>
    <p:sldId id="316" r:id="rId40"/>
    <p:sldId id="331" r:id="rId41"/>
    <p:sldId id="307" r:id="rId42"/>
    <p:sldId id="319" r:id="rId43"/>
    <p:sldId id="309" r:id="rId44"/>
    <p:sldId id="341" r:id="rId45"/>
    <p:sldId id="342" r:id="rId46"/>
    <p:sldId id="323" r:id="rId47"/>
    <p:sldId id="324" r:id="rId48"/>
    <p:sldId id="325" r:id="rId49"/>
    <p:sldId id="326" r:id="rId50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521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14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120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ugeniy sizov" userId="f166da1dfb7bc990" providerId="LiveId" clId="{FE0C4685-9AB4-46B0-BE5E-966D27220E85}"/>
  </pc:docChgLst>
  <pc:docChgLst>
    <pc:chgData name="eugeniy sizov" userId="f166da1dfb7bc990" providerId="LiveId" clId="{E38E5D77-43CC-4852-8625-B479EDF1C1FF}"/>
    <pc:docChg chg="modSld">
      <pc:chgData name="eugeniy sizov" userId="f166da1dfb7bc990" providerId="LiveId" clId="{E38E5D77-43CC-4852-8625-B479EDF1C1FF}" dt="2019-04-23T07:32:15.478" v="0" actId="20577"/>
      <pc:docMkLst>
        <pc:docMk/>
      </pc:docMkLst>
      <pc:sldChg chg="modSp">
        <pc:chgData name="eugeniy sizov" userId="f166da1dfb7bc990" providerId="LiveId" clId="{E38E5D77-43CC-4852-8625-B479EDF1C1FF}" dt="2019-04-23T07:32:15.478" v="0" actId="20577"/>
        <pc:sldMkLst>
          <pc:docMk/>
          <pc:sldMk cId="2038953413" sldId="313"/>
        </pc:sldMkLst>
        <pc:spChg chg="mod">
          <ac:chgData name="eugeniy sizov" userId="f166da1dfb7bc990" providerId="LiveId" clId="{E38E5D77-43CC-4852-8625-B479EDF1C1FF}" dt="2019-04-23T07:32:15.478" v="0" actId="20577"/>
          <ac:spMkLst>
            <pc:docMk/>
            <pc:sldMk cId="2038953413" sldId="313"/>
            <ac:spMk id="4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79388" y="548679"/>
            <a:ext cx="8784000" cy="720081"/>
          </a:xfrm>
        </p:spPr>
        <p:txBody>
          <a:bodyPr/>
          <a:lstStyle>
            <a:lvl1pPr algn="ctr">
              <a:defRPr sz="3200" baseline="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79388" y="1293839"/>
            <a:ext cx="8782050" cy="222339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0070C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44586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060813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340768"/>
            <a:ext cx="3954090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8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Рисунок 2"/>
          <p:cNvSpPr>
            <a:spLocks noGrp="1"/>
          </p:cNvSpPr>
          <p:nvPr>
            <p:ph type="pic" idx="10"/>
          </p:nvPr>
        </p:nvSpPr>
        <p:spPr>
          <a:xfrm>
            <a:off x="4314207" y="1340768"/>
            <a:ext cx="4629150" cy="48965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ru-RU" noProof="0"/>
              <a:t>Вставка рисунка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268851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rgbClr val="FF0000"/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rgbClr val="0070C0"/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74651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428905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050729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4788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74788" y="1268680"/>
            <a:ext cx="8784000" cy="496863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401025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82777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89F2C-FF1B-446B-B587-9193227DE7CF}" type="datetimeFigureOut">
              <a:rPr lang="ru-RU" smtClean="0"/>
              <a:t>04.11.2020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6C949-E483-4B66-A953-6D1C8F56E8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6022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Группа 3"/>
          <p:cNvGrpSpPr>
            <a:grpSpLocks/>
          </p:cNvGrpSpPr>
          <p:nvPr/>
        </p:nvGrpSpPr>
        <p:grpSpPr bwMode="auto">
          <a:xfrm>
            <a:off x="185738" y="549275"/>
            <a:ext cx="8784000" cy="0"/>
            <a:chOff x="185862" y="620688"/>
            <a:chExt cx="8775700" cy="0"/>
          </a:xfrm>
        </p:grpSpPr>
        <p:cxnSp>
          <p:nvCxnSpPr>
            <p:cNvPr id="16" name="Прямая соединительная линия 15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Прямая соединительная линия 16"/>
            <p:cNvCxnSpPr/>
            <p:nvPr/>
          </p:nvCxnSpPr>
          <p:spPr>
            <a:xfrm>
              <a:off x="185862" y="620688"/>
              <a:ext cx="2522537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188119" y="571977"/>
            <a:ext cx="8784000" cy="5487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Номер слайда 5"/>
          <p:cNvSpPr txBox="1">
            <a:spLocks/>
          </p:cNvSpPr>
          <p:nvPr/>
        </p:nvSpPr>
        <p:spPr>
          <a:xfrm>
            <a:off x="-93663" y="6310313"/>
            <a:ext cx="949326" cy="293687"/>
          </a:xfrm>
          <a:prstGeom prst="rect">
            <a:avLst/>
          </a:prstGeom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defRPr/>
            </a:pPr>
            <a:fld id="{84FD9DA7-1D53-4DDE-8D05-49E2417E29ED}" type="slidenum">
              <a:rPr lang="ru-RU" sz="1600" smtClean="0">
                <a:solidFill>
                  <a:srgbClr val="0066CC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pPr algn="r">
                <a:defRPr/>
              </a:pPr>
              <a:t>‹#›</a:t>
            </a:fld>
            <a:r>
              <a:rPr lang="ru-RU" sz="1600" dirty="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/</a:t>
            </a:r>
            <a:r>
              <a:rPr lang="ru-RU" sz="1600" dirty="0" smtClean="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49</a:t>
            </a:r>
            <a:endParaRPr lang="ru-RU" sz="1600" dirty="0">
              <a:solidFill>
                <a:srgbClr val="FF000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1029" name="Группа 17"/>
          <p:cNvGrpSpPr>
            <a:grpSpLocks/>
          </p:cNvGrpSpPr>
          <p:nvPr/>
        </p:nvGrpSpPr>
        <p:grpSpPr bwMode="auto">
          <a:xfrm>
            <a:off x="185738" y="6604000"/>
            <a:ext cx="6402387" cy="180975"/>
            <a:chOff x="185862" y="620688"/>
            <a:chExt cx="8775700" cy="0"/>
          </a:xfrm>
        </p:grpSpPr>
        <p:cxnSp>
          <p:nvCxnSpPr>
            <p:cNvPr id="19" name="Прямая соединительная линия 18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Прямая соединительная линия 19"/>
            <p:cNvCxnSpPr/>
            <p:nvPr/>
          </p:nvCxnSpPr>
          <p:spPr>
            <a:xfrm>
              <a:off x="185862" y="620688"/>
              <a:ext cx="2521952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30" name="Рисунок 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2588" y="6310313"/>
            <a:ext cx="2224087" cy="411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Бухгалтерские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18020250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3200" b="1" kern="1200">
          <a:ln>
            <a:solidFill>
              <a:schemeClr val="bg1"/>
            </a:solidFill>
          </a:ln>
          <a:gradFill>
            <a:gsLst>
              <a:gs pos="55000">
                <a:srgbClr val="F50516"/>
              </a:gs>
              <a:gs pos="86000">
                <a:srgbClr val="C00000"/>
              </a:gs>
            </a:gsLst>
            <a:lin ang="5400000" scaled="0"/>
          </a:gradFill>
          <a:effectLst>
            <a:outerShdw blurRad="38100" dist="38100" dir="5400000" algn="ctr" rotWithShape="0">
              <a:schemeClr val="bg1">
                <a:lumMod val="50000"/>
              </a:schemeClr>
            </a:outerShdw>
          </a:effectLst>
          <a:latin typeface="Arial Black" pitchFamily="34" charset="0"/>
          <a:ea typeface="Verdana" pitchFamily="34" charset="0"/>
          <a:cs typeface="Verdana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00000"/>
        </a:buClr>
        <a:defRPr sz="28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Blip>
          <a:blip r:embed="rId11"/>
        </a:buBlip>
        <a:defRPr sz="2800" b="1" kern="1200">
          <a:solidFill>
            <a:srgbClr val="FF0000"/>
          </a:solidFill>
          <a:latin typeface="Tahoma" pitchFamily="34" charset="0"/>
          <a:ea typeface="Tahoma" pitchFamily="34" charset="0"/>
          <a:cs typeface="Tahoma" pitchFamily="34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Blip>
          <a:blip r:embed="rId12"/>
        </a:buBlip>
        <a:defRPr sz="20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b="1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Arial" panose="020B0604020202020204" pitchFamily="34" charset="0"/>
        <a:buChar char="•"/>
        <a:defRPr sz="1600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slide" Target="slide40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Объект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Разделитель учета</a:t>
            </a:r>
          </a:p>
          <a:p>
            <a:r>
              <a:rPr lang="ru-RU" dirty="0"/>
              <a:t>Сквозная аналитика</a:t>
            </a:r>
          </a:p>
          <a:p>
            <a:r>
              <a:rPr lang="ru-RU"/>
              <a:t>Обычная аналитика</a:t>
            </a:r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Занятие 13</a:t>
            </a:r>
          </a:p>
        </p:txBody>
      </p:sp>
    </p:spTree>
    <p:extLst>
      <p:ext uri="{BB962C8B-B14F-4D97-AF65-F5344CB8AC3E}">
        <p14:creationId xmlns:p14="http://schemas.microsoft.com/office/powerpoint/2010/main" val="2038953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Балансовое измерение «Организация»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169" y="1250185"/>
            <a:ext cx="4724400" cy="45339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793" y="2559527"/>
            <a:ext cx="4248150" cy="3457575"/>
          </a:xfrm>
          <a:prstGeom prst="rect">
            <a:avLst/>
          </a:prstGeom>
        </p:spPr>
      </p:pic>
      <p:sp>
        <p:nvSpPr>
          <p:cNvPr id="7" name="Rounded Rectangle 3"/>
          <p:cNvSpPr/>
          <p:nvPr/>
        </p:nvSpPr>
        <p:spPr>
          <a:xfrm>
            <a:off x="4320793" y="5383256"/>
            <a:ext cx="4140162" cy="344892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949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25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7" grpId="2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926317"/>
          </a:xfrm>
        </p:spPr>
        <p:txBody>
          <a:bodyPr/>
          <a:lstStyle/>
          <a:p>
            <a:r>
              <a:rPr lang="ru-RU" dirty="0"/>
              <a:t>Таблица движений по счетам до изменения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5586046"/>
              </p:ext>
            </p:extLst>
          </p:nvPr>
        </p:nvGraphicFramePr>
        <p:xfrm>
          <a:off x="216000" y="1944000"/>
          <a:ext cx="6940295" cy="2174240"/>
        </p:xfrm>
        <a:graphic>
          <a:graphicData uri="http://schemas.openxmlformats.org/drawingml/2006/table">
            <a:tbl>
              <a:tblPr/>
              <a:tblGrid>
                <a:gridCol w="899770">
                  <a:extLst>
                    <a:ext uri="{9D8B030D-6E8A-4147-A177-3AD203B41FA5}">
                      <a16:colId xmlns:a16="http://schemas.microsoft.com/office/drawing/2014/main" val="2234536163"/>
                    </a:ext>
                  </a:extLst>
                </a:gridCol>
                <a:gridCol w="1400861">
                  <a:extLst>
                    <a:ext uri="{9D8B030D-6E8A-4147-A177-3AD203B41FA5}">
                      <a16:colId xmlns:a16="http://schemas.microsoft.com/office/drawing/2014/main" val="3517815377"/>
                    </a:ext>
                  </a:extLst>
                </a:gridCol>
                <a:gridCol w="686714">
                  <a:extLst>
                    <a:ext uri="{9D8B030D-6E8A-4147-A177-3AD203B41FA5}">
                      <a16:colId xmlns:a16="http://schemas.microsoft.com/office/drawing/2014/main" val="4171999606"/>
                    </a:ext>
                  </a:extLst>
                </a:gridCol>
                <a:gridCol w="933602">
                  <a:extLst>
                    <a:ext uri="{9D8B030D-6E8A-4147-A177-3AD203B41FA5}">
                      <a16:colId xmlns:a16="http://schemas.microsoft.com/office/drawing/2014/main" val="1292099014"/>
                    </a:ext>
                  </a:extLst>
                </a:gridCol>
                <a:gridCol w="1209751">
                  <a:extLst>
                    <a:ext uri="{9D8B030D-6E8A-4147-A177-3AD203B41FA5}">
                      <a16:colId xmlns:a16="http://schemas.microsoft.com/office/drawing/2014/main" val="768200006"/>
                    </a:ext>
                  </a:extLst>
                </a:gridCol>
                <a:gridCol w="1258214">
                  <a:extLst>
                    <a:ext uri="{9D8B030D-6E8A-4147-A177-3AD203B41FA5}">
                      <a16:colId xmlns:a16="http://schemas.microsoft.com/office/drawing/2014/main" val="92860309"/>
                    </a:ext>
                  </a:extLst>
                </a:gridCol>
                <a:gridCol w="551383">
                  <a:extLst>
                    <a:ext uri="{9D8B030D-6E8A-4147-A177-3AD203B41FA5}">
                      <a16:colId xmlns:a16="http://schemas.microsoft.com/office/drawing/2014/main" val="2954335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Регистратор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Номер</a:t>
                      </a:r>
                      <a:br>
                        <a:rPr lang="ru-RU" sz="1200" b="1"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 строки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Активность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Счет Д</a:t>
                      </a: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Счет Кт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Сумма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35640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03.03.2018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 1 от 03.03.2018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09309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13.03.2018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 2 от 13.03.2018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08173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13.03.2018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 2 от 13.03.2018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57672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 3 от 22.03.2018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748911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 3 от 22.03.2018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2500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79219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 3 от 22.03.2018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45027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6832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1262590"/>
          </a:xfrm>
        </p:spPr>
        <p:txBody>
          <a:bodyPr/>
          <a:lstStyle/>
          <a:p>
            <a:r>
              <a:rPr lang="ru-RU" dirty="0"/>
              <a:t>Таблица движений по счетам. Добавили балансовое измерение «Организация»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019263"/>
              </p:ext>
            </p:extLst>
          </p:nvPr>
        </p:nvGraphicFramePr>
        <p:xfrm>
          <a:off x="216000" y="1944000"/>
          <a:ext cx="7886701" cy="2167702"/>
        </p:xfrm>
        <a:graphic>
          <a:graphicData uri="http://schemas.openxmlformats.org/drawingml/2006/table">
            <a:tbl>
              <a:tblPr/>
              <a:tblGrid>
                <a:gridCol w="883347">
                  <a:extLst>
                    <a:ext uri="{9D8B030D-6E8A-4147-A177-3AD203B41FA5}">
                      <a16:colId xmlns:a16="http://schemas.microsoft.com/office/drawing/2014/main" val="3305131269"/>
                    </a:ext>
                  </a:extLst>
                </a:gridCol>
                <a:gridCol w="1371679">
                  <a:extLst>
                    <a:ext uri="{9D8B030D-6E8A-4147-A177-3AD203B41FA5}">
                      <a16:colId xmlns:a16="http://schemas.microsoft.com/office/drawing/2014/main" val="288533242"/>
                    </a:ext>
                  </a:extLst>
                </a:gridCol>
                <a:gridCol w="669532">
                  <a:extLst>
                    <a:ext uri="{9D8B030D-6E8A-4147-A177-3AD203B41FA5}">
                      <a16:colId xmlns:a16="http://schemas.microsoft.com/office/drawing/2014/main" val="1880508826"/>
                    </a:ext>
                  </a:extLst>
                </a:gridCol>
                <a:gridCol w="936801">
                  <a:extLst>
                    <a:ext uri="{9D8B030D-6E8A-4147-A177-3AD203B41FA5}">
                      <a16:colId xmlns:a16="http://schemas.microsoft.com/office/drawing/2014/main" val="19287824"/>
                    </a:ext>
                  </a:extLst>
                </a:gridCol>
                <a:gridCol w="1182325">
                  <a:extLst>
                    <a:ext uri="{9D8B030D-6E8A-4147-A177-3AD203B41FA5}">
                      <a16:colId xmlns:a16="http://schemas.microsoft.com/office/drawing/2014/main" val="2264262226"/>
                    </a:ext>
                  </a:extLst>
                </a:gridCol>
                <a:gridCol w="1233061">
                  <a:extLst>
                    <a:ext uri="{9D8B030D-6E8A-4147-A177-3AD203B41FA5}">
                      <a16:colId xmlns:a16="http://schemas.microsoft.com/office/drawing/2014/main" val="2813175740"/>
                    </a:ext>
                  </a:extLst>
                </a:gridCol>
                <a:gridCol w="1063640">
                  <a:extLst>
                    <a:ext uri="{9D8B030D-6E8A-4147-A177-3AD203B41FA5}">
                      <a16:colId xmlns:a16="http://schemas.microsoft.com/office/drawing/2014/main" val="3014944668"/>
                    </a:ext>
                  </a:extLst>
                </a:gridCol>
                <a:gridCol w="546316">
                  <a:extLst>
                    <a:ext uri="{9D8B030D-6E8A-4147-A177-3AD203B41FA5}">
                      <a16:colId xmlns:a16="http://schemas.microsoft.com/office/drawing/2014/main" val="1416773555"/>
                    </a:ext>
                  </a:extLst>
                </a:gridCol>
              </a:tblGrid>
              <a:tr h="463065"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Регистратор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Номер</a:t>
                      </a:r>
                      <a:b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 строки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Активность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Счет Д</a:t>
                      </a: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Счет Кт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Сумма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2243024"/>
                  </a:ext>
                </a:extLst>
              </a:tr>
              <a:tr h="281866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03.03.2018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 1 от 03.03.2018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1000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1939198"/>
                  </a:ext>
                </a:extLst>
              </a:tr>
              <a:tr h="281866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13.03.2018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 2 от 13.03.2018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1800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64703788"/>
                  </a:ext>
                </a:extLst>
              </a:tr>
              <a:tr h="281866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13.03.2018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 2 от 13.03.2018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6210154"/>
                  </a:ext>
                </a:extLst>
              </a:tr>
              <a:tr h="281866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 3 от 22.03.2018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1200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954361"/>
                  </a:ext>
                </a:extLst>
              </a:tr>
              <a:tr h="281866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 3 от 22.03.2018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2500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0086282"/>
                  </a:ext>
                </a:extLst>
              </a:tr>
              <a:tr h="281866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 3 от 22.03.2018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4183290"/>
                  </a:ext>
                </a:extLst>
              </a:tr>
            </a:tbl>
          </a:graphicData>
        </a:graphic>
      </p:graphicFrame>
      <p:sp>
        <p:nvSpPr>
          <p:cNvPr id="37" name="Rounded Rectangle 3"/>
          <p:cNvSpPr/>
          <p:nvPr/>
        </p:nvSpPr>
        <p:spPr>
          <a:xfrm>
            <a:off x="6432033" y="1826254"/>
            <a:ext cx="1209995" cy="2373450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371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3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25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7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7" grpId="1" animBg="1"/>
      <p:bldP spid="37" grpId="2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71233"/>
          </a:xfrm>
        </p:spPr>
        <p:txBody>
          <a:bodyPr/>
          <a:lstStyle/>
          <a:p>
            <a:r>
              <a:rPr lang="ru-RU" dirty="0"/>
              <a:t>Таблица остатков и оборотов по счетам</a:t>
            </a:r>
            <a:r>
              <a:rPr lang="en-US" dirty="0"/>
              <a:t> </a:t>
            </a:r>
            <a:r>
              <a:rPr lang="ru-RU" dirty="0"/>
              <a:t>до изменения.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3413668"/>
              </p:ext>
            </p:extLst>
          </p:nvPr>
        </p:nvGraphicFramePr>
        <p:xfrm>
          <a:off x="216000" y="1800000"/>
          <a:ext cx="5647335" cy="2275840"/>
        </p:xfrm>
        <a:graphic>
          <a:graphicData uri="http://schemas.openxmlformats.org/drawingml/2006/table">
            <a:tbl>
              <a:tblPr/>
              <a:tblGrid>
                <a:gridCol w="899770">
                  <a:extLst>
                    <a:ext uri="{9D8B030D-6E8A-4147-A177-3AD203B41FA5}">
                      <a16:colId xmlns:a16="http://schemas.microsoft.com/office/drawing/2014/main" val="3592945815"/>
                    </a:ext>
                  </a:extLst>
                </a:gridCol>
                <a:gridCol w="1265530">
                  <a:extLst>
                    <a:ext uri="{9D8B030D-6E8A-4147-A177-3AD203B41FA5}">
                      <a16:colId xmlns:a16="http://schemas.microsoft.com/office/drawing/2014/main" val="97048919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188167026"/>
                    </a:ext>
                  </a:extLst>
                </a:gridCol>
                <a:gridCol w="953719">
                  <a:extLst>
                    <a:ext uri="{9D8B030D-6E8A-4147-A177-3AD203B41FA5}">
                      <a16:colId xmlns:a16="http://schemas.microsoft.com/office/drawing/2014/main" val="2138190235"/>
                    </a:ext>
                  </a:extLst>
                </a:gridCol>
                <a:gridCol w="1017727">
                  <a:extLst>
                    <a:ext uri="{9D8B030D-6E8A-4147-A177-3AD203B41FA5}">
                      <a16:colId xmlns:a16="http://schemas.microsoft.com/office/drawing/2014/main" val="1117565341"/>
                    </a:ext>
                  </a:extLst>
                </a:gridCol>
                <a:gridCol w="705917">
                  <a:extLst>
                    <a:ext uri="{9D8B030D-6E8A-4147-A177-3AD203B41FA5}">
                      <a16:colId xmlns:a16="http://schemas.microsoft.com/office/drawing/2014/main" val="1657460271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764099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0473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6500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6500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55296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12600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-</a:t>
                      </a: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126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28747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6100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61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40081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6500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3239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-12600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4785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6100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6504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7734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948351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остатков и оборотов по счетам.</a:t>
            </a:r>
            <a:r>
              <a:rPr lang="en-US" dirty="0"/>
              <a:t/>
            </a:r>
            <a:br>
              <a:rPr lang="en-US" dirty="0"/>
            </a:br>
            <a:r>
              <a:rPr lang="ru-RU" dirty="0"/>
              <a:t>Добавили измерение «Организация». 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6361552"/>
              </p:ext>
            </p:extLst>
          </p:nvPr>
        </p:nvGraphicFramePr>
        <p:xfrm>
          <a:off x="216000" y="1800000"/>
          <a:ext cx="6344108" cy="3982720"/>
        </p:xfrm>
        <a:graphic>
          <a:graphicData uri="http://schemas.openxmlformats.org/drawingml/2006/table">
            <a:tbl>
              <a:tblPr/>
              <a:tblGrid>
                <a:gridCol w="899770">
                  <a:extLst>
                    <a:ext uri="{9D8B030D-6E8A-4147-A177-3AD203B41FA5}">
                      <a16:colId xmlns:a16="http://schemas.microsoft.com/office/drawing/2014/main" val="3891920079"/>
                    </a:ext>
                  </a:extLst>
                </a:gridCol>
                <a:gridCol w="1265530">
                  <a:extLst>
                    <a:ext uri="{9D8B030D-6E8A-4147-A177-3AD203B41FA5}">
                      <a16:colId xmlns:a16="http://schemas.microsoft.com/office/drawing/2014/main" val="3264141732"/>
                    </a:ext>
                  </a:extLst>
                </a:gridCol>
                <a:gridCol w="1073506">
                  <a:extLst>
                    <a:ext uri="{9D8B030D-6E8A-4147-A177-3AD203B41FA5}">
                      <a16:colId xmlns:a16="http://schemas.microsoft.com/office/drawing/2014/main" val="3914030051"/>
                    </a:ext>
                  </a:extLst>
                </a:gridCol>
                <a:gridCol w="722376">
                  <a:extLst>
                    <a:ext uri="{9D8B030D-6E8A-4147-A177-3AD203B41FA5}">
                      <a16:colId xmlns:a16="http://schemas.microsoft.com/office/drawing/2014/main" val="3059131975"/>
                    </a:ext>
                  </a:extLst>
                </a:gridCol>
                <a:gridCol w="890626">
                  <a:extLst>
                    <a:ext uri="{9D8B030D-6E8A-4147-A177-3AD203B41FA5}">
                      <a16:colId xmlns:a16="http://schemas.microsoft.com/office/drawing/2014/main" val="1791396834"/>
                    </a:ext>
                  </a:extLst>
                </a:gridCol>
                <a:gridCol w="874166">
                  <a:extLst>
                    <a:ext uri="{9D8B030D-6E8A-4147-A177-3AD203B41FA5}">
                      <a16:colId xmlns:a16="http://schemas.microsoft.com/office/drawing/2014/main" val="1532943437"/>
                    </a:ext>
                  </a:extLst>
                </a:gridCol>
                <a:gridCol w="618134">
                  <a:extLst>
                    <a:ext uri="{9D8B030D-6E8A-4147-A177-3AD203B41FA5}">
                      <a16:colId xmlns:a16="http://schemas.microsoft.com/office/drawing/2014/main" val="1694338511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918383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6137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7455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-6200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289769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8906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3700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3700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87393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-6400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9394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15973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60500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-6200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73403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16402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3700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26613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-6400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0731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05618010"/>
                  </a:ext>
                </a:extLst>
              </a:tr>
            </a:tbl>
          </a:graphicData>
        </a:graphic>
      </p:graphicFrame>
      <p:sp>
        <p:nvSpPr>
          <p:cNvPr id="22" name="Rounded Rectangle 3"/>
          <p:cNvSpPr/>
          <p:nvPr/>
        </p:nvSpPr>
        <p:spPr>
          <a:xfrm>
            <a:off x="2277283" y="1675332"/>
            <a:ext cx="1209995" cy="4228317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2312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25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7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2" grpId="2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71233"/>
          </a:xfrm>
        </p:spPr>
        <p:txBody>
          <a:bodyPr/>
          <a:lstStyle/>
          <a:p>
            <a:r>
              <a:rPr lang="ru-RU" dirty="0"/>
              <a:t>Таблица оборотов между счетами</a:t>
            </a:r>
            <a:r>
              <a:rPr lang="en-US" dirty="0"/>
              <a:t> </a:t>
            </a:r>
            <a:r>
              <a:rPr lang="ru-RU" dirty="0"/>
              <a:t>до изменения.</a:t>
            </a:r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911363"/>
              </p:ext>
            </p:extLst>
          </p:nvPr>
        </p:nvGraphicFramePr>
        <p:xfrm>
          <a:off x="216000" y="2160000"/>
          <a:ext cx="3952038" cy="1036320"/>
        </p:xfrm>
        <a:graphic>
          <a:graphicData uri="http://schemas.openxmlformats.org/drawingml/2006/table">
            <a:tbl>
              <a:tblPr/>
              <a:tblGrid>
                <a:gridCol w="899770">
                  <a:extLst>
                    <a:ext uri="{9D8B030D-6E8A-4147-A177-3AD203B41FA5}">
                      <a16:colId xmlns:a16="http://schemas.microsoft.com/office/drawing/2014/main" val="4270182024"/>
                    </a:ext>
                  </a:extLst>
                </a:gridCol>
                <a:gridCol w="1211580">
                  <a:extLst>
                    <a:ext uri="{9D8B030D-6E8A-4147-A177-3AD203B41FA5}">
                      <a16:colId xmlns:a16="http://schemas.microsoft.com/office/drawing/2014/main" val="1500219640"/>
                    </a:ext>
                  </a:extLst>
                </a:gridCol>
                <a:gridCol w="1265530">
                  <a:extLst>
                    <a:ext uri="{9D8B030D-6E8A-4147-A177-3AD203B41FA5}">
                      <a16:colId xmlns:a16="http://schemas.microsoft.com/office/drawing/2014/main" val="955381744"/>
                    </a:ext>
                  </a:extLst>
                </a:gridCol>
                <a:gridCol w="575158">
                  <a:extLst>
                    <a:ext uri="{9D8B030D-6E8A-4147-A177-3AD203B41FA5}">
                      <a16:colId xmlns:a16="http://schemas.microsoft.com/office/drawing/2014/main" val="221395361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Счет Дебет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 Кредит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Сумма оборот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5175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6500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01081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6100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78638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768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71233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оборотов между счетами. Добавили измерение «Организация» 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3185670"/>
              </p:ext>
            </p:extLst>
          </p:nvPr>
        </p:nvGraphicFramePr>
        <p:xfrm>
          <a:off x="216000" y="2160000"/>
          <a:ext cx="5505604" cy="1422400"/>
        </p:xfrm>
        <a:graphic>
          <a:graphicData uri="http://schemas.openxmlformats.org/drawingml/2006/table">
            <a:tbl>
              <a:tblPr/>
              <a:tblGrid>
                <a:gridCol w="899770">
                  <a:extLst>
                    <a:ext uri="{9D8B030D-6E8A-4147-A177-3AD203B41FA5}">
                      <a16:colId xmlns:a16="http://schemas.microsoft.com/office/drawing/2014/main" val="2415675964"/>
                    </a:ext>
                  </a:extLst>
                </a:gridCol>
                <a:gridCol w="1211580">
                  <a:extLst>
                    <a:ext uri="{9D8B030D-6E8A-4147-A177-3AD203B41FA5}">
                      <a16:colId xmlns:a16="http://schemas.microsoft.com/office/drawing/2014/main" val="3442329988"/>
                    </a:ext>
                  </a:extLst>
                </a:gridCol>
                <a:gridCol w="1265530">
                  <a:extLst>
                    <a:ext uri="{9D8B030D-6E8A-4147-A177-3AD203B41FA5}">
                      <a16:colId xmlns:a16="http://schemas.microsoft.com/office/drawing/2014/main" val="604910569"/>
                    </a:ext>
                  </a:extLst>
                </a:gridCol>
                <a:gridCol w="1073506">
                  <a:extLst>
                    <a:ext uri="{9D8B030D-6E8A-4147-A177-3AD203B41FA5}">
                      <a16:colId xmlns:a16="http://schemas.microsoft.com/office/drawing/2014/main" val="2610576814"/>
                    </a:ext>
                  </a:extLst>
                </a:gridCol>
                <a:gridCol w="1055218">
                  <a:extLst>
                    <a:ext uri="{9D8B030D-6E8A-4147-A177-3AD203B41FA5}">
                      <a16:colId xmlns:a16="http://schemas.microsoft.com/office/drawing/2014/main" val="18840908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Счет Дебет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Счет Кредит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Сумма оборот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3472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23715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54221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3700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13403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3450645"/>
                  </a:ext>
                </a:extLst>
              </a:tr>
            </a:tbl>
          </a:graphicData>
        </a:graphic>
      </p:graphicFrame>
      <p:sp>
        <p:nvSpPr>
          <p:cNvPr id="10" name="Rounded Rectangle 3"/>
          <p:cNvSpPr/>
          <p:nvPr/>
        </p:nvSpPr>
        <p:spPr>
          <a:xfrm>
            <a:off x="3533313" y="2063331"/>
            <a:ext cx="1162974" cy="1615737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6380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25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0" grpId="1" animBg="1"/>
      <p:bldP spid="10" grpId="2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Сквозная аналитика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Небалансовое</a:t>
            </a:r>
            <a:r>
              <a:rPr lang="ru-RU" dirty="0"/>
              <a:t> измерение</a:t>
            </a:r>
          </a:p>
        </p:txBody>
      </p:sp>
    </p:spTree>
    <p:extLst>
      <p:ext uri="{BB962C8B-B14F-4D97-AF65-F5344CB8AC3E}">
        <p14:creationId xmlns:p14="http://schemas.microsoft.com/office/powerpoint/2010/main" val="3756821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Учет по подразделениям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4949374"/>
              </p:ext>
            </p:extLst>
          </p:nvPr>
        </p:nvGraphicFramePr>
        <p:xfrm>
          <a:off x="429659" y="1397000"/>
          <a:ext cx="8248175" cy="239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1734">
                  <a:extLst>
                    <a:ext uri="{9D8B030D-6E8A-4147-A177-3AD203B41FA5}">
                      <a16:colId xmlns:a16="http://schemas.microsoft.com/office/drawing/2014/main" val="394991951"/>
                    </a:ext>
                  </a:extLst>
                </a:gridCol>
                <a:gridCol w="1468936">
                  <a:extLst>
                    <a:ext uri="{9D8B030D-6E8A-4147-A177-3AD203B41FA5}">
                      <a16:colId xmlns:a16="http://schemas.microsoft.com/office/drawing/2014/main" val="824950313"/>
                    </a:ext>
                  </a:extLst>
                </a:gridCol>
                <a:gridCol w="1945342">
                  <a:extLst>
                    <a:ext uri="{9D8B030D-6E8A-4147-A177-3AD203B41FA5}">
                      <a16:colId xmlns:a16="http://schemas.microsoft.com/office/drawing/2014/main" val="2130443275"/>
                    </a:ext>
                  </a:extLst>
                </a:gridCol>
                <a:gridCol w="1407458">
                  <a:extLst>
                    <a:ext uri="{9D8B030D-6E8A-4147-A177-3AD203B41FA5}">
                      <a16:colId xmlns:a16="http://schemas.microsoft.com/office/drawing/2014/main" val="278535266"/>
                    </a:ext>
                  </a:extLst>
                </a:gridCol>
                <a:gridCol w="1344705">
                  <a:extLst>
                    <a:ext uri="{9D8B030D-6E8A-4147-A177-3AD203B41FA5}">
                      <a16:colId xmlns:a16="http://schemas.microsoft.com/office/drawing/2014/main" val="11905289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Счет 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Подразде-ление</a:t>
                      </a:r>
                      <a:r>
                        <a:rPr lang="ru-RU" dirty="0"/>
                        <a:t> 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Счет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Подразде-ление</a:t>
                      </a:r>
                      <a:r>
                        <a:rPr lang="ru-RU" dirty="0"/>
                        <a:t>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Сумма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2179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&lt;41.1</a:t>
                      </a:r>
                      <a:r>
                        <a:rPr lang="ru-RU" baseline="0" dirty="0"/>
                        <a:t> Товары&gt;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&lt;Основное&gt;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&lt;60 Поставщики&gt;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&lt;Основное&gt;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0508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/>
                        <a:t>&lt;41.1</a:t>
                      </a:r>
                      <a:r>
                        <a:rPr lang="ru-RU" baseline="0"/>
                        <a:t> Товары</a:t>
                      </a:r>
                      <a:r>
                        <a:rPr lang="ru-RU"/>
                        <a:t>&gt;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&lt;Филиал&gt;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&lt;41.1</a:t>
                      </a:r>
                      <a:r>
                        <a:rPr lang="ru-RU" baseline="0" dirty="0"/>
                        <a:t> Товары&gt;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&lt;Основное&gt;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0319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&lt;60 Поставщики&gt;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/>
                        <a:t>&lt;Основное&gt;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&lt;51 р/с в банке&gt;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700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574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&lt;75 </a:t>
                      </a:r>
                      <a:r>
                        <a:rPr lang="ru-RU" dirty="0"/>
                        <a:t>Расчеты</a:t>
                      </a:r>
                      <a:r>
                        <a:rPr lang="ru-RU" baseline="0" dirty="0"/>
                        <a:t> с учредителями&gt;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&lt;80 Уставный капитал&gt;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5533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13197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Признак учета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029" y="1120775"/>
            <a:ext cx="4634219" cy="4900751"/>
          </a:xfrm>
          <a:prstGeom prst="rect">
            <a:avLst/>
          </a:prstGeom>
        </p:spPr>
      </p:pic>
      <p:sp>
        <p:nvSpPr>
          <p:cNvPr id="6" name="Rounded Rectangle 3"/>
          <p:cNvSpPr/>
          <p:nvPr/>
        </p:nvSpPr>
        <p:spPr>
          <a:xfrm>
            <a:off x="3791120" y="3535290"/>
            <a:ext cx="2715709" cy="262373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3905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25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6" grpId="2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Специальный реквизит типа булево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2562084"/>
              </p:ext>
            </p:extLst>
          </p:nvPr>
        </p:nvGraphicFramePr>
        <p:xfrm>
          <a:off x="448732" y="1476259"/>
          <a:ext cx="8441879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1080">
                  <a:extLst>
                    <a:ext uri="{9D8B030D-6E8A-4147-A177-3AD203B41FA5}">
                      <a16:colId xmlns:a16="http://schemas.microsoft.com/office/drawing/2014/main" val="932871703"/>
                    </a:ext>
                  </a:extLst>
                </a:gridCol>
                <a:gridCol w="837282">
                  <a:extLst>
                    <a:ext uri="{9D8B030D-6E8A-4147-A177-3AD203B41FA5}">
                      <a16:colId xmlns:a16="http://schemas.microsoft.com/office/drawing/2014/main" val="631033224"/>
                    </a:ext>
                  </a:extLst>
                </a:gridCol>
                <a:gridCol w="1498294">
                  <a:extLst>
                    <a:ext uri="{9D8B030D-6E8A-4147-A177-3AD203B41FA5}">
                      <a16:colId xmlns:a16="http://schemas.microsoft.com/office/drawing/2014/main" val="1495469993"/>
                    </a:ext>
                  </a:extLst>
                </a:gridCol>
                <a:gridCol w="1108675">
                  <a:extLst>
                    <a:ext uri="{9D8B030D-6E8A-4147-A177-3AD203B41FA5}">
                      <a16:colId xmlns:a16="http://schemas.microsoft.com/office/drawing/2014/main" val="3850903515"/>
                    </a:ext>
                  </a:extLst>
                </a:gridCol>
                <a:gridCol w="2956548">
                  <a:extLst>
                    <a:ext uri="{9D8B030D-6E8A-4147-A177-3AD203B41FA5}">
                      <a16:colId xmlns:a16="http://schemas.microsoft.com/office/drawing/2014/main" val="368277203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По Подразделениям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92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&lt;41.1</a:t>
                      </a:r>
                      <a:r>
                        <a:rPr lang="ru-RU" baseline="0" dirty="0">
                          <a:solidFill>
                            <a:schemeClr val="tx1"/>
                          </a:solidFill>
                        </a:rPr>
                        <a:t> Товары&gt;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Товары опт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2357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&lt;60</a:t>
                      </a:r>
                      <a:r>
                        <a:rPr lang="ru-RU" baseline="0" dirty="0">
                          <a:solidFill>
                            <a:schemeClr val="tx1"/>
                          </a:solidFill>
                        </a:rPr>
                        <a:t> Поставщики&gt;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Поставщики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15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&lt;</a:t>
                      </a:r>
                      <a:r>
                        <a:rPr lang="ru-RU" dirty="0"/>
                        <a:t>51 р/с в банке</a:t>
                      </a:r>
                      <a:r>
                        <a:rPr lang="ru-RU" baseline="0" dirty="0">
                          <a:solidFill>
                            <a:schemeClr val="tx1"/>
                          </a:solidFill>
                        </a:rPr>
                        <a:t>&gt;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р/с в банке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29014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06016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798461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движений по счетам до изменения.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6020634"/>
              </p:ext>
            </p:extLst>
          </p:nvPr>
        </p:nvGraphicFramePr>
        <p:xfrm>
          <a:off x="216000" y="2160000"/>
          <a:ext cx="7886701" cy="2167786"/>
        </p:xfrm>
        <a:graphic>
          <a:graphicData uri="http://schemas.openxmlformats.org/drawingml/2006/table">
            <a:tbl>
              <a:tblPr/>
              <a:tblGrid>
                <a:gridCol w="888884">
                  <a:extLst>
                    <a:ext uri="{9D8B030D-6E8A-4147-A177-3AD203B41FA5}">
                      <a16:colId xmlns:a16="http://schemas.microsoft.com/office/drawing/2014/main" val="1959433159"/>
                    </a:ext>
                  </a:extLst>
                </a:gridCol>
                <a:gridCol w="1389959">
                  <a:extLst>
                    <a:ext uri="{9D8B030D-6E8A-4147-A177-3AD203B41FA5}">
                      <a16:colId xmlns:a16="http://schemas.microsoft.com/office/drawing/2014/main" val="3737413799"/>
                    </a:ext>
                  </a:extLst>
                </a:gridCol>
                <a:gridCol w="656923">
                  <a:extLst>
                    <a:ext uri="{9D8B030D-6E8A-4147-A177-3AD203B41FA5}">
                      <a16:colId xmlns:a16="http://schemas.microsoft.com/office/drawing/2014/main" val="1743182277"/>
                    </a:ext>
                  </a:extLst>
                </a:gridCol>
                <a:gridCol w="945063">
                  <a:extLst>
                    <a:ext uri="{9D8B030D-6E8A-4147-A177-3AD203B41FA5}">
                      <a16:colId xmlns:a16="http://schemas.microsoft.com/office/drawing/2014/main" val="1541640233"/>
                    </a:ext>
                  </a:extLst>
                </a:gridCol>
                <a:gridCol w="1176119">
                  <a:extLst>
                    <a:ext uri="{9D8B030D-6E8A-4147-A177-3AD203B41FA5}">
                      <a16:colId xmlns:a16="http://schemas.microsoft.com/office/drawing/2014/main" val="4091795380"/>
                    </a:ext>
                  </a:extLst>
                </a:gridCol>
                <a:gridCol w="1221424">
                  <a:extLst>
                    <a:ext uri="{9D8B030D-6E8A-4147-A177-3AD203B41FA5}">
                      <a16:colId xmlns:a16="http://schemas.microsoft.com/office/drawing/2014/main" val="2837719483"/>
                    </a:ext>
                  </a:extLst>
                </a:gridCol>
                <a:gridCol w="1060138">
                  <a:extLst>
                    <a:ext uri="{9D8B030D-6E8A-4147-A177-3AD203B41FA5}">
                      <a16:colId xmlns:a16="http://schemas.microsoft.com/office/drawing/2014/main" val="600164219"/>
                    </a:ext>
                  </a:extLst>
                </a:gridCol>
                <a:gridCol w="548191">
                  <a:extLst>
                    <a:ext uri="{9D8B030D-6E8A-4147-A177-3AD203B41FA5}">
                      <a16:colId xmlns:a16="http://schemas.microsoft.com/office/drawing/2014/main" val="1934872023"/>
                    </a:ext>
                  </a:extLst>
                </a:gridCol>
              </a:tblGrid>
              <a:tr h="463118"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ru-RU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Регистратор</a:t>
                      </a:r>
                      <a:endParaRPr lang="ru-RU" sz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Номер</a:t>
                      </a:r>
                      <a:endParaRPr lang="ru-RU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строки</a:t>
                      </a:r>
                      <a:endParaRPr lang="ru-RU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Активность</a:t>
                      </a:r>
                      <a:endParaRPr lang="ru-RU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Счет Дт</a:t>
                      </a:r>
                      <a:endParaRPr lang="ru-RU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Счет Кт</a:t>
                      </a:r>
                      <a:endParaRPr lang="ru-RU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ru-RU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Сумма</a:t>
                      </a:r>
                      <a:endParaRPr lang="ru-RU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0881188"/>
                  </a:ext>
                </a:extLst>
              </a:tr>
              <a:tr h="281898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03.03.2018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1 </a:t>
                      </a: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от</a:t>
                      </a: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03.03.2018</a:t>
                      </a:r>
                      <a:endParaRPr lang="ru-RU" sz="12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</a:t>
                      </a: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товары</a:t>
                      </a: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2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2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1000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5797802"/>
                  </a:ext>
                </a:extLst>
              </a:tr>
              <a:tr h="281898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13.03.2018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2 </a:t>
                      </a: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от</a:t>
                      </a: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13.03.2018</a:t>
                      </a:r>
                      <a:endParaRPr lang="ru-RU" sz="12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</a:t>
                      </a: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товары</a:t>
                      </a: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2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2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1800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6226908"/>
                  </a:ext>
                </a:extLst>
              </a:tr>
              <a:tr h="281898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13.03.2018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2 </a:t>
                      </a: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от</a:t>
                      </a: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13.03.2018</a:t>
                      </a:r>
                      <a:endParaRPr lang="ru-RU" sz="12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 (</a:t>
                      </a: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материалы</a:t>
                      </a: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2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2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6083453"/>
                  </a:ext>
                </a:extLst>
              </a:tr>
              <a:tr h="281898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 3 </a:t>
                      </a: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от 22.03.2018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</a:t>
                      </a: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товары</a:t>
                      </a: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2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2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1200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4435618"/>
                  </a:ext>
                </a:extLst>
              </a:tr>
              <a:tr h="281898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 3 </a:t>
                      </a: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от 22.03.2018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</a:t>
                      </a: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товары</a:t>
                      </a: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2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2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2500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0973983"/>
                  </a:ext>
                </a:extLst>
              </a:tr>
              <a:tr h="281898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 3 </a:t>
                      </a: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от 22.03.2018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10 (</a:t>
                      </a: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материалы</a:t>
                      </a: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2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2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58697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2976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1262589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движений по счетам. Добавили не балансовое измерение «Подразделение».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6188239"/>
              </p:ext>
            </p:extLst>
          </p:nvPr>
        </p:nvGraphicFramePr>
        <p:xfrm>
          <a:off x="216000" y="2160000"/>
          <a:ext cx="8451541" cy="2021965"/>
        </p:xfrm>
        <a:graphic>
          <a:graphicData uri="http://schemas.openxmlformats.org/drawingml/2006/table">
            <a:tbl>
              <a:tblPr/>
              <a:tblGrid>
                <a:gridCol w="723294">
                  <a:extLst>
                    <a:ext uri="{9D8B030D-6E8A-4147-A177-3AD203B41FA5}">
                      <a16:colId xmlns:a16="http://schemas.microsoft.com/office/drawing/2014/main" val="659323842"/>
                    </a:ext>
                  </a:extLst>
                </a:gridCol>
                <a:gridCol w="1122070">
                  <a:extLst>
                    <a:ext uri="{9D8B030D-6E8A-4147-A177-3AD203B41FA5}">
                      <a16:colId xmlns:a16="http://schemas.microsoft.com/office/drawing/2014/main" val="1706117643"/>
                    </a:ext>
                  </a:extLst>
                </a:gridCol>
                <a:gridCol w="542099">
                  <a:extLst>
                    <a:ext uri="{9D8B030D-6E8A-4147-A177-3AD203B41FA5}">
                      <a16:colId xmlns:a16="http://schemas.microsoft.com/office/drawing/2014/main" val="1579992375"/>
                    </a:ext>
                  </a:extLst>
                </a:gridCol>
                <a:gridCol w="767107">
                  <a:extLst>
                    <a:ext uri="{9D8B030D-6E8A-4147-A177-3AD203B41FA5}">
                      <a16:colId xmlns:a16="http://schemas.microsoft.com/office/drawing/2014/main" val="1820059933"/>
                    </a:ext>
                  </a:extLst>
                </a:gridCol>
                <a:gridCol w="967609">
                  <a:extLst>
                    <a:ext uri="{9D8B030D-6E8A-4147-A177-3AD203B41FA5}">
                      <a16:colId xmlns:a16="http://schemas.microsoft.com/office/drawing/2014/main" val="1175466578"/>
                    </a:ext>
                  </a:extLst>
                </a:gridCol>
                <a:gridCol w="1006966">
                  <a:extLst>
                    <a:ext uri="{9D8B030D-6E8A-4147-A177-3AD203B41FA5}">
                      <a16:colId xmlns:a16="http://schemas.microsoft.com/office/drawing/2014/main" val="3004660421"/>
                    </a:ext>
                  </a:extLst>
                </a:gridCol>
                <a:gridCol w="859189">
                  <a:extLst>
                    <a:ext uri="{9D8B030D-6E8A-4147-A177-3AD203B41FA5}">
                      <a16:colId xmlns:a16="http://schemas.microsoft.com/office/drawing/2014/main" val="192547059"/>
                    </a:ext>
                  </a:extLst>
                </a:gridCol>
                <a:gridCol w="1005482">
                  <a:extLst>
                    <a:ext uri="{9D8B030D-6E8A-4147-A177-3AD203B41FA5}">
                      <a16:colId xmlns:a16="http://schemas.microsoft.com/office/drawing/2014/main" val="1896172455"/>
                    </a:ext>
                  </a:extLst>
                </a:gridCol>
                <a:gridCol w="1007709">
                  <a:extLst>
                    <a:ext uri="{9D8B030D-6E8A-4147-A177-3AD203B41FA5}">
                      <a16:colId xmlns:a16="http://schemas.microsoft.com/office/drawing/2014/main" val="2418078376"/>
                    </a:ext>
                  </a:extLst>
                </a:gridCol>
                <a:gridCol w="450016">
                  <a:extLst>
                    <a:ext uri="{9D8B030D-6E8A-4147-A177-3AD203B41FA5}">
                      <a16:colId xmlns:a16="http://schemas.microsoft.com/office/drawing/2014/main" val="688871253"/>
                    </a:ext>
                  </a:extLst>
                </a:gridCol>
              </a:tblGrid>
              <a:tr h="248571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Регистратор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Номер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строки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Активность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Счет Дт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Счет Кт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Сумма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742481"/>
                  </a:ext>
                </a:extLst>
              </a:tr>
              <a:tr h="177554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Дт</a:t>
                      </a: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Кт</a:t>
                      </a: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5957350"/>
                  </a:ext>
                </a:extLst>
              </a:tr>
              <a:tr h="259873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03.03.2018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1 </a:t>
                      </a:r>
                      <a:r>
                        <a:rPr lang="ru-RU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от</a:t>
                      </a:r>
                      <a:r>
                        <a:rPr lang="x-none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03.03.2018</a:t>
                      </a:r>
                      <a:endParaRPr lang="ru-RU" sz="10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</a:t>
                      </a: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товары</a:t>
                      </a:r>
                      <a:r>
                        <a:rPr lang="x-none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0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0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1000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7097053"/>
                  </a:ext>
                </a:extLst>
              </a:tr>
              <a:tr h="259873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13.03.2018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2 </a:t>
                      </a:r>
                      <a:r>
                        <a:rPr lang="ru-RU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от</a:t>
                      </a:r>
                      <a:r>
                        <a:rPr lang="x-none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13.03.2018</a:t>
                      </a:r>
                      <a:endParaRPr lang="ru-RU" sz="10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</a:t>
                      </a: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товары</a:t>
                      </a:r>
                      <a:r>
                        <a:rPr lang="x-none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0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0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1800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4191085"/>
                  </a:ext>
                </a:extLst>
              </a:tr>
              <a:tr h="259873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13.03.2018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2 </a:t>
                      </a: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от</a:t>
                      </a:r>
                      <a:r>
                        <a:rPr lang="x-none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13.03.2018</a:t>
                      </a:r>
                      <a:endParaRPr lang="ru-RU" sz="10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 (</a:t>
                      </a:r>
                      <a:r>
                        <a:rPr lang="ru-RU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материалы</a:t>
                      </a:r>
                      <a:r>
                        <a:rPr lang="x-none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0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0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296131"/>
                  </a:ext>
                </a:extLst>
              </a:tr>
              <a:tr h="259873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 3 </a:t>
                      </a: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от 22.03.2018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</a:t>
                      </a: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товары</a:t>
                      </a: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0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0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0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000" dirty="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1200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3670924"/>
                  </a:ext>
                </a:extLst>
              </a:tr>
              <a:tr h="259873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 3 </a:t>
                      </a: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от 22.03.2018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</a:t>
                      </a: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товары</a:t>
                      </a: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0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0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2500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381765"/>
                  </a:ext>
                </a:extLst>
              </a:tr>
              <a:tr h="259873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0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 3 </a:t>
                      </a:r>
                      <a:r>
                        <a:rPr lang="ru-RU" sz="10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от 22.03.2018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10 (</a:t>
                      </a: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материалы</a:t>
                      </a: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0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0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8315985"/>
                  </a:ext>
                </a:extLst>
              </a:tr>
            </a:tbl>
          </a:graphicData>
        </a:graphic>
      </p:graphicFrame>
      <p:sp>
        <p:nvSpPr>
          <p:cNvPr id="41" name="Rounded Rectangle 3"/>
          <p:cNvSpPr/>
          <p:nvPr/>
        </p:nvSpPr>
        <p:spPr>
          <a:xfrm>
            <a:off x="6134470" y="2081086"/>
            <a:ext cx="2095129" cy="2206829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8607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4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25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7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  <p:bldP spid="41" grpId="1" animBg="1"/>
      <p:bldP spid="41" grpId="2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08258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остатков и оборотов по счетам до изменения.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0266156"/>
              </p:ext>
            </p:extLst>
          </p:nvPr>
        </p:nvGraphicFramePr>
        <p:xfrm>
          <a:off x="216000" y="1800000"/>
          <a:ext cx="6344108" cy="3982720"/>
        </p:xfrm>
        <a:graphic>
          <a:graphicData uri="http://schemas.openxmlformats.org/drawingml/2006/table">
            <a:tbl>
              <a:tblPr/>
              <a:tblGrid>
                <a:gridCol w="899770">
                  <a:extLst>
                    <a:ext uri="{9D8B030D-6E8A-4147-A177-3AD203B41FA5}">
                      <a16:colId xmlns:a16="http://schemas.microsoft.com/office/drawing/2014/main" val="2010352026"/>
                    </a:ext>
                  </a:extLst>
                </a:gridCol>
                <a:gridCol w="1265530">
                  <a:extLst>
                    <a:ext uri="{9D8B030D-6E8A-4147-A177-3AD203B41FA5}">
                      <a16:colId xmlns:a16="http://schemas.microsoft.com/office/drawing/2014/main" val="1171622462"/>
                    </a:ext>
                  </a:extLst>
                </a:gridCol>
                <a:gridCol w="1073506">
                  <a:extLst>
                    <a:ext uri="{9D8B030D-6E8A-4147-A177-3AD203B41FA5}">
                      <a16:colId xmlns:a16="http://schemas.microsoft.com/office/drawing/2014/main" val="1065574503"/>
                    </a:ext>
                  </a:extLst>
                </a:gridCol>
                <a:gridCol w="722376">
                  <a:extLst>
                    <a:ext uri="{9D8B030D-6E8A-4147-A177-3AD203B41FA5}">
                      <a16:colId xmlns:a16="http://schemas.microsoft.com/office/drawing/2014/main" val="817576893"/>
                    </a:ext>
                  </a:extLst>
                </a:gridCol>
                <a:gridCol w="890626">
                  <a:extLst>
                    <a:ext uri="{9D8B030D-6E8A-4147-A177-3AD203B41FA5}">
                      <a16:colId xmlns:a16="http://schemas.microsoft.com/office/drawing/2014/main" val="3162757511"/>
                    </a:ext>
                  </a:extLst>
                </a:gridCol>
                <a:gridCol w="874166">
                  <a:extLst>
                    <a:ext uri="{9D8B030D-6E8A-4147-A177-3AD203B41FA5}">
                      <a16:colId xmlns:a16="http://schemas.microsoft.com/office/drawing/2014/main" val="3019141027"/>
                    </a:ext>
                  </a:extLst>
                </a:gridCol>
                <a:gridCol w="618134">
                  <a:extLst>
                    <a:ext uri="{9D8B030D-6E8A-4147-A177-3AD203B41FA5}">
                      <a16:colId xmlns:a16="http://schemas.microsoft.com/office/drawing/2014/main" val="3981090663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787094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23865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5159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-6200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33001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33217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3700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3700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0186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-6400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817945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47750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9185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-6200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71426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50193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3700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62937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-6400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4919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535647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5270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1185802"/>
          </a:xfrm>
        </p:spPr>
        <p:txBody>
          <a:bodyPr>
            <a:noAutofit/>
          </a:bodyPr>
          <a:lstStyle/>
          <a:p>
            <a:r>
              <a:rPr lang="ru-RU" sz="2800" dirty="0"/>
              <a:t>Таблица остатков и оборотов по счетам. Добавили не балансовое измерение «Подразделение».</a:t>
            </a:r>
          </a:p>
        </p:txBody>
      </p:sp>
      <p:graphicFrame>
        <p:nvGraphicFramePr>
          <p:cNvPr id="27" name="Таблица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5408795"/>
              </p:ext>
            </p:extLst>
          </p:nvPr>
        </p:nvGraphicFramePr>
        <p:xfrm>
          <a:off x="215998" y="1800000"/>
          <a:ext cx="8164520" cy="3982720"/>
        </p:xfrm>
        <a:graphic>
          <a:graphicData uri="http://schemas.openxmlformats.org/drawingml/2006/table">
            <a:tbl>
              <a:tblPr/>
              <a:tblGrid>
                <a:gridCol w="990371">
                  <a:extLst>
                    <a:ext uri="{9D8B030D-6E8A-4147-A177-3AD203B41FA5}">
                      <a16:colId xmlns:a16="http://schemas.microsoft.com/office/drawing/2014/main" val="2010352026"/>
                    </a:ext>
                  </a:extLst>
                </a:gridCol>
                <a:gridCol w="1392961">
                  <a:extLst>
                    <a:ext uri="{9D8B030D-6E8A-4147-A177-3AD203B41FA5}">
                      <a16:colId xmlns:a16="http://schemas.microsoft.com/office/drawing/2014/main" val="1171622462"/>
                    </a:ext>
                  </a:extLst>
                </a:gridCol>
                <a:gridCol w="1181601">
                  <a:extLst>
                    <a:ext uri="{9D8B030D-6E8A-4147-A177-3AD203B41FA5}">
                      <a16:colId xmlns:a16="http://schemas.microsoft.com/office/drawing/2014/main" val="1065574503"/>
                    </a:ext>
                  </a:extLst>
                </a:gridCol>
                <a:gridCol w="1181601">
                  <a:extLst>
                    <a:ext uri="{9D8B030D-6E8A-4147-A177-3AD203B41FA5}">
                      <a16:colId xmlns:a16="http://schemas.microsoft.com/office/drawing/2014/main" val="3940109826"/>
                    </a:ext>
                  </a:extLst>
                </a:gridCol>
                <a:gridCol w="795115">
                  <a:extLst>
                    <a:ext uri="{9D8B030D-6E8A-4147-A177-3AD203B41FA5}">
                      <a16:colId xmlns:a16="http://schemas.microsoft.com/office/drawing/2014/main" val="817576893"/>
                    </a:ext>
                  </a:extLst>
                </a:gridCol>
                <a:gridCol w="980306">
                  <a:extLst>
                    <a:ext uri="{9D8B030D-6E8A-4147-A177-3AD203B41FA5}">
                      <a16:colId xmlns:a16="http://schemas.microsoft.com/office/drawing/2014/main" val="3162757511"/>
                    </a:ext>
                  </a:extLst>
                </a:gridCol>
                <a:gridCol w="962189">
                  <a:extLst>
                    <a:ext uri="{9D8B030D-6E8A-4147-A177-3AD203B41FA5}">
                      <a16:colId xmlns:a16="http://schemas.microsoft.com/office/drawing/2014/main" val="3019141027"/>
                    </a:ext>
                  </a:extLst>
                </a:gridCol>
                <a:gridCol w="680376">
                  <a:extLst>
                    <a:ext uri="{9D8B030D-6E8A-4147-A177-3AD203B41FA5}">
                      <a16:colId xmlns:a16="http://schemas.microsoft.com/office/drawing/2014/main" val="3981090663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Подразделение</a:t>
                      </a:r>
                      <a:endParaRPr lang="x-none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787094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23865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5159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-6200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33001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33217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kern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Основное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3700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3700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0186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-6400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817945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kern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Основное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47750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kern="1200" dirty="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Основное</a:t>
                      </a:r>
                      <a:endParaRPr lang="x-none" sz="1200" kern="1200" dirty="0">
                        <a:solidFill>
                          <a:srgbClr val="C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9185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kern="1200" dirty="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Основное</a:t>
                      </a:r>
                      <a:endParaRPr lang="x-none" sz="1200" kern="1200" dirty="0">
                        <a:solidFill>
                          <a:srgbClr val="C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-6200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71426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kern="1200" dirty="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Основное</a:t>
                      </a:r>
                      <a:endParaRPr lang="x-none" sz="1200" kern="1200" dirty="0">
                        <a:solidFill>
                          <a:srgbClr val="C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50193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kern="1200" dirty="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Основное</a:t>
                      </a:r>
                      <a:endParaRPr lang="x-none" sz="1200" kern="1200" dirty="0">
                        <a:solidFill>
                          <a:srgbClr val="C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3700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62937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kern="1200" dirty="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Администрация</a:t>
                      </a:r>
                      <a:endParaRPr lang="x-none" sz="1200" kern="1200" dirty="0">
                        <a:solidFill>
                          <a:srgbClr val="C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-6400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4919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kern="1200" dirty="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Основное</a:t>
                      </a:r>
                      <a:endParaRPr lang="x-none" sz="1200" kern="1200" dirty="0">
                        <a:solidFill>
                          <a:srgbClr val="C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53564757"/>
                  </a:ext>
                </a:extLst>
              </a:tr>
            </a:tbl>
          </a:graphicData>
        </a:graphic>
      </p:graphicFrame>
      <p:sp>
        <p:nvSpPr>
          <p:cNvPr id="28" name="Rounded Rectangle 3"/>
          <p:cNvSpPr/>
          <p:nvPr/>
        </p:nvSpPr>
        <p:spPr>
          <a:xfrm>
            <a:off x="3728621" y="1757780"/>
            <a:ext cx="1269507" cy="4136994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163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2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25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7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8" grpId="1" animBg="1"/>
      <p:bldP spid="28" grpId="2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83961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оборотов между счетами до изменения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986129"/>
              </p:ext>
            </p:extLst>
          </p:nvPr>
        </p:nvGraphicFramePr>
        <p:xfrm>
          <a:off x="216000" y="2160000"/>
          <a:ext cx="5505604" cy="1422400"/>
        </p:xfrm>
        <a:graphic>
          <a:graphicData uri="http://schemas.openxmlformats.org/drawingml/2006/table">
            <a:tbl>
              <a:tblPr/>
              <a:tblGrid>
                <a:gridCol w="899770">
                  <a:extLst>
                    <a:ext uri="{9D8B030D-6E8A-4147-A177-3AD203B41FA5}">
                      <a16:colId xmlns:a16="http://schemas.microsoft.com/office/drawing/2014/main" val="2415675964"/>
                    </a:ext>
                  </a:extLst>
                </a:gridCol>
                <a:gridCol w="1211580">
                  <a:extLst>
                    <a:ext uri="{9D8B030D-6E8A-4147-A177-3AD203B41FA5}">
                      <a16:colId xmlns:a16="http://schemas.microsoft.com/office/drawing/2014/main" val="3442329988"/>
                    </a:ext>
                  </a:extLst>
                </a:gridCol>
                <a:gridCol w="1265530">
                  <a:extLst>
                    <a:ext uri="{9D8B030D-6E8A-4147-A177-3AD203B41FA5}">
                      <a16:colId xmlns:a16="http://schemas.microsoft.com/office/drawing/2014/main" val="604910569"/>
                    </a:ext>
                  </a:extLst>
                </a:gridCol>
                <a:gridCol w="1073506">
                  <a:extLst>
                    <a:ext uri="{9D8B030D-6E8A-4147-A177-3AD203B41FA5}">
                      <a16:colId xmlns:a16="http://schemas.microsoft.com/office/drawing/2014/main" val="2610576814"/>
                    </a:ext>
                  </a:extLst>
                </a:gridCol>
                <a:gridCol w="1055218">
                  <a:extLst>
                    <a:ext uri="{9D8B030D-6E8A-4147-A177-3AD203B41FA5}">
                      <a16:colId xmlns:a16="http://schemas.microsoft.com/office/drawing/2014/main" val="18840908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Счет Дебет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Счет Кредит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Сумма оборот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3472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23715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54221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3700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13403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34506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8292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1354477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оборотов между счетами. Добавили не балансовое измерение «Подразделение».</a:t>
            </a:r>
          </a:p>
        </p:txBody>
      </p:sp>
      <p:graphicFrame>
        <p:nvGraphicFramePr>
          <p:cNvPr id="13" name="Таблица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7007606"/>
              </p:ext>
            </p:extLst>
          </p:nvPr>
        </p:nvGraphicFramePr>
        <p:xfrm>
          <a:off x="216000" y="2160000"/>
          <a:ext cx="7886700" cy="1880568"/>
        </p:xfrm>
        <a:graphic>
          <a:graphicData uri="http://schemas.openxmlformats.org/drawingml/2006/table">
            <a:tbl>
              <a:tblPr/>
              <a:tblGrid>
                <a:gridCol w="886207">
                  <a:extLst>
                    <a:ext uri="{9D8B030D-6E8A-4147-A177-3AD203B41FA5}">
                      <a16:colId xmlns:a16="http://schemas.microsoft.com/office/drawing/2014/main" val="1009456720"/>
                    </a:ext>
                  </a:extLst>
                </a:gridCol>
                <a:gridCol w="1193317">
                  <a:extLst>
                    <a:ext uri="{9D8B030D-6E8A-4147-A177-3AD203B41FA5}">
                      <a16:colId xmlns:a16="http://schemas.microsoft.com/office/drawing/2014/main" val="3954959097"/>
                    </a:ext>
                  </a:extLst>
                </a:gridCol>
                <a:gridCol w="1246453">
                  <a:extLst>
                    <a:ext uri="{9D8B030D-6E8A-4147-A177-3AD203B41FA5}">
                      <a16:colId xmlns:a16="http://schemas.microsoft.com/office/drawing/2014/main" val="4035201061"/>
                    </a:ext>
                  </a:extLst>
                </a:gridCol>
                <a:gridCol w="1057324">
                  <a:extLst>
                    <a:ext uri="{9D8B030D-6E8A-4147-A177-3AD203B41FA5}">
                      <a16:colId xmlns:a16="http://schemas.microsoft.com/office/drawing/2014/main" val="1723259024"/>
                    </a:ext>
                  </a:extLst>
                </a:gridCol>
                <a:gridCol w="1241950">
                  <a:extLst>
                    <a:ext uri="{9D8B030D-6E8A-4147-A177-3AD203B41FA5}">
                      <a16:colId xmlns:a16="http://schemas.microsoft.com/office/drawing/2014/main" val="1002643505"/>
                    </a:ext>
                  </a:extLst>
                </a:gridCol>
                <a:gridCol w="1222137">
                  <a:extLst>
                    <a:ext uri="{9D8B030D-6E8A-4147-A177-3AD203B41FA5}">
                      <a16:colId xmlns:a16="http://schemas.microsoft.com/office/drawing/2014/main" val="4146078541"/>
                    </a:ext>
                  </a:extLst>
                </a:gridCol>
                <a:gridCol w="1039312">
                  <a:extLst>
                    <a:ext uri="{9D8B030D-6E8A-4147-A177-3AD203B41FA5}">
                      <a16:colId xmlns:a16="http://schemas.microsoft.com/office/drawing/2014/main" val="3177269431"/>
                    </a:ext>
                  </a:extLst>
                </a:gridCol>
              </a:tblGrid>
              <a:tr h="281359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 Дебет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 Кредит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Сумма оборот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6047306"/>
                  </a:ext>
                </a:extLst>
              </a:tr>
              <a:tr h="280192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Дт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Кт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1174843"/>
                  </a:ext>
                </a:extLst>
              </a:tr>
              <a:tr h="280192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717935"/>
                  </a:ext>
                </a:extLst>
              </a:tr>
              <a:tr h="280192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1118495"/>
                  </a:ext>
                </a:extLst>
              </a:tr>
              <a:tr h="280192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3700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9600938"/>
                  </a:ext>
                </a:extLst>
              </a:tr>
              <a:tr h="280192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3587430"/>
                  </a:ext>
                </a:extLst>
              </a:tr>
            </a:tbl>
          </a:graphicData>
        </a:graphic>
      </p:graphicFrame>
      <p:sp>
        <p:nvSpPr>
          <p:cNvPr id="14" name="Rounded Rectangle 3"/>
          <p:cNvSpPr/>
          <p:nvPr/>
        </p:nvSpPr>
        <p:spPr>
          <a:xfrm>
            <a:off x="4580877" y="1996869"/>
            <a:ext cx="2494625" cy="2206829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61722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25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4" grpId="2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Обычная аналитика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Субконто</a:t>
            </a:r>
          </a:p>
        </p:txBody>
      </p:sp>
    </p:spTree>
    <p:extLst>
      <p:ext uri="{BB962C8B-B14F-4D97-AF65-F5344CB8AC3E}">
        <p14:creationId xmlns:p14="http://schemas.microsoft.com/office/powerpoint/2010/main" val="2653020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Объект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8179262"/>
              </p:ext>
            </p:extLst>
          </p:nvPr>
        </p:nvGraphicFramePr>
        <p:xfrm>
          <a:off x="185738" y="1268413"/>
          <a:ext cx="8783635" cy="230124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756727">
                  <a:extLst>
                    <a:ext uri="{9D8B030D-6E8A-4147-A177-3AD203B41FA5}">
                      <a16:colId xmlns:a16="http://schemas.microsoft.com/office/drawing/2014/main" val="3913589334"/>
                    </a:ext>
                  </a:extLst>
                </a:gridCol>
                <a:gridCol w="1756727">
                  <a:extLst>
                    <a:ext uri="{9D8B030D-6E8A-4147-A177-3AD203B41FA5}">
                      <a16:colId xmlns:a16="http://schemas.microsoft.com/office/drawing/2014/main" val="53989606"/>
                    </a:ext>
                  </a:extLst>
                </a:gridCol>
                <a:gridCol w="1756727">
                  <a:extLst>
                    <a:ext uri="{9D8B030D-6E8A-4147-A177-3AD203B41FA5}">
                      <a16:colId xmlns:a16="http://schemas.microsoft.com/office/drawing/2014/main" val="2457218816"/>
                    </a:ext>
                  </a:extLst>
                </a:gridCol>
                <a:gridCol w="962636">
                  <a:extLst>
                    <a:ext uri="{9D8B030D-6E8A-4147-A177-3AD203B41FA5}">
                      <a16:colId xmlns:a16="http://schemas.microsoft.com/office/drawing/2014/main" val="2851435545"/>
                    </a:ext>
                  </a:extLst>
                </a:gridCol>
                <a:gridCol w="2550818">
                  <a:extLst>
                    <a:ext uri="{9D8B030D-6E8A-4147-A177-3AD203B41FA5}">
                      <a16:colId xmlns:a16="http://schemas.microsoft.com/office/drawing/2014/main" val="31730162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Дебет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Кредит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Сумма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Примечание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4518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  <a:r>
                        <a:rPr lang="ru-RU" baseline="0" dirty="0"/>
                        <a:t> от ООО «Лето»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4891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Груши </a:t>
                      </a:r>
                      <a:r>
                        <a:rPr lang="ru-RU"/>
                        <a:t>от ЗАО «Север»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1496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41.12365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60.423123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6549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Что-то пришло от кого-то (надо посмотреть в какую-</a:t>
                      </a:r>
                      <a:r>
                        <a:rPr lang="ru-RU" baseline="0" dirty="0"/>
                        <a:t>то таблицу соответствий)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1295921"/>
                  </a:ext>
                </a:extLst>
              </a:tr>
            </a:tbl>
          </a:graphicData>
        </a:graphic>
      </p:graphicFrame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Аналитика на </a:t>
            </a:r>
            <a:r>
              <a:rPr lang="ru-RU" dirty="0" err="1"/>
              <a:t>субсчетах</a:t>
            </a:r>
            <a:r>
              <a:rPr lang="ru-RU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166163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Объект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16738728"/>
              </p:ext>
            </p:extLst>
          </p:nvPr>
        </p:nvGraphicFramePr>
        <p:xfrm>
          <a:off x="185738" y="1268413"/>
          <a:ext cx="8783635" cy="283464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495580">
                  <a:extLst>
                    <a:ext uri="{9D8B030D-6E8A-4147-A177-3AD203B41FA5}">
                      <a16:colId xmlns:a16="http://schemas.microsoft.com/office/drawing/2014/main" val="3913589334"/>
                    </a:ext>
                  </a:extLst>
                </a:gridCol>
                <a:gridCol w="1290917">
                  <a:extLst>
                    <a:ext uri="{9D8B030D-6E8A-4147-A177-3AD203B41FA5}">
                      <a16:colId xmlns:a16="http://schemas.microsoft.com/office/drawing/2014/main" val="53989606"/>
                    </a:ext>
                  </a:extLst>
                </a:gridCol>
                <a:gridCol w="15329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0565">
                  <a:extLst>
                    <a:ext uri="{9D8B030D-6E8A-4147-A177-3AD203B41FA5}">
                      <a16:colId xmlns:a16="http://schemas.microsoft.com/office/drawing/2014/main" val="2457218816"/>
                    </a:ext>
                  </a:extLst>
                </a:gridCol>
                <a:gridCol w="15739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87597">
                  <a:extLst>
                    <a:ext uri="{9D8B030D-6E8A-4147-A177-3AD203B41FA5}">
                      <a16:colId xmlns:a16="http://schemas.microsoft.com/office/drawing/2014/main" val="2851435545"/>
                    </a:ext>
                  </a:extLst>
                </a:gridCol>
                <a:gridCol w="1822013">
                  <a:extLst>
                    <a:ext uri="{9D8B030D-6E8A-4147-A177-3AD203B41FA5}">
                      <a16:colId xmlns:a16="http://schemas.microsoft.com/office/drawing/2014/main" val="31730162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Дебет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Субконто 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Кредит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Субконто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Сумма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Примечание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4518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&lt;Яблоки&gt;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&lt;Лето&gt;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  <a:r>
                        <a:rPr lang="ru-RU" baseline="0" dirty="0"/>
                        <a:t> от ООО «Лето»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4891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&lt;Груши&gt;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&lt;Север&gt;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Груши </a:t>
                      </a:r>
                      <a:r>
                        <a:rPr lang="ru-RU"/>
                        <a:t>от ЗАО «Север»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1496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&lt;Лето&gt;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Оплата за</a:t>
                      </a:r>
                      <a:r>
                        <a:rPr lang="ru-RU" baseline="0" dirty="0"/>
                        <a:t> яблоки фирме ООО «Лето»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1295921"/>
                  </a:ext>
                </a:extLst>
              </a:tr>
            </a:tbl>
          </a:graphicData>
        </a:graphic>
      </p:graphicFrame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Аналитика на субконто </a:t>
            </a:r>
          </a:p>
        </p:txBody>
      </p:sp>
    </p:spTree>
    <p:extLst>
      <p:ext uri="{BB962C8B-B14F-4D97-AF65-F5344CB8AC3E}">
        <p14:creationId xmlns:p14="http://schemas.microsoft.com/office/powerpoint/2010/main" val="27840426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04062"/>
          </a:xfrm>
        </p:spPr>
        <p:txBody>
          <a:bodyPr>
            <a:normAutofit fontScale="90000"/>
          </a:bodyPr>
          <a:lstStyle/>
          <a:p>
            <a:r>
              <a:rPr lang="ru-RU" dirty="0"/>
              <a:t>Ограничения аналитики, подключаемой через измерения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379644"/>
              </p:ext>
            </p:extLst>
          </p:nvPr>
        </p:nvGraphicFramePr>
        <p:xfrm>
          <a:off x="300944" y="1489595"/>
          <a:ext cx="8294831" cy="3609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5932">
                  <a:extLst>
                    <a:ext uri="{9D8B030D-6E8A-4147-A177-3AD203B41FA5}">
                      <a16:colId xmlns:a16="http://schemas.microsoft.com/office/drawing/2014/main" val="2266063812"/>
                    </a:ext>
                  </a:extLst>
                </a:gridCol>
                <a:gridCol w="756686">
                  <a:extLst>
                    <a:ext uri="{9D8B030D-6E8A-4147-A177-3AD203B41FA5}">
                      <a16:colId xmlns:a16="http://schemas.microsoft.com/office/drawing/2014/main" val="2791220509"/>
                    </a:ext>
                  </a:extLst>
                </a:gridCol>
                <a:gridCol w="699897">
                  <a:extLst>
                    <a:ext uri="{9D8B030D-6E8A-4147-A177-3AD203B41FA5}">
                      <a16:colId xmlns:a16="http://schemas.microsoft.com/office/drawing/2014/main" val="2522435371"/>
                    </a:ext>
                  </a:extLst>
                </a:gridCol>
                <a:gridCol w="735418">
                  <a:extLst>
                    <a:ext uri="{9D8B030D-6E8A-4147-A177-3AD203B41FA5}">
                      <a16:colId xmlns:a16="http://schemas.microsoft.com/office/drawing/2014/main" val="636661459"/>
                    </a:ext>
                  </a:extLst>
                </a:gridCol>
                <a:gridCol w="829483">
                  <a:extLst>
                    <a:ext uri="{9D8B030D-6E8A-4147-A177-3AD203B41FA5}">
                      <a16:colId xmlns:a16="http://schemas.microsoft.com/office/drawing/2014/main" val="3788954885"/>
                    </a:ext>
                  </a:extLst>
                </a:gridCol>
                <a:gridCol w="829483">
                  <a:extLst>
                    <a:ext uri="{9D8B030D-6E8A-4147-A177-3AD203B41FA5}">
                      <a16:colId xmlns:a16="http://schemas.microsoft.com/office/drawing/2014/main" val="531750761"/>
                    </a:ext>
                  </a:extLst>
                </a:gridCol>
                <a:gridCol w="829483">
                  <a:extLst>
                    <a:ext uri="{9D8B030D-6E8A-4147-A177-3AD203B41FA5}">
                      <a16:colId xmlns:a16="http://schemas.microsoft.com/office/drawing/2014/main" val="1726836656"/>
                    </a:ext>
                  </a:extLst>
                </a:gridCol>
                <a:gridCol w="829483">
                  <a:extLst>
                    <a:ext uri="{9D8B030D-6E8A-4147-A177-3AD203B41FA5}">
                      <a16:colId xmlns:a16="http://schemas.microsoft.com/office/drawing/2014/main" val="963257108"/>
                    </a:ext>
                  </a:extLst>
                </a:gridCol>
                <a:gridCol w="829483">
                  <a:extLst>
                    <a:ext uri="{9D8B030D-6E8A-4147-A177-3AD203B41FA5}">
                      <a16:colId xmlns:a16="http://schemas.microsoft.com/office/drawing/2014/main" val="2698150401"/>
                    </a:ext>
                  </a:extLst>
                </a:gridCol>
                <a:gridCol w="829483">
                  <a:extLst>
                    <a:ext uri="{9D8B030D-6E8A-4147-A177-3AD203B41FA5}">
                      <a16:colId xmlns:a16="http://schemas.microsoft.com/office/drawing/2014/main" val="4228883530"/>
                    </a:ext>
                  </a:extLst>
                </a:gridCol>
              </a:tblGrid>
              <a:tr h="2075408">
                <a:tc>
                  <a:txBody>
                    <a:bodyPr/>
                    <a:lstStyle/>
                    <a:p>
                      <a:r>
                        <a:rPr lang="ru-RU" dirty="0"/>
                        <a:t>Счет</a:t>
                      </a:r>
                      <a:r>
                        <a:rPr lang="ru-RU" baseline="0" dirty="0"/>
                        <a:t> Дт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800" dirty="0"/>
                        <a:t>Номенклатура Дт</a:t>
                      </a:r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/>
                        <a:t>Контрагенты Дт</a:t>
                      </a:r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/>
                        <a:t>Склады</a:t>
                      </a:r>
                      <a:r>
                        <a:rPr lang="ru-RU" baseline="0" dirty="0"/>
                        <a:t> Дт</a:t>
                      </a:r>
                      <a:endParaRPr lang="ru-RU" dirty="0"/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Счет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/>
                        <a:t>Номенклатура Кт</a:t>
                      </a:r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/>
                        <a:t>Контрагенты</a:t>
                      </a:r>
                      <a:r>
                        <a:rPr lang="ru-RU" baseline="0" dirty="0"/>
                        <a:t> Кт</a:t>
                      </a:r>
                      <a:endParaRPr lang="ru-RU" dirty="0"/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/>
                        <a:t>Склады</a:t>
                      </a:r>
                      <a:r>
                        <a:rPr lang="ru-RU" baseline="0" dirty="0"/>
                        <a:t> Кт</a:t>
                      </a:r>
                      <a:endParaRPr lang="ru-RU" dirty="0"/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266231"/>
                  </a:ext>
                </a:extLst>
              </a:tr>
              <a:tr h="1534584">
                <a:tc>
                  <a:txBody>
                    <a:bodyPr/>
                    <a:lstStyle/>
                    <a:p>
                      <a:r>
                        <a:rPr lang="ru-RU" dirty="0"/>
                        <a:t>&lt;Товары&gt;</a:t>
                      </a:r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&lt;Яблоки&gt;</a:t>
                      </a:r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&lt;…&gt;</a:t>
                      </a:r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&lt;Главный&gt;</a:t>
                      </a:r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&lt;…&gt;</a:t>
                      </a:r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&lt;Поставщики&gt;</a:t>
                      </a:r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&lt;…&gt;</a:t>
                      </a:r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&lt;Юг&gt;</a:t>
                      </a:r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&lt;…&gt;</a:t>
                      </a:r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&lt;…&gt;</a:t>
                      </a:r>
                    </a:p>
                  </a:txBody>
                  <a:tcPr vert="vert270"/>
                </a:tc>
                <a:extLst>
                  <a:ext uri="{0D108BD9-81ED-4DB2-BD59-A6C34878D82A}">
                    <a16:rowId xmlns:a16="http://schemas.microsoft.com/office/drawing/2014/main" val="216115194"/>
                  </a:ext>
                </a:extLst>
              </a:tr>
            </a:tbl>
          </a:graphicData>
        </a:graphic>
      </p:graphicFrame>
      <p:sp>
        <p:nvSpPr>
          <p:cNvPr id="6" name="Левая фигурная скобка 5"/>
          <p:cNvSpPr/>
          <p:nvPr/>
        </p:nvSpPr>
        <p:spPr>
          <a:xfrm rot="16200000">
            <a:off x="2758141" y="3776711"/>
            <a:ext cx="386814" cy="3032566"/>
          </a:xfrm>
          <a:prstGeom prst="leftBrac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Левая фигурная скобка 7"/>
          <p:cNvSpPr/>
          <p:nvPr/>
        </p:nvSpPr>
        <p:spPr>
          <a:xfrm rot="16200000">
            <a:off x="6626015" y="3776712"/>
            <a:ext cx="386814" cy="3032566"/>
          </a:xfrm>
          <a:prstGeom prst="lef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2951548" y="5671595"/>
            <a:ext cx="38659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70C0"/>
                </a:solidFill>
                <a:latin typeface="Arial Black" panose="020B0A04020102020204" pitchFamily="34" charset="0"/>
              </a:rPr>
              <a:t>Не пустые пустоты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C00000"/>
                </a:solidFill>
                <a:latin typeface="Arial Black" panose="020B0A04020102020204" pitchFamily="34" charset="0"/>
              </a:rPr>
              <a:t>«Выпадаем» из индекса</a:t>
            </a:r>
          </a:p>
        </p:txBody>
      </p:sp>
    </p:spTree>
    <p:extLst>
      <p:ext uri="{BB962C8B-B14F-4D97-AF65-F5344CB8AC3E}">
        <p14:creationId xmlns:p14="http://schemas.microsoft.com/office/powerpoint/2010/main" val="4265340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Хранение дополнительной информации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4441463"/>
              </p:ext>
            </p:extLst>
          </p:nvPr>
        </p:nvGraphicFramePr>
        <p:xfrm>
          <a:off x="453209" y="1659414"/>
          <a:ext cx="3416199" cy="1574800"/>
        </p:xfrm>
        <a:graphic>
          <a:graphicData uri="http://schemas.openxmlformats.org/drawingml/2006/table">
            <a:tbl>
              <a:tblPr/>
              <a:tblGrid>
                <a:gridCol w="758038">
                  <a:extLst>
                    <a:ext uri="{9D8B030D-6E8A-4147-A177-3AD203B41FA5}">
                      <a16:colId xmlns:a16="http://schemas.microsoft.com/office/drawing/2014/main" val="285066063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709195267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13176520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Наименование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024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Холодильник "Атлант"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616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Туфли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3417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Вино французское Бордо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4507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Холодильник "Стинол"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08127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34651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Реквизиты справочника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453209" y="1659414"/>
          <a:ext cx="3416199" cy="1574800"/>
        </p:xfrm>
        <a:graphic>
          <a:graphicData uri="http://schemas.openxmlformats.org/drawingml/2006/table">
            <a:tbl>
              <a:tblPr/>
              <a:tblGrid>
                <a:gridCol w="758038">
                  <a:extLst>
                    <a:ext uri="{9D8B030D-6E8A-4147-A177-3AD203B41FA5}">
                      <a16:colId xmlns:a16="http://schemas.microsoft.com/office/drawing/2014/main" val="285066063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709195267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13176520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Наименование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024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Холодильник "Атлант"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616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Туфли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3417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Вино французское Бордо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4507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Холодильник "Стинол"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0812782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0955724"/>
              </p:ext>
            </p:extLst>
          </p:nvPr>
        </p:nvGraphicFramePr>
        <p:xfrm>
          <a:off x="3869408" y="1659414"/>
          <a:ext cx="5192877" cy="1574800"/>
        </p:xfrm>
        <a:graphic>
          <a:graphicData uri="http://schemas.openxmlformats.org/drawingml/2006/table">
            <a:tbl>
              <a:tblPr/>
              <a:tblGrid>
                <a:gridCol w="1799872">
                  <a:extLst>
                    <a:ext uri="{9D8B030D-6E8A-4147-A177-3AD203B41FA5}">
                      <a16:colId xmlns:a16="http://schemas.microsoft.com/office/drawing/2014/main" val="646130818"/>
                    </a:ext>
                  </a:extLst>
                </a:gridCol>
                <a:gridCol w="856211">
                  <a:extLst>
                    <a:ext uri="{9D8B030D-6E8A-4147-A177-3AD203B41FA5}">
                      <a16:colId xmlns:a16="http://schemas.microsoft.com/office/drawing/2014/main" val="1100515599"/>
                    </a:ext>
                  </a:extLst>
                </a:gridCol>
                <a:gridCol w="931025">
                  <a:extLst>
                    <a:ext uri="{9D8B030D-6E8A-4147-A177-3AD203B41FA5}">
                      <a16:colId xmlns:a16="http://schemas.microsoft.com/office/drawing/2014/main" val="2167871973"/>
                    </a:ext>
                  </a:extLst>
                </a:gridCol>
                <a:gridCol w="1064029">
                  <a:extLst>
                    <a:ext uri="{9D8B030D-6E8A-4147-A177-3AD203B41FA5}">
                      <a16:colId xmlns:a16="http://schemas.microsoft.com/office/drawing/2014/main" val="1441268516"/>
                    </a:ext>
                  </a:extLst>
                </a:gridCol>
                <a:gridCol w="541740">
                  <a:extLst>
                    <a:ext uri="{9D8B030D-6E8A-4147-A177-3AD203B41FA5}">
                      <a16:colId xmlns:a16="http://schemas.microsoft.com/office/drawing/2014/main" val="308970125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Кол-во компрессоров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Тип Кожи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Размер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Год урожая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39499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1118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&lt;Люкс&gt;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«38»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1609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2015-01-01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46069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11685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82878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Много не пустых «пустот»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453209" y="1659414"/>
          <a:ext cx="3416199" cy="1574800"/>
        </p:xfrm>
        <a:graphic>
          <a:graphicData uri="http://schemas.openxmlformats.org/drawingml/2006/table">
            <a:tbl>
              <a:tblPr/>
              <a:tblGrid>
                <a:gridCol w="758038">
                  <a:extLst>
                    <a:ext uri="{9D8B030D-6E8A-4147-A177-3AD203B41FA5}">
                      <a16:colId xmlns:a16="http://schemas.microsoft.com/office/drawing/2014/main" val="285066063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709195267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13176520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Наименование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024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Холодильник "Атлант"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616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Туфли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3417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Вино французское Бордо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4507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Холодильник "Стинол"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0812782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09630"/>
              </p:ext>
            </p:extLst>
          </p:nvPr>
        </p:nvGraphicFramePr>
        <p:xfrm>
          <a:off x="3869408" y="1659414"/>
          <a:ext cx="5192877" cy="1574800"/>
        </p:xfrm>
        <a:graphic>
          <a:graphicData uri="http://schemas.openxmlformats.org/drawingml/2006/table">
            <a:tbl>
              <a:tblPr/>
              <a:tblGrid>
                <a:gridCol w="1799872">
                  <a:extLst>
                    <a:ext uri="{9D8B030D-6E8A-4147-A177-3AD203B41FA5}">
                      <a16:colId xmlns:a16="http://schemas.microsoft.com/office/drawing/2014/main" val="646130818"/>
                    </a:ext>
                  </a:extLst>
                </a:gridCol>
                <a:gridCol w="856211">
                  <a:extLst>
                    <a:ext uri="{9D8B030D-6E8A-4147-A177-3AD203B41FA5}">
                      <a16:colId xmlns:a16="http://schemas.microsoft.com/office/drawing/2014/main" val="1100515599"/>
                    </a:ext>
                  </a:extLst>
                </a:gridCol>
                <a:gridCol w="931025">
                  <a:extLst>
                    <a:ext uri="{9D8B030D-6E8A-4147-A177-3AD203B41FA5}">
                      <a16:colId xmlns:a16="http://schemas.microsoft.com/office/drawing/2014/main" val="2167871973"/>
                    </a:ext>
                  </a:extLst>
                </a:gridCol>
                <a:gridCol w="1064029">
                  <a:extLst>
                    <a:ext uri="{9D8B030D-6E8A-4147-A177-3AD203B41FA5}">
                      <a16:colId xmlns:a16="http://schemas.microsoft.com/office/drawing/2014/main" val="1441268516"/>
                    </a:ext>
                  </a:extLst>
                </a:gridCol>
                <a:gridCol w="541740">
                  <a:extLst>
                    <a:ext uri="{9D8B030D-6E8A-4147-A177-3AD203B41FA5}">
                      <a16:colId xmlns:a16="http://schemas.microsoft.com/office/drawing/2014/main" val="308970125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Кол-во компрессоров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Тип Кожи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Размер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Год урожая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39499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1118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&lt;Люкс&gt;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«38»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1609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2015-01-01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46069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1168599"/>
                  </a:ext>
                </a:extLst>
              </a:tr>
            </a:tbl>
          </a:graphicData>
        </a:graphic>
      </p:graphicFrame>
      <p:sp>
        <p:nvSpPr>
          <p:cNvPr id="2" name="Скругленный прямоугольник 1"/>
          <p:cNvSpPr/>
          <p:nvPr/>
        </p:nvSpPr>
        <p:spPr>
          <a:xfrm>
            <a:off x="3869408" y="2277688"/>
            <a:ext cx="1783247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3869408" y="2606322"/>
            <a:ext cx="1783247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5652656" y="1978430"/>
            <a:ext cx="856210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6544280" y="1978430"/>
            <a:ext cx="891624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6544280" y="2596704"/>
            <a:ext cx="891624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6544280" y="2934956"/>
            <a:ext cx="891624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7490104" y="1978430"/>
            <a:ext cx="988878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кругленный прямоугольник 12"/>
          <p:cNvSpPr/>
          <p:nvPr/>
        </p:nvSpPr>
        <p:spPr>
          <a:xfrm>
            <a:off x="7490104" y="2934956"/>
            <a:ext cx="988878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7490104" y="2286001"/>
            <a:ext cx="988878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Скругленный прямоугольник 14"/>
          <p:cNvSpPr/>
          <p:nvPr/>
        </p:nvSpPr>
        <p:spPr>
          <a:xfrm>
            <a:off x="5670362" y="2605017"/>
            <a:ext cx="856210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кругленный прямоугольник 15"/>
          <p:cNvSpPr/>
          <p:nvPr/>
        </p:nvSpPr>
        <p:spPr>
          <a:xfrm>
            <a:off x="5660970" y="2919615"/>
            <a:ext cx="856210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28293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Не оптимально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453209" y="1659414"/>
          <a:ext cx="3416199" cy="1574800"/>
        </p:xfrm>
        <a:graphic>
          <a:graphicData uri="http://schemas.openxmlformats.org/drawingml/2006/table">
            <a:tbl>
              <a:tblPr/>
              <a:tblGrid>
                <a:gridCol w="758038">
                  <a:extLst>
                    <a:ext uri="{9D8B030D-6E8A-4147-A177-3AD203B41FA5}">
                      <a16:colId xmlns:a16="http://schemas.microsoft.com/office/drawing/2014/main" val="285066063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709195267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13176520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Наименование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024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Холодильник "Атлант"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616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Туфли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3417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Вино французское Бордо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4507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Холодильник "Стинол"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0812782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2587750"/>
              </p:ext>
            </p:extLst>
          </p:nvPr>
        </p:nvGraphicFramePr>
        <p:xfrm>
          <a:off x="3869408" y="1659414"/>
          <a:ext cx="5192877" cy="1574800"/>
        </p:xfrm>
        <a:graphic>
          <a:graphicData uri="http://schemas.openxmlformats.org/drawingml/2006/table">
            <a:tbl>
              <a:tblPr/>
              <a:tblGrid>
                <a:gridCol w="1799872">
                  <a:extLst>
                    <a:ext uri="{9D8B030D-6E8A-4147-A177-3AD203B41FA5}">
                      <a16:colId xmlns:a16="http://schemas.microsoft.com/office/drawing/2014/main" val="646130818"/>
                    </a:ext>
                  </a:extLst>
                </a:gridCol>
                <a:gridCol w="856211">
                  <a:extLst>
                    <a:ext uri="{9D8B030D-6E8A-4147-A177-3AD203B41FA5}">
                      <a16:colId xmlns:a16="http://schemas.microsoft.com/office/drawing/2014/main" val="1100515599"/>
                    </a:ext>
                  </a:extLst>
                </a:gridCol>
                <a:gridCol w="931025">
                  <a:extLst>
                    <a:ext uri="{9D8B030D-6E8A-4147-A177-3AD203B41FA5}">
                      <a16:colId xmlns:a16="http://schemas.microsoft.com/office/drawing/2014/main" val="2167871973"/>
                    </a:ext>
                  </a:extLst>
                </a:gridCol>
                <a:gridCol w="1064029">
                  <a:extLst>
                    <a:ext uri="{9D8B030D-6E8A-4147-A177-3AD203B41FA5}">
                      <a16:colId xmlns:a16="http://schemas.microsoft.com/office/drawing/2014/main" val="1441268516"/>
                    </a:ext>
                  </a:extLst>
                </a:gridCol>
                <a:gridCol w="541740">
                  <a:extLst>
                    <a:ext uri="{9D8B030D-6E8A-4147-A177-3AD203B41FA5}">
                      <a16:colId xmlns:a16="http://schemas.microsoft.com/office/drawing/2014/main" val="308970125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Кол-во компрессоров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Тип Кожи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Размер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Год урожая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39499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1118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Люкс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38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1609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2015-01-01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46069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1168599"/>
                  </a:ext>
                </a:extLst>
              </a:tr>
            </a:tbl>
          </a:graphicData>
        </a:graphic>
      </p:graphicFrame>
      <p:sp>
        <p:nvSpPr>
          <p:cNvPr id="2" name="Умножение 1"/>
          <p:cNvSpPr/>
          <p:nvPr/>
        </p:nvSpPr>
        <p:spPr>
          <a:xfrm>
            <a:off x="4139738" y="640080"/>
            <a:ext cx="3973484" cy="3823854"/>
          </a:xfrm>
          <a:prstGeom prst="mathMultiply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6171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Индексы</a:t>
            </a:r>
            <a:endParaRPr lang="ru-RU" dirty="0"/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936598"/>
              </p:ext>
            </p:extLst>
          </p:nvPr>
        </p:nvGraphicFramePr>
        <p:xfrm>
          <a:off x="473343" y="1197331"/>
          <a:ext cx="4042563" cy="2651760"/>
        </p:xfrm>
        <a:graphic>
          <a:graphicData uri="http://schemas.openxmlformats.org/drawingml/2006/table">
            <a:tbl>
              <a:tblPr/>
              <a:tblGrid>
                <a:gridCol w="609905">
                  <a:extLst>
                    <a:ext uri="{9D8B030D-6E8A-4147-A177-3AD203B41FA5}">
                      <a16:colId xmlns:a16="http://schemas.microsoft.com/office/drawing/2014/main" val="1041756223"/>
                    </a:ext>
                  </a:extLst>
                </a:gridCol>
                <a:gridCol w="772668">
                  <a:extLst>
                    <a:ext uri="{9D8B030D-6E8A-4147-A177-3AD203B41FA5}">
                      <a16:colId xmlns:a16="http://schemas.microsoft.com/office/drawing/2014/main" val="2093987184"/>
                    </a:ext>
                  </a:extLst>
                </a:gridCol>
                <a:gridCol w="772668">
                  <a:extLst>
                    <a:ext uri="{9D8B030D-6E8A-4147-A177-3AD203B41FA5}">
                      <a16:colId xmlns:a16="http://schemas.microsoft.com/office/drawing/2014/main" val="1203034608"/>
                    </a:ext>
                  </a:extLst>
                </a:gridCol>
                <a:gridCol w="811073">
                  <a:extLst>
                    <a:ext uri="{9D8B030D-6E8A-4147-A177-3AD203B41FA5}">
                      <a16:colId xmlns:a16="http://schemas.microsoft.com/office/drawing/2014/main" val="919943021"/>
                    </a:ext>
                  </a:extLst>
                </a:gridCol>
                <a:gridCol w="1076249">
                  <a:extLst>
                    <a:ext uri="{9D8B030D-6E8A-4147-A177-3AD203B41FA5}">
                      <a16:colId xmlns:a16="http://schemas.microsoft.com/office/drawing/2014/main" val="33944505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</a:rPr>
                        <a:t>ID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Calibri" panose="020F0502020204030204" pitchFamily="34" charset="0"/>
                        </a:rPr>
                        <a:t>Поле 1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Поле 2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Поле 3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Поле 4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93845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В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 dirty="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23/02/2020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68403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01/01/2020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2533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Б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Ложь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 dirty="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14/02/2020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8305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В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Ложь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Calibri" panose="020F0502020204030204" pitchFamily="34" charset="0"/>
                        </a:rPr>
                        <a:t>22/04/2020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4133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Г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Ложь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Calibri" panose="020F0502020204030204" pitchFamily="34" charset="0"/>
                        </a:rPr>
                        <a:t>12/04/2020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63694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Б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Calibri" panose="020F0502020204030204" pitchFamily="34" charset="0"/>
                        </a:rPr>
                        <a:t>09/05/2020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89813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В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 dirty="0">
                          <a:solidFill>
                            <a:srgbClr val="FF00FF"/>
                          </a:solidFill>
                          <a:effectLst/>
                          <a:latin typeface="Calibri" panose="020F0502020204030204" pitchFamily="34" charset="0"/>
                        </a:rPr>
                        <a:t>08/03/2020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5085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Г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Ложь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Calibri" panose="020F0502020204030204" pitchFamily="34" charset="0"/>
                        </a:rPr>
                        <a:t>01/05/2020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0200966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9751508"/>
              </p:ext>
            </p:extLst>
          </p:nvPr>
        </p:nvGraphicFramePr>
        <p:xfrm>
          <a:off x="753744" y="3918486"/>
          <a:ext cx="1283818" cy="265176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936164683"/>
                    </a:ext>
                  </a:extLst>
                </a:gridCol>
                <a:gridCol w="506578">
                  <a:extLst>
                    <a:ext uri="{9D8B030D-6E8A-4147-A177-3AD203B41FA5}">
                      <a16:colId xmlns:a16="http://schemas.microsoft.com/office/drawing/2014/main" val="40848600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Calibri" panose="020F0502020204030204" pitchFamily="34" charset="0"/>
                        </a:rPr>
                        <a:t>Поле 1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</a:rPr>
                        <a:t>ID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070449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12768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Б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 dirty="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763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Б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8761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В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20631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В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645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В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896526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Г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86035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 dirty="0">
                          <a:effectLst/>
                          <a:latin typeface="Calibri" panose="020F0502020204030204" pitchFamily="34" charset="0"/>
                        </a:rPr>
                        <a:t>Г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 dirty="0"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3891486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0823058"/>
              </p:ext>
            </p:extLst>
          </p:nvPr>
        </p:nvGraphicFramePr>
        <p:xfrm>
          <a:off x="2149284" y="3918486"/>
          <a:ext cx="1283818" cy="265176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4172382452"/>
                    </a:ext>
                  </a:extLst>
                </a:gridCol>
                <a:gridCol w="506578">
                  <a:extLst>
                    <a:ext uri="{9D8B030D-6E8A-4147-A177-3AD203B41FA5}">
                      <a16:colId xmlns:a16="http://schemas.microsoft.com/office/drawing/2014/main" val="70472069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 dirty="0">
                          <a:effectLst/>
                          <a:latin typeface="Calibri" panose="020F0502020204030204" pitchFamily="34" charset="0"/>
                        </a:rPr>
                        <a:t>Поле 2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</a:rPr>
                        <a:t>ID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82876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911385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42793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5923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4977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03656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31393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 dirty="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1800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9799355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504497"/>
              </p:ext>
            </p:extLst>
          </p:nvPr>
        </p:nvGraphicFramePr>
        <p:xfrm>
          <a:off x="3544824" y="3918486"/>
          <a:ext cx="1333196" cy="2651760"/>
        </p:xfrm>
        <a:graphic>
          <a:graphicData uri="http://schemas.openxmlformats.org/drawingml/2006/table">
            <a:tbl>
              <a:tblPr/>
              <a:tblGrid>
                <a:gridCol w="826618">
                  <a:extLst>
                    <a:ext uri="{9D8B030D-6E8A-4147-A177-3AD203B41FA5}">
                      <a16:colId xmlns:a16="http://schemas.microsoft.com/office/drawing/2014/main" val="2925397903"/>
                    </a:ext>
                  </a:extLst>
                </a:gridCol>
                <a:gridCol w="506578">
                  <a:extLst>
                    <a:ext uri="{9D8B030D-6E8A-4147-A177-3AD203B41FA5}">
                      <a16:colId xmlns:a16="http://schemas.microsoft.com/office/drawing/2014/main" val="8660326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 dirty="0">
                          <a:effectLst/>
                          <a:latin typeface="Calibri" panose="020F0502020204030204" pitchFamily="34" charset="0"/>
                        </a:rPr>
                        <a:t>Поле 3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</a:rPr>
                        <a:t>ID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60086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Ложь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0676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Ложь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597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Ложь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08884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Ложь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356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2227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07466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19248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 dirty="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6177983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808401"/>
              </p:ext>
            </p:extLst>
          </p:nvPr>
        </p:nvGraphicFramePr>
        <p:xfrm>
          <a:off x="4989742" y="3918486"/>
          <a:ext cx="1703528" cy="2651760"/>
        </p:xfrm>
        <a:graphic>
          <a:graphicData uri="http://schemas.openxmlformats.org/drawingml/2006/table">
            <a:tbl>
              <a:tblPr/>
              <a:tblGrid>
                <a:gridCol w="1196950">
                  <a:extLst>
                    <a:ext uri="{9D8B030D-6E8A-4147-A177-3AD203B41FA5}">
                      <a16:colId xmlns:a16="http://schemas.microsoft.com/office/drawing/2014/main" val="1947766822"/>
                    </a:ext>
                  </a:extLst>
                </a:gridCol>
                <a:gridCol w="506578">
                  <a:extLst>
                    <a:ext uri="{9D8B030D-6E8A-4147-A177-3AD203B41FA5}">
                      <a16:colId xmlns:a16="http://schemas.microsoft.com/office/drawing/2014/main" val="2820065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Поле 4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</a:rPr>
                        <a:t>ID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7292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01/01/2020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97775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14/02/2020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34784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23/02/2020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39541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 defTabSz="914400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 kern="1200" dirty="0">
                          <a:solidFill>
                            <a:srgbClr val="FF00FF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08/03/2020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9174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22/04/2020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3935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12/04/2020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5259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01/05/2020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64356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09/05/2020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9394873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4884885"/>
              </p:ext>
            </p:extLst>
          </p:nvPr>
        </p:nvGraphicFramePr>
        <p:xfrm>
          <a:off x="4878020" y="1197807"/>
          <a:ext cx="4035248" cy="265176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3761687609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3593800706"/>
                    </a:ext>
                  </a:extLst>
                </a:gridCol>
                <a:gridCol w="826618">
                  <a:extLst>
                    <a:ext uri="{9D8B030D-6E8A-4147-A177-3AD203B41FA5}">
                      <a16:colId xmlns:a16="http://schemas.microsoft.com/office/drawing/2014/main" val="3578592901"/>
                    </a:ext>
                  </a:extLst>
                </a:gridCol>
                <a:gridCol w="1196950">
                  <a:extLst>
                    <a:ext uri="{9D8B030D-6E8A-4147-A177-3AD203B41FA5}">
                      <a16:colId xmlns:a16="http://schemas.microsoft.com/office/drawing/2014/main" val="2872054828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131870105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Calibri" panose="020F0502020204030204" pitchFamily="34" charset="0"/>
                        </a:rPr>
                        <a:t>Поле 1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Поле 2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Поле 3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Поле 4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</a:rPr>
                        <a:t>ID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75839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01/01/2020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71980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Б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Ложь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14/02/2020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59977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Б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09/05/2020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34491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В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Ложь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22/04/2020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2702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В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23/02/2020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36840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В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fontAlgn="t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 kern="1200" dirty="0">
                          <a:solidFill>
                            <a:srgbClr val="FF00FF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08/03/2020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87081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Г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Ложь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12/04/2020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99843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Г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Ложь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>
                          <a:effectLst/>
                          <a:latin typeface="Calibri" panose="020F0502020204030204" pitchFamily="34" charset="0"/>
                        </a:rPr>
                        <a:t>01/05/2020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600" dirty="0"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38100" marR="38100" marT="25400" marB="254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6352950"/>
                  </a:ext>
                </a:extLst>
              </a:tr>
            </a:tbl>
          </a:graphicData>
        </a:graphic>
      </p:graphicFrame>
      <p:sp>
        <p:nvSpPr>
          <p:cNvPr id="9" name="Rectangle 1"/>
          <p:cNvSpPr>
            <a:spLocks noChangeArrowheads="1"/>
          </p:cNvSpPr>
          <p:nvPr/>
        </p:nvSpPr>
        <p:spPr bwMode="auto">
          <a:xfrm>
            <a:off x="6230630" y="904943"/>
            <a:ext cx="2682638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Комплексный индекс</a:t>
            </a: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Rectangle 1"/>
          <p:cNvSpPr>
            <a:spLocks noChangeArrowheads="1"/>
          </p:cNvSpPr>
          <p:nvPr/>
        </p:nvSpPr>
        <p:spPr bwMode="auto">
          <a:xfrm>
            <a:off x="473343" y="904943"/>
            <a:ext cx="2682638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1600" dirty="0">
                <a:latin typeface="Calibri" panose="020F0502020204030204" pitchFamily="34" charset="0"/>
                <a:cs typeface="Calibri" panose="020F0502020204030204" pitchFamily="34" charset="0"/>
              </a:rPr>
              <a:t>Таблица с данными</a:t>
            </a:r>
          </a:p>
        </p:txBody>
      </p:sp>
    </p:spTree>
    <p:extLst>
      <p:ext uri="{BB962C8B-B14F-4D97-AF65-F5344CB8AC3E}">
        <p14:creationId xmlns:p14="http://schemas.microsoft.com/office/powerpoint/2010/main" val="11715638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57812"/>
          </a:xfrm>
        </p:spPr>
        <p:txBody>
          <a:bodyPr>
            <a:normAutofit fontScale="90000"/>
          </a:bodyPr>
          <a:lstStyle/>
          <a:p>
            <a:r>
              <a:rPr lang="ru-RU" dirty="0"/>
              <a:t>Хранение дополнительной информации в отдельной таблице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453209" y="1659414"/>
          <a:ext cx="3416199" cy="1574800"/>
        </p:xfrm>
        <a:graphic>
          <a:graphicData uri="http://schemas.openxmlformats.org/drawingml/2006/table">
            <a:tbl>
              <a:tblPr/>
              <a:tblGrid>
                <a:gridCol w="758038">
                  <a:extLst>
                    <a:ext uri="{9D8B030D-6E8A-4147-A177-3AD203B41FA5}">
                      <a16:colId xmlns:a16="http://schemas.microsoft.com/office/drawing/2014/main" val="285066063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709195267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13176520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Наименование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024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Холодильник "Атлант"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616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Туфли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3417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Вино французское Бордо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4507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Холодильник "Стинол"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0812782"/>
                  </a:ext>
                </a:extLst>
              </a:tr>
            </a:tbl>
          </a:graphicData>
        </a:graphic>
      </p:graphicFrame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8459157"/>
              </p:ext>
            </p:extLst>
          </p:nvPr>
        </p:nvGraphicFramePr>
        <p:xfrm>
          <a:off x="4031673" y="1659414"/>
          <a:ext cx="4838006" cy="2103120"/>
        </p:xfrm>
        <a:graphic>
          <a:graphicData uri="http://schemas.openxmlformats.org/drawingml/2006/table">
            <a:tbl>
              <a:tblPr/>
              <a:tblGrid>
                <a:gridCol w="829687">
                  <a:extLst>
                    <a:ext uri="{9D8B030D-6E8A-4147-A177-3AD203B41FA5}">
                      <a16:colId xmlns:a16="http://schemas.microsoft.com/office/drawing/2014/main" val="1631520698"/>
                    </a:ext>
                  </a:extLst>
                </a:gridCol>
                <a:gridCol w="1919426">
                  <a:extLst>
                    <a:ext uri="{9D8B030D-6E8A-4147-A177-3AD203B41FA5}">
                      <a16:colId xmlns:a16="http://schemas.microsoft.com/office/drawing/2014/main" val="3792633718"/>
                    </a:ext>
                  </a:extLst>
                </a:gridCol>
                <a:gridCol w="2088893">
                  <a:extLst>
                    <a:ext uri="{9D8B030D-6E8A-4147-A177-3AD203B41FA5}">
                      <a16:colId xmlns:a16="http://schemas.microsoft.com/office/drawing/2014/main" val="276577209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Имя Реквизита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Значение (составной тип)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99164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Кол-во компрессоров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77308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Тип Кожи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&lt;Люкс&gt;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27500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Размер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«38»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05256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Год урожая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2015-01-01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34684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Кол-во </a:t>
                      </a:r>
                      <a:br>
                        <a:rPr lang="ru-RU" sz="1400"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компрессоров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37762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18754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57812"/>
          </a:xfrm>
        </p:spPr>
        <p:txBody>
          <a:bodyPr>
            <a:normAutofit fontScale="90000"/>
          </a:bodyPr>
          <a:lstStyle/>
          <a:p>
            <a:r>
              <a:rPr lang="ru-RU" dirty="0"/>
              <a:t>Хранение дополнительной информации в отдельной таблице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453209" y="1659414"/>
          <a:ext cx="3416199" cy="1574800"/>
        </p:xfrm>
        <a:graphic>
          <a:graphicData uri="http://schemas.openxmlformats.org/drawingml/2006/table">
            <a:tbl>
              <a:tblPr/>
              <a:tblGrid>
                <a:gridCol w="758038">
                  <a:extLst>
                    <a:ext uri="{9D8B030D-6E8A-4147-A177-3AD203B41FA5}">
                      <a16:colId xmlns:a16="http://schemas.microsoft.com/office/drawing/2014/main" val="285066063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709195267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13176520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Наименование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024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Холодильник "Атлант"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616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Туфли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3417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Вино французское Бордо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4507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Холодильник "Стинол"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0812782"/>
                  </a:ext>
                </a:extLst>
              </a:tr>
            </a:tbl>
          </a:graphicData>
        </a:graphic>
      </p:graphicFrame>
      <p:graphicFrame>
        <p:nvGraphicFramePr>
          <p:cNvPr id="2" name="Таблица 1"/>
          <p:cNvGraphicFramePr>
            <a:graphicFrameLocks noGrp="1"/>
          </p:cNvGraphicFramePr>
          <p:nvPr/>
        </p:nvGraphicFramePr>
        <p:xfrm>
          <a:off x="4031673" y="1659414"/>
          <a:ext cx="4838006" cy="2103120"/>
        </p:xfrm>
        <a:graphic>
          <a:graphicData uri="http://schemas.openxmlformats.org/drawingml/2006/table">
            <a:tbl>
              <a:tblPr/>
              <a:tblGrid>
                <a:gridCol w="829687">
                  <a:extLst>
                    <a:ext uri="{9D8B030D-6E8A-4147-A177-3AD203B41FA5}">
                      <a16:colId xmlns:a16="http://schemas.microsoft.com/office/drawing/2014/main" val="1631520698"/>
                    </a:ext>
                  </a:extLst>
                </a:gridCol>
                <a:gridCol w="1919426">
                  <a:extLst>
                    <a:ext uri="{9D8B030D-6E8A-4147-A177-3AD203B41FA5}">
                      <a16:colId xmlns:a16="http://schemas.microsoft.com/office/drawing/2014/main" val="3792633718"/>
                    </a:ext>
                  </a:extLst>
                </a:gridCol>
                <a:gridCol w="2088893">
                  <a:extLst>
                    <a:ext uri="{9D8B030D-6E8A-4147-A177-3AD203B41FA5}">
                      <a16:colId xmlns:a16="http://schemas.microsoft.com/office/drawing/2014/main" val="276577209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Имя Реквизита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Значение (составной тип)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99164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Кол-во компрессоров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77308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Тип Кожи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&lt;Люкс&gt;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27500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Размер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«38»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05256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Год урожая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2015-01-01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34684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Кол-во </a:t>
                      </a:r>
                      <a:br>
                        <a:rPr lang="ru-RU" sz="1400"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компрессоров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3776240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147156" y="4538749"/>
            <a:ext cx="5228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Здесь должна быть ссылка</a:t>
            </a:r>
          </a:p>
        </p:txBody>
      </p:sp>
      <p:sp>
        <p:nvSpPr>
          <p:cNvPr id="6" name="Стрелка углом 5"/>
          <p:cNvSpPr/>
          <p:nvPr/>
        </p:nvSpPr>
        <p:spPr>
          <a:xfrm rot="16200000" flipV="1">
            <a:off x="4562903" y="3410025"/>
            <a:ext cx="1111315" cy="1816331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059832" y="5002233"/>
            <a:ext cx="5549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Здесь </a:t>
            </a:r>
            <a:r>
              <a:rPr lang="ru-RU" dirty="0" smtClean="0"/>
              <a:t>значения разных типов</a:t>
            </a:r>
            <a:endParaRPr lang="ru-RU" dirty="0"/>
          </a:p>
        </p:txBody>
      </p:sp>
      <p:sp>
        <p:nvSpPr>
          <p:cNvPr id="8" name="Стрелка углом 7"/>
          <p:cNvSpPr/>
          <p:nvPr/>
        </p:nvSpPr>
        <p:spPr>
          <a:xfrm rot="16200000" flipV="1">
            <a:off x="6564973" y="3641766"/>
            <a:ext cx="1574800" cy="1816331"/>
          </a:xfrm>
          <a:prstGeom prst="bentArrow">
            <a:avLst>
              <a:gd name="adj1" fmla="val 17741"/>
              <a:gd name="adj2" fmla="val 18649"/>
              <a:gd name="adj3" fmla="val 19557"/>
              <a:gd name="adj4" fmla="val 437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Выноска 2 8"/>
          <p:cNvSpPr/>
          <p:nvPr/>
        </p:nvSpPr>
        <p:spPr>
          <a:xfrm>
            <a:off x="1168804" y="5551086"/>
            <a:ext cx="2268519" cy="792088"/>
          </a:xfrm>
          <a:prstGeom prst="borderCallout2">
            <a:avLst>
              <a:gd name="adj1" fmla="val 64446"/>
              <a:gd name="adj2" fmla="val 107133"/>
              <a:gd name="adj3" fmla="val 63243"/>
              <a:gd name="adj4" fmla="val 135749"/>
              <a:gd name="adj5" fmla="val -24587"/>
              <a:gd name="adj6" fmla="val 16579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Это как ?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33332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75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5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 animBg="1"/>
      <p:bldP spid="7" grpId="0"/>
      <p:bldP spid="8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57812"/>
          </a:xfrm>
        </p:spPr>
        <p:txBody>
          <a:bodyPr>
            <a:normAutofit fontScale="90000"/>
          </a:bodyPr>
          <a:lstStyle/>
          <a:p>
            <a:r>
              <a:rPr lang="ru-RU" dirty="0"/>
              <a:t>Хранение дополнительной информации в отдельной таблице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453209" y="1659414"/>
          <a:ext cx="3416199" cy="1574800"/>
        </p:xfrm>
        <a:graphic>
          <a:graphicData uri="http://schemas.openxmlformats.org/drawingml/2006/table">
            <a:tbl>
              <a:tblPr/>
              <a:tblGrid>
                <a:gridCol w="758038">
                  <a:extLst>
                    <a:ext uri="{9D8B030D-6E8A-4147-A177-3AD203B41FA5}">
                      <a16:colId xmlns:a16="http://schemas.microsoft.com/office/drawing/2014/main" val="285066063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709195267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13176520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Наименование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024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Холодильник "Атлант"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616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Туфли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3417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Вино французское Бордо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4507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Холодильник "Стинол"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0812782"/>
                  </a:ext>
                </a:extLst>
              </a:tr>
            </a:tbl>
          </a:graphicData>
        </a:graphic>
      </p:graphicFrame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7862299"/>
              </p:ext>
            </p:extLst>
          </p:nvPr>
        </p:nvGraphicFramePr>
        <p:xfrm>
          <a:off x="4031673" y="1659414"/>
          <a:ext cx="4838006" cy="1889760"/>
        </p:xfrm>
        <a:graphic>
          <a:graphicData uri="http://schemas.openxmlformats.org/drawingml/2006/table">
            <a:tbl>
              <a:tblPr/>
              <a:tblGrid>
                <a:gridCol w="829687">
                  <a:extLst>
                    <a:ext uri="{9D8B030D-6E8A-4147-A177-3AD203B41FA5}">
                      <a16:colId xmlns:a16="http://schemas.microsoft.com/office/drawing/2014/main" val="1631520698"/>
                    </a:ext>
                  </a:extLst>
                </a:gridCol>
                <a:gridCol w="1919426">
                  <a:extLst>
                    <a:ext uri="{9D8B030D-6E8A-4147-A177-3AD203B41FA5}">
                      <a16:colId xmlns:a16="http://schemas.microsoft.com/office/drawing/2014/main" val="3792633718"/>
                    </a:ext>
                  </a:extLst>
                </a:gridCol>
                <a:gridCol w="2088893">
                  <a:extLst>
                    <a:ext uri="{9D8B030D-6E8A-4147-A177-3AD203B41FA5}">
                      <a16:colId xmlns:a16="http://schemas.microsoft.com/office/drawing/2014/main" val="276577209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Имя Реквизита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Значение (составной тип)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99164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&lt;ЖЖЖ&gt;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77308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&lt;ЖИИ&gt;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&lt;Люкс&gt;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27500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&lt;ЖЗЗ&gt;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«38»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05256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&lt;ЖШШ&gt;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2015-01-01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34684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&lt;ЖЖЖ&gt;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3776240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5805511"/>
              </p:ext>
            </p:extLst>
          </p:nvPr>
        </p:nvGraphicFramePr>
        <p:xfrm>
          <a:off x="453209" y="4412312"/>
          <a:ext cx="4871009" cy="1788160"/>
        </p:xfrm>
        <a:graphic>
          <a:graphicData uri="http://schemas.openxmlformats.org/drawingml/2006/table">
            <a:tbl>
              <a:tblPr/>
              <a:tblGrid>
                <a:gridCol w="839419">
                  <a:extLst>
                    <a:ext uri="{9D8B030D-6E8A-4147-A177-3AD203B41FA5}">
                      <a16:colId xmlns:a16="http://schemas.microsoft.com/office/drawing/2014/main" val="3344630645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300079749"/>
                    </a:ext>
                  </a:extLst>
                </a:gridCol>
                <a:gridCol w="1350569">
                  <a:extLst>
                    <a:ext uri="{9D8B030D-6E8A-4147-A177-3AD203B41FA5}">
                      <a16:colId xmlns:a16="http://schemas.microsoft.com/office/drawing/2014/main" val="836078279"/>
                    </a:ext>
                  </a:extLst>
                </a:gridCol>
                <a:gridCol w="2071116">
                  <a:extLst>
                    <a:ext uri="{9D8B030D-6E8A-4147-A177-3AD203B41FA5}">
                      <a16:colId xmlns:a16="http://schemas.microsoft.com/office/drawing/2014/main" val="34733382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Наименование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Тип значения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52130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&lt;ЖЖЖ&gt;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Кол-во </a:t>
                      </a:r>
                      <a:br>
                        <a:rPr lang="ru-RU" sz="1400"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компрессоров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Число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54637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&lt;ЖИИ&gt;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Тип Кожи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Ссылка на перечисление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8496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&lt;ЖЗЗ&gt;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Размер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Строка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41957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&lt;ЖШШ&gt;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Год урожая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Calibri" panose="020F0502020204030204" pitchFamily="34" charset="0"/>
                        </a:rPr>
                        <a:t>Дата</a:t>
                      </a:r>
                      <a:endParaRPr lang="ru-RU" sz="14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4650730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3209" y="3906982"/>
            <a:ext cx="3004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План видов характеристик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7233" y="3796077"/>
            <a:ext cx="3004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Связь по типу</a:t>
            </a:r>
          </a:p>
        </p:txBody>
      </p:sp>
      <p:sp>
        <p:nvSpPr>
          <p:cNvPr id="3" name="Развернутая стрелка 2"/>
          <p:cNvSpPr/>
          <p:nvPr/>
        </p:nvSpPr>
        <p:spPr>
          <a:xfrm rot="10800000">
            <a:off x="5640875" y="3615328"/>
            <a:ext cx="2038309" cy="698881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Стрелка вниз 5"/>
          <p:cNvSpPr/>
          <p:nvPr/>
        </p:nvSpPr>
        <p:spPr>
          <a:xfrm>
            <a:off x="4864964" y="3615328"/>
            <a:ext cx="343845" cy="660986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3147677" y="4314209"/>
            <a:ext cx="2400524" cy="2068836"/>
          </a:xfrm>
          <a:prstGeom prst="round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302529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93266"/>
          </a:xfrm>
        </p:spPr>
        <p:txBody>
          <a:bodyPr/>
          <a:lstStyle/>
          <a:p>
            <a:r>
              <a:rPr lang="ru-RU" dirty="0"/>
              <a:t>Хранение составного типа в базе данных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5085941"/>
              </p:ext>
            </p:extLst>
          </p:nvPr>
        </p:nvGraphicFramePr>
        <p:xfrm>
          <a:off x="295275" y="5048180"/>
          <a:ext cx="8596735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373">
                  <a:extLst>
                    <a:ext uri="{9D8B030D-6E8A-4147-A177-3AD203B41FA5}">
                      <a16:colId xmlns:a16="http://schemas.microsoft.com/office/drawing/2014/main" val="2665122891"/>
                    </a:ext>
                  </a:extLst>
                </a:gridCol>
                <a:gridCol w="1090670">
                  <a:extLst>
                    <a:ext uri="{9D8B030D-6E8A-4147-A177-3AD203B41FA5}">
                      <a16:colId xmlns:a16="http://schemas.microsoft.com/office/drawing/2014/main" val="3634049784"/>
                    </a:ext>
                  </a:extLst>
                </a:gridCol>
                <a:gridCol w="1233889">
                  <a:extLst>
                    <a:ext uri="{9D8B030D-6E8A-4147-A177-3AD203B41FA5}">
                      <a16:colId xmlns:a16="http://schemas.microsoft.com/office/drawing/2014/main" val="2755661369"/>
                    </a:ext>
                  </a:extLst>
                </a:gridCol>
                <a:gridCol w="1200839">
                  <a:extLst>
                    <a:ext uri="{9D8B030D-6E8A-4147-A177-3AD203B41FA5}">
                      <a16:colId xmlns:a16="http://schemas.microsoft.com/office/drawing/2014/main" val="1582707422"/>
                    </a:ext>
                  </a:extLst>
                </a:gridCol>
                <a:gridCol w="1180754">
                  <a:extLst>
                    <a:ext uri="{9D8B030D-6E8A-4147-A177-3AD203B41FA5}">
                      <a16:colId xmlns:a16="http://schemas.microsoft.com/office/drawing/2014/main" val="257742612"/>
                    </a:ext>
                  </a:extLst>
                </a:gridCol>
                <a:gridCol w="1228105">
                  <a:extLst>
                    <a:ext uri="{9D8B030D-6E8A-4147-A177-3AD203B41FA5}">
                      <a16:colId xmlns:a16="http://schemas.microsoft.com/office/drawing/2014/main" val="3880621152"/>
                    </a:ext>
                  </a:extLst>
                </a:gridCol>
                <a:gridCol w="1228105">
                  <a:extLst>
                    <a:ext uri="{9D8B030D-6E8A-4147-A177-3AD203B41FA5}">
                      <a16:colId xmlns:a16="http://schemas.microsoft.com/office/drawing/2014/main" val="26296618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Выбранный</a:t>
                      </a:r>
                      <a:r>
                        <a:rPr lang="ru-RU" baseline="0" dirty="0"/>
                        <a:t> тип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Число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Строка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Булево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Таблица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0624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322416"/>
                  </a:ext>
                </a:extLst>
              </a:tr>
            </a:tbl>
          </a:graphicData>
        </a:graphic>
      </p:graphicFrame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75" y="1119934"/>
            <a:ext cx="3067050" cy="3714750"/>
          </a:xfrm>
          <a:prstGeom prst="rect">
            <a:avLst/>
          </a:prstGeom>
        </p:spPr>
      </p:pic>
      <p:sp>
        <p:nvSpPr>
          <p:cNvPr id="6" name="Стрелка углом 5"/>
          <p:cNvSpPr/>
          <p:nvPr/>
        </p:nvSpPr>
        <p:spPr>
          <a:xfrm rot="5400000">
            <a:off x="3564567" y="2200487"/>
            <a:ext cx="2225408" cy="2415581"/>
          </a:xfrm>
          <a:prstGeom prst="bentArrow">
            <a:avLst>
              <a:gd name="adj1" fmla="val 10148"/>
              <a:gd name="adj2" fmla="val 16584"/>
              <a:gd name="adj3" fmla="val 19554"/>
              <a:gd name="adj4" fmla="val 437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2535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/>
          </p:nvPr>
        </p:nvGraphicFramePr>
        <p:xfrm>
          <a:off x="1532117" y="1120775"/>
          <a:ext cx="6096000" cy="222504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40396175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81385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«Наличие»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95460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2016-04-22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56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2890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&lt;Яблоки&gt;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4379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&lt;ООО</a:t>
                      </a:r>
                      <a:r>
                        <a:rPr lang="ru-RU" baseline="0" dirty="0"/>
                        <a:t> Юг&gt;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1875410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/>
          </p:nvPr>
        </p:nvGraphicFramePr>
        <p:xfrm>
          <a:off x="188120" y="3428702"/>
          <a:ext cx="8784002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5618">
                  <a:extLst>
                    <a:ext uri="{9D8B030D-6E8A-4147-A177-3AD203B41FA5}">
                      <a16:colId xmlns:a16="http://schemas.microsoft.com/office/drawing/2014/main" val="2665122891"/>
                    </a:ext>
                  </a:extLst>
                </a:gridCol>
                <a:gridCol w="857944">
                  <a:extLst>
                    <a:ext uri="{9D8B030D-6E8A-4147-A177-3AD203B41FA5}">
                      <a16:colId xmlns:a16="http://schemas.microsoft.com/office/drawing/2014/main" val="3634049784"/>
                    </a:ext>
                  </a:extLst>
                </a:gridCol>
                <a:gridCol w="1324379">
                  <a:extLst>
                    <a:ext uri="{9D8B030D-6E8A-4147-A177-3AD203B41FA5}">
                      <a16:colId xmlns:a16="http://schemas.microsoft.com/office/drawing/2014/main" val="2755661369"/>
                    </a:ext>
                  </a:extLst>
                </a:gridCol>
                <a:gridCol w="1324379">
                  <a:extLst>
                    <a:ext uri="{9D8B030D-6E8A-4147-A177-3AD203B41FA5}">
                      <a16:colId xmlns:a16="http://schemas.microsoft.com/office/drawing/2014/main" val="1582707422"/>
                    </a:ext>
                  </a:extLst>
                </a:gridCol>
                <a:gridCol w="923728">
                  <a:extLst>
                    <a:ext uri="{9D8B030D-6E8A-4147-A177-3AD203B41FA5}">
                      <a16:colId xmlns:a16="http://schemas.microsoft.com/office/drawing/2014/main" val="257742612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3880621152"/>
                    </a:ext>
                  </a:extLst>
                </a:gridCol>
                <a:gridCol w="1735826">
                  <a:extLst>
                    <a:ext uri="{9D8B030D-6E8A-4147-A177-3AD203B41FA5}">
                      <a16:colId xmlns:a16="http://schemas.microsoft.com/office/drawing/2014/main" val="26296618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Выбранный</a:t>
                      </a:r>
                      <a:r>
                        <a:rPr lang="ru-RU" baseline="0" dirty="0"/>
                        <a:t> тип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Число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Строка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Булево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Номер Таблицы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0624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Число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3224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Строка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«Наличие»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63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2016-04-22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413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Булево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3253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 smtClean="0"/>
                        <a:t>&lt;</a:t>
                      </a:r>
                      <a:r>
                        <a:rPr lang="en-US" dirty="0" smtClean="0"/>
                        <a:t>ID  </a:t>
                      </a:r>
                      <a:r>
                        <a:rPr lang="ru-RU" dirty="0" smtClean="0"/>
                        <a:t>«Яблоки»&gt;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3467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&lt;</a:t>
                      </a:r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«ООО</a:t>
                      </a:r>
                      <a:r>
                        <a:rPr lang="ru-RU" baseline="0" dirty="0" smtClean="0"/>
                        <a:t> Юг»&gt;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67144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795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83961"/>
          </a:xfrm>
        </p:spPr>
        <p:txBody>
          <a:bodyPr/>
          <a:lstStyle/>
          <a:p>
            <a:r>
              <a:rPr lang="ru-RU" dirty="0" smtClean="0"/>
              <a:t>Субконто в проводке глазами пользователя</a:t>
            </a:r>
            <a:endParaRPr lang="ru-RU" dirty="0"/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5081742"/>
              </p:ext>
            </p:extLst>
          </p:nvPr>
        </p:nvGraphicFramePr>
        <p:xfrm>
          <a:off x="188118" y="1578026"/>
          <a:ext cx="8784001" cy="1561490"/>
        </p:xfrm>
        <a:graphic>
          <a:graphicData uri="http://schemas.openxmlformats.org/drawingml/2006/table">
            <a:tbl>
              <a:tblPr/>
              <a:tblGrid>
                <a:gridCol w="1059197">
                  <a:extLst>
                    <a:ext uri="{9D8B030D-6E8A-4147-A177-3AD203B41FA5}">
                      <a16:colId xmlns:a16="http://schemas.microsoft.com/office/drawing/2014/main" val="4118754638"/>
                    </a:ext>
                  </a:extLst>
                </a:gridCol>
                <a:gridCol w="815226">
                  <a:extLst>
                    <a:ext uri="{9D8B030D-6E8A-4147-A177-3AD203B41FA5}">
                      <a16:colId xmlns:a16="http://schemas.microsoft.com/office/drawing/2014/main" val="1010810513"/>
                    </a:ext>
                  </a:extLst>
                </a:gridCol>
                <a:gridCol w="1399370">
                  <a:extLst>
                    <a:ext uri="{9D8B030D-6E8A-4147-A177-3AD203B41FA5}">
                      <a16:colId xmlns:a16="http://schemas.microsoft.com/office/drawing/2014/main" val="1513934296"/>
                    </a:ext>
                  </a:extLst>
                </a:gridCol>
                <a:gridCol w="1356725">
                  <a:extLst>
                    <a:ext uri="{9D8B030D-6E8A-4147-A177-3AD203B41FA5}">
                      <a16:colId xmlns:a16="http://schemas.microsoft.com/office/drawing/2014/main" val="1216033248"/>
                    </a:ext>
                  </a:extLst>
                </a:gridCol>
                <a:gridCol w="799356">
                  <a:extLst>
                    <a:ext uri="{9D8B030D-6E8A-4147-A177-3AD203B41FA5}">
                      <a16:colId xmlns:a16="http://schemas.microsoft.com/office/drawing/2014/main" val="1411409305"/>
                    </a:ext>
                  </a:extLst>
                </a:gridCol>
                <a:gridCol w="1337882">
                  <a:extLst>
                    <a:ext uri="{9D8B030D-6E8A-4147-A177-3AD203B41FA5}">
                      <a16:colId xmlns:a16="http://schemas.microsoft.com/office/drawing/2014/main" val="2178682804"/>
                    </a:ext>
                  </a:extLst>
                </a:gridCol>
                <a:gridCol w="1337882">
                  <a:extLst>
                    <a:ext uri="{9D8B030D-6E8A-4147-A177-3AD203B41FA5}">
                      <a16:colId xmlns:a16="http://schemas.microsoft.com/office/drawing/2014/main" val="3216493051"/>
                    </a:ext>
                  </a:extLst>
                </a:gridCol>
                <a:gridCol w="678363">
                  <a:extLst>
                    <a:ext uri="{9D8B030D-6E8A-4147-A177-3AD203B41FA5}">
                      <a16:colId xmlns:a16="http://schemas.microsoft.com/office/drawing/2014/main" val="1649106252"/>
                    </a:ext>
                  </a:extLst>
                </a:gridCol>
              </a:tblGrid>
              <a:tr h="30671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Проводка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Счет Дт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Субконто  Дт 1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Субконто Дт 2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Счет Кт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Субконто Кт 1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Субконто Кт 2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Сумма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0245990"/>
                  </a:ext>
                </a:extLst>
              </a:tr>
              <a:tr h="30671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&lt;Яблоки&gt;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solidFill>
                            <a:srgbClr val="B43512"/>
                          </a:solidFill>
                          <a:effectLst/>
                          <a:latin typeface="Calibri" panose="020F0502020204030204" pitchFamily="34" charset="0"/>
                        </a:rPr>
                        <a:t>&lt;Главный&gt;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&lt;Лето&gt;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1000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6301707"/>
                  </a:ext>
                </a:extLst>
              </a:tr>
              <a:tr h="30671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&lt;Лёд&gt;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&lt;Север&gt;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500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4050593"/>
                  </a:ext>
                </a:extLst>
              </a:tr>
              <a:tr h="30671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&lt;Груши&gt;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&lt;Запад&gt;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500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8634861"/>
                  </a:ext>
                </a:extLst>
              </a:tr>
              <a:tr h="30671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&lt;Лето&gt;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51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alibri" panose="020F0502020204030204" pitchFamily="34" charset="0"/>
                        </a:rPr>
                        <a:t>1000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6054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7537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83961"/>
          </a:xfrm>
        </p:spPr>
        <p:txBody>
          <a:bodyPr/>
          <a:lstStyle/>
          <a:p>
            <a:r>
              <a:rPr lang="ru-RU" dirty="0" smtClean="0"/>
              <a:t>Хранение субконто в отдельной таблице субконто</a:t>
            </a:r>
            <a:endParaRPr lang="ru-RU" dirty="0"/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00699"/>
              </p:ext>
            </p:extLst>
          </p:nvPr>
        </p:nvGraphicFramePr>
        <p:xfrm>
          <a:off x="188118" y="1578026"/>
          <a:ext cx="8784001" cy="1561490"/>
        </p:xfrm>
        <a:graphic>
          <a:graphicData uri="http://schemas.openxmlformats.org/drawingml/2006/table">
            <a:tbl>
              <a:tblPr/>
              <a:tblGrid>
                <a:gridCol w="1059197">
                  <a:extLst>
                    <a:ext uri="{9D8B030D-6E8A-4147-A177-3AD203B41FA5}">
                      <a16:colId xmlns:a16="http://schemas.microsoft.com/office/drawing/2014/main" val="4118754638"/>
                    </a:ext>
                  </a:extLst>
                </a:gridCol>
                <a:gridCol w="815226">
                  <a:extLst>
                    <a:ext uri="{9D8B030D-6E8A-4147-A177-3AD203B41FA5}">
                      <a16:colId xmlns:a16="http://schemas.microsoft.com/office/drawing/2014/main" val="1010810513"/>
                    </a:ext>
                  </a:extLst>
                </a:gridCol>
                <a:gridCol w="1399370">
                  <a:extLst>
                    <a:ext uri="{9D8B030D-6E8A-4147-A177-3AD203B41FA5}">
                      <a16:colId xmlns:a16="http://schemas.microsoft.com/office/drawing/2014/main" val="1513934296"/>
                    </a:ext>
                  </a:extLst>
                </a:gridCol>
                <a:gridCol w="1356725">
                  <a:extLst>
                    <a:ext uri="{9D8B030D-6E8A-4147-A177-3AD203B41FA5}">
                      <a16:colId xmlns:a16="http://schemas.microsoft.com/office/drawing/2014/main" val="1216033248"/>
                    </a:ext>
                  </a:extLst>
                </a:gridCol>
                <a:gridCol w="799356">
                  <a:extLst>
                    <a:ext uri="{9D8B030D-6E8A-4147-A177-3AD203B41FA5}">
                      <a16:colId xmlns:a16="http://schemas.microsoft.com/office/drawing/2014/main" val="1411409305"/>
                    </a:ext>
                  </a:extLst>
                </a:gridCol>
                <a:gridCol w="1337882">
                  <a:extLst>
                    <a:ext uri="{9D8B030D-6E8A-4147-A177-3AD203B41FA5}">
                      <a16:colId xmlns:a16="http://schemas.microsoft.com/office/drawing/2014/main" val="2178682804"/>
                    </a:ext>
                  </a:extLst>
                </a:gridCol>
                <a:gridCol w="1337882">
                  <a:extLst>
                    <a:ext uri="{9D8B030D-6E8A-4147-A177-3AD203B41FA5}">
                      <a16:colId xmlns:a16="http://schemas.microsoft.com/office/drawing/2014/main" val="3216493051"/>
                    </a:ext>
                  </a:extLst>
                </a:gridCol>
                <a:gridCol w="678363">
                  <a:extLst>
                    <a:ext uri="{9D8B030D-6E8A-4147-A177-3AD203B41FA5}">
                      <a16:colId xmlns:a16="http://schemas.microsoft.com/office/drawing/2014/main" val="1649106252"/>
                    </a:ext>
                  </a:extLst>
                </a:gridCol>
              </a:tblGrid>
              <a:tr h="30671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Проводка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Счет Дт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Субконто  Дт 1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Субконто Дт 2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Счет Кт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Субконто Кт 1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Субконто Кт 2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Сумма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0245990"/>
                  </a:ext>
                </a:extLst>
              </a:tr>
              <a:tr h="30671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&lt;Яблоки&gt;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B43512"/>
                          </a:solidFill>
                          <a:effectLst/>
                          <a:latin typeface="Calibri" panose="020F0502020204030204" pitchFamily="34" charset="0"/>
                        </a:rPr>
                        <a:t>&lt;Главный&gt;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&lt;Лето&gt;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1000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6301707"/>
                  </a:ext>
                </a:extLst>
              </a:tr>
              <a:tr h="30671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&lt;Лёд&gt;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&lt;Север&gt;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500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4050593"/>
                  </a:ext>
                </a:extLst>
              </a:tr>
              <a:tr h="30671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&lt;Груши&gt;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&lt;Запад&gt;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500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8634861"/>
                  </a:ext>
                </a:extLst>
              </a:tr>
              <a:tr h="30671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&lt;Лето&gt;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51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alibri" panose="020F0502020204030204" pitchFamily="34" charset="0"/>
                        </a:rPr>
                        <a:t>1000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605464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4111672"/>
              </p:ext>
            </p:extLst>
          </p:nvPr>
        </p:nvGraphicFramePr>
        <p:xfrm>
          <a:off x="214752" y="3400720"/>
          <a:ext cx="3032151" cy="1574800"/>
        </p:xfrm>
        <a:graphic>
          <a:graphicData uri="http://schemas.openxmlformats.org/drawingml/2006/table">
            <a:tbl>
              <a:tblPr/>
              <a:tblGrid>
                <a:gridCol w="916229">
                  <a:extLst>
                    <a:ext uri="{9D8B030D-6E8A-4147-A177-3AD203B41FA5}">
                      <a16:colId xmlns:a16="http://schemas.microsoft.com/office/drawing/2014/main" val="2074064825"/>
                    </a:ext>
                  </a:extLst>
                </a:gridCol>
                <a:gridCol w="753466">
                  <a:extLst>
                    <a:ext uri="{9D8B030D-6E8A-4147-A177-3AD203B41FA5}">
                      <a16:colId xmlns:a16="http://schemas.microsoft.com/office/drawing/2014/main" val="893135031"/>
                    </a:ext>
                  </a:extLst>
                </a:gridCol>
                <a:gridCol w="737006">
                  <a:extLst>
                    <a:ext uri="{9D8B030D-6E8A-4147-A177-3AD203B41FA5}">
                      <a16:colId xmlns:a16="http://schemas.microsoft.com/office/drawing/2014/main" val="1581578019"/>
                    </a:ext>
                  </a:extLst>
                </a:gridCol>
                <a:gridCol w="625450">
                  <a:extLst>
                    <a:ext uri="{9D8B030D-6E8A-4147-A177-3AD203B41FA5}">
                      <a16:colId xmlns:a16="http://schemas.microsoft.com/office/drawing/2014/main" val="4238316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Проводка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Счет Дт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Счет Кт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Сумма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20926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1000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13132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500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37666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500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29273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51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alibri" panose="020F0502020204030204" pitchFamily="34" charset="0"/>
                        </a:rPr>
                        <a:t>1000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4419584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2286082"/>
              </p:ext>
            </p:extLst>
          </p:nvPr>
        </p:nvGraphicFramePr>
        <p:xfrm>
          <a:off x="3424222" y="3400720"/>
          <a:ext cx="5494629" cy="2834640"/>
        </p:xfrm>
        <a:graphic>
          <a:graphicData uri="http://schemas.openxmlformats.org/drawingml/2006/table">
            <a:tbl>
              <a:tblPr/>
              <a:tblGrid>
                <a:gridCol w="953719">
                  <a:extLst>
                    <a:ext uri="{9D8B030D-6E8A-4147-A177-3AD203B41FA5}">
                      <a16:colId xmlns:a16="http://schemas.microsoft.com/office/drawing/2014/main" val="3473902362"/>
                    </a:ext>
                  </a:extLst>
                </a:gridCol>
                <a:gridCol w="1612087">
                  <a:extLst>
                    <a:ext uri="{9D8B030D-6E8A-4147-A177-3AD203B41FA5}">
                      <a16:colId xmlns:a16="http://schemas.microsoft.com/office/drawing/2014/main" val="3478116292"/>
                    </a:ext>
                  </a:extLst>
                </a:gridCol>
                <a:gridCol w="1354226">
                  <a:extLst>
                    <a:ext uri="{9D8B030D-6E8A-4147-A177-3AD203B41FA5}">
                      <a16:colId xmlns:a16="http://schemas.microsoft.com/office/drawing/2014/main" val="2111869499"/>
                    </a:ext>
                  </a:extLst>
                </a:gridCol>
                <a:gridCol w="1574597">
                  <a:extLst>
                    <a:ext uri="{9D8B030D-6E8A-4147-A177-3AD203B41FA5}">
                      <a16:colId xmlns:a16="http://schemas.microsoft.com/office/drawing/2014/main" val="3024488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Проводка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Сторона проводки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Субконто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Значение субконто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26433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Дт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&lt;ЖЖЖ&gt;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&lt;Яблоки&gt;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02440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Дт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&lt;ЖЗЗ&gt;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&lt;Главный&gt;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7710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&lt;ЖИИ&gt;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&lt;Лето&gt;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1017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Дт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&lt;ЖЖЖ&gt;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&lt;Лёд&gt;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170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&lt;ЖИИ&gt;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&lt;Север&gt;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9924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Дт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&lt;ЖЖЖ&gt;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&lt;Груши&gt;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94836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&lt;ЖИИ&gt;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&lt;Запад&gt;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06446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Дт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&lt;ЖИИ&gt;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&lt;Лето&gt;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4434081"/>
                  </a:ext>
                </a:extLst>
              </a:tr>
            </a:tbl>
          </a:graphicData>
        </a:graphic>
      </p:graphicFrame>
      <p:sp>
        <p:nvSpPr>
          <p:cNvPr id="6" name="Скругленный прямоугольник 5"/>
          <p:cNvSpPr/>
          <p:nvPr/>
        </p:nvSpPr>
        <p:spPr>
          <a:xfrm>
            <a:off x="88777" y="3261605"/>
            <a:ext cx="8883342" cy="2973755"/>
          </a:xfrm>
          <a:prstGeom prst="round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8495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75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375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83961"/>
          </a:xfrm>
        </p:spPr>
        <p:txBody>
          <a:bodyPr/>
          <a:lstStyle/>
          <a:p>
            <a:r>
              <a:rPr lang="ru-RU" dirty="0" smtClean="0"/>
              <a:t>Хранение субконто в отдельной таблице субконто</a:t>
            </a:r>
            <a:endParaRPr lang="ru-RU" dirty="0"/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214752" y="3400720"/>
          <a:ext cx="3032151" cy="1574800"/>
        </p:xfrm>
        <a:graphic>
          <a:graphicData uri="http://schemas.openxmlformats.org/drawingml/2006/table">
            <a:tbl>
              <a:tblPr/>
              <a:tblGrid>
                <a:gridCol w="916229">
                  <a:extLst>
                    <a:ext uri="{9D8B030D-6E8A-4147-A177-3AD203B41FA5}">
                      <a16:colId xmlns:a16="http://schemas.microsoft.com/office/drawing/2014/main" val="2074064825"/>
                    </a:ext>
                  </a:extLst>
                </a:gridCol>
                <a:gridCol w="753466">
                  <a:extLst>
                    <a:ext uri="{9D8B030D-6E8A-4147-A177-3AD203B41FA5}">
                      <a16:colId xmlns:a16="http://schemas.microsoft.com/office/drawing/2014/main" val="893135031"/>
                    </a:ext>
                  </a:extLst>
                </a:gridCol>
                <a:gridCol w="737006">
                  <a:extLst>
                    <a:ext uri="{9D8B030D-6E8A-4147-A177-3AD203B41FA5}">
                      <a16:colId xmlns:a16="http://schemas.microsoft.com/office/drawing/2014/main" val="1581578019"/>
                    </a:ext>
                  </a:extLst>
                </a:gridCol>
                <a:gridCol w="625450">
                  <a:extLst>
                    <a:ext uri="{9D8B030D-6E8A-4147-A177-3AD203B41FA5}">
                      <a16:colId xmlns:a16="http://schemas.microsoft.com/office/drawing/2014/main" val="4238316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Проводка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Счет Дт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Счет Кт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Сумма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20926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1000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13132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500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37666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500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29273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51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alibri" panose="020F0502020204030204" pitchFamily="34" charset="0"/>
                        </a:rPr>
                        <a:t>1000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4419584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3424222" y="3400720"/>
          <a:ext cx="5494629" cy="2834640"/>
        </p:xfrm>
        <a:graphic>
          <a:graphicData uri="http://schemas.openxmlformats.org/drawingml/2006/table">
            <a:tbl>
              <a:tblPr/>
              <a:tblGrid>
                <a:gridCol w="953719">
                  <a:extLst>
                    <a:ext uri="{9D8B030D-6E8A-4147-A177-3AD203B41FA5}">
                      <a16:colId xmlns:a16="http://schemas.microsoft.com/office/drawing/2014/main" val="3473902362"/>
                    </a:ext>
                  </a:extLst>
                </a:gridCol>
                <a:gridCol w="1612087">
                  <a:extLst>
                    <a:ext uri="{9D8B030D-6E8A-4147-A177-3AD203B41FA5}">
                      <a16:colId xmlns:a16="http://schemas.microsoft.com/office/drawing/2014/main" val="3478116292"/>
                    </a:ext>
                  </a:extLst>
                </a:gridCol>
                <a:gridCol w="1354226">
                  <a:extLst>
                    <a:ext uri="{9D8B030D-6E8A-4147-A177-3AD203B41FA5}">
                      <a16:colId xmlns:a16="http://schemas.microsoft.com/office/drawing/2014/main" val="2111869499"/>
                    </a:ext>
                  </a:extLst>
                </a:gridCol>
                <a:gridCol w="1574597">
                  <a:extLst>
                    <a:ext uri="{9D8B030D-6E8A-4147-A177-3AD203B41FA5}">
                      <a16:colId xmlns:a16="http://schemas.microsoft.com/office/drawing/2014/main" val="3024488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Проводка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Сторона проводки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Субконто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Значение субконто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26433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Дт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&lt;ЖЖЖ&gt;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&lt;Яблоки&gt;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02440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Дт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&lt;ЖЗЗ&gt;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&lt;Главный&gt;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7710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&lt;ЖИИ&gt;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&lt;Лето&gt;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1017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Дт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&lt;ЖЖЖ&gt;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&lt;Лёд&gt;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170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&lt;ЖИИ&gt;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&lt;Север&gt;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9924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Дт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&lt;ЖЖЖ&gt;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&lt;Груши&gt;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94836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&lt;ЖИИ&gt;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&lt;Запад&gt;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06446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Дт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&lt;ЖИИ&gt;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&lt;Лето&gt;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4434081"/>
                  </a:ext>
                </a:extLst>
              </a:tr>
            </a:tbl>
          </a:graphicData>
        </a:graphic>
      </p:graphicFrame>
      <p:sp>
        <p:nvSpPr>
          <p:cNvPr id="6" name="Скругленный прямоугольник 5"/>
          <p:cNvSpPr/>
          <p:nvPr/>
        </p:nvSpPr>
        <p:spPr>
          <a:xfrm>
            <a:off x="88777" y="3261605"/>
            <a:ext cx="8883342" cy="2973755"/>
          </a:xfrm>
          <a:prstGeom prst="round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9637847"/>
              </p:ext>
            </p:extLst>
          </p:nvPr>
        </p:nvGraphicFramePr>
        <p:xfrm>
          <a:off x="240738" y="1895012"/>
          <a:ext cx="6366967" cy="1259840"/>
        </p:xfrm>
        <a:graphic>
          <a:graphicData uri="http://schemas.openxmlformats.org/drawingml/2006/table">
            <a:tbl>
              <a:tblPr/>
              <a:tblGrid>
                <a:gridCol w="814730">
                  <a:extLst>
                    <a:ext uri="{9D8B030D-6E8A-4147-A177-3AD203B41FA5}">
                      <a16:colId xmlns:a16="http://schemas.microsoft.com/office/drawing/2014/main" val="421970456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195934489"/>
                    </a:ext>
                  </a:extLst>
                </a:gridCol>
                <a:gridCol w="1350569">
                  <a:extLst>
                    <a:ext uri="{9D8B030D-6E8A-4147-A177-3AD203B41FA5}">
                      <a16:colId xmlns:a16="http://schemas.microsoft.com/office/drawing/2014/main" val="2980009895"/>
                    </a:ext>
                  </a:extLst>
                </a:gridCol>
                <a:gridCol w="3591763">
                  <a:extLst>
                    <a:ext uri="{9D8B030D-6E8A-4147-A177-3AD203B41FA5}">
                      <a16:colId xmlns:a16="http://schemas.microsoft.com/office/drawing/2014/main" val="142043906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Наименование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Тип значения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949053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&lt;ЖЖЖ&gt;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Номенклатуры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Ссылка на справочник Номенклатура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1623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&lt;ЖИИ&gt;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Контрагенты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Ссылка на справочник контрагенты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3754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&lt;ЖЗЗ&gt;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Склады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Calibri" panose="020F0502020204030204" pitchFamily="34" charset="0"/>
                        </a:rPr>
                        <a:t>Ссылка на справочник склады</a:t>
                      </a:r>
                      <a:endParaRPr lang="ru-RU" sz="14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69296053"/>
                  </a:ext>
                </a:extLst>
              </a:tr>
            </a:tbl>
          </a:graphicData>
        </a:graphic>
      </p:graphicFrame>
      <p:sp>
        <p:nvSpPr>
          <p:cNvPr id="8" name="Стрелка углом 7"/>
          <p:cNvSpPr/>
          <p:nvPr/>
        </p:nvSpPr>
        <p:spPr>
          <a:xfrm flipH="1">
            <a:off x="6035038" y="1947673"/>
            <a:ext cx="1088137" cy="1453048"/>
          </a:xfrm>
          <a:prstGeom prst="bentArrow">
            <a:avLst>
              <a:gd name="adj1" fmla="val 10148"/>
              <a:gd name="adj2" fmla="val 16584"/>
              <a:gd name="adj3" fmla="val 19554"/>
              <a:gd name="adj4" fmla="val 437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0738" y="1517139"/>
            <a:ext cx="5810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rgbClr val="7030A0"/>
                </a:solidFill>
              </a:rPr>
              <a:t>Таблица </a:t>
            </a:r>
            <a:r>
              <a:rPr lang="ru-RU" dirty="0">
                <a:solidFill>
                  <a:srgbClr val="7030A0"/>
                </a:solidFill>
              </a:rPr>
              <a:t>плана </a:t>
            </a:r>
            <a:r>
              <a:rPr lang="ru-RU" dirty="0" smtClean="0">
                <a:solidFill>
                  <a:srgbClr val="7030A0"/>
                </a:solidFill>
              </a:rPr>
              <a:t>видов характеристик «Виды субконто»</a:t>
            </a:r>
            <a:endParaRPr lang="ru-RU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6184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План видов </a:t>
            </a:r>
            <a:r>
              <a:rPr lang="ru-RU" dirty="0" err="1"/>
              <a:t>характиристик</a:t>
            </a:r>
            <a:endParaRPr lang="ru-RU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176" y="1120775"/>
            <a:ext cx="5629275" cy="516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409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Таблица плана видов характеристик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631563"/>
              </p:ext>
            </p:extLst>
          </p:nvPr>
        </p:nvGraphicFramePr>
        <p:xfrm>
          <a:off x="418640" y="1397000"/>
          <a:ext cx="8317736" cy="222504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212874">
                  <a:extLst>
                    <a:ext uri="{9D8B030D-6E8A-4147-A177-3AD203B41FA5}">
                      <a16:colId xmlns:a16="http://schemas.microsoft.com/office/drawing/2014/main" val="1033588679"/>
                    </a:ext>
                  </a:extLst>
                </a:gridCol>
                <a:gridCol w="567118">
                  <a:extLst>
                    <a:ext uri="{9D8B030D-6E8A-4147-A177-3AD203B41FA5}">
                      <a16:colId xmlns:a16="http://schemas.microsoft.com/office/drawing/2014/main" val="3358264260"/>
                    </a:ext>
                  </a:extLst>
                </a:gridCol>
                <a:gridCol w="1756954">
                  <a:extLst>
                    <a:ext uri="{9D8B030D-6E8A-4147-A177-3AD203B41FA5}">
                      <a16:colId xmlns:a16="http://schemas.microsoft.com/office/drawing/2014/main" val="2313805274"/>
                    </a:ext>
                  </a:extLst>
                </a:gridCol>
                <a:gridCol w="3780790">
                  <a:extLst>
                    <a:ext uri="{9D8B030D-6E8A-4147-A177-3AD203B41FA5}">
                      <a16:colId xmlns:a16="http://schemas.microsoft.com/office/drawing/2014/main" val="4753134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Тип значения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68758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 Товары&gt;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Товары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Справочник ссылка «Номенклатура»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1054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baseline="0" dirty="0">
                          <a:solidFill>
                            <a:srgbClr val="7030A0"/>
                          </a:solidFill>
                        </a:rPr>
                        <a:t> Склады&gt;</a:t>
                      </a:r>
                      <a:endParaRPr lang="ru-RU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aseline="0" dirty="0"/>
                        <a:t>Склады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Справочник ссылка «Склады»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55324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 Контрагенты&gt;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Контрагенты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Справочник ссылка «Контрагенты»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16817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 Накладная&gt;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Накладная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Документ ссылка «Поступление»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0276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34921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1063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Настройка субконто в плане счетов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8334" y="1218109"/>
            <a:ext cx="5076825" cy="503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9386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904283"/>
          </a:xfrm>
        </p:spPr>
        <p:txBody>
          <a:bodyPr>
            <a:normAutofit fontScale="90000"/>
          </a:bodyPr>
          <a:lstStyle/>
          <a:p>
            <a:r>
              <a:rPr lang="ru-RU" dirty="0"/>
              <a:t>Служебная табличная часть в плане счетов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7750645"/>
              </p:ext>
            </p:extLst>
          </p:nvPr>
        </p:nvGraphicFramePr>
        <p:xfrm>
          <a:off x="377714" y="2011854"/>
          <a:ext cx="809158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8714">
                  <a:extLst>
                    <a:ext uri="{9D8B030D-6E8A-4147-A177-3AD203B41FA5}">
                      <a16:colId xmlns:a16="http://schemas.microsoft.com/office/drawing/2014/main" val="932871703"/>
                    </a:ext>
                  </a:extLst>
                </a:gridCol>
                <a:gridCol w="980478">
                  <a:extLst>
                    <a:ext uri="{9D8B030D-6E8A-4147-A177-3AD203B41FA5}">
                      <a16:colId xmlns:a16="http://schemas.microsoft.com/office/drawing/2014/main" val="631033224"/>
                    </a:ext>
                  </a:extLst>
                </a:gridCol>
                <a:gridCol w="4289831">
                  <a:extLst>
                    <a:ext uri="{9D8B030D-6E8A-4147-A177-3AD203B41FA5}">
                      <a16:colId xmlns:a16="http://schemas.microsoft.com/office/drawing/2014/main" val="1495469993"/>
                    </a:ext>
                  </a:extLst>
                </a:gridCol>
                <a:gridCol w="612559">
                  <a:extLst>
                    <a:ext uri="{9D8B030D-6E8A-4147-A177-3AD203B41FA5}">
                      <a16:colId xmlns:a16="http://schemas.microsoft.com/office/drawing/2014/main" val="36234016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92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C00000"/>
                          </a:solidFill>
                        </a:rPr>
                        <a:t>&lt;41.1</a:t>
                      </a:r>
                      <a:r>
                        <a:rPr lang="ru-RU" baseline="0" dirty="0">
                          <a:solidFill>
                            <a:srgbClr val="C00000"/>
                          </a:solidFill>
                        </a:rPr>
                        <a:t> Товары&gt;</a:t>
                      </a:r>
                      <a:endParaRPr lang="ru-RU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Товары опт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2357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C00000"/>
                          </a:solidFill>
                        </a:rPr>
                        <a:t>&lt;60</a:t>
                      </a:r>
                      <a:r>
                        <a:rPr lang="ru-RU" baseline="0" dirty="0">
                          <a:solidFill>
                            <a:srgbClr val="C00000"/>
                          </a:solidFill>
                        </a:rPr>
                        <a:t> Поставщики&gt;</a:t>
                      </a:r>
                      <a:endParaRPr lang="ru-RU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Поставщики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15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C00000"/>
                          </a:solidFill>
                        </a:rPr>
                        <a:t>&lt;50</a:t>
                      </a:r>
                      <a:r>
                        <a:rPr lang="ru-RU" baseline="0" dirty="0">
                          <a:solidFill>
                            <a:srgbClr val="C00000"/>
                          </a:solidFill>
                        </a:rPr>
                        <a:t> Касса&gt;</a:t>
                      </a:r>
                      <a:endParaRPr lang="ru-RU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Касса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2901450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2948952"/>
              </p:ext>
            </p:extLst>
          </p:nvPr>
        </p:nvGraphicFramePr>
        <p:xfrm>
          <a:off x="377714" y="4402382"/>
          <a:ext cx="8091581" cy="14173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081401">
                  <a:extLst>
                    <a:ext uri="{9D8B030D-6E8A-4147-A177-3AD203B41FA5}">
                      <a16:colId xmlns:a16="http://schemas.microsoft.com/office/drawing/2014/main" val="1185112689"/>
                    </a:ext>
                  </a:extLst>
                </a:gridCol>
                <a:gridCol w="1225118">
                  <a:extLst>
                    <a:ext uri="{9D8B030D-6E8A-4147-A177-3AD203B41FA5}">
                      <a16:colId xmlns:a16="http://schemas.microsoft.com/office/drawing/2014/main" val="787950461"/>
                    </a:ext>
                  </a:extLst>
                </a:gridCol>
                <a:gridCol w="3230781">
                  <a:extLst>
                    <a:ext uri="{9D8B030D-6E8A-4147-A177-3AD203B41FA5}">
                      <a16:colId xmlns:a16="http://schemas.microsoft.com/office/drawing/2014/main" val="766134915"/>
                    </a:ext>
                  </a:extLst>
                </a:gridCol>
                <a:gridCol w="1554281">
                  <a:extLst>
                    <a:ext uri="{9D8B030D-6E8A-4147-A177-3AD203B41FA5}">
                      <a16:colId xmlns:a16="http://schemas.microsoft.com/office/drawing/2014/main" val="35136614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№ строки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Вид субконто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Только обороты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799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rgbClr val="C00000"/>
                          </a:solidFill>
                        </a:rPr>
                        <a:t>&lt;41.1</a:t>
                      </a:r>
                      <a:r>
                        <a:rPr lang="ru-RU" baseline="0" dirty="0">
                          <a:solidFill>
                            <a:srgbClr val="C00000"/>
                          </a:solidFill>
                        </a:rPr>
                        <a:t> Товары&gt;</a:t>
                      </a:r>
                      <a:endParaRPr lang="ru-RU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baseline="0" dirty="0">
                          <a:solidFill>
                            <a:srgbClr val="7030A0"/>
                          </a:solidFill>
                        </a:rPr>
                        <a:t> Товары&gt;</a:t>
                      </a:r>
                      <a:endParaRPr lang="ru-RU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3805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rgbClr val="C00000"/>
                          </a:solidFill>
                        </a:rPr>
                        <a:t>&lt;41.1</a:t>
                      </a:r>
                      <a:r>
                        <a:rPr lang="ru-RU" baseline="0" dirty="0">
                          <a:solidFill>
                            <a:srgbClr val="C00000"/>
                          </a:solidFill>
                        </a:rPr>
                        <a:t> Товары&gt;</a:t>
                      </a:r>
                      <a:endParaRPr lang="ru-RU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baseline="0" dirty="0">
                          <a:solidFill>
                            <a:srgbClr val="7030A0"/>
                          </a:solidFill>
                        </a:rPr>
                        <a:t> Склады&gt;</a:t>
                      </a:r>
                      <a:endParaRPr lang="ru-RU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576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rgbClr val="C00000"/>
                          </a:solidFill>
                        </a:rPr>
                        <a:t>&lt;60</a:t>
                      </a:r>
                      <a:r>
                        <a:rPr lang="ru-RU" baseline="0" dirty="0">
                          <a:solidFill>
                            <a:srgbClr val="C00000"/>
                          </a:solidFill>
                        </a:rPr>
                        <a:t> Поставщики&gt;</a:t>
                      </a:r>
                      <a:endParaRPr lang="ru-RU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baseline="0" dirty="0">
                          <a:solidFill>
                            <a:srgbClr val="7030A0"/>
                          </a:solidFill>
                        </a:rPr>
                        <a:t> Контрагенты&gt;</a:t>
                      </a:r>
                      <a:endParaRPr lang="ru-RU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773269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77714" y="3764132"/>
            <a:ext cx="6049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accent5">
                    <a:lumMod val="50000"/>
                  </a:schemeClr>
                </a:solidFill>
              </a:rPr>
              <a:t>Служебная табличная часть «</a:t>
            </a:r>
            <a:r>
              <a:rPr lang="ru-RU" b="1" dirty="0">
                <a:solidFill>
                  <a:schemeClr val="accent5">
                    <a:lumMod val="50000"/>
                  </a:schemeClr>
                </a:solidFill>
              </a:rPr>
              <a:t>Виды субконто</a:t>
            </a:r>
            <a:r>
              <a:rPr lang="ru-RU" dirty="0">
                <a:solidFill>
                  <a:schemeClr val="accent5">
                    <a:lumMod val="50000"/>
                  </a:schemeClr>
                </a:solidFill>
              </a:rPr>
              <a:t>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714" y="1583117"/>
            <a:ext cx="5810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0070C0"/>
                </a:solidFill>
              </a:rPr>
              <a:t>Основная таблица плана счетов</a:t>
            </a:r>
          </a:p>
        </p:txBody>
      </p:sp>
    </p:spTree>
    <p:extLst>
      <p:ext uri="{BB962C8B-B14F-4D97-AF65-F5344CB8AC3E}">
        <p14:creationId xmlns:p14="http://schemas.microsoft.com/office/powerpoint/2010/main" val="2549000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904283"/>
          </a:xfrm>
        </p:spPr>
        <p:txBody>
          <a:bodyPr/>
          <a:lstStyle/>
          <a:p>
            <a:r>
              <a:rPr lang="ru-RU" dirty="0"/>
              <a:t>Объектное представление табличной части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/>
          </p:nvPr>
        </p:nvGraphicFramePr>
        <p:xfrm>
          <a:off x="448735" y="1476259"/>
          <a:ext cx="8523384" cy="475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8691">
                  <a:extLst>
                    <a:ext uri="{9D8B030D-6E8A-4147-A177-3AD203B41FA5}">
                      <a16:colId xmlns:a16="http://schemas.microsoft.com/office/drawing/2014/main" val="932871703"/>
                    </a:ext>
                  </a:extLst>
                </a:gridCol>
                <a:gridCol w="683046">
                  <a:extLst>
                    <a:ext uri="{9D8B030D-6E8A-4147-A177-3AD203B41FA5}">
                      <a16:colId xmlns:a16="http://schemas.microsoft.com/office/drawing/2014/main" val="631033224"/>
                    </a:ext>
                  </a:extLst>
                </a:gridCol>
                <a:gridCol w="1707614">
                  <a:extLst>
                    <a:ext uri="{9D8B030D-6E8A-4147-A177-3AD203B41FA5}">
                      <a16:colId xmlns:a16="http://schemas.microsoft.com/office/drawing/2014/main" val="1495469993"/>
                    </a:ext>
                  </a:extLst>
                </a:gridCol>
                <a:gridCol w="4594033">
                  <a:extLst>
                    <a:ext uri="{9D8B030D-6E8A-4147-A177-3AD203B41FA5}">
                      <a16:colId xmlns:a16="http://schemas.microsoft.com/office/drawing/2014/main" val="38509035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Виды субконто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92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C00000"/>
                          </a:solidFill>
                        </a:rPr>
                        <a:t>&lt;41.1</a:t>
                      </a:r>
                      <a:r>
                        <a:rPr lang="ru-RU" baseline="0" dirty="0">
                          <a:solidFill>
                            <a:srgbClr val="C00000"/>
                          </a:solidFill>
                        </a:rPr>
                        <a:t> Товары&gt;</a:t>
                      </a:r>
                      <a:endParaRPr lang="ru-RU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Товары опт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2357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C00000"/>
                          </a:solidFill>
                        </a:rPr>
                        <a:t>&lt;60</a:t>
                      </a:r>
                      <a:r>
                        <a:rPr lang="ru-RU" baseline="0" dirty="0">
                          <a:solidFill>
                            <a:srgbClr val="C00000"/>
                          </a:solidFill>
                        </a:rPr>
                        <a:t> Поставщики&gt;</a:t>
                      </a:r>
                      <a:endParaRPr lang="ru-RU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Поставщики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15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C00000"/>
                          </a:solidFill>
                        </a:rPr>
                        <a:t>&lt;50</a:t>
                      </a:r>
                      <a:r>
                        <a:rPr lang="ru-RU" baseline="0" dirty="0">
                          <a:solidFill>
                            <a:srgbClr val="C00000"/>
                          </a:solidFill>
                        </a:rPr>
                        <a:t> Касса&gt;</a:t>
                      </a:r>
                      <a:endParaRPr lang="ru-RU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Касса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2901450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/>
          </p:nvPr>
        </p:nvGraphicFramePr>
        <p:xfrm>
          <a:off x="4465503" y="1885844"/>
          <a:ext cx="4359007" cy="12598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5475">
                  <a:extLst>
                    <a:ext uri="{9D8B030D-6E8A-4147-A177-3AD203B41FA5}">
                      <a16:colId xmlns:a16="http://schemas.microsoft.com/office/drawing/2014/main" val="787950461"/>
                    </a:ext>
                  </a:extLst>
                </a:gridCol>
                <a:gridCol w="2633031">
                  <a:extLst>
                    <a:ext uri="{9D8B030D-6E8A-4147-A177-3AD203B41FA5}">
                      <a16:colId xmlns:a16="http://schemas.microsoft.com/office/drawing/2014/main" val="766134915"/>
                    </a:ext>
                  </a:extLst>
                </a:gridCol>
                <a:gridCol w="980501">
                  <a:extLst>
                    <a:ext uri="{9D8B030D-6E8A-4147-A177-3AD203B41FA5}">
                      <a16:colId xmlns:a16="http://schemas.microsoft.com/office/drawing/2014/main" val="35136614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№ строки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Вид субконто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Только обороты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799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baseline="0" dirty="0">
                          <a:solidFill>
                            <a:srgbClr val="7030A0"/>
                          </a:solidFill>
                        </a:rPr>
                        <a:t> Товары&gt;</a:t>
                      </a:r>
                      <a:endParaRPr lang="ru-RU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3805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baseline="0" dirty="0">
                          <a:solidFill>
                            <a:srgbClr val="7030A0"/>
                          </a:solidFill>
                        </a:rPr>
                        <a:t> Склады&gt;</a:t>
                      </a:r>
                      <a:endParaRPr lang="ru-RU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576528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>
            <p:extLst/>
          </p:nvPr>
        </p:nvGraphicFramePr>
        <p:xfrm>
          <a:off x="4465503" y="3338235"/>
          <a:ext cx="4359007" cy="8890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5475">
                  <a:extLst>
                    <a:ext uri="{9D8B030D-6E8A-4147-A177-3AD203B41FA5}">
                      <a16:colId xmlns:a16="http://schemas.microsoft.com/office/drawing/2014/main" val="787950461"/>
                    </a:ext>
                  </a:extLst>
                </a:gridCol>
                <a:gridCol w="2633031">
                  <a:extLst>
                    <a:ext uri="{9D8B030D-6E8A-4147-A177-3AD203B41FA5}">
                      <a16:colId xmlns:a16="http://schemas.microsoft.com/office/drawing/2014/main" val="766134915"/>
                    </a:ext>
                  </a:extLst>
                </a:gridCol>
                <a:gridCol w="980501">
                  <a:extLst>
                    <a:ext uri="{9D8B030D-6E8A-4147-A177-3AD203B41FA5}">
                      <a16:colId xmlns:a16="http://schemas.microsoft.com/office/drawing/2014/main" val="35136614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№ строки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Вид субконто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Только обороты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799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baseline="0" dirty="0">
                          <a:solidFill>
                            <a:srgbClr val="7030A0"/>
                          </a:solidFill>
                        </a:rPr>
                        <a:t> Контрагенты&gt;</a:t>
                      </a:r>
                      <a:endParaRPr lang="ru-RU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3805624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/>
          </p:nvPr>
        </p:nvGraphicFramePr>
        <p:xfrm>
          <a:off x="4465502" y="4839132"/>
          <a:ext cx="4359007" cy="5181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5475">
                  <a:extLst>
                    <a:ext uri="{9D8B030D-6E8A-4147-A177-3AD203B41FA5}">
                      <a16:colId xmlns:a16="http://schemas.microsoft.com/office/drawing/2014/main" val="787950461"/>
                    </a:ext>
                  </a:extLst>
                </a:gridCol>
                <a:gridCol w="2633031">
                  <a:extLst>
                    <a:ext uri="{9D8B030D-6E8A-4147-A177-3AD203B41FA5}">
                      <a16:colId xmlns:a16="http://schemas.microsoft.com/office/drawing/2014/main" val="766134915"/>
                    </a:ext>
                  </a:extLst>
                </a:gridCol>
                <a:gridCol w="980501">
                  <a:extLst>
                    <a:ext uri="{9D8B030D-6E8A-4147-A177-3AD203B41FA5}">
                      <a16:colId xmlns:a16="http://schemas.microsoft.com/office/drawing/2014/main" val="35136614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№ строки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Вид субконто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Только обороты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799211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529378" y="6236219"/>
            <a:ext cx="4101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hlinkClick r:id="rId2" action="ppaction://hlinksldjump"/>
              </a:rPr>
              <a:t>К набору записей регистра бухгалтерии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6462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30785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Табличная часть «субконто» регистра бухгалтерии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1663658"/>
              </p:ext>
            </p:extLst>
          </p:nvPr>
        </p:nvGraphicFramePr>
        <p:xfrm>
          <a:off x="507936" y="1442722"/>
          <a:ext cx="7604881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686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72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96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90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575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325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Период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Регистратор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Номер строки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Вид движения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Вид субконто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Значение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6606325"/>
              </p:ext>
            </p:extLst>
          </p:nvPr>
        </p:nvGraphicFramePr>
        <p:xfrm>
          <a:off x="507936" y="2021298"/>
          <a:ext cx="7604881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686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72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25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90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318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454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12.04.2015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&lt;ПТУ</a:t>
                      </a:r>
                      <a:r>
                        <a:rPr lang="ru-RU" sz="1200" baseline="0" dirty="0">
                          <a:solidFill>
                            <a:srgbClr val="FF0000"/>
                          </a:solidFill>
                        </a:rPr>
                        <a:t> № 1&gt;</a:t>
                      </a:r>
                      <a:endParaRPr lang="ru-RU" sz="12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Дебет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&lt;Номенклатура&gt;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&lt;Яблоки&gt;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12.04.2015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&lt;ПТУ</a:t>
                      </a:r>
                      <a:r>
                        <a:rPr lang="ru-RU" sz="1200" baseline="0" dirty="0">
                          <a:solidFill>
                            <a:srgbClr val="FF0000"/>
                          </a:solidFill>
                        </a:rPr>
                        <a:t> № 1&gt;</a:t>
                      </a:r>
                      <a:endParaRPr lang="ru-RU" sz="12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Дебет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&lt;Склады&gt;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&lt;Основной&gt;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0070C0"/>
                          </a:solidFill>
                        </a:rPr>
                        <a:t>12.04.2015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</a:rPr>
                        <a:t>&lt;ПТУ</a:t>
                      </a:r>
                      <a:r>
                        <a:rPr lang="ru-RU" sz="1200" baseline="0" dirty="0">
                          <a:solidFill>
                            <a:srgbClr val="0070C0"/>
                          </a:solidFill>
                        </a:rPr>
                        <a:t> № 1&gt;</a:t>
                      </a:r>
                      <a:endParaRPr lang="ru-RU" sz="1200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</a:rPr>
                        <a:t>Кредит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</a:rPr>
                        <a:t>&lt;Контрагенты&gt;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</a:rPr>
                        <a:t>&lt;Лето&gt;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4901409"/>
              </p:ext>
            </p:extLst>
          </p:nvPr>
        </p:nvGraphicFramePr>
        <p:xfrm>
          <a:off x="505790" y="2856279"/>
          <a:ext cx="7604881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686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72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25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90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318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454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22.04.2015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&lt;ПТУ</a:t>
                      </a:r>
                      <a:r>
                        <a:rPr lang="ru-RU" sz="1200" baseline="0" dirty="0">
                          <a:solidFill>
                            <a:srgbClr val="FF0000"/>
                          </a:solidFill>
                        </a:rPr>
                        <a:t> № 2&gt;</a:t>
                      </a:r>
                      <a:endParaRPr lang="ru-RU" sz="12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Дебет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&lt;Номенклатура&gt;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&lt;Груши&gt;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22.04.2015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&lt;ПТУ</a:t>
                      </a:r>
                      <a:r>
                        <a:rPr lang="ru-RU" sz="1200" baseline="0" dirty="0">
                          <a:solidFill>
                            <a:srgbClr val="FF0000"/>
                          </a:solidFill>
                        </a:rPr>
                        <a:t> № 2&gt;</a:t>
                      </a:r>
                      <a:endParaRPr lang="ru-RU" sz="12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Дебет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&lt;Склады&gt;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&lt;Холодильник&gt;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0070C0"/>
                          </a:solidFill>
                        </a:rPr>
                        <a:t>22.04.2015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</a:rPr>
                        <a:t>&lt;ПТУ</a:t>
                      </a:r>
                      <a:r>
                        <a:rPr lang="ru-RU" sz="1200" baseline="0" dirty="0">
                          <a:solidFill>
                            <a:srgbClr val="0070C0"/>
                          </a:solidFill>
                        </a:rPr>
                        <a:t> № 2&gt;</a:t>
                      </a:r>
                      <a:endParaRPr lang="ru-RU" sz="1200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</a:rPr>
                        <a:t>Кредит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</a:rPr>
                        <a:t>&lt;Контрагенты&gt;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</a:rPr>
                        <a:t>&lt;Север&gt;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3404697" y="5117356"/>
            <a:ext cx="5172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FF0000"/>
                </a:solidFill>
                <a:latin typeface="Arial Black" panose="020B0A04020102020204" pitchFamily="34" charset="0"/>
              </a:rPr>
              <a:t>Ссылка на план видов характеристик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2931" y="4516796"/>
            <a:ext cx="31739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0070C0"/>
                </a:solidFill>
                <a:latin typeface="Arial Black" panose="020B0A04020102020204" pitchFamily="34" charset="0"/>
              </a:rPr>
              <a:t>Поле составного типа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5790" y="5717915"/>
            <a:ext cx="8071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0070C0"/>
                </a:solidFill>
                <a:latin typeface="Arial Black" panose="020B0A04020102020204" pitchFamily="34" charset="0"/>
              </a:rPr>
              <a:t>Связь с движением документа и стороной проводки</a:t>
            </a:r>
          </a:p>
        </p:txBody>
      </p:sp>
      <p:sp>
        <p:nvSpPr>
          <p:cNvPr id="7" name="Левая фигурная скобка 6"/>
          <p:cNvSpPr/>
          <p:nvPr/>
        </p:nvSpPr>
        <p:spPr>
          <a:xfrm rot="16200000">
            <a:off x="7128575" y="3129051"/>
            <a:ext cx="428263" cy="1535928"/>
          </a:xfrm>
          <a:prstGeom prst="lef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Левая фигурная скобка 9"/>
          <p:cNvSpPr/>
          <p:nvPr/>
        </p:nvSpPr>
        <p:spPr>
          <a:xfrm rot="16200000">
            <a:off x="5390724" y="2942181"/>
            <a:ext cx="428263" cy="1939776"/>
          </a:xfrm>
          <a:prstGeom prst="leftBrac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Левая фигурная скобка 10"/>
          <p:cNvSpPr/>
          <p:nvPr/>
        </p:nvSpPr>
        <p:spPr>
          <a:xfrm rot="16200000">
            <a:off x="2356247" y="1868742"/>
            <a:ext cx="428263" cy="4129180"/>
          </a:xfrm>
          <a:prstGeom prst="lef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Выноска со стрелкой вправо 8"/>
          <p:cNvSpPr/>
          <p:nvPr/>
        </p:nvSpPr>
        <p:spPr>
          <a:xfrm rot="16200000">
            <a:off x="6459657" y="2930698"/>
            <a:ext cx="875847" cy="3035013"/>
          </a:xfrm>
          <a:prstGeom prst="rightArrowCallout">
            <a:avLst>
              <a:gd name="adj1" fmla="val 24033"/>
              <a:gd name="adj2" fmla="val 30566"/>
              <a:gd name="adj3" fmla="val 25000"/>
              <a:gd name="adj4" fmla="val 45154"/>
            </a:avLst>
          </a:prstGeom>
          <a:solidFill>
            <a:schemeClr val="accent1">
              <a:alpha val="1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Выноска со стрелкой вправо 12"/>
          <p:cNvSpPr/>
          <p:nvPr/>
        </p:nvSpPr>
        <p:spPr>
          <a:xfrm rot="16200000">
            <a:off x="5205156" y="2231860"/>
            <a:ext cx="1476408" cy="5033247"/>
          </a:xfrm>
          <a:prstGeom prst="rightArrowCallout">
            <a:avLst>
              <a:gd name="adj1" fmla="val 16104"/>
              <a:gd name="adj2" fmla="val 22637"/>
              <a:gd name="adj3" fmla="val 15991"/>
              <a:gd name="adj4" fmla="val 30443"/>
            </a:avLst>
          </a:prstGeom>
          <a:solidFill>
            <a:srgbClr val="FF0000">
              <a:alpha val="10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Выноска со стрелкой вправо 13"/>
          <p:cNvSpPr/>
          <p:nvPr/>
        </p:nvSpPr>
        <p:spPr>
          <a:xfrm rot="16200000">
            <a:off x="2930381" y="1551457"/>
            <a:ext cx="2076966" cy="6994607"/>
          </a:xfrm>
          <a:prstGeom prst="rightArrowCallout">
            <a:avLst>
              <a:gd name="adj1" fmla="val 11773"/>
              <a:gd name="adj2" fmla="val 14962"/>
              <a:gd name="adj3" fmla="val 13297"/>
              <a:gd name="adj4" fmla="val 17847"/>
            </a:avLst>
          </a:prstGeom>
          <a:solidFill>
            <a:schemeClr val="accent1">
              <a:alpha val="1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9459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750"/>
                            </p:stCondLst>
                            <p:childTnLst>
                              <p:par>
                                <p:cTn id="18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75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750"/>
                            </p:stCondLst>
                            <p:childTnLst>
                              <p:par>
                                <p:cTn id="68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2" grpId="2"/>
      <p:bldP spid="5" grpId="0"/>
      <p:bldP spid="5" grpId="1"/>
      <p:bldP spid="5" grpId="2"/>
      <p:bldP spid="8" grpId="0"/>
      <p:bldP spid="8" grpId="1"/>
      <p:bldP spid="8" grpId="2"/>
      <p:bldP spid="7" grpId="0" animBg="1"/>
      <p:bldP spid="10" grpId="0" animBg="1"/>
      <p:bldP spid="11" grpId="0" animBg="1"/>
      <p:bldP spid="9" grpId="0" animBg="1"/>
      <p:bldP spid="9" grpId="1" animBg="1"/>
      <p:bldP spid="9" grpId="2" animBg="1"/>
      <p:bldP spid="13" grpId="0" animBg="1"/>
      <p:bldP spid="13" grpId="1" animBg="1"/>
      <p:bldP spid="13" grpId="2" animBg="1"/>
      <p:bldP spid="14" grpId="0" animBg="1"/>
      <p:bldP spid="14" grpId="1" animBg="1"/>
      <p:bldP spid="14" grpId="2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Набор записей регистра бухгалтерии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8348481"/>
              </p:ext>
            </p:extLst>
          </p:nvPr>
        </p:nvGraphicFramePr>
        <p:xfrm>
          <a:off x="188119" y="1397000"/>
          <a:ext cx="8636392" cy="2976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4773">
                  <a:extLst>
                    <a:ext uri="{9D8B030D-6E8A-4147-A177-3AD203B41FA5}">
                      <a16:colId xmlns:a16="http://schemas.microsoft.com/office/drawing/2014/main" val="909730198"/>
                    </a:ext>
                  </a:extLst>
                </a:gridCol>
                <a:gridCol w="2502790">
                  <a:extLst>
                    <a:ext uri="{9D8B030D-6E8A-4147-A177-3AD203B41FA5}">
                      <a16:colId xmlns:a16="http://schemas.microsoft.com/office/drawing/2014/main" val="567768080"/>
                    </a:ext>
                  </a:extLst>
                </a:gridCol>
                <a:gridCol w="1374773">
                  <a:extLst>
                    <a:ext uri="{9D8B030D-6E8A-4147-A177-3AD203B41FA5}">
                      <a16:colId xmlns:a16="http://schemas.microsoft.com/office/drawing/2014/main" val="1662320350"/>
                    </a:ext>
                  </a:extLst>
                </a:gridCol>
                <a:gridCol w="2420538">
                  <a:extLst>
                    <a:ext uri="{9D8B030D-6E8A-4147-A177-3AD203B41FA5}">
                      <a16:colId xmlns:a16="http://schemas.microsoft.com/office/drawing/2014/main" val="2220940697"/>
                    </a:ext>
                  </a:extLst>
                </a:gridCol>
                <a:gridCol w="963518">
                  <a:extLst>
                    <a:ext uri="{9D8B030D-6E8A-4147-A177-3AD203B41FA5}">
                      <a16:colId xmlns:a16="http://schemas.microsoft.com/office/drawing/2014/main" val="50196595"/>
                    </a:ext>
                  </a:extLst>
                </a:gridCol>
              </a:tblGrid>
              <a:tr h="549942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Счет 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Субконто 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Счет</a:t>
                      </a:r>
                      <a:r>
                        <a:rPr lang="ru-RU" baseline="0" dirty="0"/>
                        <a:t> Кт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Субконто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Сумма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180072"/>
                  </a:ext>
                </a:extLst>
              </a:tr>
              <a:tr h="121337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C00000"/>
                          </a:solidFill>
                        </a:rPr>
                        <a:t>&lt;41.1</a:t>
                      </a:r>
                      <a:r>
                        <a:rPr lang="ru-RU" sz="1400" baseline="0" dirty="0">
                          <a:solidFill>
                            <a:srgbClr val="C00000"/>
                          </a:solidFill>
                        </a:rPr>
                        <a:t> Товары&gt;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C00000"/>
                          </a:solidFill>
                        </a:rPr>
                        <a:t>&lt;60</a:t>
                      </a:r>
                      <a:r>
                        <a:rPr lang="ru-RU" sz="1400" baseline="0" dirty="0">
                          <a:solidFill>
                            <a:srgbClr val="C00000"/>
                          </a:solidFill>
                        </a:rPr>
                        <a:t> Поставщики&gt;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6912448"/>
                  </a:ext>
                </a:extLst>
              </a:tr>
              <a:tr h="121337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C00000"/>
                          </a:solidFill>
                        </a:rPr>
                        <a:t>&lt;60</a:t>
                      </a:r>
                      <a:r>
                        <a:rPr lang="ru-RU" sz="1400" baseline="0" dirty="0">
                          <a:solidFill>
                            <a:srgbClr val="C00000"/>
                          </a:solidFill>
                        </a:rPr>
                        <a:t> Поставщики&gt;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C00000"/>
                          </a:solidFill>
                        </a:rPr>
                        <a:t>&lt;50</a:t>
                      </a:r>
                      <a:r>
                        <a:rPr lang="ru-RU" sz="1400" baseline="0" dirty="0">
                          <a:solidFill>
                            <a:srgbClr val="C00000"/>
                          </a:solidFill>
                        </a:rPr>
                        <a:t> Касса&gt;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700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6492729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8417972"/>
              </p:ext>
            </p:extLst>
          </p:nvPr>
        </p:nvGraphicFramePr>
        <p:xfrm>
          <a:off x="1634169" y="2002928"/>
          <a:ext cx="2364954" cy="11125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07335">
                  <a:extLst>
                    <a:ext uri="{9D8B030D-6E8A-4147-A177-3AD203B41FA5}">
                      <a16:colId xmlns:a16="http://schemas.microsoft.com/office/drawing/2014/main" val="2689706265"/>
                    </a:ext>
                  </a:extLst>
                </a:gridCol>
                <a:gridCol w="1057619">
                  <a:extLst>
                    <a:ext uri="{9D8B030D-6E8A-4147-A177-3AD203B41FA5}">
                      <a16:colId xmlns:a16="http://schemas.microsoft.com/office/drawing/2014/main" val="38452320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Ключ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69615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sz="1400" baseline="0" dirty="0">
                          <a:solidFill>
                            <a:srgbClr val="7030A0"/>
                          </a:solidFill>
                        </a:rPr>
                        <a:t> Товары&gt;</a:t>
                      </a:r>
                      <a:endParaRPr lang="ru-RU" sz="1400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&lt;Яблоки&gt;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5976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sz="1400" baseline="0" dirty="0">
                          <a:solidFill>
                            <a:srgbClr val="7030A0"/>
                          </a:solidFill>
                        </a:rPr>
                        <a:t> Склады&gt;</a:t>
                      </a:r>
                      <a:endParaRPr lang="ru-RU" sz="1400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&lt;Главный&gt;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1235298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8664319"/>
              </p:ext>
            </p:extLst>
          </p:nvPr>
        </p:nvGraphicFramePr>
        <p:xfrm>
          <a:off x="5445173" y="2036782"/>
          <a:ext cx="2364954" cy="8890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07335">
                  <a:extLst>
                    <a:ext uri="{9D8B030D-6E8A-4147-A177-3AD203B41FA5}">
                      <a16:colId xmlns:a16="http://schemas.microsoft.com/office/drawing/2014/main" val="2689706265"/>
                    </a:ext>
                  </a:extLst>
                </a:gridCol>
                <a:gridCol w="1057619">
                  <a:extLst>
                    <a:ext uri="{9D8B030D-6E8A-4147-A177-3AD203B41FA5}">
                      <a16:colId xmlns:a16="http://schemas.microsoft.com/office/drawing/2014/main" val="38452320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Ключ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69615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sz="1400" baseline="0" dirty="0">
                          <a:solidFill>
                            <a:srgbClr val="7030A0"/>
                          </a:solidFill>
                        </a:rPr>
                        <a:t> Контрагенты&gt;</a:t>
                      </a:r>
                      <a:endParaRPr lang="ru-RU" sz="1400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&lt;Юг&gt;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597698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8346939"/>
              </p:ext>
            </p:extLst>
          </p:nvPr>
        </p:nvGraphicFramePr>
        <p:xfrm>
          <a:off x="1634169" y="3276876"/>
          <a:ext cx="2364954" cy="8890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07335">
                  <a:extLst>
                    <a:ext uri="{9D8B030D-6E8A-4147-A177-3AD203B41FA5}">
                      <a16:colId xmlns:a16="http://schemas.microsoft.com/office/drawing/2014/main" val="2689706265"/>
                    </a:ext>
                  </a:extLst>
                </a:gridCol>
                <a:gridCol w="1057619">
                  <a:extLst>
                    <a:ext uri="{9D8B030D-6E8A-4147-A177-3AD203B41FA5}">
                      <a16:colId xmlns:a16="http://schemas.microsoft.com/office/drawing/2014/main" val="38452320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Ключ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69615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sz="1400" baseline="0" dirty="0">
                          <a:solidFill>
                            <a:srgbClr val="7030A0"/>
                          </a:solidFill>
                        </a:rPr>
                        <a:t> Контрагенты&gt;</a:t>
                      </a:r>
                      <a:endParaRPr lang="ru-RU" sz="1400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&lt;Юг&gt;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597698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9422759"/>
              </p:ext>
            </p:extLst>
          </p:nvPr>
        </p:nvGraphicFramePr>
        <p:xfrm>
          <a:off x="5445173" y="3265783"/>
          <a:ext cx="2364954" cy="3708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07335">
                  <a:extLst>
                    <a:ext uri="{9D8B030D-6E8A-4147-A177-3AD203B41FA5}">
                      <a16:colId xmlns:a16="http://schemas.microsoft.com/office/drawing/2014/main" val="2689706265"/>
                    </a:ext>
                  </a:extLst>
                </a:gridCol>
                <a:gridCol w="1057619">
                  <a:extLst>
                    <a:ext uri="{9D8B030D-6E8A-4147-A177-3AD203B41FA5}">
                      <a16:colId xmlns:a16="http://schemas.microsoft.com/office/drawing/2014/main" val="38452320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Ключ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6961521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308831" y="6187737"/>
            <a:ext cx="2272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accent1">
                    <a:lumMod val="20000"/>
                    <a:lumOff val="80000"/>
                  </a:schemeClr>
                </a:solidFill>
                <a:hlinkClick r:id="rId2" action="ppaction://hlinksldjump"/>
              </a:rPr>
              <a:t>К настройкам счетов</a:t>
            </a:r>
            <a:endParaRPr lang="ru-RU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6105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83961"/>
          </a:xfrm>
        </p:spPr>
        <p:txBody>
          <a:bodyPr/>
          <a:lstStyle/>
          <a:p>
            <a:r>
              <a:rPr lang="ru-RU" dirty="0"/>
              <a:t>Таблица движений по счетам. При добавлении субконто не меняется!!!</a:t>
            </a:r>
          </a:p>
        </p:txBody>
      </p:sp>
      <p:graphicFrame>
        <p:nvGraphicFramePr>
          <p:cNvPr id="25" name="Таблица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3774558"/>
              </p:ext>
            </p:extLst>
          </p:nvPr>
        </p:nvGraphicFramePr>
        <p:xfrm>
          <a:off x="188119" y="1915678"/>
          <a:ext cx="8784000" cy="2041182"/>
        </p:xfrm>
        <a:graphic>
          <a:graphicData uri="http://schemas.openxmlformats.org/drawingml/2006/table">
            <a:tbl>
              <a:tblPr/>
              <a:tblGrid>
                <a:gridCol w="751746">
                  <a:extLst>
                    <a:ext uri="{9D8B030D-6E8A-4147-A177-3AD203B41FA5}">
                      <a16:colId xmlns:a16="http://schemas.microsoft.com/office/drawing/2014/main" val="659323842"/>
                    </a:ext>
                  </a:extLst>
                </a:gridCol>
                <a:gridCol w="1246382">
                  <a:extLst>
                    <a:ext uri="{9D8B030D-6E8A-4147-A177-3AD203B41FA5}">
                      <a16:colId xmlns:a16="http://schemas.microsoft.com/office/drawing/2014/main" val="170611764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1579992375"/>
                    </a:ext>
                  </a:extLst>
                </a:gridCol>
                <a:gridCol w="681644">
                  <a:extLst>
                    <a:ext uri="{9D8B030D-6E8A-4147-A177-3AD203B41FA5}">
                      <a16:colId xmlns:a16="http://schemas.microsoft.com/office/drawing/2014/main" val="1820059933"/>
                    </a:ext>
                  </a:extLst>
                </a:gridCol>
                <a:gridCol w="1014153">
                  <a:extLst>
                    <a:ext uri="{9D8B030D-6E8A-4147-A177-3AD203B41FA5}">
                      <a16:colId xmlns:a16="http://schemas.microsoft.com/office/drawing/2014/main" val="1175466578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3004660421"/>
                    </a:ext>
                  </a:extLst>
                </a:gridCol>
                <a:gridCol w="975493">
                  <a:extLst>
                    <a:ext uri="{9D8B030D-6E8A-4147-A177-3AD203B41FA5}">
                      <a16:colId xmlns:a16="http://schemas.microsoft.com/office/drawing/2014/main" val="192547059"/>
                    </a:ext>
                  </a:extLst>
                </a:gridCol>
                <a:gridCol w="1045035">
                  <a:extLst>
                    <a:ext uri="{9D8B030D-6E8A-4147-A177-3AD203B41FA5}">
                      <a16:colId xmlns:a16="http://schemas.microsoft.com/office/drawing/2014/main" val="1896172455"/>
                    </a:ext>
                  </a:extLst>
                </a:gridCol>
                <a:gridCol w="1047349">
                  <a:extLst>
                    <a:ext uri="{9D8B030D-6E8A-4147-A177-3AD203B41FA5}">
                      <a16:colId xmlns:a16="http://schemas.microsoft.com/office/drawing/2014/main" val="2418078376"/>
                    </a:ext>
                  </a:extLst>
                </a:gridCol>
                <a:gridCol w="467718">
                  <a:extLst>
                    <a:ext uri="{9D8B030D-6E8A-4147-A177-3AD203B41FA5}">
                      <a16:colId xmlns:a16="http://schemas.microsoft.com/office/drawing/2014/main" val="688871253"/>
                    </a:ext>
                  </a:extLst>
                </a:gridCol>
              </a:tblGrid>
              <a:tr h="250933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Регистратор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Номер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строки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Активность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Счет Дт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Счет Кт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Сумма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742481"/>
                  </a:ext>
                </a:extLst>
              </a:tr>
              <a:tr h="216191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Дт</a:t>
                      </a: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Кт</a:t>
                      </a: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5957350"/>
                  </a:ext>
                </a:extLst>
              </a:tr>
              <a:tr h="262343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03.03.2018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1 </a:t>
                      </a:r>
                      <a:r>
                        <a:rPr lang="ru-RU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от</a:t>
                      </a:r>
                      <a:r>
                        <a:rPr lang="x-none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03.03.2018</a:t>
                      </a:r>
                      <a:endParaRPr lang="ru-RU" sz="11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</a:t>
                      </a: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товары</a:t>
                      </a:r>
                      <a:r>
                        <a:rPr lang="x-none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1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1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1000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7097053"/>
                  </a:ext>
                </a:extLst>
              </a:tr>
              <a:tr h="262343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13.03.2018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2 </a:t>
                      </a:r>
                      <a:r>
                        <a:rPr lang="ru-RU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от</a:t>
                      </a:r>
                      <a:r>
                        <a:rPr lang="x-none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13.03.2018</a:t>
                      </a:r>
                      <a:endParaRPr lang="ru-RU" sz="11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</a:t>
                      </a: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товары</a:t>
                      </a:r>
                      <a:r>
                        <a:rPr lang="x-none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1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1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1800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4191085"/>
                  </a:ext>
                </a:extLst>
              </a:tr>
              <a:tr h="262343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13.03.2018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2 </a:t>
                      </a: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от</a:t>
                      </a:r>
                      <a:r>
                        <a:rPr lang="x-none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13.03.2018</a:t>
                      </a:r>
                      <a:endParaRPr lang="ru-RU" sz="11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 (</a:t>
                      </a:r>
                      <a:r>
                        <a:rPr lang="ru-RU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материалы</a:t>
                      </a:r>
                      <a:r>
                        <a:rPr lang="x-none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1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1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296131"/>
                  </a:ext>
                </a:extLst>
              </a:tr>
              <a:tr h="262343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 3 </a:t>
                      </a: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от 22.03.2018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</a:t>
                      </a: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товары</a:t>
                      </a: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1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1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1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100" dirty="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1200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3670924"/>
                  </a:ext>
                </a:extLst>
              </a:tr>
              <a:tr h="262343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 3 </a:t>
                      </a: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от 22.03.2018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</a:t>
                      </a: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товары</a:t>
                      </a: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1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1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2500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381765"/>
                  </a:ext>
                </a:extLst>
              </a:tr>
              <a:tr h="262343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1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 3 </a:t>
                      </a:r>
                      <a:r>
                        <a:rPr lang="ru-RU" sz="11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от 22.03.2018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10 (</a:t>
                      </a: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материалы</a:t>
                      </a: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1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1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83159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8719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07280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остатков и оборотов по счетам</a:t>
            </a:r>
            <a:r>
              <a:rPr lang="en-US" dirty="0"/>
              <a:t/>
            </a:r>
            <a:br>
              <a:rPr lang="en-US" dirty="0"/>
            </a:br>
            <a:r>
              <a:rPr lang="ru-RU" dirty="0"/>
              <a:t>Добавили 2 субконто 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6257668"/>
              </p:ext>
            </p:extLst>
          </p:nvPr>
        </p:nvGraphicFramePr>
        <p:xfrm>
          <a:off x="188120" y="1628472"/>
          <a:ext cx="8783999" cy="1320800"/>
        </p:xfrm>
        <a:graphic>
          <a:graphicData uri="http://schemas.openxmlformats.org/drawingml/2006/table">
            <a:tbl>
              <a:tblPr/>
              <a:tblGrid>
                <a:gridCol w="817720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97033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0778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2842953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698269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98022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685268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713956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касса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75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75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 (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УК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  <a:endParaRPr lang="x-none" sz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-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4822593"/>
                  </a:ext>
                </a:extLst>
              </a:tr>
            </a:tbl>
          </a:graphicData>
        </a:graphic>
      </p:graphicFrame>
      <p:graphicFrame>
        <p:nvGraphicFramePr>
          <p:cNvPr id="35" name="Таблица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1988042"/>
              </p:ext>
            </p:extLst>
          </p:nvPr>
        </p:nvGraphicFramePr>
        <p:xfrm>
          <a:off x="188117" y="3187949"/>
          <a:ext cx="8784001" cy="1320800"/>
        </p:xfrm>
        <a:graphic>
          <a:graphicData uri="http://schemas.openxmlformats.org/drawingml/2006/table">
            <a:tbl>
              <a:tblPr/>
              <a:tblGrid>
                <a:gridCol w="817722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1172094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1679172">
                  <a:extLst>
                    <a:ext uri="{9D8B030D-6E8A-4147-A177-3AD203B41FA5}">
                      <a16:colId xmlns:a16="http://schemas.microsoft.com/office/drawing/2014/main" val="4022660776"/>
                    </a:ext>
                  </a:extLst>
                </a:gridCol>
                <a:gridCol w="706582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89709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748146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75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Учредители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Иванов И.И.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5000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7500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-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ООО Лето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-6200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4822593"/>
                  </a:ext>
                </a:extLst>
              </a:tr>
            </a:tbl>
          </a:graphicData>
        </a:graphic>
      </p:graphicFrame>
      <p:graphicFrame>
        <p:nvGraphicFramePr>
          <p:cNvPr id="36" name="Таблица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7704757"/>
              </p:ext>
            </p:extLst>
          </p:nvPr>
        </p:nvGraphicFramePr>
        <p:xfrm>
          <a:off x="188117" y="4747426"/>
          <a:ext cx="8784001" cy="1320800"/>
        </p:xfrm>
        <a:graphic>
          <a:graphicData uri="http://schemas.openxmlformats.org/drawingml/2006/table">
            <a:tbl>
              <a:tblPr/>
              <a:tblGrid>
                <a:gridCol w="817723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1163782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831272">
                  <a:extLst>
                    <a:ext uri="{9D8B030D-6E8A-4147-A177-3AD203B41FA5}">
                      <a16:colId xmlns:a16="http://schemas.microsoft.com/office/drawing/2014/main" val="4022660776"/>
                    </a:ext>
                  </a:extLst>
                </a:gridCol>
                <a:gridCol w="839586">
                  <a:extLst>
                    <a:ext uri="{9D8B030D-6E8A-4147-A177-3AD203B41FA5}">
                      <a16:colId xmlns:a16="http://schemas.microsoft.com/office/drawing/2014/main" val="425026031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2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Основной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Материалы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Груши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Основной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4822593"/>
                  </a:ext>
                </a:extLst>
              </a:tr>
            </a:tbl>
          </a:graphicData>
        </a:graphic>
      </p:graphicFrame>
      <p:sp>
        <p:nvSpPr>
          <p:cNvPr id="37" name="Rounded Rectangle 3"/>
          <p:cNvSpPr/>
          <p:nvPr/>
        </p:nvSpPr>
        <p:spPr>
          <a:xfrm>
            <a:off x="4314871" y="3132217"/>
            <a:ext cx="1819923" cy="1376532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Rounded Rectangle 3"/>
          <p:cNvSpPr/>
          <p:nvPr/>
        </p:nvSpPr>
        <p:spPr>
          <a:xfrm>
            <a:off x="4347902" y="4659680"/>
            <a:ext cx="1753859" cy="1483425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80154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3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25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7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750"/>
                            </p:stCondLst>
                            <p:childTnLst>
                              <p:par>
                                <p:cTn id="21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 tmFilter="0, 0; .2, .5; .8, .5; 1, 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3" dur="250" autoRev="1" fill="hold"/>
                                        <p:tgtEl>
                                          <p:spTgt spid="3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250"/>
                            </p:stCondLst>
                            <p:childTnLst>
                              <p:par>
                                <p:cTn id="25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7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7" grpId="1" animBg="1"/>
      <p:bldP spid="37" grpId="2" animBg="1"/>
      <p:bldP spid="38" grpId="0" animBg="1"/>
      <p:bldP spid="38" grpId="1" animBg="1"/>
      <p:bldP spid="38" grpId="2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383439"/>
              </p:ext>
            </p:extLst>
          </p:nvPr>
        </p:nvGraphicFramePr>
        <p:xfrm>
          <a:off x="188120" y="1204519"/>
          <a:ext cx="8783999" cy="1320800"/>
        </p:xfrm>
        <a:graphic>
          <a:graphicData uri="http://schemas.openxmlformats.org/drawingml/2006/table">
            <a:tbl>
              <a:tblPr/>
              <a:tblGrid>
                <a:gridCol w="817720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97033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0778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2842953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698269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98022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685268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713956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касса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75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75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 (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УК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  <a:endParaRPr lang="x-none" sz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-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4822593"/>
                  </a:ext>
                </a:extLst>
              </a:tr>
            </a:tbl>
          </a:graphicData>
        </a:graphic>
      </p:graphicFrame>
      <p:graphicFrame>
        <p:nvGraphicFramePr>
          <p:cNvPr id="35" name="Таблица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1598671"/>
              </p:ext>
            </p:extLst>
          </p:nvPr>
        </p:nvGraphicFramePr>
        <p:xfrm>
          <a:off x="188117" y="2763996"/>
          <a:ext cx="8784001" cy="1320800"/>
        </p:xfrm>
        <a:graphic>
          <a:graphicData uri="http://schemas.openxmlformats.org/drawingml/2006/table">
            <a:tbl>
              <a:tblPr/>
              <a:tblGrid>
                <a:gridCol w="817722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1172094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1679172">
                  <a:extLst>
                    <a:ext uri="{9D8B030D-6E8A-4147-A177-3AD203B41FA5}">
                      <a16:colId xmlns:a16="http://schemas.microsoft.com/office/drawing/2014/main" val="4022660776"/>
                    </a:ext>
                  </a:extLst>
                </a:gridCol>
                <a:gridCol w="706582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89709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748146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75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Учредители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Иванов И.И.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5000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7500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-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ООО Лето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-6200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4822593"/>
                  </a:ext>
                </a:extLst>
              </a:tr>
            </a:tbl>
          </a:graphicData>
        </a:graphic>
      </p:graphicFrame>
      <p:graphicFrame>
        <p:nvGraphicFramePr>
          <p:cNvPr id="36" name="Таблица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6502005"/>
              </p:ext>
            </p:extLst>
          </p:nvPr>
        </p:nvGraphicFramePr>
        <p:xfrm>
          <a:off x="188117" y="4323473"/>
          <a:ext cx="8784001" cy="1320800"/>
        </p:xfrm>
        <a:graphic>
          <a:graphicData uri="http://schemas.openxmlformats.org/drawingml/2006/table">
            <a:tbl>
              <a:tblPr/>
              <a:tblGrid>
                <a:gridCol w="817723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1163782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831272">
                  <a:extLst>
                    <a:ext uri="{9D8B030D-6E8A-4147-A177-3AD203B41FA5}">
                      <a16:colId xmlns:a16="http://schemas.microsoft.com/office/drawing/2014/main" val="4022660776"/>
                    </a:ext>
                  </a:extLst>
                </a:gridCol>
                <a:gridCol w="839586">
                  <a:extLst>
                    <a:ext uri="{9D8B030D-6E8A-4147-A177-3AD203B41FA5}">
                      <a16:colId xmlns:a16="http://schemas.microsoft.com/office/drawing/2014/main" val="425026031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2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Основной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Материалы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Груши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Основной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4822593"/>
                  </a:ext>
                </a:extLst>
              </a:tr>
            </a:tbl>
          </a:graphicData>
        </a:graphic>
      </p:graphicFrame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Субконто – поле составного типа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0299" y="5989934"/>
            <a:ext cx="4472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FF0000"/>
                </a:solidFill>
                <a:latin typeface="Arial Black" panose="020B0A04020102020204" pitchFamily="34" charset="0"/>
              </a:rPr>
              <a:t>Можем «выпасть» из индекса</a:t>
            </a:r>
          </a:p>
        </p:txBody>
      </p:sp>
      <p:sp>
        <p:nvSpPr>
          <p:cNvPr id="11" name="Левая фигурная скобка 10"/>
          <p:cNvSpPr/>
          <p:nvPr/>
        </p:nvSpPr>
        <p:spPr>
          <a:xfrm rot="16200000">
            <a:off x="5066652" y="4978250"/>
            <a:ext cx="345660" cy="1677708"/>
          </a:xfrm>
          <a:prstGeom prst="leftBrac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3961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7" presetClass="emph" presetSubtype="0" repeatCount="3000" fill="remove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375" autoRev="1" fill="remov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5" dur="375" autoRev="1" fill="remove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6" dur="375" autoRev="1" fill="remove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7" dur="375" autoRev="1" fill="remove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  <p:bldP spid="1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07280"/>
          </a:xfrm>
        </p:spPr>
        <p:txBody>
          <a:bodyPr>
            <a:normAutofit/>
          </a:bodyPr>
          <a:lstStyle/>
          <a:p>
            <a:r>
              <a:rPr lang="ru-RU" dirty="0"/>
              <a:t>Субконто – поле составного типа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169319" y="6214597"/>
            <a:ext cx="4472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FF0000"/>
                </a:solidFill>
                <a:latin typeface="Arial Black" panose="020B0A04020102020204" pitchFamily="34" charset="0"/>
              </a:rPr>
              <a:t>Можем «выпасть» из индекса</a:t>
            </a:r>
          </a:p>
        </p:txBody>
      </p:sp>
      <p:sp>
        <p:nvSpPr>
          <p:cNvPr id="5" name="Левая фигурная скобка 4"/>
          <p:cNvSpPr/>
          <p:nvPr/>
        </p:nvSpPr>
        <p:spPr>
          <a:xfrm rot="16200000">
            <a:off x="5057617" y="5222143"/>
            <a:ext cx="368841" cy="1672588"/>
          </a:xfrm>
          <a:prstGeom prst="leftBrac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5236559"/>
              </p:ext>
            </p:extLst>
          </p:nvPr>
        </p:nvGraphicFramePr>
        <p:xfrm>
          <a:off x="238004" y="2642683"/>
          <a:ext cx="8832326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2630">
                  <a:extLst>
                    <a:ext uri="{9D8B030D-6E8A-4147-A177-3AD203B41FA5}">
                      <a16:colId xmlns:a16="http://schemas.microsoft.com/office/drawing/2014/main" val="882719709"/>
                    </a:ext>
                  </a:extLst>
                </a:gridCol>
                <a:gridCol w="715619">
                  <a:extLst>
                    <a:ext uri="{9D8B030D-6E8A-4147-A177-3AD203B41FA5}">
                      <a16:colId xmlns:a16="http://schemas.microsoft.com/office/drawing/2014/main" val="4047893140"/>
                    </a:ext>
                  </a:extLst>
                </a:gridCol>
                <a:gridCol w="1592829">
                  <a:extLst>
                    <a:ext uri="{9D8B030D-6E8A-4147-A177-3AD203B41FA5}">
                      <a16:colId xmlns:a16="http://schemas.microsoft.com/office/drawing/2014/main" val="3308976383"/>
                    </a:ext>
                  </a:extLst>
                </a:gridCol>
                <a:gridCol w="1651203">
                  <a:extLst>
                    <a:ext uri="{9D8B030D-6E8A-4147-A177-3AD203B41FA5}">
                      <a16:colId xmlns:a16="http://schemas.microsoft.com/office/drawing/2014/main" val="3831111846"/>
                    </a:ext>
                  </a:extLst>
                </a:gridCol>
                <a:gridCol w="1215561">
                  <a:extLst>
                    <a:ext uri="{9D8B030D-6E8A-4147-A177-3AD203B41FA5}">
                      <a16:colId xmlns:a16="http://schemas.microsoft.com/office/drawing/2014/main" val="404959483"/>
                    </a:ext>
                  </a:extLst>
                </a:gridCol>
                <a:gridCol w="1202698">
                  <a:extLst>
                    <a:ext uri="{9D8B030D-6E8A-4147-A177-3AD203B41FA5}">
                      <a16:colId xmlns:a16="http://schemas.microsoft.com/office/drawing/2014/main" val="4010275965"/>
                    </a:ext>
                  </a:extLst>
                </a:gridCol>
                <a:gridCol w="1461786">
                  <a:extLst>
                    <a:ext uri="{9D8B030D-6E8A-4147-A177-3AD203B41FA5}">
                      <a16:colId xmlns:a16="http://schemas.microsoft.com/office/drawing/2014/main" val="7352459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Период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Счет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Организация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Подразделение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Субконто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Субконто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Итого полей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2335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5367306"/>
                  </a:ext>
                </a:extLst>
              </a:tr>
            </a:tbl>
          </a:graphicData>
        </a:graphic>
      </p:graphicFrame>
      <p:sp>
        <p:nvSpPr>
          <p:cNvPr id="42" name="Левая фигурная скобка 41"/>
          <p:cNvSpPr/>
          <p:nvPr/>
        </p:nvSpPr>
        <p:spPr>
          <a:xfrm rot="5400000">
            <a:off x="5069208" y="3525991"/>
            <a:ext cx="345660" cy="1672588"/>
          </a:xfrm>
          <a:prstGeom prst="leftBrac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Левая фигурная скобка 42"/>
          <p:cNvSpPr/>
          <p:nvPr/>
        </p:nvSpPr>
        <p:spPr>
          <a:xfrm rot="16200000">
            <a:off x="6236342" y="2373778"/>
            <a:ext cx="345660" cy="2384933"/>
          </a:xfrm>
          <a:prstGeom prst="leftBrac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44" name="Прямая со стрелкой 43"/>
          <p:cNvCxnSpPr/>
          <p:nvPr/>
        </p:nvCxnSpPr>
        <p:spPr>
          <a:xfrm flipV="1">
            <a:off x="5353396" y="3716229"/>
            <a:ext cx="882151" cy="4868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aphicFrame>
        <p:nvGraphicFramePr>
          <p:cNvPr id="21" name="Таблица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9809207"/>
              </p:ext>
            </p:extLst>
          </p:nvPr>
        </p:nvGraphicFramePr>
        <p:xfrm>
          <a:off x="188118" y="4544166"/>
          <a:ext cx="8784001" cy="1320800"/>
        </p:xfrm>
        <a:graphic>
          <a:graphicData uri="http://schemas.openxmlformats.org/drawingml/2006/table">
            <a:tbl>
              <a:tblPr/>
              <a:tblGrid>
                <a:gridCol w="817723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1163782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831272">
                  <a:extLst>
                    <a:ext uri="{9D8B030D-6E8A-4147-A177-3AD203B41FA5}">
                      <a16:colId xmlns:a16="http://schemas.microsoft.com/office/drawing/2014/main" val="4022660776"/>
                    </a:ext>
                  </a:extLst>
                </a:gridCol>
                <a:gridCol w="839586">
                  <a:extLst>
                    <a:ext uri="{9D8B030D-6E8A-4147-A177-3AD203B41FA5}">
                      <a16:colId xmlns:a16="http://schemas.microsoft.com/office/drawing/2014/main" val="425026031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2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Основной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Материалы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Груши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Основной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48225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0036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Настройка для </a:t>
            </a:r>
            <a:r>
              <a:rPr lang="ru-RU" dirty="0" err="1"/>
              <a:t>пвх</a:t>
            </a:r>
            <a:r>
              <a:rPr lang="ru-RU" dirty="0"/>
              <a:t> «Виды субконто»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0310139"/>
              </p:ext>
            </p:extLst>
          </p:nvPr>
        </p:nvGraphicFramePr>
        <p:xfrm>
          <a:off x="281747" y="4299034"/>
          <a:ext cx="8596735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373">
                  <a:extLst>
                    <a:ext uri="{9D8B030D-6E8A-4147-A177-3AD203B41FA5}">
                      <a16:colId xmlns:a16="http://schemas.microsoft.com/office/drawing/2014/main" val="2665122891"/>
                    </a:ext>
                  </a:extLst>
                </a:gridCol>
                <a:gridCol w="949959">
                  <a:extLst>
                    <a:ext uri="{9D8B030D-6E8A-4147-A177-3AD203B41FA5}">
                      <a16:colId xmlns:a16="http://schemas.microsoft.com/office/drawing/2014/main" val="3634049784"/>
                    </a:ext>
                  </a:extLst>
                </a:gridCol>
                <a:gridCol w="1311008">
                  <a:extLst>
                    <a:ext uri="{9D8B030D-6E8A-4147-A177-3AD203B41FA5}">
                      <a16:colId xmlns:a16="http://schemas.microsoft.com/office/drawing/2014/main" val="2755661369"/>
                    </a:ext>
                  </a:extLst>
                </a:gridCol>
                <a:gridCol w="1264431">
                  <a:extLst>
                    <a:ext uri="{9D8B030D-6E8A-4147-A177-3AD203B41FA5}">
                      <a16:colId xmlns:a16="http://schemas.microsoft.com/office/drawing/2014/main" val="1582707422"/>
                    </a:ext>
                  </a:extLst>
                </a:gridCol>
                <a:gridCol w="1180754">
                  <a:extLst>
                    <a:ext uri="{9D8B030D-6E8A-4147-A177-3AD203B41FA5}">
                      <a16:colId xmlns:a16="http://schemas.microsoft.com/office/drawing/2014/main" val="257742612"/>
                    </a:ext>
                  </a:extLst>
                </a:gridCol>
                <a:gridCol w="1228105">
                  <a:extLst>
                    <a:ext uri="{9D8B030D-6E8A-4147-A177-3AD203B41FA5}">
                      <a16:colId xmlns:a16="http://schemas.microsoft.com/office/drawing/2014/main" val="3880621152"/>
                    </a:ext>
                  </a:extLst>
                </a:gridCol>
                <a:gridCol w="1228105">
                  <a:extLst>
                    <a:ext uri="{9D8B030D-6E8A-4147-A177-3AD203B41FA5}">
                      <a16:colId xmlns:a16="http://schemas.microsoft.com/office/drawing/2014/main" val="26296618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Выбранный</a:t>
                      </a:r>
                      <a:r>
                        <a:rPr lang="ru-RU" baseline="0" dirty="0"/>
                        <a:t> тип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Число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Строка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Булево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Номер Таблицы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0624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&lt;Яблоки&gt;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3467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&lt;ООО</a:t>
                      </a:r>
                      <a:r>
                        <a:rPr lang="ru-RU" baseline="0" dirty="0"/>
                        <a:t> Юг&gt;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6714401"/>
                  </a:ext>
                </a:extLst>
              </a:tr>
            </a:tbl>
          </a:graphicData>
        </a:graphic>
      </p:graphicFrame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2303" y="1227864"/>
            <a:ext cx="3095625" cy="2771775"/>
          </a:xfrm>
          <a:prstGeom prst="rect">
            <a:avLst/>
          </a:prstGeom>
        </p:spPr>
      </p:pic>
      <p:sp>
        <p:nvSpPr>
          <p:cNvPr id="6" name="Rounded Rectangle 3"/>
          <p:cNvSpPr/>
          <p:nvPr/>
        </p:nvSpPr>
        <p:spPr>
          <a:xfrm>
            <a:off x="2930488" y="1923966"/>
            <a:ext cx="2622013" cy="753133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>
            <a:off x="1718631" y="4299034"/>
            <a:ext cx="4704203" cy="138176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" name="Прямая соединительная линия 9"/>
          <p:cNvCxnSpPr/>
          <p:nvPr/>
        </p:nvCxnSpPr>
        <p:spPr>
          <a:xfrm flipV="1">
            <a:off x="1718631" y="4299034"/>
            <a:ext cx="4704203" cy="138176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9005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75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6" grpId="2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Настройка для </a:t>
            </a:r>
            <a:r>
              <a:rPr lang="ru-RU" dirty="0" err="1"/>
              <a:t>пвх</a:t>
            </a:r>
            <a:r>
              <a:rPr lang="ru-RU" dirty="0"/>
              <a:t> «Виды субконто»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4823" y="1260915"/>
            <a:ext cx="3095625" cy="2771775"/>
          </a:xfrm>
          <a:prstGeom prst="rect">
            <a:avLst/>
          </a:prstGeom>
        </p:spPr>
      </p:pic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1160681"/>
              </p:ext>
            </p:extLst>
          </p:nvPr>
        </p:nvGraphicFramePr>
        <p:xfrm>
          <a:off x="2237343" y="4578154"/>
          <a:ext cx="3890583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373">
                  <a:extLst>
                    <a:ext uri="{9D8B030D-6E8A-4147-A177-3AD203B41FA5}">
                      <a16:colId xmlns:a16="http://schemas.microsoft.com/office/drawing/2014/main" val="2665122891"/>
                    </a:ext>
                  </a:extLst>
                </a:gridCol>
                <a:gridCol w="1228105">
                  <a:extLst>
                    <a:ext uri="{9D8B030D-6E8A-4147-A177-3AD203B41FA5}">
                      <a16:colId xmlns:a16="http://schemas.microsoft.com/office/drawing/2014/main" val="3880621152"/>
                    </a:ext>
                  </a:extLst>
                </a:gridCol>
                <a:gridCol w="1228105">
                  <a:extLst>
                    <a:ext uri="{9D8B030D-6E8A-4147-A177-3AD203B41FA5}">
                      <a16:colId xmlns:a16="http://schemas.microsoft.com/office/drawing/2014/main" val="26296618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Выбранный</a:t>
                      </a:r>
                      <a:r>
                        <a:rPr lang="ru-RU" baseline="0" dirty="0"/>
                        <a:t> тип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Номер Таблицы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0624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&lt;Яблоки&gt;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3467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&lt;ООО</a:t>
                      </a:r>
                      <a:r>
                        <a:rPr lang="ru-RU" baseline="0" dirty="0"/>
                        <a:t> Юг&gt;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67144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5297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07280"/>
          </a:xfrm>
        </p:spPr>
        <p:txBody>
          <a:bodyPr>
            <a:normAutofit fontScale="90000"/>
          </a:bodyPr>
          <a:lstStyle/>
          <a:p>
            <a:r>
              <a:rPr lang="ru-RU" dirty="0"/>
              <a:t>Количество полей при правильной настройки субконто</a:t>
            </a:r>
          </a:p>
        </p:txBody>
      </p:sp>
      <p:sp>
        <p:nvSpPr>
          <p:cNvPr id="5" name="Левая фигурная скобка 4"/>
          <p:cNvSpPr/>
          <p:nvPr/>
        </p:nvSpPr>
        <p:spPr>
          <a:xfrm rot="5400000">
            <a:off x="5056875" y="3670788"/>
            <a:ext cx="345660" cy="1681171"/>
          </a:xfrm>
          <a:prstGeom prst="leftBrac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351524"/>
              </p:ext>
            </p:extLst>
          </p:nvPr>
        </p:nvGraphicFramePr>
        <p:xfrm>
          <a:off x="238003" y="2620651"/>
          <a:ext cx="8832326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2630">
                  <a:extLst>
                    <a:ext uri="{9D8B030D-6E8A-4147-A177-3AD203B41FA5}">
                      <a16:colId xmlns:a16="http://schemas.microsoft.com/office/drawing/2014/main" val="882719709"/>
                    </a:ext>
                  </a:extLst>
                </a:gridCol>
                <a:gridCol w="715619">
                  <a:extLst>
                    <a:ext uri="{9D8B030D-6E8A-4147-A177-3AD203B41FA5}">
                      <a16:colId xmlns:a16="http://schemas.microsoft.com/office/drawing/2014/main" val="4047893140"/>
                    </a:ext>
                  </a:extLst>
                </a:gridCol>
                <a:gridCol w="1592829">
                  <a:extLst>
                    <a:ext uri="{9D8B030D-6E8A-4147-A177-3AD203B41FA5}">
                      <a16:colId xmlns:a16="http://schemas.microsoft.com/office/drawing/2014/main" val="3308976383"/>
                    </a:ext>
                  </a:extLst>
                </a:gridCol>
                <a:gridCol w="1651203">
                  <a:extLst>
                    <a:ext uri="{9D8B030D-6E8A-4147-A177-3AD203B41FA5}">
                      <a16:colId xmlns:a16="http://schemas.microsoft.com/office/drawing/2014/main" val="3831111846"/>
                    </a:ext>
                  </a:extLst>
                </a:gridCol>
                <a:gridCol w="1215561">
                  <a:extLst>
                    <a:ext uri="{9D8B030D-6E8A-4147-A177-3AD203B41FA5}">
                      <a16:colId xmlns:a16="http://schemas.microsoft.com/office/drawing/2014/main" val="404959483"/>
                    </a:ext>
                  </a:extLst>
                </a:gridCol>
                <a:gridCol w="1202698">
                  <a:extLst>
                    <a:ext uri="{9D8B030D-6E8A-4147-A177-3AD203B41FA5}">
                      <a16:colId xmlns:a16="http://schemas.microsoft.com/office/drawing/2014/main" val="4010275965"/>
                    </a:ext>
                  </a:extLst>
                </a:gridCol>
                <a:gridCol w="1461786">
                  <a:extLst>
                    <a:ext uri="{9D8B030D-6E8A-4147-A177-3AD203B41FA5}">
                      <a16:colId xmlns:a16="http://schemas.microsoft.com/office/drawing/2014/main" val="7352459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Период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Счет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Организация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Подразделение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Субконто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Субконто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Итого полей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2335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5367306"/>
                  </a:ext>
                </a:extLst>
              </a:tr>
            </a:tbl>
          </a:graphicData>
        </a:graphic>
      </p:graphicFrame>
      <p:sp>
        <p:nvSpPr>
          <p:cNvPr id="20" name="Левая фигурная скобка 19"/>
          <p:cNvSpPr/>
          <p:nvPr/>
        </p:nvSpPr>
        <p:spPr>
          <a:xfrm rot="16200000">
            <a:off x="6229199" y="2346568"/>
            <a:ext cx="345660" cy="2377186"/>
          </a:xfrm>
          <a:prstGeom prst="leftBrac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" name="Прямая со стрелкой 6"/>
          <p:cNvCxnSpPr/>
          <p:nvPr/>
        </p:nvCxnSpPr>
        <p:spPr>
          <a:xfrm flipV="1">
            <a:off x="5320145" y="3716230"/>
            <a:ext cx="915402" cy="62231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3442615"/>
              </p:ext>
            </p:extLst>
          </p:nvPr>
        </p:nvGraphicFramePr>
        <p:xfrm>
          <a:off x="188118" y="4684203"/>
          <a:ext cx="8784001" cy="1320800"/>
        </p:xfrm>
        <a:graphic>
          <a:graphicData uri="http://schemas.openxmlformats.org/drawingml/2006/table">
            <a:tbl>
              <a:tblPr/>
              <a:tblGrid>
                <a:gridCol w="817723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1163782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831272">
                  <a:extLst>
                    <a:ext uri="{9D8B030D-6E8A-4147-A177-3AD203B41FA5}">
                      <a16:colId xmlns:a16="http://schemas.microsoft.com/office/drawing/2014/main" val="4022660776"/>
                    </a:ext>
                  </a:extLst>
                </a:gridCol>
                <a:gridCol w="839586">
                  <a:extLst>
                    <a:ext uri="{9D8B030D-6E8A-4147-A177-3AD203B41FA5}">
                      <a16:colId xmlns:a16="http://schemas.microsoft.com/office/drawing/2014/main" val="425026031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2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Основной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Материалы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Груши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Основной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48225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7931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СофтБаланс_БухгалтерскийУчет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СофтБаланс_БухгалтерскийУчет" id="{6670B6C7-2F4E-4802-A3C4-7AA80492A898}" vid="{AB6A078B-6BB8-4032-BA3D-357D6E16E8F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СофтБаланс_БухгалтерскийУчет</Template>
  <TotalTime>3291</TotalTime>
  <Words>3733</Words>
  <Application>Microsoft Office PowerPoint</Application>
  <PresentationFormat>Экран (4:3)</PresentationFormat>
  <Paragraphs>2046</Paragraphs>
  <Slides>49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49</vt:i4>
      </vt:variant>
    </vt:vector>
  </HeadingPairs>
  <TitlesOfParts>
    <vt:vector size="56" baseType="lpstr">
      <vt:lpstr>Arial</vt:lpstr>
      <vt:lpstr>Arial Black</vt:lpstr>
      <vt:lpstr>Calibri</vt:lpstr>
      <vt:lpstr>Tahoma</vt:lpstr>
      <vt:lpstr>Verdana</vt:lpstr>
      <vt:lpstr>Wingdings</vt:lpstr>
      <vt:lpstr>СофтБаланс_БухгалтерскийУчет</vt:lpstr>
      <vt:lpstr>Занятие 13</vt:lpstr>
      <vt:lpstr>Балансовое измерение «Организация»</vt:lpstr>
      <vt:lpstr>Таблица движений по счетам до изменения</vt:lpstr>
      <vt:lpstr>Таблица движений по счетам. Добавили балансовое измерение «Организация»</vt:lpstr>
      <vt:lpstr>Таблица остатков и оборотов по счетам до изменения.</vt:lpstr>
      <vt:lpstr>Таблица остатков и оборотов по счетам. Добавили измерение «Организация». </vt:lpstr>
      <vt:lpstr>Таблица оборотов между счетами до изменения.</vt:lpstr>
      <vt:lpstr>Таблица оборотов между счетами. Добавили измерение «Организация» </vt:lpstr>
      <vt:lpstr>Сквозная аналитика</vt:lpstr>
      <vt:lpstr>Учет по подразделениям</vt:lpstr>
      <vt:lpstr>Признак учета</vt:lpstr>
      <vt:lpstr>Специальный реквизит типа булево</vt:lpstr>
      <vt:lpstr>Таблица движений по счетам до изменения.</vt:lpstr>
      <vt:lpstr>Таблица движений по счетам. Добавили не балансовое измерение «Подразделение».</vt:lpstr>
      <vt:lpstr>Таблица остатков и оборотов по счетам до изменения.</vt:lpstr>
      <vt:lpstr>Таблица остатков и оборотов по счетам. Добавили не балансовое измерение «Подразделение».</vt:lpstr>
      <vt:lpstr>Таблица оборотов между счетами до изменения</vt:lpstr>
      <vt:lpstr>Таблица оборотов между счетами. Добавили не балансовое измерение «Подразделение».</vt:lpstr>
      <vt:lpstr>Обычная аналитика</vt:lpstr>
      <vt:lpstr>Аналитика на субсчетах </vt:lpstr>
      <vt:lpstr>Аналитика на субконто </vt:lpstr>
      <vt:lpstr>Ограничения аналитики, подключаемой через измерения</vt:lpstr>
      <vt:lpstr>Хранение дополнительной информации</vt:lpstr>
      <vt:lpstr>Реквизиты справочника</vt:lpstr>
      <vt:lpstr>Много не пустых «пустот»</vt:lpstr>
      <vt:lpstr>Не оптимально</vt:lpstr>
      <vt:lpstr>Индексы</vt:lpstr>
      <vt:lpstr>Хранение дополнительной информации в отдельной таблице</vt:lpstr>
      <vt:lpstr>Хранение дополнительной информации в отдельной таблице</vt:lpstr>
      <vt:lpstr>Хранение дополнительной информации в отдельной таблице</vt:lpstr>
      <vt:lpstr>Хранение составного типа в базе данных</vt:lpstr>
      <vt:lpstr>Пример</vt:lpstr>
      <vt:lpstr>Субконто в проводке глазами пользователя</vt:lpstr>
      <vt:lpstr>Хранение субконто в отдельной таблице субконто</vt:lpstr>
      <vt:lpstr>Хранение субконто в отдельной таблице субконто</vt:lpstr>
      <vt:lpstr>План видов характиристик</vt:lpstr>
      <vt:lpstr>Таблица плана видов характеристик</vt:lpstr>
      <vt:lpstr>Настройка субконто в плане счетов</vt:lpstr>
      <vt:lpstr>Служебная табличная часть в плане счетов </vt:lpstr>
      <vt:lpstr>Объектное представление табличной части</vt:lpstr>
      <vt:lpstr>Табличная часть «субконто» регистра бухгалтерии</vt:lpstr>
      <vt:lpstr>Набор записей регистра бухгалтерии</vt:lpstr>
      <vt:lpstr>Таблица движений по счетам. При добавлении субконто не меняется!!!</vt:lpstr>
      <vt:lpstr>Таблица остатков и оборотов по счетам Добавили 2 субконто </vt:lpstr>
      <vt:lpstr>Субконто – поле составного типа</vt:lpstr>
      <vt:lpstr>Субконто – поле составного типа</vt:lpstr>
      <vt:lpstr>Настройка для пвх «Виды субконто»</vt:lpstr>
      <vt:lpstr>Настройка для пвх «Виды субконто»</vt:lpstr>
      <vt:lpstr>Количество полей при правильной настройки субконто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eugeniy sizov</dc:creator>
  <cp:lastModifiedBy>eugeniy sizov</cp:lastModifiedBy>
  <cp:revision>114</cp:revision>
  <dcterms:created xsi:type="dcterms:W3CDTF">2015-05-03T18:24:44Z</dcterms:created>
  <dcterms:modified xsi:type="dcterms:W3CDTF">2020-11-04T12:12:13Z</dcterms:modified>
</cp:coreProperties>
</file>