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13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288" r:id="rId10"/>
    <p:sldId id="327" r:id="rId11"/>
    <p:sldId id="328" r:id="rId12"/>
    <p:sldId id="329" r:id="rId13"/>
    <p:sldId id="297" r:id="rId14"/>
    <p:sldId id="298" r:id="rId15"/>
    <p:sldId id="304" r:id="rId16"/>
    <p:sldId id="281" r:id="rId17"/>
    <p:sldId id="300" r:id="rId18"/>
    <p:sldId id="303" r:id="rId19"/>
    <p:sldId id="305" r:id="rId20"/>
    <p:sldId id="330" r:id="rId21"/>
    <p:sldId id="339" r:id="rId22"/>
    <p:sldId id="314" r:id="rId23"/>
    <p:sldId id="343" r:id="rId24"/>
    <p:sldId id="344" r:id="rId25"/>
    <p:sldId id="345" r:id="rId26"/>
    <p:sldId id="346" r:id="rId27"/>
    <p:sldId id="347" r:id="rId28"/>
    <p:sldId id="354" r:id="rId29"/>
    <p:sldId id="349" r:id="rId30"/>
    <p:sldId id="320" r:id="rId31"/>
    <p:sldId id="353" r:id="rId32"/>
    <p:sldId id="350" r:id="rId33"/>
    <p:sldId id="351" r:id="rId34"/>
    <p:sldId id="352" r:id="rId35"/>
    <p:sldId id="317" r:id="rId36"/>
    <p:sldId id="318" r:id="rId37"/>
    <p:sldId id="315" r:id="rId38"/>
    <p:sldId id="316" r:id="rId39"/>
    <p:sldId id="331" r:id="rId40"/>
    <p:sldId id="307" r:id="rId41"/>
    <p:sldId id="319" r:id="rId42"/>
    <p:sldId id="309" r:id="rId43"/>
    <p:sldId id="341" r:id="rId44"/>
    <p:sldId id="342" r:id="rId45"/>
    <p:sldId id="323" r:id="rId46"/>
    <p:sldId id="324" r:id="rId47"/>
    <p:sldId id="325" r:id="rId48"/>
    <p:sldId id="326" r:id="rId4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20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iy sizov" userId="f166da1dfb7bc990" providerId="LiveId" clId="{FE0C4685-9AB4-46B0-BE5E-966D27220E85}"/>
  </pc:docChgLst>
  <pc:docChgLst>
    <pc:chgData name="eugeniy sizov" userId="f166da1dfb7bc990" providerId="LiveId" clId="{E38E5D77-43CC-4852-8625-B479EDF1C1FF}"/>
    <pc:docChg chg="modSld">
      <pc:chgData name="eugeniy sizov" userId="f166da1dfb7bc990" providerId="LiveId" clId="{E38E5D77-43CC-4852-8625-B479EDF1C1FF}" dt="2019-04-23T07:32:15.478" v="0" actId="20577"/>
      <pc:docMkLst>
        <pc:docMk/>
      </pc:docMkLst>
      <pc:sldChg chg="modSp">
        <pc:chgData name="eugeniy sizov" userId="f166da1dfb7bc990" providerId="LiveId" clId="{E38E5D77-43CC-4852-8625-B479EDF1C1FF}" dt="2019-04-23T07:32:15.478" v="0" actId="20577"/>
        <pc:sldMkLst>
          <pc:docMk/>
          <pc:sldMk cId="2038953413" sldId="313"/>
        </pc:sldMkLst>
        <pc:spChg chg="mod">
          <ac:chgData name="eugeniy sizov" userId="f166da1dfb7bc990" providerId="LiveId" clId="{E38E5D77-43CC-4852-8625-B479EDF1C1FF}" dt="2019-04-23T07:32:15.478" v="0" actId="20577"/>
          <ac:spMkLst>
            <pc:docMk/>
            <pc:sldMk cId="2038953413" sldId="313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4586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6081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68851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2890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5072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0102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277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9F2C-FF1B-446B-B587-9193227DE7CF}" type="datetimeFigureOut">
              <a:rPr lang="ru-RU" smtClean="0"/>
              <a:t>16.02.2020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6C949-E483-4B66-A953-6D1C8F56E8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02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93663" y="6310313"/>
            <a:ext cx="949326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/45</a:t>
            </a: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1802025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Разделитель учета</a:t>
            </a:r>
          </a:p>
          <a:p>
            <a:r>
              <a:rPr lang="ru-RU" dirty="0"/>
              <a:t>Сквозная аналитика</a:t>
            </a:r>
          </a:p>
          <a:p>
            <a:r>
              <a:rPr lang="ru-RU"/>
              <a:t>Обычная аналитика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Занятие 13</a:t>
            </a:r>
          </a:p>
        </p:txBody>
      </p:sp>
    </p:spTree>
    <p:extLst>
      <p:ext uri="{BB962C8B-B14F-4D97-AF65-F5344CB8AC3E}">
        <p14:creationId xmlns:p14="http://schemas.microsoft.com/office/powerpoint/2010/main" val="203895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Балансовое измерение «Организация»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69" y="1250185"/>
            <a:ext cx="4724400" cy="45339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793" y="2559527"/>
            <a:ext cx="4248150" cy="3457575"/>
          </a:xfrm>
          <a:prstGeom prst="rect">
            <a:avLst/>
          </a:prstGeom>
        </p:spPr>
      </p:pic>
      <p:sp>
        <p:nvSpPr>
          <p:cNvPr id="7" name="Rounded Rectangle 3"/>
          <p:cNvSpPr/>
          <p:nvPr/>
        </p:nvSpPr>
        <p:spPr>
          <a:xfrm>
            <a:off x="4320793" y="5383256"/>
            <a:ext cx="4140162" cy="344892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94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26317"/>
          </a:xfrm>
        </p:spPr>
        <p:txBody>
          <a:bodyPr/>
          <a:lstStyle/>
          <a:p>
            <a:r>
              <a:rPr lang="ru-RU" dirty="0"/>
              <a:t>Таблица движений по счетам до изменения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586046"/>
              </p:ext>
            </p:extLst>
          </p:nvPr>
        </p:nvGraphicFramePr>
        <p:xfrm>
          <a:off x="216000" y="1944000"/>
          <a:ext cx="6940295" cy="217424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2234536163"/>
                    </a:ext>
                  </a:extLst>
                </a:gridCol>
                <a:gridCol w="1400861">
                  <a:extLst>
                    <a:ext uri="{9D8B030D-6E8A-4147-A177-3AD203B41FA5}">
                      <a16:colId xmlns:a16="http://schemas.microsoft.com/office/drawing/2014/main" val="3517815377"/>
                    </a:ext>
                  </a:extLst>
                </a:gridCol>
                <a:gridCol w="686714">
                  <a:extLst>
                    <a:ext uri="{9D8B030D-6E8A-4147-A177-3AD203B41FA5}">
                      <a16:colId xmlns:a16="http://schemas.microsoft.com/office/drawing/2014/main" val="4171999606"/>
                    </a:ext>
                  </a:extLst>
                </a:gridCol>
                <a:gridCol w="933602">
                  <a:extLst>
                    <a:ext uri="{9D8B030D-6E8A-4147-A177-3AD203B41FA5}">
                      <a16:colId xmlns:a16="http://schemas.microsoft.com/office/drawing/2014/main" val="1292099014"/>
                    </a:ext>
                  </a:extLst>
                </a:gridCol>
                <a:gridCol w="1209751">
                  <a:extLst>
                    <a:ext uri="{9D8B030D-6E8A-4147-A177-3AD203B41FA5}">
                      <a16:colId xmlns:a16="http://schemas.microsoft.com/office/drawing/2014/main" val="768200006"/>
                    </a:ext>
                  </a:extLst>
                </a:gridCol>
                <a:gridCol w="1258214">
                  <a:extLst>
                    <a:ext uri="{9D8B030D-6E8A-4147-A177-3AD203B41FA5}">
                      <a16:colId xmlns:a16="http://schemas.microsoft.com/office/drawing/2014/main" val="92860309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954335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Номер</a:t>
                      </a:r>
                      <a:br>
                        <a:rPr lang="ru-RU" sz="1200" b="1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 строки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Активность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</a:t>
                      </a: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3564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930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0817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767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22.03.2018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3 от 22.03.2018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4891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22.03.2018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3 от 22.03.2018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921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22.03.2018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3 от 22.03.2018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4502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6832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262590"/>
          </a:xfrm>
        </p:spPr>
        <p:txBody>
          <a:bodyPr/>
          <a:lstStyle/>
          <a:p>
            <a:r>
              <a:rPr lang="ru-RU" dirty="0"/>
              <a:t>Таблица движений по счетам. Добавили балансовое измерение «Организация»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019263"/>
              </p:ext>
            </p:extLst>
          </p:nvPr>
        </p:nvGraphicFramePr>
        <p:xfrm>
          <a:off x="216000" y="1944000"/>
          <a:ext cx="7886701" cy="2167702"/>
        </p:xfrm>
        <a:graphic>
          <a:graphicData uri="http://schemas.openxmlformats.org/drawingml/2006/table">
            <a:tbl>
              <a:tblPr/>
              <a:tblGrid>
                <a:gridCol w="883347">
                  <a:extLst>
                    <a:ext uri="{9D8B030D-6E8A-4147-A177-3AD203B41FA5}">
                      <a16:colId xmlns:a16="http://schemas.microsoft.com/office/drawing/2014/main" val="3305131269"/>
                    </a:ext>
                  </a:extLst>
                </a:gridCol>
                <a:gridCol w="1371679">
                  <a:extLst>
                    <a:ext uri="{9D8B030D-6E8A-4147-A177-3AD203B41FA5}">
                      <a16:colId xmlns:a16="http://schemas.microsoft.com/office/drawing/2014/main" val="288533242"/>
                    </a:ext>
                  </a:extLst>
                </a:gridCol>
                <a:gridCol w="669532">
                  <a:extLst>
                    <a:ext uri="{9D8B030D-6E8A-4147-A177-3AD203B41FA5}">
                      <a16:colId xmlns:a16="http://schemas.microsoft.com/office/drawing/2014/main" val="1880508826"/>
                    </a:ext>
                  </a:extLst>
                </a:gridCol>
                <a:gridCol w="936801">
                  <a:extLst>
                    <a:ext uri="{9D8B030D-6E8A-4147-A177-3AD203B41FA5}">
                      <a16:colId xmlns:a16="http://schemas.microsoft.com/office/drawing/2014/main" val="19287824"/>
                    </a:ext>
                  </a:extLst>
                </a:gridCol>
                <a:gridCol w="1182325">
                  <a:extLst>
                    <a:ext uri="{9D8B030D-6E8A-4147-A177-3AD203B41FA5}">
                      <a16:colId xmlns:a16="http://schemas.microsoft.com/office/drawing/2014/main" val="2264262226"/>
                    </a:ext>
                  </a:extLst>
                </a:gridCol>
                <a:gridCol w="1233061">
                  <a:extLst>
                    <a:ext uri="{9D8B030D-6E8A-4147-A177-3AD203B41FA5}">
                      <a16:colId xmlns:a16="http://schemas.microsoft.com/office/drawing/2014/main" val="2813175740"/>
                    </a:ext>
                  </a:extLst>
                </a:gridCol>
                <a:gridCol w="1063640">
                  <a:extLst>
                    <a:ext uri="{9D8B030D-6E8A-4147-A177-3AD203B41FA5}">
                      <a16:colId xmlns:a16="http://schemas.microsoft.com/office/drawing/2014/main" val="3014944668"/>
                    </a:ext>
                  </a:extLst>
                </a:gridCol>
                <a:gridCol w="546316">
                  <a:extLst>
                    <a:ext uri="{9D8B030D-6E8A-4147-A177-3AD203B41FA5}">
                      <a16:colId xmlns:a16="http://schemas.microsoft.com/office/drawing/2014/main" val="1416773555"/>
                    </a:ext>
                  </a:extLst>
                </a:gridCol>
              </a:tblGrid>
              <a:tr h="463065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Номер</a:t>
                      </a:r>
                      <a:b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 строки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Активность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</a:t>
                      </a: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2243024"/>
                  </a:ext>
                </a:extLst>
              </a:tr>
              <a:tr h="281866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939198"/>
                  </a:ext>
                </a:extLst>
              </a:tr>
              <a:tr h="281866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703788"/>
                  </a:ext>
                </a:extLst>
              </a:tr>
              <a:tr h="281866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6210154"/>
                  </a:ext>
                </a:extLst>
              </a:tr>
              <a:tr h="281866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22.03.2018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3 от 22.03.2018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54361"/>
                  </a:ext>
                </a:extLst>
              </a:tr>
              <a:tr h="281866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22.03.2018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3 от 22.03.2018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0086282"/>
                  </a:ext>
                </a:extLst>
              </a:tr>
              <a:tr h="281866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22.03.2018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3 от 22.03.2018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333" marR="50333" marT="50333" marB="50333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4183290"/>
                  </a:ext>
                </a:extLst>
              </a:tr>
            </a:tbl>
          </a:graphicData>
        </a:graphic>
      </p:graphicFrame>
      <p:sp>
        <p:nvSpPr>
          <p:cNvPr id="37" name="Rounded Rectangle 3"/>
          <p:cNvSpPr/>
          <p:nvPr/>
        </p:nvSpPr>
        <p:spPr>
          <a:xfrm>
            <a:off x="6432033" y="1826254"/>
            <a:ext cx="1209995" cy="2373450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71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7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71233"/>
          </a:xfrm>
        </p:spPr>
        <p:txBody>
          <a:bodyPr/>
          <a:lstStyle/>
          <a:p>
            <a:r>
              <a:rPr lang="ru-RU" dirty="0"/>
              <a:t>Таблица остатков и оборотов по счетам</a:t>
            </a:r>
            <a:r>
              <a:rPr lang="en-US" dirty="0"/>
              <a:t> </a:t>
            </a:r>
            <a:r>
              <a:rPr lang="ru-RU" dirty="0"/>
              <a:t>до изменения.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413668"/>
              </p:ext>
            </p:extLst>
          </p:nvPr>
        </p:nvGraphicFramePr>
        <p:xfrm>
          <a:off x="216000" y="1800000"/>
          <a:ext cx="5647335" cy="227584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59294581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97048919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188167026"/>
                    </a:ext>
                  </a:extLst>
                </a:gridCol>
                <a:gridCol w="953719">
                  <a:extLst>
                    <a:ext uri="{9D8B030D-6E8A-4147-A177-3AD203B41FA5}">
                      <a16:colId xmlns:a16="http://schemas.microsoft.com/office/drawing/2014/main" val="2138190235"/>
                    </a:ext>
                  </a:extLst>
                </a:gridCol>
                <a:gridCol w="1017727">
                  <a:extLst>
                    <a:ext uri="{9D8B030D-6E8A-4147-A177-3AD203B41FA5}">
                      <a16:colId xmlns:a16="http://schemas.microsoft.com/office/drawing/2014/main" val="1117565341"/>
                    </a:ext>
                  </a:extLst>
                </a:gridCol>
                <a:gridCol w="705917">
                  <a:extLst>
                    <a:ext uri="{9D8B030D-6E8A-4147-A177-3AD203B41FA5}">
                      <a16:colId xmlns:a16="http://schemas.microsoft.com/office/drawing/2014/main" val="1657460271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76409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047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529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12600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126</a:t>
                      </a: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2874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6100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008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3239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-12600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4785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650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734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48351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остатков и оборотов по счетам.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Добавили измерение «Организация». 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361552"/>
              </p:ext>
            </p:extLst>
          </p:nvPr>
        </p:nvGraphicFramePr>
        <p:xfrm>
          <a:off x="216000" y="1800000"/>
          <a:ext cx="6344108" cy="398272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89192007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3264141732"/>
                    </a:ext>
                  </a:extLst>
                </a:gridCol>
                <a:gridCol w="1073506">
                  <a:extLst>
                    <a:ext uri="{9D8B030D-6E8A-4147-A177-3AD203B41FA5}">
                      <a16:colId xmlns:a16="http://schemas.microsoft.com/office/drawing/2014/main" val="3914030051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3059131975"/>
                    </a:ext>
                  </a:extLst>
                </a:gridCol>
                <a:gridCol w="890626">
                  <a:extLst>
                    <a:ext uri="{9D8B030D-6E8A-4147-A177-3AD203B41FA5}">
                      <a16:colId xmlns:a16="http://schemas.microsoft.com/office/drawing/2014/main" val="1791396834"/>
                    </a:ext>
                  </a:extLst>
                </a:gridCol>
                <a:gridCol w="874166">
                  <a:extLst>
                    <a:ext uri="{9D8B030D-6E8A-4147-A177-3AD203B41FA5}">
                      <a16:colId xmlns:a16="http://schemas.microsoft.com/office/drawing/2014/main" val="1532943437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1694338511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918383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137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455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976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8906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7393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394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159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050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7340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1640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661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-6400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73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5618010"/>
                  </a:ext>
                </a:extLst>
              </a:tr>
            </a:tbl>
          </a:graphicData>
        </a:graphic>
      </p:graphicFrame>
      <p:sp>
        <p:nvSpPr>
          <p:cNvPr id="22" name="Rounded Rectangle 3"/>
          <p:cNvSpPr/>
          <p:nvPr/>
        </p:nvSpPr>
        <p:spPr>
          <a:xfrm>
            <a:off x="2277283" y="1675332"/>
            <a:ext cx="1209995" cy="4228317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2312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2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71233"/>
          </a:xfrm>
        </p:spPr>
        <p:txBody>
          <a:bodyPr/>
          <a:lstStyle/>
          <a:p>
            <a:r>
              <a:rPr lang="ru-RU" dirty="0"/>
              <a:t>Таблица оборотов между счетами</a:t>
            </a:r>
            <a:r>
              <a:rPr lang="en-US" dirty="0"/>
              <a:t> </a:t>
            </a:r>
            <a:r>
              <a:rPr lang="ru-RU" dirty="0"/>
              <a:t>до изменения.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911363"/>
              </p:ext>
            </p:extLst>
          </p:nvPr>
        </p:nvGraphicFramePr>
        <p:xfrm>
          <a:off x="216000" y="2160000"/>
          <a:ext cx="3952038" cy="103632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4270182024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1500219640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955381744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22139536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7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108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863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68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71233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оборотов между счетами. Добавили измерение «Организация» 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185670"/>
              </p:ext>
            </p:extLst>
          </p:nvPr>
        </p:nvGraphicFramePr>
        <p:xfrm>
          <a:off x="216000" y="2160000"/>
          <a:ext cx="5505604" cy="142240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2415675964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442329988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604910569"/>
                    </a:ext>
                  </a:extLst>
                </a:gridCol>
                <a:gridCol w="1073506">
                  <a:extLst>
                    <a:ext uri="{9D8B030D-6E8A-4147-A177-3AD203B41FA5}">
                      <a16:colId xmlns:a16="http://schemas.microsoft.com/office/drawing/2014/main" val="2610576814"/>
                    </a:ext>
                  </a:extLst>
                </a:gridCol>
                <a:gridCol w="1055218">
                  <a:extLst>
                    <a:ext uri="{9D8B030D-6E8A-4147-A177-3AD203B41FA5}">
                      <a16:colId xmlns:a16="http://schemas.microsoft.com/office/drawing/2014/main" val="1884090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47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371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422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340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450645"/>
                  </a:ext>
                </a:extLst>
              </a:tr>
            </a:tbl>
          </a:graphicData>
        </a:graphic>
      </p:graphicFrame>
      <p:sp>
        <p:nvSpPr>
          <p:cNvPr id="10" name="Rounded Rectangle 3"/>
          <p:cNvSpPr/>
          <p:nvPr/>
        </p:nvSpPr>
        <p:spPr>
          <a:xfrm>
            <a:off x="3533313" y="2063331"/>
            <a:ext cx="1162974" cy="1615737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38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Сквозная аналитика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Небалансовое</a:t>
            </a:r>
            <a:r>
              <a:rPr lang="ru-RU" dirty="0"/>
              <a:t> измерение</a:t>
            </a:r>
          </a:p>
        </p:txBody>
      </p:sp>
    </p:spTree>
    <p:extLst>
      <p:ext uri="{BB962C8B-B14F-4D97-AF65-F5344CB8AC3E}">
        <p14:creationId xmlns:p14="http://schemas.microsoft.com/office/powerpoint/2010/main" val="375682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Учет по подразделениям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949374"/>
              </p:ext>
            </p:extLst>
          </p:nvPr>
        </p:nvGraphicFramePr>
        <p:xfrm>
          <a:off x="429659" y="1397000"/>
          <a:ext cx="8248175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734">
                  <a:extLst>
                    <a:ext uri="{9D8B030D-6E8A-4147-A177-3AD203B41FA5}">
                      <a16:colId xmlns:a16="http://schemas.microsoft.com/office/drawing/2014/main" val="394991951"/>
                    </a:ext>
                  </a:extLst>
                </a:gridCol>
                <a:gridCol w="1468936">
                  <a:extLst>
                    <a:ext uri="{9D8B030D-6E8A-4147-A177-3AD203B41FA5}">
                      <a16:colId xmlns:a16="http://schemas.microsoft.com/office/drawing/2014/main" val="824950313"/>
                    </a:ext>
                  </a:extLst>
                </a:gridCol>
                <a:gridCol w="1945342">
                  <a:extLst>
                    <a:ext uri="{9D8B030D-6E8A-4147-A177-3AD203B41FA5}">
                      <a16:colId xmlns:a16="http://schemas.microsoft.com/office/drawing/2014/main" val="2130443275"/>
                    </a:ext>
                  </a:extLst>
                </a:gridCol>
                <a:gridCol w="1407458">
                  <a:extLst>
                    <a:ext uri="{9D8B030D-6E8A-4147-A177-3AD203B41FA5}">
                      <a16:colId xmlns:a16="http://schemas.microsoft.com/office/drawing/2014/main" val="278535266"/>
                    </a:ext>
                  </a:extLst>
                </a:gridCol>
                <a:gridCol w="1344705">
                  <a:extLst>
                    <a:ext uri="{9D8B030D-6E8A-4147-A177-3AD203B41FA5}">
                      <a16:colId xmlns:a16="http://schemas.microsoft.com/office/drawing/2014/main" val="1190528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Счет Дт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Подразде-ление</a:t>
                      </a:r>
                      <a:r>
                        <a:rPr lang="ru-RU" dirty="0"/>
                        <a:t> Дт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Счет 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Подразде-ление</a:t>
                      </a:r>
                      <a:r>
                        <a:rPr lang="ru-RU" dirty="0"/>
                        <a:t> 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Сумма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179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&lt;41.1</a:t>
                      </a:r>
                      <a:r>
                        <a:rPr lang="ru-RU" baseline="0" dirty="0"/>
                        <a:t> Товары&gt;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&lt;Основное&gt;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&lt;60 Поставщики&gt;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&lt;Основное&gt;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50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/>
                        <a:t>&lt;41.1</a:t>
                      </a:r>
                      <a:r>
                        <a:rPr lang="ru-RU" baseline="0"/>
                        <a:t> Товары</a:t>
                      </a:r>
                      <a:r>
                        <a:rPr lang="ru-RU"/>
                        <a:t>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&lt;Филиал&gt;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&lt;41.1</a:t>
                      </a:r>
                      <a:r>
                        <a:rPr lang="ru-RU" baseline="0" dirty="0"/>
                        <a:t> Товары&gt;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&lt;Основное&gt;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319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&lt;60 Поставщики&gt;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/>
                        <a:t>&lt;Основное&gt;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&lt;51 р/с в банке&gt;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74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&lt;75 </a:t>
                      </a:r>
                      <a:r>
                        <a:rPr lang="ru-RU" dirty="0"/>
                        <a:t>Расчеты</a:t>
                      </a:r>
                      <a:r>
                        <a:rPr lang="ru-RU" baseline="0" dirty="0"/>
                        <a:t> с учредителями&gt;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&lt;80 Уставный капитал&gt;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553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1319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Признак учета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029" y="1120775"/>
            <a:ext cx="4634219" cy="4900751"/>
          </a:xfrm>
          <a:prstGeom prst="rect">
            <a:avLst/>
          </a:prstGeom>
        </p:spPr>
      </p:pic>
      <p:sp>
        <p:nvSpPr>
          <p:cNvPr id="6" name="Rounded Rectangle 3"/>
          <p:cNvSpPr/>
          <p:nvPr/>
        </p:nvSpPr>
        <p:spPr>
          <a:xfrm>
            <a:off x="3791120" y="3535290"/>
            <a:ext cx="2715709" cy="262373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90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Специальный реквизит типа булево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562084"/>
              </p:ext>
            </p:extLst>
          </p:nvPr>
        </p:nvGraphicFramePr>
        <p:xfrm>
          <a:off x="448732" y="1476259"/>
          <a:ext cx="8441879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080">
                  <a:extLst>
                    <a:ext uri="{9D8B030D-6E8A-4147-A177-3AD203B41FA5}">
                      <a16:colId xmlns:a16="http://schemas.microsoft.com/office/drawing/2014/main" val="932871703"/>
                    </a:ext>
                  </a:extLst>
                </a:gridCol>
                <a:gridCol w="837282">
                  <a:extLst>
                    <a:ext uri="{9D8B030D-6E8A-4147-A177-3AD203B41FA5}">
                      <a16:colId xmlns:a16="http://schemas.microsoft.com/office/drawing/2014/main" val="631033224"/>
                    </a:ext>
                  </a:extLst>
                </a:gridCol>
                <a:gridCol w="1498294">
                  <a:extLst>
                    <a:ext uri="{9D8B030D-6E8A-4147-A177-3AD203B41FA5}">
                      <a16:colId xmlns:a16="http://schemas.microsoft.com/office/drawing/2014/main" val="1495469993"/>
                    </a:ext>
                  </a:extLst>
                </a:gridCol>
                <a:gridCol w="1108675">
                  <a:extLst>
                    <a:ext uri="{9D8B030D-6E8A-4147-A177-3AD203B41FA5}">
                      <a16:colId xmlns:a16="http://schemas.microsoft.com/office/drawing/2014/main" val="3850903515"/>
                    </a:ext>
                  </a:extLst>
                </a:gridCol>
                <a:gridCol w="2956548">
                  <a:extLst>
                    <a:ext uri="{9D8B030D-6E8A-4147-A177-3AD203B41FA5}">
                      <a16:colId xmlns:a16="http://schemas.microsoft.com/office/drawing/2014/main" val="36827720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 Подразделениям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929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&lt;41.1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Товары&gt;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Товары опт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357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&lt;60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Поставщики&gt;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Поставщики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21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ru-RU" dirty="0"/>
                        <a:t>51 р/с в банке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р/с в банке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901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601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798461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движений по счетам до изменения.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020634"/>
              </p:ext>
            </p:extLst>
          </p:nvPr>
        </p:nvGraphicFramePr>
        <p:xfrm>
          <a:off x="216000" y="2160000"/>
          <a:ext cx="7886701" cy="2167786"/>
        </p:xfrm>
        <a:graphic>
          <a:graphicData uri="http://schemas.openxmlformats.org/drawingml/2006/table">
            <a:tbl>
              <a:tblPr/>
              <a:tblGrid>
                <a:gridCol w="888884">
                  <a:extLst>
                    <a:ext uri="{9D8B030D-6E8A-4147-A177-3AD203B41FA5}">
                      <a16:colId xmlns:a16="http://schemas.microsoft.com/office/drawing/2014/main" val="1959433159"/>
                    </a:ext>
                  </a:extLst>
                </a:gridCol>
                <a:gridCol w="1389959">
                  <a:extLst>
                    <a:ext uri="{9D8B030D-6E8A-4147-A177-3AD203B41FA5}">
                      <a16:colId xmlns:a16="http://schemas.microsoft.com/office/drawing/2014/main" val="3737413799"/>
                    </a:ext>
                  </a:extLst>
                </a:gridCol>
                <a:gridCol w="656923">
                  <a:extLst>
                    <a:ext uri="{9D8B030D-6E8A-4147-A177-3AD203B41FA5}">
                      <a16:colId xmlns:a16="http://schemas.microsoft.com/office/drawing/2014/main" val="1743182277"/>
                    </a:ext>
                  </a:extLst>
                </a:gridCol>
                <a:gridCol w="945063">
                  <a:extLst>
                    <a:ext uri="{9D8B030D-6E8A-4147-A177-3AD203B41FA5}">
                      <a16:colId xmlns:a16="http://schemas.microsoft.com/office/drawing/2014/main" val="1541640233"/>
                    </a:ext>
                  </a:extLst>
                </a:gridCol>
                <a:gridCol w="1176119">
                  <a:extLst>
                    <a:ext uri="{9D8B030D-6E8A-4147-A177-3AD203B41FA5}">
                      <a16:colId xmlns:a16="http://schemas.microsoft.com/office/drawing/2014/main" val="4091795380"/>
                    </a:ext>
                  </a:extLst>
                </a:gridCol>
                <a:gridCol w="1221424">
                  <a:extLst>
                    <a:ext uri="{9D8B030D-6E8A-4147-A177-3AD203B41FA5}">
                      <a16:colId xmlns:a16="http://schemas.microsoft.com/office/drawing/2014/main" val="2837719483"/>
                    </a:ext>
                  </a:extLst>
                </a:gridCol>
                <a:gridCol w="1060138">
                  <a:extLst>
                    <a:ext uri="{9D8B030D-6E8A-4147-A177-3AD203B41FA5}">
                      <a16:colId xmlns:a16="http://schemas.microsoft.com/office/drawing/2014/main" val="600164219"/>
                    </a:ext>
                  </a:extLst>
                </a:gridCol>
                <a:gridCol w="548191">
                  <a:extLst>
                    <a:ext uri="{9D8B030D-6E8A-4147-A177-3AD203B41FA5}">
                      <a16:colId xmlns:a16="http://schemas.microsoft.com/office/drawing/2014/main" val="1934872023"/>
                    </a:ext>
                  </a:extLst>
                </a:gridCol>
              </a:tblGrid>
              <a:tr h="463118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Номер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строки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Активность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Счет Дт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Счет Кт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ru-RU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881188"/>
                  </a:ext>
                </a:extLst>
              </a:tr>
              <a:tr h="28189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</a:t>
                      </a: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1 </a:t>
                      </a: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от</a:t>
                      </a: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03.03.2018</a:t>
                      </a:r>
                      <a:endParaRPr lang="ru-RU" sz="12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</a:t>
                      </a: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товары</a:t>
                      </a: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2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поставщики</a:t>
                      </a: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2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5797802"/>
                  </a:ext>
                </a:extLst>
              </a:tr>
              <a:tr h="28189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</a:t>
                      </a: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2 </a:t>
                      </a: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от</a:t>
                      </a: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13.03.2018</a:t>
                      </a:r>
                      <a:endParaRPr lang="ru-RU" sz="12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</a:t>
                      </a: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товары</a:t>
                      </a: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2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поставщики</a:t>
                      </a: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2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6226908"/>
                  </a:ext>
                </a:extLst>
              </a:tr>
              <a:tr h="28189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</a:t>
                      </a: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2 </a:t>
                      </a: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от</a:t>
                      </a: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13.03.2018</a:t>
                      </a:r>
                      <a:endParaRPr lang="ru-RU" sz="12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</a:t>
                      </a: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материалы</a:t>
                      </a: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2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поставщики</a:t>
                      </a: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2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83453"/>
                  </a:ext>
                </a:extLst>
              </a:tr>
              <a:tr h="28189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22.03.2018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</a:t>
                      </a: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 3 </a:t>
                      </a: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от 22.03.2018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</a:t>
                      </a: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товары</a:t>
                      </a: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20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поставщики</a:t>
                      </a: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20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4435618"/>
                  </a:ext>
                </a:extLst>
              </a:tr>
              <a:tr h="28189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22.03.2018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</a:t>
                      </a: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 3 </a:t>
                      </a: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от 22.03.2018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</a:t>
                      </a: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товары</a:t>
                      </a: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20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поставщики</a:t>
                      </a: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20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73983"/>
                  </a:ext>
                </a:extLst>
              </a:tr>
              <a:tr h="28189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22.03.2018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</a:t>
                      </a: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 3 </a:t>
                      </a: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от 22.03.2018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</a:t>
                      </a: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материалы</a:t>
                      </a: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20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поставщики</a:t>
                      </a: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20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339" marR="50339" marT="50339" marB="5033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869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97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262589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движений по счетам. Добавили не балансовое измерение «Подразделение».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188239"/>
              </p:ext>
            </p:extLst>
          </p:nvPr>
        </p:nvGraphicFramePr>
        <p:xfrm>
          <a:off x="216000" y="2160000"/>
          <a:ext cx="8451541" cy="2021965"/>
        </p:xfrm>
        <a:graphic>
          <a:graphicData uri="http://schemas.openxmlformats.org/drawingml/2006/table">
            <a:tbl>
              <a:tblPr/>
              <a:tblGrid>
                <a:gridCol w="723294">
                  <a:extLst>
                    <a:ext uri="{9D8B030D-6E8A-4147-A177-3AD203B41FA5}">
                      <a16:colId xmlns:a16="http://schemas.microsoft.com/office/drawing/2014/main" val="659323842"/>
                    </a:ext>
                  </a:extLst>
                </a:gridCol>
                <a:gridCol w="1122070">
                  <a:extLst>
                    <a:ext uri="{9D8B030D-6E8A-4147-A177-3AD203B41FA5}">
                      <a16:colId xmlns:a16="http://schemas.microsoft.com/office/drawing/2014/main" val="1706117643"/>
                    </a:ext>
                  </a:extLst>
                </a:gridCol>
                <a:gridCol w="542099">
                  <a:extLst>
                    <a:ext uri="{9D8B030D-6E8A-4147-A177-3AD203B41FA5}">
                      <a16:colId xmlns:a16="http://schemas.microsoft.com/office/drawing/2014/main" val="1579992375"/>
                    </a:ext>
                  </a:extLst>
                </a:gridCol>
                <a:gridCol w="767107">
                  <a:extLst>
                    <a:ext uri="{9D8B030D-6E8A-4147-A177-3AD203B41FA5}">
                      <a16:colId xmlns:a16="http://schemas.microsoft.com/office/drawing/2014/main" val="1820059933"/>
                    </a:ext>
                  </a:extLst>
                </a:gridCol>
                <a:gridCol w="967609">
                  <a:extLst>
                    <a:ext uri="{9D8B030D-6E8A-4147-A177-3AD203B41FA5}">
                      <a16:colId xmlns:a16="http://schemas.microsoft.com/office/drawing/2014/main" val="1175466578"/>
                    </a:ext>
                  </a:extLst>
                </a:gridCol>
                <a:gridCol w="1006966">
                  <a:extLst>
                    <a:ext uri="{9D8B030D-6E8A-4147-A177-3AD203B41FA5}">
                      <a16:colId xmlns:a16="http://schemas.microsoft.com/office/drawing/2014/main" val="3004660421"/>
                    </a:ext>
                  </a:extLst>
                </a:gridCol>
                <a:gridCol w="859189">
                  <a:extLst>
                    <a:ext uri="{9D8B030D-6E8A-4147-A177-3AD203B41FA5}">
                      <a16:colId xmlns:a16="http://schemas.microsoft.com/office/drawing/2014/main" val="192547059"/>
                    </a:ext>
                  </a:extLst>
                </a:gridCol>
                <a:gridCol w="1005482">
                  <a:extLst>
                    <a:ext uri="{9D8B030D-6E8A-4147-A177-3AD203B41FA5}">
                      <a16:colId xmlns:a16="http://schemas.microsoft.com/office/drawing/2014/main" val="1896172455"/>
                    </a:ext>
                  </a:extLst>
                </a:gridCol>
                <a:gridCol w="1007709">
                  <a:extLst>
                    <a:ext uri="{9D8B030D-6E8A-4147-A177-3AD203B41FA5}">
                      <a16:colId xmlns:a16="http://schemas.microsoft.com/office/drawing/2014/main" val="2418078376"/>
                    </a:ext>
                  </a:extLst>
                </a:gridCol>
                <a:gridCol w="450016">
                  <a:extLst>
                    <a:ext uri="{9D8B030D-6E8A-4147-A177-3AD203B41FA5}">
                      <a16:colId xmlns:a16="http://schemas.microsoft.com/office/drawing/2014/main" val="688871253"/>
                    </a:ext>
                  </a:extLst>
                </a:gridCol>
              </a:tblGrid>
              <a:tr h="248571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ru-RU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Номер</a:t>
                      </a:r>
                      <a:endParaRPr lang="ru-RU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строки</a:t>
                      </a:r>
                      <a:endParaRPr lang="ru-RU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Активность</a:t>
                      </a:r>
                      <a:endParaRPr lang="ru-RU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Счет Дт</a:t>
                      </a:r>
                      <a:endParaRPr lang="ru-RU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Счет Кт</a:t>
                      </a:r>
                      <a:endParaRPr lang="ru-RU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ru-RU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ru-RU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3742481"/>
                  </a:ext>
                </a:extLst>
              </a:tr>
              <a:tr h="177554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Дт</a:t>
                      </a: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Кт</a:t>
                      </a: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5957350"/>
                  </a:ext>
                </a:extLst>
              </a:tr>
              <a:tr h="259873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</a:t>
                      </a:r>
                      <a:r>
                        <a:rPr lang="x-none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1 </a:t>
                      </a:r>
                      <a:r>
                        <a:rPr lang="ru-RU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от</a:t>
                      </a:r>
                      <a:r>
                        <a:rPr lang="x-none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03.03.2018</a:t>
                      </a:r>
                      <a:endParaRPr lang="ru-RU" sz="10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</a:t>
                      </a:r>
                      <a:r>
                        <a:rPr lang="ru-RU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товары</a:t>
                      </a:r>
                      <a:r>
                        <a:rPr lang="x-none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0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поставщики</a:t>
                      </a:r>
                      <a:r>
                        <a:rPr lang="x-none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0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097053"/>
                  </a:ext>
                </a:extLst>
              </a:tr>
              <a:tr h="259873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</a:t>
                      </a:r>
                      <a:r>
                        <a:rPr lang="x-none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2 </a:t>
                      </a:r>
                      <a:r>
                        <a:rPr lang="ru-RU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от</a:t>
                      </a:r>
                      <a:r>
                        <a:rPr lang="x-none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13.03.2018</a:t>
                      </a:r>
                      <a:endParaRPr lang="ru-RU" sz="10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</a:t>
                      </a:r>
                      <a:r>
                        <a:rPr lang="ru-RU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товары</a:t>
                      </a:r>
                      <a:r>
                        <a:rPr lang="x-none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0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поставщики</a:t>
                      </a:r>
                      <a:r>
                        <a:rPr lang="x-none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0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4191085"/>
                  </a:ext>
                </a:extLst>
              </a:tr>
              <a:tr h="259873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</a:t>
                      </a:r>
                      <a:r>
                        <a:rPr lang="x-none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2 </a:t>
                      </a:r>
                      <a:r>
                        <a:rPr lang="ru-RU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от</a:t>
                      </a:r>
                      <a:r>
                        <a:rPr lang="x-none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13.03.2018</a:t>
                      </a:r>
                      <a:endParaRPr lang="ru-RU" sz="10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</a:t>
                      </a:r>
                      <a:r>
                        <a:rPr lang="ru-RU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материалы</a:t>
                      </a:r>
                      <a:r>
                        <a:rPr lang="x-none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0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поставщики</a:t>
                      </a:r>
                      <a:r>
                        <a:rPr lang="x-none" sz="10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0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96131"/>
                  </a:ext>
                </a:extLst>
              </a:tr>
              <a:tr h="259873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22.03.2018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</a:t>
                      </a: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 3 </a:t>
                      </a:r>
                      <a:r>
                        <a:rPr lang="ru-RU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от 22.03.2018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</a:t>
                      </a:r>
                      <a:r>
                        <a:rPr lang="ru-RU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товары</a:t>
                      </a: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00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0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поставщики</a:t>
                      </a:r>
                      <a:r>
                        <a:rPr lang="x-none" sz="10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0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670924"/>
                  </a:ext>
                </a:extLst>
              </a:tr>
              <a:tr h="259873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22.03.2018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</a:t>
                      </a: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 3 </a:t>
                      </a:r>
                      <a:r>
                        <a:rPr lang="ru-RU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от 22.03.2018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</a:t>
                      </a:r>
                      <a:r>
                        <a:rPr lang="ru-RU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товары</a:t>
                      </a: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00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поставщики</a:t>
                      </a: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00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381765"/>
                  </a:ext>
                </a:extLst>
              </a:tr>
              <a:tr h="259873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22.03.2018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</a:t>
                      </a:r>
                      <a:r>
                        <a:rPr lang="x-none" sz="10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 3 </a:t>
                      </a:r>
                      <a:r>
                        <a:rPr lang="ru-RU" sz="10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от 22.03.2018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</a:t>
                      </a:r>
                      <a:r>
                        <a:rPr lang="ru-RU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материалы</a:t>
                      </a: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00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поставщики</a:t>
                      </a: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00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0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8315985"/>
                  </a:ext>
                </a:extLst>
              </a:tr>
            </a:tbl>
          </a:graphicData>
        </a:graphic>
      </p:graphicFrame>
      <p:sp>
        <p:nvSpPr>
          <p:cNvPr id="41" name="Rounded Rectangle 3"/>
          <p:cNvSpPr/>
          <p:nvPr/>
        </p:nvSpPr>
        <p:spPr>
          <a:xfrm>
            <a:off x="6134470" y="2081086"/>
            <a:ext cx="2095129" cy="2206829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60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1" grpId="1" animBg="1"/>
      <p:bldP spid="41" grpId="2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08258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остатков и оборотов по счетам до изменения.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266156"/>
              </p:ext>
            </p:extLst>
          </p:nvPr>
        </p:nvGraphicFramePr>
        <p:xfrm>
          <a:off x="216000" y="1800000"/>
          <a:ext cx="6344108" cy="398272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2010352026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1171622462"/>
                    </a:ext>
                  </a:extLst>
                </a:gridCol>
                <a:gridCol w="1073506">
                  <a:extLst>
                    <a:ext uri="{9D8B030D-6E8A-4147-A177-3AD203B41FA5}">
                      <a16:colId xmlns:a16="http://schemas.microsoft.com/office/drawing/2014/main" val="1065574503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817576893"/>
                    </a:ext>
                  </a:extLst>
                </a:gridCol>
                <a:gridCol w="890626">
                  <a:extLst>
                    <a:ext uri="{9D8B030D-6E8A-4147-A177-3AD203B41FA5}">
                      <a16:colId xmlns:a16="http://schemas.microsoft.com/office/drawing/2014/main" val="3162757511"/>
                    </a:ext>
                  </a:extLst>
                </a:gridCol>
                <a:gridCol w="874166">
                  <a:extLst>
                    <a:ext uri="{9D8B030D-6E8A-4147-A177-3AD203B41FA5}">
                      <a16:colId xmlns:a16="http://schemas.microsoft.com/office/drawing/2014/main" val="3019141027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981090663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8709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2386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5159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300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32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0186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794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4775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185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142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501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6293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-6400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919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564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27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1185802"/>
          </a:xfrm>
        </p:spPr>
        <p:txBody>
          <a:bodyPr>
            <a:noAutofit/>
          </a:bodyPr>
          <a:lstStyle/>
          <a:p>
            <a:r>
              <a:rPr lang="ru-RU" sz="2800" dirty="0"/>
              <a:t>Таблица остатков и оборотов по счетам. Добавили не балансовое измерение «Подразделение».</a:t>
            </a:r>
          </a:p>
        </p:txBody>
      </p:sp>
      <p:graphicFrame>
        <p:nvGraphicFramePr>
          <p:cNvPr id="27" name="Таблица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408795"/>
              </p:ext>
            </p:extLst>
          </p:nvPr>
        </p:nvGraphicFramePr>
        <p:xfrm>
          <a:off x="215998" y="1800000"/>
          <a:ext cx="8164520" cy="3982720"/>
        </p:xfrm>
        <a:graphic>
          <a:graphicData uri="http://schemas.openxmlformats.org/drawingml/2006/table">
            <a:tbl>
              <a:tblPr/>
              <a:tblGrid>
                <a:gridCol w="990371">
                  <a:extLst>
                    <a:ext uri="{9D8B030D-6E8A-4147-A177-3AD203B41FA5}">
                      <a16:colId xmlns:a16="http://schemas.microsoft.com/office/drawing/2014/main" val="2010352026"/>
                    </a:ext>
                  </a:extLst>
                </a:gridCol>
                <a:gridCol w="1392961">
                  <a:extLst>
                    <a:ext uri="{9D8B030D-6E8A-4147-A177-3AD203B41FA5}">
                      <a16:colId xmlns:a16="http://schemas.microsoft.com/office/drawing/2014/main" val="1171622462"/>
                    </a:ext>
                  </a:extLst>
                </a:gridCol>
                <a:gridCol w="1181601">
                  <a:extLst>
                    <a:ext uri="{9D8B030D-6E8A-4147-A177-3AD203B41FA5}">
                      <a16:colId xmlns:a16="http://schemas.microsoft.com/office/drawing/2014/main" val="1065574503"/>
                    </a:ext>
                  </a:extLst>
                </a:gridCol>
                <a:gridCol w="1181601">
                  <a:extLst>
                    <a:ext uri="{9D8B030D-6E8A-4147-A177-3AD203B41FA5}">
                      <a16:colId xmlns:a16="http://schemas.microsoft.com/office/drawing/2014/main" val="3940109826"/>
                    </a:ext>
                  </a:extLst>
                </a:gridCol>
                <a:gridCol w="795115">
                  <a:extLst>
                    <a:ext uri="{9D8B030D-6E8A-4147-A177-3AD203B41FA5}">
                      <a16:colId xmlns:a16="http://schemas.microsoft.com/office/drawing/2014/main" val="817576893"/>
                    </a:ext>
                  </a:extLst>
                </a:gridCol>
                <a:gridCol w="980306">
                  <a:extLst>
                    <a:ext uri="{9D8B030D-6E8A-4147-A177-3AD203B41FA5}">
                      <a16:colId xmlns:a16="http://schemas.microsoft.com/office/drawing/2014/main" val="3162757511"/>
                    </a:ext>
                  </a:extLst>
                </a:gridCol>
                <a:gridCol w="962189">
                  <a:extLst>
                    <a:ext uri="{9D8B030D-6E8A-4147-A177-3AD203B41FA5}">
                      <a16:colId xmlns:a16="http://schemas.microsoft.com/office/drawing/2014/main" val="3019141027"/>
                    </a:ext>
                  </a:extLst>
                </a:gridCol>
                <a:gridCol w="680376">
                  <a:extLst>
                    <a:ext uri="{9D8B030D-6E8A-4147-A177-3AD203B41FA5}">
                      <a16:colId xmlns:a16="http://schemas.microsoft.com/office/drawing/2014/main" val="3981090663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Подразделение</a:t>
                      </a:r>
                      <a:endParaRPr lang="x-none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8709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2386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5159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300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32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Основное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0186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794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Основное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4775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Основное</a:t>
                      </a:r>
                      <a:endParaRPr lang="x-none" sz="120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185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Основное</a:t>
                      </a:r>
                      <a:endParaRPr lang="x-none" sz="120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142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Основное</a:t>
                      </a:r>
                      <a:endParaRPr lang="x-none" sz="120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501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Основное</a:t>
                      </a:r>
                      <a:endParaRPr lang="x-none" sz="120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6293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Администрация</a:t>
                      </a:r>
                      <a:endParaRPr lang="x-none" sz="120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-6400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919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Основное</a:t>
                      </a:r>
                      <a:endParaRPr lang="x-none" sz="1200" kern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564757"/>
                  </a:ext>
                </a:extLst>
              </a:tr>
            </a:tbl>
          </a:graphicData>
        </a:graphic>
      </p:graphicFrame>
      <p:sp>
        <p:nvSpPr>
          <p:cNvPr id="28" name="Rounded Rectangle 3"/>
          <p:cNvSpPr/>
          <p:nvPr/>
        </p:nvSpPr>
        <p:spPr>
          <a:xfrm>
            <a:off x="3728621" y="1757780"/>
            <a:ext cx="1269507" cy="4136994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163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8" grpId="2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83961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оборотов между счетами до изменения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986129"/>
              </p:ext>
            </p:extLst>
          </p:nvPr>
        </p:nvGraphicFramePr>
        <p:xfrm>
          <a:off x="216000" y="2160000"/>
          <a:ext cx="5505604" cy="142240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2415675964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442329988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604910569"/>
                    </a:ext>
                  </a:extLst>
                </a:gridCol>
                <a:gridCol w="1073506">
                  <a:extLst>
                    <a:ext uri="{9D8B030D-6E8A-4147-A177-3AD203B41FA5}">
                      <a16:colId xmlns:a16="http://schemas.microsoft.com/office/drawing/2014/main" val="2610576814"/>
                    </a:ext>
                  </a:extLst>
                </a:gridCol>
                <a:gridCol w="1055218">
                  <a:extLst>
                    <a:ext uri="{9D8B030D-6E8A-4147-A177-3AD203B41FA5}">
                      <a16:colId xmlns:a16="http://schemas.microsoft.com/office/drawing/2014/main" val="1884090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47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371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422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340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450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829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354477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оборотов между счетами. Добавили не балансовое измерение «Подразделение».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007606"/>
              </p:ext>
            </p:extLst>
          </p:nvPr>
        </p:nvGraphicFramePr>
        <p:xfrm>
          <a:off x="216000" y="2160000"/>
          <a:ext cx="7886700" cy="1880568"/>
        </p:xfrm>
        <a:graphic>
          <a:graphicData uri="http://schemas.openxmlformats.org/drawingml/2006/table">
            <a:tbl>
              <a:tblPr/>
              <a:tblGrid>
                <a:gridCol w="886207">
                  <a:extLst>
                    <a:ext uri="{9D8B030D-6E8A-4147-A177-3AD203B41FA5}">
                      <a16:colId xmlns:a16="http://schemas.microsoft.com/office/drawing/2014/main" val="1009456720"/>
                    </a:ext>
                  </a:extLst>
                </a:gridCol>
                <a:gridCol w="1193317">
                  <a:extLst>
                    <a:ext uri="{9D8B030D-6E8A-4147-A177-3AD203B41FA5}">
                      <a16:colId xmlns:a16="http://schemas.microsoft.com/office/drawing/2014/main" val="3954959097"/>
                    </a:ext>
                  </a:extLst>
                </a:gridCol>
                <a:gridCol w="1246453">
                  <a:extLst>
                    <a:ext uri="{9D8B030D-6E8A-4147-A177-3AD203B41FA5}">
                      <a16:colId xmlns:a16="http://schemas.microsoft.com/office/drawing/2014/main" val="4035201061"/>
                    </a:ext>
                  </a:extLst>
                </a:gridCol>
                <a:gridCol w="1057324">
                  <a:extLst>
                    <a:ext uri="{9D8B030D-6E8A-4147-A177-3AD203B41FA5}">
                      <a16:colId xmlns:a16="http://schemas.microsoft.com/office/drawing/2014/main" val="1723259024"/>
                    </a:ext>
                  </a:extLst>
                </a:gridCol>
                <a:gridCol w="1241950">
                  <a:extLst>
                    <a:ext uri="{9D8B030D-6E8A-4147-A177-3AD203B41FA5}">
                      <a16:colId xmlns:a16="http://schemas.microsoft.com/office/drawing/2014/main" val="1002643505"/>
                    </a:ext>
                  </a:extLst>
                </a:gridCol>
                <a:gridCol w="1222137">
                  <a:extLst>
                    <a:ext uri="{9D8B030D-6E8A-4147-A177-3AD203B41FA5}">
                      <a16:colId xmlns:a16="http://schemas.microsoft.com/office/drawing/2014/main" val="4146078541"/>
                    </a:ext>
                  </a:extLst>
                </a:gridCol>
                <a:gridCol w="1039312">
                  <a:extLst>
                    <a:ext uri="{9D8B030D-6E8A-4147-A177-3AD203B41FA5}">
                      <a16:colId xmlns:a16="http://schemas.microsoft.com/office/drawing/2014/main" val="3177269431"/>
                    </a:ext>
                  </a:extLst>
                </a:gridCol>
              </a:tblGrid>
              <a:tr h="281359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047306"/>
                  </a:ext>
                </a:extLst>
              </a:tr>
              <a:tr h="280192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Дт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Кт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174843"/>
                  </a:ext>
                </a:extLst>
              </a:tr>
              <a:tr h="280192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3717935"/>
                  </a:ext>
                </a:extLst>
              </a:tr>
              <a:tr h="280192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118495"/>
                  </a:ext>
                </a:extLst>
              </a:tr>
              <a:tr h="280192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9600938"/>
                  </a:ext>
                </a:extLst>
              </a:tr>
              <a:tr h="280192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034" marR="50034" marT="50034" marB="50034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587430"/>
                  </a:ext>
                </a:extLst>
              </a:tr>
            </a:tbl>
          </a:graphicData>
        </a:graphic>
      </p:graphicFrame>
      <p:sp>
        <p:nvSpPr>
          <p:cNvPr id="14" name="Rounded Rectangle 3"/>
          <p:cNvSpPr/>
          <p:nvPr/>
        </p:nvSpPr>
        <p:spPr>
          <a:xfrm>
            <a:off x="4580877" y="1996869"/>
            <a:ext cx="2494625" cy="2206829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172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4" grpId="2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Обычная аналитика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Субконто</a:t>
            </a:r>
          </a:p>
        </p:txBody>
      </p:sp>
    </p:spTree>
    <p:extLst>
      <p:ext uri="{BB962C8B-B14F-4D97-AF65-F5344CB8AC3E}">
        <p14:creationId xmlns:p14="http://schemas.microsoft.com/office/powerpoint/2010/main" val="265302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8179262"/>
              </p:ext>
            </p:extLst>
          </p:nvPr>
        </p:nvGraphicFramePr>
        <p:xfrm>
          <a:off x="185738" y="1268413"/>
          <a:ext cx="8783635" cy="23012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756727">
                  <a:extLst>
                    <a:ext uri="{9D8B030D-6E8A-4147-A177-3AD203B41FA5}">
                      <a16:colId xmlns:a16="http://schemas.microsoft.com/office/drawing/2014/main" val="3913589334"/>
                    </a:ext>
                  </a:extLst>
                </a:gridCol>
                <a:gridCol w="1756727">
                  <a:extLst>
                    <a:ext uri="{9D8B030D-6E8A-4147-A177-3AD203B41FA5}">
                      <a16:colId xmlns:a16="http://schemas.microsoft.com/office/drawing/2014/main" val="53989606"/>
                    </a:ext>
                  </a:extLst>
                </a:gridCol>
                <a:gridCol w="1756727">
                  <a:extLst>
                    <a:ext uri="{9D8B030D-6E8A-4147-A177-3AD203B41FA5}">
                      <a16:colId xmlns:a16="http://schemas.microsoft.com/office/drawing/2014/main" val="2457218816"/>
                    </a:ext>
                  </a:extLst>
                </a:gridCol>
                <a:gridCol w="962636">
                  <a:extLst>
                    <a:ext uri="{9D8B030D-6E8A-4147-A177-3AD203B41FA5}">
                      <a16:colId xmlns:a16="http://schemas.microsoft.com/office/drawing/2014/main" val="2851435545"/>
                    </a:ext>
                  </a:extLst>
                </a:gridCol>
                <a:gridCol w="2550818">
                  <a:extLst>
                    <a:ext uri="{9D8B030D-6E8A-4147-A177-3AD203B41FA5}">
                      <a16:colId xmlns:a16="http://schemas.microsoft.com/office/drawing/2014/main" val="31730162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Дебет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Кредит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Сумма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Примечание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518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  <a:r>
                        <a:rPr lang="ru-RU" baseline="0" dirty="0"/>
                        <a:t> от ООО «Лето»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9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Груши </a:t>
                      </a:r>
                      <a:r>
                        <a:rPr lang="ru-RU"/>
                        <a:t>от ЗАО «Север»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49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41.12365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60.423123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Что-то пришло от кого-то (надо посмотреть в какую-</a:t>
                      </a:r>
                      <a:r>
                        <a:rPr lang="ru-RU" baseline="0" dirty="0"/>
                        <a:t>то таблицу соответствий)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295921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Аналитика на </a:t>
            </a:r>
            <a:r>
              <a:rPr lang="ru-RU" dirty="0" err="1"/>
              <a:t>субсчетах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6616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6738728"/>
              </p:ext>
            </p:extLst>
          </p:nvPr>
        </p:nvGraphicFramePr>
        <p:xfrm>
          <a:off x="185738" y="1268413"/>
          <a:ext cx="8783635" cy="28346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95580">
                  <a:extLst>
                    <a:ext uri="{9D8B030D-6E8A-4147-A177-3AD203B41FA5}">
                      <a16:colId xmlns:a16="http://schemas.microsoft.com/office/drawing/2014/main" val="3913589334"/>
                    </a:ext>
                  </a:extLst>
                </a:gridCol>
                <a:gridCol w="1290917">
                  <a:extLst>
                    <a:ext uri="{9D8B030D-6E8A-4147-A177-3AD203B41FA5}">
                      <a16:colId xmlns:a16="http://schemas.microsoft.com/office/drawing/2014/main" val="53989606"/>
                    </a:ext>
                  </a:extLst>
                </a:gridCol>
                <a:gridCol w="1532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0565">
                  <a:extLst>
                    <a:ext uri="{9D8B030D-6E8A-4147-A177-3AD203B41FA5}">
                      <a16:colId xmlns:a16="http://schemas.microsoft.com/office/drawing/2014/main" val="2457218816"/>
                    </a:ext>
                  </a:extLst>
                </a:gridCol>
                <a:gridCol w="15739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7597">
                  <a:extLst>
                    <a:ext uri="{9D8B030D-6E8A-4147-A177-3AD203B41FA5}">
                      <a16:colId xmlns:a16="http://schemas.microsoft.com/office/drawing/2014/main" val="2851435545"/>
                    </a:ext>
                  </a:extLst>
                </a:gridCol>
                <a:gridCol w="1822013">
                  <a:extLst>
                    <a:ext uri="{9D8B030D-6E8A-4147-A177-3AD203B41FA5}">
                      <a16:colId xmlns:a16="http://schemas.microsoft.com/office/drawing/2014/main" val="31730162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Дебет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Субконто Дт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Кредит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Субконто 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Сумма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Примечание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518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&lt;Лето&gt;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  <a:r>
                        <a:rPr lang="ru-RU" baseline="0" dirty="0"/>
                        <a:t> от ООО «Лето»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9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&lt;Груши&gt;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&lt;Север&gt;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Груши </a:t>
                      </a:r>
                      <a:r>
                        <a:rPr lang="ru-RU"/>
                        <a:t>от ЗАО «Север»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49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&lt;Лето&gt;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Оплата за</a:t>
                      </a:r>
                      <a:r>
                        <a:rPr lang="ru-RU" baseline="0" dirty="0"/>
                        <a:t> яблоки фирме ООО «Лето»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295921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Аналитика на субконто </a:t>
            </a:r>
          </a:p>
        </p:txBody>
      </p:sp>
    </p:spTree>
    <p:extLst>
      <p:ext uri="{BB962C8B-B14F-4D97-AF65-F5344CB8AC3E}">
        <p14:creationId xmlns:p14="http://schemas.microsoft.com/office/powerpoint/2010/main" val="2784042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04062"/>
          </a:xfrm>
        </p:spPr>
        <p:txBody>
          <a:bodyPr>
            <a:normAutofit fontScale="90000"/>
          </a:bodyPr>
          <a:lstStyle/>
          <a:p>
            <a:r>
              <a:rPr lang="ru-RU" dirty="0"/>
              <a:t>Ограничения аналитики, подключаемой через измерения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79644"/>
              </p:ext>
            </p:extLst>
          </p:nvPr>
        </p:nvGraphicFramePr>
        <p:xfrm>
          <a:off x="300944" y="1489595"/>
          <a:ext cx="8294831" cy="3609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932">
                  <a:extLst>
                    <a:ext uri="{9D8B030D-6E8A-4147-A177-3AD203B41FA5}">
                      <a16:colId xmlns:a16="http://schemas.microsoft.com/office/drawing/2014/main" val="2266063812"/>
                    </a:ext>
                  </a:extLst>
                </a:gridCol>
                <a:gridCol w="756686">
                  <a:extLst>
                    <a:ext uri="{9D8B030D-6E8A-4147-A177-3AD203B41FA5}">
                      <a16:colId xmlns:a16="http://schemas.microsoft.com/office/drawing/2014/main" val="2791220509"/>
                    </a:ext>
                  </a:extLst>
                </a:gridCol>
                <a:gridCol w="699897">
                  <a:extLst>
                    <a:ext uri="{9D8B030D-6E8A-4147-A177-3AD203B41FA5}">
                      <a16:colId xmlns:a16="http://schemas.microsoft.com/office/drawing/2014/main" val="2522435371"/>
                    </a:ext>
                  </a:extLst>
                </a:gridCol>
                <a:gridCol w="735418">
                  <a:extLst>
                    <a:ext uri="{9D8B030D-6E8A-4147-A177-3AD203B41FA5}">
                      <a16:colId xmlns:a16="http://schemas.microsoft.com/office/drawing/2014/main" val="636661459"/>
                    </a:ext>
                  </a:extLst>
                </a:gridCol>
                <a:gridCol w="829483">
                  <a:extLst>
                    <a:ext uri="{9D8B030D-6E8A-4147-A177-3AD203B41FA5}">
                      <a16:colId xmlns:a16="http://schemas.microsoft.com/office/drawing/2014/main" val="3788954885"/>
                    </a:ext>
                  </a:extLst>
                </a:gridCol>
                <a:gridCol w="829483">
                  <a:extLst>
                    <a:ext uri="{9D8B030D-6E8A-4147-A177-3AD203B41FA5}">
                      <a16:colId xmlns:a16="http://schemas.microsoft.com/office/drawing/2014/main" val="531750761"/>
                    </a:ext>
                  </a:extLst>
                </a:gridCol>
                <a:gridCol w="829483">
                  <a:extLst>
                    <a:ext uri="{9D8B030D-6E8A-4147-A177-3AD203B41FA5}">
                      <a16:colId xmlns:a16="http://schemas.microsoft.com/office/drawing/2014/main" val="1726836656"/>
                    </a:ext>
                  </a:extLst>
                </a:gridCol>
                <a:gridCol w="829483">
                  <a:extLst>
                    <a:ext uri="{9D8B030D-6E8A-4147-A177-3AD203B41FA5}">
                      <a16:colId xmlns:a16="http://schemas.microsoft.com/office/drawing/2014/main" val="963257108"/>
                    </a:ext>
                  </a:extLst>
                </a:gridCol>
                <a:gridCol w="829483">
                  <a:extLst>
                    <a:ext uri="{9D8B030D-6E8A-4147-A177-3AD203B41FA5}">
                      <a16:colId xmlns:a16="http://schemas.microsoft.com/office/drawing/2014/main" val="2698150401"/>
                    </a:ext>
                  </a:extLst>
                </a:gridCol>
                <a:gridCol w="829483">
                  <a:extLst>
                    <a:ext uri="{9D8B030D-6E8A-4147-A177-3AD203B41FA5}">
                      <a16:colId xmlns:a16="http://schemas.microsoft.com/office/drawing/2014/main" val="4228883530"/>
                    </a:ext>
                  </a:extLst>
                </a:gridCol>
              </a:tblGrid>
              <a:tr h="2075408">
                <a:tc>
                  <a:txBody>
                    <a:bodyPr/>
                    <a:lstStyle/>
                    <a:p>
                      <a:r>
                        <a:rPr lang="ru-RU" dirty="0"/>
                        <a:t>Счет</a:t>
                      </a:r>
                      <a:r>
                        <a:rPr lang="ru-RU" baseline="0" dirty="0"/>
                        <a:t> Дт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800" dirty="0"/>
                        <a:t>Номенклатура Дт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/>
                        <a:t>Контрагенты Дт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/>
                        <a:t>Склады</a:t>
                      </a:r>
                      <a:r>
                        <a:rPr lang="ru-RU" baseline="0" dirty="0"/>
                        <a:t> Дт</a:t>
                      </a:r>
                      <a:endParaRPr lang="ru-RU" dirty="0"/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Счет 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/>
                        <a:t>Номенклатура Кт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/>
                        <a:t>Контрагенты</a:t>
                      </a:r>
                      <a:r>
                        <a:rPr lang="ru-RU" baseline="0" dirty="0"/>
                        <a:t> Кт</a:t>
                      </a:r>
                      <a:endParaRPr lang="ru-RU" dirty="0"/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/>
                        <a:t>Склады</a:t>
                      </a:r>
                      <a:r>
                        <a:rPr lang="ru-RU" baseline="0" dirty="0"/>
                        <a:t> Кт</a:t>
                      </a:r>
                      <a:endParaRPr lang="ru-RU" dirty="0"/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266231"/>
                  </a:ext>
                </a:extLst>
              </a:tr>
              <a:tr h="1534584">
                <a:tc>
                  <a:txBody>
                    <a:bodyPr/>
                    <a:lstStyle/>
                    <a:p>
                      <a:r>
                        <a:rPr lang="ru-RU" dirty="0"/>
                        <a:t>&lt;Товары&gt;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&lt;…&gt;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&lt;Главный&gt;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&lt;…&gt;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&lt;Поставщики&gt;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&lt;…&gt;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&lt;Юг&gt;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&lt;…&gt;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&lt;…&gt;</a:t>
                      </a:r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val="216115194"/>
                  </a:ext>
                </a:extLst>
              </a:tr>
            </a:tbl>
          </a:graphicData>
        </a:graphic>
      </p:graphicFrame>
      <p:sp>
        <p:nvSpPr>
          <p:cNvPr id="6" name="Левая фигурная скобка 5"/>
          <p:cNvSpPr/>
          <p:nvPr/>
        </p:nvSpPr>
        <p:spPr>
          <a:xfrm rot="16200000">
            <a:off x="2758141" y="3776711"/>
            <a:ext cx="386814" cy="3032566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Левая фигурная скобка 7"/>
          <p:cNvSpPr/>
          <p:nvPr/>
        </p:nvSpPr>
        <p:spPr>
          <a:xfrm rot="16200000">
            <a:off x="6626015" y="3776712"/>
            <a:ext cx="386814" cy="3032566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2951548" y="5671595"/>
            <a:ext cx="3865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70C0"/>
                </a:solidFill>
                <a:latin typeface="Arial Black" panose="020B0A04020102020204" pitchFamily="34" charset="0"/>
              </a:rPr>
              <a:t>Не пустые пустоты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C00000"/>
                </a:solidFill>
                <a:latin typeface="Arial Black" panose="020B0A04020102020204" pitchFamily="34" charset="0"/>
              </a:rPr>
              <a:t>«Выпадаем» из индекса</a:t>
            </a:r>
          </a:p>
        </p:txBody>
      </p:sp>
    </p:spTree>
    <p:extLst>
      <p:ext uri="{BB962C8B-B14F-4D97-AF65-F5344CB8AC3E}">
        <p14:creationId xmlns:p14="http://schemas.microsoft.com/office/powerpoint/2010/main" val="4265340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Хранение дополнительной информации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441463"/>
              </p:ext>
            </p:extLst>
          </p:nvPr>
        </p:nvGraphicFramePr>
        <p:xfrm>
          <a:off x="453209" y="1659414"/>
          <a:ext cx="3416199" cy="1574800"/>
        </p:xfrm>
        <a:graphic>
          <a:graphicData uri="http://schemas.openxmlformats.org/drawingml/2006/table">
            <a:tbl>
              <a:tblPr/>
              <a:tblGrid>
                <a:gridCol w="758038">
                  <a:extLst>
                    <a:ext uri="{9D8B030D-6E8A-4147-A177-3AD203B41FA5}">
                      <a16:colId xmlns:a16="http://schemas.microsoft.com/office/drawing/2014/main" val="285066063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709195267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131765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Наименование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Холодильник "Атлант"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1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Туфли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41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Вино французское Бордо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50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Холодильник "Стинол"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812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465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Реквизиты справочника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53209" y="1659414"/>
          <a:ext cx="3416199" cy="1574800"/>
        </p:xfrm>
        <a:graphic>
          <a:graphicData uri="http://schemas.openxmlformats.org/drawingml/2006/table">
            <a:tbl>
              <a:tblPr/>
              <a:tblGrid>
                <a:gridCol w="758038">
                  <a:extLst>
                    <a:ext uri="{9D8B030D-6E8A-4147-A177-3AD203B41FA5}">
                      <a16:colId xmlns:a16="http://schemas.microsoft.com/office/drawing/2014/main" val="285066063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709195267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131765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Наименование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Холодильник "Атлант"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1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Туфли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41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Вино французское Бордо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50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Холодильник "Стинол"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812782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955724"/>
              </p:ext>
            </p:extLst>
          </p:nvPr>
        </p:nvGraphicFramePr>
        <p:xfrm>
          <a:off x="3869408" y="1659414"/>
          <a:ext cx="5192877" cy="1574800"/>
        </p:xfrm>
        <a:graphic>
          <a:graphicData uri="http://schemas.openxmlformats.org/drawingml/2006/table">
            <a:tbl>
              <a:tblPr/>
              <a:tblGrid>
                <a:gridCol w="1799872">
                  <a:extLst>
                    <a:ext uri="{9D8B030D-6E8A-4147-A177-3AD203B41FA5}">
                      <a16:colId xmlns:a16="http://schemas.microsoft.com/office/drawing/2014/main" val="646130818"/>
                    </a:ext>
                  </a:extLst>
                </a:gridCol>
                <a:gridCol w="856211">
                  <a:extLst>
                    <a:ext uri="{9D8B030D-6E8A-4147-A177-3AD203B41FA5}">
                      <a16:colId xmlns:a16="http://schemas.microsoft.com/office/drawing/2014/main" val="1100515599"/>
                    </a:ext>
                  </a:extLst>
                </a:gridCol>
                <a:gridCol w="931025">
                  <a:extLst>
                    <a:ext uri="{9D8B030D-6E8A-4147-A177-3AD203B41FA5}">
                      <a16:colId xmlns:a16="http://schemas.microsoft.com/office/drawing/2014/main" val="2167871973"/>
                    </a:ext>
                  </a:extLst>
                </a:gridCol>
                <a:gridCol w="1064029">
                  <a:extLst>
                    <a:ext uri="{9D8B030D-6E8A-4147-A177-3AD203B41FA5}">
                      <a16:colId xmlns:a16="http://schemas.microsoft.com/office/drawing/2014/main" val="1441268516"/>
                    </a:ext>
                  </a:extLst>
                </a:gridCol>
                <a:gridCol w="541740">
                  <a:extLst>
                    <a:ext uri="{9D8B030D-6E8A-4147-A177-3AD203B41FA5}">
                      <a16:colId xmlns:a16="http://schemas.microsoft.com/office/drawing/2014/main" val="3089701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Кол-во компрессоров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Тип Кожи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Размер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Год урожая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49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111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&lt;Люкс&gt;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«38»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1609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2015-01-01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606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168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82878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Много не пустых «пустот»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53209" y="1659414"/>
          <a:ext cx="3416199" cy="1574800"/>
        </p:xfrm>
        <a:graphic>
          <a:graphicData uri="http://schemas.openxmlformats.org/drawingml/2006/table">
            <a:tbl>
              <a:tblPr/>
              <a:tblGrid>
                <a:gridCol w="758038">
                  <a:extLst>
                    <a:ext uri="{9D8B030D-6E8A-4147-A177-3AD203B41FA5}">
                      <a16:colId xmlns:a16="http://schemas.microsoft.com/office/drawing/2014/main" val="285066063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709195267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131765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Наименование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Холодильник "Атлант"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1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Туфли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41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Вино французское Бордо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50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Холодильник "Стинол"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812782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09630"/>
              </p:ext>
            </p:extLst>
          </p:nvPr>
        </p:nvGraphicFramePr>
        <p:xfrm>
          <a:off x="3869408" y="1659414"/>
          <a:ext cx="5192877" cy="1574800"/>
        </p:xfrm>
        <a:graphic>
          <a:graphicData uri="http://schemas.openxmlformats.org/drawingml/2006/table">
            <a:tbl>
              <a:tblPr/>
              <a:tblGrid>
                <a:gridCol w="1799872">
                  <a:extLst>
                    <a:ext uri="{9D8B030D-6E8A-4147-A177-3AD203B41FA5}">
                      <a16:colId xmlns:a16="http://schemas.microsoft.com/office/drawing/2014/main" val="646130818"/>
                    </a:ext>
                  </a:extLst>
                </a:gridCol>
                <a:gridCol w="856211">
                  <a:extLst>
                    <a:ext uri="{9D8B030D-6E8A-4147-A177-3AD203B41FA5}">
                      <a16:colId xmlns:a16="http://schemas.microsoft.com/office/drawing/2014/main" val="1100515599"/>
                    </a:ext>
                  </a:extLst>
                </a:gridCol>
                <a:gridCol w="931025">
                  <a:extLst>
                    <a:ext uri="{9D8B030D-6E8A-4147-A177-3AD203B41FA5}">
                      <a16:colId xmlns:a16="http://schemas.microsoft.com/office/drawing/2014/main" val="2167871973"/>
                    </a:ext>
                  </a:extLst>
                </a:gridCol>
                <a:gridCol w="1064029">
                  <a:extLst>
                    <a:ext uri="{9D8B030D-6E8A-4147-A177-3AD203B41FA5}">
                      <a16:colId xmlns:a16="http://schemas.microsoft.com/office/drawing/2014/main" val="1441268516"/>
                    </a:ext>
                  </a:extLst>
                </a:gridCol>
                <a:gridCol w="541740">
                  <a:extLst>
                    <a:ext uri="{9D8B030D-6E8A-4147-A177-3AD203B41FA5}">
                      <a16:colId xmlns:a16="http://schemas.microsoft.com/office/drawing/2014/main" val="3089701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Кол-во компрессоров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Тип Кожи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Размер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Год урожая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49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111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&lt;Люкс&gt;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«38»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1609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2015-01-01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606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168599"/>
                  </a:ext>
                </a:extLst>
              </a:tr>
            </a:tbl>
          </a:graphicData>
        </a:graphic>
      </p:graphicFrame>
      <p:sp>
        <p:nvSpPr>
          <p:cNvPr id="2" name="Скругленный прямоугольник 1"/>
          <p:cNvSpPr/>
          <p:nvPr/>
        </p:nvSpPr>
        <p:spPr>
          <a:xfrm>
            <a:off x="3869408" y="2277688"/>
            <a:ext cx="1783247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869408" y="2606322"/>
            <a:ext cx="1783247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652656" y="1978430"/>
            <a:ext cx="856210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6544280" y="1978430"/>
            <a:ext cx="891624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544280" y="2596704"/>
            <a:ext cx="891624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6544280" y="2934956"/>
            <a:ext cx="891624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7490104" y="1978430"/>
            <a:ext cx="988878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7490104" y="2934956"/>
            <a:ext cx="988878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7490104" y="2286001"/>
            <a:ext cx="988878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5670362" y="2605017"/>
            <a:ext cx="856210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5660970" y="2919615"/>
            <a:ext cx="856210" cy="2992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8293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Не оптимально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53209" y="1659414"/>
          <a:ext cx="3416199" cy="1574800"/>
        </p:xfrm>
        <a:graphic>
          <a:graphicData uri="http://schemas.openxmlformats.org/drawingml/2006/table">
            <a:tbl>
              <a:tblPr/>
              <a:tblGrid>
                <a:gridCol w="758038">
                  <a:extLst>
                    <a:ext uri="{9D8B030D-6E8A-4147-A177-3AD203B41FA5}">
                      <a16:colId xmlns:a16="http://schemas.microsoft.com/office/drawing/2014/main" val="285066063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709195267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131765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Наименование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Холодильник "Атлант"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1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Туфли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41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Вино французское Бордо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50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Холодильник "Стинол"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812782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587750"/>
              </p:ext>
            </p:extLst>
          </p:nvPr>
        </p:nvGraphicFramePr>
        <p:xfrm>
          <a:off x="3869408" y="1659414"/>
          <a:ext cx="5192877" cy="1574800"/>
        </p:xfrm>
        <a:graphic>
          <a:graphicData uri="http://schemas.openxmlformats.org/drawingml/2006/table">
            <a:tbl>
              <a:tblPr/>
              <a:tblGrid>
                <a:gridCol w="1799872">
                  <a:extLst>
                    <a:ext uri="{9D8B030D-6E8A-4147-A177-3AD203B41FA5}">
                      <a16:colId xmlns:a16="http://schemas.microsoft.com/office/drawing/2014/main" val="646130818"/>
                    </a:ext>
                  </a:extLst>
                </a:gridCol>
                <a:gridCol w="856211">
                  <a:extLst>
                    <a:ext uri="{9D8B030D-6E8A-4147-A177-3AD203B41FA5}">
                      <a16:colId xmlns:a16="http://schemas.microsoft.com/office/drawing/2014/main" val="1100515599"/>
                    </a:ext>
                  </a:extLst>
                </a:gridCol>
                <a:gridCol w="931025">
                  <a:extLst>
                    <a:ext uri="{9D8B030D-6E8A-4147-A177-3AD203B41FA5}">
                      <a16:colId xmlns:a16="http://schemas.microsoft.com/office/drawing/2014/main" val="2167871973"/>
                    </a:ext>
                  </a:extLst>
                </a:gridCol>
                <a:gridCol w="1064029">
                  <a:extLst>
                    <a:ext uri="{9D8B030D-6E8A-4147-A177-3AD203B41FA5}">
                      <a16:colId xmlns:a16="http://schemas.microsoft.com/office/drawing/2014/main" val="1441268516"/>
                    </a:ext>
                  </a:extLst>
                </a:gridCol>
                <a:gridCol w="541740">
                  <a:extLst>
                    <a:ext uri="{9D8B030D-6E8A-4147-A177-3AD203B41FA5}">
                      <a16:colId xmlns:a16="http://schemas.microsoft.com/office/drawing/2014/main" val="3089701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Кол-во компрессоров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Тип Кожи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Размер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Год урожая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49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111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Люкс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38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1609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2015-01-01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606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168599"/>
                  </a:ext>
                </a:extLst>
              </a:tr>
            </a:tbl>
          </a:graphicData>
        </a:graphic>
      </p:graphicFrame>
      <p:sp>
        <p:nvSpPr>
          <p:cNvPr id="2" name="Умножение 1"/>
          <p:cNvSpPr/>
          <p:nvPr/>
        </p:nvSpPr>
        <p:spPr>
          <a:xfrm>
            <a:off x="4139738" y="640080"/>
            <a:ext cx="3973484" cy="3823854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171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57812"/>
          </a:xfrm>
        </p:spPr>
        <p:txBody>
          <a:bodyPr>
            <a:normAutofit fontScale="90000"/>
          </a:bodyPr>
          <a:lstStyle/>
          <a:p>
            <a:r>
              <a:rPr lang="ru-RU" dirty="0"/>
              <a:t>Хранение дополнительной информации в отдельной таблице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53209" y="1659414"/>
          <a:ext cx="3416199" cy="1574800"/>
        </p:xfrm>
        <a:graphic>
          <a:graphicData uri="http://schemas.openxmlformats.org/drawingml/2006/table">
            <a:tbl>
              <a:tblPr/>
              <a:tblGrid>
                <a:gridCol w="758038">
                  <a:extLst>
                    <a:ext uri="{9D8B030D-6E8A-4147-A177-3AD203B41FA5}">
                      <a16:colId xmlns:a16="http://schemas.microsoft.com/office/drawing/2014/main" val="285066063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709195267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131765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Наименование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Холодильник "Атлант"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1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Туфли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41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Вино французское Бордо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50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Холодильник "Стинол"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812782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459157"/>
              </p:ext>
            </p:extLst>
          </p:nvPr>
        </p:nvGraphicFramePr>
        <p:xfrm>
          <a:off x="4031673" y="1659414"/>
          <a:ext cx="4838006" cy="2103120"/>
        </p:xfrm>
        <a:graphic>
          <a:graphicData uri="http://schemas.openxmlformats.org/drawingml/2006/table">
            <a:tbl>
              <a:tblPr/>
              <a:tblGrid>
                <a:gridCol w="829687">
                  <a:extLst>
                    <a:ext uri="{9D8B030D-6E8A-4147-A177-3AD203B41FA5}">
                      <a16:colId xmlns:a16="http://schemas.microsoft.com/office/drawing/2014/main" val="1631520698"/>
                    </a:ext>
                  </a:extLst>
                </a:gridCol>
                <a:gridCol w="1919426">
                  <a:extLst>
                    <a:ext uri="{9D8B030D-6E8A-4147-A177-3AD203B41FA5}">
                      <a16:colId xmlns:a16="http://schemas.microsoft.com/office/drawing/2014/main" val="3792633718"/>
                    </a:ext>
                  </a:extLst>
                </a:gridCol>
                <a:gridCol w="2088893">
                  <a:extLst>
                    <a:ext uri="{9D8B030D-6E8A-4147-A177-3AD203B41FA5}">
                      <a16:colId xmlns:a16="http://schemas.microsoft.com/office/drawing/2014/main" val="27657720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Имя Реквизита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Значение (составной тип)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916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Кол-во компрессоров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7730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Тип Кожи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&lt;Люкс&gt;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75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Размер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«38»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525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Год урожая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2015-01-01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468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Кол-во </a:t>
                      </a:r>
                      <a:br>
                        <a:rPr lang="ru-RU" sz="1400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компрессоров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776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18754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57812"/>
          </a:xfrm>
        </p:spPr>
        <p:txBody>
          <a:bodyPr>
            <a:normAutofit fontScale="90000"/>
          </a:bodyPr>
          <a:lstStyle/>
          <a:p>
            <a:r>
              <a:rPr lang="ru-RU" dirty="0"/>
              <a:t>Хранение дополнительной информации в отдельной таблице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53209" y="1659414"/>
          <a:ext cx="3416199" cy="1574800"/>
        </p:xfrm>
        <a:graphic>
          <a:graphicData uri="http://schemas.openxmlformats.org/drawingml/2006/table">
            <a:tbl>
              <a:tblPr/>
              <a:tblGrid>
                <a:gridCol w="758038">
                  <a:extLst>
                    <a:ext uri="{9D8B030D-6E8A-4147-A177-3AD203B41FA5}">
                      <a16:colId xmlns:a16="http://schemas.microsoft.com/office/drawing/2014/main" val="285066063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709195267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131765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Наименование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Холодильник "Атлант"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1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Туфли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41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Вино французское Бордо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50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Холодильник "Стинол"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812782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4031673" y="1659414"/>
          <a:ext cx="4838006" cy="2103120"/>
        </p:xfrm>
        <a:graphic>
          <a:graphicData uri="http://schemas.openxmlformats.org/drawingml/2006/table">
            <a:tbl>
              <a:tblPr/>
              <a:tblGrid>
                <a:gridCol w="829687">
                  <a:extLst>
                    <a:ext uri="{9D8B030D-6E8A-4147-A177-3AD203B41FA5}">
                      <a16:colId xmlns:a16="http://schemas.microsoft.com/office/drawing/2014/main" val="1631520698"/>
                    </a:ext>
                  </a:extLst>
                </a:gridCol>
                <a:gridCol w="1919426">
                  <a:extLst>
                    <a:ext uri="{9D8B030D-6E8A-4147-A177-3AD203B41FA5}">
                      <a16:colId xmlns:a16="http://schemas.microsoft.com/office/drawing/2014/main" val="3792633718"/>
                    </a:ext>
                  </a:extLst>
                </a:gridCol>
                <a:gridCol w="2088893">
                  <a:extLst>
                    <a:ext uri="{9D8B030D-6E8A-4147-A177-3AD203B41FA5}">
                      <a16:colId xmlns:a16="http://schemas.microsoft.com/office/drawing/2014/main" val="27657720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Имя Реквизита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Значение (составной тип)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916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Кол-во компрессоров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7730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Тип Кожи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&lt;Люкс&gt;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75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Размер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«38»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525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Год урожая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2015-01-01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468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Кол-во </a:t>
                      </a:r>
                      <a:br>
                        <a:rPr lang="ru-RU" sz="1400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компрессоров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77624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47156" y="4538749"/>
            <a:ext cx="5228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Здесь должна быть ссылка</a:t>
            </a:r>
          </a:p>
        </p:txBody>
      </p:sp>
      <p:sp>
        <p:nvSpPr>
          <p:cNvPr id="6" name="Стрелка углом 5"/>
          <p:cNvSpPr/>
          <p:nvPr/>
        </p:nvSpPr>
        <p:spPr>
          <a:xfrm rot="16200000" flipV="1">
            <a:off x="4562903" y="3410025"/>
            <a:ext cx="1111315" cy="1816331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59832" y="5002233"/>
            <a:ext cx="554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Здесь </a:t>
            </a:r>
            <a:r>
              <a:rPr lang="ru-RU" dirty="0" smtClean="0"/>
              <a:t>значения разных типов</a:t>
            </a:r>
            <a:endParaRPr lang="ru-RU" dirty="0"/>
          </a:p>
        </p:txBody>
      </p:sp>
      <p:sp>
        <p:nvSpPr>
          <p:cNvPr id="8" name="Стрелка углом 7"/>
          <p:cNvSpPr/>
          <p:nvPr/>
        </p:nvSpPr>
        <p:spPr>
          <a:xfrm rot="16200000" flipV="1">
            <a:off x="6564973" y="3641766"/>
            <a:ext cx="1574800" cy="1816331"/>
          </a:xfrm>
          <a:prstGeom prst="bentArrow">
            <a:avLst>
              <a:gd name="adj1" fmla="val 17741"/>
              <a:gd name="adj2" fmla="val 18649"/>
              <a:gd name="adj3" fmla="val 19557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Выноска 2 8"/>
          <p:cNvSpPr/>
          <p:nvPr/>
        </p:nvSpPr>
        <p:spPr>
          <a:xfrm>
            <a:off x="1168804" y="5551086"/>
            <a:ext cx="2268519" cy="792088"/>
          </a:xfrm>
          <a:prstGeom prst="borderCallout2">
            <a:avLst>
              <a:gd name="adj1" fmla="val 64446"/>
              <a:gd name="adj2" fmla="val 107133"/>
              <a:gd name="adj3" fmla="val 63243"/>
              <a:gd name="adj4" fmla="val 135749"/>
              <a:gd name="adj5" fmla="val -24587"/>
              <a:gd name="adj6" fmla="val 16579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Это как 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333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7" grpId="0"/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57812"/>
          </a:xfrm>
        </p:spPr>
        <p:txBody>
          <a:bodyPr>
            <a:normAutofit fontScale="90000"/>
          </a:bodyPr>
          <a:lstStyle/>
          <a:p>
            <a:r>
              <a:rPr lang="ru-RU" dirty="0"/>
              <a:t>Хранение дополнительной информации в отдельной таблице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53209" y="1659414"/>
          <a:ext cx="3416199" cy="1574800"/>
        </p:xfrm>
        <a:graphic>
          <a:graphicData uri="http://schemas.openxmlformats.org/drawingml/2006/table">
            <a:tbl>
              <a:tblPr/>
              <a:tblGrid>
                <a:gridCol w="758038">
                  <a:extLst>
                    <a:ext uri="{9D8B030D-6E8A-4147-A177-3AD203B41FA5}">
                      <a16:colId xmlns:a16="http://schemas.microsoft.com/office/drawing/2014/main" val="2850660634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709195267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131765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Наименование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Холодильник "Атлант"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1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Туфли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41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Вино французское Бордо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50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Холодильник "Стинол"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812782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862299"/>
              </p:ext>
            </p:extLst>
          </p:nvPr>
        </p:nvGraphicFramePr>
        <p:xfrm>
          <a:off x="4031673" y="1659414"/>
          <a:ext cx="4838006" cy="1889760"/>
        </p:xfrm>
        <a:graphic>
          <a:graphicData uri="http://schemas.openxmlformats.org/drawingml/2006/table">
            <a:tbl>
              <a:tblPr/>
              <a:tblGrid>
                <a:gridCol w="829687">
                  <a:extLst>
                    <a:ext uri="{9D8B030D-6E8A-4147-A177-3AD203B41FA5}">
                      <a16:colId xmlns:a16="http://schemas.microsoft.com/office/drawing/2014/main" val="1631520698"/>
                    </a:ext>
                  </a:extLst>
                </a:gridCol>
                <a:gridCol w="1919426">
                  <a:extLst>
                    <a:ext uri="{9D8B030D-6E8A-4147-A177-3AD203B41FA5}">
                      <a16:colId xmlns:a16="http://schemas.microsoft.com/office/drawing/2014/main" val="3792633718"/>
                    </a:ext>
                  </a:extLst>
                </a:gridCol>
                <a:gridCol w="2088893">
                  <a:extLst>
                    <a:ext uri="{9D8B030D-6E8A-4147-A177-3AD203B41FA5}">
                      <a16:colId xmlns:a16="http://schemas.microsoft.com/office/drawing/2014/main" val="27657720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Имя Реквизита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Значение (составной тип)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916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&lt;ААА&gt;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&lt;ЖЖЖ&gt;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7730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&lt;ЖИИ&gt;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&lt;Люкс&gt;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75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&lt;БББ&gt;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&lt;ЖЗЗ&gt;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«38»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525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&lt;ВВВ&gt;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&lt;ЖШШ&gt;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2015-01-01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468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&lt;ГГГ&gt;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&lt;ЖЖЖ&gt;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77624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805511"/>
              </p:ext>
            </p:extLst>
          </p:nvPr>
        </p:nvGraphicFramePr>
        <p:xfrm>
          <a:off x="453209" y="4412312"/>
          <a:ext cx="4871009" cy="1788160"/>
        </p:xfrm>
        <a:graphic>
          <a:graphicData uri="http://schemas.openxmlformats.org/drawingml/2006/table">
            <a:tbl>
              <a:tblPr/>
              <a:tblGrid>
                <a:gridCol w="839419">
                  <a:extLst>
                    <a:ext uri="{9D8B030D-6E8A-4147-A177-3AD203B41FA5}">
                      <a16:colId xmlns:a16="http://schemas.microsoft.com/office/drawing/2014/main" val="3344630645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2300079749"/>
                    </a:ext>
                  </a:extLst>
                </a:gridCol>
                <a:gridCol w="1350569">
                  <a:extLst>
                    <a:ext uri="{9D8B030D-6E8A-4147-A177-3AD203B41FA5}">
                      <a16:colId xmlns:a16="http://schemas.microsoft.com/office/drawing/2014/main" val="836078279"/>
                    </a:ext>
                  </a:extLst>
                </a:gridCol>
                <a:gridCol w="2071116">
                  <a:extLst>
                    <a:ext uri="{9D8B030D-6E8A-4147-A177-3AD203B41FA5}">
                      <a16:colId xmlns:a16="http://schemas.microsoft.com/office/drawing/2014/main" val="3473338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Наименование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Тип значения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5213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&lt;ЖЖЖ&gt;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Кол-во </a:t>
                      </a:r>
                      <a:br>
                        <a:rPr lang="ru-RU" sz="1400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компрессоров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Число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463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&lt;ЖИИ&gt;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Тип Кожи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Ссылка на перечисление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6849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&lt;ЖЗЗ&gt;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Размер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Строка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195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&lt;ЖШШ&gt;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Год урожая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Дата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465073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3209" y="3906982"/>
            <a:ext cx="3004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План видов характеристик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7233" y="3796077"/>
            <a:ext cx="3004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Связь по типу</a:t>
            </a:r>
          </a:p>
        </p:txBody>
      </p:sp>
      <p:sp>
        <p:nvSpPr>
          <p:cNvPr id="3" name="Развернутая стрелка 2"/>
          <p:cNvSpPr/>
          <p:nvPr/>
        </p:nvSpPr>
        <p:spPr>
          <a:xfrm rot="10800000">
            <a:off x="5640875" y="3615328"/>
            <a:ext cx="2038309" cy="698881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Стрелка вниз 5"/>
          <p:cNvSpPr/>
          <p:nvPr/>
        </p:nvSpPr>
        <p:spPr>
          <a:xfrm>
            <a:off x="4864964" y="3615328"/>
            <a:ext cx="343845" cy="660986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3147677" y="4314209"/>
            <a:ext cx="2400524" cy="2068836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252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93266"/>
          </a:xfrm>
        </p:spPr>
        <p:txBody>
          <a:bodyPr/>
          <a:lstStyle/>
          <a:p>
            <a:r>
              <a:rPr lang="ru-RU" dirty="0"/>
              <a:t>Хранение составного типа в базе данных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085941"/>
              </p:ext>
            </p:extLst>
          </p:nvPr>
        </p:nvGraphicFramePr>
        <p:xfrm>
          <a:off x="295275" y="5048180"/>
          <a:ext cx="8596735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373">
                  <a:extLst>
                    <a:ext uri="{9D8B030D-6E8A-4147-A177-3AD203B41FA5}">
                      <a16:colId xmlns:a16="http://schemas.microsoft.com/office/drawing/2014/main" val="2665122891"/>
                    </a:ext>
                  </a:extLst>
                </a:gridCol>
                <a:gridCol w="1090670">
                  <a:extLst>
                    <a:ext uri="{9D8B030D-6E8A-4147-A177-3AD203B41FA5}">
                      <a16:colId xmlns:a16="http://schemas.microsoft.com/office/drawing/2014/main" val="3634049784"/>
                    </a:ext>
                  </a:extLst>
                </a:gridCol>
                <a:gridCol w="1233889">
                  <a:extLst>
                    <a:ext uri="{9D8B030D-6E8A-4147-A177-3AD203B41FA5}">
                      <a16:colId xmlns:a16="http://schemas.microsoft.com/office/drawing/2014/main" val="2755661369"/>
                    </a:ext>
                  </a:extLst>
                </a:gridCol>
                <a:gridCol w="1200839">
                  <a:extLst>
                    <a:ext uri="{9D8B030D-6E8A-4147-A177-3AD203B41FA5}">
                      <a16:colId xmlns:a16="http://schemas.microsoft.com/office/drawing/2014/main" val="1582707422"/>
                    </a:ext>
                  </a:extLst>
                </a:gridCol>
                <a:gridCol w="1180754">
                  <a:extLst>
                    <a:ext uri="{9D8B030D-6E8A-4147-A177-3AD203B41FA5}">
                      <a16:colId xmlns:a16="http://schemas.microsoft.com/office/drawing/2014/main" val="257742612"/>
                    </a:ext>
                  </a:extLst>
                </a:gridCol>
                <a:gridCol w="1228105">
                  <a:extLst>
                    <a:ext uri="{9D8B030D-6E8A-4147-A177-3AD203B41FA5}">
                      <a16:colId xmlns:a16="http://schemas.microsoft.com/office/drawing/2014/main" val="3880621152"/>
                    </a:ext>
                  </a:extLst>
                </a:gridCol>
                <a:gridCol w="1228105">
                  <a:extLst>
                    <a:ext uri="{9D8B030D-6E8A-4147-A177-3AD203B41FA5}">
                      <a16:colId xmlns:a16="http://schemas.microsoft.com/office/drawing/2014/main" val="2629661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Выбранный</a:t>
                      </a:r>
                      <a:r>
                        <a:rPr lang="ru-RU" baseline="0" dirty="0"/>
                        <a:t> тип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Число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Строка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Булево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Таблица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62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322416"/>
                  </a:ext>
                </a:extLst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1119934"/>
            <a:ext cx="3067050" cy="3714750"/>
          </a:xfrm>
          <a:prstGeom prst="rect">
            <a:avLst/>
          </a:prstGeom>
        </p:spPr>
      </p:pic>
      <p:sp>
        <p:nvSpPr>
          <p:cNvPr id="6" name="Стрелка углом 5"/>
          <p:cNvSpPr/>
          <p:nvPr/>
        </p:nvSpPr>
        <p:spPr>
          <a:xfrm rot="5400000">
            <a:off x="3564567" y="2200487"/>
            <a:ext cx="2225408" cy="2415581"/>
          </a:xfrm>
          <a:prstGeom prst="bentArrow">
            <a:avLst>
              <a:gd name="adj1" fmla="val 10148"/>
              <a:gd name="adj2" fmla="val 16584"/>
              <a:gd name="adj3" fmla="val 19554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535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532117" y="1120775"/>
          <a:ext cx="6096000" cy="22250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039617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138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«Наличие»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546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2016-04-22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90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437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&lt;ООО</a:t>
                      </a:r>
                      <a:r>
                        <a:rPr lang="ru-RU" baseline="0" dirty="0"/>
                        <a:t> Юг&gt;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87541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188120" y="3428702"/>
          <a:ext cx="8784002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5618">
                  <a:extLst>
                    <a:ext uri="{9D8B030D-6E8A-4147-A177-3AD203B41FA5}">
                      <a16:colId xmlns:a16="http://schemas.microsoft.com/office/drawing/2014/main" val="2665122891"/>
                    </a:ext>
                  </a:extLst>
                </a:gridCol>
                <a:gridCol w="857944">
                  <a:extLst>
                    <a:ext uri="{9D8B030D-6E8A-4147-A177-3AD203B41FA5}">
                      <a16:colId xmlns:a16="http://schemas.microsoft.com/office/drawing/2014/main" val="3634049784"/>
                    </a:ext>
                  </a:extLst>
                </a:gridCol>
                <a:gridCol w="1324379">
                  <a:extLst>
                    <a:ext uri="{9D8B030D-6E8A-4147-A177-3AD203B41FA5}">
                      <a16:colId xmlns:a16="http://schemas.microsoft.com/office/drawing/2014/main" val="2755661369"/>
                    </a:ext>
                  </a:extLst>
                </a:gridCol>
                <a:gridCol w="1324379">
                  <a:extLst>
                    <a:ext uri="{9D8B030D-6E8A-4147-A177-3AD203B41FA5}">
                      <a16:colId xmlns:a16="http://schemas.microsoft.com/office/drawing/2014/main" val="1582707422"/>
                    </a:ext>
                  </a:extLst>
                </a:gridCol>
                <a:gridCol w="923728">
                  <a:extLst>
                    <a:ext uri="{9D8B030D-6E8A-4147-A177-3AD203B41FA5}">
                      <a16:colId xmlns:a16="http://schemas.microsoft.com/office/drawing/2014/main" val="25774261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3880621152"/>
                    </a:ext>
                  </a:extLst>
                </a:gridCol>
                <a:gridCol w="1735826">
                  <a:extLst>
                    <a:ext uri="{9D8B030D-6E8A-4147-A177-3AD203B41FA5}">
                      <a16:colId xmlns:a16="http://schemas.microsoft.com/office/drawing/2014/main" val="2629661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Выбранный</a:t>
                      </a:r>
                      <a:r>
                        <a:rPr lang="ru-RU" baseline="0" dirty="0"/>
                        <a:t> тип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Число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Строка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Булево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Номер Таблицы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62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Число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322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Строка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«Наличие»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63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2016-04-22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13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Булево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253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&lt;</a:t>
                      </a:r>
                      <a:r>
                        <a:rPr lang="en-US" dirty="0" smtClean="0"/>
                        <a:t>ID  </a:t>
                      </a:r>
                      <a:r>
                        <a:rPr lang="ru-RU" dirty="0" smtClean="0"/>
                        <a:t>«Яблоки»&gt;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467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&lt;</a:t>
                      </a:r>
                      <a:r>
                        <a:rPr lang="en-US" dirty="0" smtClean="0"/>
                        <a:t>ID </a:t>
                      </a:r>
                      <a:r>
                        <a:rPr lang="ru-RU" dirty="0" smtClean="0"/>
                        <a:t>«ООО</a:t>
                      </a:r>
                      <a:r>
                        <a:rPr lang="ru-RU" baseline="0" dirty="0" smtClean="0"/>
                        <a:t> Юг»&gt;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714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95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83961"/>
          </a:xfrm>
        </p:spPr>
        <p:txBody>
          <a:bodyPr/>
          <a:lstStyle/>
          <a:p>
            <a:r>
              <a:rPr lang="ru-RU" dirty="0" smtClean="0"/>
              <a:t>Субконто в проводке глазами пользователя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081742"/>
              </p:ext>
            </p:extLst>
          </p:nvPr>
        </p:nvGraphicFramePr>
        <p:xfrm>
          <a:off x="188118" y="1578026"/>
          <a:ext cx="8784001" cy="1561490"/>
        </p:xfrm>
        <a:graphic>
          <a:graphicData uri="http://schemas.openxmlformats.org/drawingml/2006/table">
            <a:tbl>
              <a:tblPr/>
              <a:tblGrid>
                <a:gridCol w="1059197">
                  <a:extLst>
                    <a:ext uri="{9D8B030D-6E8A-4147-A177-3AD203B41FA5}">
                      <a16:colId xmlns:a16="http://schemas.microsoft.com/office/drawing/2014/main" val="4118754638"/>
                    </a:ext>
                  </a:extLst>
                </a:gridCol>
                <a:gridCol w="815226">
                  <a:extLst>
                    <a:ext uri="{9D8B030D-6E8A-4147-A177-3AD203B41FA5}">
                      <a16:colId xmlns:a16="http://schemas.microsoft.com/office/drawing/2014/main" val="1010810513"/>
                    </a:ext>
                  </a:extLst>
                </a:gridCol>
                <a:gridCol w="1399370">
                  <a:extLst>
                    <a:ext uri="{9D8B030D-6E8A-4147-A177-3AD203B41FA5}">
                      <a16:colId xmlns:a16="http://schemas.microsoft.com/office/drawing/2014/main" val="1513934296"/>
                    </a:ext>
                  </a:extLst>
                </a:gridCol>
                <a:gridCol w="1356725">
                  <a:extLst>
                    <a:ext uri="{9D8B030D-6E8A-4147-A177-3AD203B41FA5}">
                      <a16:colId xmlns:a16="http://schemas.microsoft.com/office/drawing/2014/main" val="1216033248"/>
                    </a:ext>
                  </a:extLst>
                </a:gridCol>
                <a:gridCol w="799356">
                  <a:extLst>
                    <a:ext uri="{9D8B030D-6E8A-4147-A177-3AD203B41FA5}">
                      <a16:colId xmlns:a16="http://schemas.microsoft.com/office/drawing/2014/main" val="1411409305"/>
                    </a:ext>
                  </a:extLst>
                </a:gridCol>
                <a:gridCol w="1337882">
                  <a:extLst>
                    <a:ext uri="{9D8B030D-6E8A-4147-A177-3AD203B41FA5}">
                      <a16:colId xmlns:a16="http://schemas.microsoft.com/office/drawing/2014/main" val="2178682804"/>
                    </a:ext>
                  </a:extLst>
                </a:gridCol>
                <a:gridCol w="1337882">
                  <a:extLst>
                    <a:ext uri="{9D8B030D-6E8A-4147-A177-3AD203B41FA5}">
                      <a16:colId xmlns:a16="http://schemas.microsoft.com/office/drawing/2014/main" val="3216493051"/>
                    </a:ext>
                  </a:extLst>
                </a:gridCol>
                <a:gridCol w="678363">
                  <a:extLst>
                    <a:ext uri="{9D8B030D-6E8A-4147-A177-3AD203B41FA5}">
                      <a16:colId xmlns:a16="http://schemas.microsoft.com/office/drawing/2014/main" val="1649106252"/>
                    </a:ext>
                  </a:extLst>
                </a:gridCol>
              </a:tblGrid>
              <a:tr h="30671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Проводка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Счет Дт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Субконто  Дт 1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Субконто Дт 2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Счет Кт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Субконто Кт 1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Субконто Кт 2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245990"/>
                  </a:ext>
                </a:extLst>
              </a:tr>
              <a:tr h="30671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B43512"/>
                          </a:solidFill>
                          <a:effectLst/>
                          <a:latin typeface="Calibri" panose="020F0502020204030204" pitchFamily="34" charset="0"/>
                        </a:rPr>
                        <a:t>&lt;Главный&gt;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&lt;Лето&gt;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301707"/>
                  </a:ext>
                </a:extLst>
              </a:tr>
              <a:tr h="30671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&lt;Лёд&gt;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&lt;Север&gt;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050593"/>
                  </a:ext>
                </a:extLst>
              </a:tr>
              <a:tr h="30671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&lt;Запад&gt;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634861"/>
                  </a:ext>
                </a:extLst>
              </a:tr>
              <a:tr h="30671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&lt;Лето&gt;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605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5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83961"/>
          </a:xfrm>
        </p:spPr>
        <p:txBody>
          <a:bodyPr/>
          <a:lstStyle/>
          <a:p>
            <a:r>
              <a:rPr lang="ru-RU" dirty="0" smtClean="0"/>
              <a:t>Хранение субконто в отдельной таблице субконто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00699"/>
              </p:ext>
            </p:extLst>
          </p:nvPr>
        </p:nvGraphicFramePr>
        <p:xfrm>
          <a:off x="188118" y="1578026"/>
          <a:ext cx="8784001" cy="1561490"/>
        </p:xfrm>
        <a:graphic>
          <a:graphicData uri="http://schemas.openxmlformats.org/drawingml/2006/table">
            <a:tbl>
              <a:tblPr/>
              <a:tblGrid>
                <a:gridCol w="1059197">
                  <a:extLst>
                    <a:ext uri="{9D8B030D-6E8A-4147-A177-3AD203B41FA5}">
                      <a16:colId xmlns:a16="http://schemas.microsoft.com/office/drawing/2014/main" val="4118754638"/>
                    </a:ext>
                  </a:extLst>
                </a:gridCol>
                <a:gridCol w="815226">
                  <a:extLst>
                    <a:ext uri="{9D8B030D-6E8A-4147-A177-3AD203B41FA5}">
                      <a16:colId xmlns:a16="http://schemas.microsoft.com/office/drawing/2014/main" val="1010810513"/>
                    </a:ext>
                  </a:extLst>
                </a:gridCol>
                <a:gridCol w="1399370">
                  <a:extLst>
                    <a:ext uri="{9D8B030D-6E8A-4147-A177-3AD203B41FA5}">
                      <a16:colId xmlns:a16="http://schemas.microsoft.com/office/drawing/2014/main" val="1513934296"/>
                    </a:ext>
                  </a:extLst>
                </a:gridCol>
                <a:gridCol w="1356725">
                  <a:extLst>
                    <a:ext uri="{9D8B030D-6E8A-4147-A177-3AD203B41FA5}">
                      <a16:colId xmlns:a16="http://schemas.microsoft.com/office/drawing/2014/main" val="1216033248"/>
                    </a:ext>
                  </a:extLst>
                </a:gridCol>
                <a:gridCol w="799356">
                  <a:extLst>
                    <a:ext uri="{9D8B030D-6E8A-4147-A177-3AD203B41FA5}">
                      <a16:colId xmlns:a16="http://schemas.microsoft.com/office/drawing/2014/main" val="1411409305"/>
                    </a:ext>
                  </a:extLst>
                </a:gridCol>
                <a:gridCol w="1337882">
                  <a:extLst>
                    <a:ext uri="{9D8B030D-6E8A-4147-A177-3AD203B41FA5}">
                      <a16:colId xmlns:a16="http://schemas.microsoft.com/office/drawing/2014/main" val="2178682804"/>
                    </a:ext>
                  </a:extLst>
                </a:gridCol>
                <a:gridCol w="1337882">
                  <a:extLst>
                    <a:ext uri="{9D8B030D-6E8A-4147-A177-3AD203B41FA5}">
                      <a16:colId xmlns:a16="http://schemas.microsoft.com/office/drawing/2014/main" val="3216493051"/>
                    </a:ext>
                  </a:extLst>
                </a:gridCol>
                <a:gridCol w="678363">
                  <a:extLst>
                    <a:ext uri="{9D8B030D-6E8A-4147-A177-3AD203B41FA5}">
                      <a16:colId xmlns:a16="http://schemas.microsoft.com/office/drawing/2014/main" val="1649106252"/>
                    </a:ext>
                  </a:extLst>
                </a:gridCol>
              </a:tblGrid>
              <a:tr h="30671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Проводка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Счет Дт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Субконто  Дт 1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Субконто Дт 2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Счет Кт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Субконто Кт 1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Субконто Кт 2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245990"/>
                  </a:ext>
                </a:extLst>
              </a:tr>
              <a:tr h="30671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B43512"/>
                          </a:solidFill>
                          <a:effectLst/>
                          <a:latin typeface="Calibri" panose="020F0502020204030204" pitchFamily="34" charset="0"/>
                        </a:rPr>
                        <a:t>&lt;Главный&gt;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&lt;Лето&gt;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301707"/>
                  </a:ext>
                </a:extLst>
              </a:tr>
              <a:tr h="30671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&lt;Лёд&gt;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&lt;Север&gt;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050593"/>
                  </a:ext>
                </a:extLst>
              </a:tr>
              <a:tr h="30671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&lt;Запад&gt;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634861"/>
                  </a:ext>
                </a:extLst>
              </a:tr>
              <a:tr h="30671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&lt;Лето&gt;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49469" marR="49469" marT="49469" marB="49469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605464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111672"/>
              </p:ext>
            </p:extLst>
          </p:nvPr>
        </p:nvGraphicFramePr>
        <p:xfrm>
          <a:off x="214752" y="3400720"/>
          <a:ext cx="3032151" cy="1574800"/>
        </p:xfrm>
        <a:graphic>
          <a:graphicData uri="http://schemas.openxmlformats.org/drawingml/2006/table">
            <a:tbl>
              <a:tblPr/>
              <a:tblGrid>
                <a:gridCol w="916229">
                  <a:extLst>
                    <a:ext uri="{9D8B030D-6E8A-4147-A177-3AD203B41FA5}">
                      <a16:colId xmlns:a16="http://schemas.microsoft.com/office/drawing/2014/main" val="2074064825"/>
                    </a:ext>
                  </a:extLst>
                </a:gridCol>
                <a:gridCol w="753466">
                  <a:extLst>
                    <a:ext uri="{9D8B030D-6E8A-4147-A177-3AD203B41FA5}">
                      <a16:colId xmlns:a16="http://schemas.microsoft.com/office/drawing/2014/main" val="893135031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1581578019"/>
                    </a:ext>
                  </a:extLst>
                </a:gridCol>
                <a:gridCol w="625450">
                  <a:extLst>
                    <a:ext uri="{9D8B030D-6E8A-4147-A177-3AD203B41FA5}">
                      <a16:colId xmlns:a16="http://schemas.microsoft.com/office/drawing/2014/main" val="4238316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Проводка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Счет Дт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Счет Кт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092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313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76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927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419584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286082"/>
              </p:ext>
            </p:extLst>
          </p:nvPr>
        </p:nvGraphicFramePr>
        <p:xfrm>
          <a:off x="3424222" y="3400720"/>
          <a:ext cx="5494629" cy="2834640"/>
        </p:xfrm>
        <a:graphic>
          <a:graphicData uri="http://schemas.openxmlformats.org/drawingml/2006/table">
            <a:tbl>
              <a:tblPr/>
              <a:tblGrid>
                <a:gridCol w="953719">
                  <a:extLst>
                    <a:ext uri="{9D8B030D-6E8A-4147-A177-3AD203B41FA5}">
                      <a16:colId xmlns:a16="http://schemas.microsoft.com/office/drawing/2014/main" val="3473902362"/>
                    </a:ext>
                  </a:extLst>
                </a:gridCol>
                <a:gridCol w="1612087">
                  <a:extLst>
                    <a:ext uri="{9D8B030D-6E8A-4147-A177-3AD203B41FA5}">
                      <a16:colId xmlns:a16="http://schemas.microsoft.com/office/drawing/2014/main" val="3478116292"/>
                    </a:ext>
                  </a:extLst>
                </a:gridCol>
                <a:gridCol w="1354226">
                  <a:extLst>
                    <a:ext uri="{9D8B030D-6E8A-4147-A177-3AD203B41FA5}">
                      <a16:colId xmlns:a16="http://schemas.microsoft.com/office/drawing/2014/main" val="2111869499"/>
                    </a:ext>
                  </a:extLst>
                </a:gridCol>
                <a:gridCol w="1574597">
                  <a:extLst>
                    <a:ext uri="{9D8B030D-6E8A-4147-A177-3AD203B41FA5}">
                      <a16:colId xmlns:a16="http://schemas.microsoft.com/office/drawing/2014/main" val="3024488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Проводка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Сторона проводки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Субконто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Значение субконто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2643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Дт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&lt;ЖЖЖ&gt;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244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Дт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&lt;ЖЗЗ&gt;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&lt;Главный&gt;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771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&lt;ЖИИ&gt;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&lt;Лето&gt;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01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Дт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&lt;ЖЖЖ&gt;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&lt;Лёд&gt;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170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&lt;ЖИИ&gt;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&lt;Север&gt;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992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Дт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&lt;ЖЖЖ&gt;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483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&lt;ЖИИ&gt;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&lt;Запад&gt;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644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Дт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&lt;ЖИИ&gt;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&lt;Лето&gt;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4434081"/>
                  </a:ext>
                </a:extLst>
              </a:tr>
            </a:tbl>
          </a:graphicData>
        </a:graphic>
      </p:graphicFrame>
      <p:sp>
        <p:nvSpPr>
          <p:cNvPr id="6" name="Скругленный прямоугольник 5"/>
          <p:cNvSpPr/>
          <p:nvPr/>
        </p:nvSpPr>
        <p:spPr>
          <a:xfrm>
            <a:off x="88777" y="3261605"/>
            <a:ext cx="8883342" cy="2973755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849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7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37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83961"/>
          </a:xfrm>
        </p:spPr>
        <p:txBody>
          <a:bodyPr/>
          <a:lstStyle/>
          <a:p>
            <a:r>
              <a:rPr lang="ru-RU" dirty="0" smtClean="0"/>
              <a:t>Хранение субконто в отдельной таблице субконто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14752" y="3400720"/>
          <a:ext cx="3032151" cy="1574800"/>
        </p:xfrm>
        <a:graphic>
          <a:graphicData uri="http://schemas.openxmlformats.org/drawingml/2006/table">
            <a:tbl>
              <a:tblPr/>
              <a:tblGrid>
                <a:gridCol w="916229">
                  <a:extLst>
                    <a:ext uri="{9D8B030D-6E8A-4147-A177-3AD203B41FA5}">
                      <a16:colId xmlns:a16="http://schemas.microsoft.com/office/drawing/2014/main" val="2074064825"/>
                    </a:ext>
                  </a:extLst>
                </a:gridCol>
                <a:gridCol w="753466">
                  <a:extLst>
                    <a:ext uri="{9D8B030D-6E8A-4147-A177-3AD203B41FA5}">
                      <a16:colId xmlns:a16="http://schemas.microsoft.com/office/drawing/2014/main" val="893135031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1581578019"/>
                    </a:ext>
                  </a:extLst>
                </a:gridCol>
                <a:gridCol w="625450">
                  <a:extLst>
                    <a:ext uri="{9D8B030D-6E8A-4147-A177-3AD203B41FA5}">
                      <a16:colId xmlns:a16="http://schemas.microsoft.com/office/drawing/2014/main" val="4238316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Проводка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Счет Дт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Счет Кт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092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313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76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927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419584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3424222" y="3400720"/>
          <a:ext cx="5494629" cy="2834640"/>
        </p:xfrm>
        <a:graphic>
          <a:graphicData uri="http://schemas.openxmlformats.org/drawingml/2006/table">
            <a:tbl>
              <a:tblPr/>
              <a:tblGrid>
                <a:gridCol w="953719">
                  <a:extLst>
                    <a:ext uri="{9D8B030D-6E8A-4147-A177-3AD203B41FA5}">
                      <a16:colId xmlns:a16="http://schemas.microsoft.com/office/drawing/2014/main" val="3473902362"/>
                    </a:ext>
                  </a:extLst>
                </a:gridCol>
                <a:gridCol w="1612087">
                  <a:extLst>
                    <a:ext uri="{9D8B030D-6E8A-4147-A177-3AD203B41FA5}">
                      <a16:colId xmlns:a16="http://schemas.microsoft.com/office/drawing/2014/main" val="3478116292"/>
                    </a:ext>
                  </a:extLst>
                </a:gridCol>
                <a:gridCol w="1354226">
                  <a:extLst>
                    <a:ext uri="{9D8B030D-6E8A-4147-A177-3AD203B41FA5}">
                      <a16:colId xmlns:a16="http://schemas.microsoft.com/office/drawing/2014/main" val="2111869499"/>
                    </a:ext>
                  </a:extLst>
                </a:gridCol>
                <a:gridCol w="1574597">
                  <a:extLst>
                    <a:ext uri="{9D8B030D-6E8A-4147-A177-3AD203B41FA5}">
                      <a16:colId xmlns:a16="http://schemas.microsoft.com/office/drawing/2014/main" val="3024488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Проводка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Сторона проводки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Субконто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Значение субконто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2643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Дт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&lt;ЖЖЖ&gt;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244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Дт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&lt;ЖЗЗ&gt;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&lt;Главный&gt;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771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&lt;ЖИИ&gt;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&lt;Лето&gt;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01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Дт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&lt;ЖЖЖ&gt;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&lt;Лёд&gt;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170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&lt;ЖИИ&gt;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&lt;Север&gt;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992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Дт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&lt;ЖЖЖ&gt;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&lt;Груши&gt;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483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&lt;ЖИИ&gt;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&lt;Запад&gt;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644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Дт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&lt;ЖИИ&gt;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&lt;Лето&gt;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4434081"/>
                  </a:ext>
                </a:extLst>
              </a:tr>
            </a:tbl>
          </a:graphicData>
        </a:graphic>
      </p:graphicFrame>
      <p:sp>
        <p:nvSpPr>
          <p:cNvPr id="6" name="Скругленный прямоугольник 5"/>
          <p:cNvSpPr/>
          <p:nvPr/>
        </p:nvSpPr>
        <p:spPr>
          <a:xfrm>
            <a:off x="88777" y="3261605"/>
            <a:ext cx="8883342" cy="2973755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637847"/>
              </p:ext>
            </p:extLst>
          </p:nvPr>
        </p:nvGraphicFramePr>
        <p:xfrm>
          <a:off x="240738" y="1895012"/>
          <a:ext cx="6366967" cy="1259840"/>
        </p:xfrm>
        <a:graphic>
          <a:graphicData uri="http://schemas.openxmlformats.org/drawingml/2006/table">
            <a:tbl>
              <a:tblPr/>
              <a:tblGrid>
                <a:gridCol w="814730">
                  <a:extLst>
                    <a:ext uri="{9D8B030D-6E8A-4147-A177-3AD203B41FA5}">
                      <a16:colId xmlns:a16="http://schemas.microsoft.com/office/drawing/2014/main" val="421970456"/>
                    </a:ext>
                  </a:extLst>
                </a:gridCol>
                <a:gridCol w="609905">
                  <a:extLst>
                    <a:ext uri="{9D8B030D-6E8A-4147-A177-3AD203B41FA5}">
                      <a16:colId xmlns:a16="http://schemas.microsoft.com/office/drawing/2014/main" val="1195934489"/>
                    </a:ext>
                  </a:extLst>
                </a:gridCol>
                <a:gridCol w="1350569">
                  <a:extLst>
                    <a:ext uri="{9D8B030D-6E8A-4147-A177-3AD203B41FA5}">
                      <a16:colId xmlns:a16="http://schemas.microsoft.com/office/drawing/2014/main" val="2980009895"/>
                    </a:ext>
                  </a:extLst>
                </a:gridCol>
                <a:gridCol w="3591763">
                  <a:extLst>
                    <a:ext uri="{9D8B030D-6E8A-4147-A177-3AD203B41FA5}">
                      <a16:colId xmlns:a16="http://schemas.microsoft.com/office/drawing/2014/main" val="1420439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Ссылка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Код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Наименование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Тип значения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4905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&lt;ЖЖЖ&gt;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Номенклатуры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Ссылка на справочник Номенклатура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1623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&lt;ЖИИ&gt;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 panose="020F0502020204030204" pitchFamily="34" charset="0"/>
                        </a:rPr>
                        <a:t>Контрагенты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Ссылка на справочник контрагенты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375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&lt;ЖЗЗ&gt;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Calibri" panose="020F0502020204030204" pitchFamily="34" charset="0"/>
                        </a:rPr>
                        <a:t>Склады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Calibri" panose="020F0502020204030204" pitchFamily="34" charset="0"/>
                        </a:rPr>
                        <a:t>Ссылка на справочник склады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9296053"/>
                  </a:ext>
                </a:extLst>
              </a:tr>
            </a:tbl>
          </a:graphicData>
        </a:graphic>
      </p:graphicFrame>
      <p:sp>
        <p:nvSpPr>
          <p:cNvPr id="8" name="Стрелка углом 7"/>
          <p:cNvSpPr/>
          <p:nvPr/>
        </p:nvSpPr>
        <p:spPr>
          <a:xfrm flipH="1">
            <a:off x="6035038" y="1947673"/>
            <a:ext cx="1088137" cy="1453048"/>
          </a:xfrm>
          <a:prstGeom prst="bentArrow">
            <a:avLst>
              <a:gd name="adj1" fmla="val 10148"/>
              <a:gd name="adj2" fmla="val 16584"/>
              <a:gd name="adj3" fmla="val 19554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0738" y="1517139"/>
            <a:ext cx="581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Таблица </a:t>
            </a:r>
            <a:r>
              <a:rPr lang="ru-RU" dirty="0">
                <a:solidFill>
                  <a:srgbClr val="7030A0"/>
                </a:solidFill>
              </a:rPr>
              <a:t>плана </a:t>
            </a:r>
            <a:r>
              <a:rPr lang="ru-RU" dirty="0" smtClean="0">
                <a:solidFill>
                  <a:srgbClr val="7030A0"/>
                </a:solidFill>
              </a:rPr>
              <a:t>видов характеристик «Виды субконто»</a:t>
            </a:r>
            <a:endParaRPr lang="ru-R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18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видов </a:t>
            </a:r>
            <a:r>
              <a:rPr lang="ru-RU" dirty="0" err="1"/>
              <a:t>характиристик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176" y="1120775"/>
            <a:ext cx="5629275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40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Таблица плана видов характеристик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31563"/>
              </p:ext>
            </p:extLst>
          </p:nvPr>
        </p:nvGraphicFramePr>
        <p:xfrm>
          <a:off x="418640" y="1397000"/>
          <a:ext cx="8317736" cy="2225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12874">
                  <a:extLst>
                    <a:ext uri="{9D8B030D-6E8A-4147-A177-3AD203B41FA5}">
                      <a16:colId xmlns:a16="http://schemas.microsoft.com/office/drawing/2014/main" val="1033588679"/>
                    </a:ext>
                  </a:extLst>
                </a:gridCol>
                <a:gridCol w="567118">
                  <a:extLst>
                    <a:ext uri="{9D8B030D-6E8A-4147-A177-3AD203B41FA5}">
                      <a16:colId xmlns:a16="http://schemas.microsoft.com/office/drawing/2014/main" val="3358264260"/>
                    </a:ext>
                  </a:extLst>
                </a:gridCol>
                <a:gridCol w="1756954">
                  <a:extLst>
                    <a:ext uri="{9D8B030D-6E8A-4147-A177-3AD203B41FA5}">
                      <a16:colId xmlns:a16="http://schemas.microsoft.com/office/drawing/2014/main" val="2313805274"/>
                    </a:ext>
                  </a:extLst>
                </a:gridCol>
                <a:gridCol w="3780790">
                  <a:extLst>
                    <a:ext uri="{9D8B030D-6E8A-4147-A177-3AD203B41FA5}">
                      <a16:colId xmlns:a16="http://schemas.microsoft.com/office/drawing/2014/main" val="475313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Тип значения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875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7030A0"/>
                          </a:solidFill>
                        </a:rPr>
                        <a:t>&lt;ПВХ Товары&gt;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Товары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Справочник ссылка «Номенклатура»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05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7030A0"/>
                          </a:solidFill>
                        </a:rPr>
                        <a:t>&lt;ПВХ</a:t>
                      </a:r>
                      <a:r>
                        <a:rPr lang="ru-RU" baseline="0" dirty="0">
                          <a:solidFill>
                            <a:srgbClr val="7030A0"/>
                          </a:solidFill>
                        </a:rPr>
                        <a:t> Склады&gt;</a:t>
                      </a:r>
                      <a:endParaRPr lang="ru-RU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aseline="0" dirty="0"/>
                        <a:t>Склады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Справочник ссылка «Склады»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53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7030A0"/>
                          </a:solidFill>
                        </a:rPr>
                        <a:t>&lt;ПВХ Контрагенты&gt;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Контрагенты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Справочник ссылка «Контрагенты»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681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7030A0"/>
                          </a:solidFill>
                        </a:rPr>
                        <a:t>&lt;ПВХ Накладная&gt;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Накладная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Документ ссылка «Поступление»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27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492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06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субконто в плане счетов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334" y="1218109"/>
            <a:ext cx="507682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386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04283"/>
          </a:xfrm>
        </p:spPr>
        <p:txBody>
          <a:bodyPr>
            <a:normAutofit fontScale="90000"/>
          </a:bodyPr>
          <a:lstStyle/>
          <a:p>
            <a:r>
              <a:rPr lang="ru-RU" dirty="0"/>
              <a:t>Служебная табличная часть в плане счетов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750645"/>
              </p:ext>
            </p:extLst>
          </p:nvPr>
        </p:nvGraphicFramePr>
        <p:xfrm>
          <a:off x="377714" y="2011854"/>
          <a:ext cx="809158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714">
                  <a:extLst>
                    <a:ext uri="{9D8B030D-6E8A-4147-A177-3AD203B41FA5}">
                      <a16:colId xmlns:a16="http://schemas.microsoft.com/office/drawing/2014/main" val="932871703"/>
                    </a:ext>
                  </a:extLst>
                </a:gridCol>
                <a:gridCol w="980478">
                  <a:extLst>
                    <a:ext uri="{9D8B030D-6E8A-4147-A177-3AD203B41FA5}">
                      <a16:colId xmlns:a16="http://schemas.microsoft.com/office/drawing/2014/main" val="631033224"/>
                    </a:ext>
                  </a:extLst>
                </a:gridCol>
                <a:gridCol w="4289831">
                  <a:extLst>
                    <a:ext uri="{9D8B030D-6E8A-4147-A177-3AD203B41FA5}">
                      <a16:colId xmlns:a16="http://schemas.microsoft.com/office/drawing/2014/main" val="1495469993"/>
                    </a:ext>
                  </a:extLst>
                </a:gridCol>
                <a:gridCol w="612559">
                  <a:extLst>
                    <a:ext uri="{9D8B030D-6E8A-4147-A177-3AD203B41FA5}">
                      <a16:colId xmlns:a16="http://schemas.microsoft.com/office/drawing/2014/main" val="3623401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929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&lt;41.1</a:t>
                      </a:r>
                      <a:r>
                        <a:rPr lang="ru-RU" baseline="0" dirty="0">
                          <a:solidFill>
                            <a:srgbClr val="C00000"/>
                          </a:solidFill>
                        </a:rPr>
                        <a:t> Товары&gt;</a:t>
                      </a: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Товары опт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357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&lt;60</a:t>
                      </a:r>
                      <a:r>
                        <a:rPr lang="ru-RU" baseline="0" dirty="0">
                          <a:solidFill>
                            <a:srgbClr val="C00000"/>
                          </a:solidFill>
                        </a:rPr>
                        <a:t> Поставщики&gt;</a:t>
                      </a: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Поставщики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21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&lt;50</a:t>
                      </a:r>
                      <a:r>
                        <a:rPr lang="ru-RU" baseline="0" dirty="0">
                          <a:solidFill>
                            <a:srgbClr val="C00000"/>
                          </a:solidFill>
                        </a:rPr>
                        <a:t> Касса&gt;</a:t>
                      </a: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Касса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90145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948952"/>
              </p:ext>
            </p:extLst>
          </p:nvPr>
        </p:nvGraphicFramePr>
        <p:xfrm>
          <a:off x="377714" y="4402382"/>
          <a:ext cx="8091581" cy="1417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1401">
                  <a:extLst>
                    <a:ext uri="{9D8B030D-6E8A-4147-A177-3AD203B41FA5}">
                      <a16:colId xmlns:a16="http://schemas.microsoft.com/office/drawing/2014/main" val="1185112689"/>
                    </a:ext>
                  </a:extLst>
                </a:gridCol>
                <a:gridCol w="1225118">
                  <a:extLst>
                    <a:ext uri="{9D8B030D-6E8A-4147-A177-3AD203B41FA5}">
                      <a16:colId xmlns:a16="http://schemas.microsoft.com/office/drawing/2014/main" val="787950461"/>
                    </a:ext>
                  </a:extLst>
                </a:gridCol>
                <a:gridCol w="3230781">
                  <a:extLst>
                    <a:ext uri="{9D8B030D-6E8A-4147-A177-3AD203B41FA5}">
                      <a16:colId xmlns:a16="http://schemas.microsoft.com/office/drawing/2014/main" val="766134915"/>
                    </a:ext>
                  </a:extLst>
                </a:gridCol>
                <a:gridCol w="1554281">
                  <a:extLst>
                    <a:ext uri="{9D8B030D-6E8A-4147-A177-3AD203B41FA5}">
                      <a16:colId xmlns:a16="http://schemas.microsoft.com/office/drawing/2014/main" val="3513661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№ строки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Вид субконто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Только обороты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799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&lt;41.1</a:t>
                      </a:r>
                      <a:r>
                        <a:rPr lang="ru-RU" baseline="0" dirty="0">
                          <a:solidFill>
                            <a:srgbClr val="C00000"/>
                          </a:solidFill>
                        </a:rPr>
                        <a:t> Товары&gt;</a:t>
                      </a: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7030A0"/>
                          </a:solidFill>
                        </a:rPr>
                        <a:t>&lt;ПВХ</a:t>
                      </a:r>
                      <a:r>
                        <a:rPr lang="ru-RU" baseline="0" dirty="0">
                          <a:solidFill>
                            <a:srgbClr val="7030A0"/>
                          </a:solidFill>
                        </a:rPr>
                        <a:t> Товары&gt;</a:t>
                      </a:r>
                      <a:endParaRPr lang="ru-RU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80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&lt;41.1</a:t>
                      </a:r>
                      <a:r>
                        <a:rPr lang="ru-RU" baseline="0" dirty="0">
                          <a:solidFill>
                            <a:srgbClr val="C00000"/>
                          </a:solidFill>
                        </a:rPr>
                        <a:t> Товары&gt;</a:t>
                      </a: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7030A0"/>
                          </a:solidFill>
                        </a:rPr>
                        <a:t>&lt;ПВХ</a:t>
                      </a:r>
                      <a:r>
                        <a:rPr lang="ru-RU" baseline="0" dirty="0">
                          <a:solidFill>
                            <a:srgbClr val="7030A0"/>
                          </a:solidFill>
                        </a:rPr>
                        <a:t> Склады&gt;</a:t>
                      </a:r>
                      <a:endParaRPr lang="ru-RU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576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&lt;60</a:t>
                      </a:r>
                      <a:r>
                        <a:rPr lang="ru-RU" baseline="0" dirty="0">
                          <a:solidFill>
                            <a:srgbClr val="C00000"/>
                          </a:solidFill>
                        </a:rPr>
                        <a:t> Поставщики&gt;</a:t>
                      </a: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7030A0"/>
                          </a:solidFill>
                        </a:rPr>
                        <a:t>&lt;ПВХ</a:t>
                      </a:r>
                      <a:r>
                        <a:rPr lang="ru-RU" baseline="0" dirty="0">
                          <a:solidFill>
                            <a:srgbClr val="7030A0"/>
                          </a:solidFill>
                        </a:rPr>
                        <a:t> Контрагенты&gt;</a:t>
                      </a:r>
                      <a:endParaRPr lang="ru-RU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73269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77714" y="3764132"/>
            <a:ext cx="604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Служебная табличная часть «</a:t>
            </a:r>
            <a:r>
              <a:rPr lang="ru-RU" b="1" dirty="0">
                <a:solidFill>
                  <a:schemeClr val="accent5">
                    <a:lumMod val="50000"/>
                  </a:schemeClr>
                </a:solidFill>
              </a:rPr>
              <a:t>Виды субконто</a:t>
            </a:r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714" y="1583117"/>
            <a:ext cx="581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Основная таблица плана счетов</a:t>
            </a:r>
          </a:p>
        </p:txBody>
      </p:sp>
    </p:spTree>
    <p:extLst>
      <p:ext uri="{BB962C8B-B14F-4D97-AF65-F5344CB8AC3E}">
        <p14:creationId xmlns:p14="http://schemas.microsoft.com/office/powerpoint/2010/main" val="2549000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04283"/>
          </a:xfrm>
        </p:spPr>
        <p:txBody>
          <a:bodyPr/>
          <a:lstStyle/>
          <a:p>
            <a:r>
              <a:rPr lang="ru-RU" dirty="0"/>
              <a:t>Объектное представление табличной части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448735" y="1476259"/>
          <a:ext cx="8523384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691">
                  <a:extLst>
                    <a:ext uri="{9D8B030D-6E8A-4147-A177-3AD203B41FA5}">
                      <a16:colId xmlns:a16="http://schemas.microsoft.com/office/drawing/2014/main" val="932871703"/>
                    </a:ext>
                  </a:extLst>
                </a:gridCol>
                <a:gridCol w="683046">
                  <a:extLst>
                    <a:ext uri="{9D8B030D-6E8A-4147-A177-3AD203B41FA5}">
                      <a16:colId xmlns:a16="http://schemas.microsoft.com/office/drawing/2014/main" val="631033224"/>
                    </a:ext>
                  </a:extLst>
                </a:gridCol>
                <a:gridCol w="1707614">
                  <a:extLst>
                    <a:ext uri="{9D8B030D-6E8A-4147-A177-3AD203B41FA5}">
                      <a16:colId xmlns:a16="http://schemas.microsoft.com/office/drawing/2014/main" val="1495469993"/>
                    </a:ext>
                  </a:extLst>
                </a:gridCol>
                <a:gridCol w="4594033">
                  <a:extLst>
                    <a:ext uri="{9D8B030D-6E8A-4147-A177-3AD203B41FA5}">
                      <a16:colId xmlns:a16="http://schemas.microsoft.com/office/drawing/2014/main" val="3850903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Виды субконто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929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&lt;41.1</a:t>
                      </a:r>
                      <a:r>
                        <a:rPr lang="ru-RU" baseline="0" dirty="0">
                          <a:solidFill>
                            <a:srgbClr val="C00000"/>
                          </a:solidFill>
                        </a:rPr>
                        <a:t> Товары&gt;</a:t>
                      </a: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Товары опт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357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&lt;60</a:t>
                      </a:r>
                      <a:r>
                        <a:rPr lang="ru-RU" baseline="0" dirty="0">
                          <a:solidFill>
                            <a:srgbClr val="C00000"/>
                          </a:solidFill>
                        </a:rPr>
                        <a:t> Поставщики&gt;</a:t>
                      </a: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Поставщики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21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&lt;50</a:t>
                      </a:r>
                      <a:r>
                        <a:rPr lang="ru-RU" baseline="0" dirty="0">
                          <a:solidFill>
                            <a:srgbClr val="C00000"/>
                          </a:solidFill>
                        </a:rPr>
                        <a:t> Касса&gt;</a:t>
                      </a: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Касса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90145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4465503" y="1885844"/>
          <a:ext cx="4359007" cy="1259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5475">
                  <a:extLst>
                    <a:ext uri="{9D8B030D-6E8A-4147-A177-3AD203B41FA5}">
                      <a16:colId xmlns:a16="http://schemas.microsoft.com/office/drawing/2014/main" val="787950461"/>
                    </a:ext>
                  </a:extLst>
                </a:gridCol>
                <a:gridCol w="2633031">
                  <a:extLst>
                    <a:ext uri="{9D8B030D-6E8A-4147-A177-3AD203B41FA5}">
                      <a16:colId xmlns:a16="http://schemas.microsoft.com/office/drawing/2014/main" val="766134915"/>
                    </a:ext>
                  </a:extLst>
                </a:gridCol>
                <a:gridCol w="980501">
                  <a:extLst>
                    <a:ext uri="{9D8B030D-6E8A-4147-A177-3AD203B41FA5}">
                      <a16:colId xmlns:a16="http://schemas.microsoft.com/office/drawing/2014/main" val="3513661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№ строки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Вид субконто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Только обороты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799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7030A0"/>
                          </a:solidFill>
                        </a:rPr>
                        <a:t>&lt;ПВХ</a:t>
                      </a:r>
                      <a:r>
                        <a:rPr lang="ru-RU" baseline="0" dirty="0">
                          <a:solidFill>
                            <a:srgbClr val="7030A0"/>
                          </a:solidFill>
                        </a:rPr>
                        <a:t> Товары&gt;</a:t>
                      </a:r>
                      <a:endParaRPr lang="ru-RU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80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7030A0"/>
                          </a:solidFill>
                        </a:rPr>
                        <a:t>&lt;ПВХ</a:t>
                      </a:r>
                      <a:r>
                        <a:rPr lang="ru-RU" baseline="0" dirty="0">
                          <a:solidFill>
                            <a:srgbClr val="7030A0"/>
                          </a:solidFill>
                        </a:rPr>
                        <a:t> Склады&gt;</a:t>
                      </a:r>
                      <a:endParaRPr lang="ru-RU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576528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4465503" y="3338235"/>
          <a:ext cx="4359007" cy="889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5475">
                  <a:extLst>
                    <a:ext uri="{9D8B030D-6E8A-4147-A177-3AD203B41FA5}">
                      <a16:colId xmlns:a16="http://schemas.microsoft.com/office/drawing/2014/main" val="787950461"/>
                    </a:ext>
                  </a:extLst>
                </a:gridCol>
                <a:gridCol w="2633031">
                  <a:extLst>
                    <a:ext uri="{9D8B030D-6E8A-4147-A177-3AD203B41FA5}">
                      <a16:colId xmlns:a16="http://schemas.microsoft.com/office/drawing/2014/main" val="766134915"/>
                    </a:ext>
                  </a:extLst>
                </a:gridCol>
                <a:gridCol w="980501">
                  <a:extLst>
                    <a:ext uri="{9D8B030D-6E8A-4147-A177-3AD203B41FA5}">
                      <a16:colId xmlns:a16="http://schemas.microsoft.com/office/drawing/2014/main" val="3513661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№ строки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Вид субконто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Только обороты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799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7030A0"/>
                          </a:solidFill>
                        </a:rPr>
                        <a:t>&lt;ПВХ</a:t>
                      </a:r>
                      <a:r>
                        <a:rPr lang="ru-RU" baseline="0" dirty="0">
                          <a:solidFill>
                            <a:srgbClr val="7030A0"/>
                          </a:solidFill>
                        </a:rPr>
                        <a:t> Контрагенты&gt;</a:t>
                      </a:r>
                      <a:endParaRPr lang="ru-RU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805624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4465502" y="4839132"/>
          <a:ext cx="4359007" cy="5181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5475">
                  <a:extLst>
                    <a:ext uri="{9D8B030D-6E8A-4147-A177-3AD203B41FA5}">
                      <a16:colId xmlns:a16="http://schemas.microsoft.com/office/drawing/2014/main" val="787950461"/>
                    </a:ext>
                  </a:extLst>
                </a:gridCol>
                <a:gridCol w="2633031">
                  <a:extLst>
                    <a:ext uri="{9D8B030D-6E8A-4147-A177-3AD203B41FA5}">
                      <a16:colId xmlns:a16="http://schemas.microsoft.com/office/drawing/2014/main" val="766134915"/>
                    </a:ext>
                  </a:extLst>
                </a:gridCol>
                <a:gridCol w="980501">
                  <a:extLst>
                    <a:ext uri="{9D8B030D-6E8A-4147-A177-3AD203B41FA5}">
                      <a16:colId xmlns:a16="http://schemas.microsoft.com/office/drawing/2014/main" val="3513661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№ строки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Вид субконто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Только обороты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799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462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30785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Табличная часть «субконто» регистра бухгалтерии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663658"/>
              </p:ext>
            </p:extLst>
          </p:nvPr>
        </p:nvGraphicFramePr>
        <p:xfrm>
          <a:off x="507936" y="1442722"/>
          <a:ext cx="7604881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8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9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75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25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Период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Регистратор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Номер строки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Вид движения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Вид субконто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Значение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606325"/>
              </p:ext>
            </p:extLst>
          </p:nvPr>
        </p:nvGraphicFramePr>
        <p:xfrm>
          <a:off x="507936" y="2021298"/>
          <a:ext cx="7604881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8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18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54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12.04.2015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&lt;ПТУ</a:t>
                      </a:r>
                      <a:r>
                        <a:rPr lang="ru-RU" sz="1200" baseline="0" dirty="0">
                          <a:solidFill>
                            <a:srgbClr val="FF0000"/>
                          </a:solidFill>
                        </a:rPr>
                        <a:t> № 1&gt;</a:t>
                      </a: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Дебет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&lt;Номенклатура&gt;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&lt;Яблоки&gt;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12.04.2015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&lt;ПТУ</a:t>
                      </a:r>
                      <a:r>
                        <a:rPr lang="ru-RU" sz="1200" baseline="0" dirty="0">
                          <a:solidFill>
                            <a:srgbClr val="FF0000"/>
                          </a:solidFill>
                        </a:rPr>
                        <a:t> № 1&gt;</a:t>
                      </a: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Дебет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&lt;Склады&gt;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&lt;Основной&gt;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0070C0"/>
                          </a:solidFill>
                        </a:rPr>
                        <a:t>12.04.2015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</a:rPr>
                        <a:t>&lt;ПТУ</a:t>
                      </a:r>
                      <a:r>
                        <a:rPr lang="ru-RU" sz="1200" baseline="0" dirty="0">
                          <a:solidFill>
                            <a:srgbClr val="0070C0"/>
                          </a:solidFill>
                        </a:rPr>
                        <a:t> № 1&gt;</a:t>
                      </a:r>
                      <a:endParaRPr lang="ru-RU" sz="12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</a:rPr>
                        <a:t>Кредит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</a:rPr>
                        <a:t>&lt;Контрагенты&gt;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</a:rPr>
                        <a:t>&lt;Лето&gt;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901409"/>
              </p:ext>
            </p:extLst>
          </p:nvPr>
        </p:nvGraphicFramePr>
        <p:xfrm>
          <a:off x="505790" y="2856279"/>
          <a:ext cx="7604881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8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18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54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22.04.2015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&lt;ПТУ</a:t>
                      </a:r>
                      <a:r>
                        <a:rPr lang="ru-RU" sz="1200" baseline="0" dirty="0">
                          <a:solidFill>
                            <a:srgbClr val="FF0000"/>
                          </a:solidFill>
                        </a:rPr>
                        <a:t> № 2&gt;</a:t>
                      </a: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Дебет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&lt;Номенклатура&gt;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&lt;Груши&gt;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22.04.2015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&lt;ПТУ</a:t>
                      </a:r>
                      <a:r>
                        <a:rPr lang="ru-RU" sz="1200" baseline="0" dirty="0">
                          <a:solidFill>
                            <a:srgbClr val="FF0000"/>
                          </a:solidFill>
                        </a:rPr>
                        <a:t> № 2&gt;</a:t>
                      </a:r>
                      <a:endParaRPr lang="ru-RU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Дебет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&lt;Склады&gt;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FF0000"/>
                          </a:solidFill>
                        </a:rPr>
                        <a:t>&lt;Холодильник&gt;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0070C0"/>
                          </a:solidFill>
                        </a:rPr>
                        <a:t>22.04.2015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</a:rPr>
                        <a:t>&lt;ПТУ</a:t>
                      </a:r>
                      <a:r>
                        <a:rPr lang="ru-RU" sz="1200" baseline="0" dirty="0">
                          <a:solidFill>
                            <a:srgbClr val="0070C0"/>
                          </a:solidFill>
                        </a:rPr>
                        <a:t> № 2&gt;</a:t>
                      </a:r>
                      <a:endParaRPr lang="ru-RU" sz="12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</a:rPr>
                        <a:t>Кредит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</a:rPr>
                        <a:t>&lt;Контрагенты&gt;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</a:rPr>
                        <a:t>&lt;Север&gt;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404697" y="5117356"/>
            <a:ext cx="517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  <a:latin typeface="Arial Black" panose="020B0A04020102020204" pitchFamily="34" charset="0"/>
              </a:rPr>
              <a:t>Ссылка на план видов характеристик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2931" y="4516796"/>
            <a:ext cx="3173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  <a:latin typeface="Arial Black" panose="020B0A04020102020204" pitchFamily="34" charset="0"/>
              </a:rPr>
              <a:t>Поле составного типа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790" y="5717915"/>
            <a:ext cx="8071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70C0"/>
                </a:solidFill>
                <a:latin typeface="Arial Black" panose="020B0A04020102020204" pitchFamily="34" charset="0"/>
              </a:rPr>
              <a:t>Связь с движением документа и стороной проводки</a:t>
            </a:r>
          </a:p>
        </p:txBody>
      </p:sp>
      <p:sp>
        <p:nvSpPr>
          <p:cNvPr id="7" name="Левая фигурная скобка 6"/>
          <p:cNvSpPr/>
          <p:nvPr/>
        </p:nvSpPr>
        <p:spPr>
          <a:xfrm rot="16200000">
            <a:off x="7128575" y="3129051"/>
            <a:ext cx="428263" cy="1535928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Левая фигурная скобка 9"/>
          <p:cNvSpPr/>
          <p:nvPr/>
        </p:nvSpPr>
        <p:spPr>
          <a:xfrm rot="16200000">
            <a:off x="5390724" y="2942181"/>
            <a:ext cx="428263" cy="1939776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Левая фигурная скобка 10"/>
          <p:cNvSpPr/>
          <p:nvPr/>
        </p:nvSpPr>
        <p:spPr>
          <a:xfrm rot="16200000">
            <a:off x="2356247" y="1868742"/>
            <a:ext cx="428263" cy="4129180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Выноска со стрелкой вправо 8"/>
          <p:cNvSpPr/>
          <p:nvPr/>
        </p:nvSpPr>
        <p:spPr>
          <a:xfrm rot="16200000">
            <a:off x="6459657" y="2930698"/>
            <a:ext cx="875847" cy="3035013"/>
          </a:xfrm>
          <a:prstGeom prst="rightArrowCallout">
            <a:avLst>
              <a:gd name="adj1" fmla="val 24033"/>
              <a:gd name="adj2" fmla="val 30566"/>
              <a:gd name="adj3" fmla="val 25000"/>
              <a:gd name="adj4" fmla="val 45154"/>
            </a:avLst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Выноска со стрелкой вправо 12"/>
          <p:cNvSpPr/>
          <p:nvPr/>
        </p:nvSpPr>
        <p:spPr>
          <a:xfrm rot="16200000">
            <a:off x="5205156" y="2231860"/>
            <a:ext cx="1476408" cy="5033247"/>
          </a:xfrm>
          <a:prstGeom prst="rightArrowCallout">
            <a:avLst>
              <a:gd name="adj1" fmla="val 16104"/>
              <a:gd name="adj2" fmla="val 22637"/>
              <a:gd name="adj3" fmla="val 15991"/>
              <a:gd name="adj4" fmla="val 30443"/>
            </a:avLst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Выноска со стрелкой вправо 13"/>
          <p:cNvSpPr/>
          <p:nvPr/>
        </p:nvSpPr>
        <p:spPr>
          <a:xfrm rot="16200000">
            <a:off x="2930381" y="1551457"/>
            <a:ext cx="2076966" cy="6994607"/>
          </a:xfrm>
          <a:prstGeom prst="rightArrowCallout">
            <a:avLst>
              <a:gd name="adj1" fmla="val 11773"/>
              <a:gd name="adj2" fmla="val 14962"/>
              <a:gd name="adj3" fmla="val 13297"/>
              <a:gd name="adj4" fmla="val 17847"/>
            </a:avLst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945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5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"/>
                            </p:stCondLst>
                            <p:childTnLst>
                              <p:par>
                                <p:cTn id="68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5" grpId="0"/>
      <p:bldP spid="5" grpId="1"/>
      <p:bldP spid="5" grpId="2"/>
      <p:bldP spid="8" grpId="0"/>
      <p:bldP spid="8" grpId="1"/>
      <p:bldP spid="8" grpId="2"/>
      <p:bldP spid="7" grpId="0" animBg="1"/>
      <p:bldP spid="10" grpId="0" animBg="1"/>
      <p:bldP spid="11" grpId="0" animBg="1"/>
      <p:bldP spid="9" grpId="0" animBg="1"/>
      <p:bldP spid="9" grpId="1" animBg="1"/>
      <p:bldP spid="9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Набор записей регистра бухгалтерии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348481"/>
              </p:ext>
            </p:extLst>
          </p:nvPr>
        </p:nvGraphicFramePr>
        <p:xfrm>
          <a:off x="188119" y="1397000"/>
          <a:ext cx="8636392" cy="2976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773">
                  <a:extLst>
                    <a:ext uri="{9D8B030D-6E8A-4147-A177-3AD203B41FA5}">
                      <a16:colId xmlns:a16="http://schemas.microsoft.com/office/drawing/2014/main" val="909730198"/>
                    </a:ext>
                  </a:extLst>
                </a:gridCol>
                <a:gridCol w="2502790">
                  <a:extLst>
                    <a:ext uri="{9D8B030D-6E8A-4147-A177-3AD203B41FA5}">
                      <a16:colId xmlns:a16="http://schemas.microsoft.com/office/drawing/2014/main" val="567768080"/>
                    </a:ext>
                  </a:extLst>
                </a:gridCol>
                <a:gridCol w="1374773">
                  <a:extLst>
                    <a:ext uri="{9D8B030D-6E8A-4147-A177-3AD203B41FA5}">
                      <a16:colId xmlns:a16="http://schemas.microsoft.com/office/drawing/2014/main" val="1662320350"/>
                    </a:ext>
                  </a:extLst>
                </a:gridCol>
                <a:gridCol w="2420538">
                  <a:extLst>
                    <a:ext uri="{9D8B030D-6E8A-4147-A177-3AD203B41FA5}">
                      <a16:colId xmlns:a16="http://schemas.microsoft.com/office/drawing/2014/main" val="2220940697"/>
                    </a:ext>
                  </a:extLst>
                </a:gridCol>
                <a:gridCol w="963518">
                  <a:extLst>
                    <a:ext uri="{9D8B030D-6E8A-4147-A177-3AD203B41FA5}">
                      <a16:colId xmlns:a16="http://schemas.microsoft.com/office/drawing/2014/main" val="50196595"/>
                    </a:ext>
                  </a:extLst>
                </a:gridCol>
              </a:tblGrid>
              <a:tr h="5499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Счет Дт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Субконто Дт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Счет</a:t>
                      </a:r>
                      <a:r>
                        <a:rPr lang="ru-RU" baseline="0" dirty="0"/>
                        <a:t> Кт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Субконто 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Сумма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180072"/>
                  </a:ext>
                </a:extLst>
              </a:tr>
              <a:tr h="12133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&lt;41.1</a:t>
                      </a:r>
                      <a:r>
                        <a:rPr lang="ru-RU" sz="1400" baseline="0" dirty="0">
                          <a:solidFill>
                            <a:srgbClr val="C00000"/>
                          </a:solidFill>
                        </a:rPr>
                        <a:t> Товары&gt;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&lt;60</a:t>
                      </a:r>
                      <a:r>
                        <a:rPr lang="ru-RU" sz="1400" baseline="0" dirty="0">
                          <a:solidFill>
                            <a:srgbClr val="C00000"/>
                          </a:solidFill>
                        </a:rPr>
                        <a:t> Поставщики&gt;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912448"/>
                  </a:ext>
                </a:extLst>
              </a:tr>
              <a:tr h="12133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&lt;60</a:t>
                      </a:r>
                      <a:r>
                        <a:rPr lang="ru-RU" sz="1400" baseline="0" dirty="0">
                          <a:solidFill>
                            <a:srgbClr val="C00000"/>
                          </a:solidFill>
                        </a:rPr>
                        <a:t> Поставщики&gt;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&lt;50</a:t>
                      </a:r>
                      <a:r>
                        <a:rPr lang="ru-RU" sz="1400" baseline="0" dirty="0">
                          <a:solidFill>
                            <a:srgbClr val="C00000"/>
                          </a:solidFill>
                        </a:rPr>
                        <a:t> Касса&gt;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492729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417972"/>
              </p:ext>
            </p:extLst>
          </p:nvPr>
        </p:nvGraphicFramePr>
        <p:xfrm>
          <a:off x="1634169" y="2002928"/>
          <a:ext cx="2364954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07335">
                  <a:extLst>
                    <a:ext uri="{9D8B030D-6E8A-4147-A177-3AD203B41FA5}">
                      <a16:colId xmlns:a16="http://schemas.microsoft.com/office/drawing/2014/main" val="2689706265"/>
                    </a:ext>
                  </a:extLst>
                </a:gridCol>
                <a:gridCol w="1057619">
                  <a:extLst>
                    <a:ext uri="{9D8B030D-6E8A-4147-A177-3AD203B41FA5}">
                      <a16:colId xmlns:a16="http://schemas.microsoft.com/office/drawing/2014/main" val="3845232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961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&lt;ПВХ</a:t>
                      </a:r>
                      <a:r>
                        <a:rPr lang="ru-RU" sz="1400" baseline="0" dirty="0">
                          <a:solidFill>
                            <a:srgbClr val="7030A0"/>
                          </a:solidFill>
                        </a:rPr>
                        <a:t> Товары&gt;</a:t>
                      </a:r>
                      <a:endParaRPr lang="ru-RU" sz="14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&lt;Яблоки&gt;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597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&lt;ПВХ</a:t>
                      </a:r>
                      <a:r>
                        <a:rPr lang="ru-RU" sz="1400" baseline="0" dirty="0">
                          <a:solidFill>
                            <a:srgbClr val="7030A0"/>
                          </a:solidFill>
                        </a:rPr>
                        <a:t> Склады&gt;</a:t>
                      </a:r>
                      <a:endParaRPr lang="ru-RU" sz="14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&lt;Главный&gt;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235298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664319"/>
              </p:ext>
            </p:extLst>
          </p:nvPr>
        </p:nvGraphicFramePr>
        <p:xfrm>
          <a:off x="5445173" y="2036782"/>
          <a:ext cx="2364954" cy="889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07335">
                  <a:extLst>
                    <a:ext uri="{9D8B030D-6E8A-4147-A177-3AD203B41FA5}">
                      <a16:colId xmlns:a16="http://schemas.microsoft.com/office/drawing/2014/main" val="2689706265"/>
                    </a:ext>
                  </a:extLst>
                </a:gridCol>
                <a:gridCol w="1057619">
                  <a:extLst>
                    <a:ext uri="{9D8B030D-6E8A-4147-A177-3AD203B41FA5}">
                      <a16:colId xmlns:a16="http://schemas.microsoft.com/office/drawing/2014/main" val="3845232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961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&lt;ПВХ</a:t>
                      </a:r>
                      <a:r>
                        <a:rPr lang="ru-RU" sz="1400" baseline="0" dirty="0">
                          <a:solidFill>
                            <a:srgbClr val="7030A0"/>
                          </a:solidFill>
                        </a:rPr>
                        <a:t> Контрагенты&gt;</a:t>
                      </a:r>
                      <a:endParaRPr lang="ru-RU" sz="14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&lt;Юг&gt;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597698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346939"/>
              </p:ext>
            </p:extLst>
          </p:nvPr>
        </p:nvGraphicFramePr>
        <p:xfrm>
          <a:off x="1634169" y="3276876"/>
          <a:ext cx="2364954" cy="889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07335">
                  <a:extLst>
                    <a:ext uri="{9D8B030D-6E8A-4147-A177-3AD203B41FA5}">
                      <a16:colId xmlns:a16="http://schemas.microsoft.com/office/drawing/2014/main" val="2689706265"/>
                    </a:ext>
                  </a:extLst>
                </a:gridCol>
                <a:gridCol w="1057619">
                  <a:extLst>
                    <a:ext uri="{9D8B030D-6E8A-4147-A177-3AD203B41FA5}">
                      <a16:colId xmlns:a16="http://schemas.microsoft.com/office/drawing/2014/main" val="3845232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961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&lt;ПВХ</a:t>
                      </a:r>
                      <a:r>
                        <a:rPr lang="ru-RU" sz="1400" baseline="0" dirty="0">
                          <a:solidFill>
                            <a:srgbClr val="7030A0"/>
                          </a:solidFill>
                        </a:rPr>
                        <a:t> Контрагенты&gt;</a:t>
                      </a:r>
                      <a:endParaRPr lang="ru-RU" sz="14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&lt;Юг&gt;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597698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422759"/>
              </p:ext>
            </p:extLst>
          </p:nvPr>
        </p:nvGraphicFramePr>
        <p:xfrm>
          <a:off x="5445173" y="3265783"/>
          <a:ext cx="2364954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07335">
                  <a:extLst>
                    <a:ext uri="{9D8B030D-6E8A-4147-A177-3AD203B41FA5}">
                      <a16:colId xmlns:a16="http://schemas.microsoft.com/office/drawing/2014/main" val="2689706265"/>
                    </a:ext>
                  </a:extLst>
                </a:gridCol>
                <a:gridCol w="1057619">
                  <a:extLst>
                    <a:ext uri="{9D8B030D-6E8A-4147-A177-3AD203B41FA5}">
                      <a16:colId xmlns:a16="http://schemas.microsoft.com/office/drawing/2014/main" val="3845232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961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6105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83961"/>
          </a:xfrm>
        </p:spPr>
        <p:txBody>
          <a:bodyPr/>
          <a:lstStyle/>
          <a:p>
            <a:r>
              <a:rPr lang="ru-RU" dirty="0"/>
              <a:t>Таблица движений по счетам. При добавлении субконто не меняется!!!</a:t>
            </a:r>
          </a:p>
        </p:txBody>
      </p:sp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774558"/>
              </p:ext>
            </p:extLst>
          </p:nvPr>
        </p:nvGraphicFramePr>
        <p:xfrm>
          <a:off x="188119" y="1915678"/>
          <a:ext cx="8784000" cy="2041182"/>
        </p:xfrm>
        <a:graphic>
          <a:graphicData uri="http://schemas.openxmlformats.org/drawingml/2006/table">
            <a:tbl>
              <a:tblPr/>
              <a:tblGrid>
                <a:gridCol w="751746">
                  <a:extLst>
                    <a:ext uri="{9D8B030D-6E8A-4147-A177-3AD203B41FA5}">
                      <a16:colId xmlns:a16="http://schemas.microsoft.com/office/drawing/2014/main" val="659323842"/>
                    </a:ext>
                  </a:extLst>
                </a:gridCol>
                <a:gridCol w="1246382">
                  <a:extLst>
                    <a:ext uri="{9D8B030D-6E8A-4147-A177-3AD203B41FA5}">
                      <a16:colId xmlns:a16="http://schemas.microsoft.com/office/drawing/2014/main" val="170611764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79992375"/>
                    </a:ext>
                  </a:extLst>
                </a:gridCol>
                <a:gridCol w="681644">
                  <a:extLst>
                    <a:ext uri="{9D8B030D-6E8A-4147-A177-3AD203B41FA5}">
                      <a16:colId xmlns:a16="http://schemas.microsoft.com/office/drawing/2014/main" val="1820059933"/>
                    </a:ext>
                  </a:extLst>
                </a:gridCol>
                <a:gridCol w="1014153">
                  <a:extLst>
                    <a:ext uri="{9D8B030D-6E8A-4147-A177-3AD203B41FA5}">
                      <a16:colId xmlns:a16="http://schemas.microsoft.com/office/drawing/2014/main" val="1175466578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004660421"/>
                    </a:ext>
                  </a:extLst>
                </a:gridCol>
                <a:gridCol w="975493">
                  <a:extLst>
                    <a:ext uri="{9D8B030D-6E8A-4147-A177-3AD203B41FA5}">
                      <a16:colId xmlns:a16="http://schemas.microsoft.com/office/drawing/2014/main" val="192547059"/>
                    </a:ext>
                  </a:extLst>
                </a:gridCol>
                <a:gridCol w="1045035">
                  <a:extLst>
                    <a:ext uri="{9D8B030D-6E8A-4147-A177-3AD203B41FA5}">
                      <a16:colId xmlns:a16="http://schemas.microsoft.com/office/drawing/2014/main" val="1896172455"/>
                    </a:ext>
                  </a:extLst>
                </a:gridCol>
                <a:gridCol w="1047349">
                  <a:extLst>
                    <a:ext uri="{9D8B030D-6E8A-4147-A177-3AD203B41FA5}">
                      <a16:colId xmlns:a16="http://schemas.microsoft.com/office/drawing/2014/main" val="2418078376"/>
                    </a:ext>
                  </a:extLst>
                </a:gridCol>
                <a:gridCol w="467718">
                  <a:extLst>
                    <a:ext uri="{9D8B030D-6E8A-4147-A177-3AD203B41FA5}">
                      <a16:colId xmlns:a16="http://schemas.microsoft.com/office/drawing/2014/main" val="688871253"/>
                    </a:ext>
                  </a:extLst>
                </a:gridCol>
              </a:tblGrid>
              <a:tr h="250933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ru-RU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Номер</a:t>
                      </a:r>
                      <a:endParaRPr lang="ru-RU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строки</a:t>
                      </a:r>
                      <a:endParaRPr lang="ru-RU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Активность</a:t>
                      </a:r>
                      <a:endParaRPr lang="ru-RU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Счет Дт</a:t>
                      </a:r>
                      <a:endParaRPr lang="ru-RU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Счет Кт</a:t>
                      </a:r>
                      <a:endParaRPr lang="ru-RU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ru-RU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ru-RU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3742481"/>
                  </a:ext>
                </a:extLst>
              </a:tr>
              <a:tr h="216191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Дт</a:t>
                      </a: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Кт</a:t>
                      </a: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5957350"/>
                  </a:ext>
                </a:extLst>
              </a:tr>
              <a:tr h="262343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</a:t>
                      </a:r>
                      <a:r>
                        <a:rPr lang="x-none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1 </a:t>
                      </a:r>
                      <a:r>
                        <a:rPr lang="ru-RU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от</a:t>
                      </a:r>
                      <a:r>
                        <a:rPr lang="x-none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03.03.2018</a:t>
                      </a:r>
                      <a:endParaRPr lang="ru-RU" sz="11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</a:t>
                      </a:r>
                      <a:r>
                        <a:rPr lang="ru-RU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товары</a:t>
                      </a:r>
                      <a:r>
                        <a:rPr lang="x-none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1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поставщики</a:t>
                      </a:r>
                      <a:r>
                        <a:rPr lang="x-none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1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097053"/>
                  </a:ext>
                </a:extLst>
              </a:tr>
              <a:tr h="262343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</a:t>
                      </a:r>
                      <a:r>
                        <a:rPr lang="x-none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2 </a:t>
                      </a:r>
                      <a:r>
                        <a:rPr lang="ru-RU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от</a:t>
                      </a:r>
                      <a:r>
                        <a:rPr lang="x-none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13.03.2018</a:t>
                      </a:r>
                      <a:endParaRPr lang="ru-RU" sz="11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</a:t>
                      </a:r>
                      <a:r>
                        <a:rPr lang="ru-RU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товары</a:t>
                      </a:r>
                      <a:r>
                        <a:rPr lang="x-none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1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поставщики</a:t>
                      </a:r>
                      <a:r>
                        <a:rPr lang="x-none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1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4191085"/>
                  </a:ext>
                </a:extLst>
              </a:tr>
              <a:tr h="262343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</a:t>
                      </a:r>
                      <a:r>
                        <a:rPr lang="x-none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2 </a:t>
                      </a:r>
                      <a:r>
                        <a:rPr lang="ru-RU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от</a:t>
                      </a:r>
                      <a:r>
                        <a:rPr lang="x-none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13.03.2018</a:t>
                      </a:r>
                      <a:endParaRPr lang="ru-RU" sz="110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</a:t>
                      </a:r>
                      <a:r>
                        <a:rPr lang="ru-RU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материалы</a:t>
                      </a:r>
                      <a:r>
                        <a:rPr lang="x-none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1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поставщики</a:t>
                      </a:r>
                      <a:r>
                        <a:rPr lang="x-none" sz="11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1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96131"/>
                  </a:ext>
                </a:extLst>
              </a:tr>
              <a:tr h="262343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22.03.2018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</a:t>
                      </a: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 3 </a:t>
                      </a:r>
                      <a:r>
                        <a:rPr lang="ru-RU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от 22.03.2018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</a:t>
                      </a:r>
                      <a:r>
                        <a:rPr lang="ru-RU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товары</a:t>
                      </a: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10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1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поставщики</a:t>
                      </a:r>
                      <a:r>
                        <a:rPr lang="x-none" sz="11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1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670924"/>
                  </a:ext>
                </a:extLst>
              </a:tr>
              <a:tr h="262343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22.03.2018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</a:t>
                      </a: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 3 </a:t>
                      </a:r>
                      <a:r>
                        <a:rPr lang="ru-RU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от 22.03.2018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</a:t>
                      </a:r>
                      <a:r>
                        <a:rPr lang="ru-RU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товары</a:t>
                      </a: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10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поставщики</a:t>
                      </a: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10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381765"/>
                  </a:ext>
                </a:extLst>
              </a:tr>
              <a:tr h="262343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22.03.2018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</a:t>
                      </a:r>
                      <a:r>
                        <a:rPr lang="x-none" sz="11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 3 </a:t>
                      </a:r>
                      <a:r>
                        <a:rPr lang="ru-RU" sz="11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от 22.03.2018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ИСТИНА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</a:t>
                      </a:r>
                      <a:r>
                        <a:rPr lang="ru-RU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материалы</a:t>
                      </a: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10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поставщики</a:t>
                      </a: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ru-RU" sz="110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Юг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1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38498" marR="38498" marT="38498" marB="3849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8315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8719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07280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остатков и оборотов по счетам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Добавили 2 субконто 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257668"/>
              </p:ext>
            </p:extLst>
          </p:nvPr>
        </p:nvGraphicFramePr>
        <p:xfrm>
          <a:off x="188120" y="1628472"/>
          <a:ext cx="8783999" cy="1320800"/>
        </p:xfrm>
        <a:graphic>
          <a:graphicData uri="http://schemas.openxmlformats.org/drawingml/2006/table">
            <a:tbl>
              <a:tblPr/>
              <a:tblGrid>
                <a:gridCol w="817720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97033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0778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2842953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698269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98022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685268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713956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касса</a:t>
                      </a: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 (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УК</a:t>
                      </a: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822593"/>
                  </a:ext>
                </a:extLst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988042"/>
              </p:ext>
            </p:extLst>
          </p:nvPr>
        </p:nvGraphicFramePr>
        <p:xfrm>
          <a:off x="188117" y="3187949"/>
          <a:ext cx="8784001" cy="1320800"/>
        </p:xfrm>
        <a:graphic>
          <a:graphicData uri="http://schemas.openxmlformats.org/drawingml/2006/table">
            <a:tbl>
              <a:tblPr/>
              <a:tblGrid>
                <a:gridCol w="817722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1172094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1679172">
                  <a:extLst>
                    <a:ext uri="{9D8B030D-6E8A-4147-A177-3AD203B41FA5}">
                      <a16:colId xmlns:a16="http://schemas.microsoft.com/office/drawing/2014/main" val="4022660776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89709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Учредители</a:t>
                      </a: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Иванов И.И.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7500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</a:t>
                      </a: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ООО Лето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822593"/>
                  </a:ext>
                </a:extLst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704757"/>
              </p:ext>
            </p:extLst>
          </p:nvPr>
        </p:nvGraphicFramePr>
        <p:xfrm>
          <a:off x="188117" y="4747426"/>
          <a:ext cx="8784001" cy="1320800"/>
        </p:xfrm>
        <a:graphic>
          <a:graphicData uri="http://schemas.openxmlformats.org/drawingml/2006/table">
            <a:tbl>
              <a:tblPr/>
              <a:tblGrid>
                <a:gridCol w="817723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4022660776"/>
                    </a:ext>
                  </a:extLst>
                </a:gridCol>
                <a:gridCol w="839586">
                  <a:extLst>
                    <a:ext uri="{9D8B030D-6E8A-4147-A177-3AD203B41FA5}">
                      <a16:colId xmlns:a16="http://schemas.microsoft.com/office/drawing/2014/main" val="425026031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2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Основной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Материалы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Основной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822593"/>
                  </a:ext>
                </a:extLst>
              </a:tr>
            </a:tbl>
          </a:graphicData>
        </a:graphic>
      </p:graphicFrame>
      <p:sp>
        <p:nvSpPr>
          <p:cNvPr id="37" name="Rounded Rectangle 3"/>
          <p:cNvSpPr/>
          <p:nvPr/>
        </p:nvSpPr>
        <p:spPr>
          <a:xfrm>
            <a:off x="4314871" y="3132217"/>
            <a:ext cx="1819923" cy="1376532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Rounded Rectangle 3"/>
          <p:cNvSpPr/>
          <p:nvPr/>
        </p:nvSpPr>
        <p:spPr>
          <a:xfrm>
            <a:off x="4347902" y="4659680"/>
            <a:ext cx="1753859" cy="1483425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801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250"/>
                            </p:stCondLst>
                            <p:childTnLst>
                              <p:par>
                                <p:cTn id="2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83439"/>
              </p:ext>
            </p:extLst>
          </p:nvPr>
        </p:nvGraphicFramePr>
        <p:xfrm>
          <a:off x="188120" y="1204519"/>
          <a:ext cx="8783999" cy="1320800"/>
        </p:xfrm>
        <a:graphic>
          <a:graphicData uri="http://schemas.openxmlformats.org/drawingml/2006/table">
            <a:tbl>
              <a:tblPr/>
              <a:tblGrid>
                <a:gridCol w="817720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97033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0778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2842953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698269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98022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685268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713956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касса</a:t>
                      </a: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 (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УК</a:t>
                      </a: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  <a:r>
                        <a:rPr lang="x-none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822593"/>
                  </a:ext>
                </a:extLst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598671"/>
              </p:ext>
            </p:extLst>
          </p:nvPr>
        </p:nvGraphicFramePr>
        <p:xfrm>
          <a:off x="188117" y="2763996"/>
          <a:ext cx="8784001" cy="1320800"/>
        </p:xfrm>
        <a:graphic>
          <a:graphicData uri="http://schemas.openxmlformats.org/drawingml/2006/table">
            <a:tbl>
              <a:tblPr/>
              <a:tblGrid>
                <a:gridCol w="817722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1172094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1679172">
                  <a:extLst>
                    <a:ext uri="{9D8B030D-6E8A-4147-A177-3AD203B41FA5}">
                      <a16:colId xmlns:a16="http://schemas.microsoft.com/office/drawing/2014/main" val="4022660776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89709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Учредители</a:t>
                      </a: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Иванов И.И.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7500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</a:t>
                      </a: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</a:t>
                      </a: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ООО Лето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822593"/>
                  </a:ext>
                </a:extLst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502005"/>
              </p:ext>
            </p:extLst>
          </p:nvPr>
        </p:nvGraphicFramePr>
        <p:xfrm>
          <a:off x="188117" y="4323473"/>
          <a:ext cx="8784001" cy="1320800"/>
        </p:xfrm>
        <a:graphic>
          <a:graphicData uri="http://schemas.openxmlformats.org/drawingml/2006/table">
            <a:tbl>
              <a:tblPr/>
              <a:tblGrid>
                <a:gridCol w="817723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4022660776"/>
                    </a:ext>
                  </a:extLst>
                </a:gridCol>
                <a:gridCol w="839586">
                  <a:extLst>
                    <a:ext uri="{9D8B030D-6E8A-4147-A177-3AD203B41FA5}">
                      <a16:colId xmlns:a16="http://schemas.microsoft.com/office/drawing/2014/main" val="425026031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2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Основной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Материалы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Основной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822593"/>
                  </a:ext>
                </a:extLst>
              </a:tr>
            </a:tbl>
          </a:graphicData>
        </a:graphic>
      </p:graphicFrame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Субконто – поле составного типа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0299" y="5989934"/>
            <a:ext cx="447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  <a:latin typeface="Arial Black" panose="020B0A04020102020204" pitchFamily="34" charset="0"/>
              </a:rPr>
              <a:t>Можем «выпасть» из индекса</a:t>
            </a:r>
          </a:p>
        </p:txBody>
      </p:sp>
      <p:sp>
        <p:nvSpPr>
          <p:cNvPr id="11" name="Левая фигурная скобка 10"/>
          <p:cNvSpPr/>
          <p:nvPr/>
        </p:nvSpPr>
        <p:spPr>
          <a:xfrm rot="16200000">
            <a:off x="5066652" y="4978250"/>
            <a:ext cx="345660" cy="1677708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396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75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" dur="375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" dur="375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375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07280"/>
          </a:xfrm>
        </p:spPr>
        <p:txBody>
          <a:bodyPr>
            <a:normAutofit/>
          </a:bodyPr>
          <a:lstStyle/>
          <a:p>
            <a:r>
              <a:rPr lang="ru-RU" dirty="0"/>
              <a:t>Субконто – поле составного типа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169319" y="6214597"/>
            <a:ext cx="447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  <a:latin typeface="Arial Black" panose="020B0A04020102020204" pitchFamily="34" charset="0"/>
              </a:rPr>
              <a:t>Можем «выпасть» из индекса</a:t>
            </a:r>
          </a:p>
        </p:txBody>
      </p:sp>
      <p:sp>
        <p:nvSpPr>
          <p:cNvPr id="5" name="Левая фигурная скобка 4"/>
          <p:cNvSpPr/>
          <p:nvPr/>
        </p:nvSpPr>
        <p:spPr>
          <a:xfrm rot="16200000">
            <a:off x="5057617" y="5222143"/>
            <a:ext cx="368841" cy="1672588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236559"/>
              </p:ext>
            </p:extLst>
          </p:nvPr>
        </p:nvGraphicFramePr>
        <p:xfrm>
          <a:off x="238004" y="2642683"/>
          <a:ext cx="883232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630">
                  <a:extLst>
                    <a:ext uri="{9D8B030D-6E8A-4147-A177-3AD203B41FA5}">
                      <a16:colId xmlns:a16="http://schemas.microsoft.com/office/drawing/2014/main" val="882719709"/>
                    </a:ext>
                  </a:extLst>
                </a:gridCol>
                <a:gridCol w="715619">
                  <a:extLst>
                    <a:ext uri="{9D8B030D-6E8A-4147-A177-3AD203B41FA5}">
                      <a16:colId xmlns:a16="http://schemas.microsoft.com/office/drawing/2014/main" val="4047893140"/>
                    </a:ext>
                  </a:extLst>
                </a:gridCol>
                <a:gridCol w="1592829">
                  <a:extLst>
                    <a:ext uri="{9D8B030D-6E8A-4147-A177-3AD203B41FA5}">
                      <a16:colId xmlns:a16="http://schemas.microsoft.com/office/drawing/2014/main" val="3308976383"/>
                    </a:ext>
                  </a:extLst>
                </a:gridCol>
                <a:gridCol w="1651203">
                  <a:extLst>
                    <a:ext uri="{9D8B030D-6E8A-4147-A177-3AD203B41FA5}">
                      <a16:colId xmlns:a16="http://schemas.microsoft.com/office/drawing/2014/main" val="3831111846"/>
                    </a:ext>
                  </a:extLst>
                </a:gridCol>
                <a:gridCol w="1215561">
                  <a:extLst>
                    <a:ext uri="{9D8B030D-6E8A-4147-A177-3AD203B41FA5}">
                      <a16:colId xmlns:a16="http://schemas.microsoft.com/office/drawing/2014/main" val="404959483"/>
                    </a:ext>
                  </a:extLst>
                </a:gridCol>
                <a:gridCol w="1202698">
                  <a:extLst>
                    <a:ext uri="{9D8B030D-6E8A-4147-A177-3AD203B41FA5}">
                      <a16:colId xmlns:a16="http://schemas.microsoft.com/office/drawing/2014/main" val="4010275965"/>
                    </a:ext>
                  </a:extLst>
                </a:gridCol>
                <a:gridCol w="1461786">
                  <a:extLst>
                    <a:ext uri="{9D8B030D-6E8A-4147-A177-3AD203B41FA5}">
                      <a16:colId xmlns:a16="http://schemas.microsoft.com/office/drawing/2014/main" val="7352459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Период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Счет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Организация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Подразделение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Субконто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Субконто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Итого полей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335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367306"/>
                  </a:ext>
                </a:extLst>
              </a:tr>
            </a:tbl>
          </a:graphicData>
        </a:graphic>
      </p:graphicFrame>
      <p:sp>
        <p:nvSpPr>
          <p:cNvPr id="42" name="Левая фигурная скобка 41"/>
          <p:cNvSpPr/>
          <p:nvPr/>
        </p:nvSpPr>
        <p:spPr>
          <a:xfrm rot="5400000">
            <a:off x="5069208" y="3525991"/>
            <a:ext cx="345660" cy="1672588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Левая фигурная скобка 42"/>
          <p:cNvSpPr/>
          <p:nvPr/>
        </p:nvSpPr>
        <p:spPr>
          <a:xfrm rot="16200000">
            <a:off x="6236342" y="2373778"/>
            <a:ext cx="345660" cy="2384933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4" name="Прямая со стрелкой 43"/>
          <p:cNvCxnSpPr/>
          <p:nvPr/>
        </p:nvCxnSpPr>
        <p:spPr>
          <a:xfrm flipV="1">
            <a:off x="5353396" y="3716229"/>
            <a:ext cx="882151" cy="4868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809207"/>
              </p:ext>
            </p:extLst>
          </p:nvPr>
        </p:nvGraphicFramePr>
        <p:xfrm>
          <a:off x="188118" y="4544166"/>
          <a:ext cx="8784001" cy="1320800"/>
        </p:xfrm>
        <a:graphic>
          <a:graphicData uri="http://schemas.openxmlformats.org/drawingml/2006/table">
            <a:tbl>
              <a:tblPr/>
              <a:tblGrid>
                <a:gridCol w="817723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4022660776"/>
                    </a:ext>
                  </a:extLst>
                </a:gridCol>
                <a:gridCol w="839586">
                  <a:extLst>
                    <a:ext uri="{9D8B030D-6E8A-4147-A177-3AD203B41FA5}">
                      <a16:colId xmlns:a16="http://schemas.microsoft.com/office/drawing/2014/main" val="425026031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2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Основной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Материалы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Основной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822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03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для </a:t>
            </a:r>
            <a:r>
              <a:rPr lang="ru-RU" dirty="0" err="1"/>
              <a:t>пвх</a:t>
            </a:r>
            <a:r>
              <a:rPr lang="ru-RU" dirty="0"/>
              <a:t> «Виды субконто»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310139"/>
              </p:ext>
            </p:extLst>
          </p:nvPr>
        </p:nvGraphicFramePr>
        <p:xfrm>
          <a:off x="281747" y="4299034"/>
          <a:ext cx="8596735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373">
                  <a:extLst>
                    <a:ext uri="{9D8B030D-6E8A-4147-A177-3AD203B41FA5}">
                      <a16:colId xmlns:a16="http://schemas.microsoft.com/office/drawing/2014/main" val="2665122891"/>
                    </a:ext>
                  </a:extLst>
                </a:gridCol>
                <a:gridCol w="949959">
                  <a:extLst>
                    <a:ext uri="{9D8B030D-6E8A-4147-A177-3AD203B41FA5}">
                      <a16:colId xmlns:a16="http://schemas.microsoft.com/office/drawing/2014/main" val="3634049784"/>
                    </a:ext>
                  </a:extLst>
                </a:gridCol>
                <a:gridCol w="1311008">
                  <a:extLst>
                    <a:ext uri="{9D8B030D-6E8A-4147-A177-3AD203B41FA5}">
                      <a16:colId xmlns:a16="http://schemas.microsoft.com/office/drawing/2014/main" val="2755661369"/>
                    </a:ext>
                  </a:extLst>
                </a:gridCol>
                <a:gridCol w="1264431">
                  <a:extLst>
                    <a:ext uri="{9D8B030D-6E8A-4147-A177-3AD203B41FA5}">
                      <a16:colId xmlns:a16="http://schemas.microsoft.com/office/drawing/2014/main" val="1582707422"/>
                    </a:ext>
                  </a:extLst>
                </a:gridCol>
                <a:gridCol w="1180754">
                  <a:extLst>
                    <a:ext uri="{9D8B030D-6E8A-4147-A177-3AD203B41FA5}">
                      <a16:colId xmlns:a16="http://schemas.microsoft.com/office/drawing/2014/main" val="257742612"/>
                    </a:ext>
                  </a:extLst>
                </a:gridCol>
                <a:gridCol w="1228105">
                  <a:extLst>
                    <a:ext uri="{9D8B030D-6E8A-4147-A177-3AD203B41FA5}">
                      <a16:colId xmlns:a16="http://schemas.microsoft.com/office/drawing/2014/main" val="3880621152"/>
                    </a:ext>
                  </a:extLst>
                </a:gridCol>
                <a:gridCol w="1228105">
                  <a:extLst>
                    <a:ext uri="{9D8B030D-6E8A-4147-A177-3AD203B41FA5}">
                      <a16:colId xmlns:a16="http://schemas.microsoft.com/office/drawing/2014/main" val="2629661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Выбранный</a:t>
                      </a:r>
                      <a:r>
                        <a:rPr lang="ru-RU" baseline="0" dirty="0"/>
                        <a:t> тип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Число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Строка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Булево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Номер Таблицы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62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&lt;Яблоки&gt;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467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&lt;ООО</a:t>
                      </a:r>
                      <a:r>
                        <a:rPr lang="ru-RU" baseline="0" dirty="0"/>
                        <a:t> Юг&gt;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714401"/>
                  </a:ext>
                </a:extLst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303" y="1227864"/>
            <a:ext cx="3095625" cy="2771775"/>
          </a:xfrm>
          <a:prstGeom prst="rect">
            <a:avLst/>
          </a:prstGeom>
        </p:spPr>
      </p:pic>
      <p:sp>
        <p:nvSpPr>
          <p:cNvPr id="6" name="Rounded Rectangle 3"/>
          <p:cNvSpPr/>
          <p:nvPr/>
        </p:nvSpPr>
        <p:spPr>
          <a:xfrm>
            <a:off x="2930488" y="1923966"/>
            <a:ext cx="2622013" cy="753133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718631" y="4299034"/>
            <a:ext cx="4704203" cy="138176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1718631" y="4299034"/>
            <a:ext cx="4704203" cy="138176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00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для </a:t>
            </a:r>
            <a:r>
              <a:rPr lang="ru-RU" dirty="0" err="1"/>
              <a:t>пвх</a:t>
            </a:r>
            <a:r>
              <a:rPr lang="ru-RU" dirty="0"/>
              <a:t> «Виды субконто»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823" y="1260915"/>
            <a:ext cx="3095625" cy="2771775"/>
          </a:xfrm>
          <a:prstGeom prst="rect">
            <a:avLst/>
          </a:prstGeom>
        </p:spPr>
      </p:pic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160681"/>
              </p:ext>
            </p:extLst>
          </p:nvPr>
        </p:nvGraphicFramePr>
        <p:xfrm>
          <a:off x="2237343" y="4578154"/>
          <a:ext cx="3890583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373">
                  <a:extLst>
                    <a:ext uri="{9D8B030D-6E8A-4147-A177-3AD203B41FA5}">
                      <a16:colId xmlns:a16="http://schemas.microsoft.com/office/drawing/2014/main" val="2665122891"/>
                    </a:ext>
                  </a:extLst>
                </a:gridCol>
                <a:gridCol w="1228105">
                  <a:extLst>
                    <a:ext uri="{9D8B030D-6E8A-4147-A177-3AD203B41FA5}">
                      <a16:colId xmlns:a16="http://schemas.microsoft.com/office/drawing/2014/main" val="3880621152"/>
                    </a:ext>
                  </a:extLst>
                </a:gridCol>
                <a:gridCol w="1228105">
                  <a:extLst>
                    <a:ext uri="{9D8B030D-6E8A-4147-A177-3AD203B41FA5}">
                      <a16:colId xmlns:a16="http://schemas.microsoft.com/office/drawing/2014/main" val="2629661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Выбранный</a:t>
                      </a:r>
                      <a:r>
                        <a:rPr lang="ru-RU" baseline="0" dirty="0"/>
                        <a:t> тип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Номер Таблицы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62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&lt;Яблоки&gt;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467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&lt;ООО</a:t>
                      </a:r>
                      <a:r>
                        <a:rPr lang="ru-RU" baseline="0" dirty="0"/>
                        <a:t> Юг&gt;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714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529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07280"/>
          </a:xfrm>
        </p:spPr>
        <p:txBody>
          <a:bodyPr>
            <a:normAutofit fontScale="90000"/>
          </a:bodyPr>
          <a:lstStyle/>
          <a:p>
            <a:r>
              <a:rPr lang="ru-RU" dirty="0"/>
              <a:t>Количество полей при правильной настройки субконто</a:t>
            </a:r>
          </a:p>
        </p:txBody>
      </p:sp>
      <p:sp>
        <p:nvSpPr>
          <p:cNvPr id="5" name="Левая фигурная скобка 4"/>
          <p:cNvSpPr/>
          <p:nvPr/>
        </p:nvSpPr>
        <p:spPr>
          <a:xfrm rot="5400000">
            <a:off x="5056875" y="3670788"/>
            <a:ext cx="345660" cy="1681171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51524"/>
              </p:ext>
            </p:extLst>
          </p:nvPr>
        </p:nvGraphicFramePr>
        <p:xfrm>
          <a:off x="238003" y="2620651"/>
          <a:ext cx="883232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630">
                  <a:extLst>
                    <a:ext uri="{9D8B030D-6E8A-4147-A177-3AD203B41FA5}">
                      <a16:colId xmlns:a16="http://schemas.microsoft.com/office/drawing/2014/main" val="882719709"/>
                    </a:ext>
                  </a:extLst>
                </a:gridCol>
                <a:gridCol w="715619">
                  <a:extLst>
                    <a:ext uri="{9D8B030D-6E8A-4147-A177-3AD203B41FA5}">
                      <a16:colId xmlns:a16="http://schemas.microsoft.com/office/drawing/2014/main" val="4047893140"/>
                    </a:ext>
                  </a:extLst>
                </a:gridCol>
                <a:gridCol w="1592829">
                  <a:extLst>
                    <a:ext uri="{9D8B030D-6E8A-4147-A177-3AD203B41FA5}">
                      <a16:colId xmlns:a16="http://schemas.microsoft.com/office/drawing/2014/main" val="3308976383"/>
                    </a:ext>
                  </a:extLst>
                </a:gridCol>
                <a:gridCol w="1651203">
                  <a:extLst>
                    <a:ext uri="{9D8B030D-6E8A-4147-A177-3AD203B41FA5}">
                      <a16:colId xmlns:a16="http://schemas.microsoft.com/office/drawing/2014/main" val="3831111846"/>
                    </a:ext>
                  </a:extLst>
                </a:gridCol>
                <a:gridCol w="1215561">
                  <a:extLst>
                    <a:ext uri="{9D8B030D-6E8A-4147-A177-3AD203B41FA5}">
                      <a16:colId xmlns:a16="http://schemas.microsoft.com/office/drawing/2014/main" val="404959483"/>
                    </a:ext>
                  </a:extLst>
                </a:gridCol>
                <a:gridCol w="1202698">
                  <a:extLst>
                    <a:ext uri="{9D8B030D-6E8A-4147-A177-3AD203B41FA5}">
                      <a16:colId xmlns:a16="http://schemas.microsoft.com/office/drawing/2014/main" val="4010275965"/>
                    </a:ext>
                  </a:extLst>
                </a:gridCol>
                <a:gridCol w="1461786">
                  <a:extLst>
                    <a:ext uri="{9D8B030D-6E8A-4147-A177-3AD203B41FA5}">
                      <a16:colId xmlns:a16="http://schemas.microsoft.com/office/drawing/2014/main" val="7352459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Период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Счет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Организация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Подразделение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Субконто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Субконто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Итого полей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335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367306"/>
                  </a:ext>
                </a:extLst>
              </a:tr>
            </a:tbl>
          </a:graphicData>
        </a:graphic>
      </p:graphicFrame>
      <p:sp>
        <p:nvSpPr>
          <p:cNvPr id="20" name="Левая фигурная скобка 19"/>
          <p:cNvSpPr/>
          <p:nvPr/>
        </p:nvSpPr>
        <p:spPr>
          <a:xfrm rot="16200000">
            <a:off x="6229199" y="2346568"/>
            <a:ext cx="345660" cy="2377186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 стрелкой 6"/>
          <p:cNvCxnSpPr/>
          <p:nvPr/>
        </p:nvCxnSpPr>
        <p:spPr>
          <a:xfrm flipV="1">
            <a:off x="5320145" y="3716230"/>
            <a:ext cx="915402" cy="622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442615"/>
              </p:ext>
            </p:extLst>
          </p:nvPr>
        </p:nvGraphicFramePr>
        <p:xfrm>
          <a:off x="188118" y="4684203"/>
          <a:ext cx="8784001" cy="1320800"/>
        </p:xfrm>
        <a:graphic>
          <a:graphicData uri="http://schemas.openxmlformats.org/drawingml/2006/table">
            <a:tbl>
              <a:tblPr/>
              <a:tblGrid>
                <a:gridCol w="817723">
                  <a:extLst>
                    <a:ext uri="{9D8B030D-6E8A-4147-A177-3AD203B41FA5}">
                      <a16:colId xmlns:a16="http://schemas.microsoft.com/office/drawing/2014/main" val="215911166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627805699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1921632639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2812497627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4022660776"/>
                    </a:ext>
                  </a:extLst>
                </a:gridCol>
                <a:gridCol w="839586">
                  <a:extLst>
                    <a:ext uri="{9D8B030D-6E8A-4147-A177-3AD203B41FA5}">
                      <a16:colId xmlns:a16="http://schemas.microsoft.com/office/drawing/2014/main" val="425026031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68142078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3962531684"/>
                    </a:ext>
                  </a:extLst>
                </a:gridCol>
                <a:gridCol w="764771">
                  <a:extLst>
                    <a:ext uri="{9D8B030D-6E8A-4147-A177-3AD203B41FA5}">
                      <a16:colId xmlns:a16="http://schemas.microsoft.com/office/drawing/2014/main" val="880598561"/>
                    </a:ext>
                  </a:extLst>
                </a:gridCol>
                <a:gridCol w="642765">
                  <a:extLst>
                    <a:ext uri="{9D8B030D-6E8A-4147-A177-3AD203B41FA5}">
                      <a16:colId xmlns:a16="http://schemas.microsoft.com/office/drawing/2014/main" val="215295673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Организация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Подразделение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1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Субконто 2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</a:t>
                      </a:r>
                      <a:r>
                        <a:rPr lang="x-none" sz="12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934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Остаток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>
                          <a:effectLst/>
                          <a:latin typeface="Calibri" panose="020F0502020204030204" pitchFamily="34" charset="0"/>
                        </a:rPr>
                        <a:t>Оборот Дт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 Кт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95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.1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Т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Администрация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Яблоки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Основной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14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 (</a:t>
                      </a: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Материалы</a:t>
                      </a: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Север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Основное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Груши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Основной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  <a:endParaRPr lang="x-none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822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93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СофтБаланс_БухгалтерскийУчет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_БухгалтерскийУчет" id="{6670B6C7-2F4E-4802-A3C4-7AA80492A898}" vid="{AB6A078B-6BB8-4032-BA3D-357D6E16E8F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СофтБаланс_БухгалтерскийУчет</Template>
  <TotalTime>3277</TotalTime>
  <Words>3545</Words>
  <Application>Microsoft Office PowerPoint</Application>
  <PresentationFormat>Экран (4:3)</PresentationFormat>
  <Paragraphs>1879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5" baseType="lpstr">
      <vt:lpstr>Arial</vt:lpstr>
      <vt:lpstr>Arial Black</vt:lpstr>
      <vt:lpstr>Calibri</vt:lpstr>
      <vt:lpstr>Tahoma</vt:lpstr>
      <vt:lpstr>Verdana</vt:lpstr>
      <vt:lpstr>Wingdings</vt:lpstr>
      <vt:lpstr>СофтБаланс_БухгалтерскийУчет</vt:lpstr>
      <vt:lpstr>Занятие 13</vt:lpstr>
      <vt:lpstr>Балансовое измерение «Организация»</vt:lpstr>
      <vt:lpstr>Таблица движений по счетам до изменения</vt:lpstr>
      <vt:lpstr>Таблица движений по счетам. Добавили балансовое измерение «Организация»</vt:lpstr>
      <vt:lpstr>Таблица остатков и оборотов по счетам до изменения.</vt:lpstr>
      <vt:lpstr>Таблица остатков и оборотов по счетам. Добавили измерение «Организация». </vt:lpstr>
      <vt:lpstr>Таблица оборотов между счетами до изменения.</vt:lpstr>
      <vt:lpstr>Таблица оборотов между счетами. Добавили измерение «Организация» </vt:lpstr>
      <vt:lpstr>Сквозная аналитика</vt:lpstr>
      <vt:lpstr>Учет по подразделениям</vt:lpstr>
      <vt:lpstr>Признак учета</vt:lpstr>
      <vt:lpstr>Специальный реквизит типа булево</vt:lpstr>
      <vt:lpstr>Таблица движений по счетам до изменения.</vt:lpstr>
      <vt:lpstr>Таблица движений по счетам. Добавили не балансовое измерение «Подразделение».</vt:lpstr>
      <vt:lpstr>Таблица остатков и оборотов по счетам до изменения.</vt:lpstr>
      <vt:lpstr>Таблица остатков и оборотов по счетам. Добавили не балансовое измерение «Подразделение».</vt:lpstr>
      <vt:lpstr>Таблица оборотов между счетами до изменения</vt:lpstr>
      <vt:lpstr>Таблица оборотов между счетами. Добавили не балансовое измерение «Подразделение».</vt:lpstr>
      <vt:lpstr>Обычная аналитика</vt:lpstr>
      <vt:lpstr>Аналитика на субсчетах </vt:lpstr>
      <vt:lpstr>Аналитика на субконто </vt:lpstr>
      <vt:lpstr>Ограничения аналитики, подключаемой через измерения</vt:lpstr>
      <vt:lpstr>Хранение дополнительной информации</vt:lpstr>
      <vt:lpstr>Реквизиты справочника</vt:lpstr>
      <vt:lpstr>Много не пустых «пустот»</vt:lpstr>
      <vt:lpstr>Не оптимально</vt:lpstr>
      <vt:lpstr>Хранение дополнительной информации в отдельной таблице</vt:lpstr>
      <vt:lpstr>Хранение дополнительной информации в отдельной таблице</vt:lpstr>
      <vt:lpstr>Хранение дополнительной информации в отдельной таблице</vt:lpstr>
      <vt:lpstr>Хранение составного типа в базе данных</vt:lpstr>
      <vt:lpstr>Пример</vt:lpstr>
      <vt:lpstr>Субконто в проводке глазами пользователя</vt:lpstr>
      <vt:lpstr>Хранение субконто в отдельной таблице субконто</vt:lpstr>
      <vt:lpstr>Хранение субконто в отдельной таблице субконто</vt:lpstr>
      <vt:lpstr>План видов характиристик</vt:lpstr>
      <vt:lpstr>Таблица плана видов характеристик</vt:lpstr>
      <vt:lpstr>Настройка субконто в плане счетов</vt:lpstr>
      <vt:lpstr>Служебная табличная часть в плане счетов </vt:lpstr>
      <vt:lpstr>Объектное представление табличной части</vt:lpstr>
      <vt:lpstr>Табличная часть «субконто» регистра бухгалтерии</vt:lpstr>
      <vt:lpstr>Набор записей регистра бухгалтерии</vt:lpstr>
      <vt:lpstr>Таблица движений по счетам. При добавлении субконто не меняется!!!</vt:lpstr>
      <vt:lpstr>Таблица остатков и оборотов по счетам Добавили 2 субконто </vt:lpstr>
      <vt:lpstr>Субконто – поле составного типа</vt:lpstr>
      <vt:lpstr>Субконто – поле составного типа</vt:lpstr>
      <vt:lpstr>Настройка для пвх «Виды субконто»</vt:lpstr>
      <vt:lpstr>Настройка для пвх «Виды субконто»</vt:lpstr>
      <vt:lpstr>Количество полей при правильной настройки субконто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eugeniy sizov</dc:creator>
  <cp:lastModifiedBy>eugeniy sizov</cp:lastModifiedBy>
  <cp:revision>111</cp:revision>
  <dcterms:created xsi:type="dcterms:W3CDTF">2015-05-03T18:24:44Z</dcterms:created>
  <dcterms:modified xsi:type="dcterms:W3CDTF">2020-02-16T10:23:42Z</dcterms:modified>
</cp:coreProperties>
</file>