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7"/>
  </p:notesMasterIdLst>
  <p:sldIdLst>
    <p:sldId id="256" r:id="rId2"/>
    <p:sldId id="320" r:id="rId3"/>
    <p:sldId id="316" r:id="rId4"/>
    <p:sldId id="337" r:id="rId5"/>
    <p:sldId id="338" r:id="rId6"/>
    <p:sldId id="339" r:id="rId7"/>
    <p:sldId id="340" r:id="rId8"/>
    <p:sldId id="341" r:id="rId9"/>
    <p:sldId id="342" r:id="rId10"/>
    <p:sldId id="343" r:id="rId11"/>
    <p:sldId id="344" r:id="rId12"/>
    <p:sldId id="345" r:id="rId13"/>
    <p:sldId id="346" r:id="rId14"/>
    <p:sldId id="347" r:id="rId15"/>
    <p:sldId id="363" r:id="rId16"/>
    <p:sldId id="289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301" r:id="rId29"/>
    <p:sldId id="302" r:id="rId30"/>
    <p:sldId id="303" r:id="rId31"/>
    <p:sldId id="348" r:id="rId32"/>
    <p:sldId id="349" r:id="rId33"/>
    <p:sldId id="350" r:id="rId34"/>
    <p:sldId id="351" r:id="rId35"/>
    <p:sldId id="352" r:id="rId36"/>
    <p:sldId id="353" r:id="rId37"/>
    <p:sldId id="354" r:id="rId38"/>
    <p:sldId id="355" r:id="rId39"/>
    <p:sldId id="356" r:id="rId40"/>
    <p:sldId id="357" r:id="rId41"/>
    <p:sldId id="358" r:id="rId42"/>
    <p:sldId id="359" r:id="rId43"/>
    <p:sldId id="360" r:id="rId44"/>
    <p:sldId id="361" r:id="rId45"/>
    <p:sldId id="362" r:id="rId46"/>
    <p:sldId id="321" r:id="rId47"/>
    <p:sldId id="322" r:id="rId48"/>
    <p:sldId id="336" r:id="rId49"/>
    <p:sldId id="277" r:id="rId50"/>
    <p:sldId id="276" r:id="rId51"/>
    <p:sldId id="278" r:id="rId52"/>
    <p:sldId id="364" r:id="rId53"/>
    <p:sldId id="365" r:id="rId54"/>
    <p:sldId id="366" r:id="rId55"/>
    <p:sldId id="367" r:id="rId56"/>
    <p:sldId id="368" r:id="rId57"/>
    <p:sldId id="369" r:id="rId58"/>
    <p:sldId id="370" r:id="rId59"/>
    <p:sldId id="371" r:id="rId60"/>
    <p:sldId id="372" r:id="rId61"/>
    <p:sldId id="308" r:id="rId62"/>
    <p:sldId id="304" r:id="rId63"/>
    <p:sldId id="305" r:id="rId64"/>
    <p:sldId id="306" r:id="rId65"/>
    <p:sldId id="307" r:id="rId66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330" autoAdjust="0"/>
    <p:restoredTop sz="94660"/>
  </p:normalViewPr>
  <p:slideViewPr>
    <p:cSldViewPr>
      <p:cViewPr varScale="1">
        <p:scale>
          <a:sx n="101" d="100"/>
          <a:sy n="101" d="100"/>
        </p:scale>
        <p:origin x="114" y="25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2706"/>
    </p:cViewPr>
  </p:sorterViewPr>
  <p:notesViewPr>
    <p:cSldViewPr>
      <p:cViewPr varScale="1">
        <p:scale>
          <a:sx n="82" d="100"/>
          <a:sy n="82" d="100"/>
        </p:scale>
        <p:origin x="203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87C55B-87CB-44D1-A369-D5EF61856D40}" type="datetimeFigureOut">
              <a:rPr lang="ru-RU"/>
              <a:t>16.02.2020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0D3FB1-D259-4463-ADFD-4565926705A0}" type="slidenum">
              <a:rPr lang="ru-RU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163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0D3FB1-D259-4463-ADFD-4565926705A0}" type="slidenum">
              <a:rPr lang="ru-RU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5389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0D3FB1-D259-4463-ADFD-4565926705A0}" type="slidenum">
              <a:rPr lang="ru-RU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357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0D3FB1-D259-4463-ADFD-4565926705A0}" type="slidenum">
              <a:rPr lang="ru-RU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46416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60D3FB1-D259-4463-ADFD-4565926705A0}" type="slidenum">
              <a:rPr lang="ru-RU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31146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 smtClean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 smtClean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 smtClean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5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 smtClean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79388" y="548679"/>
            <a:ext cx="8784000" cy="720081"/>
          </a:xfrm>
        </p:spPr>
        <p:txBody>
          <a:bodyPr/>
          <a:lstStyle>
            <a:lvl1pPr algn="ctr">
              <a:defRPr sz="3200" baseline="0"/>
            </a:lvl1pPr>
          </a:lstStyle>
          <a:p>
            <a:r>
              <a:rPr lang="ru-RU" smtClean="0"/>
              <a:t>Образец заголовка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79388" y="1293839"/>
            <a:ext cx="8782050" cy="222339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0070C0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372140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dirty="0" smtClean="0"/>
              <a:t>Образец текста</a:t>
            </a:r>
          </a:p>
        </p:txBody>
      </p:sp>
      <p:sp>
        <p:nvSpPr>
          <p:cNvPr id="4" name="Заголовок 5"/>
          <p:cNvSpPr>
            <a:spLocks noGrp="1"/>
          </p:cNvSpPr>
          <p:nvPr>
            <p:ph type="title"/>
          </p:nvPr>
        </p:nvSpPr>
        <p:spPr>
          <a:xfrm>
            <a:off x="722312" y="4581128"/>
            <a:ext cx="7772401" cy="1440160"/>
          </a:xfrm>
        </p:spPr>
        <p:txBody>
          <a:bodyPr/>
          <a:lstStyle/>
          <a:p>
            <a:r>
              <a:rPr lang="ru-RU" dirty="0" smtClean="0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869182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35844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268680"/>
            <a:ext cx="8784000" cy="496863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rgbClr val="FF0000"/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rgbClr val="0070C0"/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74651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841583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4788" y="548680"/>
            <a:ext cx="8784000" cy="72000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74788" y="1268680"/>
            <a:ext cx="8784000" cy="4968632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37372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3954090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 smtClean="0"/>
              <a:t>Образец текста</a:t>
            </a:r>
          </a:p>
          <a:p>
            <a:pPr lvl="1"/>
            <a:r>
              <a:rPr lang="ru-RU" dirty="0" smtClean="0"/>
              <a:t>Второй уровень</a:t>
            </a:r>
          </a:p>
          <a:p>
            <a:pPr lvl="2"/>
            <a:r>
              <a:rPr lang="ru-RU" dirty="0" smtClean="0"/>
              <a:t>Третий уровень</a:t>
            </a:r>
          </a:p>
          <a:p>
            <a:pPr lvl="3"/>
            <a:r>
              <a:rPr lang="ru-RU" dirty="0" smtClean="0"/>
              <a:t>Четвертый уровень</a:t>
            </a:r>
          </a:p>
          <a:p>
            <a:pPr lvl="4"/>
            <a:r>
              <a:rPr lang="ru-RU" dirty="0" smtClean="0"/>
              <a:t>Пятый уровень</a:t>
            </a:r>
            <a:endParaRPr lang="ru-RU" dirty="0"/>
          </a:p>
        </p:txBody>
      </p:sp>
      <p:sp>
        <p:nvSpPr>
          <p:cNvPr id="6" name="Заголовок 5"/>
          <p:cNvSpPr>
            <a:spLocks noGrp="1"/>
          </p:cNvSpPr>
          <p:nvPr>
            <p:ph type="title"/>
          </p:nvPr>
        </p:nvSpPr>
        <p:spPr>
          <a:xfrm>
            <a:off x="185862" y="548680"/>
            <a:ext cx="8784000" cy="720080"/>
          </a:xfrm>
        </p:spPr>
        <p:txBody>
          <a:bodyPr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 dirty="0"/>
          </a:p>
        </p:txBody>
      </p:sp>
      <p:sp>
        <p:nvSpPr>
          <p:cNvPr id="5" name="Рисунок 2"/>
          <p:cNvSpPr>
            <a:spLocks noGrp="1"/>
          </p:cNvSpPr>
          <p:nvPr>
            <p:ph type="pic" idx="10"/>
          </p:nvPr>
        </p:nvSpPr>
        <p:spPr>
          <a:xfrm>
            <a:off x="4314207" y="1340768"/>
            <a:ext cx="4629150" cy="48965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ru-RU" noProof="0" smtClean="0"/>
              <a:t>Вставка рисунка</a:t>
            </a:r>
            <a:endParaRPr lang="ru-RU" noProof="0" dirty="0"/>
          </a:p>
        </p:txBody>
      </p:sp>
    </p:spTree>
    <p:extLst>
      <p:ext uri="{BB962C8B-B14F-4D97-AF65-F5344CB8AC3E}">
        <p14:creationId xmlns:p14="http://schemas.microsoft.com/office/powerpoint/2010/main" val="150034899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Образец заголовка</a:t>
            </a:r>
            <a:endParaRPr lang="ru-RU" dirty="0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185862" y="1340768"/>
            <a:ext cx="4386138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 smtClean="0"/>
              <a:t>Образец текста</a:t>
            </a:r>
          </a:p>
          <a:p>
            <a:pPr lvl="1"/>
            <a:r>
              <a:rPr lang="ru-RU" dirty="0" smtClean="0"/>
              <a:t>Второй уровень</a:t>
            </a:r>
          </a:p>
          <a:p>
            <a:pPr lvl="2"/>
            <a:r>
              <a:rPr lang="ru-RU" dirty="0" smtClean="0"/>
              <a:t>Третий уровень</a:t>
            </a:r>
          </a:p>
          <a:p>
            <a:pPr lvl="3"/>
            <a:r>
              <a:rPr lang="ru-RU" dirty="0" smtClean="0"/>
              <a:t>Четвертый уровень</a:t>
            </a:r>
          </a:p>
          <a:p>
            <a:pPr lvl="4"/>
            <a:r>
              <a:rPr lang="ru-RU" dirty="0" smtClean="0"/>
              <a:t>Пятый уровень</a:t>
            </a:r>
            <a:endParaRPr lang="ru-RU" dirty="0"/>
          </a:p>
        </p:txBody>
      </p:sp>
      <p:sp>
        <p:nvSpPr>
          <p:cNvPr id="4" name="Содержимое 2"/>
          <p:cNvSpPr>
            <a:spLocks noGrp="1"/>
          </p:cNvSpPr>
          <p:nvPr>
            <p:ph idx="10"/>
          </p:nvPr>
        </p:nvSpPr>
        <p:spPr>
          <a:xfrm>
            <a:off x="4644008" y="1340768"/>
            <a:ext cx="4306779" cy="4896543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buClr>
                <a:srgbClr val="C00000"/>
              </a:buClr>
              <a:buFontTx/>
              <a:buBlip>
                <a:blip r:embed="rId2"/>
              </a:buBlip>
              <a:defRPr/>
            </a:lvl1pPr>
            <a:lvl2pPr>
              <a:buClr>
                <a:srgbClr val="FF0000"/>
              </a:buClr>
              <a:buFont typeface="Verdana" pitchFamily="34" charset="0"/>
              <a:buChar char="•"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buClr>
                <a:srgbClr val="FF0000"/>
              </a:buClr>
              <a:buFont typeface="Wingdings" pitchFamily="2" charset="2"/>
              <a:buChar char="§"/>
              <a:defRPr b="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b="0"/>
            </a:lvl4pPr>
          </a:lstStyle>
          <a:p>
            <a:pPr lvl="0"/>
            <a:r>
              <a:rPr lang="ru-RU" dirty="0" smtClean="0"/>
              <a:t>Образец текста</a:t>
            </a:r>
          </a:p>
          <a:p>
            <a:pPr lvl="1"/>
            <a:r>
              <a:rPr lang="ru-RU" dirty="0" smtClean="0"/>
              <a:t>Второй уровень</a:t>
            </a:r>
          </a:p>
          <a:p>
            <a:pPr lvl="2"/>
            <a:r>
              <a:rPr lang="ru-RU" dirty="0" smtClean="0"/>
              <a:t>Третий уровень</a:t>
            </a:r>
          </a:p>
          <a:p>
            <a:pPr lvl="3"/>
            <a:r>
              <a:rPr lang="ru-RU" dirty="0" smtClean="0"/>
              <a:t>Четвертый уровень</a:t>
            </a:r>
          </a:p>
          <a:p>
            <a:pPr lvl="4"/>
            <a:r>
              <a:rPr lang="ru-RU" dirty="0" smtClean="0"/>
              <a:t>Пятый уровень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423264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58515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5819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Группа 3"/>
          <p:cNvGrpSpPr>
            <a:grpSpLocks/>
          </p:cNvGrpSpPr>
          <p:nvPr/>
        </p:nvGrpSpPr>
        <p:grpSpPr bwMode="auto">
          <a:xfrm>
            <a:off x="185738" y="549275"/>
            <a:ext cx="8784000" cy="0"/>
            <a:chOff x="185862" y="620688"/>
            <a:chExt cx="8775700" cy="0"/>
          </a:xfrm>
        </p:grpSpPr>
        <p:cxnSp>
          <p:nvCxnSpPr>
            <p:cNvPr id="16" name="Прямая соединительная линия 15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/>
            <p:cNvCxnSpPr/>
            <p:nvPr/>
          </p:nvCxnSpPr>
          <p:spPr>
            <a:xfrm>
              <a:off x="185862" y="620688"/>
              <a:ext cx="2522537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 bwMode="auto">
          <a:xfrm>
            <a:off x="188119" y="571977"/>
            <a:ext cx="8784000" cy="5487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ru-RU" dirty="0" smtClean="0"/>
              <a:t>Заголовок</a:t>
            </a:r>
          </a:p>
        </p:txBody>
      </p:sp>
      <p:sp>
        <p:nvSpPr>
          <p:cNvPr id="8" name="Номер слайда 5"/>
          <p:cNvSpPr txBox="1">
            <a:spLocks/>
          </p:cNvSpPr>
          <p:nvPr/>
        </p:nvSpPr>
        <p:spPr>
          <a:xfrm>
            <a:off x="-1" y="6310313"/>
            <a:ext cx="855663" cy="293687"/>
          </a:xfrm>
          <a:prstGeom prst="rect">
            <a:avLst/>
          </a:prstGeom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r">
              <a:defRPr/>
            </a:pPr>
            <a:fld id="{84FD9DA7-1D53-4DDE-8D05-49E2417E29ED}" type="slidenum">
              <a:rPr lang="ru-RU" sz="1600" smtClean="0">
                <a:solidFill>
                  <a:srgbClr val="0066CC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pPr algn="r">
                <a:defRPr/>
              </a:pPr>
              <a:t>‹#›</a:t>
            </a:fld>
            <a:r>
              <a:rPr lang="ru-RU" sz="1600" dirty="0" smtClean="0">
                <a:solidFill>
                  <a:srgbClr val="FF000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/57</a:t>
            </a:r>
          </a:p>
        </p:txBody>
      </p:sp>
      <p:grpSp>
        <p:nvGrpSpPr>
          <p:cNvPr id="1029" name="Группа 17"/>
          <p:cNvGrpSpPr>
            <a:grpSpLocks/>
          </p:cNvGrpSpPr>
          <p:nvPr/>
        </p:nvGrpSpPr>
        <p:grpSpPr bwMode="auto">
          <a:xfrm>
            <a:off x="185738" y="6604000"/>
            <a:ext cx="6402387" cy="180975"/>
            <a:chOff x="185862" y="620688"/>
            <a:chExt cx="8775700" cy="0"/>
          </a:xfrm>
        </p:grpSpPr>
        <p:cxnSp>
          <p:nvCxnSpPr>
            <p:cNvPr id="19" name="Прямая соединительная линия 18"/>
            <p:cNvCxnSpPr/>
            <p:nvPr/>
          </p:nvCxnSpPr>
          <p:spPr>
            <a:xfrm>
              <a:off x="185862" y="620688"/>
              <a:ext cx="8775700" cy="0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/>
            <p:cNvCxnSpPr/>
            <p:nvPr/>
          </p:nvCxnSpPr>
          <p:spPr>
            <a:xfrm>
              <a:off x="185862" y="620688"/>
              <a:ext cx="2521952" cy="0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30" name="Рисунок 1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2588" y="6310313"/>
            <a:ext cx="2224087" cy="411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Подзаголовок 2"/>
          <p:cNvSpPr txBox="1">
            <a:spLocks/>
          </p:cNvSpPr>
          <p:nvPr/>
        </p:nvSpPr>
        <p:spPr bwMode="auto">
          <a:xfrm>
            <a:off x="179388" y="115888"/>
            <a:ext cx="6768876" cy="571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20000"/>
              </a:spcBef>
              <a:buClr>
                <a:srgbClr val="C00000"/>
              </a:buClr>
              <a:defRPr/>
            </a:pPr>
            <a:r>
              <a:rPr kumimoji="0" lang="ru-RU" sz="1800" b="1" dirty="0" smtClean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Конфигурирование</a:t>
            </a:r>
            <a:r>
              <a:rPr kumimoji="0" lang="ru-RU" sz="1800" b="1" baseline="0" dirty="0" smtClean="0">
                <a:solidFill>
                  <a:srgbClr val="0070C0"/>
                </a:solidFill>
                <a:latin typeface="Tahoma" panose="020B0604030504040204" pitchFamily="34" charset="0"/>
                <a:cs typeface="Tahoma" panose="020B0604030504040204" pitchFamily="34" charset="0"/>
              </a:rPr>
              <a:t> в системе 1С: Предприятие 8</a:t>
            </a:r>
            <a:endParaRPr kumimoji="0" lang="ru-RU" sz="1800" b="1" dirty="0" smtClean="0">
              <a:solidFill>
                <a:srgbClr val="0070C0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12" name="TextBox 14"/>
          <p:cNvSpPr txBox="1">
            <a:spLocks noChangeArrowheads="1"/>
          </p:cNvSpPr>
          <p:nvPr/>
        </p:nvSpPr>
        <p:spPr bwMode="auto">
          <a:xfrm>
            <a:off x="5435600" y="138113"/>
            <a:ext cx="35258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r">
              <a:defRPr/>
            </a:pPr>
            <a:r>
              <a:rPr lang="ru-RU" sz="1600" dirty="0" smtClean="0">
                <a:solidFill>
                  <a:srgbClr val="0070C0"/>
                </a:solidFill>
                <a:latin typeface="Tahoma" pitchFamily="34" charset="0"/>
                <a:cs typeface="Tahoma" pitchFamily="34" charset="0"/>
              </a:rPr>
              <a:t>Основные объекты</a:t>
            </a:r>
          </a:p>
        </p:txBody>
      </p:sp>
    </p:spTree>
    <p:extLst>
      <p:ext uri="{BB962C8B-B14F-4D97-AF65-F5344CB8AC3E}">
        <p14:creationId xmlns:p14="http://schemas.microsoft.com/office/powerpoint/2010/main" val="26593500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8" r:id="rId2"/>
    <p:sldLayoutId id="2147483662" r:id="rId3"/>
    <p:sldLayoutId id="2147483664" r:id="rId4"/>
    <p:sldLayoutId id="2147483666" r:id="rId5"/>
    <p:sldLayoutId id="2147483663" r:id="rId6"/>
    <p:sldLayoutId id="2147483669" r:id="rId7"/>
    <p:sldLayoutId id="2147483667" r:id="rId8"/>
    <p:sldLayoutId id="2147483665" r:id="rId9"/>
  </p:sldLayoutIdLst>
  <p:timing>
    <p:tnLst>
      <p:par>
        <p:cTn id="1" dur="indefinite" restart="never" nodeType="tmRoot"/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sz="3200" b="1" kern="1200">
          <a:ln>
            <a:solidFill>
              <a:schemeClr val="bg1"/>
            </a:solidFill>
          </a:ln>
          <a:gradFill>
            <a:gsLst>
              <a:gs pos="55000">
                <a:srgbClr val="F50516"/>
              </a:gs>
              <a:gs pos="86000">
                <a:srgbClr val="C00000"/>
              </a:gs>
            </a:gsLst>
            <a:lin ang="5400000" scaled="0"/>
          </a:gradFill>
          <a:effectLst>
            <a:outerShdw blurRad="38100" dist="38100" dir="5400000" algn="ctr" rotWithShape="0">
              <a:schemeClr val="bg1">
                <a:lumMod val="50000"/>
              </a:schemeClr>
            </a:outerShdw>
          </a:effectLst>
          <a:latin typeface="Arial Black" pitchFamily="34" charset="0"/>
          <a:ea typeface="Verdana" pitchFamily="34" charset="0"/>
          <a:cs typeface="Verdana" pitchFamily="34" charset="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 b="1">
          <a:solidFill>
            <a:schemeClr val="tx1"/>
          </a:solidFill>
          <a:latin typeface="Arial Black" pitchFamily="34" charset="0"/>
          <a:ea typeface="Verdana" pitchFamily="34" charset="0"/>
          <a:cs typeface="Verdana" pitchFamily="34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rgbClr val="C00000"/>
          </a:solidFill>
          <a:latin typeface="Verdana" pitchFamily="34" charset="0"/>
          <a:ea typeface="Verdana" pitchFamily="34" charset="0"/>
          <a:cs typeface="Verdan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00000"/>
        </a:buClr>
        <a:defRPr sz="28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Blip>
          <a:blip r:embed="rId12"/>
        </a:buBlip>
        <a:defRPr sz="2800" b="1" kern="1200">
          <a:solidFill>
            <a:srgbClr val="FF0000"/>
          </a:solidFill>
          <a:latin typeface="Tahoma" pitchFamily="34" charset="0"/>
          <a:ea typeface="Tahoma" pitchFamily="34" charset="0"/>
          <a:cs typeface="Tahoma" pitchFamily="34" charset="0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Blip>
          <a:blip r:embed="rId13"/>
        </a:buBlip>
        <a:defRPr sz="2000" b="1" kern="1200">
          <a:solidFill>
            <a:srgbClr val="0070C0"/>
          </a:solidFill>
          <a:latin typeface="Tahoma" pitchFamily="34" charset="0"/>
          <a:ea typeface="Tahoma" pitchFamily="34" charset="0"/>
          <a:cs typeface="Tahoma" pitchFamily="34" charset="0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anose="05000000000000000000" pitchFamily="2" charset="2"/>
        <a:buChar char="§"/>
        <a:defRPr b="1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Arial" panose="020B0604020202020204" pitchFamily="34" charset="0"/>
        <a:buChar char="•"/>
        <a:defRPr sz="1600" kern="1200">
          <a:solidFill>
            <a:srgbClr val="404040"/>
          </a:solidFill>
          <a:latin typeface="Tahoma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6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ru-RU" spc="300" dirty="0" smtClean="0"/>
              <a:t>6 занятие</a:t>
            </a:r>
            <a:endParaRPr lang="ru-RU" spc="300" dirty="0"/>
          </a:p>
        </p:txBody>
      </p:sp>
      <p:sp>
        <p:nvSpPr>
          <p:cNvPr id="3" name="Объект 2"/>
          <p:cNvSpPr>
            <a:spLocks noGrp="1"/>
          </p:cNvSpPr>
          <p:nvPr>
            <p:ph type="subTitle" idx="1"/>
          </p:nvPr>
        </p:nvSpPr>
        <p:spPr>
          <a:xfrm>
            <a:off x="827584" y="1273772"/>
            <a:ext cx="7272808" cy="4603500"/>
          </a:xfrm>
        </p:spPr>
        <p:txBody>
          <a:bodyPr anchor="ctr">
            <a:normAutofit fontScale="55000" lnSpcReduction="2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Модальные и блокирующие окна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Динамический список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Клиент-серверные вызовы в Форме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>
                <a:solidFill>
                  <a:schemeClr val="tx2"/>
                </a:solidFill>
              </a:rPr>
              <a:t>Временное хранилище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Функциональные опции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Роли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План видов характеристик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Критерий отбора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Полнотекстовый поиск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Регламентные задания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Бизнес-процессы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ru-RU" sz="4500" dirty="0" smtClean="0">
                <a:solidFill>
                  <a:schemeClr val="tx2"/>
                </a:solidFill>
              </a:rPr>
              <a:t>Расширения конфигураций</a:t>
            </a:r>
          </a:p>
          <a:p>
            <a:endParaRPr lang="ru-RU" sz="24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6092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371600" y="4406900"/>
            <a:ext cx="7772400" cy="1362075"/>
          </a:xfrm>
        </p:spPr>
        <p:txBody>
          <a:bodyPr/>
          <a:lstStyle/>
          <a:p>
            <a:r>
              <a:rPr lang="ru-RU" dirty="0" smtClean="0"/>
              <a:t>Модальные и блокирующие окна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0348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176" y="1403373"/>
            <a:ext cx="8845679" cy="312799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511" y="548680"/>
            <a:ext cx="8801343" cy="852423"/>
          </a:xfrm>
        </p:spPr>
        <p:txBody>
          <a:bodyPr/>
          <a:lstStyle/>
          <a:p>
            <a:r>
              <a:rPr lang="ru-RU" dirty="0" smtClean="0"/>
              <a:t>Курсы валют</a:t>
            </a:r>
            <a:endParaRPr lang="ru-RU" dirty="0"/>
          </a:p>
        </p:txBody>
      </p:sp>
      <p:sp>
        <p:nvSpPr>
          <p:cNvPr id="5" name="Стрелка вниз 4"/>
          <p:cNvSpPr/>
          <p:nvPr/>
        </p:nvSpPr>
        <p:spPr>
          <a:xfrm>
            <a:off x="2987824" y="2204864"/>
            <a:ext cx="360040" cy="1008112"/>
          </a:xfrm>
          <a:prstGeom prst="downArrow">
            <a:avLst/>
          </a:prstGeom>
          <a:ln/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87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Текст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Динамический список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29588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03600" y="4294122"/>
            <a:ext cx="222073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 smtClean="0">
                <a:solidFill>
                  <a:schemeClr val="bg1">
                    <a:lumMod val="50000"/>
                  </a:schemeClr>
                </a:solidFill>
              </a:rPr>
              <a:t>1000</a:t>
            </a:r>
            <a:r>
              <a:rPr lang="ru-RU" sz="1200" dirty="0" smtClean="0">
                <a:solidFill>
                  <a:schemeClr val="bg1">
                    <a:lumMod val="65000"/>
                  </a:schemeClr>
                </a:solidFill>
              </a:rPr>
              <a:t>0</a:t>
            </a:r>
            <a:r>
              <a:rPr lang="ru-RU" sz="1200" dirty="0" smtClean="0">
                <a:solidFill>
                  <a:schemeClr val="bg1">
                    <a:lumMod val="75000"/>
                  </a:schemeClr>
                </a:solidFill>
              </a:rPr>
              <a:t>0</a:t>
            </a:r>
            <a:r>
              <a:rPr lang="ru-RU" sz="1200" dirty="0" smtClean="0">
                <a:solidFill>
                  <a:schemeClr val="bg1">
                    <a:lumMod val="85000"/>
                  </a:schemeClr>
                </a:solidFill>
              </a:rPr>
              <a:t>0</a:t>
            </a:r>
            <a:r>
              <a:rPr lang="ru-RU" sz="1200" dirty="0" smtClean="0">
                <a:solidFill>
                  <a:schemeClr val="bg1">
                    <a:lumMod val="95000"/>
                  </a:schemeClr>
                </a:solidFill>
              </a:rPr>
              <a:t>0</a:t>
            </a:r>
            <a:r>
              <a:rPr lang="ru-RU" sz="1200" dirty="0" smtClean="0">
                <a:solidFill>
                  <a:schemeClr val="bg1">
                    <a:lumMod val="50000"/>
                  </a:schemeClr>
                </a:solidFill>
              </a:rPr>
              <a:t> строк ТЧ документов</a:t>
            </a:r>
            <a:endParaRPr lang="ru-RU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1412776"/>
            <a:ext cx="5131596" cy="2839447"/>
          </a:xfrm>
          <a:prstGeom prst="rect">
            <a:avLst/>
          </a:prstGeom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1256" y="4688341"/>
            <a:ext cx="5145905" cy="1031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0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23528" y="692696"/>
            <a:ext cx="8568952" cy="1872208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2852936"/>
            <a:ext cx="8568952" cy="20159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4" name="Блок-схема: магнитный диск 3"/>
          <p:cNvSpPr/>
          <p:nvPr/>
        </p:nvSpPr>
        <p:spPr>
          <a:xfrm>
            <a:off x="1835696" y="5013176"/>
            <a:ext cx="5544616" cy="1322952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419872" y="5589240"/>
            <a:ext cx="2376264" cy="64807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с данными</a:t>
            </a:r>
          </a:p>
          <a:p>
            <a:pPr algn="ctr"/>
            <a:r>
              <a:rPr lang="ru-RU" dirty="0" smtClean="0"/>
              <a:t>(1 000 000 000 строк)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75856" y="1052736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для показа данных (</a:t>
            </a:r>
            <a:r>
              <a:rPr lang="en-US" dirty="0" smtClean="0"/>
              <a:t>~</a:t>
            </a:r>
            <a:r>
              <a:rPr lang="ru-RU" dirty="0" smtClean="0"/>
              <a:t>30</a:t>
            </a:r>
            <a:r>
              <a:rPr lang="en-US" dirty="0" smtClean="0"/>
              <a:t> </a:t>
            </a:r>
            <a:r>
              <a:rPr lang="ru-RU" dirty="0" smtClean="0"/>
              <a:t>строк)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62609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23528" y="692696"/>
            <a:ext cx="8568952" cy="1872208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2852936"/>
            <a:ext cx="8568952" cy="20159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4" name="Блок-схема: магнитный диск 3"/>
          <p:cNvSpPr/>
          <p:nvPr/>
        </p:nvSpPr>
        <p:spPr>
          <a:xfrm>
            <a:off x="1835696" y="5013176"/>
            <a:ext cx="5544616" cy="1322952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419872" y="5589240"/>
            <a:ext cx="2376264" cy="64807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с данными</a:t>
            </a:r>
          </a:p>
          <a:p>
            <a:pPr algn="ctr"/>
            <a:r>
              <a:rPr lang="ru-RU" dirty="0" smtClean="0"/>
              <a:t>(1 000 000 000 строк)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1403648" y="1052028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для показа данных (</a:t>
            </a:r>
            <a:r>
              <a:rPr lang="en-US" dirty="0" smtClean="0"/>
              <a:t>~</a:t>
            </a:r>
            <a:r>
              <a:rPr lang="ru-RU" dirty="0" smtClean="0"/>
              <a:t>30</a:t>
            </a:r>
            <a:r>
              <a:rPr lang="en-US" dirty="0" smtClean="0"/>
              <a:t> </a:t>
            </a:r>
            <a:r>
              <a:rPr lang="ru-RU" dirty="0" smtClean="0"/>
              <a:t>строк)</a:t>
            </a:r>
            <a:endParaRPr lang="ru-RU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4788024" y="3428872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Читаем 30 строк</a:t>
            </a:r>
            <a:endParaRPr lang="ru-RU" dirty="0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788024" y="1052028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Для показа 30 строк</a:t>
            </a:r>
            <a:endParaRPr lang="ru-RU" dirty="0"/>
          </a:p>
        </p:txBody>
      </p:sp>
      <p:sp>
        <p:nvSpPr>
          <p:cNvPr id="12" name="Стрелка вверх 11"/>
          <p:cNvSpPr/>
          <p:nvPr/>
        </p:nvSpPr>
        <p:spPr>
          <a:xfrm>
            <a:off x="5220072" y="4509120"/>
            <a:ext cx="288032" cy="1080120"/>
          </a:xfrm>
          <a:prstGeom prst="up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верх 12"/>
          <p:cNvSpPr/>
          <p:nvPr/>
        </p:nvSpPr>
        <p:spPr>
          <a:xfrm>
            <a:off x="5214030" y="2191135"/>
            <a:ext cx="294073" cy="1080120"/>
          </a:xfrm>
          <a:prstGeom prst="up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трелка влево 13"/>
          <p:cNvSpPr/>
          <p:nvPr/>
        </p:nvSpPr>
        <p:spPr>
          <a:xfrm>
            <a:off x="3984924" y="1376064"/>
            <a:ext cx="720080" cy="36004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886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23528" y="692696"/>
            <a:ext cx="8568952" cy="1872208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2852936"/>
            <a:ext cx="8568952" cy="20159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4" name="Блок-схема: магнитный диск 3"/>
          <p:cNvSpPr/>
          <p:nvPr/>
        </p:nvSpPr>
        <p:spPr>
          <a:xfrm>
            <a:off x="1835696" y="5013176"/>
            <a:ext cx="5544616" cy="1322952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419872" y="5589240"/>
            <a:ext cx="2376264" cy="64807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с данными</a:t>
            </a:r>
          </a:p>
          <a:p>
            <a:pPr algn="ctr"/>
            <a:r>
              <a:rPr lang="ru-RU" dirty="0" smtClean="0"/>
              <a:t>(1 000 000 000 строк)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1403648" y="1052028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для показа данных (</a:t>
            </a:r>
            <a:r>
              <a:rPr lang="en-US" dirty="0" smtClean="0"/>
              <a:t>~</a:t>
            </a:r>
            <a:r>
              <a:rPr lang="ru-RU" dirty="0" smtClean="0"/>
              <a:t>30</a:t>
            </a:r>
            <a:r>
              <a:rPr lang="en-US" dirty="0" smtClean="0"/>
              <a:t> </a:t>
            </a:r>
            <a:r>
              <a:rPr lang="ru-RU" dirty="0" smtClean="0"/>
              <a:t>строк)</a:t>
            </a:r>
            <a:endParaRPr lang="ru-RU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4788024" y="3428872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Дочитывает по 1 строке</a:t>
            </a:r>
            <a:endParaRPr lang="ru-RU" dirty="0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788024" y="1052028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Для показа плюс </a:t>
            </a:r>
            <a:r>
              <a:rPr lang="ru-RU" dirty="0"/>
              <a:t>1 </a:t>
            </a:r>
            <a:r>
              <a:rPr lang="ru-RU" dirty="0" smtClean="0"/>
              <a:t>строка</a:t>
            </a:r>
            <a:endParaRPr lang="ru-RU" dirty="0"/>
          </a:p>
        </p:txBody>
      </p:sp>
      <p:sp>
        <p:nvSpPr>
          <p:cNvPr id="11" name="Стрелка вверх 10"/>
          <p:cNvSpPr/>
          <p:nvPr/>
        </p:nvSpPr>
        <p:spPr>
          <a:xfrm>
            <a:off x="5220072" y="4509120"/>
            <a:ext cx="288032" cy="1080120"/>
          </a:xfrm>
          <a:prstGeom prst="up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верх 11"/>
          <p:cNvSpPr/>
          <p:nvPr/>
        </p:nvSpPr>
        <p:spPr>
          <a:xfrm>
            <a:off x="5214030" y="2191135"/>
            <a:ext cx="294073" cy="1080120"/>
          </a:xfrm>
          <a:prstGeom prst="up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лево 12"/>
          <p:cNvSpPr/>
          <p:nvPr/>
        </p:nvSpPr>
        <p:spPr>
          <a:xfrm>
            <a:off x="3984924" y="1376064"/>
            <a:ext cx="720080" cy="36004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4857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23528" y="692696"/>
            <a:ext cx="8568952" cy="1872208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2852936"/>
            <a:ext cx="8568952" cy="20159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4" name="Блок-схема: магнитный диск 3"/>
          <p:cNvSpPr/>
          <p:nvPr/>
        </p:nvSpPr>
        <p:spPr>
          <a:xfrm>
            <a:off x="1835696" y="5013176"/>
            <a:ext cx="5544616" cy="1322952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419872" y="5589240"/>
            <a:ext cx="2376264" cy="64807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с данными</a:t>
            </a:r>
          </a:p>
          <a:p>
            <a:pPr algn="ctr"/>
            <a:r>
              <a:rPr lang="ru-RU" dirty="0" smtClean="0"/>
              <a:t>(1 000 000 000 строк)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1403648" y="1052028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для показа данных (</a:t>
            </a:r>
            <a:r>
              <a:rPr lang="en-US" dirty="0" smtClean="0"/>
              <a:t>~</a:t>
            </a:r>
            <a:r>
              <a:rPr lang="ru-RU" dirty="0" smtClean="0"/>
              <a:t>30</a:t>
            </a:r>
            <a:r>
              <a:rPr lang="en-US" dirty="0" smtClean="0"/>
              <a:t> </a:t>
            </a:r>
            <a:r>
              <a:rPr lang="ru-RU" dirty="0" smtClean="0"/>
              <a:t>строк)</a:t>
            </a:r>
            <a:endParaRPr lang="ru-RU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4788024" y="3428872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Читаем 1 000 000 000 строк</a:t>
            </a:r>
            <a:endParaRPr lang="ru-RU" dirty="0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788024" y="1052028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Для показа 1 000 000 000 строк</a:t>
            </a:r>
            <a:endParaRPr lang="ru-RU" dirty="0"/>
          </a:p>
        </p:txBody>
      </p:sp>
      <p:sp>
        <p:nvSpPr>
          <p:cNvPr id="10" name="Стрелка вверх 9"/>
          <p:cNvSpPr/>
          <p:nvPr/>
        </p:nvSpPr>
        <p:spPr>
          <a:xfrm>
            <a:off x="5220072" y="4509120"/>
            <a:ext cx="288032" cy="1080120"/>
          </a:xfrm>
          <a:prstGeom prst="up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 вверх 10"/>
          <p:cNvSpPr/>
          <p:nvPr/>
        </p:nvSpPr>
        <p:spPr>
          <a:xfrm>
            <a:off x="5214030" y="2191135"/>
            <a:ext cx="294073" cy="1080120"/>
          </a:xfrm>
          <a:prstGeom prst="up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лево 11"/>
          <p:cNvSpPr/>
          <p:nvPr/>
        </p:nvSpPr>
        <p:spPr>
          <a:xfrm>
            <a:off x="3984924" y="1376064"/>
            <a:ext cx="720080" cy="360040"/>
          </a:xfrm>
          <a:prstGeom prst="lef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0603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23528" y="692696"/>
            <a:ext cx="8568952" cy="1872208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2852936"/>
            <a:ext cx="8568952" cy="20159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4" name="Блок-схема: магнитный диск 3"/>
          <p:cNvSpPr/>
          <p:nvPr/>
        </p:nvSpPr>
        <p:spPr>
          <a:xfrm>
            <a:off x="1835696" y="5013176"/>
            <a:ext cx="5544616" cy="1322952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419872" y="5589240"/>
            <a:ext cx="2376264" cy="64807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с данными</a:t>
            </a:r>
          </a:p>
          <a:p>
            <a:pPr algn="ctr"/>
            <a:r>
              <a:rPr lang="ru-RU" dirty="0" smtClean="0"/>
              <a:t>(1 000 000 000 строк)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1403648" y="1052028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для показа данных (</a:t>
            </a:r>
            <a:r>
              <a:rPr lang="en-US" dirty="0" smtClean="0"/>
              <a:t>~</a:t>
            </a:r>
            <a:r>
              <a:rPr lang="ru-RU" dirty="0" smtClean="0"/>
              <a:t>30</a:t>
            </a:r>
            <a:r>
              <a:rPr lang="en-US" dirty="0" smtClean="0"/>
              <a:t> </a:t>
            </a:r>
            <a:r>
              <a:rPr lang="ru-RU" dirty="0" smtClean="0"/>
              <a:t>строк)</a:t>
            </a:r>
            <a:endParaRPr lang="ru-RU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4788024" y="3428872"/>
            <a:ext cx="2520280" cy="100811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Читаем 1 000  строк</a:t>
            </a:r>
            <a:endParaRPr lang="ru-RU" dirty="0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788024" y="1052028"/>
            <a:ext cx="2520280" cy="100811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Для показа 1 000  строк</a:t>
            </a:r>
            <a:endParaRPr lang="ru-RU" dirty="0"/>
          </a:p>
        </p:txBody>
      </p:sp>
      <p:sp>
        <p:nvSpPr>
          <p:cNvPr id="10" name="Стрелка вверх 9"/>
          <p:cNvSpPr/>
          <p:nvPr/>
        </p:nvSpPr>
        <p:spPr>
          <a:xfrm>
            <a:off x="5220072" y="4509120"/>
            <a:ext cx="288032" cy="1080120"/>
          </a:xfrm>
          <a:prstGeom prst="up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 вверх 10"/>
          <p:cNvSpPr/>
          <p:nvPr/>
        </p:nvSpPr>
        <p:spPr>
          <a:xfrm>
            <a:off x="5214030" y="2191135"/>
            <a:ext cx="294073" cy="1080120"/>
          </a:xfrm>
          <a:prstGeom prst="up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лево 11"/>
          <p:cNvSpPr/>
          <p:nvPr/>
        </p:nvSpPr>
        <p:spPr>
          <a:xfrm>
            <a:off x="3984924" y="1376064"/>
            <a:ext cx="720080" cy="360040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7483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/>
          <p:cNvSpPr/>
          <p:nvPr/>
        </p:nvSpPr>
        <p:spPr>
          <a:xfrm>
            <a:off x="323528" y="692696"/>
            <a:ext cx="8568952" cy="1872208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23528" y="2852936"/>
            <a:ext cx="8568952" cy="201596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4" name="Блок-схема: магнитный диск 3"/>
          <p:cNvSpPr/>
          <p:nvPr/>
        </p:nvSpPr>
        <p:spPr>
          <a:xfrm>
            <a:off x="1835696" y="5013176"/>
            <a:ext cx="5544616" cy="1322952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419872" y="5589240"/>
            <a:ext cx="2376264" cy="64807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с данными</a:t>
            </a:r>
          </a:p>
          <a:p>
            <a:pPr algn="ctr"/>
            <a:r>
              <a:rPr lang="ru-RU" dirty="0" smtClean="0"/>
              <a:t>(1 000 000 000 строк)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1403648" y="1052028"/>
            <a:ext cx="2520280" cy="1008112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Таблица для показа данных (</a:t>
            </a:r>
            <a:r>
              <a:rPr lang="en-US" dirty="0" smtClean="0"/>
              <a:t>~</a:t>
            </a:r>
            <a:r>
              <a:rPr lang="ru-RU" dirty="0" smtClean="0"/>
              <a:t>30</a:t>
            </a:r>
            <a:r>
              <a:rPr lang="en-US" dirty="0" smtClean="0"/>
              <a:t> </a:t>
            </a:r>
            <a:r>
              <a:rPr lang="ru-RU" dirty="0" smtClean="0"/>
              <a:t>строк)</a:t>
            </a:r>
            <a:endParaRPr lang="ru-RU" dirty="0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4788024" y="3428872"/>
            <a:ext cx="2520280" cy="100811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Дочитывает по 1 000 строке</a:t>
            </a:r>
            <a:endParaRPr lang="ru-RU" dirty="0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788024" y="1052028"/>
            <a:ext cx="2520280" cy="1008112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Для показа плюс 1 000 строка</a:t>
            </a:r>
            <a:endParaRPr lang="ru-RU" dirty="0"/>
          </a:p>
        </p:txBody>
      </p:sp>
      <p:sp>
        <p:nvSpPr>
          <p:cNvPr id="10" name="Стрелка вверх 9"/>
          <p:cNvSpPr/>
          <p:nvPr/>
        </p:nvSpPr>
        <p:spPr>
          <a:xfrm>
            <a:off x="5220072" y="4509120"/>
            <a:ext cx="288032" cy="1080120"/>
          </a:xfrm>
          <a:prstGeom prst="up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трелка вверх 10"/>
          <p:cNvSpPr/>
          <p:nvPr/>
        </p:nvSpPr>
        <p:spPr>
          <a:xfrm>
            <a:off x="5214030" y="2191135"/>
            <a:ext cx="294073" cy="1080120"/>
          </a:xfrm>
          <a:prstGeom prst="up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трелка влево 11"/>
          <p:cNvSpPr/>
          <p:nvPr/>
        </p:nvSpPr>
        <p:spPr>
          <a:xfrm>
            <a:off x="3984924" y="1376064"/>
            <a:ext cx="720080" cy="360040"/>
          </a:xfrm>
          <a:prstGeom prst="leftArrow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4681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Таблица формы – динамический список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5437869"/>
              </p:ext>
            </p:extLst>
          </p:nvPr>
        </p:nvGraphicFramePr>
        <p:xfrm>
          <a:off x="5004048" y="1628800"/>
          <a:ext cx="3968070" cy="47354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628">
                  <a:extLst>
                    <a:ext uri="{9D8B030D-6E8A-4147-A177-3AD203B41FA5}">
                      <a16:colId xmlns:a16="http://schemas.microsoft.com/office/drawing/2014/main" val="2417241233"/>
                    </a:ext>
                  </a:extLst>
                </a:gridCol>
                <a:gridCol w="509310">
                  <a:extLst>
                    <a:ext uri="{9D8B030D-6E8A-4147-A177-3AD203B41FA5}">
                      <a16:colId xmlns:a16="http://schemas.microsoft.com/office/drawing/2014/main" val="2614918726"/>
                    </a:ext>
                  </a:extLst>
                </a:gridCol>
                <a:gridCol w="1448500">
                  <a:extLst>
                    <a:ext uri="{9D8B030D-6E8A-4147-A177-3AD203B41FA5}">
                      <a16:colId xmlns:a16="http://schemas.microsoft.com/office/drawing/2014/main" val="1563826823"/>
                    </a:ext>
                  </a:extLst>
                </a:gridCol>
                <a:gridCol w="1182632">
                  <a:extLst>
                    <a:ext uri="{9D8B030D-6E8A-4147-A177-3AD203B41FA5}">
                      <a16:colId xmlns:a16="http://schemas.microsoft.com/office/drawing/2014/main" val="3132924762"/>
                    </a:ext>
                  </a:extLst>
                </a:gridCol>
              </a:tblGrid>
              <a:tr h="649963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Ссылка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Код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Наименование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Буквенный код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609429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&lt;111&gt;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1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Первый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One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9648580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&lt;222&gt;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2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Второй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Two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16971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&lt;333&gt;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3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Третий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Three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985436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&lt;444&gt;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4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Четвертый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Four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2638605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&lt;555&gt;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5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Пятый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Five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67361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&lt;666&gt;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6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Шестой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Six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11361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&lt;777&gt;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7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Седьмой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Seven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673323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&lt;888&gt;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8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Восьмой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Eight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61273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&lt;999&gt;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9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Девятый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Nine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4762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&lt;101&gt;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10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Десятый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Ten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67134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669759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957049"/>
              </p:ext>
            </p:extLst>
          </p:nvPr>
        </p:nvGraphicFramePr>
        <p:xfrm>
          <a:off x="188119" y="1628800"/>
          <a:ext cx="4616144" cy="213559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62798">
                  <a:extLst>
                    <a:ext uri="{9D8B030D-6E8A-4147-A177-3AD203B41FA5}">
                      <a16:colId xmlns:a16="http://schemas.microsoft.com/office/drawing/2014/main" val="837789689"/>
                    </a:ext>
                  </a:extLst>
                </a:gridCol>
                <a:gridCol w="592491">
                  <a:extLst>
                    <a:ext uri="{9D8B030D-6E8A-4147-A177-3AD203B41FA5}">
                      <a16:colId xmlns:a16="http://schemas.microsoft.com/office/drawing/2014/main" val="1765076859"/>
                    </a:ext>
                  </a:extLst>
                </a:gridCol>
                <a:gridCol w="1685073">
                  <a:extLst>
                    <a:ext uri="{9D8B030D-6E8A-4147-A177-3AD203B41FA5}">
                      <a16:colId xmlns:a16="http://schemas.microsoft.com/office/drawing/2014/main" val="1097460054"/>
                    </a:ext>
                  </a:extLst>
                </a:gridCol>
                <a:gridCol w="1375782">
                  <a:extLst>
                    <a:ext uri="{9D8B030D-6E8A-4147-A177-3AD203B41FA5}">
                      <a16:colId xmlns:a16="http://schemas.microsoft.com/office/drawing/2014/main" val="1640747347"/>
                    </a:ext>
                  </a:extLst>
                </a:gridCol>
              </a:tblGrid>
              <a:tr h="649963">
                <a:tc>
                  <a:txBody>
                    <a:bodyPr/>
                    <a:lstStyle/>
                    <a:p>
                      <a:r>
                        <a:rPr lang="ru-RU" dirty="0" smtClean="0"/>
                        <a:t>Ссылка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Код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Наименование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Буквенный код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021012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&lt;111&gt;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Первый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One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27056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&lt;222&gt;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Второй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Two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10505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&lt;333&gt;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Третий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Three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10309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&lt;444&gt;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Четвертый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Four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964478"/>
                  </a:ext>
                </a:extLst>
              </a:tr>
            </a:tbl>
          </a:graphicData>
        </a:graphic>
      </p:graphicFrame>
      <p:sp>
        <p:nvSpPr>
          <p:cNvPr id="5" name="Стрелка углом 4"/>
          <p:cNvSpPr/>
          <p:nvPr/>
        </p:nvSpPr>
        <p:spPr>
          <a:xfrm rot="16200000">
            <a:off x="2671907" y="3456884"/>
            <a:ext cx="1656184" cy="2608527"/>
          </a:xfrm>
          <a:prstGeom prst="bentArrow">
            <a:avLst>
              <a:gd name="adj1" fmla="val 15464"/>
              <a:gd name="adj2" fmla="val 19981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153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Таблица формы – динамический список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259762"/>
              </p:ext>
            </p:extLst>
          </p:nvPr>
        </p:nvGraphicFramePr>
        <p:xfrm>
          <a:off x="5004048" y="1628800"/>
          <a:ext cx="2785438" cy="47354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628">
                  <a:extLst>
                    <a:ext uri="{9D8B030D-6E8A-4147-A177-3AD203B41FA5}">
                      <a16:colId xmlns:a16="http://schemas.microsoft.com/office/drawing/2014/main" val="2417241233"/>
                    </a:ext>
                  </a:extLst>
                </a:gridCol>
                <a:gridCol w="509310">
                  <a:extLst>
                    <a:ext uri="{9D8B030D-6E8A-4147-A177-3AD203B41FA5}">
                      <a16:colId xmlns:a16="http://schemas.microsoft.com/office/drawing/2014/main" val="2614918726"/>
                    </a:ext>
                  </a:extLst>
                </a:gridCol>
                <a:gridCol w="1448500">
                  <a:extLst>
                    <a:ext uri="{9D8B030D-6E8A-4147-A177-3AD203B41FA5}">
                      <a16:colId xmlns:a16="http://schemas.microsoft.com/office/drawing/2014/main" val="1563826823"/>
                    </a:ext>
                  </a:extLst>
                </a:gridCol>
              </a:tblGrid>
              <a:tr h="649963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Ссылка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Код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Наименование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609429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&lt;111&gt;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1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Первый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9648580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&lt;222&gt;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2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Второй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16971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&lt;333&gt;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3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Третий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985436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&lt;444&gt;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4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Четвертый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2638605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&lt;555&gt;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5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Пятый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67361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&lt;666&gt;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6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Шестой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11361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&lt;777&gt;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7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Седьмой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673323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&lt;888&gt;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8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Восьмой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61273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&lt;999&gt;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9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Девятый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4762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&lt;101&gt;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10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Десятый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67134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669759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516282"/>
              </p:ext>
            </p:extLst>
          </p:nvPr>
        </p:nvGraphicFramePr>
        <p:xfrm>
          <a:off x="188119" y="1628800"/>
          <a:ext cx="3240362" cy="213559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62798">
                  <a:extLst>
                    <a:ext uri="{9D8B030D-6E8A-4147-A177-3AD203B41FA5}">
                      <a16:colId xmlns:a16="http://schemas.microsoft.com/office/drawing/2014/main" val="837789689"/>
                    </a:ext>
                  </a:extLst>
                </a:gridCol>
                <a:gridCol w="592491">
                  <a:extLst>
                    <a:ext uri="{9D8B030D-6E8A-4147-A177-3AD203B41FA5}">
                      <a16:colId xmlns:a16="http://schemas.microsoft.com/office/drawing/2014/main" val="1765076859"/>
                    </a:ext>
                  </a:extLst>
                </a:gridCol>
                <a:gridCol w="1685073">
                  <a:extLst>
                    <a:ext uri="{9D8B030D-6E8A-4147-A177-3AD203B41FA5}">
                      <a16:colId xmlns:a16="http://schemas.microsoft.com/office/drawing/2014/main" val="1097460054"/>
                    </a:ext>
                  </a:extLst>
                </a:gridCol>
              </a:tblGrid>
              <a:tr h="649963">
                <a:tc>
                  <a:txBody>
                    <a:bodyPr/>
                    <a:lstStyle/>
                    <a:p>
                      <a:r>
                        <a:rPr lang="ru-RU" dirty="0" smtClean="0"/>
                        <a:t>Ссылка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Код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Наименование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021012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&lt;111&gt;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Первый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27056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&lt;222&gt;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Второй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10505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&lt;333&gt;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Третий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10309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&lt;444&gt;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Четвертый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964478"/>
                  </a:ext>
                </a:extLst>
              </a:tr>
            </a:tbl>
          </a:graphicData>
        </a:graphic>
      </p:graphicFrame>
      <p:sp>
        <p:nvSpPr>
          <p:cNvPr id="5" name="Стрелка углом 4"/>
          <p:cNvSpPr/>
          <p:nvPr/>
        </p:nvSpPr>
        <p:spPr>
          <a:xfrm rot="16200000">
            <a:off x="2671907" y="3456884"/>
            <a:ext cx="1656184" cy="2608527"/>
          </a:xfrm>
          <a:prstGeom prst="bentArrow">
            <a:avLst>
              <a:gd name="adj1" fmla="val 15464"/>
              <a:gd name="adj2" fmla="val 19981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4242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/>
              <a:t>Таблица формы – динамический список</a:t>
            </a:r>
            <a:endParaRPr lang="ru-RU" dirty="0"/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/>
        </p:nvGraphicFramePr>
        <p:xfrm>
          <a:off x="5004048" y="1628800"/>
          <a:ext cx="3968070" cy="47354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7628">
                  <a:extLst>
                    <a:ext uri="{9D8B030D-6E8A-4147-A177-3AD203B41FA5}">
                      <a16:colId xmlns:a16="http://schemas.microsoft.com/office/drawing/2014/main" val="2417241233"/>
                    </a:ext>
                  </a:extLst>
                </a:gridCol>
                <a:gridCol w="509310">
                  <a:extLst>
                    <a:ext uri="{9D8B030D-6E8A-4147-A177-3AD203B41FA5}">
                      <a16:colId xmlns:a16="http://schemas.microsoft.com/office/drawing/2014/main" val="2614918726"/>
                    </a:ext>
                  </a:extLst>
                </a:gridCol>
                <a:gridCol w="1448500">
                  <a:extLst>
                    <a:ext uri="{9D8B030D-6E8A-4147-A177-3AD203B41FA5}">
                      <a16:colId xmlns:a16="http://schemas.microsoft.com/office/drawing/2014/main" val="1563826823"/>
                    </a:ext>
                  </a:extLst>
                </a:gridCol>
                <a:gridCol w="1182632">
                  <a:extLst>
                    <a:ext uri="{9D8B030D-6E8A-4147-A177-3AD203B41FA5}">
                      <a16:colId xmlns:a16="http://schemas.microsoft.com/office/drawing/2014/main" val="3132924762"/>
                    </a:ext>
                  </a:extLst>
                </a:gridCol>
              </a:tblGrid>
              <a:tr h="649963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Ссылка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Код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Наименование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Буквенный код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609429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&lt;111&gt;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1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Первый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One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09648580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&lt;222&gt;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2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Второй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Two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116971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&lt;333&gt;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3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Третий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Three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985436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&lt;444&gt;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4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Четвертый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Four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2638605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&lt;555&gt;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5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Пятый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Five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67361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&lt;666&gt;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6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Шестой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Six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611361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&lt;777&gt;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7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Седьмой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Seven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673323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&lt;888&gt;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8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Восьмой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Eight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261273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&lt;999&gt;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9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Девятый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Nine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4762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&lt;101&gt;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10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Десятый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smtClean="0"/>
                        <a:t>Ten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767134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400" dirty="0" smtClean="0"/>
                        <a:t>..</a:t>
                      </a:r>
                      <a:endParaRPr lang="ru-RU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2669759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256349"/>
              </p:ext>
            </p:extLst>
          </p:nvPr>
        </p:nvGraphicFramePr>
        <p:xfrm>
          <a:off x="188119" y="1628800"/>
          <a:ext cx="3240362" cy="2135595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962798">
                  <a:extLst>
                    <a:ext uri="{9D8B030D-6E8A-4147-A177-3AD203B41FA5}">
                      <a16:colId xmlns:a16="http://schemas.microsoft.com/office/drawing/2014/main" val="837789689"/>
                    </a:ext>
                  </a:extLst>
                </a:gridCol>
                <a:gridCol w="592491">
                  <a:extLst>
                    <a:ext uri="{9D8B030D-6E8A-4147-A177-3AD203B41FA5}">
                      <a16:colId xmlns:a16="http://schemas.microsoft.com/office/drawing/2014/main" val="1765076859"/>
                    </a:ext>
                  </a:extLst>
                </a:gridCol>
                <a:gridCol w="1685073">
                  <a:extLst>
                    <a:ext uri="{9D8B030D-6E8A-4147-A177-3AD203B41FA5}">
                      <a16:colId xmlns:a16="http://schemas.microsoft.com/office/drawing/2014/main" val="1097460054"/>
                    </a:ext>
                  </a:extLst>
                </a:gridCol>
              </a:tblGrid>
              <a:tr h="649963">
                <a:tc>
                  <a:txBody>
                    <a:bodyPr/>
                    <a:lstStyle/>
                    <a:p>
                      <a:r>
                        <a:rPr lang="ru-RU" dirty="0" smtClean="0"/>
                        <a:t>Ссылка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Код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Наименование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7021012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&lt;111&gt;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1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Первый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27056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&lt;222&gt;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2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Второй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105054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&lt;333&gt;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Третий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103091"/>
                  </a:ext>
                </a:extLst>
              </a:tr>
              <a:tr h="371408">
                <a:tc>
                  <a:txBody>
                    <a:bodyPr/>
                    <a:lstStyle/>
                    <a:p>
                      <a:r>
                        <a:rPr lang="ru-RU" dirty="0" smtClean="0"/>
                        <a:t>&lt;444&gt;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4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Четвертый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964478"/>
                  </a:ext>
                </a:extLst>
              </a:tr>
            </a:tbl>
          </a:graphicData>
        </a:graphic>
      </p:graphicFrame>
      <p:sp>
        <p:nvSpPr>
          <p:cNvPr id="5" name="Стрелка углом 4"/>
          <p:cNvSpPr/>
          <p:nvPr/>
        </p:nvSpPr>
        <p:spPr>
          <a:xfrm rot="16200000">
            <a:off x="2671907" y="3456884"/>
            <a:ext cx="1656184" cy="2608527"/>
          </a:xfrm>
          <a:prstGeom prst="bentArrow">
            <a:avLst>
              <a:gd name="adj1" fmla="val 15464"/>
              <a:gd name="adj2" fmla="val 19981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Выноска 1 5"/>
          <p:cNvSpPr/>
          <p:nvPr/>
        </p:nvSpPr>
        <p:spPr>
          <a:xfrm>
            <a:off x="4283968" y="1120775"/>
            <a:ext cx="2736304" cy="292001"/>
          </a:xfrm>
          <a:prstGeom prst="borderCallout1">
            <a:avLst>
              <a:gd name="adj1" fmla="val 1669"/>
              <a:gd name="adj2" fmla="val 100729"/>
              <a:gd name="adj3" fmla="val 169436"/>
              <a:gd name="adj4" fmla="val 152753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V  </a:t>
            </a:r>
            <a:r>
              <a:rPr lang="ru-RU" dirty="0" smtClean="0"/>
              <a:t>Использовать всегда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35653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ru-RU" dirty="0" smtClean="0"/>
              <a:t>Клиент серверные вызовы </a:t>
            </a:r>
            <a:r>
              <a:rPr lang="ru-RU" smtClean="0"/>
              <a:t>в форме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814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en-US" dirty="0" smtClean="0"/>
              <a:t>&amp;</a:t>
            </a:r>
            <a:r>
              <a:rPr lang="ru-RU" dirty="0" smtClean="0"/>
              <a:t>На сервере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Вызов процедуры или функции с директивой компиляции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67955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4788022" y="1556792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/>
              <a:t>К</a:t>
            </a:r>
            <a:r>
              <a:rPr lang="ru-RU" i="1" dirty="0" smtClean="0"/>
              <a:t>онтекстный вызов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4282431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3" name="Стрелка вниз 2"/>
          <p:cNvSpPr/>
          <p:nvPr/>
        </p:nvSpPr>
        <p:spPr>
          <a:xfrm>
            <a:off x="7200292" y="2888940"/>
            <a:ext cx="504000" cy="1044000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6377926" y="3070701"/>
            <a:ext cx="1968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/>
              <a:t>Синхронизация данных формы</a:t>
            </a:r>
          </a:p>
        </p:txBody>
      </p:sp>
    </p:spTree>
    <p:extLst>
      <p:ext uri="{BB962C8B-B14F-4D97-AF65-F5344CB8AC3E}">
        <p14:creationId xmlns:p14="http://schemas.microsoft.com/office/powerpoint/2010/main" val="41403035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repeatCount="3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7000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8" name="Стрелка углом 7"/>
          <p:cNvSpPr/>
          <p:nvPr/>
        </p:nvSpPr>
        <p:spPr>
          <a:xfrm rot="10800000" flipH="1">
            <a:off x="4995861" y="1804378"/>
            <a:ext cx="576065" cy="4216909"/>
          </a:xfrm>
          <a:prstGeom prst="ben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34300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 smtClean="0"/>
          </a:p>
          <a:p>
            <a:r>
              <a:rPr lang="ru-RU" i="1" dirty="0" smtClean="0"/>
              <a:t>Выполнение действий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8777828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4" name="Стрелка вверх 3"/>
          <p:cNvSpPr/>
          <p:nvPr/>
        </p:nvSpPr>
        <p:spPr>
          <a:xfrm>
            <a:off x="6661677" y="2888940"/>
            <a:ext cx="504000" cy="1044000"/>
          </a:xfrm>
          <a:prstGeom prst="up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5629591" y="3039343"/>
            <a:ext cx="23042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b="1" dirty="0" smtClean="0"/>
              <a:t>Возврат перерисованной формы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770459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repeatCount="3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7" name="Стрелка углом 16"/>
          <p:cNvSpPr/>
          <p:nvPr/>
        </p:nvSpPr>
        <p:spPr>
          <a:xfrm flipH="1">
            <a:off x="7255018" y="1484784"/>
            <a:ext cx="538615" cy="4261594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74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4788021" y="1481213"/>
            <a:ext cx="2736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 smtClean="0"/>
              <a:t>Продолжение выполнения кода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075456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en-US" dirty="0" smtClean="0"/>
              <a:t>&amp;</a:t>
            </a:r>
            <a:r>
              <a:rPr lang="ru-RU" dirty="0" smtClean="0"/>
              <a:t>На сервере без контекста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Вызов процедуры или функции с директивой компиляции</a:t>
            </a:r>
          </a:p>
        </p:txBody>
      </p:sp>
    </p:spTree>
    <p:extLst>
      <p:ext uri="{BB962C8B-B14F-4D97-AF65-F5344CB8AC3E}">
        <p14:creationId xmlns:p14="http://schemas.microsoft.com/office/powerpoint/2010/main" val="1925910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3" name="TextBox 2"/>
          <p:cNvSpPr txBox="1"/>
          <p:nvPr/>
        </p:nvSpPr>
        <p:spPr>
          <a:xfrm>
            <a:off x="4788022" y="1556792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 smtClean="0"/>
              <a:t>Вне контекстный вызов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668691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539551" y="4306378"/>
            <a:ext cx="3960000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НаСервереБезКонтекста</a:t>
            </a:r>
            <a:endParaRPr lang="ru-RU" b="1" dirty="0"/>
          </a:p>
        </p:txBody>
      </p:sp>
    </p:spTree>
    <p:extLst>
      <p:ext uri="{BB962C8B-B14F-4D97-AF65-F5344CB8AC3E}">
        <p14:creationId xmlns:p14="http://schemas.microsoft.com/office/powerpoint/2010/main" val="997845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539551" y="4306378"/>
            <a:ext cx="3960000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НаСервереБезКонтекста</a:t>
            </a:r>
            <a:endParaRPr lang="ru-RU" b="1" dirty="0"/>
          </a:p>
        </p:txBody>
      </p:sp>
      <p:sp>
        <p:nvSpPr>
          <p:cNvPr id="8" name="Стрелка углом 7"/>
          <p:cNvSpPr/>
          <p:nvPr/>
        </p:nvSpPr>
        <p:spPr>
          <a:xfrm rot="10800000">
            <a:off x="4427983" y="1804376"/>
            <a:ext cx="567877" cy="3712775"/>
          </a:xfrm>
          <a:prstGeom prst="ben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27233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539551" y="4306378"/>
            <a:ext cx="3960000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НаСервереБезКонтекста</a:t>
            </a:r>
            <a:endParaRPr lang="ru-RU" b="1" dirty="0"/>
          </a:p>
        </p:txBody>
      </p:sp>
      <p:sp>
        <p:nvSpPr>
          <p:cNvPr id="3" name="TextBox 2"/>
          <p:cNvSpPr txBox="1"/>
          <p:nvPr/>
        </p:nvSpPr>
        <p:spPr>
          <a:xfrm>
            <a:off x="683568" y="5229200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 smtClean="0"/>
              <a:t>Выполнение действий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163863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539551" y="4306378"/>
            <a:ext cx="3960000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НаСервереБезКонтекста</a:t>
            </a:r>
            <a:endParaRPr lang="ru-RU" b="1" dirty="0"/>
          </a:p>
        </p:txBody>
      </p:sp>
      <p:sp>
        <p:nvSpPr>
          <p:cNvPr id="17" name="Стрелка углом 16"/>
          <p:cNvSpPr/>
          <p:nvPr/>
        </p:nvSpPr>
        <p:spPr>
          <a:xfrm>
            <a:off x="4301247" y="1391165"/>
            <a:ext cx="613513" cy="3405987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078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56992"/>
            <a:ext cx="8568952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539551" y="4306378"/>
            <a:ext cx="3960000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НаСервереБезКонтекста</a:t>
            </a:r>
            <a:endParaRPr lang="ru-RU" b="1" dirty="0"/>
          </a:p>
        </p:txBody>
      </p:sp>
      <p:sp>
        <p:nvSpPr>
          <p:cNvPr id="12" name="TextBox 11"/>
          <p:cNvSpPr txBox="1"/>
          <p:nvPr/>
        </p:nvSpPr>
        <p:spPr>
          <a:xfrm>
            <a:off x="4788021" y="1481213"/>
            <a:ext cx="27363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i="1" dirty="0" smtClean="0"/>
              <a:t>Продолжение выполнения кода</a:t>
            </a:r>
            <a:endParaRPr lang="ru-RU" i="1" dirty="0"/>
          </a:p>
        </p:txBody>
      </p:sp>
    </p:spTree>
    <p:extLst>
      <p:ext uri="{BB962C8B-B14F-4D97-AF65-F5344CB8AC3E}">
        <p14:creationId xmlns:p14="http://schemas.microsoft.com/office/powerpoint/2010/main" val="989304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repeatCount="3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1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ru-RU" dirty="0" smtClean="0"/>
              <a:t>Открытие формы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6720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696"/>
            <a:ext cx="8568952" cy="172819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390021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696"/>
            <a:ext cx="8568952" cy="1728191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Объект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5" name="Стрелка углом 14"/>
          <p:cNvSpPr/>
          <p:nvPr/>
        </p:nvSpPr>
        <p:spPr>
          <a:xfrm rot="16200000">
            <a:off x="1497154" y="5222034"/>
            <a:ext cx="1339488" cy="633740"/>
          </a:xfrm>
          <a:prstGeom prst="bentArrow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697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Объект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1" name="Стрелка вправо 10"/>
          <p:cNvSpPr/>
          <p:nvPr/>
        </p:nvSpPr>
        <p:spPr>
          <a:xfrm rot="21006267">
            <a:off x="3760941" y="3785921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  <p:sp>
        <p:nvSpPr>
          <p:cNvPr id="2" name="TextBox 1"/>
          <p:cNvSpPr txBox="1"/>
          <p:nvPr/>
        </p:nvSpPr>
        <p:spPr>
          <a:xfrm>
            <a:off x="5112619" y="4409492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 чтении на сервере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87718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Объект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  <p:sp>
        <p:nvSpPr>
          <p:cNvPr id="17" name="Плюс 16"/>
          <p:cNvSpPr/>
          <p:nvPr/>
        </p:nvSpPr>
        <p:spPr>
          <a:xfrm rot="2601363">
            <a:off x="870754" y="2904665"/>
            <a:ext cx="2592288" cy="2613960"/>
          </a:xfrm>
          <a:prstGeom prst="mathPlus">
            <a:avLst>
              <a:gd name="adj1" fmla="val 11601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569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  <p:sp>
        <p:nvSpPr>
          <p:cNvPr id="2" name="TextBox 1"/>
          <p:cNvSpPr txBox="1"/>
          <p:nvPr/>
        </p:nvSpPr>
        <p:spPr>
          <a:xfrm>
            <a:off x="5148064" y="4409492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При создании на сервере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55918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2" name="Стрелка вправо 11"/>
          <p:cNvSpPr/>
          <p:nvPr/>
        </p:nvSpPr>
        <p:spPr>
          <a:xfrm rot="16200000">
            <a:off x="5857867" y="2367138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  <p:sp>
        <p:nvSpPr>
          <p:cNvPr id="2" name="TextBox 1"/>
          <p:cNvSpPr txBox="1"/>
          <p:nvPr/>
        </p:nvSpPr>
        <p:spPr>
          <a:xfrm>
            <a:off x="3347864" y="1556792"/>
            <a:ext cx="2304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Перед открытием</a:t>
            </a:r>
            <a:br>
              <a:rPr lang="ru-RU" dirty="0" smtClean="0"/>
            </a:br>
            <a:r>
              <a:rPr lang="ru-RU" dirty="0" smtClean="0"/>
              <a:t>При открытии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1017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 (КЭШ)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1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96244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ru-RU" dirty="0" smtClean="0"/>
              <a:t>Запись из формы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35693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 (КЭШ)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1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0585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2" name="Стрелка вправо 11"/>
          <p:cNvSpPr/>
          <p:nvPr/>
        </p:nvSpPr>
        <p:spPr>
          <a:xfrm rot="5400000">
            <a:off x="5857867" y="2367138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72314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Объект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1" name="Стрелка вправо 10"/>
          <p:cNvSpPr/>
          <p:nvPr/>
        </p:nvSpPr>
        <p:spPr>
          <a:xfrm rot="10291695">
            <a:off x="3760941" y="3785921"/>
            <a:ext cx="1362879" cy="472813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  <p:sp>
        <p:nvSpPr>
          <p:cNvPr id="12" name="Облако 11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47274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Объект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  <p:sp>
        <p:nvSpPr>
          <p:cNvPr id="12" name="Облако 11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5" name="Стрелка углом 14"/>
          <p:cNvSpPr/>
          <p:nvPr/>
        </p:nvSpPr>
        <p:spPr>
          <a:xfrm flipV="1">
            <a:off x="1172760" y="4554028"/>
            <a:ext cx="1339488" cy="1425828"/>
          </a:xfrm>
          <a:prstGeom prst="bentArrow">
            <a:avLst>
              <a:gd name="adj1" fmla="val 11489"/>
              <a:gd name="adj2" fmla="val 16822"/>
              <a:gd name="adj3" fmla="val 25000"/>
              <a:gd name="adj4" fmla="val 43750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859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Объект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  <p:sp>
        <p:nvSpPr>
          <p:cNvPr id="17" name="Плюс 16"/>
          <p:cNvSpPr/>
          <p:nvPr/>
        </p:nvSpPr>
        <p:spPr>
          <a:xfrm rot="2601363">
            <a:off x="870754" y="2904665"/>
            <a:ext cx="2592288" cy="2613960"/>
          </a:xfrm>
          <a:prstGeom prst="mathPlus">
            <a:avLst>
              <a:gd name="adj1" fmla="val 11601"/>
            </a:avLst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блако 10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60725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323528" y="692888"/>
            <a:ext cx="8568952" cy="1728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25233" y="2708920"/>
            <a:ext cx="8568952" cy="2304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148064" y="3185356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 (КЭШ)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135151" y="83671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1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03809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/>
          <a:lstStyle/>
          <a:p>
            <a:r>
              <a:rPr lang="ru-RU" dirty="0" smtClean="0"/>
              <a:t>Временное хранилище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2448294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2915816" y="656992"/>
            <a:ext cx="5976664" cy="270000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/>
              <a:t>К</a:t>
            </a:r>
            <a:r>
              <a:rPr lang="ru-RU" dirty="0" smtClean="0"/>
              <a:t>лиент</a:t>
            </a:r>
            <a:endParaRPr lang="ru-RU" dirty="0"/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354551" y="3501008"/>
            <a:ext cx="8568952" cy="27720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9" name="Облако 8"/>
          <p:cNvSpPr/>
          <p:nvPr/>
        </p:nvSpPr>
        <p:spPr>
          <a:xfrm>
            <a:off x="5508104" y="3717032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0" name="Облако 9"/>
          <p:cNvSpPr/>
          <p:nvPr/>
        </p:nvSpPr>
        <p:spPr>
          <a:xfrm>
            <a:off x="5796136" y="1916832"/>
            <a:ext cx="2808312" cy="1224136"/>
          </a:xfrm>
          <a:prstGeom prst="cloud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2" name="Прямоугольник 1"/>
          <p:cNvSpPr/>
          <p:nvPr/>
        </p:nvSpPr>
        <p:spPr>
          <a:xfrm>
            <a:off x="4788022" y="644744"/>
            <a:ext cx="2736304" cy="14400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r>
              <a:rPr lang="en-US" b="1" dirty="0" smtClean="0"/>
              <a:t>&amp;</a:t>
            </a:r>
            <a:r>
              <a:rPr lang="ru-RU" b="1" dirty="0" err="1" smtClean="0"/>
              <a:t>НаКлиенте</a:t>
            </a:r>
            <a:endParaRPr lang="ru-RU" b="1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5197543" y="4797152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15" name="Прямоугольник 14"/>
          <p:cNvSpPr/>
          <p:nvPr/>
        </p:nvSpPr>
        <p:spPr>
          <a:xfrm>
            <a:off x="539551" y="4306378"/>
            <a:ext cx="3960000" cy="14400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Временное хранилище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endParaRPr lang="ru-RU" b="1" dirty="0"/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354551" y="656992"/>
            <a:ext cx="2345241" cy="2700000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ru-RU" dirty="0" smtClean="0"/>
              <a:t>Файловая система клиента</a:t>
            </a:r>
          </a:p>
          <a:p>
            <a:pPr algn="ctr"/>
            <a:endParaRPr lang="ru-RU" dirty="0"/>
          </a:p>
          <a:p>
            <a:pPr algn="ctr"/>
            <a:endParaRPr lang="ru-RU" dirty="0"/>
          </a:p>
        </p:txBody>
      </p:sp>
      <p:sp>
        <p:nvSpPr>
          <p:cNvPr id="4" name="Багетная рамка 3"/>
          <p:cNvSpPr/>
          <p:nvPr/>
        </p:nvSpPr>
        <p:spPr>
          <a:xfrm>
            <a:off x="755576" y="1700808"/>
            <a:ext cx="1656184" cy="1008112"/>
          </a:xfrm>
          <a:prstGeom prst="beve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«Тяжёлые данные»</a:t>
            </a:r>
            <a:endParaRPr lang="ru-RU" dirty="0"/>
          </a:p>
        </p:txBody>
      </p:sp>
      <p:sp>
        <p:nvSpPr>
          <p:cNvPr id="8" name="Развернутая стрелка 7"/>
          <p:cNvSpPr/>
          <p:nvPr/>
        </p:nvSpPr>
        <p:spPr>
          <a:xfrm rot="5400000">
            <a:off x="1920193" y="2649401"/>
            <a:ext cx="2856424" cy="1727110"/>
          </a:xfrm>
          <a:prstGeom prst="uturnArrow">
            <a:avLst>
              <a:gd name="adj1" fmla="val 10708"/>
              <a:gd name="adj2" fmla="val 14006"/>
              <a:gd name="adj3" fmla="val 25000"/>
              <a:gd name="adj4" fmla="val 43750"/>
              <a:gd name="adj5" fmla="val 7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Стрелка вправо 13"/>
          <p:cNvSpPr/>
          <p:nvPr/>
        </p:nvSpPr>
        <p:spPr>
          <a:xfrm rot="5400000">
            <a:off x="6704245" y="3192594"/>
            <a:ext cx="888843" cy="472813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2934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4" grpId="0" animBg="1"/>
      <p:bldP spid="8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Скругленный прямоугольник 16"/>
          <p:cNvSpPr/>
          <p:nvPr/>
        </p:nvSpPr>
        <p:spPr>
          <a:xfrm>
            <a:off x="354551" y="836712"/>
            <a:ext cx="8568952" cy="42918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ru-RU" dirty="0" smtClean="0"/>
              <a:t>Сервер</a:t>
            </a:r>
            <a:endParaRPr lang="ru-RU" dirty="0"/>
          </a:p>
        </p:txBody>
      </p:sp>
      <p:sp>
        <p:nvSpPr>
          <p:cNvPr id="7" name="Блок-схема: магнитный диск 6"/>
          <p:cNvSpPr/>
          <p:nvPr/>
        </p:nvSpPr>
        <p:spPr>
          <a:xfrm>
            <a:off x="1835696" y="5184000"/>
            <a:ext cx="5544616" cy="1152128"/>
          </a:xfrm>
          <a:prstGeom prst="flowChartMagneticDisk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ru-RU" dirty="0" smtClean="0"/>
              <a:t>СУБД</a:t>
            </a:r>
            <a:endParaRPr lang="ru-RU" dirty="0"/>
          </a:p>
        </p:txBody>
      </p:sp>
      <p:sp>
        <p:nvSpPr>
          <p:cNvPr id="8" name="Облако 7"/>
          <p:cNvSpPr/>
          <p:nvPr/>
        </p:nvSpPr>
        <p:spPr>
          <a:xfrm>
            <a:off x="827584" y="364502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Объект</a:t>
            </a:r>
            <a:endParaRPr lang="ru-RU" dirty="0"/>
          </a:p>
        </p:txBody>
      </p:sp>
      <p:sp>
        <p:nvSpPr>
          <p:cNvPr id="13" name="Равно 12"/>
          <p:cNvSpPr/>
          <p:nvPr/>
        </p:nvSpPr>
        <p:spPr>
          <a:xfrm>
            <a:off x="2483768" y="5517232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Равно 13"/>
          <p:cNvSpPr/>
          <p:nvPr/>
        </p:nvSpPr>
        <p:spPr>
          <a:xfrm>
            <a:off x="2483125" y="5848608"/>
            <a:ext cx="1318691" cy="432048"/>
          </a:xfrm>
          <a:prstGeom prst="mathEqual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99339" y="5922890"/>
            <a:ext cx="2603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Таблица с данными</a:t>
            </a:r>
            <a:endParaRPr lang="ru-RU" dirty="0"/>
          </a:p>
        </p:txBody>
      </p:sp>
      <p:sp>
        <p:nvSpPr>
          <p:cNvPr id="15" name="Стрелка углом 14"/>
          <p:cNvSpPr/>
          <p:nvPr/>
        </p:nvSpPr>
        <p:spPr>
          <a:xfrm flipV="1">
            <a:off x="1172760" y="4554028"/>
            <a:ext cx="1339488" cy="1425828"/>
          </a:xfrm>
          <a:prstGeom prst="bentArrow">
            <a:avLst>
              <a:gd name="adj1" fmla="val 11489"/>
              <a:gd name="adj2" fmla="val 16822"/>
              <a:gd name="adj3" fmla="val 25000"/>
              <a:gd name="adj4" fmla="val 43750"/>
            </a:avLst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18" name="Облако 17"/>
          <p:cNvSpPr/>
          <p:nvPr/>
        </p:nvSpPr>
        <p:spPr>
          <a:xfrm>
            <a:off x="5379379" y="2144584"/>
            <a:ext cx="2808312" cy="1224136"/>
          </a:xfrm>
          <a:prstGeom prst="cloud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Управляемая форма</a:t>
            </a:r>
            <a:endParaRPr lang="ru-RU" dirty="0"/>
          </a:p>
        </p:txBody>
      </p:sp>
      <p:sp>
        <p:nvSpPr>
          <p:cNvPr id="19" name="Прямоугольник 18"/>
          <p:cNvSpPr/>
          <p:nvPr/>
        </p:nvSpPr>
        <p:spPr>
          <a:xfrm>
            <a:off x="5796136" y="3387610"/>
            <a:ext cx="2736304" cy="1440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Модуль формы</a:t>
            </a:r>
          </a:p>
          <a:p>
            <a:endParaRPr lang="ru-RU" dirty="0"/>
          </a:p>
          <a:p>
            <a:r>
              <a:rPr lang="en-US" b="1" dirty="0" smtClean="0"/>
              <a:t>&amp;</a:t>
            </a:r>
            <a:r>
              <a:rPr lang="ru-RU" b="1" dirty="0" err="1" smtClean="0"/>
              <a:t>НаСервере</a:t>
            </a:r>
            <a:endParaRPr lang="ru-RU" b="1" dirty="0"/>
          </a:p>
        </p:txBody>
      </p:sp>
      <p:sp>
        <p:nvSpPr>
          <p:cNvPr id="20" name="Прямоугольник 19"/>
          <p:cNvSpPr/>
          <p:nvPr/>
        </p:nvSpPr>
        <p:spPr>
          <a:xfrm>
            <a:off x="683568" y="1652582"/>
            <a:ext cx="3960000" cy="144000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ru-RU" dirty="0" smtClean="0"/>
              <a:t>Временное хранилище</a:t>
            </a:r>
            <a:br>
              <a:rPr lang="ru-RU" dirty="0" smtClean="0"/>
            </a:br>
            <a:r>
              <a:rPr lang="ru-RU" dirty="0" smtClean="0"/>
              <a:t/>
            </a:r>
            <a:br>
              <a:rPr lang="ru-RU" dirty="0" smtClean="0"/>
            </a:br>
            <a:endParaRPr lang="ru-RU" b="1" dirty="0"/>
          </a:p>
        </p:txBody>
      </p:sp>
      <p:sp>
        <p:nvSpPr>
          <p:cNvPr id="21" name="Выноска со стрелкой вниз 20"/>
          <p:cNvSpPr/>
          <p:nvPr/>
        </p:nvSpPr>
        <p:spPr>
          <a:xfrm>
            <a:off x="1044691" y="2144584"/>
            <a:ext cx="1872208" cy="1313992"/>
          </a:xfrm>
          <a:prstGeom prst="downArrowCallou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В программный объект «объект» для записи</a:t>
            </a:r>
            <a:endParaRPr lang="ru-RU" dirty="0"/>
          </a:p>
        </p:txBody>
      </p:sp>
      <p:sp>
        <p:nvSpPr>
          <p:cNvPr id="22" name="Стрелка вправо 21"/>
          <p:cNvSpPr/>
          <p:nvPr/>
        </p:nvSpPr>
        <p:spPr>
          <a:xfrm rot="9288005">
            <a:off x="3779760" y="3294179"/>
            <a:ext cx="1718531" cy="472813"/>
          </a:xfrm>
          <a:prstGeom prst="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6471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20" grpId="0" animBg="1"/>
      <p:bldP spid="21" grpId="0" animBg="1"/>
      <p:bldP spid="22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Набор прав на доступ к данным</a:t>
            </a:r>
          </a:p>
          <a:p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Роли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48" y="1916832"/>
            <a:ext cx="5618014" cy="4264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642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Средство быстро спрятать или показать часть функциональности системы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Функциональные опции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3140968"/>
            <a:ext cx="2924175" cy="542925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824" y="3140968"/>
            <a:ext cx="5635646" cy="2448272"/>
          </a:xfrm>
          <a:prstGeom prst="rect">
            <a:avLst/>
          </a:prstGeom>
        </p:spPr>
      </p:pic>
      <p:sp>
        <p:nvSpPr>
          <p:cNvPr id="6" name="Стрелка углом 5"/>
          <p:cNvSpPr/>
          <p:nvPr/>
        </p:nvSpPr>
        <p:spPr>
          <a:xfrm rot="10800000" flipH="1">
            <a:off x="1749611" y="3890337"/>
            <a:ext cx="936104" cy="1334324"/>
          </a:xfrm>
          <a:prstGeom prst="bentArrow">
            <a:avLst>
              <a:gd name="adj1" fmla="val 19471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485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Справочник, способный хранить информацию о типах данных</a:t>
            </a:r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План видов характеристик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9632" y="2276872"/>
            <a:ext cx="5452666" cy="393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89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/>
          </p:nvPr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046678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Реквизиты справочника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/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92224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Много не пустых «пустот»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/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  <p:sp>
        <p:nvSpPr>
          <p:cNvPr id="2" name="Скругленный прямоугольник 1"/>
          <p:cNvSpPr/>
          <p:nvPr/>
        </p:nvSpPr>
        <p:spPr>
          <a:xfrm>
            <a:off x="3869408" y="2277688"/>
            <a:ext cx="1783247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Скругленный прямоугольник 6"/>
          <p:cNvSpPr/>
          <p:nvPr/>
        </p:nvSpPr>
        <p:spPr>
          <a:xfrm>
            <a:off x="3869408" y="2606322"/>
            <a:ext cx="1783247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Скругленный прямоугольник 7"/>
          <p:cNvSpPr/>
          <p:nvPr/>
        </p:nvSpPr>
        <p:spPr>
          <a:xfrm>
            <a:off x="5652656" y="1978430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544280" y="1978430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кругленный прямоугольник 9"/>
          <p:cNvSpPr/>
          <p:nvPr/>
        </p:nvSpPr>
        <p:spPr>
          <a:xfrm>
            <a:off x="6544280" y="2596704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6544280" y="2934956"/>
            <a:ext cx="891624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7490104" y="1978430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кругленный прямоугольник 12"/>
          <p:cNvSpPr/>
          <p:nvPr/>
        </p:nvSpPr>
        <p:spPr>
          <a:xfrm>
            <a:off x="7490104" y="2934956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Скругленный прямоугольник 13"/>
          <p:cNvSpPr/>
          <p:nvPr/>
        </p:nvSpPr>
        <p:spPr>
          <a:xfrm>
            <a:off x="7490104" y="2286001"/>
            <a:ext cx="988878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Скругленный прямоугольник 14"/>
          <p:cNvSpPr/>
          <p:nvPr/>
        </p:nvSpPr>
        <p:spPr>
          <a:xfrm>
            <a:off x="5670362" y="2605017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кругленный прямоугольник 15"/>
          <p:cNvSpPr/>
          <p:nvPr/>
        </p:nvSpPr>
        <p:spPr>
          <a:xfrm>
            <a:off x="5660970" y="2919615"/>
            <a:ext cx="856210" cy="299258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45913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Не оптимально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6" name="Таблица 5"/>
          <p:cNvGraphicFramePr>
            <a:graphicFrameLocks noGrp="1"/>
          </p:cNvGraphicFramePr>
          <p:nvPr>
            <p:extLst/>
          </p:nvPr>
        </p:nvGraphicFramePr>
        <p:xfrm>
          <a:off x="3869408" y="1659414"/>
          <a:ext cx="5192877" cy="1574800"/>
        </p:xfrm>
        <a:graphic>
          <a:graphicData uri="http://schemas.openxmlformats.org/drawingml/2006/table">
            <a:tbl>
              <a:tblPr/>
              <a:tblGrid>
                <a:gridCol w="1799872">
                  <a:extLst>
                    <a:ext uri="{9D8B030D-6E8A-4147-A177-3AD203B41FA5}">
                      <a16:colId xmlns:a16="http://schemas.microsoft.com/office/drawing/2014/main" val="646130818"/>
                    </a:ext>
                  </a:extLst>
                </a:gridCol>
                <a:gridCol w="856211">
                  <a:extLst>
                    <a:ext uri="{9D8B030D-6E8A-4147-A177-3AD203B41FA5}">
                      <a16:colId xmlns:a16="http://schemas.microsoft.com/office/drawing/2014/main" val="1100515599"/>
                    </a:ext>
                  </a:extLst>
                </a:gridCol>
                <a:gridCol w="931025">
                  <a:extLst>
                    <a:ext uri="{9D8B030D-6E8A-4147-A177-3AD203B41FA5}">
                      <a16:colId xmlns:a16="http://schemas.microsoft.com/office/drawing/2014/main" val="2167871973"/>
                    </a:ext>
                  </a:extLst>
                </a:gridCol>
                <a:gridCol w="1064029">
                  <a:extLst>
                    <a:ext uri="{9D8B030D-6E8A-4147-A177-3AD203B41FA5}">
                      <a16:colId xmlns:a16="http://schemas.microsoft.com/office/drawing/2014/main" val="1441268516"/>
                    </a:ext>
                  </a:extLst>
                </a:gridCol>
                <a:gridCol w="541740">
                  <a:extLst>
                    <a:ext uri="{9D8B030D-6E8A-4147-A177-3AD203B41FA5}">
                      <a16:colId xmlns:a16="http://schemas.microsoft.com/office/drawing/2014/main" val="30897012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…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39499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71118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Люкс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38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1609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t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460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1168599"/>
                  </a:ext>
                </a:extLst>
              </a:tr>
            </a:tbl>
          </a:graphicData>
        </a:graphic>
      </p:graphicFrame>
      <p:sp>
        <p:nvSpPr>
          <p:cNvPr id="2" name="Умножение 1"/>
          <p:cNvSpPr/>
          <p:nvPr/>
        </p:nvSpPr>
        <p:spPr>
          <a:xfrm>
            <a:off x="4139738" y="640080"/>
            <a:ext cx="3973484" cy="3823854"/>
          </a:xfrm>
          <a:prstGeom prst="mathMultiply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63551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>
            <p:extLst/>
          </p:nvPr>
        </p:nvGraphicFramePr>
        <p:xfrm>
          <a:off x="4031673" y="1659414"/>
          <a:ext cx="4838006" cy="210312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02734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/>
        </p:nvGraphicFramePr>
        <p:xfrm>
          <a:off x="4031673" y="1659414"/>
          <a:ext cx="4838006" cy="210312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Кол-во 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47156" y="4538749"/>
            <a:ext cx="5228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Здесь должна быть ссылка</a:t>
            </a:r>
          </a:p>
        </p:txBody>
      </p:sp>
      <p:sp>
        <p:nvSpPr>
          <p:cNvPr id="6" name="Стрелка углом 5"/>
          <p:cNvSpPr/>
          <p:nvPr/>
        </p:nvSpPr>
        <p:spPr>
          <a:xfrm rot="16200000" flipV="1">
            <a:off x="4562903" y="3410025"/>
            <a:ext cx="1111315" cy="1816331"/>
          </a:xfrm>
          <a:prstGeom prst="ben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059832" y="5002233"/>
            <a:ext cx="5549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Здесь </a:t>
            </a:r>
            <a:r>
              <a:rPr lang="ru-RU" dirty="0" smtClean="0"/>
              <a:t>значения разных типов</a:t>
            </a:r>
            <a:endParaRPr lang="ru-RU" dirty="0"/>
          </a:p>
        </p:txBody>
      </p:sp>
      <p:sp>
        <p:nvSpPr>
          <p:cNvPr id="8" name="Стрелка углом 7"/>
          <p:cNvSpPr/>
          <p:nvPr/>
        </p:nvSpPr>
        <p:spPr>
          <a:xfrm rot="16200000" flipV="1">
            <a:off x="6564973" y="3641766"/>
            <a:ext cx="1574800" cy="1816331"/>
          </a:xfrm>
          <a:prstGeom prst="bentArrow">
            <a:avLst>
              <a:gd name="adj1" fmla="val 17741"/>
              <a:gd name="adj2" fmla="val 18649"/>
              <a:gd name="adj3" fmla="val 19557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Выноска 2 8"/>
          <p:cNvSpPr/>
          <p:nvPr/>
        </p:nvSpPr>
        <p:spPr>
          <a:xfrm>
            <a:off x="1168804" y="5551086"/>
            <a:ext cx="2268519" cy="792088"/>
          </a:xfrm>
          <a:prstGeom prst="borderCallout2">
            <a:avLst>
              <a:gd name="adj1" fmla="val 64446"/>
              <a:gd name="adj2" fmla="val 107133"/>
              <a:gd name="adj3" fmla="val 63243"/>
              <a:gd name="adj4" fmla="val 135749"/>
              <a:gd name="adj5" fmla="val -24587"/>
              <a:gd name="adj6" fmla="val 16579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Это как ?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89634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75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 animBg="1"/>
      <p:bldP spid="7" grpId="0"/>
      <p:bldP spid="8" grpId="0" animBg="1"/>
      <p:bldP spid="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57812"/>
          </a:xfrm>
        </p:spPr>
        <p:txBody>
          <a:bodyPr>
            <a:normAutofit fontScale="90000"/>
          </a:bodyPr>
          <a:lstStyle/>
          <a:p>
            <a:r>
              <a:rPr lang="ru-RU" dirty="0"/>
              <a:t>Хранение дополнительной информации в отдельной таблице</a:t>
            </a: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/>
        </p:nvGraphicFramePr>
        <p:xfrm>
          <a:off x="453209" y="1659414"/>
          <a:ext cx="3416199" cy="1574800"/>
        </p:xfrm>
        <a:graphic>
          <a:graphicData uri="http://schemas.openxmlformats.org/drawingml/2006/table">
            <a:tbl>
              <a:tblPr/>
              <a:tblGrid>
                <a:gridCol w="758038">
                  <a:extLst>
                    <a:ext uri="{9D8B030D-6E8A-4147-A177-3AD203B41FA5}">
                      <a16:colId xmlns:a16="http://schemas.microsoft.com/office/drawing/2014/main" val="2850660634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1709195267"/>
                    </a:ext>
                  </a:extLst>
                </a:gridCol>
                <a:gridCol w="2048256">
                  <a:extLst>
                    <a:ext uri="{9D8B030D-6E8A-4147-A177-3AD203B41FA5}">
                      <a16:colId xmlns:a16="http://schemas.microsoft.com/office/drawing/2014/main" val="13176520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40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Холодильник "Атлант"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6165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Туфли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417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Вино французское Бордо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45072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Холодильник "Стинол"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60812782"/>
                  </a:ext>
                </a:extLst>
              </a:tr>
            </a:tbl>
          </a:graphicData>
        </a:graphic>
      </p:graphicFrame>
      <p:graphicFrame>
        <p:nvGraphicFramePr>
          <p:cNvPr id="2" name="Таблица 1"/>
          <p:cNvGraphicFramePr>
            <a:graphicFrameLocks noGrp="1"/>
          </p:cNvGraphicFramePr>
          <p:nvPr>
            <p:extLst/>
          </p:nvPr>
        </p:nvGraphicFramePr>
        <p:xfrm>
          <a:off x="4031673" y="1659414"/>
          <a:ext cx="4838006" cy="1889760"/>
        </p:xfrm>
        <a:graphic>
          <a:graphicData uri="http://schemas.openxmlformats.org/drawingml/2006/table">
            <a:tbl>
              <a:tblPr/>
              <a:tblGrid>
                <a:gridCol w="829687">
                  <a:extLst>
                    <a:ext uri="{9D8B030D-6E8A-4147-A177-3AD203B41FA5}">
                      <a16:colId xmlns:a16="http://schemas.microsoft.com/office/drawing/2014/main" val="1631520698"/>
                    </a:ext>
                  </a:extLst>
                </a:gridCol>
                <a:gridCol w="1919426">
                  <a:extLst>
                    <a:ext uri="{9D8B030D-6E8A-4147-A177-3AD203B41FA5}">
                      <a16:colId xmlns:a16="http://schemas.microsoft.com/office/drawing/2014/main" val="3792633718"/>
                    </a:ext>
                  </a:extLst>
                </a:gridCol>
                <a:gridCol w="2088893">
                  <a:extLst>
                    <a:ext uri="{9D8B030D-6E8A-4147-A177-3AD203B41FA5}">
                      <a16:colId xmlns:a16="http://schemas.microsoft.com/office/drawing/2014/main" val="276577209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Имя Реквизита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Значение (составной тип)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9916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&lt;ААА&gt;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77308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&lt;Люкс&gt;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27500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&lt;БББ&gt;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«38»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05256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&lt;ВВВ&gt;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&lt;ЖШШ&gt;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2015-01-01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34684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&lt;ГГГ&gt;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dirty="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776240"/>
                  </a:ext>
                </a:extLst>
              </a:tr>
            </a:tbl>
          </a:graphicData>
        </a:graphic>
      </p:graphicFrame>
      <p:graphicFrame>
        <p:nvGraphicFramePr>
          <p:cNvPr id="7" name="Таблица 6"/>
          <p:cNvGraphicFramePr>
            <a:graphicFrameLocks noGrp="1"/>
          </p:cNvGraphicFramePr>
          <p:nvPr>
            <p:extLst/>
          </p:nvPr>
        </p:nvGraphicFramePr>
        <p:xfrm>
          <a:off x="453209" y="4412312"/>
          <a:ext cx="4871009" cy="1788160"/>
        </p:xfrm>
        <a:graphic>
          <a:graphicData uri="http://schemas.openxmlformats.org/drawingml/2006/table">
            <a:tbl>
              <a:tblPr/>
              <a:tblGrid>
                <a:gridCol w="839419">
                  <a:extLst>
                    <a:ext uri="{9D8B030D-6E8A-4147-A177-3AD203B41FA5}">
                      <a16:colId xmlns:a16="http://schemas.microsoft.com/office/drawing/2014/main" val="3344630645"/>
                    </a:ext>
                  </a:extLst>
                </a:gridCol>
                <a:gridCol w="609905">
                  <a:extLst>
                    <a:ext uri="{9D8B030D-6E8A-4147-A177-3AD203B41FA5}">
                      <a16:colId xmlns:a16="http://schemas.microsoft.com/office/drawing/2014/main" val="2300079749"/>
                    </a:ext>
                  </a:extLst>
                </a:gridCol>
                <a:gridCol w="1350569">
                  <a:extLst>
                    <a:ext uri="{9D8B030D-6E8A-4147-A177-3AD203B41FA5}">
                      <a16:colId xmlns:a16="http://schemas.microsoft.com/office/drawing/2014/main" val="836078279"/>
                    </a:ext>
                  </a:extLst>
                </a:gridCol>
                <a:gridCol w="2071116">
                  <a:extLst>
                    <a:ext uri="{9D8B030D-6E8A-4147-A177-3AD203B41FA5}">
                      <a16:colId xmlns:a16="http://schemas.microsoft.com/office/drawing/2014/main" val="347333825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Ссылка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Код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Наименование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Тип значения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52130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&lt;ЖЖЖ&gt;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Кол-во </a:t>
                      </a:r>
                      <a:br>
                        <a:rPr lang="ru-RU" sz="1400">
                          <a:effectLst/>
                          <a:latin typeface="Calibri" panose="020F0502020204030204" pitchFamily="34" charset="0"/>
                        </a:rPr>
                      </a:b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компрессоров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Число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54637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&lt;ЖИИ&gt;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Тип Кожи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Ссылка на перечисление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84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&lt;ЖЗЗ&gt;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Размер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>
                          <a:effectLst/>
                          <a:latin typeface="Calibri" panose="020F0502020204030204" pitchFamily="34" charset="0"/>
                        </a:rPr>
                        <a:t>Строка</a:t>
                      </a:r>
                      <a:endParaRPr lang="ru-RU" sz="14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41957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solidFill>
                            <a:srgbClr val="7030A0"/>
                          </a:solidFill>
                          <a:effectLst/>
                          <a:latin typeface="Calibri" panose="020F0502020204030204" pitchFamily="34" charset="0"/>
                        </a:rPr>
                        <a:t>&lt;ЖШШ&gt;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>
                          <a:effectLst/>
                          <a:latin typeface="Calibri" panose="020F0502020204030204" pitchFamily="34" charset="0"/>
                        </a:rPr>
                        <a:t>Год урожая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ru-RU" sz="1400" b="1" dirty="0">
                          <a:effectLst/>
                          <a:latin typeface="Calibri" panose="020F0502020204030204" pitchFamily="34" charset="0"/>
                        </a:rPr>
                        <a:t>Дата</a:t>
                      </a:r>
                      <a:endParaRPr lang="ru-RU" sz="14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465073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3209" y="3906982"/>
            <a:ext cx="300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План видов характеристик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67233" y="3796077"/>
            <a:ext cx="30048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Связь по типу</a:t>
            </a:r>
          </a:p>
        </p:txBody>
      </p:sp>
      <p:sp>
        <p:nvSpPr>
          <p:cNvPr id="3" name="Развернутая стрелка 2"/>
          <p:cNvSpPr/>
          <p:nvPr/>
        </p:nvSpPr>
        <p:spPr>
          <a:xfrm rot="10800000">
            <a:off x="5640875" y="3615328"/>
            <a:ext cx="2038309" cy="698881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Стрелка вниз 5"/>
          <p:cNvSpPr/>
          <p:nvPr/>
        </p:nvSpPr>
        <p:spPr>
          <a:xfrm>
            <a:off x="4864964" y="3615328"/>
            <a:ext cx="343845" cy="660986"/>
          </a:xfrm>
          <a:prstGeom prst="down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Скругленный прямоугольник 10"/>
          <p:cNvSpPr/>
          <p:nvPr/>
        </p:nvSpPr>
        <p:spPr>
          <a:xfrm>
            <a:off x="3147677" y="4314209"/>
            <a:ext cx="2400524" cy="2068836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00741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893266"/>
          </a:xfrm>
        </p:spPr>
        <p:txBody>
          <a:bodyPr/>
          <a:lstStyle/>
          <a:p>
            <a:r>
              <a:rPr lang="ru-RU" dirty="0"/>
              <a:t>Хранение составного типа в базе данных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295275" y="5048180"/>
          <a:ext cx="8596735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4373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1090670">
                  <a:extLst>
                    <a:ext uri="{9D8B030D-6E8A-4147-A177-3AD203B41FA5}">
                      <a16:colId xmlns:a16="http://schemas.microsoft.com/office/drawing/2014/main" val="3634049784"/>
                    </a:ext>
                  </a:extLst>
                </a:gridCol>
                <a:gridCol w="1233889">
                  <a:extLst>
                    <a:ext uri="{9D8B030D-6E8A-4147-A177-3AD203B41FA5}">
                      <a16:colId xmlns:a16="http://schemas.microsoft.com/office/drawing/2014/main" val="2755661369"/>
                    </a:ext>
                  </a:extLst>
                </a:gridCol>
                <a:gridCol w="1200839">
                  <a:extLst>
                    <a:ext uri="{9D8B030D-6E8A-4147-A177-3AD203B41FA5}">
                      <a16:colId xmlns:a16="http://schemas.microsoft.com/office/drawing/2014/main" val="1582707422"/>
                    </a:ext>
                  </a:extLst>
                </a:gridCol>
                <a:gridCol w="1180754">
                  <a:extLst>
                    <a:ext uri="{9D8B030D-6E8A-4147-A177-3AD203B41FA5}">
                      <a16:colId xmlns:a16="http://schemas.microsoft.com/office/drawing/2014/main" val="25774261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228105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Таблица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322416"/>
                  </a:ext>
                </a:extLst>
              </a:tr>
            </a:tbl>
          </a:graphicData>
        </a:graphic>
      </p:graphicFrame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75" y="1119934"/>
            <a:ext cx="3067050" cy="3714750"/>
          </a:xfrm>
          <a:prstGeom prst="rect">
            <a:avLst/>
          </a:prstGeom>
        </p:spPr>
      </p:pic>
      <p:sp>
        <p:nvSpPr>
          <p:cNvPr id="6" name="Стрелка углом 5"/>
          <p:cNvSpPr/>
          <p:nvPr/>
        </p:nvSpPr>
        <p:spPr>
          <a:xfrm rot="5400000">
            <a:off x="3564567" y="2200487"/>
            <a:ext cx="2225408" cy="2415581"/>
          </a:xfrm>
          <a:prstGeom prst="bentArrow">
            <a:avLst>
              <a:gd name="adj1" fmla="val 10148"/>
              <a:gd name="adj2" fmla="val 16584"/>
              <a:gd name="adj3" fmla="val 19554"/>
              <a:gd name="adj4" fmla="val 437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08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7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/>
          </p:nvPr>
        </p:nvGraphicFramePr>
        <p:xfrm>
          <a:off x="1532117" y="1120775"/>
          <a:ext cx="6096000" cy="222504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40396175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155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81385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«Наличие»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9546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2016-04-22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56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2890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&lt;Яблоки&gt;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437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&lt;ООО</a:t>
                      </a:r>
                      <a:r>
                        <a:rPr lang="ru-RU" baseline="0" dirty="0"/>
                        <a:t> Юг&gt;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1875410"/>
                  </a:ext>
                </a:extLst>
              </a:tr>
            </a:tbl>
          </a:graphicData>
        </a:graphic>
      </p:graphicFrame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613675"/>
              </p:ext>
            </p:extLst>
          </p:nvPr>
        </p:nvGraphicFramePr>
        <p:xfrm>
          <a:off x="188120" y="3428702"/>
          <a:ext cx="8784002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5618">
                  <a:extLst>
                    <a:ext uri="{9D8B030D-6E8A-4147-A177-3AD203B41FA5}">
                      <a16:colId xmlns:a16="http://schemas.microsoft.com/office/drawing/2014/main" val="2665122891"/>
                    </a:ext>
                  </a:extLst>
                </a:gridCol>
                <a:gridCol w="857944">
                  <a:extLst>
                    <a:ext uri="{9D8B030D-6E8A-4147-A177-3AD203B41FA5}">
                      <a16:colId xmlns:a16="http://schemas.microsoft.com/office/drawing/2014/main" val="3634049784"/>
                    </a:ext>
                  </a:extLst>
                </a:gridCol>
                <a:gridCol w="1324379">
                  <a:extLst>
                    <a:ext uri="{9D8B030D-6E8A-4147-A177-3AD203B41FA5}">
                      <a16:colId xmlns:a16="http://schemas.microsoft.com/office/drawing/2014/main" val="2755661369"/>
                    </a:ext>
                  </a:extLst>
                </a:gridCol>
                <a:gridCol w="1324379">
                  <a:extLst>
                    <a:ext uri="{9D8B030D-6E8A-4147-A177-3AD203B41FA5}">
                      <a16:colId xmlns:a16="http://schemas.microsoft.com/office/drawing/2014/main" val="1582707422"/>
                    </a:ext>
                  </a:extLst>
                </a:gridCol>
                <a:gridCol w="923728">
                  <a:extLst>
                    <a:ext uri="{9D8B030D-6E8A-4147-A177-3AD203B41FA5}">
                      <a16:colId xmlns:a16="http://schemas.microsoft.com/office/drawing/2014/main" val="257742612"/>
                    </a:ext>
                  </a:extLst>
                </a:gridCol>
                <a:gridCol w="1152128">
                  <a:extLst>
                    <a:ext uri="{9D8B030D-6E8A-4147-A177-3AD203B41FA5}">
                      <a16:colId xmlns:a16="http://schemas.microsoft.com/office/drawing/2014/main" val="3880621152"/>
                    </a:ext>
                  </a:extLst>
                </a:gridCol>
                <a:gridCol w="1735826">
                  <a:extLst>
                    <a:ext uri="{9D8B030D-6E8A-4147-A177-3AD203B41FA5}">
                      <a16:colId xmlns:a16="http://schemas.microsoft.com/office/drawing/2014/main" val="26296618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Выбранный</a:t>
                      </a:r>
                      <a:r>
                        <a:rPr lang="ru-RU" baseline="0" dirty="0"/>
                        <a:t> тип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Номер Таблицы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06245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Число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73224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Строка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«Наличие»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63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Дата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2016-04-22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413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Булево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Истина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3253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&lt;</a:t>
                      </a:r>
                      <a:r>
                        <a:rPr lang="en-US" dirty="0" smtClean="0"/>
                        <a:t>ID  </a:t>
                      </a:r>
                      <a:r>
                        <a:rPr lang="ru-RU" dirty="0" smtClean="0"/>
                        <a:t>«Яблоки»&gt;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467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Ссылка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&lt;</a:t>
                      </a:r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«ООО</a:t>
                      </a:r>
                      <a:r>
                        <a:rPr lang="ru-RU" baseline="0" dirty="0" smtClean="0"/>
                        <a:t> Юг»&gt;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6714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937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Дополнительный индекс для поиска данных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Критерий отбора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3968" y="1977098"/>
            <a:ext cx="4022229" cy="3551793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2872304"/>
            <a:ext cx="4036272" cy="3569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341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548798"/>
          </a:xfrm>
        </p:spPr>
        <p:txBody>
          <a:bodyPr/>
          <a:lstStyle/>
          <a:p>
            <a:r>
              <a:rPr lang="ru-RU" dirty="0" smtClean="0"/>
              <a:t>Регламентные задания</a:t>
            </a:r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556792"/>
            <a:ext cx="3133725" cy="274320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2" y="1380579"/>
            <a:ext cx="4467225" cy="3095625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92" y="4470846"/>
            <a:ext cx="6209159" cy="1851980"/>
          </a:xfrm>
          <a:prstGeom prst="rect">
            <a:avLst/>
          </a:prstGeom>
        </p:spPr>
      </p:pic>
      <p:sp>
        <p:nvSpPr>
          <p:cNvPr id="8" name="Скругленный прямоугольник 7"/>
          <p:cNvSpPr/>
          <p:nvPr/>
        </p:nvSpPr>
        <p:spPr>
          <a:xfrm>
            <a:off x="539552" y="3861048"/>
            <a:ext cx="3168352" cy="438944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4139952" y="2780927"/>
            <a:ext cx="4467225" cy="296329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1" name="Прямая со стрелкой 10"/>
          <p:cNvCxnSpPr/>
          <p:nvPr/>
        </p:nvCxnSpPr>
        <p:spPr>
          <a:xfrm flipH="1">
            <a:off x="4355976" y="3077256"/>
            <a:ext cx="1872208" cy="1647888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9563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>
          <a:xfrm>
            <a:off x="188119" y="571977"/>
            <a:ext cx="8784000" cy="548798"/>
          </a:xfrm>
        </p:spPr>
        <p:txBody>
          <a:bodyPr/>
          <a:lstStyle/>
          <a:p>
            <a:r>
              <a:rPr lang="ru-RU" dirty="0" smtClean="0"/>
              <a:t>Регламентные задания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952" y="1380579"/>
            <a:ext cx="4467225" cy="3095625"/>
          </a:xfrm>
          <a:prstGeom prst="rect">
            <a:avLst/>
          </a:prstGeom>
        </p:spPr>
      </p:pic>
      <p:sp>
        <p:nvSpPr>
          <p:cNvPr id="9" name="Скругленный прямоугольник 8"/>
          <p:cNvSpPr/>
          <p:nvPr/>
        </p:nvSpPr>
        <p:spPr>
          <a:xfrm>
            <a:off x="4139952" y="3371105"/>
            <a:ext cx="4467225" cy="216025"/>
          </a:xfrm>
          <a:prstGeom prst="roundRect">
            <a:avLst/>
          </a:prstGeom>
          <a:noFill/>
          <a:ln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790" y="3077256"/>
            <a:ext cx="3686150" cy="3024336"/>
          </a:xfrm>
          <a:prstGeom prst="rect">
            <a:avLst/>
          </a:prstGeom>
        </p:spPr>
      </p:pic>
      <p:cxnSp>
        <p:nvCxnSpPr>
          <p:cNvPr id="11" name="Прямая со стрелкой 10"/>
          <p:cNvCxnSpPr/>
          <p:nvPr/>
        </p:nvCxnSpPr>
        <p:spPr>
          <a:xfrm flipH="1">
            <a:off x="3149842" y="3587130"/>
            <a:ext cx="3510390" cy="1273734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5623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Бизнес-процессы предназначены для объединения отдельных операций в цепочки взаимосвязанных действий, приводящих к достижению конкретной цели.</a:t>
            </a:r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Бизнес-процессы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5776" y="3068960"/>
            <a:ext cx="3668663" cy="334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744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ъект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Позволяют вести учет заданий по исполнителям и служат отражением продвижения бизнес-процессов по точкам маршрута.</a:t>
            </a:r>
            <a:endParaRPr lang="ru-RU" dirty="0"/>
          </a:p>
        </p:txBody>
      </p:sp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140968"/>
            <a:ext cx="7122566" cy="2869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812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СофтБаланс_основные_объекты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СофтБаланс_основные_объекты" id="{62BD0483-928A-448D-BBAD-621E3072F039}" vid="{487075A3-1F89-4279-8755-8EA96074D5C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СофтБаланс_основные_объекты</Template>
  <TotalTime>1309</TotalTime>
  <Words>1658</Words>
  <Application>Microsoft Office PowerPoint</Application>
  <PresentationFormat>Экран (4:3)</PresentationFormat>
  <Paragraphs>783</Paragraphs>
  <Slides>65</Slides>
  <Notes>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65</vt:i4>
      </vt:variant>
    </vt:vector>
  </HeadingPairs>
  <TitlesOfParts>
    <vt:vector size="72" baseType="lpstr">
      <vt:lpstr>Arial</vt:lpstr>
      <vt:lpstr>Arial Black</vt:lpstr>
      <vt:lpstr>Calibri</vt:lpstr>
      <vt:lpstr>Tahoma</vt:lpstr>
      <vt:lpstr>Verdana</vt:lpstr>
      <vt:lpstr>Wingdings</vt:lpstr>
      <vt:lpstr>СофтБаланс_основные_объекты</vt:lpstr>
      <vt:lpstr>6 занятие</vt:lpstr>
      <vt:lpstr>Модальные и блокирующие окна</vt:lpstr>
      <vt:lpstr>Курсы валют</vt:lpstr>
      <vt:lpstr>Динамический список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Таблица формы – динамический список</vt:lpstr>
      <vt:lpstr>Таблица формы – динамический список</vt:lpstr>
      <vt:lpstr>Таблица формы – динамический список</vt:lpstr>
      <vt:lpstr>Клиент серверные вызовы в форме</vt:lpstr>
      <vt:lpstr>&amp;На сервере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&amp;На сервере без контекста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Открытие формы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Запись из формы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Временное хранилище</vt:lpstr>
      <vt:lpstr>Презентация PowerPoint</vt:lpstr>
      <vt:lpstr>Презентация PowerPoint</vt:lpstr>
      <vt:lpstr>Роли</vt:lpstr>
      <vt:lpstr>Функциональные опции</vt:lpstr>
      <vt:lpstr>План видов характеристик</vt:lpstr>
      <vt:lpstr>Хранение дополнительной информации</vt:lpstr>
      <vt:lpstr>Реквизиты справочника</vt:lpstr>
      <vt:lpstr>Много не пустых «пустот»</vt:lpstr>
      <vt:lpstr>Не оптимально</vt:lpstr>
      <vt:lpstr>Хранение дополнительной информации в отдельной таблице</vt:lpstr>
      <vt:lpstr>Хранение дополнительной информации в отдельной таблице</vt:lpstr>
      <vt:lpstr>Хранение дополнительной информации в отдельной таблице</vt:lpstr>
      <vt:lpstr>Хранение составного типа в базе данных</vt:lpstr>
      <vt:lpstr>Пример</vt:lpstr>
      <vt:lpstr>Критерий отбора</vt:lpstr>
      <vt:lpstr>Регламентные задания</vt:lpstr>
      <vt:lpstr>Регламентные задания</vt:lpstr>
      <vt:lpstr>Бизнес-процессы</vt:lpstr>
      <vt:lpstr>Задачи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 занятие</dc:title>
  <dc:creator>Сергей</dc:creator>
  <cp:lastModifiedBy>eugeniy sizov</cp:lastModifiedBy>
  <cp:revision>62</cp:revision>
  <dcterms:created xsi:type="dcterms:W3CDTF">2010-11-05T16:55:46Z</dcterms:created>
  <dcterms:modified xsi:type="dcterms:W3CDTF">2020-02-16T10:23:46Z</dcterms:modified>
</cp:coreProperties>
</file>