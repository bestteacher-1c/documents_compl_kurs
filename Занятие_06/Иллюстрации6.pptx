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0"/>
  </p:notesMasterIdLst>
  <p:sldIdLst>
    <p:sldId id="256" r:id="rId2"/>
    <p:sldId id="337" r:id="rId3"/>
    <p:sldId id="316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403" r:id="rId15"/>
    <p:sldId id="363" r:id="rId16"/>
    <p:sldId id="289" r:id="rId17"/>
    <p:sldId id="373" r:id="rId18"/>
    <p:sldId id="290" r:id="rId19"/>
    <p:sldId id="374" r:id="rId20"/>
    <p:sldId id="375" r:id="rId21"/>
    <p:sldId id="376" r:id="rId22"/>
    <p:sldId id="377" r:id="rId23"/>
    <p:sldId id="378" r:id="rId24"/>
    <p:sldId id="297" r:id="rId25"/>
    <p:sldId id="379" r:id="rId26"/>
    <p:sldId id="380" r:id="rId27"/>
    <p:sldId id="381" r:id="rId28"/>
    <p:sldId id="382" r:id="rId29"/>
    <p:sldId id="383" r:id="rId30"/>
    <p:sldId id="384" r:id="rId31"/>
    <p:sldId id="348" r:id="rId32"/>
    <p:sldId id="385" r:id="rId33"/>
    <p:sldId id="386" r:id="rId34"/>
    <p:sldId id="387" r:id="rId35"/>
    <p:sldId id="395" r:id="rId36"/>
    <p:sldId id="388" r:id="rId37"/>
    <p:sldId id="389" r:id="rId38"/>
    <p:sldId id="390" r:id="rId39"/>
    <p:sldId id="356" r:id="rId40"/>
    <p:sldId id="392" r:id="rId41"/>
    <p:sldId id="391" r:id="rId42"/>
    <p:sldId id="393" r:id="rId43"/>
    <p:sldId id="394" r:id="rId44"/>
    <p:sldId id="396" r:id="rId45"/>
    <p:sldId id="397" r:id="rId46"/>
    <p:sldId id="321" r:id="rId47"/>
    <p:sldId id="398" r:id="rId48"/>
    <p:sldId id="399" r:id="rId49"/>
    <p:sldId id="401" r:id="rId50"/>
    <p:sldId id="400" r:id="rId51"/>
    <p:sldId id="402" r:id="rId52"/>
    <p:sldId id="277" r:id="rId53"/>
    <p:sldId id="276" r:id="rId54"/>
    <p:sldId id="278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08" r:id="rId65"/>
    <p:sldId id="304" r:id="rId66"/>
    <p:sldId id="305" r:id="rId67"/>
    <p:sldId id="306" r:id="rId68"/>
    <p:sldId id="307" r:id="rId6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30" autoAdjust="0"/>
    <p:restoredTop sz="94660"/>
  </p:normalViewPr>
  <p:slideViewPr>
    <p:cSldViewPr>
      <p:cViewPr varScale="1">
        <p:scale>
          <a:sx n="101" d="100"/>
          <a:sy n="101" d="100"/>
        </p:scale>
        <p:origin x="114" y="2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706"/>
    </p:cViewPr>
  </p:sorterViewPr>
  <p:notesViewPr>
    <p:cSldViewPr>
      <p:cViewPr varScale="1">
        <p:scale>
          <a:sx n="82" d="100"/>
          <a:sy n="82" d="100"/>
        </p:scale>
        <p:origin x="203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7C55B-87CB-44D1-A369-D5EF61856D40}" type="datetimeFigureOut">
              <a:rPr lang="ru-RU"/>
              <a:t>28.09.2020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D3FB1-D259-4463-ADFD-4565926705A0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6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0D3FB1-D259-4463-ADFD-4565926705A0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538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0D3FB1-D259-4463-ADFD-4565926705A0}" type="slidenum">
              <a:rPr lang="ru-RU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57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0D3FB1-D259-4463-ADFD-4565926705A0}" type="slidenum">
              <a:rPr lang="ru-RU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641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0D3FB1-D259-4463-ADFD-4565926705A0}" type="slidenum">
              <a:rPr lang="ru-RU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114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721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Заголовок 5"/>
          <p:cNvSpPr>
            <a:spLocks noGrp="1"/>
          </p:cNvSpPr>
          <p:nvPr>
            <p:ph type="title"/>
          </p:nvPr>
        </p:nvSpPr>
        <p:spPr>
          <a:xfrm>
            <a:off x="722312" y="4581128"/>
            <a:ext cx="7772401" cy="1440160"/>
          </a:xfrm>
        </p:spPr>
        <p:txBody>
          <a:bodyPr/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691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584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41583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737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003489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4386138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Содержимое 2"/>
          <p:cNvSpPr>
            <a:spLocks noGrp="1"/>
          </p:cNvSpPr>
          <p:nvPr>
            <p:ph idx="10"/>
          </p:nvPr>
        </p:nvSpPr>
        <p:spPr>
          <a:xfrm>
            <a:off x="4644008" y="1340768"/>
            <a:ext cx="4306779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232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851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81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/68</a:t>
            </a:r>
            <a:endParaRPr lang="ru-RU" sz="1600" dirty="0" smtClean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</p:spTree>
    <p:extLst>
      <p:ext uri="{BB962C8B-B14F-4D97-AF65-F5344CB8AC3E}">
        <p14:creationId xmlns:p14="http://schemas.microsoft.com/office/powerpoint/2010/main" val="265935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2" r:id="rId3"/>
    <p:sldLayoutId id="2147483664" r:id="rId4"/>
    <p:sldLayoutId id="2147483666" r:id="rId5"/>
    <p:sldLayoutId id="2147483663" r:id="rId6"/>
    <p:sldLayoutId id="2147483669" r:id="rId7"/>
    <p:sldLayoutId id="2147483667" r:id="rId8"/>
    <p:sldLayoutId id="2147483665" r:id="rId9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pc="300" dirty="0" smtClean="0"/>
              <a:t>6 занятие</a:t>
            </a:r>
            <a:endParaRPr lang="ru-RU" spc="300" dirty="0"/>
          </a:p>
        </p:txBody>
      </p:sp>
      <p:sp>
        <p:nvSpPr>
          <p:cNvPr id="3" name="Объект 2"/>
          <p:cNvSpPr>
            <a:spLocks noGrp="1"/>
          </p:cNvSpPr>
          <p:nvPr>
            <p:ph type="subTitle" idx="1"/>
          </p:nvPr>
        </p:nvSpPr>
        <p:spPr>
          <a:xfrm>
            <a:off x="827584" y="1273772"/>
            <a:ext cx="7272808" cy="4603500"/>
          </a:xfrm>
        </p:spPr>
        <p:txBody>
          <a:bodyPr anchor="ctr">
            <a:normAutofit fontScale="55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Динамический </a:t>
            </a:r>
            <a:r>
              <a:rPr lang="ru-RU" sz="4500" dirty="0" smtClean="0">
                <a:solidFill>
                  <a:schemeClr val="tx2"/>
                </a:solidFill>
              </a:rPr>
              <a:t>список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Клиент-серверные вызовы в Форме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>
                <a:solidFill>
                  <a:schemeClr val="tx2"/>
                </a:solidFill>
              </a:rPr>
              <a:t>Временное хранилище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Функциональные опции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Роли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План видов характеристик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Критерий отбора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Полнотекстовый поиск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Регламентные задания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Бизнес-процессы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4500" dirty="0" smtClean="0">
                <a:solidFill>
                  <a:schemeClr val="tx2"/>
                </a:solidFill>
              </a:rPr>
              <a:t>Расширения конфигураций</a:t>
            </a:r>
          </a:p>
          <a:p>
            <a:endParaRPr lang="ru-RU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09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Динамический список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958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76" y="1403373"/>
            <a:ext cx="8845679" cy="312799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1" y="548680"/>
            <a:ext cx="8801343" cy="852423"/>
          </a:xfrm>
        </p:spPr>
        <p:txBody>
          <a:bodyPr/>
          <a:lstStyle/>
          <a:p>
            <a:r>
              <a:rPr lang="ru-RU" dirty="0" smtClean="0"/>
              <a:t>Курсы валют</a:t>
            </a:r>
            <a:endParaRPr lang="ru-RU" dirty="0"/>
          </a:p>
        </p:txBody>
      </p:sp>
      <p:sp>
        <p:nvSpPr>
          <p:cNvPr id="5" name="Стрелка вниз 4"/>
          <p:cNvSpPr/>
          <p:nvPr/>
        </p:nvSpPr>
        <p:spPr>
          <a:xfrm>
            <a:off x="2987824" y="2204864"/>
            <a:ext cx="360040" cy="1008112"/>
          </a:xfrm>
          <a:prstGeom prst="down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8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3600" y="4294122"/>
            <a:ext cx="2220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 smtClean="0">
                <a:solidFill>
                  <a:schemeClr val="bg1">
                    <a:lumMod val="50000"/>
                  </a:schemeClr>
                </a:solidFill>
              </a:rPr>
              <a:t>1000</a:t>
            </a:r>
            <a:r>
              <a:rPr lang="ru-RU" sz="1200" dirty="0" smtClean="0">
                <a:solidFill>
                  <a:schemeClr val="bg1">
                    <a:lumMod val="65000"/>
                  </a:schemeClr>
                </a:solidFill>
              </a:rPr>
              <a:t>0</a:t>
            </a:r>
            <a:r>
              <a:rPr lang="ru-RU" sz="1200" dirty="0" smtClean="0">
                <a:solidFill>
                  <a:schemeClr val="bg1">
                    <a:lumMod val="75000"/>
                  </a:schemeClr>
                </a:solidFill>
              </a:rPr>
              <a:t>0</a:t>
            </a:r>
            <a:r>
              <a:rPr lang="ru-RU" sz="1200" dirty="0" smtClean="0">
                <a:solidFill>
                  <a:schemeClr val="bg1">
                    <a:lumMod val="85000"/>
                  </a:schemeClr>
                </a:solidFill>
              </a:rPr>
              <a:t>0</a:t>
            </a:r>
            <a:r>
              <a:rPr lang="ru-RU" sz="1200" dirty="0" smtClean="0">
                <a:solidFill>
                  <a:schemeClr val="bg1">
                    <a:lumMod val="95000"/>
                  </a:schemeClr>
                </a:solidFill>
              </a:rPr>
              <a:t>0</a:t>
            </a:r>
            <a:r>
              <a:rPr lang="ru-RU" sz="1200" dirty="0" smtClean="0">
                <a:solidFill>
                  <a:schemeClr val="bg1">
                    <a:lumMod val="50000"/>
                  </a:schemeClr>
                </a:solidFill>
              </a:rPr>
              <a:t> строк ТЧ документов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412776"/>
            <a:ext cx="5131596" cy="283944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256" y="4688341"/>
            <a:ext cx="5145905" cy="103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9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19872" y="5589240"/>
            <a:ext cx="2376264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с данными</a:t>
            </a:r>
          </a:p>
          <a:p>
            <a:pPr algn="ctr"/>
            <a:r>
              <a:rPr lang="ru-RU" dirty="0" smtClean="0"/>
              <a:t>(1 000 000 000 строк)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75856" y="1052736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для показа данных (</a:t>
            </a:r>
            <a:r>
              <a:rPr lang="en-US" dirty="0" smtClean="0"/>
              <a:t>~</a:t>
            </a:r>
            <a:r>
              <a:rPr lang="ru-RU" dirty="0" smtClean="0"/>
              <a:t>30</a:t>
            </a:r>
            <a:r>
              <a:rPr lang="en-US" dirty="0" smtClean="0"/>
              <a:t> </a:t>
            </a:r>
            <a:r>
              <a:rPr lang="ru-RU" dirty="0" smtClean="0"/>
              <a:t>строк)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87018" y="3204953"/>
            <a:ext cx="8810374" cy="209625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9" name="Цилиндр 8"/>
          <p:cNvSpPr/>
          <p:nvPr/>
        </p:nvSpPr>
        <p:spPr>
          <a:xfrm>
            <a:off x="1403648" y="5383945"/>
            <a:ext cx="5256584" cy="1141399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0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19872" y="5589240"/>
            <a:ext cx="2376264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с данными</a:t>
            </a:r>
          </a:p>
          <a:p>
            <a:pPr algn="ctr"/>
            <a:r>
              <a:rPr lang="ru-RU" dirty="0" smtClean="0"/>
              <a:t>(1 000 000 000 строк)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403648" y="1052028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для показа данных (</a:t>
            </a:r>
            <a:r>
              <a:rPr lang="en-US" dirty="0" smtClean="0"/>
              <a:t>~</a:t>
            </a:r>
            <a:r>
              <a:rPr lang="ru-RU" dirty="0" smtClean="0"/>
              <a:t>30</a:t>
            </a:r>
            <a:r>
              <a:rPr lang="en-US" dirty="0" smtClean="0"/>
              <a:t> </a:t>
            </a:r>
            <a:r>
              <a:rPr lang="ru-RU" dirty="0" smtClean="0"/>
              <a:t>строк)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788024" y="3428872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Читаем 30 строк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788024" y="1052028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Для показа 30 строк</a:t>
            </a:r>
            <a:endParaRPr lang="ru-RU" dirty="0"/>
          </a:p>
        </p:txBody>
      </p:sp>
      <p:sp>
        <p:nvSpPr>
          <p:cNvPr id="12" name="Стрелка вверх 11"/>
          <p:cNvSpPr/>
          <p:nvPr/>
        </p:nvSpPr>
        <p:spPr>
          <a:xfrm>
            <a:off x="5220072" y="4509120"/>
            <a:ext cx="288032" cy="108012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верх 12"/>
          <p:cNvSpPr/>
          <p:nvPr/>
        </p:nvSpPr>
        <p:spPr>
          <a:xfrm>
            <a:off x="5214030" y="2191135"/>
            <a:ext cx="294073" cy="108012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лево 13"/>
          <p:cNvSpPr/>
          <p:nvPr/>
        </p:nvSpPr>
        <p:spPr>
          <a:xfrm>
            <a:off x="3984924" y="1376064"/>
            <a:ext cx="720080" cy="36004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87018" y="3204953"/>
            <a:ext cx="8810374" cy="209625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7" name="Цилиндр 16"/>
          <p:cNvSpPr/>
          <p:nvPr/>
        </p:nvSpPr>
        <p:spPr>
          <a:xfrm>
            <a:off x="1403648" y="5383945"/>
            <a:ext cx="5256584" cy="1141399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86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19872" y="5589240"/>
            <a:ext cx="2376264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с данными</a:t>
            </a:r>
          </a:p>
          <a:p>
            <a:pPr algn="ctr"/>
            <a:r>
              <a:rPr lang="ru-RU" dirty="0" smtClean="0"/>
              <a:t>(1 000 000 000 строк)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403648" y="1052028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для показа данных (</a:t>
            </a:r>
            <a:r>
              <a:rPr lang="en-US" dirty="0" smtClean="0"/>
              <a:t>~</a:t>
            </a:r>
            <a:r>
              <a:rPr lang="ru-RU" dirty="0" smtClean="0"/>
              <a:t>30</a:t>
            </a:r>
            <a:r>
              <a:rPr lang="en-US" dirty="0" smtClean="0"/>
              <a:t> </a:t>
            </a:r>
            <a:r>
              <a:rPr lang="ru-RU" dirty="0" smtClean="0"/>
              <a:t>строк)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788024" y="3428872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Дочитывает по 1 строке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788024" y="1052028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Для показа плюс </a:t>
            </a:r>
            <a:r>
              <a:rPr lang="ru-RU" dirty="0"/>
              <a:t>1 </a:t>
            </a:r>
            <a:r>
              <a:rPr lang="ru-RU" dirty="0" smtClean="0"/>
              <a:t>строка</a:t>
            </a:r>
            <a:endParaRPr lang="ru-RU" dirty="0"/>
          </a:p>
        </p:txBody>
      </p:sp>
      <p:sp>
        <p:nvSpPr>
          <p:cNvPr id="11" name="Стрелка вверх 10"/>
          <p:cNvSpPr/>
          <p:nvPr/>
        </p:nvSpPr>
        <p:spPr>
          <a:xfrm>
            <a:off x="5220072" y="4509120"/>
            <a:ext cx="288032" cy="108012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верх 11"/>
          <p:cNvSpPr/>
          <p:nvPr/>
        </p:nvSpPr>
        <p:spPr>
          <a:xfrm>
            <a:off x="5214030" y="2191135"/>
            <a:ext cx="294073" cy="108012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лево 12"/>
          <p:cNvSpPr/>
          <p:nvPr/>
        </p:nvSpPr>
        <p:spPr>
          <a:xfrm>
            <a:off x="3984924" y="1376064"/>
            <a:ext cx="720080" cy="36004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09625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6" name="Цилиндр 15"/>
          <p:cNvSpPr/>
          <p:nvPr/>
        </p:nvSpPr>
        <p:spPr>
          <a:xfrm>
            <a:off x="1403648" y="5383945"/>
            <a:ext cx="5256584" cy="1141399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85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19872" y="5589240"/>
            <a:ext cx="2376264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с данными</a:t>
            </a:r>
          </a:p>
          <a:p>
            <a:pPr algn="ctr"/>
            <a:r>
              <a:rPr lang="ru-RU" dirty="0" smtClean="0"/>
              <a:t>(1 000 000 000 строк)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403648" y="1052028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для показа данных (</a:t>
            </a:r>
            <a:r>
              <a:rPr lang="en-US" dirty="0" smtClean="0"/>
              <a:t>~</a:t>
            </a:r>
            <a:r>
              <a:rPr lang="ru-RU" dirty="0" smtClean="0"/>
              <a:t>30</a:t>
            </a:r>
            <a:r>
              <a:rPr lang="en-US" dirty="0" smtClean="0"/>
              <a:t> </a:t>
            </a:r>
            <a:r>
              <a:rPr lang="ru-RU" dirty="0" smtClean="0"/>
              <a:t>строк)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788024" y="3428872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Читаем 1 000 000 000 строк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788024" y="1052028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Для показа 1 000 000 000 строк</a:t>
            </a:r>
            <a:endParaRPr lang="ru-RU" dirty="0"/>
          </a:p>
        </p:txBody>
      </p:sp>
      <p:sp>
        <p:nvSpPr>
          <p:cNvPr id="10" name="Стрелка вверх 9"/>
          <p:cNvSpPr/>
          <p:nvPr/>
        </p:nvSpPr>
        <p:spPr>
          <a:xfrm>
            <a:off x="5220072" y="4509120"/>
            <a:ext cx="288032" cy="108012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верх 10"/>
          <p:cNvSpPr/>
          <p:nvPr/>
        </p:nvSpPr>
        <p:spPr>
          <a:xfrm>
            <a:off x="5214030" y="2191135"/>
            <a:ext cx="294073" cy="108012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лево 11"/>
          <p:cNvSpPr/>
          <p:nvPr/>
        </p:nvSpPr>
        <p:spPr>
          <a:xfrm>
            <a:off x="3984924" y="1376064"/>
            <a:ext cx="720080" cy="36004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87018" y="3204953"/>
            <a:ext cx="8810374" cy="209625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5" name="Цилиндр 14"/>
          <p:cNvSpPr/>
          <p:nvPr/>
        </p:nvSpPr>
        <p:spPr>
          <a:xfrm>
            <a:off x="1403648" y="5383945"/>
            <a:ext cx="5256584" cy="1141399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60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19872" y="5589240"/>
            <a:ext cx="2376264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с данными</a:t>
            </a:r>
          </a:p>
          <a:p>
            <a:pPr algn="ctr"/>
            <a:r>
              <a:rPr lang="ru-RU" dirty="0" smtClean="0"/>
              <a:t>(1 000 000 000 строк)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403648" y="1052028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для показа данных (</a:t>
            </a:r>
            <a:r>
              <a:rPr lang="en-US" dirty="0" smtClean="0"/>
              <a:t>~</a:t>
            </a:r>
            <a:r>
              <a:rPr lang="ru-RU" dirty="0" smtClean="0"/>
              <a:t>30</a:t>
            </a:r>
            <a:r>
              <a:rPr lang="en-US" dirty="0" smtClean="0"/>
              <a:t> </a:t>
            </a:r>
            <a:r>
              <a:rPr lang="ru-RU" dirty="0" smtClean="0"/>
              <a:t>строк)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788024" y="3428872"/>
            <a:ext cx="2520280" cy="100811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Читаем 1 000  строк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788024" y="1052028"/>
            <a:ext cx="2520280" cy="100811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Для показа 1 000  строк</a:t>
            </a:r>
            <a:endParaRPr lang="ru-RU" dirty="0"/>
          </a:p>
        </p:txBody>
      </p:sp>
      <p:sp>
        <p:nvSpPr>
          <p:cNvPr id="10" name="Стрелка вверх 9"/>
          <p:cNvSpPr/>
          <p:nvPr/>
        </p:nvSpPr>
        <p:spPr>
          <a:xfrm>
            <a:off x="5220072" y="4509120"/>
            <a:ext cx="288032" cy="1080120"/>
          </a:xfrm>
          <a:prstGeom prst="up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верх 10"/>
          <p:cNvSpPr/>
          <p:nvPr/>
        </p:nvSpPr>
        <p:spPr>
          <a:xfrm>
            <a:off x="5214030" y="2191135"/>
            <a:ext cx="294073" cy="1080120"/>
          </a:xfrm>
          <a:prstGeom prst="up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лево 11"/>
          <p:cNvSpPr/>
          <p:nvPr/>
        </p:nvSpPr>
        <p:spPr>
          <a:xfrm>
            <a:off x="3984924" y="1376064"/>
            <a:ext cx="720080" cy="360040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87018" y="3204953"/>
            <a:ext cx="8810374" cy="209625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5" name="Цилиндр 14"/>
          <p:cNvSpPr/>
          <p:nvPr/>
        </p:nvSpPr>
        <p:spPr>
          <a:xfrm>
            <a:off x="1403648" y="5383945"/>
            <a:ext cx="5256584" cy="1141399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48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19872" y="5589240"/>
            <a:ext cx="2376264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с данными</a:t>
            </a:r>
          </a:p>
          <a:p>
            <a:pPr algn="ctr"/>
            <a:r>
              <a:rPr lang="ru-RU" dirty="0" smtClean="0"/>
              <a:t>(1 000 000 000 строк)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403648" y="1052028"/>
            <a:ext cx="2520280" cy="10081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для показа данных (</a:t>
            </a:r>
            <a:r>
              <a:rPr lang="en-US" dirty="0" smtClean="0"/>
              <a:t>~</a:t>
            </a:r>
            <a:r>
              <a:rPr lang="ru-RU" dirty="0" smtClean="0"/>
              <a:t>30</a:t>
            </a:r>
            <a:r>
              <a:rPr lang="en-US" dirty="0" smtClean="0"/>
              <a:t> </a:t>
            </a:r>
            <a:r>
              <a:rPr lang="ru-RU" dirty="0" smtClean="0"/>
              <a:t>строк)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788024" y="3428872"/>
            <a:ext cx="2520280" cy="100811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Дочитывает по 1 000 строке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788024" y="1052028"/>
            <a:ext cx="2520280" cy="100811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Для показа плюс 1 000 строка</a:t>
            </a:r>
            <a:endParaRPr lang="ru-RU" dirty="0"/>
          </a:p>
        </p:txBody>
      </p:sp>
      <p:sp>
        <p:nvSpPr>
          <p:cNvPr id="10" name="Стрелка вверх 9"/>
          <p:cNvSpPr/>
          <p:nvPr/>
        </p:nvSpPr>
        <p:spPr>
          <a:xfrm>
            <a:off x="5220072" y="4509120"/>
            <a:ext cx="288032" cy="1080120"/>
          </a:xfrm>
          <a:prstGeom prst="up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верх 10"/>
          <p:cNvSpPr/>
          <p:nvPr/>
        </p:nvSpPr>
        <p:spPr>
          <a:xfrm>
            <a:off x="5214030" y="2191135"/>
            <a:ext cx="294073" cy="1080120"/>
          </a:xfrm>
          <a:prstGeom prst="up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лево 11"/>
          <p:cNvSpPr/>
          <p:nvPr/>
        </p:nvSpPr>
        <p:spPr>
          <a:xfrm>
            <a:off x="3984924" y="1376064"/>
            <a:ext cx="720080" cy="360040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87018" y="3204953"/>
            <a:ext cx="8810374" cy="209625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5" name="Цилиндр 14"/>
          <p:cNvSpPr/>
          <p:nvPr/>
        </p:nvSpPr>
        <p:spPr>
          <a:xfrm>
            <a:off x="1403648" y="5383945"/>
            <a:ext cx="5256584" cy="1141399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68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Читаем </a:t>
            </a:r>
            <a:r>
              <a:rPr lang="ru-RU" dirty="0" smtClean="0"/>
              <a:t>поля, которые </a:t>
            </a:r>
            <a:r>
              <a:rPr lang="ru-RU" dirty="0"/>
              <a:t>хотим показать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111183"/>
              </p:ext>
            </p:extLst>
          </p:nvPr>
        </p:nvGraphicFramePr>
        <p:xfrm>
          <a:off x="5004048" y="1729253"/>
          <a:ext cx="3968070" cy="4364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28">
                  <a:extLst>
                    <a:ext uri="{9D8B030D-6E8A-4147-A177-3AD203B41FA5}">
                      <a16:colId xmlns:a16="http://schemas.microsoft.com/office/drawing/2014/main" val="2417241233"/>
                    </a:ext>
                  </a:extLst>
                </a:gridCol>
                <a:gridCol w="509310">
                  <a:extLst>
                    <a:ext uri="{9D8B030D-6E8A-4147-A177-3AD203B41FA5}">
                      <a16:colId xmlns:a16="http://schemas.microsoft.com/office/drawing/2014/main" val="2614918726"/>
                    </a:ext>
                  </a:extLst>
                </a:gridCol>
                <a:gridCol w="1448500">
                  <a:extLst>
                    <a:ext uri="{9D8B030D-6E8A-4147-A177-3AD203B41FA5}">
                      <a16:colId xmlns:a16="http://schemas.microsoft.com/office/drawing/2014/main" val="1563826823"/>
                    </a:ext>
                  </a:extLst>
                </a:gridCol>
                <a:gridCol w="1182632">
                  <a:extLst>
                    <a:ext uri="{9D8B030D-6E8A-4147-A177-3AD203B41FA5}">
                      <a16:colId xmlns:a16="http://schemas.microsoft.com/office/drawing/2014/main" val="3132924762"/>
                    </a:ext>
                  </a:extLst>
                </a:gridCol>
              </a:tblGrid>
              <a:tr h="64996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Ссылка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Код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Наименование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Буквенный код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609429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&lt;111&gt;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Первый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One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648580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&lt;222&gt;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Второй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Two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6971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&lt;333&gt;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Третий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Three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985436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&lt;444&gt;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4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Четвертый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Four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638605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&lt;555&gt;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Пятый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Five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7361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&lt;666&gt;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Шестой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Six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11361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&lt;777&gt;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7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Седьмой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Seven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673323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&lt;888&gt;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Восьмой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Eight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61273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&lt;999&gt;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9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Девятый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Nine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762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669759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0405"/>
              </p:ext>
            </p:extLst>
          </p:nvPr>
        </p:nvGraphicFramePr>
        <p:xfrm>
          <a:off x="188119" y="1700808"/>
          <a:ext cx="4616144" cy="21355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2798">
                  <a:extLst>
                    <a:ext uri="{9D8B030D-6E8A-4147-A177-3AD203B41FA5}">
                      <a16:colId xmlns:a16="http://schemas.microsoft.com/office/drawing/2014/main" val="837789689"/>
                    </a:ext>
                  </a:extLst>
                </a:gridCol>
                <a:gridCol w="592491">
                  <a:extLst>
                    <a:ext uri="{9D8B030D-6E8A-4147-A177-3AD203B41FA5}">
                      <a16:colId xmlns:a16="http://schemas.microsoft.com/office/drawing/2014/main" val="1765076859"/>
                    </a:ext>
                  </a:extLst>
                </a:gridCol>
                <a:gridCol w="1685073">
                  <a:extLst>
                    <a:ext uri="{9D8B030D-6E8A-4147-A177-3AD203B41FA5}">
                      <a16:colId xmlns:a16="http://schemas.microsoft.com/office/drawing/2014/main" val="1097460054"/>
                    </a:ext>
                  </a:extLst>
                </a:gridCol>
                <a:gridCol w="1375782">
                  <a:extLst>
                    <a:ext uri="{9D8B030D-6E8A-4147-A177-3AD203B41FA5}">
                      <a16:colId xmlns:a16="http://schemas.microsoft.com/office/drawing/2014/main" val="1640747347"/>
                    </a:ext>
                  </a:extLst>
                </a:gridCol>
              </a:tblGrid>
              <a:tr h="649963">
                <a:tc>
                  <a:txBody>
                    <a:bodyPr/>
                    <a:lstStyle/>
                    <a:p>
                      <a:r>
                        <a:rPr lang="ru-RU" dirty="0" smtClean="0"/>
                        <a:t>Ссылка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Наименование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Буквенный код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021012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&lt;111&gt;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Первый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056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&lt;222&gt;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Второй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Two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0505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&lt;333&gt;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Третий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Three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10309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&lt;444&gt;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Четвертый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Four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964478"/>
                  </a:ext>
                </a:extLst>
              </a:tr>
            </a:tbl>
          </a:graphicData>
        </a:graphic>
      </p:graphicFrame>
      <p:sp>
        <p:nvSpPr>
          <p:cNvPr id="5" name="Стрелка углом 4"/>
          <p:cNvSpPr/>
          <p:nvPr/>
        </p:nvSpPr>
        <p:spPr>
          <a:xfrm rot="16200000">
            <a:off x="2671907" y="3456884"/>
            <a:ext cx="1656184" cy="2608527"/>
          </a:xfrm>
          <a:prstGeom prst="bentArrow">
            <a:avLst>
              <a:gd name="adj1" fmla="val 15464"/>
              <a:gd name="adj2" fmla="val 19981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8119" y="1289435"/>
            <a:ext cx="324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Таблица формы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410066" y="1316596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«Порция» данных динамического списка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915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Читаем поля, которые хотим показать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950222"/>
              </p:ext>
            </p:extLst>
          </p:nvPr>
        </p:nvGraphicFramePr>
        <p:xfrm>
          <a:off x="5004048" y="1628800"/>
          <a:ext cx="2785438" cy="4364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28">
                  <a:extLst>
                    <a:ext uri="{9D8B030D-6E8A-4147-A177-3AD203B41FA5}">
                      <a16:colId xmlns:a16="http://schemas.microsoft.com/office/drawing/2014/main" val="2417241233"/>
                    </a:ext>
                  </a:extLst>
                </a:gridCol>
                <a:gridCol w="509310">
                  <a:extLst>
                    <a:ext uri="{9D8B030D-6E8A-4147-A177-3AD203B41FA5}">
                      <a16:colId xmlns:a16="http://schemas.microsoft.com/office/drawing/2014/main" val="2614918726"/>
                    </a:ext>
                  </a:extLst>
                </a:gridCol>
                <a:gridCol w="1448500">
                  <a:extLst>
                    <a:ext uri="{9D8B030D-6E8A-4147-A177-3AD203B41FA5}">
                      <a16:colId xmlns:a16="http://schemas.microsoft.com/office/drawing/2014/main" val="1563826823"/>
                    </a:ext>
                  </a:extLst>
                </a:gridCol>
              </a:tblGrid>
              <a:tr h="64996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Ссылка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Код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Наименование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609429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&lt;111&gt;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Первый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648580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&lt;222&gt;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Второй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6971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&lt;333&gt;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Третий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985436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&lt;444&gt;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4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Четвертый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638605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&lt;555&gt;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Пятый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7361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&lt;666&gt;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Шестой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11361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&lt;777&gt;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7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Седьмой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673323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&lt;888&gt;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Восьмой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61273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&lt;999&gt;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9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Девятый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762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669759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779916"/>
              </p:ext>
            </p:extLst>
          </p:nvPr>
        </p:nvGraphicFramePr>
        <p:xfrm>
          <a:off x="188119" y="1653445"/>
          <a:ext cx="3240362" cy="21355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2798">
                  <a:extLst>
                    <a:ext uri="{9D8B030D-6E8A-4147-A177-3AD203B41FA5}">
                      <a16:colId xmlns:a16="http://schemas.microsoft.com/office/drawing/2014/main" val="837789689"/>
                    </a:ext>
                  </a:extLst>
                </a:gridCol>
                <a:gridCol w="592491">
                  <a:extLst>
                    <a:ext uri="{9D8B030D-6E8A-4147-A177-3AD203B41FA5}">
                      <a16:colId xmlns:a16="http://schemas.microsoft.com/office/drawing/2014/main" val="1765076859"/>
                    </a:ext>
                  </a:extLst>
                </a:gridCol>
                <a:gridCol w="1685073">
                  <a:extLst>
                    <a:ext uri="{9D8B030D-6E8A-4147-A177-3AD203B41FA5}">
                      <a16:colId xmlns:a16="http://schemas.microsoft.com/office/drawing/2014/main" val="1097460054"/>
                    </a:ext>
                  </a:extLst>
                </a:gridCol>
              </a:tblGrid>
              <a:tr h="649963">
                <a:tc>
                  <a:txBody>
                    <a:bodyPr/>
                    <a:lstStyle/>
                    <a:p>
                      <a:r>
                        <a:rPr lang="ru-RU" dirty="0" smtClean="0"/>
                        <a:t>Ссылка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Наименование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021012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&lt;111&gt;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Первый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056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&lt;222&gt;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Второй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0505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&lt;333&gt;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Третий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10309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&lt;444&gt;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Четвертый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964478"/>
                  </a:ext>
                </a:extLst>
              </a:tr>
            </a:tbl>
          </a:graphicData>
        </a:graphic>
      </p:graphicFrame>
      <p:sp>
        <p:nvSpPr>
          <p:cNvPr id="5" name="Стрелка углом 4"/>
          <p:cNvSpPr/>
          <p:nvPr/>
        </p:nvSpPr>
        <p:spPr>
          <a:xfrm rot="16200000">
            <a:off x="2671907" y="3456884"/>
            <a:ext cx="1656184" cy="2608527"/>
          </a:xfrm>
          <a:prstGeom prst="bentArrow">
            <a:avLst>
              <a:gd name="adj1" fmla="val 15464"/>
              <a:gd name="adj2" fmla="val 19981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8119" y="1289435"/>
            <a:ext cx="324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Таблица формы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410066" y="1316596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«Порция» данных динамического списка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4242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71745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Еще читаем поля, отмеченные флагом «Использовать всегда»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120470"/>
              </p:ext>
            </p:extLst>
          </p:nvPr>
        </p:nvGraphicFramePr>
        <p:xfrm>
          <a:off x="4410066" y="1710255"/>
          <a:ext cx="4536504" cy="44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41724123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1491872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56382682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132924762"/>
                    </a:ext>
                  </a:extLst>
                </a:gridCol>
              </a:tblGrid>
              <a:tr h="64996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Ссылка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Код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Наименование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Буквенный </a:t>
                      </a:r>
                      <a:r>
                        <a:rPr lang="ru-RU" sz="1400" dirty="0" smtClean="0"/>
                        <a:t>код (Использовать всегда </a:t>
                      </a:r>
                      <a:r>
                        <a:rPr lang="en-US" sz="1400" dirty="0" smtClean="0"/>
                        <a:t>V</a:t>
                      </a:r>
                      <a:r>
                        <a:rPr lang="ru-RU" sz="1400" dirty="0" smtClean="0"/>
                        <a:t>)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609429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&lt;111&gt;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Первый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One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648580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&lt;222&gt;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Второй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Two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6971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&lt;333&gt;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Третий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Three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985436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&lt;444&gt;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4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Четвертый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Four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638605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&lt;555&gt;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Пятый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Five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7361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&lt;666&gt;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Шестой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Six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11361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&lt;777&gt;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7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Седьмой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Seven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673323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&lt;888&gt;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Восьмой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Eight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61273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&lt;999&gt;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9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Девятый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Nine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762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..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669759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69482"/>
              </p:ext>
            </p:extLst>
          </p:nvPr>
        </p:nvGraphicFramePr>
        <p:xfrm>
          <a:off x="188119" y="1710255"/>
          <a:ext cx="3240362" cy="21355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2798">
                  <a:extLst>
                    <a:ext uri="{9D8B030D-6E8A-4147-A177-3AD203B41FA5}">
                      <a16:colId xmlns:a16="http://schemas.microsoft.com/office/drawing/2014/main" val="837789689"/>
                    </a:ext>
                  </a:extLst>
                </a:gridCol>
                <a:gridCol w="592491">
                  <a:extLst>
                    <a:ext uri="{9D8B030D-6E8A-4147-A177-3AD203B41FA5}">
                      <a16:colId xmlns:a16="http://schemas.microsoft.com/office/drawing/2014/main" val="1765076859"/>
                    </a:ext>
                  </a:extLst>
                </a:gridCol>
                <a:gridCol w="1685073">
                  <a:extLst>
                    <a:ext uri="{9D8B030D-6E8A-4147-A177-3AD203B41FA5}">
                      <a16:colId xmlns:a16="http://schemas.microsoft.com/office/drawing/2014/main" val="1097460054"/>
                    </a:ext>
                  </a:extLst>
                </a:gridCol>
              </a:tblGrid>
              <a:tr h="649963">
                <a:tc>
                  <a:txBody>
                    <a:bodyPr/>
                    <a:lstStyle/>
                    <a:p>
                      <a:r>
                        <a:rPr lang="ru-RU" dirty="0" smtClean="0"/>
                        <a:t>Ссылка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Наименование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021012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&lt;111&gt;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Первый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056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&lt;222&gt;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Второй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0505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&lt;333&gt;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Третий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10309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&lt;444&gt;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Четвертый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964478"/>
                  </a:ext>
                </a:extLst>
              </a:tr>
            </a:tbl>
          </a:graphicData>
        </a:graphic>
      </p:graphicFrame>
      <p:sp>
        <p:nvSpPr>
          <p:cNvPr id="5" name="Стрелка углом 4"/>
          <p:cNvSpPr/>
          <p:nvPr/>
        </p:nvSpPr>
        <p:spPr>
          <a:xfrm rot="16200000">
            <a:off x="2411762" y="3717031"/>
            <a:ext cx="1656184" cy="2088234"/>
          </a:xfrm>
          <a:prstGeom prst="bentArrow">
            <a:avLst>
              <a:gd name="adj1" fmla="val 15464"/>
              <a:gd name="adj2" fmla="val 19981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8119" y="1289435"/>
            <a:ext cx="324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Таблица формы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410066" y="1316596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«Порция» данных динамического списка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565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727842"/>
          </a:xfrm>
        </p:spPr>
        <p:txBody>
          <a:bodyPr>
            <a:noAutofit/>
          </a:bodyPr>
          <a:lstStyle/>
          <a:p>
            <a:r>
              <a:rPr lang="ru-RU" sz="2400" dirty="0" smtClean="0"/>
              <a:t>Свойства Таблица формы</a:t>
            </a:r>
            <a:br>
              <a:rPr lang="ru-RU" sz="2400" dirty="0" smtClean="0"/>
            </a:br>
            <a:r>
              <a:rPr lang="ru-RU" sz="2400" dirty="0" smtClean="0"/>
              <a:t> Текущие данные </a:t>
            </a:r>
            <a:r>
              <a:rPr lang="en-US" sz="2400" dirty="0" smtClean="0"/>
              <a:t>vs</a:t>
            </a:r>
            <a:r>
              <a:rPr lang="ru-RU" sz="2400" dirty="0" smtClean="0"/>
              <a:t> Текущая строка</a:t>
            </a:r>
            <a:endParaRPr lang="ru-RU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188119" y="1628800"/>
          <a:ext cx="3240362" cy="21355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2798">
                  <a:extLst>
                    <a:ext uri="{9D8B030D-6E8A-4147-A177-3AD203B41FA5}">
                      <a16:colId xmlns:a16="http://schemas.microsoft.com/office/drawing/2014/main" val="837789689"/>
                    </a:ext>
                  </a:extLst>
                </a:gridCol>
                <a:gridCol w="592491">
                  <a:extLst>
                    <a:ext uri="{9D8B030D-6E8A-4147-A177-3AD203B41FA5}">
                      <a16:colId xmlns:a16="http://schemas.microsoft.com/office/drawing/2014/main" val="1765076859"/>
                    </a:ext>
                  </a:extLst>
                </a:gridCol>
                <a:gridCol w="1685073">
                  <a:extLst>
                    <a:ext uri="{9D8B030D-6E8A-4147-A177-3AD203B41FA5}">
                      <a16:colId xmlns:a16="http://schemas.microsoft.com/office/drawing/2014/main" val="1097460054"/>
                    </a:ext>
                  </a:extLst>
                </a:gridCol>
              </a:tblGrid>
              <a:tr h="649963">
                <a:tc>
                  <a:txBody>
                    <a:bodyPr/>
                    <a:lstStyle/>
                    <a:p>
                      <a:r>
                        <a:rPr lang="ru-RU" dirty="0" smtClean="0"/>
                        <a:t>Ссылка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Наименование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021012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&lt;111&gt;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Первый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056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&lt;222&gt;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Второй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05054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&lt;333&gt;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Третий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103091"/>
                  </a:ext>
                </a:extLst>
              </a:tr>
              <a:tr h="371408">
                <a:tc>
                  <a:txBody>
                    <a:bodyPr/>
                    <a:lstStyle/>
                    <a:p>
                      <a:r>
                        <a:rPr lang="ru-RU" dirty="0" smtClean="0"/>
                        <a:t>&lt;444&gt;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Четвертый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96447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07704" y="3810103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F0"/>
                </a:solidFill>
              </a:rPr>
              <a:t>Текущие данные        </a:t>
            </a:r>
            <a:r>
              <a:rPr lang="en-US" dirty="0" smtClean="0">
                <a:solidFill>
                  <a:srgbClr val="C00000"/>
                </a:solidFill>
              </a:rPr>
              <a:t>vs</a:t>
            </a:r>
            <a:r>
              <a:rPr lang="ru-RU" dirty="0" smtClean="0"/>
              <a:t>       </a:t>
            </a:r>
            <a:r>
              <a:rPr lang="en-US" dirty="0" smtClean="0"/>
              <a:t> </a:t>
            </a:r>
            <a:r>
              <a:rPr lang="ru-RU" dirty="0">
                <a:solidFill>
                  <a:srgbClr val="00B050"/>
                </a:solidFill>
              </a:rPr>
              <a:t>Т</a:t>
            </a:r>
            <a:r>
              <a:rPr lang="ru-RU" dirty="0" smtClean="0">
                <a:solidFill>
                  <a:srgbClr val="00B050"/>
                </a:solidFill>
              </a:rPr>
              <a:t>екущая строка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8119" y="1241774"/>
            <a:ext cx="3240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Таблица формы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7504" y="2636912"/>
            <a:ext cx="3456384" cy="360040"/>
          </a:xfrm>
          <a:prstGeom prst="rect">
            <a:avLst/>
          </a:prstGeom>
          <a:noFill/>
          <a:ln w="3492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Выноска 1 9"/>
          <p:cNvSpPr/>
          <p:nvPr/>
        </p:nvSpPr>
        <p:spPr>
          <a:xfrm>
            <a:off x="4211960" y="2348880"/>
            <a:ext cx="4536504" cy="504056"/>
          </a:xfrm>
          <a:prstGeom prst="borderCallout1">
            <a:avLst>
              <a:gd name="adj1" fmla="val 45205"/>
              <a:gd name="adj2" fmla="val -1614"/>
              <a:gd name="adj3" fmla="val 78486"/>
              <a:gd name="adj4" fmla="val -12717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 этой строке курсор (эта строка «текущая»)</a:t>
            </a:r>
            <a:endParaRPr lang="ru-RU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230556"/>
              </p:ext>
            </p:extLst>
          </p:nvPr>
        </p:nvGraphicFramePr>
        <p:xfrm>
          <a:off x="188119" y="4214824"/>
          <a:ext cx="3807818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03909">
                  <a:extLst>
                    <a:ext uri="{9D8B030D-6E8A-4147-A177-3AD203B41FA5}">
                      <a16:colId xmlns:a16="http://schemas.microsoft.com/office/drawing/2014/main" val="3906318470"/>
                    </a:ext>
                  </a:extLst>
                </a:gridCol>
                <a:gridCol w="1903909">
                  <a:extLst>
                    <a:ext uri="{9D8B030D-6E8A-4147-A177-3AD203B41FA5}">
                      <a16:colId xmlns:a16="http://schemas.microsoft.com/office/drawing/2014/main" val="3365106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Ключ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Значение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889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Ссылка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&lt;222&gt;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945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79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Наименование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Второй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997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Буквенный код*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Two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727419"/>
                  </a:ext>
                </a:extLst>
              </a:tr>
            </a:tbl>
          </a:graphicData>
        </a:graphic>
      </p:graphicFrame>
      <p:sp>
        <p:nvSpPr>
          <p:cNvPr id="12" name="Блок-схема: альтернативный процесс 11"/>
          <p:cNvSpPr/>
          <p:nvPr/>
        </p:nvSpPr>
        <p:spPr>
          <a:xfrm>
            <a:off x="4557620" y="4237425"/>
            <a:ext cx="4262851" cy="625262"/>
          </a:xfrm>
          <a:prstGeom prst="flowChartAlternateProcess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То, что идентифицирует строку, отображаемую в таблицы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47963" y="4920677"/>
            <a:ext cx="47241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списках Объектных таблиц – Ссылка</a:t>
            </a:r>
          </a:p>
          <a:p>
            <a:r>
              <a:rPr lang="ru-RU" dirty="0" smtClean="0"/>
              <a:t>В списках Регистров – Ключ записи</a:t>
            </a:r>
          </a:p>
          <a:p>
            <a:r>
              <a:rPr lang="ru-RU" dirty="0" smtClean="0"/>
              <a:t>В таблицах Табличных частей – число (индекс элемента коллекции)</a:t>
            </a:r>
          </a:p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188119" y="6028673"/>
            <a:ext cx="452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* </a:t>
            </a:r>
            <a:r>
              <a:rPr lang="ru-RU" sz="1600" i="1" dirty="0" smtClean="0"/>
              <a:t>Если помечено флагом «Использовать всегда»</a:t>
            </a:r>
            <a:endParaRPr lang="ru-RU" sz="1600" i="1" dirty="0"/>
          </a:p>
        </p:txBody>
      </p:sp>
    </p:spTree>
    <p:extLst>
      <p:ext uri="{BB962C8B-B14F-4D97-AF65-F5344CB8AC3E}">
        <p14:creationId xmlns:p14="http://schemas.microsoft.com/office/powerpoint/2010/main" val="135104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 lang="ru-RU" dirty="0" smtClean="0"/>
              <a:t>Клиент серверные вызовы </a:t>
            </a:r>
            <a:r>
              <a:rPr lang="ru-RU" smtClean="0"/>
              <a:t>в форме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1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 lang="en-US" dirty="0" smtClean="0"/>
              <a:t>&amp;</a:t>
            </a:r>
            <a:r>
              <a:rPr lang="ru-RU" dirty="0" smtClean="0"/>
              <a:t>На сервере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Вызов процедуры или функции с директивой компиляции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7955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723012" y="1802263"/>
            <a:ext cx="2259805" cy="109329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0426"/>
              <a:gd name="adj8" fmla="val 3747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4128" y="2551345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К</a:t>
            </a:r>
            <a:r>
              <a:rPr lang="ru-RU" i="1" dirty="0" smtClean="0"/>
              <a:t>онтекстный вызов</a:t>
            </a:r>
            <a:endParaRPr lang="ru-RU" i="1" dirty="0"/>
          </a:p>
        </p:txBody>
      </p:sp>
      <p:sp>
        <p:nvSpPr>
          <p:cNvPr id="20" name="Выноска 3 19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46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688108" y="1803283"/>
            <a:ext cx="2259805" cy="109329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1297"/>
              <a:gd name="adj8" fmla="val 4042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20" name="Стрелка вниз 19"/>
          <p:cNvSpPr/>
          <p:nvPr/>
        </p:nvSpPr>
        <p:spPr>
          <a:xfrm>
            <a:off x="8094255" y="1776074"/>
            <a:ext cx="504000" cy="146788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4592205" y="2815106"/>
            <a:ext cx="3846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Синхронизация данных формы</a:t>
            </a:r>
          </a:p>
        </p:txBody>
      </p:sp>
      <p:sp>
        <p:nvSpPr>
          <p:cNvPr id="22" name="Выноска 3 21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43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688108" y="1803283"/>
            <a:ext cx="2259805" cy="109329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1297"/>
              <a:gd name="adj8" fmla="val 4042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12" name="Выноска 3 11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Стрелка углом 10"/>
          <p:cNvSpPr/>
          <p:nvPr/>
        </p:nvSpPr>
        <p:spPr>
          <a:xfrm rot="10800000" flipH="1">
            <a:off x="5786845" y="2636911"/>
            <a:ext cx="576065" cy="2712671"/>
          </a:xfrm>
          <a:prstGeom prst="ben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90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688108" y="1803283"/>
            <a:ext cx="2259805" cy="109329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1297"/>
              <a:gd name="adj8" fmla="val 4042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19" name="Выноска 3 18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ru-RU" i="1" dirty="0" smtClean="0">
                <a:solidFill>
                  <a:schemeClr val="tx1"/>
                </a:solidFill>
              </a:rPr>
              <a:t>Выполнение действий</a:t>
            </a:r>
            <a:endParaRPr lang="ru-RU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19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688108" y="1803283"/>
            <a:ext cx="2259805" cy="109329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1297"/>
              <a:gd name="adj8" fmla="val 4042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12" name="Выноска 3 11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Стрелка вверх 9"/>
          <p:cNvSpPr/>
          <p:nvPr/>
        </p:nvSpPr>
        <p:spPr>
          <a:xfrm>
            <a:off x="8207281" y="1797238"/>
            <a:ext cx="504000" cy="14646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4894901" y="2824068"/>
            <a:ext cx="356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Возврат перерисованной формы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1717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ru-RU" i="1" dirty="0" smtClean="0">
                <a:solidFill>
                  <a:schemeClr val="tx1"/>
                </a:solidFill>
              </a:rPr>
              <a:t> </a:t>
            </a:r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10" name="Выноска 3 9"/>
          <p:cNvSpPr/>
          <p:nvPr/>
        </p:nvSpPr>
        <p:spPr>
          <a:xfrm>
            <a:off x="5688108" y="1803282"/>
            <a:ext cx="2259805" cy="1265677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1297"/>
              <a:gd name="adj8" fmla="val 4042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9" name="Стрелка углом 8"/>
          <p:cNvSpPr/>
          <p:nvPr/>
        </p:nvSpPr>
        <p:spPr>
          <a:xfrm>
            <a:off x="5849417" y="2492896"/>
            <a:ext cx="621231" cy="292288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54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688108" y="1803282"/>
            <a:ext cx="2259805" cy="1265677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1297"/>
              <a:gd name="adj8" fmla="val 4042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19" name="Выноска 3 18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ru-RU" i="1" dirty="0" smtClean="0">
                <a:solidFill>
                  <a:schemeClr val="tx1"/>
                </a:solidFill>
              </a:rPr>
              <a:t> </a:t>
            </a:r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88107" y="2422060"/>
            <a:ext cx="2259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smtClean="0"/>
              <a:t>Продолжение выполнения кода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81795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 lang="en-US" dirty="0" smtClean="0"/>
              <a:t>&amp;</a:t>
            </a:r>
            <a:r>
              <a:rPr lang="ru-RU" dirty="0" smtClean="0"/>
              <a:t>На сервере без контекста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Вызов процедуры или функции с директивой компиляции</a:t>
            </a:r>
          </a:p>
        </p:txBody>
      </p:sp>
    </p:spTree>
    <p:extLst>
      <p:ext uri="{BB962C8B-B14F-4D97-AF65-F5344CB8AC3E}">
        <p14:creationId xmlns:p14="http://schemas.microsoft.com/office/powerpoint/2010/main" val="192591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723012" y="1802262"/>
            <a:ext cx="2259805" cy="1194689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0426"/>
              <a:gd name="adj8" fmla="val 3747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20" name="Выноска 3 19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3012" y="2437522"/>
            <a:ext cx="2089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err="1" smtClean="0"/>
              <a:t>Внеконтекстный</a:t>
            </a:r>
            <a:r>
              <a:rPr lang="ru-RU" i="1" dirty="0" smtClean="0"/>
              <a:t/>
            </a:r>
            <a:br>
              <a:rPr lang="ru-RU" i="1" dirty="0" smtClean="0"/>
            </a:br>
            <a:r>
              <a:rPr lang="ru-RU" i="1" dirty="0" smtClean="0"/>
              <a:t> </a:t>
            </a:r>
            <a:r>
              <a:rPr lang="ru-RU" i="1" dirty="0" smtClean="0"/>
              <a:t>вызов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82034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723012" y="1802262"/>
            <a:ext cx="2259805" cy="1194689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0426"/>
              <a:gd name="adj8" fmla="val 3747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20" name="Выноска 3 19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32205" y="3789040"/>
            <a:ext cx="3960000" cy="1440000"/>
          </a:xfrm>
          <a:prstGeom prst="rect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Модуль формы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b="1" dirty="0" smtClean="0"/>
              <a:t>&amp;</a:t>
            </a:r>
            <a:r>
              <a:rPr lang="ru-RU" b="1" dirty="0" err="1" smtClean="0"/>
              <a:t>НаСервереБезКонтекста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723012" y="2437522"/>
            <a:ext cx="2089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err="1" smtClean="0"/>
              <a:t>Внеконтекстный</a:t>
            </a:r>
            <a:r>
              <a:rPr lang="ru-RU" i="1" dirty="0" smtClean="0"/>
              <a:t/>
            </a:r>
            <a:br>
              <a:rPr lang="ru-RU" i="1" dirty="0" smtClean="0"/>
            </a:br>
            <a:r>
              <a:rPr lang="ru-RU" i="1" dirty="0" smtClean="0"/>
              <a:t> </a:t>
            </a:r>
            <a:r>
              <a:rPr lang="ru-RU" i="1" dirty="0" smtClean="0"/>
              <a:t>вызов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46451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723012" y="1802262"/>
            <a:ext cx="2259805" cy="1194689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0426"/>
              <a:gd name="adj8" fmla="val 3747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20" name="Выноска 3 19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32205" y="3789040"/>
            <a:ext cx="3960000" cy="1440000"/>
          </a:xfrm>
          <a:prstGeom prst="rect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Модуль формы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b="1" dirty="0" smtClean="0"/>
              <a:t>&amp;</a:t>
            </a:r>
            <a:r>
              <a:rPr lang="ru-RU" b="1" dirty="0" err="1" smtClean="0"/>
              <a:t>НаСервереБезКонтекста</a:t>
            </a:r>
            <a:endParaRPr lang="ru-RU" b="1" dirty="0"/>
          </a:p>
        </p:txBody>
      </p:sp>
      <p:sp>
        <p:nvSpPr>
          <p:cNvPr id="10" name="Стрелка углом 9"/>
          <p:cNvSpPr/>
          <p:nvPr/>
        </p:nvSpPr>
        <p:spPr>
          <a:xfrm rot="16200000" flipH="1">
            <a:off x="3642337" y="2270431"/>
            <a:ext cx="1642187" cy="2519163"/>
          </a:xfrm>
          <a:prstGeom prst="bentArrow">
            <a:avLst>
              <a:gd name="adj1" fmla="val 10500"/>
              <a:gd name="adj2" fmla="val 14560"/>
              <a:gd name="adj3" fmla="val 17460"/>
              <a:gd name="adj4" fmla="val 4375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23012" y="2437522"/>
            <a:ext cx="2089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err="1" smtClean="0"/>
              <a:t>Внеконтекстный</a:t>
            </a:r>
            <a:r>
              <a:rPr lang="ru-RU" i="1" dirty="0" smtClean="0"/>
              <a:t/>
            </a:r>
            <a:br>
              <a:rPr lang="ru-RU" i="1" dirty="0" smtClean="0"/>
            </a:br>
            <a:r>
              <a:rPr lang="ru-RU" i="1" dirty="0" smtClean="0"/>
              <a:t> </a:t>
            </a:r>
            <a:r>
              <a:rPr lang="ru-RU" i="1" dirty="0" smtClean="0"/>
              <a:t>вызов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9654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723012" y="1802262"/>
            <a:ext cx="2259805" cy="1194689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0426"/>
              <a:gd name="adj8" fmla="val 3747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20" name="Выноска 3 19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32205" y="3789040"/>
            <a:ext cx="3960000" cy="1440000"/>
          </a:xfrm>
          <a:prstGeom prst="rect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Модуль формы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b="1" dirty="0" smtClean="0"/>
              <a:t>&amp;</a:t>
            </a:r>
            <a:r>
              <a:rPr lang="ru-RU" b="1" dirty="0" err="1" smtClean="0"/>
              <a:t>НаСервереБезКонтекста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723012" y="2437522"/>
            <a:ext cx="2089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err="1" smtClean="0"/>
              <a:t>Внеконтекстный</a:t>
            </a:r>
            <a:r>
              <a:rPr lang="ru-RU" i="1" dirty="0" smtClean="0"/>
              <a:t/>
            </a:r>
            <a:br>
              <a:rPr lang="ru-RU" i="1" dirty="0" smtClean="0"/>
            </a:br>
            <a:r>
              <a:rPr lang="ru-RU" i="1" dirty="0" smtClean="0"/>
              <a:t> </a:t>
            </a:r>
            <a:r>
              <a:rPr lang="ru-RU" i="1" dirty="0" smtClean="0"/>
              <a:t>вызов</a:t>
            </a:r>
            <a:endParaRPr lang="ru-RU" i="1" dirty="0"/>
          </a:p>
        </p:txBody>
      </p:sp>
      <p:sp>
        <p:nvSpPr>
          <p:cNvPr id="19" name="TextBox 18"/>
          <p:cNvSpPr txBox="1"/>
          <p:nvPr/>
        </p:nvSpPr>
        <p:spPr>
          <a:xfrm>
            <a:off x="1394173" y="4749502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smtClean="0"/>
              <a:t>Выполнение действий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14871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723012" y="1802262"/>
            <a:ext cx="2259805" cy="1194689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0426"/>
              <a:gd name="adj8" fmla="val 3747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20" name="Выноска 3 19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32205" y="3789040"/>
            <a:ext cx="3960000" cy="1440000"/>
          </a:xfrm>
          <a:prstGeom prst="rect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Модуль формы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b="1" dirty="0" smtClean="0"/>
              <a:t>&amp;</a:t>
            </a:r>
            <a:r>
              <a:rPr lang="ru-RU" b="1" dirty="0" err="1" smtClean="0"/>
              <a:t>НаСервереБезКонтекста</a:t>
            </a:r>
            <a:endParaRPr lang="ru-RU" b="1" dirty="0"/>
          </a:p>
        </p:txBody>
      </p:sp>
      <p:sp>
        <p:nvSpPr>
          <p:cNvPr id="10" name="Стрелка углом 9"/>
          <p:cNvSpPr/>
          <p:nvPr/>
        </p:nvSpPr>
        <p:spPr>
          <a:xfrm>
            <a:off x="4172711" y="2468162"/>
            <a:ext cx="1550301" cy="2519163"/>
          </a:xfrm>
          <a:prstGeom prst="bentArrow">
            <a:avLst>
              <a:gd name="adj1" fmla="val 10500"/>
              <a:gd name="adj2" fmla="val 14560"/>
              <a:gd name="adj3" fmla="val 17460"/>
              <a:gd name="adj4" fmla="val 4375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23012" y="2437522"/>
            <a:ext cx="2089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err="1" smtClean="0"/>
              <a:t>Внеконтекстный</a:t>
            </a:r>
            <a:r>
              <a:rPr lang="ru-RU" i="1" dirty="0" smtClean="0"/>
              <a:t/>
            </a:r>
            <a:br>
              <a:rPr lang="ru-RU" i="1" dirty="0" smtClean="0"/>
            </a:br>
            <a:r>
              <a:rPr lang="ru-RU" i="1" dirty="0" smtClean="0"/>
              <a:t> </a:t>
            </a:r>
            <a:r>
              <a:rPr lang="ru-RU" i="1" dirty="0" smtClean="0"/>
              <a:t>вызов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26093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Цилиндр 12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6" name="Блок-схема: альтернативный процесс 15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3 17"/>
          <p:cNvSpPr/>
          <p:nvPr/>
        </p:nvSpPr>
        <p:spPr>
          <a:xfrm>
            <a:off x="5723012" y="1802262"/>
            <a:ext cx="2259805" cy="1194689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0426"/>
              <a:gd name="adj8" fmla="val 37478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20" name="Выноска 3 19"/>
          <p:cNvSpPr/>
          <p:nvPr/>
        </p:nvSpPr>
        <p:spPr>
          <a:xfrm>
            <a:off x="5580112" y="4351104"/>
            <a:ext cx="2448271" cy="11661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66951"/>
              <a:gd name="adj8" fmla="val 4062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32205" y="3789040"/>
            <a:ext cx="3960000" cy="1440000"/>
          </a:xfrm>
          <a:prstGeom prst="rect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Модуль формы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b="1" dirty="0" smtClean="0"/>
              <a:t>&amp;</a:t>
            </a:r>
            <a:r>
              <a:rPr lang="ru-RU" b="1" dirty="0" err="1" smtClean="0"/>
              <a:t>НаСервереБезКонтекста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5723012" y="2350620"/>
            <a:ext cx="2259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smtClean="0"/>
              <a:t>Продолжение выполнения кода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83013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 lang="ru-RU" dirty="0" smtClean="0"/>
              <a:t>Открытие формы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72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26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90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60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Плюс 9"/>
          <p:cNvSpPr/>
          <p:nvPr/>
        </p:nvSpPr>
        <p:spPr>
          <a:xfrm rot="2601363">
            <a:off x="3680883" y="2854254"/>
            <a:ext cx="1805571" cy="1902369"/>
          </a:xfrm>
          <a:prstGeom prst="mathPlus">
            <a:avLst>
              <a:gd name="adj1" fmla="val 1160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45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52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39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56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 lang="ru-RU" dirty="0" smtClean="0"/>
              <a:t>Запись из формы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56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4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87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Выноска 3 9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26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Выноска 3 9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52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Выноска 3 9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люс 13"/>
          <p:cNvSpPr/>
          <p:nvPr/>
        </p:nvSpPr>
        <p:spPr>
          <a:xfrm rot="2601363">
            <a:off x="3680883" y="2854254"/>
            <a:ext cx="1805571" cy="1902369"/>
          </a:xfrm>
          <a:prstGeom prst="mathPlus">
            <a:avLst>
              <a:gd name="adj1" fmla="val 1160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53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76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 lang="ru-RU" dirty="0" smtClean="0"/>
              <a:t>Временное хранилище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44829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851920" y="587357"/>
            <a:ext cx="5147752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504850" y="3679207"/>
            <a:ext cx="1906910" cy="14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Временное хранилище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b="1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87018" y="656992"/>
            <a:ext cx="3440135" cy="238930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Файловая система клиента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13" name="Багетная рамка 12"/>
          <p:cNvSpPr/>
          <p:nvPr/>
        </p:nvSpPr>
        <p:spPr>
          <a:xfrm>
            <a:off x="755576" y="1700808"/>
            <a:ext cx="1656184" cy="1008112"/>
          </a:xfrm>
          <a:prstGeom prst="bevel">
            <a:avLst/>
          </a:prstGeom>
          <a:ln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«Тяжёлые данные»</a:t>
            </a:r>
            <a:endParaRPr lang="ru-RU" dirty="0"/>
          </a:p>
        </p:txBody>
      </p:sp>
      <p:sp>
        <p:nvSpPr>
          <p:cNvPr id="14" name="Развернутая стрелка 13"/>
          <p:cNvSpPr/>
          <p:nvPr/>
        </p:nvSpPr>
        <p:spPr>
          <a:xfrm rot="5400000">
            <a:off x="1352137" y="3122976"/>
            <a:ext cx="2856424" cy="718998"/>
          </a:xfrm>
          <a:prstGeom prst="uturnArrow">
            <a:avLst>
              <a:gd name="adj1" fmla="val 17773"/>
              <a:gd name="adj2" fmla="val 25000"/>
              <a:gd name="adj3" fmla="val 37364"/>
              <a:gd name="adj4" fmla="val 43750"/>
              <a:gd name="adj5" fmla="val 10000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Выноска 2 (с границей) 1"/>
          <p:cNvSpPr/>
          <p:nvPr/>
        </p:nvSpPr>
        <p:spPr>
          <a:xfrm>
            <a:off x="4157524" y="2313972"/>
            <a:ext cx="2088232" cy="569479"/>
          </a:xfrm>
          <a:prstGeom prst="accentCallout2">
            <a:avLst>
              <a:gd name="adj1" fmla="val 20423"/>
              <a:gd name="adj2" fmla="val -3772"/>
              <a:gd name="adj3" fmla="val 18750"/>
              <a:gd name="adj4" fmla="val -16667"/>
              <a:gd name="adj5" fmla="val 112500"/>
              <a:gd name="adj6" fmla="val -46667"/>
            </a:avLst>
          </a:prstGeom>
          <a:ln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Только </a:t>
            </a:r>
            <a:r>
              <a:rPr lang="ru-RU" dirty="0" err="1" smtClean="0"/>
              <a:t>программно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988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Выноска 3 9"/>
          <p:cNvSpPr/>
          <p:nvPr/>
        </p:nvSpPr>
        <p:spPr>
          <a:xfrm>
            <a:off x="4661391" y="4586060"/>
            <a:ext cx="1649781" cy="504000"/>
          </a:xfrm>
          <a:prstGeom prst="borderCallout3">
            <a:avLst>
              <a:gd name="adj1" fmla="val -11912"/>
              <a:gd name="adj2" fmla="val 74512"/>
              <a:gd name="adj3" fmla="val -102271"/>
              <a:gd name="adj4" fmla="val 91066"/>
              <a:gd name="adj5" fmla="val -168377"/>
              <a:gd name="adj6" fmla="val 90645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504850" y="3679207"/>
            <a:ext cx="1906910" cy="14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Временное хранилище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b="1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flipH="1">
            <a:off x="2411760" y="4005064"/>
            <a:ext cx="1368153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3851920" y="587357"/>
            <a:ext cx="5147752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87018" y="656992"/>
            <a:ext cx="3440135" cy="238930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Файловая система клиента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19" name="Багетная рамка 18"/>
          <p:cNvSpPr/>
          <p:nvPr/>
        </p:nvSpPr>
        <p:spPr>
          <a:xfrm>
            <a:off x="755576" y="1700808"/>
            <a:ext cx="1656184" cy="1008112"/>
          </a:xfrm>
          <a:prstGeom prst="bevel">
            <a:avLst/>
          </a:prstGeom>
          <a:ln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«Тяжёлые данные»</a:t>
            </a:r>
            <a:endParaRPr lang="ru-RU" dirty="0"/>
          </a:p>
        </p:txBody>
      </p:sp>
      <p:sp>
        <p:nvSpPr>
          <p:cNvPr id="20" name="Выноска 2 (с границей) 19"/>
          <p:cNvSpPr/>
          <p:nvPr/>
        </p:nvSpPr>
        <p:spPr>
          <a:xfrm>
            <a:off x="2777428" y="4605053"/>
            <a:ext cx="1756294" cy="569479"/>
          </a:xfrm>
          <a:prstGeom prst="accentCallout2">
            <a:avLst>
              <a:gd name="adj1" fmla="val 20423"/>
              <a:gd name="adj2" fmla="val -3772"/>
              <a:gd name="adj3" fmla="val 18750"/>
              <a:gd name="adj4" fmla="val -16667"/>
              <a:gd name="adj5" fmla="val -97130"/>
              <a:gd name="adj6" fmla="val -1111"/>
            </a:avLst>
          </a:prstGeom>
          <a:ln w="22225"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Только </a:t>
            </a:r>
            <a:r>
              <a:rPr lang="ru-RU" dirty="0" err="1" smtClean="0"/>
              <a:t>программно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51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Выноска 3 9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04850" y="3679207"/>
            <a:ext cx="1906910" cy="14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Временное хранилище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b="1" dirty="0"/>
          </a:p>
        </p:txBody>
      </p:sp>
      <p:cxnSp>
        <p:nvCxnSpPr>
          <p:cNvPr id="15" name="Прямая со стрелкой 1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3851920" y="587357"/>
            <a:ext cx="5147752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87018" y="656992"/>
            <a:ext cx="3440135" cy="238930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Файловая система клиента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19" name="Багетная рамка 18"/>
          <p:cNvSpPr/>
          <p:nvPr/>
        </p:nvSpPr>
        <p:spPr>
          <a:xfrm>
            <a:off x="755576" y="1700808"/>
            <a:ext cx="1656184" cy="1008112"/>
          </a:xfrm>
          <a:prstGeom prst="bevel">
            <a:avLst/>
          </a:prstGeom>
          <a:ln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«Тяжёлые данные»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35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Выноска 3 9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04850" y="3679207"/>
            <a:ext cx="1906910" cy="14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Временное хранилище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b="1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851920" y="587357"/>
            <a:ext cx="5147752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87018" y="656992"/>
            <a:ext cx="3440135" cy="238930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Файловая система клиента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19" name="Багетная рамка 18"/>
          <p:cNvSpPr/>
          <p:nvPr/>
        </p:nvSpPr>
        <p:spPr>
          <a:xfrm>
            <a:off x="755576" y="1700808"/>
            <a:ext cx="1656184" cy="1008112"/>
          </a:xfrm>
          <a:prstGeom prst="bevel">
            <a:avLst/>
          </a:prstGeom>
          <a:ln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«Тяжёлые данные»</a:t>
            </a:r>
            <a:endParaRPr lang="ru-RU" dirty="0"/>
          </a:p>
        </p:txBody>
      </p:sp>
      <p:sp>
        <p:nvSpPr>
          <p:cNvPr id="20" name="Плюс 19"/>
          <p:cNvSpPr/>
          <p:nvPr/>
        </p:nvSpPr>
        <p:spPr>
          <a:xfrm rot="2601363">
            <a:off x="3680883" y="2854254"/>
            <a:ext cx="1805571" cy="1902369"/>
          </a:xfrm>
          <a:prstGeom prst="mathPlus">
            <a:avLst>
              <a:gd name="adj1" fmla="val 1160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11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04850" y="3679207"/>
            <a:ext cx="1906910" cy="14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 smtClean="0"/>
              <a:t>Временное хранилище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b="1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851920" y="587357"/>
            <a:ext cx="5147752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87018" y="656992"/>
            <a:ext cx="3440135" cy="238930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Файловая система клиента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19" name="Багетная рамка 18"/>
          <p:cNvSpPr/>
          <p:nvPr/>
        </p:nvSpPr>
        <p:spPr>
          <a:xfrm>
            <a:off x="755576" y="1700808"/>
            <a:ext cx="1656184" cy="1008112"/>
          </a:xfrm>
          <a:prstGeom prst="bevel">
            <a:avLst/>
          </a:prstGeom>
          <a:ln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«Тяжёлые данные»</a:t>
            </a:r>
            <a:endParaRPr lang="ru-RU" dirty="0"/>
          </a:p>
        </p:txBody>
      </p:sp>
      <p:sp>
        <p:nvSpPr>
          <p:cNvPr id="15" name="Выноска 2 (с границей) 14"/>
          <p:cNvSpPr/>
          <p:nvPr/>
        </p:nvSpPr>
        <p:spPr>
          <a:xfrm>
            <a:off x="2963183" y="4549728"/>
            <a:ext cx="3017414" cy="569479"/>
          </a:xfrm>
          <a:prstGeom prst="accentCallout2">
            <a:avLst>
              <a:gd name="adj1" fmla="val 20423"/>
              <a:gd name="adj2" fmla="val -3772"/>
              <a:gd name="adj3" fmla="val -23622"/>
              <a:gd name="adj4" fmla="val -8670"/>
              <a:gd name="adj5" fmla="val -34687"/>
              <a:gd name="adj6" fmla="val -25944"/>
            </a:avLst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Не забыть </a:t>
            </a:r>
            <a:r>
              <a:rPr lang="ru-RU" dirty="0" err="1" smtClean="0"/>
              <a:t>программно</a:t>
            </a:r>
            <a:r>
              <a:rPr lang="ru-RU" dirty="0" smtClean="0"/>
              <a:t> уничтожить!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37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Набор прав на доступ к данным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Роли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916832"/>
            <a:ext cx="5618014" cy="426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4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Средство быстро спрятать или показать часть функциональности системы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Функциональные опции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140968"/>
            <a:ext cx="2924175" cy="5429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5635646" cy="2448272"/>
          </a:xfrm>
          <a:prstGeom prst="rect">
            <a:avLst/>
          </a:prstGeom>
        </p:spPr>
      </p:pic>
      <p:sp>
        <p:nvSpPr>
          <p:cNvPr id="6" name="Стрелка углом 5"/>
          <p:cNvSpPr/>
          <p:nvPr/>
        </p:nvSpPr>
        <p:spPr>
          <a:xfrm rot="10800000" flipH="1">
            <a:off x="1749611" y="3890337"/>
            <a:ext cx="936104" cy="1334324"/>
          </a:xfrm>
          <a:prstGeom prst="bentArrow">
            <a:avLst>
              <a:gd name="adj1" fmla="val 1947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48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Справочник, способный хранить информацию о типах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видов характеристик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276872"/>
            <a:ext cx="5452666" cy="39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9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дополнительной информации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46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Реквизиты справочника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3869408" y="1659414"/>
          <a:ext cx="5192877" cy="1574800"/>
        </p:xfrm>
        <a:graphic>
          <a:graphicData uri="http://schemas.openxmlformats.org/drawingml/2006/table">
            <a:tbl>
              <a:tblPr/>
              <a:tblGrid>
                <a:gridCol w="1799872">
                  <a:extLst>
                    <a:ext uri="{9D8B030D-6E8A-4147-A177-3AD203B41FA5}">
                      <a16:colId xmlns:a16="http://schemas.microsoft.com/office/drawing/2014/main" val="646130818"/>
                    </a:ext>
                  </a:extLst>
                </a:gridCol>
                <a:gridCol w="856211">
                  <a:extLst>
                    <a:ext uri="{9D8B030D-6E8A-4147-A177-3AD203B41FA5}">
                      <a16:colId xmlns:a16="http://schemas.microsoft.com/office/drawing/2014/main" val="1100515599"/>
                    </a:ext>
                  </a:extLst>
                </a:gridCol>
                <a:gridCol w="931025">
                  <a:extLst>
                    <a:ext uri="{9D8B030D-6E8A-4147-A177-3AD203B41FA5}">
                      <a16:colId xmlns:a16="http://schemas.microsoft.com/office/drawing/2014/main" val="2167871973"/>
                    </a:ext>
                  </a:extLst>
                </a:gridCol>
                <a:gridCol w="1064029">
                  <a:extLst>
                    <a:ext uri="{9D8B030D-6E8A-4147-A177-3AD203B41FA5}">
                      <a16:colId xmlns:a16="http://schemas.microsoft.com/office/drawing/2014/main" val="1441268516"/>
                    </a:ext>
                  </a:extLst>
                </a:gridCol>
                <a:gridCol w="541740">
                  <a:extLst>
                    <a:ext uri="{9D8B030D-6E8A-4147-A177-3AD203B41FA5}">
                      <a16:colId xmlns:a16="http://schemas.microsoft.com/office/drawing/2014/main" val="3089701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49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11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60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60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168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22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Много не пустых «пустот»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3869408" y="1659414"/>
          <a:ext cx="5192877" cy="1574800"/>
        </p:xfrm>
        <a:graphic>
          <a:graphicData uri="http://schemas.openxmlformats.org/drawingml/2006/table">
            <a:tbl>
              <a:tblPr/>
              <a:tblGrid>
                <a:gridCol w="1799872">
                  <a:extLst>
                    <a:ext uri="{9D8B030D-6E8A-4147-A177-3AD203B41FA5}">
                      <a16:colId xmlns:a16="http://schemas.microsoft.com/office/drawing/2014/main" val="646130818"/>
                    </a:ext>
                  </a:extLst>
                </a:gridCol>
                <a:gridCol w="856211">
                  <a:extLst>
                    <a:ext uri="{9D8B030D-6E8A-4147-A177-3AD203B41FA5}">
                      <a16:colId xmlns:a16="http://schemas.microsoft.com/office/drawing/2014/main" val="1100515599"/>
                    </a:ext>
                  </a:extLst>
                </a:gridCol>
                <a:gridCol w="931025">
                  <a:extLst>
                    <a:ext uri="{9D8B030D-6E8A-4147-A177-3AD203B41FA5}">
                      <a16:colId xmlns:a16="http://schemas.microsoft.com/office/drawing/2014/main" val="2167871973"/>
                    </a:ext>
                  </a:extLst>
                </a:gridCol>
                <a:gridCol w="1064029">
                  <a:extLst>
                    <a:ext uri="{9D8B030D-6E8A-4147-A177-3AD203B41FA5}">
                      <a16:colId xmlns:a16="http://schemas.microsoft.com/office/drawing/2014/main" val="1441268516"/>
                    </a:ext>
                  </a:extLst>
                </a:gridCol>
                <a:gridCol w="541740">
                  <a:extLst>
                    <a:ext uri="{9D8B030D-6E8A-4147-A177-3AD203B41FA5}">
                      <a16:colId xmlns:a16="http://schemas.microsoft.com/office/drawing/2014/main" val="3089701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49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11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60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60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168599"/>
                  </a:ext>
                </a:extLst>
              </a:tr>
            </a:tbl>
          </a:graphicData>
        </a:graphic>
      </p:graphicFrame>
      <p:sp>
        <p:nvSpPr>
          <p:cNvPr id="2" name="Скругленный прямоугольник 1"/>
          <p:cNvSpPr/>
          <p:nvPr/>
        </p:nvSpPr>
        <p:spPr>
          <a:xfrm>
            <a:off x="3869408" y="2277688"/>
            <a:ext cx="1783247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869408" y="2606322"/>
            <a:ext cx="1783247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652656" y="1978430"/>
            <a:ext cx="856210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544280" y="1978430"/>
            <a:ext cx="891624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544280" y="2596704"/>
            <a:ext cx="891624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544280" y="2934956"/>
            <a:ext cx="891624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490104" y="1978430"/>
            <a:ext cx="988878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7490104" y="2934956"/>
            <a:ext cx="988878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490104" y="2286001"/>
            <a:ext cx="988878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5670362" y="2605017"/>
            <a:ext cx="856210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5660970" y="2919615"/>
            <a:ext cx="856210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59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 оптимально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3869408" y="1659414"/>
          <a:ext cx="5192877" cy="1574800"/>
        </p:xfrm>
        <a:graphic>
          <a:graphicData uri="http://schemas.openxmlformats.org/drawingml/2006/table">
            <a:tbl>
              <a:tblPr/>
              <a:tblGrid>
                <a:gridCol w="1799872">
                  <a:extLst>
                    <a:ext uri="{9D8B030D-6E8A-4147-A177-3AD203B41FA5}">
                      <a16:colId xmlns:a16="http://schemas.microsoft.com/office/drawing/2014/main" val="646130818"/>
                    </a:ext>
                  </a:extLst>
                </a:gridCol>
                <a:gridCol w="856211">
                  <a:extLst>
                    <a:ext uri="{9D8B030D-6E8A-4147-A177-3AD203B41FA5}">
                      <a16:colId xmlns:a16="http://schemas.microsoft.com/office/drawing/2014/main" val="1100515599"/>
                    </a:ext>
                  </a:extLst>
                </a:gridCol>
                <a:gridCol w="931025">
                  <a:extLst>
                    <a:ext uri="{9D8B030D-6E8A-4147-A177-3AD203B41FA5}">
                      <a16:colId xmlns:a16="http://schemas.microsoft.com/office/drawing/2014/main" val="2167871973"/>
                    </a:ext>
                  </a:extLst>
                </a:gridCol>
                <a:gridCol w="1064029">
                  <a:extLst>
                    <a:ext uri="{9D8B030D-6E8A-4147-A177-3AD203B41FA5}">
                      <a16:colId xmlns:a16="http://schemas.microsoft.com/office/drawing/2014/main" val="1441268516"/>
                    </a:ext>
                  </a:extLst>
                </a:gridCol>
                <a:gridCol w="541740">
                  <a:extLst>
                    <a:ext uri="{9D8B030D-6E8A-4147-A177-3AD203B41FA5}">
                      <a16:colId xmlns:a16="http://schemas.microsoft.com/office/drawing/2014/main" val="3089701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49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11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Люкс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38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60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60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168599"/>
                  </a:ext>
                </a:extLst>
              </a:tr>
            </a:tbl>
          </a:graphicData>
        </a:graphic>
      </p:graphicFrame>
      <p:sp>
        <p:nvSpPr>
          <p:cNvPr id="2" name="Умножение 1"/>
          <p:cNvSpPr/>
          <p:nvPr/>
        </p:nvSpPr>
        <p:spPr>
          <a:xfrm>
            <a:off x="4139738" y="640080"/>
            <a:ext cx="3973484" cy="3823854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35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57812"/>
          </a:xfrm>
        </p:spPr>
        <p:txBody>
          <a:bodyPr>
            <a:normAutofit fontScale="90000"/>
          </a:bodyPr>
          <a:lstStyle/>
          <a:p>
            <a:r>
              <a:rPr lang="ru-RU" dirty="0"/>
              <a:t>Хранение дополнительной информации в отдельной таблице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/>
          </p:nvPr>
        </p:nvGraphicFramePr>
        <p:xfrm>
          <a:off x="4031673" y="1659414"/>
          <a:ext cx="4838006" cy="2103120"/>
        </p:xfrm>
        <a:graphic>
          <a:graphicData uri="http://schemas.openxmlformats.org/drawingml/2006/table">
            <a:tbl>
              <a:tblPr/>
              <a:tblGrid>
                <a:gridCol w="829687">
                  <a:extLst>
                    <a:ext uri="{9D8B030D-6E8A-4147-A177-3AD203B41FA5}">
                      <a16:colId xmlns:a16="http://schemas.microsoft.com/office/drawing/2014/main" val="1631520698"/>
                    </a:ext>
                  </a:extLst>
                </a:gridCol>
                <a:gridCol w="1919426">
                  <a:extLst>
                    <a:ext uri="{9D8B030D-6E8A-4147-A177-3AD203B41FA5}">
                      <a16:colId xmlns:a16="http://schemas.microsoft.com/office/drawing/2014/main" val="3792633718"/>
                    </a:ext>
                  </a:extLst>
                </a:gridCol>
                <a:gridCol w="2088893">
                  <a:extLst>
                    <a:ext uri="{9D8B030D-6E8A-4147-A177-3AD203B41FA5}">
                      <a16:colId xmlns:a16="http://schemas.microsoft.com/office/drawing/2014/main" val="2765772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Имя Реквизита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Значение (составной тип)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1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730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75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2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468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Кол-во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776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27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57812"/>
          </a:xfrm>
        </p:spPr>
        <p:txBody>
          <a:bodyPr>
            <a:normAutofit fontScale="90000"/>
          </a:bodyPr>
          <a:lstStyle/>
          <a:p>
            <a:r>
              <a:rPr lang="ru-RU" dirty="0"/>
              <a:t>Хранение дополнительной информации в отдельной таблице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4031673" y="1659414"/>
          <a:ext cx="4838006" cy="2103120"/>
        </p:xfrm>
        <a:graphic>
          <a:graphicData uri="http://schemas.openxmlformats.org/drawingml/2006/table">
            <a:tbl>
              <a:tblPr/>
              <a:tblGrid>
                <a:gridCol w="829687">
                  <a:extLst>
                    <a:ext uri="{9D8B030D-6E8A-4147-A177-3AD203B41FA5}">
                      <a16:colId xmlns:a16="http://schemas.microsoft.com/office/drawing/2014/main" val="1631520698"/>
                    </a:ext>
                  </a:extLst>
                </a:gridCol>
                <a:gridCol w="1919426">
                  <a:extLst>
                    <a:ext uri="{9D8B030D-6E8A-4147-A177-3AD203B41FA5}">
                      <a16:colId xmlns:a16="http://schemas.microsoft.com/office/drawing/2014/main" val="3792633718"/>
                    </a:ext>
                  </a:extLst>
                </a:gridCol>
                <a:gridCol w="2088893">
                  <a:extLst>
                    <a:ext uri="{9D8B030D-6E8A-4147-A177-3AD203B41FA5}">
                      <a16:colId xmlns:a16="http://schemas.microsoft.com/office/drawing/2014/main" val="2765772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Имя Реквизита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Значение (составной тип)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1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730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75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2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468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Кол-во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77624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7156" y="4538749"/>
            <a:ext cx="5228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Здесь должна быть ссылка</a:t>
            </a:r>
          </a:p>
        </p:txBody>
      </p:sp>
      <p:sp>
        <p:nvSpPr>
          <p:cNvPr id="6" name="Стрелка углом 5"/>
          <p:cNvSpPr/>
          <p:nvPr/>
        </p:nvSpPr>
        <p:spPr>
          <a:xfrm rot="16200000" flipV="1">
            <a:off x="4562903" y="3410025"/>
            <a:ext cx="1111315" cy="181633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59832" y="5002233"/>
            <a:ext cx="554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Здесь </a:t>
            </a:r>
            <a:r>
              <a:rPr lang="ru-RU" dirty="0" smtClean="0"/>
              <a:t>значения разных типов</a:t>
            </a:r>
            <a:endParaRPr lang="ru-RU" dirty="0"/>
          </a:p>
        </p:txBody>
      </p:sp>
      <p:sp>
        <p:nvSpPr>
          <p:cNvPr id="8" name="Стрелка углом 7"/>
          <p:cNvSpPr/>
          <p:nvPr/>
        </p:nvSpPr>
        <p:spPr>
          <a:xfrm rot="16200000" flipV="1">
            <a:off x="6564973" y="3641766"/>
            <a:ext cx="1574800" cy="1816331"/>
          </a:xfrm>
          <a:prstGeom prst="bentArrow">
            <a:avLst>
              <a:gd name="adj1" fmla="val 17741"/>
              <a:gd name="adj2" fmla="val 18649"/>
              <a:gd name="adj3" fmla="val 19557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Выноска 2 8"/>
          <p:cNvSpPr/>
          <p:nvPr/>
        </p:nvSpPr>
        <p:spPr>
          <a:xfrm>
            <a:off x="1168804" y="5551086"/>
            <a:ext cx="2268519" cy="792088"/>
          </a:xfrm>
          <a:prstGeom prst="borderCallout2">
            <a:avLst>
              <a:gd name="adj1" fmla="val 64446"/>
              <a:gd name="adj2" fmla="val 107133"/>
              <a:gd name="adj3" fmla="val 63243"/>
              <a:gd name="adj4" fmla="val 135749"/>
              <a:gd name="adj5" fmla="val -24587"/>
              <a:gd name="adj6" fmla="val 16579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Это как 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963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/>
      <p:bldP spid="8" grpId="0" animBg="1"/>
      <p:bldP spid="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57812"/>
          </a:xfrm>
        </p:spPr>
        <p:txBody>
          <a:bodyPr>
            <a:normAutofit fontScale="90000"/>
          </a:bodyPr>
          <a:lstStyle/>
          <a:p>
            <a:r>
              <a:rPr lang="ru-RU" dirty="0"/>
              <a:t>Хранение дополнительной информации в отдельной таблице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/>
          </p:nvPr>
        </p:nvGraphicFramePr>
        <p:xfrm>
          <a:off x="4031673" y="1659414"/>
          <a:ext cx="4838006" cy="1889760"/>
        </p:xfrm>
        <a:graphic>
          <a:graphicData uri="http://schemas.openxmlformats.org/drawingml/2006/table">
            <a:tbl>
              <a:tblPr/>
              <a:tblGrid>
                <a:gridCol w="829687">
                  <a:extLst>
                    <a:ext uri="{9D8B030D-6E8A-4147-A177-3AD203B41FA5}">
                      <a16:colId xmlns:a16="http://schemas.microsoft.com/office/drawing/2014/main" val="1631520698"/>
                    </a:ext>
                  </a:extLst>
                </a:gridCol>
                <a:gridCol w="1919426">
                  <a:extLst>
                    <a:ext uri="{9D8B030D-6E8A-4147-A177-3AD203B41FA5}">
                      <a16:colId xmlns:a16="http://schemas.microsoft.com/office/drawing/2014/main" val="3792633718"/>
                    </a:ext>
                  </a:extLst>
                </a:gridCol>
                <a:gridCol w="2088893">
                  <a:extLst>
                    <a:ext uri="{9D8B030D-6E8A-4147-A177-3AD203B41FA5}">
                      <a16:colId xmlns:a16="http://schemas.microsoft.com/office/drawing/2014/main" val="2765772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Имя Реквизита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Значение (составной тип)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1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730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75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&lt;ЖЗЗ&gt;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2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&lt;ЖШШ&gt;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468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77624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453209" y="4412312"/>
          <a:ext cx="4871009" cy="1788160"/>
        </p:xfrm>
        <a:graphic>
          <a:graphicData uri="http://schemas.openxmlformats.org/drawingml/2006/table">
            <a:tbl>
              <a:tblPr/>
              <a:tblGrid>
                <a:gridCol w="839419">
                  <a:extLst>
                    <a:ext uri="{9D8B030D-6E8A-4147-A177-3AD203B41FA5}">
                      <a16:colId xmlns:a16="http://schemas.microsoft.com/office/drawing/2014/main" val="3344630645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300079749"/>
                    </a:ext>
                  </a:extLst>
                </a:gridCol>
                <a:gridCol w="1350569">
                  <a:extLst>
                    <a:ext uri="{9D8B030D-6E8A-4147-A177-3AD203B41FA5}">
                      <a16:colId xmlns:a16="http://schemas.microsoft.com/office/drawing/2014/main" val="836078279"/>
                    </a:ext>
                  </a:extLst>
                </a:gridCol>
                <a:gridCol w="2071116">
                  <a:extLst>
                    <a:ext uri="{9D8B030D-6E8A-4147-A177-3AD203B41FA5}">
                      <a16:colId xmlns:a16="http://schemas.microsoft.com/office/drawing/2014/main" val="3473338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Тип значения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21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Кол-во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Число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463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Ссылка на перечисление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849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&lt;ЖЗЗ&gt;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Строка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19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&lt;ЖШШ&gt;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Дата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65073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3209" y="3906982"/>
            <a:ext cx="3004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План видов характеристик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7233" y="3796077"/>
            <a:ext cx="3004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Связь по типу</a:t>
            </a:r>
          </a:p>
        </p:txBody>
      </p:sp>
      <p:sp>
        <p:nvSpPr>
          <p:cNvPr id="3" name="Развернутая стрелка 2"/>
          <p:cNvSpPr/>
          <p:nvPr/>
        </p:nvSpPr>
        <p:spPr>
          <a:xfrm rot="10800000">
            <a:off x="5640875" y="3615328"/>
            <a:ext cx="2038309" cy="698881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Стрелка вниз 5"/>
          <p:cNvSpPr/>
          <p:nvPr/>
        </p:nvSpPr>
        <p:spPr>
          <a:xfrm>
            <a:off x="4864964" y="3615328"/>
            <a:ext cx="343845" cy="66098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147677" y="4314209"/>
            <a:ext cx="2400524" cy="2068836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07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93266"/>
          </a:xfrm>
        </p:spPr>
        <p:txBody>
          <a:bodyPr/>
          <a:lstStyle/>
          <a:p>
            <a:r>
              <a:rPr lang="ru-RU" dirty="0"/>
              <a:t>Хранение составного типа в базе данных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295275" y="5048180"/>
          <a:ext cx="859673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373">
                  <a:extLst>
                    <a:ext uri="{9D8B030D-6E8A-4147-A177-3AD203B41FA5}">
                      <a16:colId xmlns:a16="http://schemas.microsoft.com/office/drawing/2014/main" val="2665122891"/>
                    </a:ext>
                  </a:extLst>
                </a:gridCol>
                <a:gridCol w="1090670">
                  <a:extLst>
                    <a:ext uri="{9D8B030D-6E8A-4147-A177-3AD203B41FA5}">
                      <a16:colId xmlns:a16="http://schemas.microsoft.com/office/drawing/2014/main" val="3634049784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2755661369"/>
                    </a:ext>
                  </a:extLst>
                </a:gridCol>
                <a:gridCol w="1200839">
                  <a:extLst>
                    <a:ext uri="{9D8B030D-6E8A-4147-A177-3AD203B41FA5}">
                      <a16:colId xmlns:a16="http://schemas.microsoft.com/office/drawing/2014/main" val="1582707422"/>
                    </a:ext>
                  </a:extLst>
                </a:gridCol>
                <a:gridCol w="1180754">
                  <a:extLst>
                    <a:ext uri="{9D8B030D-6E8A-4147-A177-3AD203B41FA5}">
                      <a16:colId xmlns:a16="http://schemas.microsoft.com/office/drawing/2014/main" val="257742612"/>
                    </a:ext>
                  </a:extLst>
                </a:gridCol>
                <a:gridCol w="1228105">
                  <a:extLst>
                    <a:ext uri="{9D8B030D-6E8A-4147-A177-3AD203B41FA5}">
                      <a16:colId xmlns:a16="http://schemas.microsoft.com/office/drawing/2014/main" val="3880621152"/>
                    </a:ext>
                  </a:extLst>
                </a:gridCol>
                <a:gridCol w="1228105">
                  <a:extLst>
                    <a:ext uri="{9D8B030D-6E8A-4147-A177-3AD203B41FA5}">
                      <a16:colId xmlns:a16="http://schemas.microsoft.com/office/drawing/2014/main" val="2629661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Выбранный</a:t>
                      </a:r>
                      <a:r>
                        <a:rPr lang="ru-RU" baseline="0" dirty="0"/>
                        <a:t> 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Булево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2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322416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119934"/>
            <a:ext cx="3067050" cy="3714750"/>
          </a:xfrm>
          <a:prstGeom prst="rect">
            <a:avLst/>
          </a:prstGeom>
        </p:spPr>
      </p:pic>
      <p:sp>
        <p:nvSpPr>
          <p:cNvPr id="6" name="Стрелка углом 5"/>
          <p:cNvSpPr/>
          <p:nvPr/>
        </p:nvSpPr>
        <p:spPr>
          <a:xfrm rot="5400000">
            <a:off x="3564567" y="2200487"/>
            <a:ext cx="2225408" cy="2415581"/>
          </a:xfrm>
          <a:prstGeom prst="bentArrow">
            <a:avLst>
              <a:gd name="adj1" fmla="val 10148"/>
              <a:gd name="adj2" fmla="val 16584"/>
              <a:gd name="adj3" fmla="val 19554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08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32117" y="1120775"/>
          <a:ext cx="6096000" cy="2225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039617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3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«Наличие»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54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2016-04-22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90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43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&lt;ООО</a:t>
                      </a:r>
                      <a:r>
                        <a:rPr lang="ru-RU" baseline="0" dirty="0"/>
                        <a:t> Юг&gt;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87541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613675"/>
              </p:ext>
            </p:extLst>
          </p:nvPr>
        </p:nvGraphicFramePr>
        <p:xfrm>
          <a:off x="188120" y="3428702"/>
          <a:ext cx="878400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618">
                  <a:extLst>
                    <a:ext uri="{9D8B030D-6E8A-4147-A177-3AD203B41FA5}">
                      <a16:colId xmlns:a16="http://schemas.microsoft.com/office/drawing/2014/main" val="2665122891"/>
                    </a:ext>
                  </a:extLst>
                </a:gridCol>
                <a:gridCol w="857944">
                  <a:extLst>
                    <a:ext uri="{9D8B030D-6E8A-4147-A177-3AD203B41FA5}">
                      <a16:colId xmlns:a16="http://schemas.microsoft.com/office/drawing/2014/main" val="3634049784"/>
                    </a:ext>
                  </a:extLst>
                </a:gridCol>
                <a:gridCol w="1324379">
                  <a:extLst>
                    <a:ext uri="{9D8B030D-6E8A-4147-A177-3AD203B41FA5}">
                      <a16:colId xmlns:a16="http://schemas.microsoft.com/office/drawing/2014/main" val="2755661369"/>
                    </a:ext>
                  </a:extLst>
                </a:gridCol>
                <a:gridCol w="1324379">
                  <a:extLst>
                    <a:ext uri="{9D8B030D-6E8A-4147-A177-3AD203B41FA5}">
                      <a16:colId xmlns:a16="http://schemas.microsoft.com/office/drawing/2014/main" val="1582707422"/>
                    </a:ext>
                  </a:extLst>
                </a:gridCol>
                <a:gridCol w="923728">
                  <a:extLst>
                    <a:ext uri="{9D8B030D-6E8A-4147-A177-3AD203B41FA5}">
                      <a16:colId xmlns:a16="http://schemas.microsoft.com/office/drawing/2014/main" val="25774261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880621152"/>
                    </a:ext>
                  </a:extLst>
                </a:gridCol>
                <a:gridCol w="1735826">
                  <a:extLst>
                    <a:ext uri="{9D8B030D-6E8A-4147-A177-3AD203B41FA5}">
                      <a16:colId xmlns:a16="http://schemas.microsoft.com/office/drawing/2014/main" val="2629661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Выбранный</a:t>
                      </a:r>
                      <a:r>
                        <a:rPr lang="ru-RU" baseline="0" dirty="0"/>
                        <a:t> 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Булево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Номер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2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322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«Наличие»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63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2016-04-22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1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Булево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253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&lt;</a:t>
                      </a:r>
                      <a:r>
                        <a:rPr lang="en-US" dirty="0" smtClean="0"/>
                        <a:t>ID  </a:t>
                      </a:r>
                      <a:r>
                        <a:rPr lang="ru-RU" dirty="0" smtClean="0"/>
                        <a:t>«Яблоки»&gt;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46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&lt;</a:t>
                      </a:r>
                      <a:r>
                        <a:rPr lang="en-US" dirty="0" smtClean="0"/>
                        <a:t>ID </a:t>
                      </a:r>
                      <a:r>
                        <a:rPr lang="ru-RU" dirty="0" smtClean="0"/>
                        <a:t>«ООО</a:t>
                      </a:r>
                      <a:r>
                        <a:rPr lang="ru-RU" baseline="0" dirty="0" smtClean="0"/>
                        <a:t> Юг»&gt;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714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37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Дополнительный индекс для поиска данных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Критерий отбора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977098"/>
            <a:ext cx="4022229" cy="355179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872304"/>
            <a:ext cx="4036272" cy="356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4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548798"/>
          </a:xfrm>
        </p:spPr>
        <p:txBody>
          <a:bodyPr/>
          <a:lstStyle/>
          <a:p>
            <a:r>
              <a:rPr lang="ru-RU" dirty="0" smtClean="0"/>
              <a:t>Регламентные задания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56792"/>
            <a:ext cx="3133725" cy="27432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1380579"/>
            <a:ext cx="4467225" cy="30956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4470846"/>
            <a:ext cx="6209159" cy="1851980"/>
          </a:xfrm>
          <a:prstGeom prst="rect">
            <a:avLst/>
          </a:prstGeom>
        </p:spPr>
      </p:pic>
      <p:sp>
        <p:nvSpPr>
          <p:cNvPr id="8" name="Скругленный прямоугольник 7"/>
          <p:cNvSpPr/>
          <p:nvPr/>
        </p:nvSpPr>
        <p:spPr>
          <a:xfrm>
            <a:off x="539552" y="3861048"/>
            <a:ext cx="3168352" cy="438944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139952" y="2780927"/>
            <a:ext cx="4467225" cy="29632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4355976" y="3077256"/>
            <a:ext cx="1872208" cy="1647888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56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548798"/>
          </a:xfrm>
        </p:spPr>
        <p:txBody>
          <a:bodyPr/>
          <a:lstStyle/>
          <a:p>
            <a:r>
              <a:rPr lang="ru-RU" dirty="0" smtClean="0"/>
              <a:t>Регламентные задания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380579"/>
            <a:ext cx="4467225" cy="3095625"/>
          </a:xfrm>
          <a:prstGeom prst="rect">
            <a:avLst/>
          </a:prstGeom>
        </p:spPr>
      </p:pic>
      <p:sp>
        <p:nvSpPr>
          <p:cNvPr id="9" name="Скругленный прямоугольник 8"/>
          <p:cNvSpPr/>
          <p:nvPr/>
        </p:nvSpPr>
        <p:spPr>
          <a:xfrm>
            <a:off x="4139952" y="3371105"/>
            <a:ext cx="4467225" cy="216025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90" y="3077256"/>
            <a:ext cx="3686150" cy="3024336"/>
          </a:xfrm>
          <a:prstGeom prst="rect">
            <a:avLst/>
          </a:prstGeom>
        </p:spPr>
      </p:pic>
      <p:cxnSp>
        <p:nvCxnSpPr>
          <p:cNvPr id="11" name="Прямая со стрелкой 10"/>
          <p:cNvCxnSpPr/>
          <p:nvPr/>
        </p:nvCxnSpPr>
        <p:spPr>
          <a:xfrm flipH="1">
            <a:off x="3149842" y="3587130"/>
            <a:ext cx="3510390" cy="1273734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56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Бизнес-процессы предназначены для объединения отдельных операций в цепочки взаимосвязанных действий, приводящих к достижению конкретной цели.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Бизнес-процессы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068960"/>
            <a:ext cx="3668663" cy="334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4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Позволяют вести учет заданий по исполнителям и служат отражением продвижения бизнес-процессов по точкам маршрута.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140968"/>
            <a:ext cx="7122566" cy="286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1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офтБаланс_основные_объект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основные_объекты" id="{62BD0483-928A-448D-BBAD-621E3072F039}" vid="{487075A3-1F89-4279-8755-8EA96074D5C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СофтБаланс_основные_объекты</Template>
  <TotalTime>1458</TotalTime>
  <Words>2433</Words>
  <Application>Microsoft Office PowerPoint</Application>
  <PresentationFormat>Экран (4:3)</PresentationFormat>
  <Paragraphs>853</Paragraphs>
  <Slides>68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68</vt:i4>
      </vt:variant>
    </vt:vector>
  </HeadingPairs>
  <TitlesOfParts>
    <vt:vector size="75" baseType="lpstr">
      <vt:lpstr>Arial</vt:lpstr>
      <vt:lpstr>Arial Black</vt:lpstr>
      <vt:lpstr>Calibri</vt:lpstr>
      <vt:lpstr>Tahoma</vt:lpstr>
      <vt:lpstr>Verdana</vt:lpstr>
      <vt:lpstr>Wingdings</vt:lpstr>
      <vt:lpstr>СофтБаланс_основные_объекты</vt:lpstr>
      <vt:lpstr>6 занятие</vt:lpstr>
      <vt:lpstr>Динамический список</vt:lpstr>
      <vt:lpstr>Курсы валют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Читаем поля, которые хотим показать</vt:lpstr>
      <vt:lpstr>Читаем поля, которые хотим показать</vt:lpstr>
      <vt:lpstr>Еще читаем поля, отмеченные флагом «Использовать всегда»</vt:lpstr>
      <vt:lpstr>Свойства Таблица формы  Текущие данные vs Текущая строка</vt:lpstr>
      <vt:lpstr>Клиент серверные вызовы в форме</vt:lpstr>
      <vt:lpstr>&amp;На сервере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&amp;На сервере без контекста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Открытие формы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Запись из формы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Временное хранилище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Роли</vt:lpstr>
      <vt:lpstr>Функциональные опции</vt:lpstr>
      <vt:lpstr>План видов характеристик</vt:lpstr>
      <vt:lpstr>Хранение дополнительной информации</vt:lpstr>
      <vt:lpstr>Реквизиты справочника</vt:lpstr>
      <vt:lpstr>Много не пустых «пустот»</vt:lpstr>
      <vt:lpstr>Не оптимально</vt:lpstr>
      <vt:lpstr>Хранение дополнительной информации в отдельной таблице</vt:lpstr>
      <vt:lpstr>Хранение дополнительной информации в отдельной таблице</vt:lpstr>
      <vt:lpstr>Хранение дополнительной информации в отдельной таблице</vt:lpstr>
      <vt:lpstr>Хранение составного типа в базе данных</vt:lpstr>
      <vt:lpstr>Пример</vt:lpstr>
      <vt:lpstr>Критерий отбора</vt:lpstr>
      <vt:lpstr>Регламентные задания</vt:lpstr>
      <vt:lpstr>Регламентные задания</vt:lpstr>
      <vt:lpstr>Бизнес-процессы</vt:lpstr>
      <vt:lpstr>Задачи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занятие</dc:title>
  <dc:creator>Сергей</dc:creator>
  <cp:lastModifiedBy>eugeniy sizov</cp:lastModifiedBy>
  <cp:revision>74</cp:revision>
  <dcterms:created xsi:type="dcterms:W3CDTF">2010-11-05T16:55:46Z</dcterms:created>
  <dcterms:modified xsi:type="dcterms:W3CDTF">2020-09-28T15:41:03Z</dcterms:modified>
</cp:coreProperties>
</file>