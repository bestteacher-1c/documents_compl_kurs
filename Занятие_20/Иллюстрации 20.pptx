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70" r:id="rId4"/>
    <p:sldId id="271" r:id="rId5"/>
    <p:sldId id="272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85" d="100"/>
          <a:sy n="85" d="100"/>
        </p:scale>
        <p:origin x="7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f166da1dfb7bc990" providerId="LiveId" clId="{29FA3FAC-0FC3-423A-B412-3F00B93A4AEC}"/>
    <pc:docChg chg="modSld">
      <pc:chgData name="" userId="f166da1dfb7bc990" providerId="LiveId" clId="{29FA3FAC-0FC3-423A-B412-3F00B93A4AEC}" dt="2019-10-10T17:47:51.849" v="19"/>
      <pc:docMkLst>
        <pc:docMk/>
      </pc:docMkLst>
      <pc:sldChg chg="modSp">
        <pc:chgData name="" userId="f166da1dfb7bc990" providerId="LiveId" clId="{29FA3FAC-0FC3-423A-B412-3F00B93A4AEC}" dt="2019-10-10T17:47:26.587" v="13" actId="20577"/>
        <pc:sldMkLst>
          <pc:docMk/>
          <pc:sldMk cId="1204132124" sldId="263"/>
        </pc:sldMkLst>
        <pc:spChg chg="mod">
          <ac:chgData name="" userId="f166da1dfb7bc990" providerId="LiveId" clId="{29FA3FAC-0FC3-423A-B412-3F00B93A4AEC}" dt="2019-10-10T17:47:26.587" v="13" actId="20577"/>
          <ac:spMkLst>
            <pc:docMk/>
            <pc:sldMk cId="1204132124" sldId="263"/>
            <ac:spMk id="11" creationId="{00000000-0000-0000-0000-000000000000}"/>
          </ac:spMkLst>
        </pc:spChg>
      </pc:sldChg>
      <pc:sldChg chg="modSp">
        <pc:chgData name="" userId="f166da1dfb7bc990" providerId="LiveId" clId="{29FA3FAC-0FC3-423A-B412-3F00B93A4AEC}" dt="2019-10-10T17:47:33.049" v="14"/>
        <pc:sldMkLst>
          <pc:docMk/>
          <pc:sldMk cId="1867757276" sldId="264"/>
        </pc:sldMkLst>
        <pc:spChg chg="mod">
          <ac:chgData name="" userId="f166da1dfb7bc990" providerId="LiveId" clId="{29FA3FAC-0FC3-423A-B412-3F00B93A4AEC}" dt="2019-10-10T17:47:33.049" v="14"/>
          <ac:spMkLst>
            <pc:docMk/>
            <pc:sldMk cId="1867757276" sldId="264"/>
            <ac:spMk id="11" creationId="{00000000-0000-0000-0000-000000000000}"/>
          </ac:spMkLst>
        </pc:spChg>
      </pc:sldChg>
      <pc:sldChg chg="modSp">
        <pc:chgData name="" userId="f166da1dfb7bc990" providerId="LiveId" clId="{29FA3FAC-0FC3-423A-B412-3F00B93A4AEC}" dt="2019-10-10T17:47:37.194" v="15"/>
        <pc:sldMkLst>
          <pc:docMk/>
          <pc:sldMk cId="3308175207" sldId="265"/>
        </pc:sldMkLst>
        <pc:spChg chg="mod">
          <ac:chgData name="" userId="f166da1dfb7bc990" providerId="LiveId" clId="{29FA3FAC-0FC3-423A-B412-3F00B93A4AEC}" dt="2019-10-10T17:47:37.194" v="15"/>
          <ac:spMkLst>
            <pc:docMk/>
            <pc:sldMk cId="3308175207" sldId="265"/>
            <ac:spMk id="11" creationId="{00000000-0000-0000-0000-000000000000}"/>
          </ac:spMkLst>
        </pc:spChg>
      </pc:sldChg>
      <pc:sldChg chg="modSp">
        <pc:chgData name="" userId="f166da1dfb7bc990" providerId="LiveId" clId="{29FA3FAC-0FC3-423A-B412-3F00B93A4AEC}" dt="2019-10-10T17:47:40.784" v="16"/>
        <pc:sldMkLst>
          <pc:docMk/>
          <pc:sldMk cId="563824895" sldId="266"/>
        </pc:sldMkLst>
        <pc:spChg chg="mod">
          <ac:chgData name="" userId="f166da1dfb7bc990" providerId="LiveId" clId="{29FA3FAC-0FC3-423A-B412-3F00B93A4AEC}" dt="2019-10-10T17:47:40.784" v="16"/>
          <ac:spMkLst>
            <pc:docMk/>
            <pc:sldMk cId="563824895" sldId="266"/>
            <ac:spMk id="11" creationId="{00000000-0000-0000-0000-000000000000}"/>
          </ac:spMkLst>
        </pc:spChg>
      </pc:sldChg>
      <pc:sldChg chg="modSp">
        <pc:chgData name="" userId="f166da1dfb7bc990" providerId="LiveId" clId="{29FA3FAC-0FC3-423A-B412-3F00B93A4AEC}" dt="2019-10-10T17:47:44.386" v="17"/>
        <pc:sldMkLst>
          <pc:docMk/>
          <pc:sldMk cId="3482512465" sldId="267"/>
        </pc:sldMkLst>
        <pc:spChg chg="mod">
          <ac:chgData name="" userId="f166da1dfb7bc990" providerId="LiveId" clId="{29FA3FAC-0FC3-423A-B412-3F00B93A4AEC}" dt="2019-10-10T17:47:44.386" v="17"/>
          <ac:spMkLst>
            <pc:docMk/>
            <pc:sldMk cId="3482512465" sldId="267"/>
            <ac:spMk id="11" creationId="{00000000-0000-0000-0000-000000000000}"/>
          </ac:spMkLst>
        </pc:spChg>
      </pc:sldChg>
      <pc:sldChg chg="modSp">
        <pc:chgData name="" userId="f166da1dfb7bc990" providerId="LiveId" clId="{29FA3FAC-0FC3-423A-B412-3F00B93A4AEC}" dt="2019-10-10T17:47:48.233" v="18"/>
        <pc:sldMkLst>
          <pc:docMk/>
          <pc:sldMk cId="3860897790" sldId="268"/>
        </pc:sldMkLst>
        <pc:spChg chg="mod">
          <ac:chgData name="" userId="f166da1dfb7bc990" providerId="LiveId" clId="{29FA3FAC-0FC3-423A-B412-3F00B93A4AEC}" dt="2019-10-10T17:47:48.233" v="18"/>
          <ac:spMkLst>
            <pc:docMk/>
            <pc:sldMk cId="3860897790" sldId="268"/>
            <ac:spMk id="11" creationId="{00000000-0000-0000-0000-000000000000}"/>
          </ac:spMkLst>
        </pc:spChg>
      </pc:sldChg>
      <pc:sldChg chg="modSp">
        <pc:chgData name="" userId="f166da1dfb7bc990" providerId="LiveId" clId="{29FA3FAC-0FC3-423A-B412-3F00B93A4AEC}" dt="2019-10-10T17:47:51.849" v="19"/>
        <pc:sldMkLst>
          <pc:docMk/>
          <pc:sldMk cId="1127449845" sldId="269"/>
        </pc:sldMkLst>
        <pc:spChg chg="mod">
          <ac:chgData name="" userId="f166da1dfb7bc990" providerId="LiveId" clId="{29FA3FAC-0FC3-423A-B412-3F00B93A4AEC}" dt="2019-10-10T17:47:51.849" v="19"/>
          <ac:spMkLst>
            <pc:docMk/>
            <pc:sldMk cId="1127449845" sldId="269"/>
            <ac:spMk id="9" creationId="{00000000-0000-0000-0000-000000000000}"/>
          </ac:spMkLst>
        </pc:spChg>
      </pc:sldChg>
    </pc:docChg>
  </pc:docChgLst>
  <pc:docChgLst>
    <pc:chgData name="eugeniy sizov" userId="f166da1dfb7bc990" providerId="LiveId" clId="{08AD6207-35D7-480B-9B2B-C40BE5F00EB2}"/>
    <pc:docChg chg="modSld">
      <pc:chgData name="eugeniy sizov" userId="f166da1dfb7bc990" providerId="LiveId" clId="{08AD6207-35D7-480B-9B2B-C40BE5F00EB2}" dt="2020-03-27T12:48:15.846" v="7"/>
      <pc:docMkLst>
        <pc:docMk/>
      </pc:docMkLst>
      <pc:sldChg chg="modSp mod">
        <pc:chgData name="eugeniy sizov" userId="f166da1dfb7bc990" providerId="LiveId" clId="{08AD6207-35D7-480B-9B2B-C40BE5F00EB2}" dt="2020-03-27T12:47:50.274" v="1" actId="20577"/>
        <pc:sldMkLst>
          <pc:docMk/>
          <pc:sldMk cId="1204132124" sldId="263"/>
        </pc:sldMkLst>
        <pc:graphicFrameChg chg="mod modGraphic">
          <ac:chgData name="eugeniy sizov" userId="f166da1dfb7bc990" providerId="LiveId" clId="{08AD6207-35D7-480B-9B2B-C40BE5F00EB2}" dt="2020-03-27T12:47:50.274" v="1" actId="20577"/>
          <ac:graphicFrameMkLst>
            <pc:docMk/>
            <pc:sldMk cId="1204132124" sldId="263"/>
            <ac:graphicFrameMk id="6" creationId="{00000000-0000-0000-0000-000000000000}"/>
          </ac:graphicFrameMkLst>
        </pc:graphicFrameChg>
      </pc:sldChg>
      <pc:sldChg chg="modSp">
        <pc:chgData name="eugeniy sizov" userId="f166da1dfb7bc990" providerId="LiveId" clId="{08AD6207-35D7-480B-9B2B-C40BE5F00EB2}" dt="2020-03-27T12:47:56.966" v="2"/>
        <pc:sldMkLst>
          <pc:docMk/>
          <pc:sldMk cId="1867757276" sldId="264"/>
        </pc:sldMkLst>
        <pc:graphicFrameChg chg="mod">
          <ac:chgData name="eugeniy sizov" userId="f166da1dfb7bc990" providerId="LiveId" clId="{08AD6207-35D7-480B-9B2B-C40BE5F00EB2}" dt="2020-03-27T12:47:56.966" v="2"/>
          <ac:graphicFrameMkLst>
            <pc:docMk/>
            <pc:sldMk cId="1867757276" sldId="264"/>
            <ac:graphicFrameMk id="6" creationId="{00000000-0000-0000-0000-000000000000}"/>
          </ac:graphicFrameMkLst>
        </pc:graphicFrameChg>
      </pc:sldChg>
      <pc:sldChg chg="modSp">
        <pc:chgData name="eugeniy sizov" userId="f166da1dfb7bc990" providerId="LiveId" clId="{08AD6207-35D7-480B-9B2B-C40BE5F00EB2}" dt="2020-03-27T12:48:01.317" v="3"/>
        <pc:sldMkLst>
          <pc:docMk/>
          <pc:sldMk cId="3308175207" sldId="265"/>
        </pc:sldMkLst>
        <pc:graphicFrameChg chg="mod">
          <ac:chgData name="eugeniy sizov" userId="f166da1dfb7bc990" providerId="LiveId" clId="{08AD6207-35D7-480B-9B2B-C40BE5F00EB2}" dt="2020-03-27T12:48:01.317" v="3"/>
          <ac:graphicFrameMkLst>
            <pc:docMk/>
            <pc:sldMk cId="3308175207" sldId="265"/>
            <ac:graphicFrameMk id="6" creationId="{00000000-0000-0000-0000-000000000000}"/>
          </ac:graphicFrameMkLst>
        </pc:graphicFrameChg>
      </pc:sldChg>
      <pc:sldChg chg="modSp">
        <pc:chgData name="eugeniy sizov" userId="f166da1dfb7bc990" providerId="LiveId" clId="{08AD6207-35D7-480B-9B2B-C40BE5F00EB2}" dt="2020-03-27T12:48:05.487" v="4"/>
        <pc:sldMkLst>
          <pc:docMk/>
          <pc:sldMk cId="563824895" sldId="266"/>
        </pc:sldMkLst>
        <pc:graphicFrameChg chg="mod">
          <ac:chgData name="eugeniy sizov" userId="f166da1dfb7bc990" providerId="LiveId" clId="{08AD6207-35D7-480B-9B2B-C40BE5F00EB2}" dt="2020-03-27T12:48:05.487" v="4"/>
          <ac:graphicFrameMkLst>
            <pc:docMk/>
            <pc:sldMk cId="563824895" sldId="266"/>
            <ac:graphicFrameMk id="6" creationId="{00000000-0000-0000-0000-000000000000}"/>
          </ac:graphicFrameMkLst>
        </pc:graphicFrameChg>
      </pc:sldChg>
      <pc:sldChg chg="modSp">
        <pc:chgData name="eugeniy sizov" userId="f166da1dfb7bc990" providerId="LiveId" clId="{08AD6207-35D7-480B-9B2B-C40BE5F00EB2}" dt="2020-03-27T12:48:08.924" v="5"/>
        <pc:sldMkLst>
          <pc:docMk/>
          <pc:sldMk cId="3482512465" sldId="267"/>
        </pc:sldMkLst>
        <pc:graphicFrameChg chg="mod">
          <ac:chgData name="eugeniy sizov" userId="f166da1dfb7bc990" providerId="LiveId" clId="{08AD6207-35D7-480B-9B2B-C40BE5F00EB2}" dt="2020-03-27T12:48:08.924" v="5"/>
          <ac:graphicFrameMkLst>
            <pc:docMk/>
            <pc:sldMk cId="3482512465" sldId="267"/>
            <ac:graphicFrameMk id="6" creationId="{00000000-0000-0000-0000-000000000000}"/>
          </ac:graphicFrameMkLst>
        </pc:graphicFrameChg>
      </pc:sldChg>
      <pc:sldChg chg="modSp">
        <pc:chgData name="eugeniy sizov" userId="f166da1dfb7bc990" providerId="LiveId" clId="{08AD6207-35D7-480B-9B2B-C40BE5F00EB2}" dt="2020-03-27T12:48:12.517" v="6"/>
        <pc:sldMkLst>
          <pc:docMk/>
          <pc:sldMk cId="3860897790" sldId="268"/>
        </pc:sldMkLst>
        <pc:graphicFrameChg chg="mod">
          <ac:chgData name="eugeniy sizov" userId="f166da1dfb7bc990" providerId="LiveId" clId="{08AD6207-35D7-480B-9B2B-C40BE5F00EB2}" dt="2020-03-27T12:48:12.517" v="6"/>
          <ac:graphicFrameMkLst>
            <pc:docMk/>
            <pc:sldMk cId="3860897790" sldId="268"/>
            <ac:graphicFrameMk id="6" creationId="{00000000-0000-0000-0000-000000000000}"/>
          </ac:graphicFrameMkLst>
        </pc:graphicFrameChg>
      </pc:sldChg>
      <pc:sldChg chg="modSp">
        <pc:chgData name="eugeniy sizov" userId="f166da1dfb7bc990" providerId="LiveId" clId="{08AD6207-35D7-480B-9B2B-C40BE5F00EB2}" dt="2020-03-27T12:48:15.846" v="7"/>
        <pc:sldMkLst>
          <pc:docMk/>
          <pc:sldMk cId="1127449845" sldId="269"/>
        </pc:sldMkLst>
        <pc:graphicFrameChg chg="mod">
          <ac:chgData name="eugeniy sizov" userId="f166da1dfb7bc990" providerId="LiveId" clId="{08AD6207-35D7-480B-9B2B-C40BE5F00EB2}" dt="2020-03-27T12:48:15.846" v="7"/>
          <ac:graphicFrameMkLst>
            <pc:docMk/>
            <pc:sldMk cId="1127449845" sldId="269"/>
            <ac:graphicFrameMk id="6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388" y="548679"/>
            <a:ext cx="8784000" cy="720081"/>
          </a:xfrm>
        </p:spPr>
        <p:txBody>
          <a:bodyPr/>
          <a:lstStyle>
            <a:lvl1pPr algn="ctr">
              <a:defRPr sz="3200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388" y="1293839"/>
            <a:ext cx="8782050" cy="22233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8483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1815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340768"/>
            <a:ext cx="3954090" cy="4896543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8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Рисунок 2"/>
          <p:cNvSpPr>
            <a:spLocks noGrp="1"/>
          </p:cNvSpPr>
          <p:nvPr>
            <p:ph type="pic" idx="10"/>
          </p:nvPr>
        </p:nvSpPr>
        <p:spPr>
          <a:xfrm>
            <a:off x="4314207" y="1340768"/>
            <a:ext cx="4629150" cy="48965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123854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rgbClr val="FF0000"/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rgbClr val="0070C0"/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2715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3118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788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74788" y="1268680"/>
            <a:ext cx="8784000" cy="496863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277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5F3E-8CB8-4A5F-85B2-9C60941CD2F9}" type="datetimeFigureOut">
              <a:rPr lang="ru-RU" smtClean="0"/>
              <a:t>27.03.2020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2EC14-8DA1-47ED-9873-9AFD8D5E0D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216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5F3E-8CB8-4A5F-85B2-9C60941CD2F9}" type="datetimeFigureOut">
              <a:rPr lang="ru-RU" smtClean="0"/>
              <a:t>27.03.2020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2EC14-8DA1-47ED-9873-9AFD8D5E0D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4578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Группа 3"/>
          <p:cNvGrpSpPr>
            <a:grpSpLocks/>
          </p:cNvGrpSpPr>
          <p:nvPr/>
        </p:nvGrpSpPr>
        <p:grpSpPr bwMode="auto">
          <a:xfrm>
            <a:off x="185738" y="549275"/>
            <a:ext cx="8784000" cy="0"/>
            <a:chOff x="185862" y="620688"/>
            <a:chExt cx="8775700" cy="0"/>
          </a:xfrm>
        </p:grpSpPr>
        <p:cxnSp>
          <p:nvCxnSpPr>
            <p:cNvPr id="16" name="Прямая соединительная линия 15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185862" y="620688"/>
              <a:ext cx="25225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88119" y="571977"/>
            <a:ext cx="8784000" cy="548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Номер слайда 5"/>
          <p:cNvSpPr txBox="1">
            <a:spLocks/>
          </p:cNvSpPr>
          <p:nvPr/>
        </p:nvSpPr>
        <p:spPr>
          <a:xfrm>
            <a:off x="-1" y="6310313"/>
            <a:ext cx="855663" cy="293687"/>
          </a:xfrm>
          <a:prstGeom prst="rect">
            <a:avLst/>
          </a:prstGeom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84FD9DA7-1D53-4DDE-8D05-49E2417E29ED}" type="slidenum">
              <a:rPr lang="ru-RU" sz="1600" smtClean="0">
                <a:solidFill>
                  <a:srgbClr val="0066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pPr algn="r">
                <a:defRPr/>
              </a:pPr>
              <a:t>‹#›</a:t>
            </a:fld>
            <a:r>
              <a:rPr lang="ru-RU" sz="1600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/22</a:t>
            </a:r>
          </a:p>
        </p:txBody>
      </p:sp>
      <p:grpSp>
        <p:nvGrpSpPr>
          <p:cNvPr id="1029" name="Группа 17"/>
          <p:cNvGrpSpPr>
            <a:grpSpLocks/>
          </p:cNvGrpSpPr>
          <p:nvPr/>
        </p:nvGrpSpPr>
        <p:grpSpPr bwMode="auto">
          <a:xfrm>
            <a:off x="185738" y="6604000"/>
            <a:ext cx="6402387" cy="180975"/>
            <a:chOff x="185862" y="620688"/>
            <a:chExt cx="8775700" cy="0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>
              <a:off x="185862" y="620688"/>
              <a:ext cx="25219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Рисунок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6310313"/>
            <a:ext cx="22240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Расчётные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712849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 kern="1200">
          <a:ln>
            <a:solidFill>
              <a:schemeClr val="bg1"/>
            </a:solidFill>
          </a:ln>
          <a:gradFill>
            <a:gsLst>
              <a:gs pos="55000">
                <a:srgbClr val="F50516"/>
              </a:gs>
              <a:gs pos="86000">
                <a:srgbClr val="C00000"/>
              </a:gs>
            </a:gsLst>
            <a:lin ang="5400000" scaled="0"/>
          </a:gradFill>
          <a:effectLst>
            <a:outerShdw blurRad="38100" dist="38100" dir="5400000" algn="ctr" rotWithShape="0">
              <a:schemeClr val="bg1">
                <a:lumMod val="50000"/>
              </a:schemeClr>
            </a:outerShdw>
          </a:effectLst>
          <a:latin typeface="Arial Black" pitchFamily="34" charset="0"/>
          <a:ea typeface="Verdana" pitchFamily="34" charset="0"/>
          <a:cs typeface="Verdana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defRPr sz="28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1"/>
        </a:buBlip>
        <a:defRPr sz="2800" b="1" kern="1200">
          <a:solidFill>
            <a:srgbClr val="FF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b="1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•"/>
        <a:defRPr sz="1600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Сторно</a:t>
            </a:r>
          </a:p>
          <a:p>
            <a:r>
              <a:rPr lang="ru-RU" dirty="0"/>
              <a:t>Перерасчет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Занятие 5</a:t>
            </a:r>
          </a:p>
        </p:txBody>
      </p:sp>
    </p:spTree>
    <p:extLst>
      <p:ext uri="{BB962C8B-B14F-4D97-AF65-F5344CB8AC3E}">
        <p14:creationId xmlns:p14="http://schemas.microsoft.com/office/powerpoint/2010/main" val="997735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Сторно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1784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Сотрудник уходит в отпуск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487316"/>
              </p:ext>
            </p:extLst>
          </p:nvPr>
        </p:nvGraphicFramePr>
        <p:xfrm>
          <a:off x="188119" y="1728629"/>
          <a:ext cx="8784001" cy="1158240"/>
        </p:xfrm>
        <a:graphic>
          <a:graphicData uri="http://schemas.openxmlformats.org/drawingml/2006/table">
            <a:tbl>
              <a:tblPr/>
              <a:tblGrid>
                <a:gridCol w="688181">
                  <a:extLst>
                    <a:ext uri="{9D8B030D-6E8A-4147-A177-3AD203B41FA5}">
                      <a16:colId xmlns:a16="http://schemas.microsoft.com/office/drawing/2014/main" val="623797581"/>
                    </a:ext>
                  </a:extLst>
                </a:gridCol>
                <a:gridCol w="1049815">
                  <a:extLst>
                    <a:ext uri="{9D8B030D-6E8A-4147-A177-3AD203B41FA5}">
                      <a16:colId xmlns:a16="http://schemas.microsoft.com/office/drawing/2014/main" val="1391258586"/>
                    </a:ext>
                  </a:extLst>
                </a:gridCol>
                <a:gridCol w="1093310">
                  <a:extLst>
                    <a:ext uri="{9D8B030D-6E8A-4147-A177-3AD203B41FA5}">
                      <a16:colId xmlns:a16="http://schemas.microsoft.com/office/drawing/2014/main" val="3896100850"/>
                    </a:ext>
                  </a:extLst>
                </a:gridCol>
                <a:gridCol w="813640">
                  <a:extLst>
                    <a:ext uri="{9D8B030D-6E8A-4147-A177-3AD203B41FA5}">
                      <a16:colId xmlns:a16="http://schemas.microsoft.com/office/drawing/2014/main" val="1776218823"/>
                    </a:ext>
                  </a:extLst>
                </a:gridCol>
                <a:gridCol w="1043316">
                  <a:extLst>
                    <a:ext uri="{9D8B030D-6E8A-4147-A177-3AD203B41FA5}">
                      <a16:colId xmlns:a16="http://schemas.microsoft.com/office/drawing/2014/main" val="744754881"/>
                    </a:ext>
                  </a:extLst>
                </a:gridCol>
                <a:gridCol w="1043316">
                  <a:extLst>
                    <a:ext uri="{9D8B030D-6E8A-4147-A177-3AD203B41FA5}">
                      <a16:colId xmlns:a16="http://schemas.microsoft.com/office/drawing/2014/main" val="3251819058"/>
                    </a:ext>
                  </a:extLst>
                </a:gridCol>
                <a:gridCol w="1043316">
                  <a:extLst>
                    <a:ext uri="{9D8B030D-6E8A-4147-A177-3AD203B41FA5}">
                      <a16:colId xmlns:a16="http://schemas.microsoft.com/office/drawing/2014/main" val="3195769790"/>
                    </a:ext>
                  </a:extLst>
                </a:gridCol>
                <a:gridCol w="1043316">
                  <a:extLst>
                    <a:ext uri="{9D8B030D-6E8A-4147-A177-3AD203B41FA5}">
                      <a16:colId xmlns:a16="http://schemas.microsoft.com/office/drawing/2014/main" val="3653712475"/>
                    </a:ext>
                  </a:extLst>
                </a:gridCol>
                <a:gridCol w="965791">
                  <a:extLst>
                    <a:ext uri="{9D8B030D-6E8A-4147-A177-3AD203B41FA5}">
                      <a16:colId xmlns:a16="http://schemas.microsoft.com/office/drawing/2014/main" val="11046155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Сторно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ПР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ВР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Физ. лицо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ПД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ПДН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ПДК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ФПДН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ФПДК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639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Ложь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01.01.2019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Отпуск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Иванова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01.01.2019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20.01.2019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31.01.2019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20.01.2019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31.01.2019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1914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Ложь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01.01.2019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Отпуск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Иванова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20.02.2019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20.02.2019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7766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455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85348"/>
          </a:xfrm>
        </p:spPr>
        <p:txBody>
          <a:bodyPr/>
          <a:lstStyle/>
          <a:p>
            <a:r>
              <a:rPr lang="ru-RU" dirty="0"/>
              <a:t>Больничный вводится на месяц позже.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51136"/>
              </p:ext>
            </p:extLst>
          </p:nvPr>
        </p:nvGraphicFramePr>
        <p:xfrm>
          <a:off x="188119" y="1728629"/>
          <a:ext cx="8784001" cy="1473200"/>
        </p:xfrm>
        <a:graphic>
          <a:graphicData uri="http://schemas.openxmlformats.org/drawingml/2006/table">
            <a:tbl>
              <a:tblPr/>
              <a:tblGrid>
                <a:gridCol w="688181">
                  <a:extLst>
                    <a:ext uri="{9D8B030D-6E8A-4147-A177-3AD203B41FA5}">
                      <a16:colId xmlns:a16="http://schemas.microsoft.com/office/drawing/2014/main" val="623797581"/>
                    </a:ext>
                  </a:extLst>
                </a:gridCol>
                <a:gridCol w="1049815">
                  <a:extLst>
                    <a:ext uri="{9D8B030D-6E8A-4147-A177-3AD203B41FA5}">
                      <a16:colId xmlns:a16="http://schemas.microsoft.com/office/drawing/2014/main" val="1391258586"/>
                    </a:ext>
                  </a:extLst>
                </a:gridCol>
                <a:gridCol w="1093310">
                  <a:extLst>
                    <a:ext uri="{9D8B030D-6E8A-4147-A177-3AD203B41FA5}">
                      <a16:colId xmlns:a16="http://schemas.microsoft.com/office/drawing/2014/main" val="3896100850"/>
                    </a:ext>
                  </a:extLst>
                </a:gridCol>
                <a:gridCol w="813640">
                  <a:extLst>
                    <a:ext uri="{9D8B030D-6E8A-4147-A177-3AD203B41FA5}">
                      <a16:colId xmlns:a16="http://schemas.microsoft.com/office/drawing/2014/main" val="1776218823"/>
                    </a:ext>
                  </a:extLst>
                </a:gridCol>
                <a:gridCol w="1043316">
                  <a:extLst>
                    <a:ext uri="{9D8B030D-6E8A-4147-A177-3AD203B41FA5}">
                      <a16:colId xmlns:a16="http://schemas.microsoft.com/office/drawing/2014/main" val="744754881"/>
                    </a:ext>
                  </a:extLst>
                </a:gridCol>
                <a:gridCol w="1043316">
                  <a:extLst>
                    <a:ext uri="{9D8B030D-6E8A-4147-A177-3AD203B41FA5}">
                      <a16:colId xmlns:a16="http://schemas.microsoft.com/office/drawing/2014/main" val="3251819058"/>
                    </a:ext>
                  </a:extLst>
                </a:gridCol>
                <a:gridCol w="1043316">
                  <a:extLst>
                    <a:ext uri="{9D8B030D-6E8A-4147-A177-3AD203B41FA5}">
                      <a16:colId xmlns:a16="http://schemas.microsoft.com/office/drawing/2014/main" val="3195769790"/>
                    </a:ext>
                  </a:extLst>
                </a:gridCol>
                <a:gridCol w="1043316">
                  <a:extLst>
                    <a:ext uri="{9D8B030D-6E8A-4147-A177-3AD203B41FA5}">
                      <a16:colId xmlns:a16="http://schemas.microsoft.com/office/drawing/2014/main" val="3653712475"/>
                    </a:ext>
                  </a:extLst>
                </a:gridCol>
                <a:gridCol w="965791">
                  <a:extLst>
                    <a:ext uri="{9D8B030D-6E8A-4147-A177-3AD203B41FA5}">
                      <a16:colId xmlns:a16="http://schemas.microsoft.com/office/drawing/2014/main" val="11046155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Сторно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ПР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ВР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Физ. лицо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ПД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ПДН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ПДК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ФПДН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ФПДК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639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Ложь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01.01.2019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Отпуск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Иванова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01.01.2019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20.01.2019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31.01.2019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20.01.2019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31.01.2019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1914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Ложь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01.01.2019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Отпуск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Иванова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20.02.2019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20.02.2019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7766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Ложь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01.03.2019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Больничный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Иванова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15.02.2019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20.02.2019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01.01.0001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01.01.0001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4890545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/>
          <p:cNvSpPr/>
          <p:nvPr/>
        </p:nvSpPr>
        <p:spPr>
          <a:xfrm>
            <a:off x="6877050" y="2848689"/>
            <a:ext cx="2171700" cy="390525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895350" y="3533775"/>
            <a:ext cx="7448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Если </a:t>
            </a:r>
            <a:r>
              <a:rPr lang="ru-RU" dirty="0">
                <a:solidFill>
                  <a:srgbClr val="0070C0"/>
                </a:solidFill>
              </a:rPr>
              <a:t>период действия </a:t>
            </a:r>
            <a:r>
              <a:rPr lang="ru-RU" dirty="0"/>
              <a:t>находится по отношению к </a:t>
            </a:r>
            <a:r>
              <a:rPr lang="ru-RU" dirty="0">
                <a:solidFill>
                  <a:srgbClr val="00B050"/>
                </a:solidFill>
              </a:rPr>
              <a:t>периоду регистрации </a:t>
            </a:r>
            <a:r>
              <a:rPr lang="ru-RU" dirty="0"/>
              <a:t>в прошлом, то перестает действовать механизм вытеснения. Больничный не может вытеснить в прошлом отпуск. </a:t>
            </a:r>
            <a:r>
              <a:rPr lang="ru-RU" dirty="0">
                <a:solidFill>
                  <a:srgbClr val="7030A0"/>
                </a:solidFill>
              </a:rPr>
              <a:t>Фактический период действия </a:t>
            </a:r>
            <a:r>
              <a:rPr lang="ru-RU" dirty="0"/>
              <a:t>такой записи не формируются.</a:t>
            </a:r>
          </a:p>
        </p:txBody>
      </p:sp>
    </p:spTree>
    <p:extLst>
      <p:ext uri="{BB962C8B-B14F-4D97-AF65-F5344CB8AC3E}">
        <p14:creationId xmlns:p14="http://schemas.microsoft.com/office/powerpoint/2010/main" val="3636916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Сторно записи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450564"/>
              </p:ext>
            </p:extLst>
          </p:nvPr>
        </p:nvGraphicFramePr>
        <p:xfrm>
          <a:off x="188119" y="1728629"/>
          <a:ext cx="8784001" cy="1788160"/>
        </p:xfrm>
        <a:graphic>
          <a:graphicData uri="http://schemas.openxmlformats.org/drawingml/2006/table">
            <a:tbl>
              <a:tblPr/>
              <a:tblGrid>
                <a:gridCol w="688181">
                  <a:extLst>
                    <a:ext uri="{9D8B030D-6E8A-4147-A177-3AD203B41FA5}">
                      <a16:colId xmlns:a16="http://schemas.microsoft.com/office/drawing/2014/main" val="623797581"/>
                    </a:ext>
                  </a:extLst>
                </a:gridCol>
                <a:gridCol w="1049815">
                  <a:extLst>
                    <a:ext uri="{9D8B030D-6E8A-4147-A177-3AD203B41FA5}">
                      <a16:colId xmlns:a16="http://schemas.microsoft.com/office/drawing/2014/main" val="1391258586"/>
                    </a:ext>
                  </a:extLst>
                </a:gridCol>
                <a:gridCol w="1093310">
                  <a:extLst>
                    <a:ext uri="{9D8B030D-6E8A-4147-A177-3AD203B41FA5}">
                      <a16:colId xmlns:a16="http://schemas.microsoft.com/office/drawing/2014/main" val="3896100850"/>
                    </a:ext>
                  </a:extLst>
                </a:gridCol>
                <a:gridCol w="813640">
                  <a:extLst>
                    <a:ext uri="{9D8B030D-6E8A-4147-A177-3AD203B41FA5}">
                      <a16:colId xmlns:a16="http://schemas.microsoft.com/office/drawing/2014/main" val="1776218823"/>
                    </a:ext>
                  </a:extLst>
                </a:gridCol>
                <a:gridCol w="1043316">
                  <a:extLst>
                    <a:ext uri="{9D8B030D-6E8A-4147-A177-3AD203B41FA5}">
                      <a16:colId xmlns:a16="http://schemas.microsoft.com/office/drawing/2014/main" val="744754881"/>
                    </a:ext>
                  </a:extLst>
                </a:gridCol>
                <a:gridCol w="1043316">
                  <a:extLst>
                    <a:ext uri="{9D8B030D-6E8A-4147-A177-3AD203B41FA5}">
                      <a16:colId xmlns:a16="http://schemas.microsoft.com/office/drawing/2014/main" val="3251819058"/>
                    </a:ext>
                  </a:extLst>
                </a:gridCol>
                <a:gridCol w="1043316">
                  <a:extLst>
                    <a:ext uri="{9D8B030D-6E8A-4147-A177-3AD203B41FA5}">
                      <a16:colId xmlns:a16="http://schemas.microsoft.com/office/drawing/2014/main" val="3195769790"/>
                    </a:ext>
                  </a:extLst>
                </a:gridCol>
                <a:gridCol w="1043316">
                  <a:extLst>
                    <a:ext uri="{9D8B030D-6E8A-4147-A177-3AD203B41FA5}">
                      <a16:colId xmlns:a16="http://schemas.microsoft.com/office/drawing/2014/main" val="3653712475"/>
                    </a:ext>
                  </a:extLst>
                </a:gridCol>
                <a:gridCol w="965791">
                  <a:extLst>
                    <a:ext uri="{9D8B030D-6E8A-4147-A177-3AD203B41FA5}">
                      <a16:colId xmlns:a16="http://schemas.microsoft.com/office/drawing/2014/main" val="11046155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Сторно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ПР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ВР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Физ. лицо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ПД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ПДН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ПДК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ФПДН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ФПДК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639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Ложь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01.01.2019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Отпуск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Иванова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01.01.2019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20.01.2019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31.01.2019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20.01.2019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31.01.2019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1914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Ложь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01.01.2019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Отпуск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Иванова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01.02.2019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01.02.2019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20.02.2019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01.02.2019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20.02.2019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7766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01.03.2019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Отпуск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Иванова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01.02.2019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15.02.2019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20.02.2019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15.02.2019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20.02.2019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4890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Ложь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01.03.2019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Больничный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Иванова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15.02.2019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20.02.2019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15.02.2019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20.02.2019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472428"/>
                  </a:ext>
                </a:extLst>
              </a:tr>
            </a:tbl>
          </a:graphicData>
        </a:graphic>
      </p:graphicFrame>
      <p:sp>
        <p:nvSpPr>
          <p:cNvPr id="5" name="Скругленный прямоугольник 4"/>
          <p:cNvSpPr/>
          <p:nvPr/>
        </p:nvSpPr>
        <p:spPr>
          <a:xfrm>
            <a:off x="6886575" y="2514600"/>
            <a:ext cx="2171700" cy="714375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739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Перерасчет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3925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Таблица перерасчета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294" y="1120775"/>
            <a:ext cx="4704762" cy="50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03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Таблица перерасчета. Типы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485343"/>
              </p:ext>
            </p:extLst>
          </p:nvPr>
        </p:nvGraphicFramePr>
        <p:xfrm>
          <a:off x="2628332" y="1342549"/>
          <a:ext cx="3903573" cy="345440"/>
        </p:xfrm>
        <a:graphic>
          <a:graphicData uri="http://schemas.openxmlformats.org/drawingml/2006/table">
            <a:tbl>
              <a:tblPr/>
              <a:tblGrid>
                <a:gridCol w="1579169">
                  <a:extLst>
                    <a:ext uri="{9D8B030D-6E8A-4147-A177-3AD203B41FA5}">
                      <a16:colId xmlns:a16="http://schemas.microsoft.com/office/drawing/2014/main" val="2369456803"/>
                    </a:ext>
                  </a:extLst>
                </a:gridCol>
                <a:gridCol w="1239926">
                  <a:extLst>
                    <a:ext uri="{9D8B030D-6E8A-4147-A177-3AD203B41FA5}">
                      <a16:colId xmlns:a16="http://schemas.microsoft.com/office/drawing/2014/main" val="841661459"/>
                    </a:ext>
                  </a:extLst>
                </a:gridCol>
                <a:gridCol w="1084478">
                  <a:extLst>
                    <a:ext uri="{9D8B030D-6E8A-4147-A177-3AD203B41FA5}">
                      <a16:colId xmlns:a16="http://schemas.microsoft.com/office/drawing/2014/main" val="1168135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Объект расчета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Вид расчета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Работник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2092089"/>
                  </a:ext>
                </a:extLst>
              </a:tr>
            </a:tbl>
          </a:graphicData>
        </a:graphic>
      </p:graphicFrame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24" y="3929743"/>
            <a:ext cx="4666667" cy="231428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571" y="3929743"/>
            <a:ext cx="4666667" cy="1638095"/>
          </a:xfrm>
          <a:prstGeom prst="rect">
            <a:avLst/>
          </a:prstGeom>
        </p:spPr>
      </p:pic>
      <p:sp>
        <p:nvSpPr>
          <p:cNvPr id="7" name="Стрелка вверх 6"/>
          <p:cNvSpPr/>
          <p:nvPr/>
        </p:nvSpPr>
        <p:spPr>
          <a:xfrm>
            <a:off x="3048000" y="1790700"/>
            <a:ext cx="409575" cy="202882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трелка вверх 7"/>
          <p:cNvSpPr/>
          <p:nvPr/>
        </p:nvSpPr>
        <p:spPr>
          <a:xfrm>
            <a:off x="4666803" y="1790699"/>
            <a:ext cx="409575" cy="202882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4557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Таблица перерасчета. Типы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2628332" y="1342549"/>
          <a:ext cx="3903573" cy="345440"/>
        </p:xfrm>
        <a:graphic>
          <a:graphicData uri="http://schemas.openxmlformats.org/drawingml/2006/table">
            <a:tbl>
              <a:tblPr/>
              <a:tblGrid>
                <a:gridCol w="1579169">
                  <a:extLst>
                    <a:ext uri="{9D8B030D-6E8A-4147-A177-3AD203B41FA5}">
                      <a16:colId xmlns:a16="http://schemas.microsoft.com/office/drawing/2014/main" val="2369456803"/>
                    </a:ext>
                  </a:extLst>
                </a:gridCol>
                <a:gridCol w="1239926">
                  <a:extLst>
                    <a:ext uri="{9D8B030D-6E8A-4147-A177-3AD203B41FA5}">
                      <a16:colId xmlns:a16="http://schemas.microsoft.com/office/drawing/2014/main" val="841661459"/>
                    </a:ext>
                  </a:extLst>
                </a:gridCol>
                <a:gridCol w="1084478">
                  <a:extLst>
                    <a:ext uri="{9D8B030D-6E8A-4147-A177-3AD203B41FA5}">
                      <a16:colId xmlns:a16="http://schemas.microsoft.com/office/drawing/2014/main" val="1168135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Объект расчета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Вид расчета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Работник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2092089"/>
                  </a:ext>
                </a:extLst>
              </a:tr>
            </a:tbl>
          </a:graphicData>
        </a:graphic>
      </p:graphicFrame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575" y="3614868"/>
            <a:ext cx="3647619" cy="2085714"/>
          </a:xfrm>
          <a:prstGeom prst="rect">
            <a:avLst/>
          </a:prstGeom>
        </p:spPr>
      </p:pic>
      <p:sp>
        <p:nvSpPr>
          <p:cNvPr id="8" name="Стрелка вверх 7"/>
          <p:cNvSpPr/>
          <p:nvPr/>
        </p:nvSpPr>
        <p:spPr>
          <a:xfrm>
            <a:off x="5781228" y="1790700"/>
            <a:ext cx="409575" cy="1752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11" y="4210609"/>
            <a:ext cx="4685714" cy="1952381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35" y="1838325"/>
            <a:ext cx="4676190" cy="2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224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Связь полями ведущих регистров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35" y="1323975"/>
            <a:ext cx="4676190" cy="220952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35" y="3753008"/>
            <a:ext cx="4638095" cy="253333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3240" y="2428461"/>
            <a:ext cx="3647619" cy="20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497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Связи таблиц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877876"/>
              </p:ext>
            </p:extLst>
          </p:nvPr>
        </p:nvGraphicFramePr>
        <p:xfrm>
          <a:off x="188119" y="1534954"/>
          <a:ext cx="5576010" cy="294640"/>
        </p:xfrm>
        <a:graphic>
          <a:graphicData uri="http://schemas.openxmlformats.org/drawingml/2006/table">
            <a:tbl>
              <a:tblPr/>
              <a:tblGrid>
                <a:gridCol w="706831">
                  <a:extLst>
                    <a:ext uri="{9D8B030D-6E8A-4147-A177-3AD203B41FA5}">
                      <a16:colId xmlns:a16="http://schemas.microsoft.com/office/drawing/2014/main" val="1016475306"/>
                    </a:ext>
                  </a:extLst>
                </a:gridCol>
                <a:gridCol w="1296619">
                  <a:extLst>
                    <a:ext uri="{9D8B030D-6E8A-4147-A177-3AD203B41FA5}">
                      <a16:colId xmlns:a16="http://schemas.microsoft.com/office/drawing/2014/main" val="2018013356"/>
                    </a:ext>
                  </a:extLst>
                </a:gridCol>
                <a:gridCol w="741578">
                  <a:extLst>
                    <a:ext uri="{9D8B030D-6E8A-4147-A177-3AD203B41FA5}">
                      <a16:colId xmlns:a16="http://schemas.microsoft.com/office/drawing/2014/main" val="2285352684"/>
                    </a:ext>
                  </a:extLst>
                </a:gridCol>
                <a:gridCol w="725119">
                  <a:extLst>
                    <a:ext uri="{9D8B030D-6E8A-4147-A177-3AD203B41FA5}">
                      <a16:colId xmlns:a16="http://schemas.microsoft.com/office/drawing/2014/main" val="996455006"/>
                    </a:ext>
                  </a:extLst>
                </a:gridCol>
                <a:gridCol w="1054303">
                  <a:extLst>
                    <a:ext uri="{9D8B030D-6E8A-4147-A177-3AD203B41FA5}">
                      <a16:colId xmlns:a16="http://schemas.microsoft.com/office/drawing/2014/main" val="276893063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7986422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ПР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Вид расчеты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ФПДН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ФПДК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Результат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Физ. Лицо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12594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8119" y="1165622"/>
            <a:ext cx="509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РР «Основные начисления»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901831"/>
              </p:ext>
            </p:extLst>
          </p:nvPr>
        </p:nvGraphicFramePr>
        <p:xfrm>
          <a:off x="188119" y="4884579"/>
          <a:ext cx="6601054" cy="345440"/>
        </p:xfrm>
        <a:graphic>
          <a:graphicData uri="http://schemas.openxmlformats.org/drawingml/2006/table">
            <a:tbl>
              <a:tblPr/>
              <a:tblGrid>
                <a:gridCol w="1282903">
                  <a:extLst>
                    <a:ext uri="{9D8B030D-6E8A-4147-A177-3AD203B41FA5}">
                      <a16:colId xmlns:a16="http://schemas.microsoft.com/office/drawing/2014/main" val="2788005950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3969613039"/>
                    </a:ext>
                  </a:extLst>
                </a:gridCol>
                <a:gridCol w="1327709">
                  <a:extLst>
                    <a:ext uri="{9D8B030D-6E8A-4147-A177-3AD203B41FA5}">
                      <a16:colId xmlns:a16="http://schemas.microsoft.com/office/drawing/2014/main" val="24688378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3869697509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4203414189"/>
                    </a:ext>
                  </a:extLst>
                </a:gridCol>
                <a:gridCol w="1076249">
                  <a:extLst>
                    <a:ext uri="{9D8B030D-6E8A-4147-A177-3AD203B41FA5}">
                      <a16:colId xmlns:a16="http://schemas.microsoft.com/office/drawing/2014/main" val="3823904597"/>
                    </a:ext>
                  </a:extLst>
                </a:gridCol>
                <a:gridCol w="1084478">
                  <a:extLst>
                    <a:ext uri="{9D8B030D-6E8A-4147-A177-3AD203B41FA5}">
                      <a16:colId xmlns:a16="http://schemas.microsoft.com/office/drawing/2014/main" val="23083058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ПР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Вид расчеты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БПН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БПК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Результат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Физ. Лицо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575892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8118" y="4464725"/>
            <a:ext cx="509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РР «Дополнительные начисления»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508002"/>
              </p:ext>
            </p:extLst>
          </p:nvPr>
        </p:nvGraphicFramePr>
        <p:xfrm>
          <a:off x="5068546" y="3822998"/>
          <a:ext cx="3903573" cy="345440"/>
        </p:xfrm>
        <a:graphic>
          <a:graphicData uri="http://schemas.openxmlformats.org/drawingml/2006/table">
            <a:tbl>
              <a:tblPr/>
              <a:tblGrid>
                <a:gridCol w="1579169">
                  <a:extLst>
                    <a:ext uri="{9D8B030D-6E8A-4147-A177-3AD203B41FA5}">
                      <a16:colId xmlns:a16="http://schemas.microsoft.com/office/drawing/2014/main" val="1393325049"/>
                    </a:ext>
                  </a:extLst>
                </a:gridCol>
                <a:gridCol w="1239926">
                  <a:extLst>
                    <a:ext uri="{9D8B030D-6E8A-4147-A177-3AD203B41FA5}">
                      <a16:colId xmlns:a16="http://schemas.microsoft.com/office/drawing/2014/main" val="839926746"/>
                    </a:ext>
                  </a:extLst>
                </a:gridCol>
                <a:gridCol w="1084478">
                  <a:extLst>
                    <a:ext uri="{9D8B030D-6E8A-4147-A177-3AD203B41FA5}">
                      <a16:colId xmlns:a16="http://schemas.microsoft.com/office/drawing/2014/main" val="20774609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Объект расчета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Вид расчета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Работник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6728266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632477"/>
              </p:ext>
            </p:extLst>
          </p:nvPr>
        </p:nvGraphicFramePr>
        <p:xfrm>
          <a:off x="188118" y="3428405"/>
          <a:ext cx="3353105" cy="1036320"/>
        </p:xfrm>
        <a:graphic>
          <a:graphicData uri="http://schemas.openxmlformats.org/drawingml/2006/table">
            <a:tbl>
              <a:tblPr/>
              <a:tblGrid>
                <a:gridCol w="1161288">
                  <a:extLst>
                    <a:ext uri="{9D8B030D-6E8A-4147-A177-3AD203B41FA5}">
                      <a16:colId xmlns:a16="http://schemas.microsoft.com/office/drawing/2014/main" val="1662482344"/>
                    </a:ext>
                  </a:extLst>
                </a:gridCol>
                <a:gridCol w="2191817">
                  <a:extLst>
                    <a:ext uri="{9D8B030D-6E8A-4147-A177-3AD203B41FA5}">
                      <a16:colId xmlns:a16="http://schemas.microsoft.com/office/drawing/2014/main" val="1128332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>
                          <a:effectLst/>
                          <a:latin typeface="Calibri" panose="020F0502020204030204" pitchFamily="34" charset="0"/>
                        </a:rPr>
                        <a:t>Вид расчет</a:t>
                      </a:r>
                      <a:endParaRPr lang="ru-RU" sz="16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>
                          <a:effectLst/>
                          <a:latin typeface="Calibri" panose="020F0502020204030204" pitchFamily="34" charset="0"/>
                        </a:rPr>
                        <a:t>Ведущие виды расчета</a:t>
                      </a:r>
                      <a:endParaRPr lang="ru-RU" sz="16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1452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Премия 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18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Премия 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Больничный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566568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68545" y="3174365"/>
            <a:ext cx="3903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/>
              <a:t>Перерасчет регистра расчета «Дополнительные начисления»</a:t>
            </a:r>
          </a:p>
        </p:txBody>
      </p:sp>
      <p:sp>
        <p:nvSpPr>
          <p:cNvPr id="12" name="Полилиния 11"/>
          <p:cNvSpPr/>
          <p:nvPr/>
        </p:nvSpPr>
        <p:spPr>
          <a:xfrm>
            <a:off x="1291629" y="1829594"/>
            <a:ext cx="1925104" cy="1598812"/>
          </a:xfrm>
          <a:custGeom>
            <a:avLst/>
            <a:gdLst>
              <a:gd name="connsiteX0" fmla="*/ 146646 w 1925104"/>
              <a:gd name="connsiteY0" fmla="*/ 0 h 1628775"/>
              <a:gd name="connsiteX1" fmla="*/ 146646 w 1925104"/>
              <a:gd name="connsiteY1" fmla="*/ 657225 h 1628775"/>
              <a:gd name="connsiteX2" fmla="*/ 1670646 w 1925104"/>
              <a:gd name="connsiteY2" fmla="*/ 876300 h 1628775"/>
              <a:gd name="connsiteX3" fmla="*/ 1908771 w 1925104"/>
              <a:gd name="connsiteY3" fmla="*/ 1628775 h 1628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5104" h="1628775">
                <a:moveTo>
                  <a:pt x="146646" y="0"/>
                </a:moveTo>
                <a:cubicBezTo>
                  <a:pt x="19646" y="255587"/>
                  <a:pt x="-107354" y="511175"/>
                  <a:pt x="146646" y="657225"/>
                </a:cubicBezTo>
                <a:cubicBezTo>
                  <a:pt x="400646" y="803275"/>
                  <a:pt x="1376959" y="714375"/>
                  <a:pt x="1670646" y="876300"/>
                </a:cubicBezTo>
                <a:cubicBezTo>
                  <a:pt x="1964334" y="1038225"/>
                  <a:pt x="1936552" y="1333500"/>
                  <a:pt x="1908771" y="16287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 стрелкой 12"/>
          <p:cNvCxnSpPr/>
          <p:nvPr/>
        </p:nvCxnSpPr>
        <p:spPr>
          <a:xfrm flipH="1">
            <a:off x="1200150" y="3952875"/>
            <a:ext cx="1419225" cy="95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1291629" y="4095750"/>
            <a:ext cx="1346796" cy="8667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>
            <a:off x="5143500" y="1905000"/>
            <a:ext cx="742950" cy="292905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flipV="1">
            <a:off x="6851574" y="4215254"/>
            <a:ext cx="1511376" cy="84204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авая фигурная скобка 16"/>
          <p:cNvSpPr/>
          <p:nvPr/>
        </p:nvSpPr>
        <p:spPr>
          <a:xfrm rot="5400000">
            <a:off x="2802524" y="1282213"/>
            <a:ext cx="309041" cy="1484500"/>
          </a:xfrm>
          <a:prstGeom prst="righ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авая фигурная скобка 17"/>
          <p:cNvSpPr/>
          <p:nvPr/>
        </p:nvSpPr>
        <p:spPr>
          <a:xfrm rot="16200000">
            <a:off x="3855748" y="4101293"/>
            <a:ext cx="309041" cy="1142519"/>
          </a:xfrm>
          <a:prstGeom prst="righ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олилиния 18"/>
          <p:cNvSpPr/>
          <p:nvPr/>
        </p:nvSpPr>
        <p:spPr>
          <a:xfrm>
            <a:off x="2907467" y="2229507"/>
            <a:ext cx="1130229" cy="2190094"/>
          </a:xfrm>
          <a:custGeom>
            <a:avLst/>
            <a:gdLst>
              <a:gd name="connsiteX0" fmla="*/ 26233 w 1130229"/>
              <a:gd name="connsiteY0" fmla="*/ 0 h 1857375"/>
              <a:gd name="connsiteX1" fmla="*/ 45283 w 1130229"/>
              <a:gd name="connsiteY1" fmla="*/ 457200 h 1857375"/>
              <a:gd name="connsiteX2" fmla="*/ 445333 w 1130229"/>
              <a:gd name="connsiteY2" fmla="*/ 495300 h 1857375"/>
              <a:gd name="connsiteX3" fmla="*/ 1045408 w 1130229"/>
              <a:gd name="connsiteY3" fmla="*/ 504825 h 1857375"/>
              <a:gd name="connsiteX4" fmla="*/ 1112083 w 1130229"/>
              <a:gd name="connsiteY4" fmla="*/ 1857375 h 1857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0229" h="1857375">
                <a:moveTo>
                  <a:pt x="26233" y="0"/>
                </a:moveTo>
                <a:cubicBezTo>
                  <a:pt x="833" y="187325"/>
                  <a:pt x="-24567" y="374650"/>
                  <a:pt x="45283" y="457200"/>
                </a:cubicBezTo>
                <a:cubicBezTo>
                  <a:pt x="115133" y="539750"/>
                  <a:pt x="278646" y="487363"/>
                  <a:pt x="445333" y="495300"/>
                </a:cubicBezTo>
                <a:cubicBezTo>
                  <a:pt x="612020" y="503237"/>
                  <a:pt x="934283" y="277813"/>
                  <a:pt x="1045408" y="504825"/>
                </a:cubicBezTo>
                <a:cubicBezTo>
                  <a:pt x="1156533" y="731838"/>
                  <a:pt x="1134308" y="1294606"/>
                  <a:pt x="1112083" y="1857375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4132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Расчет оклада за октябрь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332452"/>
              </p:ext>
            </p:extLst>
          </p:nvPr>
        </p:nvGraphicFramePr>
        <p:xfrm>
          <a:off x="188119" y="1534954"/>
          <a:ext cx="5576010" cy="640080"/>
        </p:xfrm>
        <a:graphic>
          <a:graphicData uri="http://schemas.openxmlformats.org/drawingml/2006/table">
            <a:tbl>
              <a:tblPr/>
              <a:tblGrid>
                <a:gridCol w="706831">
                  <a:extLst>
                    <a:ext uri="{9D8B030D-6E8A-4147-A177-3AD203B41FA5}">
                      <a16:colId xmlns:a16="http://schemas.microsoft.com/office/drawing/2014/main" val="1016475306"/>
                    </a:ext>
                  </a:extLst>
                </a:gridCol>
                <a:gridCol w="1296619">
                  <a:extLst>
                    <a:ext uri="{9D8B030D-6E8A-4147-A177-3AD203B41FA5}">
                      <a16:colId xmlns:a16="http://schemas.microsoft.com/office/drawing/2014/main" val="2018013356"/>
                    </a:ext>
                  </a:extLst>
                </a:gridCol>
                <a:gridCol w="741578">
                  <a:extLst>
                    <a:ext uri="{9D8B030D-6E8A-4147-A177-3AD203B41FA5}">
                      <a16:colId xmlns:a16="http://schemas.microsoft.com/office/drawing/2014/main" val="2285352684"/>
                    </a:ext>
                  </a:extLst>
                </a:gridCol>
                <a:gridCol w="725119">
                  <a:extLst>
                    <a:ext uri="{9D8B030D-6E8A-4147-A177-3AD203B41FA5}">
                      <a16:colId xmlns:a16="http://schemas.microsoft.com/office/drawing/2014/main" val="996455006"/>
                    </a:ext>
                  </a:extLst>
                </a:gridCol>
                <a:gridCol w="1054303">
                  <a:extLst>
                    <a:ext uri="{9D8B030D-6E8A-4147-A177-3AD203B41FA5}">
                      <a16:colId xmlns:a16="http://schemas.microsoft.com/office/drawing/2014/main" val="276893063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7986422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ПР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Вид расчеты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ФПДН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ФПДК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Результат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Физ. Лицо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125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31/10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831669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8119" y="1165622"/>
            <a:ext cx="509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РР «Основные начисления»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130224"/>
              </p:ext>
            </p:extLst>
          </p:nvPr>
        </p:nvGraphicFramePr>
        <p:xfrm>
          <a:off x="188119" y="4884579"/>
          <a:ext cx="6601054" cy="345440"/>
        </p:xfrm>
        <a:graphic>
          <a:graphicData uri="http://schemas.openxmlformats.org/drawingml/2006/table">
            <a:tbl>
              <a:tblPr/>
              <a:tblGrid>
                <a:gridCol w="1282903">
                  <a:extLst>
                    <a:ext uri="{9D8B030D-6E8A-4147-A177-3AD203B41FA5}">
                      <a16:colId xmlns:a16="http://schemas.microsoft.com/office/drawing/2014/main" val="2788005950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3969613039"/>
                    </a:ext>
                  </a:extLst>
                </a:gridCol>
                <a:gridCol w="1327709">
                  <a:extLst>
                    <a:ext uri="{9D8B030D-6E8A-4147-A177-3AD203B41FA5}">
                      <a16:colId xmlns:a16="http://schemas.microsoft.com/office/drawing/2014/main" val="24688378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3869697509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4203414189"/>
                    </a:ext>
                  </a:extLst>
                </a:gridCol>
                <a:gridCol w="1076249">
                  <a:extLst>
                    <a:ext uri="{9D8B030D-6E8A-4147-A177-3AD203B41FA5}">
                      <a16:colId xmlns:a16="http://schemas.microsoft.com/office/drawing/2014/main" val="3823904597"/>
                    </a:ext>
                  </a:extLst>
                </a:gridCol>
                <a:gridCol w="1084478">
                  <a:extLst>
                    <a:ext uri="{9D8B030D-6E8A-4147-A177-3AD203B41FA5}">
                      <a16:colId xmlns:a16="http://schemas.microsoft.com/office/drawing/2014/main" val="23083058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ПР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Вид расчеты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БПН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БПК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Результат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Физ. Лицо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575892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8118" y="4464725"/>
            <a:ext cx="509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РР «Дополнительные начисления»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521462"/>
              </p:ext>
            </p:extLst>
          </p:nvPr>
        </p:nvGraphicFramePr>
        <p:xfrm>
          <a:off x="5068546" y="3822998"/>
          <a:ext cx="3903573" cy="345440"/>
        </p:xfrm>
        <a:graphic>
          <a:graphicData uri="http://schemas.openxmlformats.org/drawingml/2006/table">
            <a:tbl>
              <a:tblPr/>
              <a:tblGrid>
                <a:gridCol w="1579169">
                  <a:extLst>
                    <a:ext uri="{9D8B030D-6E8A-4147-A177-3AD203B41FA5}">
                      <a16:colId xmlns:a16="http://schemas.microsoft.com/office/drawing/2014/main" val="1393325049"/>
                    </a:ext>
                  </a:extLst>
                </a:gridCol>
                <a:gridCol w="1239926">
                  <a:extLst>
                    <a:ext uri="{9D8B030D-6E8A-4147-A177-3AD203B41FA5}">
                      <a16:colId xmlns:a16="http://schemas.microsoft.com/office/drawing/2014/main" val="839926746"/>
                    </a:ext>
                  </a:extLst>
                </a:gridCol>
                <a:gridCol w="1084478">
                  <a:extLst>
                    <a:ext uri="{9D8B030D-6E8A-4147-A177-3AD203B41FA5}">
                      <a16:colId xmlns:a16="http://schemas.microsoft.com/office/drawing/2014/main" val="20774609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Объект расчета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Вид расчета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Работник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6728266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643796"/>
              </p:ext>
            </p:extLst>
          </p:nvPr>
        </p:nvGraphicFramePr>
        <p:xfrm>
          <a:off x="188118" y="3428405"/>
          <a:ext cx="3353105" cy="1036320"/>
        </p:xfrm>
        <a:graphic>
          <a:graphicData uri="http://schemas.openxmlformats.org/drawingml/2006/table">
            <a:tbl>
              <a:tblPr/>
              <a:tblGrid>
                <a:gridCol w="1161288">
                  <a:extLst>
                    <a:ext uri="{9D8B030D-6E8A-4147-A177-3AD203B41FA5}">
                      <a16:colId xmlns:a16="http://schemas.microsoft.com/office/drawing/2014/main" val="1662482344"/>
                    </a:ext>
                  </a:extLst>
                </a:gridCol>
                <a:gridCol w="2191817">
                  <a:extLst>
                    <a:ext uri="{9D8B030D-6E8A-4147-A177-3AD203B41FA5}">
                      <a16:colId xmlns:a16="http://schemas.microsoft.com/office/drawing/2014/main" val="1128332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>
                          <a:effectLst/>
                          <a:latin typeface="Calibri" panose="020F0502020204030204" pitchFamily="34" charset="0"/>
                        </a:rPr>
                        <a:t>Вид расчет</a:t>
                      </a:r>
                      <a:endParaRPr lang="ru-RU" sz="16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>
                          <a:effectLst/>
                          <a:latin typeface="Calibri" panose="020F0502020204030204" pitchFamily="34" charset="0"/>
                        </a:rPr>
                        <a:t>Ведущие виды расчета</a:t>
                      </a:r>
                      <a:endParaRPr lang="ru-RU" sz="16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1452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Премия 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18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Премия 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Больничный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566568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68545" y="3174365"/>
            <a:ext cx="3903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/>
              <a:t>Перерасчет регистра расчета «Дополнительные начисления»</a:t>
            </a:r>
          </a:p>
        </p:txBody>
      </p:sp>
      <p:sp>
        <p:nvSpPr>
          <p:cNvPr id="4" name="Полилиния 3"/>
          <p:cNvSpPr/>
          <p:nvPr/>
        </p:nvSpPr>
        <p:spPr>
          <a:xfrm>
            <a:off x="1291629" y="2162176"/>
            <a:ext cx="1925104" cy="1266230"/>
          </a:xfrm>
          <a:custGeom>
            <a:avLst/>
            <a:gdLst>
              <a:gd name="connsiteX0" fmla="*/ 146646 w 1925104"/>
              <a:gd name="connsiteY0" fmla="*/ 0 h 1628775"/>
              <a:gd name="connsiteX1" fmla="*/ 146646 w 1925104"/>
              <a:gd name="connsiteY1" fmla="*/ 657225 h 1628775"/>
              <a:gd name="connsiteX2" fmla="*/ 1670646 w 1925104"/>
              <a:gd name="connsiteY2" fmla="*/ 876300 h 1628775"/>
              <a:gd name="connsiteX3" fmla="*/ 1908771 w 1925104"/>
              <a:gd name="connsiteY3" fmla="*/ 1628775 h 1628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5104" h="1628775">
                <a:moveTo>
                  <a:pt x="146646" y="0"/>
                </a:moveTo>
                <a:cubicBezTo>
                  <a:pt x="19646" y="255587"/>
                  <a:pt x="-107354" y="511175"/>
                  <a:pt x="146646" y="657225"/>
                </a:cubicBezTo>
                <a:cubicBezTo>
                  <a:pt x="400646" y="803275"/>
                  <a:pt x="1376959" y="714375"/>
                  <a:pt x="1670646" y="876300"/>
                </a:cubicBezTo>
                <a:cubicBezTo>
                  <a:pt x="1964334" y="1038225"/>
                  <a:pt x="1936552" y="1333500"/>
                  <a:pt x="1908771" y="16287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 стрелкой 12"/>
          <p:cNvCxnSpPr/>
          <p:nvPr/>
        </p:nvCxnSpPr>
        <p:spPr>
          <a:xfrm flipH="1">
            <a:off x="1200150" y="3952875"/>
            <a:ext cx="1419225" cy="95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>
            <a:off x="1291629" y="4095750"/>
            <a:ext cx="1346796" cy="8667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5268294" y="2175034"/>
            <a:ext cx="618156" cy="265902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 flipV="1">
            <a:off x="6851574" y="4215254"/>
            <a:ext cx="1511376" cy="84204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Правая фигурная скобка 28"/>
          <p:cNvSpPr/>
          <p:nvPr/>
        </p:nvSpPr>
        <p:spPr>
          <a:xfrm rot="5400000">
            <a:off x="2770353" y="1587305"/>
            <a:ext cx="309041" cy="1484500"/>
          </a:xfrm>
          <a:prstGeom prst="righ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авая фигурная скобка 29"/>
          <p:cNvSpPr/>
          <p:nvPr/>
        </p:nvSpPr>
        <p:spPr>
          <a:xfrm rot="16200000">
            <a:off x="3855748" y="4101293"/>
            <a:ext cx="309041" cy="1142519"/>
          </a:xfrm>
          <a:prstGeom prst="righ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олилиния 30"/>
          <p:cNvSpPr/>
          <p:nvPr/>
        </p:nvSpPr>
        <p:spPr>
          <a:xfrm>
            <a:off x="2907467" y="2562225"/>
            <a:ext cx="1130229" cy="1857375"/>
          </a:xfrm>
          <a:custGeom>
            <a:avLst/>
            <a:gdLst>
              <a:gd name="connsiteX0" fmla="*/ 26233 w 1130229"/>
              <a:gd name="connsiteY0" fmla="*/ 0 h 1857375"/>
              <a:gd name="connsiteX1" fmla="*/ 45283 w 1130229"/>
              <a:gd name="connsiteY1" fmla="*/ 457200 h 1857375"/>
              <a:gd name="connsiteX2" fmla="*/ 445333 w 1130229"/>
              <a:gd name="connsiteY2" fmla="*/ 495300 h 1857375"/>
              <a:gd name="connsiteX3" fmla="*/ 1045408 w 1130229"/>
              <a:gd name="connsiteY3" fmla="*/ 504825 h 1857375"/>
              <a:gd name="connsiteX4" fmla="*/ 1112083 w 1130229"/>
              <a:gd name="connsiteY4" fmla="*/ 1857375 h 1857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0229" h="1857375">
                <a:moveTo>
                  <a:pt x="26233" y="0"/>
                </a:moveTo>
                <a:cubicBezTo>
                  <a:pt x="833" y="187325"/>
                  <a:pt x="-24567" y="374650"/>
                  <a:pt x="45283" y="457200"/>
                </a:cubicBezTo>
                <a:cubicBezTo>
                  <a:pt x="115133" y="539750"/>
                  <a:pt x="278646" y="487363"/>
                  <a:pt x="445333" y="495300"/>
                </a:cubicBezTo>
                <a:cubicBezTo>
                  <a:pt x="612020" y="503237"/>
                  <a:pt x="934283" y="277813"/>
                  <a:pt x="1045408" y="504825"/>
                </a:cubicBezTo>
                <a:cubicBezTo>
                  <a:pt x="1156533" y="731838"/>
                  <a:pt x="1134308" y="1294606"/>
                  <a:pt x="1112083" y="1857375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7757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Расчет премии % за октябрь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882183"/>
              </p:ext>
            </p:extLst>
          </p:nvPr>
        </p:nvGraphicFramePr>
        <p:xfrm>
          <a:off x="188119" y="1534954"/>
          <a:ext cx="5576010" cy="640080"/>
        </p:xfrm>
        <a:graphic>
          <a:graphicData uri="http://schemas.openxmlformats.org/drawingml/2006/table">
            <a:tbl>
              <a:tblPr/>
              <a:tblGrid>
                <a:gridCol w="706831">
                  <a:extLst>
                    <a:ext uri="{9D8B030D-6E8A-4147-A177-3AD203B41FA5}">
                      <a16:colId xmlns:a16="http://schemas.microsoft.com/office/drawing/2014/main" val="1016475306"/>
                    </a:ext>
                  </a:extLst>
                </a:gridCol>
                <a:gridCol w="1296619">
                  <a:extLst>
                    <a:ext uri="{9D8B030D-6E8A-4147-A177-3AD203B41FA5}">
                      <a16:colId xmlns:a16="http://schemas.microsoft.com/office/drawing/2014/main" val="2018013356"/>
                    </a:ext>
                  </a:extLst>
                </a:gridCol>
                <a:gridCol w="741578">
                  <a:extLst>
                    <a:ext uri="{9D8B030D-6E8A-4147-A177-3AD203B41FA5}">
                      <a16:colId xmlns:a16="http://schemas.microsoft.com/office/drawing/2014/main" val="2285352684"/>
                    </a:ext>
                  </a:extLst>
                </a:gridCol>
                <a:gridCol w="725119">
                  <a:extLst>
                    <a:ext uri="{9D8B030D-6E8A-4147-A177-3AD203B41FA5}">
                      <a16:colId xmlns:a16="http://schemas.microsoft.com/office/drawing/2014/main" val="996455006"/>
                    </a:ext>
                  </a:extLst>
                </a:gridCol>
                <a:gridCol w="1054303">
                  <a:extLst>
                    <a:ext uri="{9D8B030D-6E8A-4147-A177-3AD203B41FA5}">
                      <a16:colId xmlns:a16="http://schemas.microsoft.com/office/drawing/2014/main" val="276893063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7986422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ПР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Вид расчеты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ФПДН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ФПДК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Результат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Физ. Лицо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125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31/10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831669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8119" y="1165622"/>
            <a:ext cx="509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РР «Основные начисления»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199199"/>
              </p:ext>
            </p:extLst>
          </p:nvPr>
        </p:nvGraphicFramePr>
        <p:xfrm>
          <a:off x="188119" y="4884579"/>
          <a:ext cx="6601054" cy="690880"/>
        </p:xfrm>
        <a:graphic>
          <a:graphicData uri="http://schemas.openxmlformats.org/drawingml/2006/table">
            <a:tbl>
              <a:tblPr/>
              <a:tblGrid>
                <a:gridCol w="1282903">
                  <a:extLst>
                    <a:ext uri="{9D8B030D-6E8A-4147-A177-3AD203B41FA5}">
                      <a16:colId xmlns:a16="http://schemas.microsoft.com/office/drawing/2014/main" val="2788005950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3969613039"/>
                    </a:ext>
                  </a:extLst>
                </a:gridCol>
                <a:gridCol w="1327709">
                  <a:extLst>
                    <a:ext uri="{9D8B030D-6E8A-4147-A177-3AD203B41FA5}">
                      <a16:colId xmlns:a16="http://schemas.microsoft.com/office/drawing/2014/main" val="24688378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3869697509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4203414189"/>
                    </a:ext>
                  </a:extLst>
                </a:gridCol>
                <a:gridCol w="1076249">
                  <a:extLst>
                    <a:ext uri="{9D8B030D-6E8A-4147-A177-3AD203B41FA5}">
                      <a16:colId xmlns:a16="http://schemas.microsoft.com/office/drawing/2014/main" val="3823904597"/>
                    </a:ext>
                  </a:extLst>
                </a:gridCol>
                <a:gridCol w="1084478">
                  <a:extLst>
                    <a:ext uri="{9D8B030D-6E8A-4147-A177-3AD203B41FA5}">
                      <a16:colId xmlns:a16="http://schemas.microsoft.com/office/drawing/2014/main" val="23083058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ПР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Вид расчеты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БПН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БПК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Результат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Физ. Лицо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575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Док 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Премия 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31/10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82554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8118" y="4464725"/>
            <a:ext cx="509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РР «Дополнительные начисления»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289273"/>
              </p:ext>
            </p:extLst>
          </p:nvPr>
        </p:nvGraphicFramePr>
        <p:xfrm>
          <a:off x="5068546" y="3822998"/>
          <a:ext cx="3903573" cy="345440"/>
        </p:xfrm>
        <a:graphic>
          <a:graphicData uri="http://schemas.openxmlformats.org/drawingml/2006/table">
            <a:tbl>
              <a:tblPr/>
              <a:tblGrid>
                <a:gridCol w="1579169">
                  <a:extLst>
                    <a:ext uri="{9D8B030D-6E8A-4147-A177-3AD203B41FA5}">
                      <a16:colId xmlns:a16="http://schemas.microsoft.com/office/drawing/2014/main" val="1393325049"/>
                    </a:ext>
                  </a:extLst>
                </a:gridCol>
                <a:gridCol w="1239926">
                  <a:extLst>
                    <a:ext uri="{9D8B030D-6E8A-4147-A177-3AD203B41FA5}">
                      <a16:colId xmlns:a16="http://schemas.microsoft.com/office/drawing/2014/main" val="839926746"/>
                    </a:ext>
                  </a:extLst>
                </a:gridCol>
                <a:gridCol w="1084478">
                  <a:extLst>
                    <a:ext uri="{9D8B030D-6E8A-4147-A177-3AD203B41FA5}">
                      <a16:colId xmlns:a16="http://schemas.microsoft.com/office/drawing/2014/main" val="20774609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Объект расчета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Вид расчета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Работник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6728266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113"/>
              </p:ext>
            </p:extLst>
          </p:nvPr>
        </p:nvGraphicFramePr>
        <p:xfrm>
          <a:off x="188118" y="3428405"/>
          <a:ext cx="3353105" cy="1036320"/>
        </p:xfrm>
        <a:graphic>
          <a:graphicData uri="http://schemas.openxmlformats.org/drawingml/2006/table">
            <a:tbl>
              <a:tblPr/>
              <a:tblGrid>
                <a:gridCol w="1161288">
                  <a:extLst>
                    <a:ext uri="{9D8B030D-6E8A-4147-A177-3AD203B41FA5}">
                      <a16:colId xmlns:a16="http://schemas.microsoft.com/office/drawing/2014/main" val="1662482344"/>
                    </a:ext>
                  </a:extLst>
                </a:gridCol>
                <a:gridCol w="2191817">
                  <a:extLst>
                    <a:ext uri="{9D8B030D-6E8A-4147-A177-3AD203B41FA5}">
                      <a16:colId xmlns:a16="http://schemas.microsoft.com/office/drawing/2014/main" val="1128332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>
                          <a:effectLst/>
                          <a:latin typeface="Calibri" panose="020F0502020204030204" pitchFamily="34" charset="0"/>
                        </a:rPr>
                        <a:t>Вид расчет</a:t>
                      </a:r>
                      <a:endParaRPr lang="ru-RU" sz="16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>
                          <a:effectLst/>
                          <a:latin typeface="Calibri" panose="020F0502020204030204" pitchFamily="34" charset="0"/>
                        </a:rPr>
                        <a:t>Ведущие виды расчета</a:t>
                      </a:r>
                      <a:endParaRPr lang="ru-RU" sz="16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1452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Премия 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18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Премия 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Больничный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566568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68545" y="3174365"/>
            <a:ext cx="3903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/>
              <a:t>Перерасчет регистра расчета «Дополнительные начисления»</a:t>
            </a:r>
          </a:p>
        </p:txBody>
      </p:sp>
      <p:sp>
        <p:nvSpPr>
          <p:cNvPr id="12" name="Правая фигурная скобка 11"/>
          <p:cNvSpPr/>
          <p:nvPr/>
        </p:nvSpPr>
        <p:spPr>
          <a:xfrm rot="5400000">
            <a:off x="2770353" y="1587305"/>
            <a:ext cx="309041" cy="1484500"/>
          </a:xfrm>
          <a:prstGeom prst="righ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авая фигурная скобка 12"/>
          <p:cNvSpPr/>
          <p:nvPr/>
        </p:nvSpPr>
        <p:spPr>
          <a:xfrm rot="16200000">
            <a:off x="3855748" y="4101293"/>
            <a:ext cx="309041" cy="1142519"/>
          </a:xfrm>
          <a:prstGeom prst="righ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олилиния 13"/>
          <p:cNvSpPr/>
          <p:nvPr/>
        </p:nvSpPr>
        <p:spPr>
          <a:xfrm>
            <a:off x="2907467" y="2562225"/>
            <a:ext cx="1130229" cy="1857375"/>
          </a:xfrm>
          <a:custGeom>
            <a:avLst/>
            <a:gdLst>
              <a:gd name="connsiteX0" fmla="*/ 26233 w 1130229"/>
              <a:gd name="connsiteY0" fmla="*/ 0 h 1857375"/>
              <a:gd name="connsiteX1" fmla="*/ 45283 w 1130229"/>
              <a:gd name="connsiteY1" fmla="*/ 457200 h 1857375"/>
              <a:gd name="connsiteX2" fmla="*/ 445333 w 1130229"/>
              <a:gd name="connsiteY2" fmla="*/ 495300 h 1857375"/>
              <a:gd name="connsiteX3" fmla="*/ 1045408 w 1130229"/>
              <a:gd name="connsiteY3" fmla="*/ 504825 h 1857375"/>
              <a:gd name="connsiteX4" fmla="*/ 1112083 w 1130229"/>
              <a:gd name="connsiteY4" fmla="*/ 1857375 h 1857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0229" h="1857375">
                <a:moveTo>
                  <a:pt x="26233" y="0"/>
                </a:moveTo>
                <a:cubicBezTo>
                  <a:pt x="833" y="187325"/>
                  <a:pt x="-24567" y="374650"/>
                  <a:pt x="45283" y="457200"/>
                </a:cubicBezTo>
                <a:cubicBezTo>
                  <a:pt x="115133" y="539750"/>
                  <a:pt x="278646" y="487363"/>
                  <a:pt x="445333" y="495300"/>
                </a:cubicBezTo>
                <a:cubicBezTo>
                  <a:pt x="612020" y="503237"/>
                  <a:pt x="934283" y="277813"/>
                  <a:pt x="1045408" y="504825"/>
                </a:cubicBezTo>
                <a:cubicBezTo>
                  <a:pt x="1156533" y="731838"/>
                  <a:pt x="1134308" y="1294606"/>
                  <a:pt x="1112083" y="1857375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 стрелкой 14"/>
          <p:cNvCxnSpPr/>
          <p:nvPr/>
        </p:nvCxnSpPr>
        <p:spPr>
          <a:xfrm>
            <a:off x="5268294" y="2175034"/>
            <a:ext cx="618156" cy="265902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flipV="1">
            <a:off x="6851574" y="4215254"/>
            <a:ext cx="1511376" cy="84204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олилиния 16"/>
          <p:cNvSpPr/>
          <p:nvPr/>
        </p:nvSpPr>
        <p:spPr>
          <a:xfrm>
            <a:off x="1291629" y="2162176"/>
            <a:ext cx="1925104" cy="1266230"/>
          </a:xfrm>
          <a:custGeom>
            <a:avLst/>
            <a:gdLst>
              <a:gd name="connsiteX0" fmla="*/ 146646 w 1925104"/>
              <a:gd name="connsiteY0" fmla="*/ 0 h 1628775"/>
              <a:gd name="connsiteX1" fmla="*/ 146646 w 1925104"/>
              <a:gd name="connsiteY1" fmla="*/ 657225 h 1628775"/>
              <a:gd name="connsiteX2" fmla="*/ 1670646 w 1925104"/>
              <a:gd name="connsiteY2" fmla="*/ 876300 h 1628775"/>
              <a:gd name="connsiteX3" fmla="*/ 1908771 w 1925104"/>
              <a:gd name="connsiteY3" fmla="*/ 1628775 h 1628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5104" h="1628775">
                <a:moveTo>
                  <a:pt x="146646" y="0"/>
                </a:moveTo>
                <a:cubicBezTo>
                  <a:pt x="19646" y="255587"/>
                  <a:pt x="-107354" y="511175"/>
                  <a:pt x="146646" y="657225"/>
                </a:cubicBezTo>
                <a:cubicBezTo>
                  <a:pt x="400646" y="803275"/>
                  <a:pt x="1376959" y="714375"/>
                  <a:pt x="1670646" y="876300"/>
                </a:cubicBezTo>
                <a:cubicBezTo>
                  <a:pt x="1964334" y="1038225"/>
                  <a:pt x="1936552" y="1333500"/>
                  <a:pt x="1908771" y="1628775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 стрелкой 17"/>
          <p:cNvCxnSpPr/>
          <p:nvPr/>
        </p:nvCxnSpPr>
        <p:spPr>
          <a:xfrm flipH="1">
            <a:off x="1200150" y="3952875"/>
            <a:ext cx="1419225" cy="9525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>
            <a:off x="1291629" y="4095750"/>
            <a:ext cx="1346796" cy="866775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8175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Расчет оклада за ноябрь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245465"/>
              </p:ext>
            </p:extLst>
          </p:nvPr>
        </p:nvGraphicFramePr>
        <p:xfrm>
          <a:off x="188119" y="1534954"/>
          <a:ext cx="5576010" cy="1330960"/>
        </p:xfrm>
        <a:graphic>
          <a:graphicData uri="http://schemas.openxmlformats.org/drawingml/2006/table">
            <a:tbl>
              <a:tblPr/>
              <a:tblGrid>
                <a:gridCol w="706831">
                  <a:extLst>
                    <a:ext uri="{9D8B030D-6E8A-4147-A177-3AD203B41FA5}">
                      <a16:colId xmlns:a16="http://schemas.microsoft.com/office/drawing/2014/main" val="1016475306"/>
                    </a:ext>
                  </a:extLst>
                </a:gridCol>
                <a:gridCol w="1296619">
                  <a:extLst>
                    <a:ext uri="{9D8B030D-6E8A-4147-A177-3AD203B41FA5}">
                      <a16:colId xmlns:a16="http://schemas.microsoft.com/office/drawing/2014/main" val="2018013356"/>
                    </a:ext>
                  </a:extLst>
                </a:gridCol>
                <a:gridCol w="741578">
                  <a:extLst>
                    <a:ext uri="{9D8B030D-6E8A-4147-A177-3AD203B41FA5}">
                      <a16:colId xmlns:a16="http://schemas.microsoft.com/office/drawing/2014/main" val="2285352684"/>
                    </a:ext>
                  </a:extLst>
                </a:gridCol>
                <a:gridCol w="725119">
                  <a:extLst>
                    <a:ext uri="{9D8B030D-6E8A-4147-A177-3AD203B41FA5}">
                      <a16:colId xmlns:a16="http://schemas.microsoft.com/office/drawing/2014/main" val="996455006"/>
                    </a:ext>
                  </a:extLst>
                </a:gridCol>
                <a:gridCol w="1054303">
                  <a:extLst>
                    <a:ext uri="{9D8B030D-6E8A-4147-A177-3AD203B41FA5}">
                      <a16:colId xmlns:a16="http://schemas.microsoft.com/office/drawing/2014/main" val="276893063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7986422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ПР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Вид расчеты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ФПДН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ФПДК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Результат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Физ. Лицо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125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31/10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8316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30/11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645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30/11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403158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8119" y="1165622"/>
            <a:ext cx="509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РР «Основные начисления»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038519"/>
              </p:ext>
            </p:extLst>
          </p:nvPr>
        </p:nvGraphicFramePr>
        <p:xfrm>
          <a:off x="188119" y="4884579"/>
          <a:ext cx="6601054" cy="690880"/>
        </p:xfrm>
        <a:graphic>
          <a:graphicData uri="http://schemas.openxmlformats.org/drawingml/2006/table">
            <a:tbl>
              <a:tblPr/>
              <a:tblGrid>
                <a:gridCol w="1282903">
                  <a:extLst>
                    <a:ext uri="{9D8B030D-6E8A-4147-A177-3AD203B41FA5}">
                      <a16:colId xmlns:a16="http://schemas.microsoft.com/office/drawing/2014/main" val="2788005950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3969613039"/>
                    </a:ext>
                  </a:extLst>
                </a:gridCol>
                <a:gridCol w="1327709">
                  <a:extLst>
                    <a:ext uri="{9D8B030D-6E8A-4147-A177-3AD203B41FA5}">
                      <a16:colId xmlns:a16="http://schemas.microsoft.com/office/drawing/2014/main" val="24688378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3869697509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4203414189"/>
                    </a:ext>
                  </a:extLst>
                </a:gridCol>
                <a:gridCol w="1076249">
                  <a:extLst>
                    <a:ext uri="{9D8B030D-6E8A-4147-A177-3AD203B41FA5}">
                      <a16:colId xmlns:a16="http://schemas.microsoft.com/office/drawing/2014/main" val="3823904597"/>
                    </a:ext>
                  </a:extLst>
                </a:gridCol>
                <a:gridCol w="1084478">
                  <a:extLst>
                    <a:ext uri="{9D8B030D-6E8A-4147-A177-3AD203B41FA5}">
                      <a16:colId xmlns:a16="http://schemas.microsoft.com/office/drawing/2014/main" val="23083058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ПР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Вид расчеты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>
                          <a:effectLst/>
                          <a:latin typeface="Calibri" panose="020F0502020204030204" pitchFamily="34" charset="0"/>
                        </a:rPr>
                        <a:t>БПН</a:t>
                      </a:r>
                      <a:endParaRPr lang="ru-RU" sz="16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>
                          <a:effectLst/>
                          <a:latin typeface="Calibri" panose="020F0502020204030204" pitchFamily="34" charset="0"/>
                        </a:rPr>
                        <a:t>БПК</a:t>
                      </a:r>
                      <a:endParaRPr lang="ru-RU" sz="16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>
                          <a:effectLst/>
                          <a:latin typeface="Calibri" panose="020F0502020204030204" pitchFamily="34" charset="0"/>
                        </a:rPr>
                        <a:t>Результат</a:t>
                      </a:r>
                      <a:endParaRPr lang="ru-RU" sz="16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Физ. Лицо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575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Док 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Премия 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01/10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31/10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82554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8118" y="4464725"/>
            <a:ext cx="509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РР «Дополнительные начисления»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494729"/>
              </p:ext>
            </p:extLst>
          </p:nvPr>
        </p:nvGraphicFramePr>
        <p:xfrm>
          <a:off x="5068546" y="3822998"/>
          <a:ext cx="3903573" cy="345440"/>
        </p:xfrm>
        <a:graphic>
          <a:graphicData uri="http://schemas.openxmlformats.org/drawingml/2006/table">
            <a:tbl>
              <a:tblPr/>
              <a:tblGrid>
                <a:gridCol w="1579169">
                  <a:extLst>
                    <a:ext uri="{9D8B030D-6E8A-4147-A177-3AD203B41FA5}">
                      <a16:colId xmlns:a16="http://schemas.microsoft.com/office/drawing/2014/main" val="1393325049"/>
                    </a:ext>
                  </a:extLst>
                </a:gridCol>
                <a:gridCol w="1239926">
                  <a:extLst>
                    <a:ext uri="{9D8B030D-6E8A-4147-A177-3AD203B41FA5}">
                      <a16:colId xmlns:a16="http://schemas.microsoft.com/office/drawing/2014/main" val="839926746"/>
                    </a:ext>
                  </a:extLst>
                </a:gridCol>
                <a:gridCol w="1084478">
                  <a:extLst>
                    <a:ext uri="{9D8B030D-6E8A-4147-A177-3AD203B41FA5}">
                      <a16:colId xmlns:a16="http://schemas.microsoft.com/office/drawing/2014/main" val="20774609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Объект расчета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Вид расчета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Работник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6728266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965919"/>
              </p:ext>
            </p:extLst>
          </p:nvPr>
        </p:nvGraphicFramePr>
        <p:xfrm>
          <a:off x="188118" y="3428405"/>
          <a:ext cx="3353105" cy="1036320"/>
        </p:xfrm>
        <a:graphic>
          <a:graphicData uri="http://schemas.openxmlformats.org/drawingml/2006/table">
            <a:tbl>
              <a:tblPr/>
              <a:tblGrid>
                <a:gridCol w="1161288">
                  <a:extLst>
                    <a:ext uri="{9D8B030D-6E8A-4147-A177-3AD203B41FA5}">
                      <a16:colId xmlns:a16="http://schemas.microsoft.com/office/drawing/2014/main" val="1662482344"/>
                    </a:ext>
                  </a:extLst>
                </a:gridCol>
                <a:gridCol w="2191817">
                  <a:extLst>
                    <a:ext uri="{9D8B030D-6E8A-4147-A177-3AD203B41FA5}">
                      <a16:colId xmlns:a16="http://schemas.microsoft.com/office/drawing/2014/main" val="1128332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>
                          <a:effectLst/>
                          <a:latin typeface="Calibri" panose="020F0502020204030204" pitchFamily="34" charset="0"/>
                        </a:rPr>
                        <a:t>Вид расчет</a:t>
                      </a:r>
                      <a:endParaRPr lang="ru-RU" sz="16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>
                          <a:effectLst/>
                          <a:latin typeface="Calibri" panose="020F0502020204030204" pitchFamily="34" charset="0"/>
                        </a:rPr>
                        <a:t>Ведущие виды расчета</a:t>
                      </a:r>
                      <a:endParaRPr lang="ru-RU" sz="16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1452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Премия 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18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Премия 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Больничный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566568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68545" y="3174365"/>
            <a:ext cx="3903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/>
              <a:t>Перерасчет регистра расчета «Дополнительные начисления»</a:t>
            </a:r>
          </a:p>
        </p:txBody>
      </p:sp>
      <p:sp>
        <p:nvSpPr>
          <p:cNvPr id="13" name="Правая фигурная скобка 12"/>
          <p:cNvSpPr/>
          <p:nvPr/>
        </p:nvSpPr>
        <p:spPr>
          <a:xfrm rot="16200000">
            <a:off x="3855748" y="4101293"/>
            <a:ext cx="309041" cy="1142519"/>
          </a:xfrm>
          <a:prstGeom prst="righ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авая фигурная скобка 14"/>
          <p:cNvSpPr/>
          <p:nvPr/>
        </p:nvSpPr>
        <p:spPr>
          <a:xfrm rot="5400000">
            <a:off x="2770353" y="2263580"/>
            <a:ext cx="309041" cy="1484500"/>
          </a:xfrm>
          <a:prstGeom prst="righ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олилиния 15"/>
          <p:cNvSpPr/>
          <p:nvPr/>
        </p:nvSpPr>
        <p:spPr>
          <a:xfrm>
            <a:off x="2907467" y="3235246"/>
            <a:ext cx="1130229" cy="1184354"/>
          </a:xfrm>
          <a:custGeom>
            <a:avLst/>
            <a:gdLst>
              <a:gd name="connsiteX0" fmla="*/ 26233 w 1130229"/>
              <a:gd name="connsiteY0" fmla="*/ 0 h 1857375"/>
              <a:gd name="connsiteX1" fmla="*/ 45283 w 1130229"/>
              <a:gd name="connsiteY1" fmla="*/ 457200 h 1857375"/>
              <a:gd name="connsiteX2" fmla="*/ 445333 w 1130229"/>
              <a:gd name="connsiteY2" fmla="*/ 495300 h 1857375"/>
              <a:gd name="connsiteX3" fmla="*/ 1045408 w 1130229"/>
              <a:gd name="connsiteY3" fmla="*/ 504825 h 1857375"/>
              <a:gd name="connsiteX4" fmla="*/ 1112083 w 1130229"/>
              <a:gd name="connsiteY4" fmla="*/ 1857375 h 1857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0229" h="1857375">
                <a:moveTo>
                  <a:pt x="26233" y="0"/>
                </a:moveTo>
                <a:cubicBezTo>
                  <a:pt x="833" y="187325"/>
                  <a:pt x="-24567" y="374650"/>
                  <a:pt x="45283" y="457200"/>
                </a:cubicBezTo>
                <a:cubicBezTo>
                  <a:pt x="115133" y="539750"/>
                  <a:pt x="278646" y="487363"/>
                  <a:pt x="445333" y="495300"/>
                </a:cubicBezTo>
                <a:cubicBezTo>
                  <a:pt x="612020" y="503237"/>
                  <a:pt x="934283" y="277813"/>
                  <a:pt x="1045408" y="504825"/>
                </a:cubicBezTo>
                <a:cubicBezTo>
                  <a:pt x="1156533" y="731838"/>
                  <a:pt x="1134308" y="1294606"/>
                  <a:pt x="1112083" y="1857375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/>
          <p:nvPr/>
        </p:nvCxnSpPr>
        <p:spPr>
          <a:xfrm>
            <a:off x="5381625" y="2865914"/>
            <a:ext cx="504825" cy="196814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flipV="1">
            <a:off x="6851574" y="4215254"/>
            <a:ext cx="1511376" cy="84204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олилиния 18"/>
          <p:cNvSpPr/>
          <p:nvPr/>
        </p:nvSpPr>
        <p:spPr>
          <a:xfrm>
            <a:off x="1291629" y="2865914"/>
            <a:ext cx="1925104" cy="562492"/>
          </a:xfrm>
          <a:custGeom>
            <a:avLst/>
            <a:gdLst>
              <a:gd name="connsiteX0" fmla="*/ 146646 w 1925104"/>
              <a:gd name="connsiteY0" fmla="*/ 0 h 1628775"/>
              <a:gd name="connsiteX1" fmla="*/ 146646 w 1925104"/>
              <a:gd name="connsiteY1" fmla="*/ 657225 h 1628775"/>
              <a:gd name="connsiteX2" fmla="*/ 1670646 w 1925104"/>
              <a:gd name="connsiteY2" fmla="*/ 876300 h 1628775"/>
              <a:gd name="connsiteX3" fmla="*/ 1908771 w 1925104"/>
              <a:gd name="connsiteY3" fmla="*/ 1628775 h 1628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5104" h="1628775">
                <a:moveTo>
                  <a:pt x="146646" y="0"/>
                </a:moveTo>
                <a:cubicBezTo>
                  <a:pt x="19646" y="255587"/>
                  <a:pt x="-107354" y="511175"/>
                  <a:pt x="146646" y="657225"/>
                </a:cubicBezTo>
                <a:cubicBezTo>
                  <a:pt x="400646" y="803275"/>
                  <a:pt x="1376959" y="714375"/>
                  <a:pt x="1670646" y="876300"/>
                </a:cubicBezTo>
                <a:cubicBezTo>
                  <a:pt x="1964334" y="1038225"/>
                  <a:pt x="1936552" y="1333500"/>
                  <a:pt x="1908771" y="1628775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0" name="Прямая со стрелкой 19"/>
          <p:cNvCxnSpPr/>
          <p:nvPr/>
        </p:nvCxnSpPr>
        <p:spPr>
          <a:xfrm flipH="1">
            <a:off x="1200150" y="3952875"/>
            <a:ext cx="1419225" cy="9525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>
            <a:off x="1291629" y="4095750"/>
            <a:ext cx="1346796" cy="866775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824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Расчет премии % за ноябрь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075428"/>
              </p:ext>
            </p:extLst>
          </p:nvPr>
        </p:nvGraphicFramePr>
        <p:xfrm>
          <a:off x="188119" y="1534954"/>
          <a:ext cx="5576010" cy="1330960"/>
        </p:xfrm>
        <a:graphic>
          <a:graphicData uri="http://schemas.openxmlformats.org/drawingml/2006/table">
            <a:tbl>
              <a:tblPr/>
              <a:tblGrid>
                <a:gridCol w="706831">
                  <a:extLst>
                    <a:ext uri="{9D8B030D-6E8A-4147-A177-3AD203B41FA5}">
                      <a16:colId xmlns:a16="http://schemas.microsoft.com/office/drawing/2014/main" val="1016475306"/>
                    </a:ext>
                  </a:extLst>
                </a:gridCol>
                <a:gridCol w="1296619">
                  <a:extLst>
                    <a:ext uri="{9D8B030D-6E8A-4147-A177-3AD203B41FA5}">
                      <a16:colId xmlns:a16="http://schemas.microsoft.com/office/drawing/2014/main" val="2018013356"/>
                    </a:ext>
                  </a:extLst>
                </a:gridCol>
                <a:gridCol w="741578">
                  <a:extLst>
                    <a:ext uri="{9D8B030D-6E8A-4147-A177-3AD203B41FA5}">
                      <a16:colId xmlns:a16="http://schemas.microsoft.com/office/drawing/2014/main" val="2285352684"/>
                    </a:ext>
                  </a:extLst>
                </a:gridCol>
                <a:gridCol w="725119">
                  <a:extLst>
                    <a:ext uri="{9D8B030D-6E8A-4147-A177-3AD203B41FA5}">
                      <a16:colId xmlns:a16="http://schemas.microsoft.com/office/drawing/2014/main" val="996455006"/>
                    </a:ext>
                  </a:extLst>
                </a:gridCol>
                <a:gridCol w="1054303">
                  <a:extLst>
                    <a:ext uri="{9D8B030D-6E8A-4147-A177-3AD203B41FA5}">
                      <a16:colId xmlns:a16="http://schemas.microsoft.com/office/drawing/2014/main" val="276893063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7986422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ПР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Вид расчеты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ФПДН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ФПДК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Результат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Физ. Лицо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125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31/10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8316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30/11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645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30/11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403158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8119" y="1165622"/>
            <a:ext cx="509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РР «Основные начисления»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334643"/>
              </p:ext>
            </p:extLst>
          </p:nvPr>
        </p:nvGraphicFramePr>
        <p:xfrm>
          <a:off x="188119" y="4884579"/>
          <a:ext cx="6601054" cy="1381760"/>
        </p:xfrm>
        <a:graphic>
          <a:graphicData uri="http://schemas.openxmlformats.org/drawingml/2006/table">
            <a:tbl>
              <a:tblPr/>
              <a:tblGrid>
                <a:gridCol w="1282903">
                  <a:extLst>
                    <a:ext uri="{9D8B030D-6E8A-4147-A177-3AD203B41FA5}">
                      <a16:colId xmlns:a16="http://schemas.microsoft.com/office/drawing/2014/main" val="2788005950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3969613039"/>
                    </a:ext>
                  </a:extLst>
                </a:gridCol>
                <a:gridCol w="1327709">
                  <a:extLst>
                    <a:ext uri="{9D8B030D-6E8A-4147-A177-3AD203B41FA5}">
                      <a16:colId xmlns:a16="http://schemas.microsoft.com/office/drawing/2014/main" val="24688378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3869697509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4203414189"/>
                    </a:ext>
                  </a:extLst>
                </a:gridCol>
                <a:gridCol w="1076249">
                  <a:extLst>
                    <a:ext uri="{9D8B030D-6E8A-4147-A177-3AD203B41FA5}">
                      <a16:colId xmlns:a16="http://schemas.microsoft.com/office/drawing/2014/main" val="3823904597"/>
                    </a:ext>
                  </a:extLst>
                </a:gridCol>
                <a:gridCol w="1084478">
                  <a:extLst>
                    <a:ext uri="{9D8B030D-6E8A-4147-A177-3AD203B41FA5}">
                      <a16:colId xmlns:a16="http://schemas.microsoft.com/office/drawing/2014/main" val="23083058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ПР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Вид расчеты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БПН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БПК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Результат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Физ. Лицо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575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Док 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Премия 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31/10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825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Док 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Премия 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30/11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268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Док 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Премия 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30/11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895495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8118" y="4464725"/>
            <a:ext cx="509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РР «Дополнительные начисления»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144174"/>
              </p:ext>
            </p:extLst>
          </p:nvPr>
        </p:nvGraphicFramePr>
        <p:xfrm>
          <a:off x="5068546" y="3822998"/>
          <a:ext cx="3903573" cy="345440"/>
        </p:xfrm>
        <a:graphic>
          <a:graphicData uri="http://schemas.openxmlformats.org/drawingml/2006/table">
            <a:tbl>
              <a:tblPr/>
              <a:tblGrid>
                <a:gridCol w="1579169">
                  <a:extLst>
                    <a:ext uri="{9D8B030D-6E8A-4147-A177-3AD203B41FA5}">
                      <a16:colId xmlns:a16="http://schemas.microsoft.com/office/drawing/2014/main" val="1393325049"/>
                    </a:ext>
                  </a:extLst>
                </a:gridCol>
                <a:gridCol w="1239926">
                  <a:extLst>
                    <a:ext uri="{9D8B030D-6E8A-4147-A177-3AD203B41FA5}">
                      <a16:colId xmlns:a16="http://schemas.microsoft.com/office/drawing/2014/main" val="839926746"/>
                    </a:ext>
                  </a:extLst>
                </a:gridCol>
                <a:gridCol w="1084478">
                  <a:extLst>
                    <a:ext uri="{9D8B030D-6E8A-4147-A177-3AD203B41FA5}">
                      <a16:colId xmlns:a16="http://schemas.microsoft.com/office/drawing/2014/main" val="20774609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Объект расчета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Вид расчета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Работник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6728266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220332"/>
              </p:ext>
            </p:extLst>
          </p:nvPr>
        </p:nvGraphicFramePr>
        <p:xfrm>
          <a:off x="188118" y="3428405"/>
          <a:ext cx="3353105" cy="1036320"/>
        </p:xfrm>
        <a:graphic>
          <a:graphicData uri="http://schemas.openxmlformats.org/drawingml/2006/table">
            <a:tbl>
              <a:tblPr/>
              <a:tblGrid>
                <a:gridCol w="1161288">
                  <a:extLst>
                    <a:ext uri="{9D8B030D-6E8A-4147-A177-3AD203B41FA5}">
                      <a16:colId xmlns:a16="http://schemas.microsoft.com/office/drawing/2014/main" val="1662482344"/>
                    </a:ext>
                  </a:extLst>
                </a:gridCol>
                <a:gridCol w="2191817">
                  <a:extLst>
                    <a:ext uri="{9D8B030D-6E8A-4147-A177-3AD203B41FA5}">
                      <a16:colId xmlns:a16="http://schemas.microsoft.com/office/drawing/2014/main" val="1128332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>
                          <a:effectLst/>
                          <a:latin typeface="Calibri" panose="020F0502020204030204" pitchFamily="34" charset="0"/>
                        </a:rPr>
                        <a:t>Вид расчет</a:t>
                      </a:r>
                      <a:endParaRPr lang="ru-RU" sz="16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>
                          <a:effectLst/>
                          <a:latin typeface="Calibri" panose="020F0502020204030204" pitchFamily="34" charset="0"/>
                        </a:rPr>
                        <a:t>Ведущие виды расчета</a:t>
                      </a:r>
                      <a:endParaRPr lang="ru-RU" sz="16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1452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Премия 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18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Премия 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Больничный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566568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68545" y="3174365"/>
            <a:ext cx="3903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/>
              <a:t>Перерасчет регистра расчета «Дополнительные начисления»</a:t>
            </a:r>
          </a:p>
        </p:txBody>
      </p:sp>
      <p:sp>
        <p:nvSpPr>
          <p:cNvPr id="12" name="Правая фигурная скобка 11"/>
          <p:cNvSpPr/>
          <p:nvPr/>
        </p:nvSpPr>
        <p:spPr>
          <a:xfrm rot="5400000">
            <a:off x="2770353" y="2263580"/>
            <a:ext cx="309041" cy="1484500"/>
          </a:xfrm>
          <a:prstGeom prst="righ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авая фигурная скобка 12"/>
          <p:cNvSpPr/>
          <p:nvPr/>
        </p:nvSpPr>
        <p:spPr>
          <a:xfrm rot="16200000">
            <a:off x="3855748" y="4101293"/>
            <a:ext cx="309041" cy="1142519"/>
          </a:xfrm>
          <a:prstGeom prst="righ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олилиния 13"/>
          <p:cNvSpPr/>
          <p:nvPr/>
        </p:nvSpPr>
        <p:spPr>
          <a:xfrm>
            <a:off x="2907467" y="3235246"/>
            <a:ext cx="1130229" cy="1184354"/>
          </a:xfrm>
          <a:custGeom>
            <a:avLst/>
            <a:gdLst>
              <a:gd name="connsiteX0" fmla="*/ 26233 w 1130229"/>
              <a:gd name="connsiteY0" fmla="*/ 0 h 1857375"/>
              <a:gd name="connsiteX1" fmla="*/ 45283 w 1130229"/>
              <a:gd name="connsiteY1" fmla="*/ 457200 h 1857375"/>
              <a:gd name="connsiteX2" fmla="*/ 445333 w 1130229"/>
              <a:gd name="connsiteY2" fmla="*/ 495300 h 1857375"/>
              <a:gd name="connsiteX3" fmla="*/ 1045408 w 1130229"/>
              <a:gd name="connsiteY3" fmla="*/ 504825 h 1857375"/>
              <a:gd name="connsiteX4" fmla="*/ 1112083 w 1130229"/>
              <a:gd name="connsiteY4" fmla="*/ 1857375 h 1857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0229" h="1857375">
                <a:moveTo>
                  <a:pt x="26233" y="0"/>
                </a:moveTo>
                <a:cubicBezTo>
                  <a:pt x="833" y="187325"/>
                  <a:pt x="-24567" y="374650"/>
                  <a:pt x="45283" y="457200"/>
                </a:cubicBezTo>
                <a:cubicBezTo>
                  <a:pt x="115133" y="539750"/>
                  <a:pt x="278646" y="487363"/>
                  <a:pt x="445333" y="495300"/>
                </a:cubicBezTo>
                <a:cubicBezTo>
                  <a:pt x="612020" y="503237"/>
                  <a:pt x="934283" y="277813"/>
                  <a:pt x="1045408" y="504825"/>
                </a:cubicBezTo>
                <a:cubicBezTo>
                  <a:pt x="1156533" y="731838"/>
                  <a:pt x="1134308" y="1294606"/>
                  <a:pt x="1112083" y="1857375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 стрелкой 14"/>
          <p:cNvCxnSpPr/>
          <p:nvPr/>
        </p:nvCxnSpPr>
        <p:spPr>
          <a:xfrm>
            <a:off x="5381625" y="2865914"/>
            <a:ext cx="504825" cy="196814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flipV="1">
            <a:off x="6851574" y="4215254"/>
            <a:ext cx="1511376" cy="84204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олилиния 16"/>
          <p:cNvSpPr/>
          <p:nvPr/>
        </p:nvSpPr>
        <p:spPr>
          <a:xfrm>
            <a:off x="1291629" y="2865914"/>
            <a:ext cx="1925104" cy="562492"/>
          </a:xfrm>
          <a:custGeom>
            <a:avLst/>
            <a:gdLst>
              <a:gd name="connsiteX0" fmla="*/ 146646 w 1925104"/>
              <a:gd name="connsiteY0" fmla="*/ 0 h 1628775"/>
              <a:gd name="connsiteX1" fmla="*/ 146646 w 1925104"/>
              <a:gd name="connsiteY1" fmla="*/ 657225 h 1628775"/>
              <a:gd name="connsiteX2" fmla="*/ 1670646 w 1925104"/>
              <a:gd name="connsiteY2" fmla="*/ 876300 h 1628775"/>
              <a:gd name="connsiteX3" fmla="*/ 1908771 w 1925104"/>
              <a:gd name="connsiteY3" fmla="*/ 1628775 h 1628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5104" h="1628775">
                <a:moveTo>
                  <a:pt x="146646" y="0"/>
                </a:moveTo>
                <a:cubicBezTo>
                  <a:pt x="19646" y="255587"/>
                  <a:pt x="-107354" y="511175"/>
                  <a:pt x="146646" y="657225"/>
                </a:cubicBezTo>
                <a:cubicBezTo>
                  <a:pt x="400646" y="803275"/>
                  <a:pt x="1376959" y="714375"/>
                  <a:pt x="1670646" y="876300"/>
                </a:cubicBezTo>
                <a:cubicBezTo>
                  <a:pt x="1964334" y="1038225"/>
                  <a:pt x="1936552" y="1333500"/>
                  <a:pt x="1908771" y="1628775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 стрелкой 17"/>
          <p:cNvCxnSpPr/>
          <p:nvPr/>
        </p:nvCxnSpPr>
        <p:spPr>
          <a:xfrm flipH="1">
            <a:off x="1200150" y="3952875"/>
            <a:ext cx="1419225" cy="9525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>
            <a:off x="1291629" y="4095750"/>
            <a:ext cx="1346796" cy="866775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2512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66850"/>
          </a:xfrm>
        </p:spPr>
        <p:txBody>
          <a:bodyPr/>
          <a:lstStyle/>
          <a:p>
            <a:r>
              <a:rPr lang="ru-RU" dirty="0"/>
              <a:t>Расчет больничного. Нарушена очередность !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733988"/>
              </p:ext>
            </p:extLst>
          </p:nvPr>
        </p:nvGraphicFramePr>
        <p:xfrm>
          <a:off x="188119" y="1534954"/>
          <a:ext cx="5576010" cy="1676400"/>
        </p:xfrm>
        <a:graphic>
          <a:graphicData uri="http://schemas.openxmlformats.org/drawingml/2006/table">
            <a:tbl>
              <a:tblPr/>
              <a:tblGrid>
                <a:gridCol w="706831">
                  <a:extLst>
                    <a:ext uri="{9D8B030D-6E8A-4147-A177-3AD203B41FA5}">
                      <a16:colId xmlns:a16="http://schemas.microsoft.com/office/drawing/2014/main" val="1016475306"/>
                    </a:ext>
                  </a:extLst>
                </a:gridCol>
                <a:gridCol w="1296619">
                  <a:extLst>
                    <a:ext uri="{9D8B030D-6E8A-4147-A177-3AD203B41FA5}">
                      <a16:colId xmlns:a16="http://schemas.microsoft.com/office/drawing/2014/main" val="2018013356"/>
                    </a:ext>
                  </a:extLst>
                </a:gridCol>
                <a:gridCol w="741578">
                  <a:extLst>
                    <a:ext uri="{9D8B030D-6E8A-4147-A177-3AD203B41FA5}">
                      <a16:colId xmlns:a16="http://schemas.microsoft.com/office/drawing/2014/main" val="2285352684"/>
                    </a:ext>
                  </a:extLst>
                </a:gridCol>
                <a:gridCol w="725119">
                  <a:extLst>
                    <a:ext uri="{9D8B030D-6E8A-4147-A177-3AD203B41FA5}">
                      <a16:colId xmlns:a16="http://schemas.microsoft.com/office/drawing/2014/main" val="996455006"/>
                    </a:ext>
                  </a:extLst>
                </a:gridCol>
                <a:gridCol w="1054303">
                  <a:extLst>
                    <a:ext uri="{9D8B030D-6E8A-4147-A177-3AD203B41FA5}">
                      <a16:colId xmlns:a16="http://schemas.microsoft.com/office/drawing/2014/main" val="276893063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7986422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ПР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Вид расчеты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ФПДН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ФПДК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Результат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Физ. Лицо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125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31/10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8316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30/11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645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30/11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403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Больничный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10/11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20/11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4565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01664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8119" y="1165622"/>
            <a:ext cx="509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РР «Основные начисления»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820601"/>
              </p:ext>
            </p:extLst>
          </p:nvPr>
        </p:nvGraphicFramePr>
        <p:xfrm>
          <a:off x="188119" y="4884579"/>
          <a:ext cx="6601054" cy="1381760"/>
        </p:xfrm>
        <a:graphic>
          <a:graphicData uri="http://schemas.openxmlformats.org/drawingml/2006/table">
            <a:tbl>
              <a:tblPr/>
              <a:tblGrid>
                <a:gridCol w="1282903">
                  <a:extLst>
                    <a:ext uri="{9D8B030D-6E8A-4147-A177-3AD203B41FA5}">
                      <a16:colId xmlns:a16="http://schemas.microsoft.com/office/drawing/2014/main" val="2788005950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3969613039"/>
                    </a:ext>
                  </a:extLst>
                </a:gridCol>
                <a:gridCol w="1327709">
                  <a:extLst>
                    <a:ext uri="{9D8B030D-6E8A-4147-A177-3AD203B41FA5}">
                      <a16:colId xmlns:a16="http://schemas.microsoft.com/office/drawing/2014/main" val="24688378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3869697509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4203414189"/>
                    </a:ext>
                  </a:extLst>
                </a:gridCol>
                <a:gridCol w="1076249">
                  <a:extLst>
                    <a:ext uri="{9D8B030D-6E8A-4147-A177-3AD203B41FA5}">
                      <a16:colId xmlns:a16="http://schemas.microsoft.com/office/drawing/2014/main" val="3823904597"/>
                    </a:ext>
                  </a:extLst>
                </a:gridCol>
                <a:gridCol w="1084478">
                  <a:extLst>
                    <a:ext uri="{9D8B030D-6E8A-4147-A177-3AD203B41FA5}">
                      <a16:colId xmlns:a16="http://schemas.microsoft.com/office/drawing/2014/main" val="23083058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ПР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Вид расчеты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БПН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БПК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Результат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Физ. Лицо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575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Док 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Премия 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31/10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825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Док 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Премия 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30/11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268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Док 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Премия 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30/11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895495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8118" y="4464725"/>
            <a:ext cx="509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РР «Дополнительные начисления»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399565"/>
              </p:ext>
            </p:extLst>
          </p:nvPr>
        </p:nvGraphicFramePr>
        <p:xfrm>
          <a:off x="5068546" y="3822998"/>
          <a:ext cx="3903573" cy="345440"/>
        </p:xfrm>
        <a:graphic>
          <a:graphicData uri="http://schemas.openxmlformats.org/drawingml/2006/table">
            <a:tbl>
              <a:tblPr/>
              <a:tblGrid>
                <a:gridCol w="1579169">
                  <a:extLst>
                    <a:ext uri="{9D8B030D-6E8A-4147-A177-3AD203B41FA5}">
                      <a16:colId xmlns:a16="http://schemas.microsoft.com/office/drawing/2014/main" val="1393325049"/>
                    </a:ext>
                  </a:extLst>
                </a:gridCol>
                <a:gridCol w="1239926">
                  <a:extLst>
                    <a:ext uri="{9D8B030D-6E8A-4147-A177-3AD203B41FA5}">
                      <a16:colId xmlns:a16="http://schemas.microsoft.com/office/drawing/2014/main" val="839926746"/>
                    </a:ext>
                  </a:extLst>
                </a:gridCol>
                <a:gridCol w="1084478">
                  <a:extLst>
                    <a:ext uri="{9D8B030D-6E8A-4147-A177-3AD203B41FA5}">
                      <a16:colId xmlns:a16="http://schemas.microsoft.com/office/drawing/2014/main" val="20774609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Объект расчета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Вид расчета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Работник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6728266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853844"/>
              </p:ext>
            </p:extLst>
          </p:nvPr>
        </p:nvGraphicFramePr>
        <p:xfrm>
          <a:off x="188118" y="3428405"/>
          <a:ext cx="3353105" cy="1036320"/>
        </p:xfrm>
        <a:graphic>
          <a:graphicData uri="http://schemas.openxmlformats.org/drawingml/2006/table">
            <a:tbl>
              <a:tblPr/>
              <a:tblGrid>
                <a:gridCol w="1161288">
                  <a:extLst>
                    <a:ext uri="{9D8B030D-6E8A-4147-A177-3AD203B41FA5}">
                      <a16:colId xmlns:a16="http://schemas.microsoft.com/office/drawing/2014/main" val="1662482344"/>
                    </a:ext>
                  </a:extLst>
                </a:gridCol>
                <a:gridCol w="2191817">
                  <a:extLst>
                    <a:ext uri="{9D8B030D-6E8A-4147-A177-3AD203B41FA5}">
                      <a16:colId xmlns:a16="http://schemas.microsoft.com/office/drawing/2014/main" val="1128332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>
                          <a:effectLst/>
                          <a:latin typeface="Calibri" panose="020F0502020204030204" pitchFamily="34" charset="0"/>
                        </a:rPr>
                        <a:t>Вид расчет</a:t>
                      </a:r>
                      <a:endParaRPr lang="ru-RU" sz="16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>
                          <a:effectLst/>
                          <a:latin typeface="Calibri" panose="020F0502020204030204" pitchFamily="34" charset="0"/>
                        </a:rPr>
                        <a:t>Ведущие виды расчета</a:t>
                      </a:r>
                      <a:endParaRPr lang="ru-RU" sz="16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1452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Премия 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18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Премия 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Больничный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566568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68545" y="3174365"/>
            <a:ext cx="3903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/>
              <a:t>Перерасчет регистра расчета «Дополнительные начисления»</a:t>
            </a:r>
          </a:p>
        </p:txBody>
      </p:sp>
      <p:sp>
        <p:nvSpPr>
          <p:cNvPr id="13" name="Правая фигурная скобка 12"/>
          <p:cNvSpPr/>
          <p:nvPr/>
        </p:nvSpPr>
        <p:spPr>
          <a:xfrm rot="16200000">
            <a:off x="3855748" y="4101293"/>
            <a:ext cx="309041" cy="1142519"/>
          </a:xfrm>
          <a:prstGeom prst="righ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авая фигурная скобка 14"/>
          <p:cNvSpPr/>
          <p:nvPr/>
        </p:nvSpPr>
        <p:spPr>
          <a:xfrm rot="5400000">
            <a:off x="2770353" y="2587430"/>
            <a:ext cx="309041" cy="1484500"/>
          </a:xfrm>
          <a:prstGeom prst="righ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олилиния 15"/>
          <p:cNvSpPr/>
          <p:nvPr/>
        </p:nvSpPr>
        <p:spPr>
          <a:xfrm>
            <a:off x="2907467" y="3534723"/>
            <a:ext cx="1130229" cy="884877"/>
          </a:xfrm>
          <a:custGeom>
            <a:avLst/>
            <a:gdLst>
              <a:gd name="connsiteX0" fmla="*/ 26233 w 1130229"/>
              <a:gd name="connsiteY0" fmla="*/ 0 h 1857375"/>
              <a:gd name="connsiteX1" fmla="*/ 45283 w 1130229"/>
              <a:gd name="connsiteY1" fmla="*/ 457200 h 1857375"/>
              <a:gd name="connsiteX2" fmla="*/ 445333 w 1130229"/>
              <a:gd name="connsiteY2" fmla="*/ 495300 h 1857375"/>
              <a:gd name="connsiteX3" fmla="*/ 1045408 w 1130229"/>
              <a:gd name="connsiteY3" fmla="*/ 504825 h 1857375"/>
              <a:gd name="connsiteX4" fmla="*/ 1112083 w 1130229"/>
              <a:gd name="connsiteY4" fmla="*/ 1857375 h 1857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0229" h="1857375">
                <a:moveTo>
                  <a:pt x="26233" y="0"/>
                </a:moveTo>
                <a:cubicBezTo>
                  <a:pt x="833" y="187325"/>
                  <a:pt x="-24567" y="374650"/>
                  <a:pt x="45283" y="457200"/>
                </a:cubicBezTo>
                <a:cubicBezTo>
                  <a:pt x="115133" y="539750"/>
                  <a:pt x="278646" y="487363"/>
                  <a:pt x="445333" y="495300"/>
                </a:cubicBezTo>
                <a:cubicBezTo>
                  <a:pt x="612020" y="503237"/>
                  <a:pt x="934283" y="277813"/>
                  <a:pt x="1045408" y="504825"/>
                </a:cubicBezTo>
                <a:cubicBezTo>
                  <a:pt x="1156533" y="731838"/>
                  <a:pt x="1134308" y="1294606"/>
                  <a:pt x="1112083" y="1857375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/>
          <p:nvPr/>
        </p:nvCxnSpPr>
        <p:spPr>
          <a:xfrm>
            <a:off x="5438775" y="3286125"/>
            <a:ext cx="447675" cy="154793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flipV="1">
            <a:off x="6851574" y="4215254"/>
            <a:ext cx="1511376" cy="84204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олилиния 18"/>
          <p:cNvSpPr/>
          <p:nvPr/>
        </p:nvSpPr>
        <p:spPr>
          <a:xfrm>
            <a:off x="1291629" y="3211353"/>
            <a:ext cx="1925104" cy="368975"/>
          </a:xfrm>
          <a:custGeom>
            <a:avLst/>
            <a:gdLst>
              <a:gd name="connsiteX0" fmla="*/ 146646 w 1925104"/>
              <a:gd name="connsiteY0" fmla="*/ 0 h 1628775"/>
              <a:gd name="connsiteX1" fmla="*/ 146646 w 1925104"/>
              <a:gd name="connsiteY1" fmla="*/ 657225 h 1628775"/>
              <a:gd name="connsiteX2" fmla="*/ 1670646 w 1925104"/>
              <a:gd name="connsiteY2" fmla="*/ 876300 h 1628775"/>
              <a:gd name="connsiteX3" fmla="*/ 1908771 w 1925104"/>
              <a:gd name="connsiteY3" fmla="*/ 1628775 h 1628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5104" h="1628775">
                <a:moveTo>
                  <a:pt x="146646" y="0"/>
                </a:moveTo>
                <a:cubicBezTo>
                  <a:pt x="19646" y="255587"/>
                  <a:pt x="-107354" y="511175"/>
                  <a:pt x="146646" y="657225"/>
                </a:cubicBezTo>
                <a:cubicBezTo>
                  <a:pt x="400646" y="803275"/>
                  <a:pt x="1376959" y="714375"/>
                  <a:pt x="1670646" y="876300"/>
                </a:cubicBezTo>
                <a:cubicBezTo>
                  <a:pt x="1964334" y="1038225"/>
                  <a:pt x="1936552" y="1333500"/>
                  <a:pt x="1908771" y="1628775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0" name="Прямая со стрелкой 19"/>
          <p:cNvCxnSpPr/>
          <p:nvPr/>
        </p:nvCxnSpPr>
        <p:spPr>
          <a:xfrm flipH="1" flipV="1">
            <a:off x="1200153" y="4241988"/>
            <a:ext cx="982470" cy="1175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>
            <a:off x="1200151" y="4296469"/>
            <a:ext cx="1438274" cy="666056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897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Заполнение таблицы перерасчета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501272"/>
              </p:ext>
            </p:extLst>
          </p:nvPr>
        </p:nvGraphicFramePr>
        <p:xfrm>
          <a:off x="188119" y="1534954"/>
          <a:ext cx="5576010" cy="1676400"/>
        </p:xfrm>
        <a:graphic>
          <a:graphicData uri="http://schemas.openxmlformats.org/drawingml/2006/table">
            <a:tbl>
              <a:tblPr/>
              <a:tblGrid>
                <a:gridCol w="706831">
                  <a:extLst>
                    <a:ext uri="{9D8B030D-6E8A-4147-A177-3AD203B41FA5}">
                      <a16:colId xmlns:a16="http://schemas.microsoft.com/office/drawing/2014/main" val="1016475306"/>
                    </a:ext>
                  </a:extLst>
                </a:gridCol>
                <a:gridCol w="1296619">
                  <a:extLst>
                    <a:ext uri="{9D8B030D-6E8A-4147-A177-3AD203B41FA5}">
                      <a16:colId xmlns:a16="http://schemas.microsoft.com/office/drawing/2014/main" val="2018013356"/>
                    </a:ext>
                  </a:extLst>
                </a:gridCol>
                <a:gridCol w="741578">
                  <a:extLst>
                    <a:ext uri="{9D8B030D-6E8A-4147-A177-3AD203B41FA5}">
                      <a16:colId xmlns:a16="http://schemas.microsoft.com/office/drawing/2014/main" val="2285352684"/>
                    </a:ext>
                  </a:extLst>
                </a:gridCol>
                <a:gridCol w="725119">
                  <a:extLst>
                    <a:ext uri="{9D8B030D-6E8A-4147-A177-3AD203B41FA5}">
                      <a16:colId xmlns:a16="http://schemas.microsoft.com/office/drawing/2014/main" val="996455006"/>
                    </a:ext>
                  </a:extLst>
                </a:gridCol>
                <a:gridCol w="1054303">
                  <a:extLst>
                    <a:ext uri="{9D8B030D-6E8A-4147-A177-3AD203B41FA5}">
                      <a16:colId xmlns:a16="http://schemas.microsoft.com/office/drawing/2014/main" val="276893063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7986422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ПР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Вид расчеты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ФПДН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ФПДК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Результат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Физ. Лицо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125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31/10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8316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30/11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645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30/11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403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Больничный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10/11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20/11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4565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01664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8119" y="1165622"/>
            <a:ext cx="509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РР «Основные начисления»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843969"/>
              </p:ext>
            </p:extLst>
          </p:nvPr>
        </p:nvGraphicFramePr>
        <p:xfrm>
          <a:off x="188119" y="4884579"/>
          <a:ext cx="6601054" cy="1381760"/>
        </p:xfrm>
        <a:graphic>
          <a:graphicData uri="http://schemas.openxmlformats.org/drawingml/2006/table">
            <a:tbl>
              <a:tblPr/>
              <a:tblGrid>
                <a:gridCol w="1282903">
                  <a:extLst>
                    <a:ext uri="{9D8B030D-6E8A-4147-A177-3AD203B41FA5}">
                      <a16:colId xmlns:a16="http://schemas.microsoft.com/office/drawing/2014/main" val="2788005950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3969613039"/>
                    </a:ext>
                  </a:extLst>
                </a:gridCol>
                <a:gridCol w="1327709">
                  <a:extLst>
                    <a:ext uri="{9D8B030D-6E8A-4147-A177-3AD203B41FA5}">
                      <a16:colId xmlns:a16="http://schemas.microsoft.com/office/drawing/2014/main" val="24688378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3869697509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4203414189"/>
                    </a:ext>
                  </a:extLst>
                </a:gridCol>
                <a:gridCol w="1076249">
                  <a:extLst>
                    <a:ext uri="{9D8B030D-6E8A-4147-A177-3AD203B41FA5}">
                      <a16:colId xmlns:a16="http://schemas.microsoft.com/office/drawing/2014/main" val="3823904597"/>
                    </a:ext>
                  </a:extLst>
                </a:gridCol>
                <a:gridCol w="1084478">
                  <a:extLst>
                    <a:ext uri="{9D8B030D-6E8A-4147-A177-3AD203B41FA5}">
                      <a16:colId xmlns:a16="http://schemas.microsoft.com/office/drawing/2014/main" val="23083058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ПР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Вид расчеты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БПН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БПК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Результат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Физ. Лицо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575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Док 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Премия 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31/10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825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Док 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Премия 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30/11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268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Док 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Премия 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01/11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30/11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895495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8118" y="4464725"/>
            <a:ext cx="509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РР «Дополнительные начисления»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301000"/>
              </p:ext>
            </p:extLst>
          </p:nvPr>
        </p:nvGraphicFramePr>
        <p:xfrm>
          <a:off x="5068546" y="3822998"/>
          <a:ext cx="3903573" cy="690880"/>
        </p:xfrm>
        <a:graphic>
          <a:graphicData uri="http://schemas.openxmlformats.org/drawingml/2006/table">
            <a:tbl>
              <a:tblPr/>
              <a:tblGrid>
                <a:gridCol w="1579169">
                  <a:extLst>
                    <a:ext uri="{9D8B030D-6E8A-4147-A177-3AD203B41FA5}">
                      <a16:colId xmlns:a16="http://schemas.microsoft.com/office/drawing/2014/main" val="1393325049"/>
                    </a:ext>
                  </a:extLst>
                </a:gridCol>
                <a:gridCol w="1239926">
                  <a:extLst>
                    <a:ext uri="{9D8B030D-6E8A-4147-A177-3AD203B41FA5}">
                      <a16:colId xmlns:a16="http://schemas.microsoft.com/office/drawing/2014/main" val="839926746"/>
                    </a:ext>
                  </a:extLst>
                </a:gridCol>
                <a:gridCol w="1084478">
                  <a:extLst>
                    <a:ext uri="{9D8B030D-6E8A-4147-A177-3AD203B41FA5}">
                      <a16:colId xmlns:a16="http://schemas.microsoft.com/office/drawing/2014/main" val="20774609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Объект расчета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Вид расчета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</a:rPr>
                        <a:t>Работник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6728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Док 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Премия 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01373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68545" y="3174365"/>
            <a:ext cx="3903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/>
              <a:t>Перерасчет регистра расчета «Дополнительные начисления»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137586"/>
              </p:ext>
            </p:extLst>
          </p:nvPr>
        </p:nvGraphicFramePr>
        <p:xfrm>
          <a:off x="188118" y="3428405"/>
          <a:ext cx="3353105" cy="1036320"/>
        </p:xfrm>
        <a:graphic>
          <a:graphicData uri="http://schemas.openxmlformats.org/drawingml/2006/table">
            <a:tbl>
              <a:tblPr/>
              <a:tblGrid>
                <a:gridCol w="1161288">
                  <a:extLst>
                    <a:ext uri="{9D8B030D-6E8A-4147-A177-3AD203B41FA5}">
                      <a16:colId xmlns:a16="http://schemas.microsoft.com/office/drawing/2014/main" val="1662482344"/>
                    </a:ext>
                  </a:extLst>
                </a:gridCol>
                <a:gridCol w="2191817">
                  <a:extLst>
                    <a:ext uri="{9D8B030D-6E8A-4147-A177-3AD203B41FA5}">
                      <a16:colId xmlns:a16="http://schemas.microsoft.com/office/drawing/2014/main" val="1128332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>
                          <a:effectLst/>
                          <a:latin typeface="Calibri" panose="020F0502020204030204" pitchFamily="34" charset="0"/>
                        </a:rPr>
                        <a:t>Вид расчет</a:t>
                      </a:r>
                      <a:endParaRPr lang="ru-RU" sz="16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>
                          <a:effectLst/>
                          <a:latin typeface="Calibri" panose="020F0502020204030204" pitchFamily="34" charset="0"/>
                        </a:rPr>
                        <a:t>Ведущие виды расчета</a:t>
                      </a:r>
                      <a:endParaRPr lang="ru-RU" sz="16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1452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Премия 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18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Calibri" panose="020F0502020204030204" pitchFamily="34" charset="0"/>
                        </a:rPr>
                        <a:t>Премия 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</a:rPr>
                        <a:t>Больничный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5665684"/>
                  </a:ext>
                </a:extLst>
              </a:tr>
            </a:tbl>
          </a:graphicData>
        </a:graphic>
      </p:graphicFrame>
      <p:sp>
        <p:nvSpPr>
          <p:cNvPr id="10" name="Правая фигурная скобка 9"/>
          <p:cNvSpPr/>
          <p:nvPr/>
        </p:nvSpPr>
        <p:spPr>
          <a:xfrm rot="5400000">
            <a:off x="2770353" y="2587430"/>
            <a:ext cx="309041" cy="1484500"/>
          </a:xfrm>
          <a:prstGeom prst="righ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авая фигурная скобка 10"/>
          <p:cNvSpPr/>
          <p:nvPr/>
        </p:nvSpPr>
        <p:spPr>
          <a:xfrm rot="16200000">
            <a:off x="3855748" y="4101293"/>
            <a:ext cx="309041" cy="1142519"/>
          </a:xfrm>
          <a:prstGeom prst="righ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олилиния 11"/>
          <p:cNvSpPr/>
          <p:nvPr/>
        </p:nvSpPr>
        <p:spPr>
          <a:xfrm>
            <a:off x="2907467" y="3534723"/>
            <a:ext cx="1130229" cy="884877"/>
          </a:xfrm>
          <a:custGeom>
            <a:avLst/>
            <a:gdLst>
              <a:gd name="connsiteX0" fmla="*/ 26233 w 1130229"/>
              <a:gd name="connsiteY0" fmla="*/ 0 h 1857375"/>
              <a:gd name="connsiteX1" fmla="*/ 45283 w 1130229"/>
              <a:gd name="connsiteY1" fmla="*/ 457200 h 1857375"/>
              <a:gd name="connsiteX2" fmla="*/ 445333 w 1130229"/>
              <a:gd name="connsiteY2" fmla="*/ 495300 h 1857375"/>
              <a:gd name="connsiteX3" fmla="*/ 1045408 w 1130229"/>
              <a:gd name="connsiteY3" fmla="*/ 504825 h 1857375"/>
              <a:gd name="connsiteX4" fmla="*/ 1112083 w 1130229"/>
              <a:gd name="connsiteY4" fmla="*/ 1857375 h 1857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0229" h="1857375">
                <a:moveTo>
                  <a:pt x="26233" y="0"/>
                </a:moveTo>
                <a:cubicBezTo>
                  <a:pt x="833" y="187325"/>
                  <a:pt x="-24567" y="374650"/>
                  <a:pt x="45283" y="457200"/>
                </a:cubicBezTo>
                <a:cubicBezTo>
                  <a:pt x="115133" y="539750"/>
                  <a:pt x="278646" y="487363"/>
                  <a:pt x="445333" y="495300"/>
                </a:cubicBezTo>
                <a:cubicBezTo>
                  <a:pt x="612020" y="503237"/>
                  <a:pt x="934283" y="277813"/>
                  <a:pt x="1045408" y="504825"/>
                </a:cubicBezTo>
                <a:cubicBezTo>
                  <a:pt x="1156533" y="731838"/>
                  <a:pt x="1134308" y="1294606"/>
                  <a:pt x="1112083" y="1857375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 стрелкой 12"/>
          <p:cNvCxnSpPr/>
          <p:nvPr/>
        </p:nvCxnSpPr>
        <p:spPr>
          <a:xfrm>
            <a:off x="5438775" y="3286125"/>
            <a:ext cx="457200" cy="154094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flipV="1">
            <a:off x="6851574" y="4591050"/>
            <a:ext cx="1254201" cy="46625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Скругленный прямоугольник 20"/>
          <p:cNvSpPr/>
          <p:nvPr/>
        </p:nvSpPr>
        <p:spPr>
          <a:xfrm>
            <a:off x="66675" y="5562600"/>
            <a:ext cx="6784899" cy="381000"/>
          </a:xfrm>
          <a:prstGeom prst="roundRect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96196" y="2847619"/>
            <a:ext cx="5799779" cy="381000"/>
          </a:xfrm>
          <a:prstGeom prst="roundRect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олилиния 22"/>
          <p:cNvSpPr/>
          <p:nvPr/>
        </p:nvSpPr>
        <p:spPr>
          <a:xfrm>
            <a:off x="1291629" y="3211353"/>
            <a:ext cx="1925104" cy="368975"/>
          </a:xfrm>
          <a:custGeom>
            <a:avLst/>
            <a:gdLst>
              <a:gd name="connsiteX0" fmla="*/ 146646 w 1925104"/>
              <a:gd name="connsiteY0" fmla="*/ 0 h 1628775"/>
              <a:gd name="connsiteX1" fmla="*/ 146646 w 1925104"/>
              <a:gd name="connsiteY1" fmla="*/ 657225 h 1628775"/>
              <a:gd name="connsiteX2" fmla="*/ 1670646 w 1925104"/>
              <a:gd name="connsiteY2" fmla="*/ 876300 h 1628775"/>
              <a:gd name="connsiteX3" fmla="*/ 1908771 w 1925104"/>
              <a:gd name="connsiteY3" fmla="*/ 1628775 h 1628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5104" h="1628775">
                <a:moveTo>
                  <a:pt x="146646" y="0"/>
                </a:moveTo>
                <a:cubicBezTo>
                  <a:pt x="19646" y="255587"/>
                  <a:pt x="-107354" y="511175"/>
                  <a:pt x="146646" y="657225"/>
                </a:cubicBezTo>
                <a:cubicBezTo>
                  <a:pt x="400646" y="803275"/>
                  <a:pt x="1376959" y="714375"/>
                  <a:pt x="1670646" y="876300"/>
                </a:cubicBezTo>
                <a:cubicBezTo>
                  <a:pt x="1964334" y="1038225"/>
                  <a:pt x="1936552" y="1333500"/>
                  <a:pt x="1908771" y="1628775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4" name="Прямая со стрелкой 23"/>
          <p:cNvCxnSpPr/>
          <p:nvPr/>
        </p:nvCxnSpPr>
        <p:spPr>
          <a:xfrm flipH="1" flipV="1">
            <a:off x="1200153" y="4241988"/>
            <a:ext cx="982470" cy="1175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>
            <a:off x="1200151" y="4296469"/>
            <a:ext cx="1438274" cy="666056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7449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нужна таблица перерасчета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68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«Начисление зарплаты»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314825" y="1238250"/>
            <a:ext cx="440055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объект «Начисление зарплаты»</a:t>
            </a:r>
          </a:p>
          <a:p>
            <a:pPr algn="ctr"/>
            <a:r>
              <a:rPr lang="ru-RU" dirty="0"/>
              <a:t>(пример в документе для расчета 50000 записей)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314825" y="2762249"/>
            <a:ext cx="4400550" cy="12477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Набор записей регистра расчета «Основные начисления» (для расчета 50000 записей)</a:t>
            </a:r>
          </a:p>
        </p:txBody>
      </p:sp>
      <p:sp>
        <p:nvSpPr>
          <p:cNvPr id="7" name="Блок-схема: магнитный диск 6"/>
          <p:cNvSpPr/>
          <p:nvPr/>
        </p:nvSpPr>
        <p:spPr>
          <a:xfrm>
            <a:off x="4314825" y="4543425"/>
            <a:ext cx="4400549" cy="1685925"/>
          </a:xfrm>
          <a:prstGeom prst="flowChartMagneticDisk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Регистр расчета «Основные начисления»</a:t>
            </a:r>
            <a:br>
              <a:rPr lang="ru-RU" dirty="0"/>
            </a:br>
            <a:r>
              <a:rPr lang="ru-RU" dirty="0"/>
              <a:t>Записан набор записей (50000 записей)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188119" y="2762249"/>
            <a:ext cx="3021806" cy="124777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Работа виртуальных таблиц по поиску данных графика и базы для 50000 записей</a:t>
            </a:r>
          </a:p>
        </p:txBody>
      </p:sp>
      <p:sp>
        <p:nvSpPr>
          <p:cNvPr id="9" name="Стрелка вниз 8"/>
          <p:cNvSpPr/>
          <p:nvPr/>
        </p:nvSpPr>
        <p:spPr>
          <a:xfrm>
            <a:off x="6372224" y="2200276"/>
            <a:ext cx="285750" cy="485775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вниз 9"/>
          <p:cNvSpPr/>
          <p:nvPr/>
        </p:nvSpPr>
        <p:spPr>
          <a:xfrm>
            <a:off x="6372224" y="4062411"/>
            <a:ext cx="285750" cy="485775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 углом 10"/>
          <p:cNvSpPr/>
          <p:nvPr/>
        </p:nvSpPr>
        <p:spPr>
          <a:xfrm rot="16200000">
            <a:off x="1926431" y="3307556"/>
            <a:ext cx="1504953" cy="3014661"/>
          </a:xfrm>
          <a:prstGeom prst="bentArrow">
            <a:avLst>
              <a:gd name="adj1" fmla="val 12975"/>
              <a:gd name="adj2" fmla="val 15822"/>
              <a:gd name="adj3" fmla="val 17405"/>
              <a:gd name="adj4" fmla="val 4375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Стрелка вправо 11"/>
          <p:cNvSpPr/>
          <p:nvPr/>
        </p:nvSpPr>
        <p:spPr>
          <a:xfrm>
            <a:off x="3324225" y="3257550"/>
            <a:ext cx="862014" cy="3429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6383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2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0"/>
                            </p:stCondLst>
                            <p:childTnLst>
                              <p:par>
                                <p:cTn id="3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75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375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0" grpId="1" animBg="1"/>
      <p:bldP spid="11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«Забыли» про больничный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314825" y="1238250"/>
            <a:ext cx="440055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объект «Больничный»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314825" y="2762249"/>
            <a:ext cx="4400550" cy="12477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Набор записей регистра расчета «Основные начисления» (1 запись)</a:t>
            </a:r>
          </a:p>
        </p:txBody>
      </p:sp>
      <p:sp>
        <p:nvSpPr>
          <p:cNvPr id="7" name="Блок-схема: магнитный диск 6"/>
          <p:cNvSpPr/>
          <p:nvPr/>
        </p:nvSpPr>
        <p:spPr>
          <a:xfrm>
            <a:off x="4314825" y="4543425"/>
            <a:ext cx="4400549" cy="1685925"/>
          </a:xfrm>
          <a:prstGeom prst="flowChartMagneticDisk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Регистр расчета «Основные начисления»</a:t>
            </a:r>
            <a:br>
              <a:rPr lang="ru-RU" dirty="0"/>
            </a:br>
            <a:r>
              <a:rPr lang="ru-RU" dirty="0"/>
              <a:t>Записан набор записей (1 запись)</a:t>
            </a:r>
          </a:p>
        </p:txBody>
      </p:sp>
      <p:sp>
        <p:nvSpPr>
          <p:cNvPr id="9" name="Стрелка вниз 8"/>
          <p:cNvSpPr/>
          <p:nvPr/>
        </p:nvSpPr>
        <p:spPr>
          <a:xfrm>
            <a:off x="6372224" y="2200276"/>
            <a:ext cx="285750" cy="485775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вниз 9"/>
          <p:cNvSpPr/>
          <p:nvPr/>
        </p:nvSpPr>
        <p:spPr>
          <a:xfrm>
            <a:off x="6372224" y="4062411"/>
            <a:ext cx="285750" cy="485775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трелка влево 2"/>
          <p:cNvSpPr/>
          <p:nvPr/>
        </p:nvSpPr>
        <p:spPr>
          <a:xfrm>
            <a:off x="3438525" y="5391150"/>
            <a:ext cx="733425" cy="323850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Блок-схема: магнитный диск 13"/>
          <p:cNvSpPr/>
          <p:nvPr/>
        </p:nvSpPr>
        <p:spPr>
          <a:xfrm>
            <a:off x="188120" y="4543425"/>
            <a:ext cx="3021806" cy="1685925"/>
          </a:xfrm>
          <a:prstGeom prst="flowChartMagneticDisk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перерасчетов</a:t>
            </a:r>
            <a:br>
              <a:rPr lang="ru-RU" dirty="0"/>
            </a:br>
            <a:r>
              <a:rPr lang="ru-RU" dirty="0"/>
              <a:t>(стала недостоверна 1 запись из 50000)</a:t>
            </a:r>
          </a:p>
        </p:txBody>
      </p:sp>
    </p:spTree>
    <p:extLst>
      <p:ext uri="{BB962C8B-B14F-4D97-AF65-F5344CB8AC3E}">
        <p14:creationId xmlns:p14="http://schemas.microsoft.com/office/powerpoint/2010/main" val="240667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3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Если будем опять </a:t>
            </a:r>
            <a:r>
              <a:rPr lang="ru-RU" dirty="0" err="1"/>
              <a:t>расчитывать</a:t>
            </a:r>
            <a:r>
              <a:rPr lang="ru-RU" dirty="0"/>
              <a:t> то…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314825" y="1238250"/>
            <a:ext cx="440055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объект «Начисление зарплаты»</a:t>
            </a:r>
          </a:p>
          <a:p>
            <a:pPr algn="ctr"/>
            <a:r>
              <a:rPr lang="ru-RU" dirty="0"/>
              <a:t>(пример в документе для расчета 50000 записей)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314825" y="2762249"/>
            <a:ext cx="4400550" cy="12477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Набор записей регистра расчета «Основные начисления» (для расчета 50000 записей)</a:t>
            </a:r>
          </a:p>
        </p:txBody>
      </p:sp>
      <p:sp>
        <p:nvSpPr>
          <p:cNvPr id="7" name="Блок-схема: магнитный диск 6"/>
          <p:cNvSpPr/>
          <p:nvPr/>
        </p:nvSpPr>
        <p:spPr>
          <a:xfrm>
            <a:off x="4314825" y="4543425"/>
            <a:ext cx="4400549" cy="1685925"/>
          </a:xfrm>
          <a:prstGeom prst="flowChartMagneticDisk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Регистр расчета «Основные начисления»</a:t>
            </a:r>
            <a:br>
              <a:rPr lang="ru-RU" dirty="0"/>
            </a:br>
            <a:r>
              <a:rPr lang="ru-RU" dirty="0"/>
              <a:t>Записан набор записей (50000 записей)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188119" y="2762249"/>
            <a:ext cx="3021806" cy="124777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Работа виртуальных таблиц по поиску данных графика и базы для 50000 записей</a:t>
            </a:r>
          </a:p>
        </p:txBody>
      </p:sp>
      <p:sp>
        <p:nvSpPr>
          <p:cNvPr id="9" name="Стрелка вниз 8"/>
          <p:cNvSpPr/>
          <p:nvPr/>
        </p:nvSpPr>
        <p:spPr>
          <a:xfrm>
            <a:off x="6372224" y="2200276"/>
            <a:ext cx="285750" cy="485775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вниз 9"/>
          <p:cNvSpPr/>
          <p:nvPr/>
        </p:nvSpPr>
        <p:spPr>
          <a:xfrm>
            <a:off x="6372224" y="4062411"/>
            <a:ext cx="285750" cy="485775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 углом 10"/>
          <p:cNvSpPr/>
          <p:nvPr/>
        </p:nvSpPr>
        <p:spPr>
          <a:xfrm rot="16200000">
            <a:off x="1926431" y="3307556"/>
            <a:ext cx="1504953" cy="3014661"/>
          </a:xfrm>
          <a:prstGeom prst="bentArrow">
            <a:avLst>
              <a:gd name="adj1" fmla="val 12975"/>
              <a:gd name="adj2" fmla="val 15822"/>
              <a:gd name="adj3" fmla="val 17405"/>
              <a:gd name="adj4" fmla="val 4375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Стрелка вправо 11"/>
          <p:cNvSpPr/>
          <p:nvPr/>
        </p:nvSpPr>
        <p:spPr>
          <a:xfrm>
            <a:off x="3324225" y="3257550"/>
            <a:ext cx="862014" cy="3429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4650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2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0"/>
                            </p:stCondLst>
                            <p:childTnLst>
                              <p:par>
                                <p:cTn id="3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75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375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0" grpId="1" animBg="1"/>
      <p:bldP spid="11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09148"/>
          </a:xfrm>
        </p:spPr>
        <p:txBody>
          <a:bodyPr/>
          <a:lstStyle/>
          <a:p>
            <a:r>
              <a:rPr lang="ru-RU" dirty="0"/>
              <a:t>Ищем данные только для записей из таблицы перерасчета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314825" y="2762249"/>
            <a:ext cx="4400550" cy="12477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Читаем набор записей регистра расчета «Основные начисления» (50000 записей)</a:t>
            </a:r>
          </a:p>
        </p:txBody>
      </p:sp>
      <p:sp>
        <p:nvSpPr>
          <p:cNvPr id="7" name="Блок-схема: магнитный диск 6"/>
          <p:cNvSpPr/>
          <p:nvPr/>
        </p:nvSpPr>
        <p:spPr>
          <a:xfrm>
            <a:off x="4314825" y="4543425"/>
            <a:ext cx="4400549" cy="1685925"/>
          </a:xfrm>
          <a:prstGeom prst="flowChartMagneticDisk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Регистр расчета «Основные начисления»</a:t>
            </a:r>
            <a:br>
              <a:rPr lang="ru-RU" dirty="0"/>
            </a:br>
            <a:r>
              <a:rPr lang="ru-RU" dirty="0"/>
              <a:t>Записан набор записей (50000 записей)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188119" y="2762249"/>
            <a:ext cx="3021806" cy="124777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Работа виртуальных таблиц по поиску данных графика и базы для 1 записи</a:t>
            </a:r>
          </a:p>
        </p:txBody>
      </p:sp>
      <p:sp>
        <p:nvSpPr>
          <p:cNvPr id="10" name="Стрелка вниз 9"/>
          <p:cNvSpPr/>
          <p:nvPr/>
        </p:nvSpPr>
        <p:spPr>
          <a:xfrm rot="10800000">
            <a:off x="6372224" y="4033836"/>
            <a:ext cx="285750" cy="485775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 вправо 11"/>
          <p:cNvSpPr/>
          <p:nvPr/>
        </p:nvSpPr>
        <p:spPr>
          <a:xfrm>
            <a:off x="3324225" y="3257550"/>
            <a:ext cx="862014" cy="3429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Блок-схема: магнитный диск 12"/>
          <p:cNvSpPr/>
          <p:nvPr/>
        </p:nvSpPr>
        <p:spPr>
          <a:xfrm>
            <a:off x="188120" y="4543425"/>
            <a:ext cx="3021806" cy="1685925"/>
          </a:xfrm>
          <a:prstGeom prst="flowChartMagneticDisk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перерасчетов</a:t>
            </a:r>
            <a:br>
              <a:rPr lang="ru-RU" dirty="0"/>
            </a:br>
            <a:r>
              <a:rPr lang="ru-RU" dirty="0"/>
              <a:t>(стала недостоверна 1 запись из 50000)</a:t>
            </a:r>
          </a:p>
        </p:txBody>
      </p:sp>
      <p:sp>
        <p:nvSpPr>
          <p:cNvPr id="14" name="Стрелка влево 13"/>
          <p:cNvSpPr/>
          <p:nvPr/>
        </p:nvSpPr>
        <p:spPr>
          <a:xfrm>
            <a:off x="3438525" y="5391150"/>
            <a:ext cx="733425" cy="32385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трелка вниз 14"/>
          <p:cNvSpPr/>
          <p:nvPr/>
        </p:nvSpPr>
        <p:spPr>
          <a:xfrm rot="10800000">
            <a:off x="1565672" y="4033837"/>
            <a:ext cx="285750" cy="48577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 вниз 15"/>
          <p:cNvSpPr/>
          <p:nvPr/>
        </p:nvSpPr>
        <p:spPr>
          <a:xfrm>
            <a:off x="6657974" y="4057649"/>
            <a:ext cx="285750" cy="485775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843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2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0" grpId="1" animBg="1"/>
      <p:bldP spid="12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СофтБаланс_РасчетныеЗадачи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СофтБаланс_РасчетныеЗадачи" id="{D7705B6D-EFB0-49BE-8D35-BAC51EF4E54D}" vid="{0E3E934E-86D3-42B5-AA94-C445C4FE358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СофтБаланс_РасчетныеЗадачи</Template>
  <TotalTime>300</TotalTime>
  <Words>1012</Words>
  <Application>Microsoft Office PowerPoint</Application>
  <PresentationFormat>Экран (4:3)</PresentationFormat>
  <Paragraphs>508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9" baseType="lpstr">
      <vt:lpstr>Arial</vt:lpstr>
      <vt:lpstr>Arial Black</vt:lpstr>
      <vt:lpstr>Calibri</vt:lpstr>
      <vt:lpstr>Tahoma</vt:lpstr>
      <vt:lpstr>Verdana</vt:lpstr>
      <vt:lpstr>Wingdings</vt:lpstr>
      <vt:lpstr>СофтБаланс_РасчетныеЗадачи</vt:lpstr>
      <vt:lpstr>Занятие 5</vt:lpstr>
      <vt:lpstr>Сторно</vt:lpstr>
      <vt:lpstr>Сотрудник уходит в отпуск</vt:lpstr>
      <vt:lpstr>Больничный вводится на месяц позже.</vt:lpstr>
      <vt:lpstr>Сторно записи</vt:lpstr>
      <vt:lpstr>Перерасчет</vt:lpstr>
      <vt:lpstr>Таблица перерасчета</vt:lpstr>
      <vt:lpstr>Таблица перерасчета. Типы</vt:lpstr>
      <vt:lpstr>Таблица перерасчета. Типы</vt:lpstr>
      <vt:lpstr>Связь полями ведущих регистров</vt:lpstr>
      <vt:lpstr>Связи таблиц</vt:lpstr>
      <vt:lpstr>Расчет оклада за октябрь</vt:lpstr>
      <vt:lpstr>Расчет премии % за октябрь</vt:lpstr>
      <vt:lpstr>Расчет оклада за ноябрь</vt:lpstr>
      <vt:lpstr>Расчет премии % за ноябрь</vt:lpstr>
      <vt:lpstr>Расчет больничного. Нарушена очередность !</vt:lpstr>
      <vt:lpstr>Заполнение таблицы перерасчета</vt:lpstr>
      <vt:lpstr>Зачем нужна таблица перерасчета</vt:lpstr>
      <vt:lpstr>«Начисление зарплаты»</vt:lpstr>
      <vt:lpstr>«Забыли» про больничный</vt:lpstr>
      <vt:lpstr>Если будем опять расчитывать то…</vt:lpstr>
      <vt:lpstr>Ищем данные только для записей из таблицы перерасчета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5</dc:title>
  <dc:creator>eugeniy sizov</dc:creator>
  <cp:lastModifiedBy>eugeniy sizov</cp:lastModifiedBy>
  <cp:revision>14</cp:revision>
  <dcterms:created xsi:type="dcterms:W3CDTF">2019-05-02T14:01:22Z</dcterms:created>
  <dcterms:modified xsi:type="dcterms:W3CDTF">2020-03-27T12:48:20Z</dcterms:modified>
</cp:coreProperties>
</file>