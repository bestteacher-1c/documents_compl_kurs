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9"/>
  </p:notesMasterIdLst>
  <p:sldIdLst>
    <p:sldId id="256" r:id="rId2"/>
    <p:sldId id="304" r:id="rId3"/>
    <p:sldId id="299" r:id="rId4"/>
    <p:sldId id="309" r:id="rId5"/>
    <p:sldId id="301" r:id="rId6"/>
    <p:sldId id="311" r:id="rId7"/>
    <p:sldId id="284" r:id="rId8"/>
    <p:sldId id="283" r:id="rId9"/>
    <p:sldId id="390" r:id="rId10"/>
    <p:sldId id="306" r:id="rId11"/>
    <p:sldId id="296" r:id="rId12"/>
    <p:sldId id="285" r:id="rId13"/>
    <p:sldId id="286" r:id="rId14"/>
    <p:sldId id="287" r:id="rId15"/>
    <p:sldId id="288" r:id="rId16"/>
    <p:sldId id="333" r:id="rId17"/>
    <p:sldId id="334" r:id="rId18"/>
    <p:sldId id="335" r:id="rId19"/>
    <p:sldId id="391" r:id="rId20"/>
    <p:sldId id="389" r:id="rId21"/>
    <p:sldId id="315" r:id="rId22"/>
    <p:sldId id="316" r:id="rId23"/>
    <p:sldId id="317" r:id="rId24"/>
    <p:sldId id="318" r:id="rId25"/>
    <p:sldId id="361" r:id="rId26"/>
    <p:sldId id="349" r:id="rId27"/>
    <p:sldId id="350" r:id="rId28"/>
    <p:sldId id="351" r:id="rId29"/>
    <p:sldId id="352" r:id="rId30"/>
    <p:sldId id="353" r:id="rId31"/>
    <p:sldId id="362" r:id="rId32"/>
    <p:sldId id="355" r:id="rId33"/>
    <p:sldId id="356" r:id="rId34"/>
    <p:sldId id="357" r:id="rId35"/>
    <p:sldId id="360" r:id="rId36"/>
    <p:sldId id="358" r:id="rId37"/>
    <p:sldId id="363" r:id="rId38"/>
    <p:sldId id="314" r:id="rId39"/>
    <p:sldId id="388" r:id="rId40"/>
    <p:sldId id="382" r:id="rId41"/>
    <p:sldId id="383" r:id="rId42"/>
    <p:sldId id="384" r:id="rId43"/>
    <p:sldId id="385" r:id="rId44"/>
    <p:sldId id="386" r:id="rId45"/>
    <p:sldId id="387" r:id="rId46"/>
    <p:sldId id="278" r:id="rId47"/>
    <p:sldId id="371" r:id="rId48"/>
    <p:sldId id="364" r:id="rId49"/>
    <p:sldId id="365" r:id="rId50"/>
    <p:sldId id="366" r:id="rId51"/>
    <p:sldId id="367" r:id="rId52"/>
    <p:sldId id="368" r:id="rId53"/>
    <p:sldId id="369" r:id="rId54"/>
    <p:sldId id="370" r:id="rId55"/>
    <p:sldId id="372" r:id="rId56"/>
    <p:sldId id="373" r:id="rId57"/>
    <p:sldId id="374" r:id="rId58"/>
    <p:sldId id="375" r:id="rId59"/>
    <p:sldId id="376" r:id="rId60"/>
    <p:sldId id="377" r:id="rId61"/>
    <p:sldId id="378" r:id="rId62"/>
    <p:sldId id="379" r:id="rId63"/>
    <p:sldId id="381" r:id="rId64"/>
    <p:sldId id="279" r:id="rId65"/>
    <p:sldId id="380" r:id="rId66"/>
    <p:sldId id="337" r:id="rId67"/>
    <p:sldId id="338" r:id="rId68"/>
    <p:sldId id="339" r:id="rId69"/>
    <p:sldId id="340" r:id="rId70"/>
    <p:sldId id="341" r:id="rId71"/>
    <p:sldId id="342" r:id="rId72"/>
    <p:sldId id="343" r:id="rId73"/>
    <p:sldId id="344" r:id="rId74"/>
    <p:sldId id="345" r:id="rId75"/>
    <p:sldId id="346" r:id="rId76"/>
    <p:sldId id="347" r:id="rId77"/>
    <p:sldId id="348" r:id="rId7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Средний стиль 2 -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>
      <p:cViewPr varScale="1">
        <p:scale>
          <a:sx n="85" d="100"/>
          <a:sy n="85" d="100"/>
        </p:scale>
        <p:origin x="966" y="84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270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84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BAF48D07-697E-4671-AE30-606B61A843A7}"/>
    <pc:docChg chg="modSld sldOrd">
      <pc:chgData name="eugeniy sizov" userId="f166da1dfb7bc990" providerId="LiveId" clId="{BAF48D07-697E-4671-AE30-606B61A843A7}" dt="2020-03-17T12:12:44.198" v="1"/>
      <pc:docMkLst>
        <pc:docMk/>
      </pc:docMkLst>
      <pc:sldChg chg="ord">
        <pc:chgData name="eugeniy sizov" userId="f166da1dfb7bc990" providerId="LiveId" clId="{BAF48D07-697E-4671-AE30-606B61A843A7}" dt="2020-03-17T12:12:44.198" v="1"/>
        <pc:sldMkLst>
          <pc:docMk/>
          <pc:sldMk cId="318035001" sldId="284"/>
        </pc:sldMkLst>
      </pc:sldChg>
    </pc:docChg>
  </pc:docChgLst>
  <pc:docChgLst>
    <pc:chgData name="eugeniy sizov" userId="f166da1dfb7bc990" providerId="LiveId" clId="{0040FEB4-D306-46E9-8895-BBB8FA83B8D5}"/>
    <pc:docChg chg="modSld sldOrd">
      <pc:chgData name="eugeniy sizov" userId="f166da1dfb7bc990" providerId="LiveId" clId="{0040FEB4-D306-46E9-8895-BBB8FA83B8D5}" dt="2018-08-07T13:36:28.201" v="0"/>
      <pc:docMkLst>
        <pc:docMk/>
      </pc:docMkLst>
      <pc:sldChg chg="ord">
        <pc:chgData name="eugeniy sizov" userId="f166da1dfb7bc990" providerId="LiveId" clId="{0040FEB4-D306-46E9-8895-BBB8FA83B8D5}" dt="2018-08-07T13:36:28.201" v="0"/>
        <pc:sldMkLst>
          <pc:docMk/>
          <pc:sldMk cId="3285921239" sldId="33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DD2F9E-8932-4BC0-94C5-DE962599865D}" type="datetimeFigureOut">
              <a:rPr lang="ru-RU" smtClean="0"/>
              <a:t>17.03.2020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429DFA-7523-49D3-85FF-94385575B4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99461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255F66-AF2F-429E-9855-1543ACD65362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10538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255F66-AF2F-429E-9855-1543ACD65362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3433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255F66-AF2F-429E-9855-1543ACD65362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96527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255F66-AF2F-429E-9855-1543ACD65362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13172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255F66-AF2F-429E-9855-1543ACD65362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27159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255F66-AF2F-429E-9855-1543ACD65362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74842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255F66-AF2F-429E-9855-1543ACD65362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15730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255F66-AF2F-429E-9855-1543ACD65362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6204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95221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9447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954138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33049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04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59709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09358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102008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6405086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4386138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Содержимое 2"/>
          <p:cNvSpPr>
            <a:spLocks noGrp="1"/>
          </p:cNvSpPr>
          <p:nvPr>
            <p:ph idx="10"/>
          </p:nvPr>
        </p:nvSpPr>
        <p:spPr>
          <a:xfrm>
            <a:off x="4644008" y="1340768"/>
            <a:ext cx="4306779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187335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1" y="6310313"/>
            <a:ext cx="855663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/77</a:t>
            </a: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</p:spTree>
    <p:extLst>
      <p:ext uri="{BB962C8B-B14F-4D97-AF65-F5344CB8AC3E}">
        <p14:creationId xmlns:p14="http://schemas.microsoft.com/office/powerpoint/2010/main" val="4153877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3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4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pc="300" dirty="0">
                <a:solidFill>
                  <a:srgbClr val="C00000"/>
                </a:solidFill>
              </a:rPr>
              <a:t>Занятие 4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dirty="0"/>
              <a:t>Программная работа в форме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dirty="0"/>
              <a:t>Прикладные объекты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dirty="0"/>
              <a:t>Ввод на основании</a:t>
            </a:r>
            <a:endParaRPr lang="en-US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dirty="0"/>
              <a:t>Команды</a:t>
            </a:r>
          </a:p>
        </p:txBody>
      </p:sp>
    </p:spTree>
    <p:extLst>
      <p:ext uri="{BB962C8B-B14F-4D97-AF65-F5344CB8AC3E}">
        <p14:creationId xmlns:p14="http://schemas.microsoft.com/office/powerpoint/2010/main" val="5926294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Разница дат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0650" y="1643063"/>
            <a:ext cx="6362700" cy="35718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4226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Прикладные объекты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Запись, чтение, изменение и удаление информации из базы данных</a:t>
            </a:r>
          </a:p>
        </p:txBody>
      </p:sp>
    </p:spTree>
    <p:extLst>
      <p:ext uri="{BB962C8B-B14F-4D97-AF65-F5344CB8AC3E}">
        <p14:creationId xmlns:p14="http://schemas.microsoft.com/office/powerpoint/2010/main" val="703770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</a:t>
            </a:r>
          </a:p>
        </p:txBody>
      </p:sp>
      <p:sp>
        <p:nvSpPr>
          <p:cNvPr id="8" name="Объект 2"/>
          <p:cNvSpPr txBox="1">
            <a:spLocks/>
          </p:cNvSpPr>
          <p:nvPr/>
        </p:nvSpPr>
        <p:spPr>
          <a:xfrm>
            <a:off x="185862" y="1268681"/>
            <a:ext cx="8784000" cy="72015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defRPr sz="2800" b="1" kern="1200">
                <a:solidFill>
                  <a:srgbClr val="0070C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2"/>
              </a:buBlip>
              <a:defRPr sz="2800" b="1" kern="1200">
                <a:solidFill>
                  <a:srgbClr val="FF000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000" b="1" kern="1200">
                <a:solidFill>
                  <a:srgbClr val="0070C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§"/>
              <a:defRPr b="1" kern="1200">
                <a:solidFill>
                  <a:srgbClr val="40404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40404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ru-RU" sz="2400" dirty="0"/>
              <a:t>При начале работы системы установить в заголовке название организации, хранимое в константе.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608" y="2420888"/>
            <a:ext cx="6914286" cy="26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697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Скругленный прямоугольник 51"/>
          <p:cNvSpPr/>
          <p:nvPr/>
        </p:nvSpPr>
        <p:spPr>
          <a:xfrm>
            <a:off x="323528" y="1035608"/>
            <a:ext cx="8424936" cy="147290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ru-RU" b="1" u="sng" dirty="0">
                <a:solidFill>
                  <a:schemeClr val="tx1"/>
                </a:solidFill>
              </a:rPr>
              <a:t>На Клиенте</a:t>
            </a:r>
          </a:p>
        </p:txBody>
      </p:sp>
      <p:sp>
        <p:nvSpPr>
          <p:cNvPr id="37" name="Прямоугольник 36"/>
          <p:cNvSpPr/>
          <p:nvPr/>
        </p:nvSpPr>
        <p:spPr>
          <a:xfrm>
            <a:off x="612013" y="2508514"/>
            <a:ext cx="779847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управляемого приложения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322729" y="5100609"/>
            <a:ext cx="8497743" cy="1208711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/>
              <a:t>База данных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1049025" y="5167679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337057" y="5311695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1697097" y="5455711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23528" y="3006411"/>
            <a:ext cx="8424936" cy="152933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ru-RU" b="1" u="sng" dirty="0">
                <a:solidFill>
                  <a:schemeClr val="tx1"/>
                </a:solidFill>
              </a:rPr>
              <a:t>На  Сервере</a:t>
            </a:r>
          </a:p>
        </p:txBody>
      </p:sp>
      <p:sp>
        <p:nvSpPr>
          <p:cNvPr id="20" name="Овал 19"/>
          <p:cNvSpPr/>
          <p:nvPr/>
        </p:nvSpPr>
        <p:spPr>
          <a:xfrm>
            <a:off x="6063378" y="585557"/>
            <a:ext cx="2376264" cy="432048"/>
          </a:xfrm>
          <a:prstGeom prst="ellips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пользователь</a:t>
            </a:r>
          </a:p>
        </p:txBody>
      </p:sp>
      <p:sp>
        <p:nvSpPr>
          <p:cNvPr id="17" name="Облако 16"/>
          <p:cNvSpPr/>
          <p:nvPr/>
        </p:nvSpPr>
        <p:spPr>
          <a:xfrm>
            <a:off x="3239399" y="3438459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Почти все другие программные объекты</a:t>
            </a:r>
          </a:p>
        </p:txBody>
      </p:sp>
      <p:sp>
        <p:nvSpPr>
          <p:cNvPr id="15" name="Облако 14"/>
          <p:cNvSpPr/>
          <p:nvPr/>
        </p:nvSpPr>
        <p:spPr>
          <a:xfrm>
            <a:off x="6053644" y="1151166"/>
            <a:ext cx="2556000" cy="936000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Интерфейсные программные объекты</a:t>
            </a:r>
          </a:p>
        </p:txBody>
      </p:sp>
      <p:sp>
        <p:nvSpPr>
          <p:cNvPr id="16" name="Облако 15"/>
          <p:cNvSpPr/>
          <p:nvPr/>
        </p:nvSpPr>
        <p:spPr>
          <a:xfrm>
            <a:off x="617430" y="3592141"/>
            <a:ext cx="2519827" cy="89844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Прикладные программные объекты</a:t>
            </a:r>
          </a:p>
        </p:txBody>
      </p:sp>
      <p:sp>
        <p:nvSpPr>
          <p:cNvPr id="21" name="Двойная стрелка вверх/вниз 20"/>
          <p:cNvSpPr/>
          <p:nvPr/>
        </p:nvSpPr>
        <p:spPr>
          <a:xfrm>
            <a:off x="5998238" y="911875"/>
            <a:ext cx="288000" cy="600249"/>
          </a:xfrm>
          <a:prstGeom prst="up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Прямоугольник 44"/>
          <p:cNvSpPr/>
          <p:nvPr/>
        </p:nvSpPr>
        <p:spPr>
          <a:xfrm>
            <a:off x="612013" y="1347052"/>
            <a:ext cx="1872208" cy="396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Общие модули</a:t>
            </a:r>
          </a:p>
        </p:txBody>
      </p:sp>
      <p:sp>
        <p:nvSpPr>
          <p:cNvPr id="50" name="Прямоугольник 49"/>
          <p:cNvSpPr/>
          <p:nvPr/>
        </p:nvSpPr>
        <p:spPr>
          <a:xfrm>
            <a:off x="597200" y="3115686"/>
            <a:ext cx="1872208" cy="396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Общие модули</a:t>
            </a:r>
          </a:p>
        </p:txBody>
      </p:sp>
      <p:sp>
        <p:nvSpPr>
          <p:cNvPr id="53" name="Облако 52"/>
          <p:cNvSpPr/>
          <p:nvPr/>
        </p:nvSpPr>
        <p:spPr>
          <a:xfrm>
            <a:off x="6069512" y="3105605"/>
            <a:ext cx="2556000" cy="936000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Интерфейсные программные объекты</a:t>
            </a:r>
          </a:p>
        </p:txBody>
      </p:sp>
      <p:sp>
        <p:nvSpPr>
          <p:cNvPr id="54" name="Облако 53"/>
          <p:cNvSpPr/>
          <p:nvPr/>
        </p:nvSpPr>
        <p:spPr>
          <a:xfrm>
            <a:off x="2772706" y="1482400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Немного других программных объектов</a:t>
            </a:r>
          </a:p>
        </p:txBody>
      </p:sp>
      <p:sp>
        <p:nvSpPr>
          <p:cNvPr id="3" name="Стрелка вверх 2"/>
          <p:cNvSpPr/>
          <p:nvPr/>
        </p:nvSpPr>
        <p:spPr>
          <a:xfrm>
            <a:off x="6284219" y="2000680"/>
            <a:ext cx="301969" cy="1357453"/>
          </a:xfrm>
          <a:prstGeom prst="up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Прямоугольник 55"/>
          <p:cNvSpPr/>
          <p:nvPr/>
        </p:nvSpPr>
        <p:spPr>
          <a:xfrm>
            <a:off x="614258" y="4554687"/>
            <a:ext cx="779847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сеанса</a:t>
            </a:r>
          </a:p>
        </p:txBody>
      </p:sp>
      <p:sp>
        <p:nvSpPr>
          <p:cNvPr id="19" name="Двойная стрелка вверх/вниз 18"/>
          <p:cNvSpPr/>
          <p:nvPr/>
        </p:nvSpPr>
        <p:spPr>
          <a:xfrm>
            <a:off x="719572" y="4221088"/>
            <a:ext cx="252028" cy="1188132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Прямоугольник 58"/>
          <p:cNvSpPr/>
          <p:nvPr/>
        </p:nvSpPr>
        <p:spPr>
          <a:xfrm>
            <a:off x="6600881" y="4088824"/>
            <a:ext cx="1845429" cy="397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формы</a:t>
            </a:r>
          </a:p>
        </p:txBody>
      </p:sp>
      <p:sp>
        <p:nvSpPr>
          <p:cNvPr id="61" name="Прямоугольник 60"/>
          <p:cNvSpPr/>
          <p:nvPr/>
        </p:nvSpPr>
        <p:spPr>
          <a:xfrm>
            <a:off x="6706580" y="2006853"/>
            <a:ext cx="1845429" cy="397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формы</a:t>
            </a:r>
          </a:p>
        </p:txBody>
      </p:sp>
    </p:spTree>
    <p:extLst>
      <p:ext uri="{BB962C8B-B14F-4D97-AF65-F5344CB8AC3E}">
        <p14:creationId xmlns:p14="http://schemas.microsoft.com/office/powerpoint/2010/main" val="4187693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40799"/>
          </a:xfrm>
        </p:spPr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 константы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Константы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Константа менеджер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какой константы будем читать информацию?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7864" y="2991054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Чтение, запись, изменение значения константы.</a:t>
            </a:r>
          </a:p>
        </p:txBody>
      </p:sp>
    </p:spTree>
    <p:extLst>
      <p:ext uri="{BB962C8B-B14F-4D97-AF65-F5344CB8AC3E}">
        <p14:creationId xmlns:p14="http://schemas.microsoft.com/office/powerpoint/2010/main" val="3931526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1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C00000"/>
                </a:solidFill>
              </a:rPr>
              <a:t>Менеджер значения константы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8096"/>
              </p:ext>
            </p:extLst>
          </p:nvPr>
        </p:nvGraphicFramePr>
        <p:xfrm>
          <a:off x="4080029" y="5065375"/>
          <a:ext cx="3432212" cy="95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22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59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Название организации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940">
                <a:tc>
                  <a:txBody>
                    <a:bodyPr/>
                    <a:lstStyle/>
                    <a:p>
                      <a:r>
                        <a:rPr lang="ru-RU" dirty="0"/>
                        <a:t>«Север»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Облако 5"/>
          <p:cNvSpPr/>
          <p:nvPr/>
        </p:nvSpPr>
        <p:spPr>
          <a:xfrm>
            <a:off x="2663788" y="1348001"/>
            <a:ext cx="5436604" cy="2337673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Константа менеджер «Название организации»</a:t>
            </a:r>
            <a:endParaRPr lang="en-US" dirty="0"/>
          </a:p>
          <a:p>
            <a:pPr algn="ctr"/>
            <a:endParaRPr lang="en-US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r>
              <a:rPr lang="ru-RU" dirty="0"/>
              <a:t>Методы:</a:t>
            </a:r>
          </a:p>
        </p:txBody>
      </p:sp>
      <p:sp>
        <p:nvSpPr>
          <p:cNvPr id="9" name="Стрелка углом 8"/>
          <p:cNvSpPr/>
          <p:nvPr/>
        </p:nvSpPr>
        <p:spPr>
          <a:xfrm rot="10800000">
            <a:off x="7596334" y="2492896"/>
            <a:ext cx="504057" cy="3240360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796135" y="3685674"/>
            <a:ext cx="2052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FF0000"/>
                </a:solidFill>
              </a:rPr>
              <a:t>Установить(«Юг»)</a:t>
            </a:r>
          </a:p>
        </p:txBody>
      </p:sp>
      <p:sp>
        <p:nvSpPr>
          <p:cNvPr id="12" name="Стрелка углом 11"/>
          <p:cNvSpPr/>
          <p:nvPr/>
        </p:nvSpPr>
        <p:spPr>
          <a:xfrm rot="16200000">
            <a:off x="1187623" y="2924945"/>
            <a:ext cx="3168353" cy="2304256"/>
          </a:xfrm>
          <a:prstGeom prst="bentArrow">
            <a:avLst>
              <a:gd name="adj1" fmla="val 5141"/>
              <a:gd name="adj2" fmla="val 7459"/>
              <a:gd name="adj3" fmla="val 10047"/>
              <a:gd name="adj4" fmla="val 201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79712" y="3685674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FF0000"/>
                </a:solidFill>
              </a:rPr>
              <a:t>Получить()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9632" y="200843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«Север»</a:t>
            </a:r>
          </a:p>
        </p:txBody>
      </p:sp>
      <p:graphicFrame>
        <p:nvGraphicFramePr>
          <p:cNvPr id="16" name="Таблица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1392493"/>
              </p:ext>
            </p:extLst>
          </p:nvPr>
        </p:nvGraphicFramePr>
        <p:xfrm>
          <a:off x="4080029" y="5065375"/>
          <a:ext cx="3432212" cy="95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22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59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Название организации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940">
                <a:tc>
                  <a:txBody>
                    <a:bodyPr/>
                    <a:lstStyle/>
                    <a:p>
                      <a:r>
                        <a:rPr lang="ru-RU" dirty="0"/>
                        <a:t>«Юг»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035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  <p:bldP spid="14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475822"/>
            <a:ext cx="8784000" cy="548798"/>
          </a:xfrm>
        </p:spPr>
        <p:txBody>
          <a:bodyPr/>
          <a:lstStyle/>
          <a:p>
            <a:r>
              <a:rPr lang="ru-RU" dirty="0">
                <a:solidFill>
                  <a:srgbClr val="C00000"/>
                </a:solidFill>
              </a:rPr>
              <a:t>Глобальный контекст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1725836"/>
              </p:ext>
            </p:extLst>
          </p:nvPr>
        </p:nvGraphicFramePr>
        <p:xfrm>
          <a:off x="323528" y="908720"/>
          <a:ext cx="8424280" cy="53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3772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Константы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Справочники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Документы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6648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7440862"/>
              </p:ext>
            </p:extLst>
          </p:nvPr>
        </p:nvGraphicFramePr>
        <p:xfrm>
          <a:off x="755574" y="2076624"/>
          <a:ext cx="2520000" cy="40284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Имя константы</a:t>
                      </a:r>
                      <a:br>
                        <a:rPr lang="ru-RU" dirty="0"/>
                      </a:b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Константа менеджер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Название </a:t>
                      </a:r>
                      <a:r>
                        <a:rPr lang="ru-RU" dirty="0" err="1"/>
                        <a:t>организа-ции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ИНН</a:t>
                      </a:r>
                    </a:p>
                    <a:p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Дата регистра-</a:t>
                      </a:r>
                      <a:r>
                        <a:rPr lang="ru-RU" dirty="0" err="1"/>
                        <a:t>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330539"/>
              </p:ext>
            </p:extLst>
          </p:nvPr>
        </p:nvGraphicFramePr>
        <p:xfrm>
          <a:off x="3347862" y="2076624"/>
          <a:ext cx="2520000" cy="40284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Имя </a:t>
                      </a:r>
                      <a:r>
                        <a:rPr lang="ru-RU" dirty="0" err="1"/>
                        <a:t>справоч-ника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err="1"/>
                        <a:t>Справоч</a:t>
                      </a:r>
                      <a:r>
                        <a:rPr lang="ru-RU" dirty="0"/>
                        <a:t>-ник </a:t>
                      </a:r>
                      <a:br>
                        <a:rPr lang="ru-RU" dirty="0"/>
                      </a:br>
                      <a:r>
                        <a:rPr lang="ru-RU" dirty="0"/>
                        <a:t>менеджер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err="1"/>
                        <a:t>Номенкла</a:t>
                      </a:r>
                      <a:r>
                        <a:rPr lang="ru-RU" dirty="0"/>
                        <a:t>-тура</a:t>
                      </a:r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err="1"/>
                        <a:t>Подразде-ления</a:t>
                      </a:r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Должно-</a:t>
                      </a:r>
                      <a:r>
                        <a:rPr lang="ru-RU" dirty="0" err="1"/>
                        <a:t>сти</a:t>
                      </a:r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61633"/>
              </p:ext>
            </p:extLst>
          </p:nvPr>
        </p:nvGraphicFramePr>
        <p:xfrm>
          <a:off x="5868142" y="2076624"/>
          <a:ext cx="2520000" cy="40284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Имя </a:t>
                      </a:r>
                      <a:r>
                        <a:rPr lang="ru-RU" dirty="0" err="1"/>
                        <a:t>докумен</a:t>
                      </a:r>
                      <a:r>
                        <a:rPr lang="ru-RU" dirty="0"/>
                        <a:t>-та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Документ менеджер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Приказ</a:t>
                      </a:r>
                      <a:r>
                        <a:rPr lang="ru-RU" baseline="0" dirty="0"/>
                        <a:t> о приеме</a:t>
                      </a:r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Приказ об </a:t>
                      </a:r>
                      <a:r>
                        <a:rPr lang="ru-RU" dirty="0" err="1"/>
                        <a:t>увольне-нии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Заказ </a:t>
                      </a:r>
                      <a:r>
                        <a:rPr lang="ru-RU" dirty="0" err="1"/>
                        <a:t>по-купателя</a:t>
                      </a:r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Облако 6"/>
          <p:cNvSpPr/>
          <p:nvPr/>
        </p:nvSpPr>
        <p:spPr>
          <a:xfrm>
            <a:off x="1979710" y="3012728"/>
            <a:ext cx="1224136" cy="720080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9" name="Группа 18"/>
          <p:cNvGrpSpPr/>
          <p:nvPr/>
        </p:nvGrpSpPr>
        <p:grpSpPr>
          <a:xfrm>
            <a:off x="1979710" y="4020840"/>
            <a:ext cx="1224136" cy="1584176"/>
            <a:chOff x="2123728" y="4509120"/>
            <a:chExt cx="1224136" cy="1584176"/>
          </a:xfrm>
        </p:grpSpPr>
        <p:sp>
          <p:nvSpPr>
            <p:cNvPr id="8" name="Облако 7"/>
            <p:cNvSpPr/>
            <p:nvPr/>
          </p:nvSpPr>
          <p:spPr>
            <a:xfrm>
              <a:off x="2123728" y="4509120"/>
              <a:ext cx="1224136" cy="720080"/>
            </a:xfrm>
            <a:prstGeom prst="cloud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Облако 8"/>
            <p:cNvSpPr/>
            <p:nvPr/>
          </p:nvSpPr>
          <p:spPr>
            <a:xfrm>
              <a:off x="2123728" y="5373216"/>
              <a:ext cx="1224136" cy="720080"/>
            </a:xfrm>
            <a:prstGeom prst="cloud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7" name="Группа 16"/>
          <p:cNvGrpSpPr/>
          <p:nvPr/>
        </p:nvGrpSpPr>
        <p:grpSpPr>
          <a:xfrm>
            <a:off x="4623587" y="3012728"/>
            <a:ext cx="1244555" cy="2592288"/>
            <a:chOff x="4767605" y="3501008"/>
            <a:chExt cx="1244555" cy="2592288"/>
          </a:xfrm>
        </p:grpSpPr>
        <p:sp>
          <p:nvSpPr>
            <p:cNvPr id="10" name="Облако 9"/>
            <p:cNvSpPr/>
            <p:nvPr/>
          </p:nvSpPr>
          <p:spPr>
            <a:xfrm>
              <a:off x="4788024" y="3501008"/>
              <a:ext cx="1224136" cy="720080"/>
            </a:xfrm>
            <a:prstGeom prst="cloud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Облако 10"/>
            <p:cNvSpPr/>
            <p:nvPr/>
          </p:nvSpPr>
          <p:spPr>
            <a:xfrm>
              <a:off x="4767605" y="4509120"/>
              <a:ext cx="1224136" cy="720080"/>
            </a:xfrm>
            <a:prstGeom prst="cloud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Облако 11"/>
            <p:cNvSpPr/>
            <p:nvPr/>
          </p:nvSpPr>
          <p:spPr>
            <a:xfrm>
              <a:off x="4767605" y="5373216"/>
              <a:ext cx="1224136" cy="720080"/>
            </a:xfrm>
            <a:prstGeom prst="cloud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089100" y="3012728"/>
            <a:ext cx="1227314" cy="2592288"/>
            <a:chOff x="7233118" y="3501008"/>
            <a:chExt cx="1227314" cy="2592288"/>
          </a:xfrm>
        </p:grpSpPr>
        <p:sp>
          <p:nvSpPr>
            <p:cNvPr id="13" name="Облако 12"/>
            <p:cNvSpPr/>
            <p:nvPr/>
          </p:nvSpPr>
          <p:spPr>
            <a:xfrm>
              <a:off x="7236296" y="3501008"/>
              <a:ext cx="1224136" cy="720080"/>
            </a:xfrm>
            <a:prstGeom prst="cloud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Облако 13"/>
            <p:cNvSpPr/>
            <p:nvPr/>
          </p:nvSpPr>
          <p:spPr>
            <a:xfrm>
              <a:off x="7233118" y="4509120"/>
              <a:ext cx="1224136" cy="720080"/>
            </a:xfrm>
            <a:prstGeom prst="cloud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блако 14"/>
            <p:cNvSpPr/>
            <p:nvPr/>
          </p:nvSpPr>
          <p:spPr>
            <a:xfrm>
              <a:off x="7236296" y="5373216"/>
              <a:ext cx="1224136" cy="720080"/>
            </a:xfrm>
            <a:prstGeom prst="cloud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93504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2000" fill="hold"/>
                                        <p:tgtEl>
                                          <p:spTgt spid="7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000"/>
                            </p:stCondLst>
                            <p:childTnLst>
                              <p:par>
                                <p:cTn id="59" presetID="57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3.33333E-6 L -3.33333E-6 -0.07871 C -3.33333E-6 -0.11412 0.09879 -0.15741 0.17917 -0.15741 L 0.35834 -0.15741 " pathEditMode="relative" rAng="0" ptsTypes="AAAA">
                                      <p:cBhvr>
                                        <p:cTn id="6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917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7" grpId="2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700609" y="3777059"/>
            <a:ext cx="7772400" cy="1362075"/>
          </a:xfrm>
        </p:spPr>
        <p:txBody>
          <a:bodyPr>
            <a:normAutofit fontScale="90000"/>
          </a:bodyPr>
          <a:lstStyle/>
          <a:p>
            <a:r>
              <a:rPr lang="ru-RU" dirty="0"/>
              <a:t>Объектная модель работы с данными справочников и документов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>
          <a:xfrm>
            <a:off x="700609" y="2276872"/>
            <a:ext cx="7772400" cy="1500187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48490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5862" y="1268681"/>
            <a:ext cx="8784000" cy="2088312"/>
          </a:xfrm>
        </p:spPr>
        <p:txBody>
          <a:bodyPr/>
          <a:lstStyle/>
          <a:p>
            <a:r>
              <a:rPr lang="ru-RU" dirty="0"/>
              <a:t>При проведении документа «Приказ о приеме» перемещать принятого сотрудника из папки «Кандидаты» в папку «Работающие». 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776" y="3068960"/>
            <a:ext cx="6264696" cy="2971156"/>
          </a:xfrm>
          <a:prstGeom prst="rect">
            <a:avLst/>
          </a:prstGeom>
        </p:spPr>
      </p:pic>
      <p:sp>
        <p:nvSpPr>
          <p:cNvPr id="5" name="Развернутая стрелка 4"/>
          <p:cNvSpPr/>
          <p:nvPr/>
        </p:nvSpPr>
        <p:spPr>
          <a:xfrm rot="5400000" flipV="1">
            <a:off x="1860386" y="4815234"/>
            <a:ext cx="1498793" cy="684076"/>
          </a:xfrm>
          <a:prstGeom prst="uturnArrow">
            <a:avLst>
              <a:gd name="adj1" fmla="val 13206"/>
              <a:gd name="adj2" fmla="val 23034"/>
              <a:gd name="adj3" fmla="val 25000"/>
              <a:gd name="adj4" fmla="val 43750"/>
              <a:gd name="adj5" fmla="val 7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9769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Справочники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Ссылка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справочника будем читать информацию?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Поиск ссылки на нужный объект базы данных.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Идентификация объекта базы данных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Чтение данных нужного объекта базы данных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27584" y="5296346"/>
            <a:ext cx="2088232" cy="72008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объект</a:t>
            </a:r>
          </a:p>
        </p:txBody>
      </p:sp>
      <p:sp>
        <p:nvSpPr>
          <p:cNvPr id="15" name="Стрелка вниз 14"/>
          <p:cNvSpPr/>
          <p:nvPr/>
        </p:nvSpPr>
        <p:spPr>
          <a:xfrm>
            <a:off x="1710580" y="4864298"/>
            <a:ext cx="288032" cy="432048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366765" y="5296346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Запись, изменение и удаление объекта базы данных.</a:t>
            </a:r>
          </a:p>
        </p:txBody>
      </p:sp>
    </p:spTree>
    <p:extLst>
      <p:ext uri="{BB962C8B-B14F-4D97-AF65-F5344CB8AC3E}">
        <p14:creationId xmlns:p14="http://schemas.microsoft.com/office/powerpoint/2010/main" val="374877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>
                <a:solidFill>
                  <a:srgbClr val="00B050"/>
                </a:solidFill>
              </a:rPr>
              <a:t>Прочитать данные элемента справочника «Номенклатура» с кодом 1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solidFill>
                  <a:srgbClr val="0070C0"/>
                </a:solidFill>
              </a:rPr>
              <a:t>Изменить наименование этого элемента на «Бананы»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</p:spTree>
    <p:extLst>
      <p:ext uri="{BB962C8B-B14F-4D97-AF65-F5344CB8AC3E}">
        <p14:creationId xmlns:p14="http://schemas.microsoft.com/office/powerpoint/2010/main" val="42193353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ru-RU" sz="2800" dirty="0"/>
              <a:t>Глобальный контекст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5023294"/>
              </p:ext>
            </p:extLst>
          </p:nvPr>
        </p:nvGraphicFramePr>
        <p:xfrm>
          <a:off x="971601" y="1340768"/>
          <a:ext cx="7272805" cy="3312368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760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3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80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0976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Константы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Справочники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/>
                        <a:t>Документ</a:t>
                      </a:r>
                      <a:r>
                        <a:rPr lang="ru-RU" dirty="0"/>
                        <a:t>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1392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7114725"/>
              </p:ext>
            </p:extLst>
          </p:nvPr>
        </p:nvGraphicFramePr>
        <p:xfrm>
          <a:off x="2460104" y="4997400"/>
          <a:ext cx="4128120" cy="152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986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ААА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ВВВ</a:t>
                      </a: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Груши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ССС</a:t>
                      </a: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Слива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Скругленный прямоугольник 6"/>
          <p:cNvSpPr/>
          <p:nvPr/>
        </p:nvSpPr>
        <p:spPr>
          <a:xfrm>
            <a:off x="2987824" y="1916832"/>
            <a:ext cx="3096344" cy="266429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Справочники Менеджер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579652"/>
              </p:ext>
            </p:extLst>
          </p:nvPr>
        </p:nvGraphicFramePr>
        <p:xfrm>
          <a:off x="3059832" y="2492896"/>
          <a:ext cx="2964160" cy="19202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668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Имя справочника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Менеджер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Контрагенты</a:t>
                      </a:r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Скругленный прямоугольник 19"/>
          <p:cNvSpPr/>
          <p:nvPr/>
        </p:nvSpPr>
        <p:spPr>
          <a:xfrm>
            <a:off x="5004048" y="3825044"/>
            <a:ext cx="792088" cy="54006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2843808" y="1268760"/>
            <a:ext cx="3384376" cy="576064"/>
          </a:xfrm>
          <a:prstGeom prst="round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5004048" y="3176972"/>
            <a:ext cx="792088" cy="54006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4508816" y="1772816"/>
            <a:ext cx="43204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u="sng" dirty="0"/>
              <a:t>Справочник Менеджер. Номенклатура</a:t>
            </a:r>
          </a:p>
          <a:p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755576" y="899428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Справочники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3728" y="899428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.Номенклатура</a:t>
            </a:r>
          </a:p>
        </p:txBody>
      </p:sp>
    </p:spTree>
    <p:extLst>
      <p:ext uri="{BB962C8B-B14F-4D97-AF65-F5344CB8AC3E}">
        <p14:creationId xmlns:p14="http://schemas.microsoft.com/office/powerpoint/2010/main" val="1455936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1" dur="2000" fill="hold"/>
                                        <p:tgtEl>
                                          <p:spTgt spid="11"/>
                                        </p:tgtEl>
                                      </p:cBhvr>
                                      <p:by x="600000" y="600000"/>
                                    </p:animScale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82 0.04189 L 0.06511 0.04189 C 0.09601 0.04189 0.13403 0.00046 0.13403 -0.03311 L 0.13403 -0.10764 " pathEditMode="relative" rAng="0" ptsTypes="AAAA">
                                      <p:cBhvr>
                                        <p:cTn id="3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92" y="-747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20" grpId="0" animBg="1"/>
      <p:bldP spid="20" grpId="1" animBg="1"/>
      <p:bldP spid="12" grpId="0" animBg="1"/>
      <p:bldP spid="12" grpId="1" animBg="1"/>
      <p:bldP spid="12" grpId="2" animBg="1"/>
      <p:bldP spid="11" grpId="0" animBg="1"/>
      <p:bldP spid="11" grpId="1" animBg="1"/>
      <p:bldP spid="11" grpId="2" animBg="1"/>
      <p:bldP spid="13" grpId="0"/>
      <p:bldP spid="14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55828" y="498674"/>
            <a:ext cx="8784000" cy="548798"/>
          </a:xfrm>
        </p:spPr>
        <p:txBody>
          <a:bodyPr anchor="t">
            <a:normAutofit/>
          </a:bodyPr>
          <a:lstStyle/>
          <a:p>
            <a:r>
              <a:rPr lang="ru-RU" sz="2800" dirty="0"/>
              <a:t>Чтение данных </a:t>
            </a:r>
            <a:r>
              <a:rPr lang="ru-RU" sz="2800" i="1" dirty="0">
                <a:solidFill>
                  <a:srgbClr val="0070C0"/>
                </a:solidFill>
              </a:rPr>
              <a:t>одного </a:t>
            </a:r>
            <a:r>
              <a:rPr lang="ru-RU" sz="2800" dirty="0"/>
              <a:t>объекта данных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17033"/>
              </p:ext>
            </p:extLst>
          </p:nvPr>
        </p:nvGraphicFramePr>
        <p:xfrm>
          <a:off x="2483768" y="5022042"/>
          <a:ext cx="4128120" cy="152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986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ААА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ВВВ</a:t>
                      </a: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Груши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ССС</a:t>
                      </a: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Слива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Скругленный прямоугольник 17"/>
          <p:cNvSpPr/>
          <p:nvPr/>
        </p:nvSpPr>
        <p:spPr>
          <a:xfrm>
            <a:off x="323528" y="1340768"/>
            <a:ext cx="3600000" cy="3240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Ссылка . Номенклатура</a:t>
            </a:r>
          </a:p>
          <a:p>
            <a:pPr algn="ctr"/>
            <a:r>
              <a:rPr lang="ru-RU" dirty="0"/>
              <a:t>(без режима чтения данных)</a:t>
            </a:r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0273935"/>
              </p:ext>
            </p:extLst>
          </p:nvPr>
        </p:nvGraphicFramePr>
        <p:xfrm>
          <a:off x="611560" y="2421204"/>
          <a:ext cx="2952328" cy="18542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7461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Данные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&lt;</a:t>
                      </a:r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ААА</a:t>
                      </a: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&gt;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24885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Др. свойства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442135"/>
                  </a:ext>
                </a:extLst>
              </a:tr>
            </a:tbl>
          </a:graphicData>
        </a:graphic>
      </p:graphicFrame>
      <p:sp>
        <p:nvSpPr>
          <p:cNvPr id="22" name="Скругленный прямоугольник 21"/>
          <p:cNvSpPr/>
          <p:nvPr/>
        </p:nvSpPr>
        <p:spPr>
          <a:xfrm>
            <a:off x="4211960" y="1349987"/>
            <a:ext cx="4608056" cy="352800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Менеджер. Номенклатура</a:t>
            </a:r>
          </a:p>
        </p:txBody>
      </p:sp>
      <p:sp>
        <p:nvSpPr>
          <p:cNvPr id="23" name="Блок-схема: типовой процесс 22"/>
          <p:cNvSpPr/>
          <p:nvPr/>
        </p:nvSpPr>
        <p:spPr>
          <a:xfrm>
            <a:off x="4427984" y="3326236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…</a:t>
            </a:r>
          </a:p>
        </p:txBody>
      </p:sp>
      <p:sp>
        <p:nvSpPr>
          <p:cNvPr id="24" name="Блок-схема: типовой процесс 23"/>
          <p:cNvSpPr/>
          <p:nvPr/>
        </p:nvSpPr>
        <p:spPr>
          <a:xfrm>
            <a:off x="4436241" y="2626144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err="1"/>
              <a:t>НайтиПоНаименованию</a:t>
            </a:r>
            <a:r>
              <a:rPr lang="ru-RU" dirty="0"/>
              <a:t> (…)</a:t>
            </a:r>
          </a:p>
        </p:txBody>
      </p:sp>
      <p:sp>
        <p:nvSpPr>
          <p:cNvPr id="25" name="Блок-схема: типовой процесс 24"/>
          <p:cNvSpPr/>
          <p:nvPr/>
        </p:nvSpPr>
        <p:spPr>
          <a:xfrm>
            <a:off x="4452111" y="1926052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err="1"/>
              <a:t>НайтиПоРеквизиту</a:t>
            </a:r>
            <a:r>
              <a:rPr lang="ru-RU" dirty="0"/>
              <a:t> (…)</a:t>
            </a:r>
          </a:p>
        </p:txBody>
      </p:sp>
      <p:sp>
        <p:nvSpPr>
          <p:cNvPr id="26" name="Блок-схема: типовой процесс 25"/>
          <p:cNvSpPr/>
          <p:nvPr/>
        </p:nvSpPr>
        <p:spPr>
          <a:xfrm>
            <a:off x="4452111" y="4026329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err="1"/>
              <a:t>НайтиПоКоду</a:t>
            </a:r>
            <a:r>
              <a:rPr lang="ru-RU" dirty="0"/>
              <a:t>(1)</a:t>
            </a:r>
          </a:p>
        </p:txBody>
      </p:sp>
      <p:sp>
        <p:nvSpPr>
          <p:cNvPr id="2" name="Стрелка вниз 1"/>
          <p:cNvSpPr/>
          <p:nvPr/>
        </p:nvSpPr>
        <p:spPr>
          <a:xfrm>
            <a:off x="4363423" y="4619448"/>
            <a:ext cx="288032" cy="468886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707904" y="4965810"/>
            <a:ext cx="1008112" cy="1584176"/>
          </a:xfrm>
          <a:prstGeom prst="round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3707904" y="5325850"/>
            <a:ext cx="1008112" cy="504056"/>
          </a:xfrm>
          <a:prstGeom prst="ellipse">
            <a:avLst/>
          </a:prstGeom>
          <a:solidFill>
            <a:schemeClr val="accent2">
              <a:alpha val="31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углом 9"/>
          <p:cNvSpPr/>
          <p:nvPr/>
        </p:nvSpPr>
        <p:spPr>
          <a:xfrm rot="16200000">
            <a:off x="1339996" y="4658124"/>
            <a:ext cx="1116124" cy="1027405"/>
          </a:xfrm>
          <a:prstGeom prst="bentArrow">
            <a:avLst>
              <a:gd name="adj1" fmla="val 15769"/>
              <a:gd name="adj2" fmla="val 25000"/>
              <a:gd name="adj3" fmla="val 23846"/>
              <a:gd name="adj4" fmla="val 43750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2411760" y="5325850"/>
            <a:ext cx="4320480" cy="504056"/>
          </a:xfrm>
          <a:prstGeom prst="round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323528" y="971436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Справочники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80" y="971436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.Номенклатура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6589" y="971436"/>
            <a:ext cx="2730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.</a:t>
            </a:r>
            <a:r>
              <a:rPr lang="ru-RU" b="1" dirty="0" err="1">
                <a:solidFill>
                  <a:srgbClr val="C00000"/>
                </a:solidFill>
              </a:rPr>
              <a:t>НайтиПоКоду</a:t>
            </a:r>
            <a:r>
              <a:rPr lang="ru-RU" b="1" dirty="0">
                <a:solidFill>
                  <a:srgbClr val="C0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3189337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6" presetClass="emph" presetSubtype="0" repeatCount="3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 tmFilter="0, 0; .2, .5; .8, .5; 1, 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5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250"/>
                            </p:stCondLst>
                            <p:childTnLst>
                              <p:par>
                                <p:cTn id="36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750"/>
                            </p:stCondLst>
                            <p:childTnLst>
                              <p:par>
                                <p:cTn id="4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5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250"/>
                            </p:stCondLst>
                            <p:childTnLst>
                              <p:par>
                                <p:cTn id="48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6750"/>
                            </p:stCondLst>
                            <p:childTnLst>
                              <p:par>
                                <p:cTn id="52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5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8250"/>
                            </p:stCondLst>
                            <p:childTnLst>
                              <p:par>
                                <p:cTn id="6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 tmFilter="0, 0; .2, .5; .8, .5; 1, 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5" dur="25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975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0500"/>
                            </p:stCondLst>
                            <p:childTnLst>
                              <p:par>
                                <p:cTn id="7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1250"/>
                            </p:stCondLst>
                            <p:childTnLst>
                              <p:par>
                                <p:cTn id="78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2000"/>
                            </p:stCondLst>
                            <p:childTnLst>
                              <p:par>
                                <p:cTn id="8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2750"/>
                            </p:stCondLst>
                            <p:childTnLst>
                              <p:par>
                                <p:cTn id="8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2" grpId="0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6" grpId="1" animBg="1"/>
      <p:bldP spid="26" grpId="2" animBg="1"/>
      <p:bldP spid="2" grpId="0" animBg="1"/>
      <p:bldP spid="2" grpId="1" animBg="1"/>
      <p:bldP spid="6" grpId="0" animBg="1"/>
      <p:bldP spid="6" grpId="1" animBg="1"/>
      <p:bldP spid="6" grpId="2" animBg="1"/>
      <p:bldP spid="8" grpId="0" animBg="1"/>
      <p:bldP spid="8" grpId="1" animBg="1"/>
      <p:bldP spid="8" grpId="2" animBg="1"/>
      <p:bldP spid="10" grpId="0" animBg="1"/>
      <p:bldP spid="10" grpId="1" animBg="1"/>
      <p:bldP spid="27" grpId="0" animBg="1"/>
      <p:bldP spid="27" grpId="1" animBg="1"/>
      <p:bldP spid="27" grpId="2" animBg="1"/>
      <p:bldP spid="3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Скругленный прямоугольник 10"/>
          <p:cNvSpPr/>
          <p:nvPr/>
        </p:nvSpPr>
        <p:spPr>
          <a:xfrm>
            <a:off x="4716016" y="1277979"/>
            <a:ext cx="4104000" cy="352800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Объект . Номенклатура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79512" y="488404"/>
            <a:ext cx="8784000" cy="548798"/>
          </a:xfrm>
        </p:spPr>
        <p:txBody>
          <a:bodyPr anchor="t">
            <a:normAutofit/>
          </a:bodyPr>
          <a:lstStyle/>
          <a:p>
            <a:r>
              <a:rPr lang="ru-RU" sz="2800" dirty="0"/>
              <a:t>Запись данных справочника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978907"/>
              </p:ext>
            </p:extLst>
          </p:nvPr>
        </p:nvGraphicFramePr>
        <p:xfrm>
          <a:off x="2478270" y="5023311"/>
          <a:ext cx="4128120" cy="152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986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ААА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ВВВ</a:t>
                      </a: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Груши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ССС</a:t>
                      </a: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Слива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2247188"/>
              </p:ext>
            </p:extLst>
          </p:nvPr>
        </p:nvGraphicFramePr>
        <p:xfrm>
          <a:off x="5004048" y="1854044"/>
          <a:ext cx="2820144" cy="21234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668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Свойство </a:t>
                      </a:r>
                      <a:br>
                        <a:rPr lang="ru-RU" dirty="0"/>
                      </a:br>
                      <a:r>
                        <a:rPr lang="ru-RU" dirty="0"/>
                        <a:t>(Реквизит)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ААА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Скругленный прямоугольник 11"/>
          <p:cNvSpPr/>
          <p:nvPr/>
        </p:nvSpPr>
        <p:spPr>
          <a:xfrm>
            <a:off x="323528" y="1268760"/>
            <a:ext cx="3600400" cy="324036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Ссылка. Номенклатура</a:t>
            </a:r>
          </a:p>
        </p:txBody>
      </p:sp>
      <p:graphicFrame>
        <p:nvGraphicFramePr>
          <p:cNvPr id="13" name="Таблица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9278788"/>
              </p:ext>
            </p:extLst>
          </p:nvPr>
        </p:nvGraphicFramePr>
        <p:xfrm>
          <a:off x="611560" y="2132856"/>
          <a:ext cx="2952328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7461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Данные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&lt;</a:t>
                      </a:r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ААА</a:t>
                      </a: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&gt;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591759"/>
                  </a:ext>
                </a:extLst>
              </a:tr>
            </a:tbl>
          </a:graphicData>
        </a:graphic>
      </p:graphicFrame>
      <p:sp>
        <p:nvSpPr>
          <p:cNvPr id="3" name="Блок-схема: типовой процесс 2"/>
          <p:cNvSpPr/>
          <p:nvPr/>
        </p:nvSpPr>
        <p:spPr>
          <a:xfrm>
            <a:off x="1218952" y="3700710"/>
            <a:ext cx="1800200" cy="599189"/>
          </a:xfrm>
          <a:prstGeom prst="flowChartPredefinedProces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Получить Объект ()</a:t>
            </a:r>
          </a:p>
        </p:txBody>
      </p:sp>
      <p:sp>
        <p:nvSpPr>
          <p:cNvPr id="16" name="Блок-схема: типовой процесс 15"/>
          <p:cNvSpPr/>
          <p:nvPr/>
        </p:nvSpPr>
        <p:spPr>
          <a:xfrm>
            <a:off x="6876256" y="4063165"/>
            <a:ext cx="1800200" cy="648072"/>
          </a:xfrm>
          <a:prstGeom prst="flowChartPredefinedProcess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Записать()</a:t>
            </a:r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724953"/>
              </p:ext>
            </p:extLst>
          </p:nvPr>
        </p:nvGraphicFramePr>
        <p:xfrm>
          <a:off x="5004048" y="1854044"/>
          <a:ext cx="2820144" cy="21234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668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Свойство </a:t>
                      </a:r>
                      <a:br>
                        <a:rPr lang="ru-RU" dirty="0"/>
                      </a:br>
                      <a:r>
                        <a:rPr lang="ru-RU" dirty="0"/>
                        <a:t>(Реквизит)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ААА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Бананы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826386"/>
              </p:ext>
            </p:extLst>
          </p:nvPr>
        </p:nvGraphicFramePr>
        <p:xfrm>
          <a:off x="2478270" y="5023311"/>
          <a:ext cx="4128120" cy="152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986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ААА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Бананы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ВВВ</a:t>
                      </a: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Груши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ССС</a:t>
                      </a: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Слива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Стрелка углом 6"/>
          <p:cNvSpPr/>
          <p:nvPr/>
        </p:nvSpPr>
        <p:spPr>
          <a:xfrm rot="10800000">
            <a:off x="6606390" y="4711236"/>
            <a:ext cx="2070066" cy="1094027"/>
          </a:xfrm>
          <a:prstGeom prst="bentArrow">
            <a:avLst>
              <a:gd name="adj1" fmla="val 15553"/>
              <a:gd name="adj2" fmla="val 20706"/>
              <a:gd name="adj3" fmla="val 25000"/>
              <a:gd name="adj4" fmla="val 43750"/>
            </a:avLst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95536" y="899428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Справочники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3688" y="899428"/>
            <a:ext cx="3456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.Номенклатура. </a:t>
            </a:r>
            <a:r>
              <a:rPr lang="ru-RU" b="1" dirty="0" err="1">
                <a:solidFill>
                  <a:srgbClr val="002060"/>
                </a:solidFill>
              </a:rPr>
              <a:t>НайтиПоКоду</a:t>
            </a:r>
            <a:r>
              <a:rPr lang="ru-RU" b="1" dirty="0">
                <a:solidFill>
                  <a:srgbClr val="002060"/>
                </a:solidFill>
              </a:rPr>
              <a:t>(</a:t>
            </a:r>
            <a:r>
              <a:rPr lang="en-US" b="1" dirty="0">
                <a:solidFill>
                  <a:srgbClr val="002060"/>
                </a:solidFill>
              </a:rPr>
              <a:t>1</a:t>
            </a:r>
            <a:r>
              <a:rPr lang="ru-RU" b="1" dirty="0">
                <a:solidFill>
                  <a:srgbClr val="002060"/>
                </a:solidFill>
              </a:rPr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04048" y="899428"/>
            <a:ext cx="2730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.</a:t>
            </a:r>
            <a:r>
              <a:rPr lang="ru-RU" b="1" dirty="0" err="1">
                <a:solidFill>
                  <a:srgbClr val="FF0000"/>
                </a:solidFill>
              </a:rPr>
              <a:t>ПолучитьОбъект</a:t>
            </a:r>
            <a:r>
              <a:rPr lang="ru-RU" b="1" dirty="0">
                <a:solidFill>
                  <a:srgbClr val="FF0000"/>
                </a:solidFill>
              </a:rPr>
              <a:t>()</a:t>
            </a:r>
          </a:p>
        </p:txBody>
      </p:sp>
      <p:sp>
        <p:nvSpPr>
          <p:cNvPr id="2" name="Стрелка вправо 1"/>
          <p:cNvSpPr/>
          <p:nvPr/>
        </p:nvSpPr>
        <p:spPr>
          <a:xfrm>
            <a:off x="3091160" y="3839096"/>
            <a:ext cx="1728192" cy="322415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6323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500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 tmFilter="0, 0; .2, .5; .8, .5; 1, 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9" dur="50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3" grpId="0" animBg="1"/>
      <p:bldP spid="3" grpId="1" animBg="1"/>
      <p:bldP spid="16" grpId="0" animBg="1"/>
      <p:bldP spid="16" grpId="1" animBg="1"/>
      <p:bldP spid="7" grpId="0" animBg="1"/>
      <p:bldP spid="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Документы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Ссылка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списка документов будем читать информацию?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Поиск ссылки на нужный объект базы данных.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Идентификация объекта базы данных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Чтение данных нужного объекта базы данных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27584" y="5296346"/>
            <a:ext cx="2088232" cy="72008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15" name="Стрелка вниз 14"/>
          <p:cNvSpPr/>
          <p:nvPr/>
        </p:nvSpPr>
        <p:spPr>
          <a:xfrm>
            <a:off x="1710580" y="4864298"/>
            <a:ext cx="288032" cy="432048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366765" y="5296346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Запись, изменение и удаление объекта базы данных.</a:t>
            </a:r>
          </a:p>
        </p:txBody>
      </p:sp>
    </p:spTree>
    <p:extLst>
      <p:ext uri="{BB962C8B-B14F-4D97-AF65-F5344CB8AC3E}">
        <p14:creationId xmlns:p14="http://schemas.microsoft.com/office/powerpoint/2010/main" val="4755014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Чтение данных формой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323528" y="1035608"/>
            <a:ext cx="8424936" cy="147290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b="1" u="sng" dirty="0">
                <a:solidFill>
                  <a:schemeClr val="tx1"/>
                </a:solidFill>
              </a:rPr>
              <a:t>На Клиенте</a:t>
            </a:r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322729" y="5100609"/>
            <a:ext cx="8497743" cy="1208711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2692455" y="5617869"/>
            <a:ext cx="2658879" cy="62993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 документа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3528" y="2637724"/>
            <a:ext cx="8424936" cy="21594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b="1" u="sng" dirty="0">
                <a:solidFill>
                  <a:schemeClr val="tx1"/>
                </a:solidFill>
              </a:rPr>
              <a:t>На  Сервере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3298609" y="3077993"/>
            <a:ext cx="2519827" cy="89844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16" name="Прямоугольник 15"/>
          <p:cNvSpPr/>
          <p:nvPr/>
        </p:nvSpPr>
        <p:spPr>
          <a:xfrm>
            <a:off x="3689411" y="3976435"/>
            <a:ext cx="1845429" cy="397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объекта</a:t>
            </a:r>
          </a:p>
        </p:txBody>
      </p:sp>
      <p:sp>
        <p:nvSpPr>
          <p:cNvPr id="17" name="Облако 16"/>
          <p:cNvSpPr/>
          <p:nvPr/>
        </p:nvSpPr>
        <p:spPr>
          <a:xfrm>
            <a:off x="1565943" y="1135561"/>
            <a:ext cx="2556000" cy="936000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Форма 1 документа</a:t>
            </a:r>
          </a:p>
        </p:txBody>
      </p:sp>
      <p:sp>
        <p:nvSpPr>
          <p:cNvPr id="18" name="Прямоугольник 17"/>
          <p:cNvSpPr/>
          <p:nvPr/>
        </p:nvSpPr>
        <p:spPr>
          <a:xfrm>
            <a:off x="2302480" y="1944019"/>
            <a:ext cx="1845429" cy="397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формы</a:t>
            </a:r>
          </a:p>
        </p:txBody>
      </p:sp>
      <p:sp>
        <p:nvSpPr>
          <p:cNvPr id="19" name="Облако 18"/>
          <p:cNvSpPr/>
          <p:nvPr/>
        </p:nvSpPr>
        <p:spPr>
          <a:xfrm>
            <a:off x="475679" y="3107537"/>
            <a:ext cx="2556000" cy="936000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Форма 1 документа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1222605" y="3979125"/>
            <a:ext cx="1845429" cy="397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формы</a:t>
            </a:r>
          </a:p>
        </p:txBody>
      </p:sp>
      <p:sp>
        <p:nvSpPr>
          <p:cNvPr id="21" name="Стрелка вверх 20"/>
          <p:cNvSpPr/>
          <p:nvPr/>
        </p:nvSpPr>
        <p:spPr>
          <a:xfrm>
            <a:off x="1966451" y="1964867"/>
            <a:ext cx="301969" cy="1357453"/>
          </a:xfrm>
          <a:prstGeom prst="up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Стрелка вверх 21"/>
          <p:cNvSpPr/>
          <p:nvPr/>
        </p:nvSpPr>
        <p:spPr>
          <a:xfrm rot="16200000">
            <a:off x="2954036" y="3246470"/>
            <a:ext cx="301969" cy="646082"/>
          </a:xfrm>
          <a:prstGeom prst="up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верх 23"/>
          <p:cNvSpPr/>
          <p:nvPr/>
        </p:nvSpPr>
        <p:spPr>
          <a:xfrm>
            <a:off x="3384970" y="3879967"/>
            <a:ext cx="301969" cy="1676380"/>
          </a:xfrm>
          <a:prstGeom prst="up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7807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5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5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500"/>
                            </p:stCondLst>
                            <p:childTnLst>
                              <p:par>
                                <p:cTn id="54" presetID="10" presetClass="exit" presetSubtype="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6" grpId="0" animBg="1"/>
      <p:bldP spid="16" grpId="1" animBg="1"/>
      <p:bldP spid="17" grpId="0" animBg="1"/>
      <p:bldP spid="18" grpId="0" animBg="1"/>
      <p:bldP spid="19" grpId="0" animBg="1"/>
      <p:bldP spid="20" grpId="0" animBg="1"/>
      <p:bldP spid="21" grpId="0" animBg="1"/>
      <p:bldP spid="21" grpId="1" animBg="1"/>
      <p:bldP spid="22" grpId="0" animBg="1"/>
      <p:bldP spid="22" grpId="1" animBg="1"/>
      <p:bldP spid="24" grpId="0" animBg="1"/>
      <p:bldP spid="24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Запись из формы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323528" y="1035608"/>
            <a:ext cx="8424936" cy="147290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b="1" u="sng" dirty="0">
                <a:solidFill>
                  <a:schemeClr val="tx1"/>
                </a:solidFill>
              </a:rPr>
              <a:t>На Клиенте</a:t>
            </a:r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322729" y="5100609"/>
            <a:ext cx="8497743" cy="1208711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2692455" y="5617869"/>
            <a:ext cx="2658879" cy="62993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 документа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3528" y="2637724"/>
            <a:ext cx="8424936" cy="21594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b="1" u="sng" dirty="0">
                <a:solidFill>
                  <a:schemeClr val="tx1"/>
                </a:solidFill>
              </a:rPr>
              <a:t>На  Сервере</a:t>
            </a:r>
          </a:p>
        </p:txBody>
      </p:sp>
      <p:sp>
        <p:nvSpPr>
          <p:cNvPr id="8" name="Облако 7"/>
          <p:cNvSpPr/>
          <p:nvPr/>
        </p:nvSpPr>
        <p:spPr>
          <a:xfrm>
            <a:off x="6053644" y="1151166"/>
            <a:ext cx="2556000" cy="936000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Форма 2 документа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3298609" y="3077993"/>
            <a:ext cx="2519827" cy="89844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11" name="Облако 10"/>
          <p:cNvSpPr/>
          <p:nvPr/>
        </p:nvSpPr>
        <p:spPr>
          <a:xfrm>
            <a:off x="6012024" y="3087643"/>
            <a:ext cx="2556000" cy="936000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Форма 2 документа</a:t>
            </a:r>
          </a:p>
        </p:txBody>
      </p:sp>
      <p:sp>
        <p:nvSpPr>
          <p:cNvPr id="12" name="Стрелка вверх 11"/>
          <p:cNvSpPr/>
          <p:nvPr/>
        </p:nvSpPr>
        <p:spPr>
          <a:xfrm rot="10800000">
            <a:off x="6284219" y="2000680"/>
            <a:ext cx="301969" cy="1357453"/>
          </a:xfrm>
          <a:prstGeom prst="up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6543393" y="4070862"/>
            <a:ext cx="1845429" cy="397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формы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6706580" y="2006853"/>
            <a:ext cx="1845429" cy="397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формы</a:t>
            </a:r>
          </a:p>
        </p:txBody>
      </p:sp>
      <p:sp>
        <p:nvSpPr>
          <p:cNvPr id="16" name="Прямоугольник 15"/>
          <p:cNvSpPr/>
          <p:nvPr/>
        </p:nvSpPr>
        <p:spPr>
          <a:xfrm>
            <a:off x="3689411" y="3976435"/>
            <a:ext cx="1845429" cy="397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объекта</a:t>
            </a:r>
          </a:p>
        </p:txBody>
      </p:sp>
      <p:sp>
        <p:nvSpPr>
          <p:cNvPr id="17" name="Облако 16"/>
          <p:cNvSpPr/>
          <p:nvPr/>
        </p:nvSpPr>
        <p:spPr>
          <a:xfrm>
            <a:off x="1565943" y="1135561"/>
            <a:ext cx="2556000" cy="936000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Форма 1 документа</a:t>
            </a:r>
          </a:p>
        </p:txBody>
      </p:sp>
      <p:sp>
        <p:nvSpPr>
          <p:cNvPr id="18" name="Прямоугольник 17"/>
          <p:cNvSpPr/>
          <p:nvPr/>
        </p:nvSpPr>
        <p:spPr>
          <a:xfrm>
            <a:off x="2302480" y="1944019"/>
            <a:ext cx="1845429" cy="397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формы</a:t>
            </a:r>
          </a:p>
        </p:txBody>
      </p:sp>
      <p:sp>
        <p:nvSpPr>
          <p:cNvPr id="19" name="Облако 18"/>
          <p:cNvSpPr/>
          <p:nvPr/>
        </p:nvSpPr>
        <p:spPr>
          <a:xfrm>
            <a:off x="475679" y="3107537"/>
            <a:ext cx="2556000" cy="936000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Форма 1 документа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1222605" y="3979125"/>
            <a:ext cx="1845429" cy="397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формы</a:t>
            </a:r>
          </a:p>
        </p:txBody>
      </p:sp>
      <p:sp>
        <p:nvSpPr>
          <p:cNvPr id="21" name="Стрелка вверх 20"/>
          <p:cNvSpPr/>
          <p:nvPr/>
        </p:nvSpPr>
        <p:spPr>
          <a:xfrm rot="10800000">
            <a:off x="1966451" y="1964867"/>
            <a:ext cx="301969" cy="1357453"/>
          </a:xfrm>
          <a:prstGeom prst="up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Стрелка вверх 21"/>
          <p:cNvSpPr/>
          <p:nvPr/>
        </p:nvSpPr>
        <p:spPr>
          <a:xfrm rot="5400000">
            <a:off x="2954036" y="3246470"/>
            <a:ext cx="301969" cy="646082"/>
          </a:xfrm>
          <a:prstGeom prst="up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верх 22"/>
          <p:cNvSpPr/>
          <p:nvPr/>
        </p:nvSpPr>
        <p:spPr>
          <a:xfrm rot="16200000">
            <a:off x="5729179" y="3221360"/>
            <a:ext cx="301969" cy="634516"/>
          </a:xfrm>
          <a:prstGeom prst="up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верх 23"/>
          <p:cNvSpPr/>
          <p:nvPr/>
        </p:nvSpPr>
        <p:spPr>
          <a:xfrm rot="10800000">
            <a:off x="3384970" y="3879967"/>
            <a:ext cx="301969" cy="1676380"/>
          </a:xfrm>
          <a:prstGeom prst="up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46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75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Запись из формы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323528" y="1035608"/>
            <a:ext cx="8424936" cy="147290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b="1" u="sng" dirty="0">
                <a:solidFill>
                  <a:schemeClr val="tx1"/>
                </a:solidFill>
              </a:rPr>
              <a:t>На Клиенте</a:t>
            </a:r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322729" y="5100609"/>
            <a:ext cx="8497743" cy="1208711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2692455" y="5617869"/>
            <a:ext cx="2658879" cy="62993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 документа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3528" y="2637724"/>
            <a:ext cx="8424936" cy="21594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b="1" u="sng" dirty="0">
                <a:solidFill>
                  <a:schemeClr val="tx1"/>
                </a:solidFill>
              </a:rPr>
              <a:t>На  Сервере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3298609" y="3077993"/>
            <a:ext cx="2519827" cy="89844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16" name="Прямоугольник 15"/>
          <p:cNvSpPr/>
          <p:nvPr/>
        </p:nvSpPr>
        <p:spPr>
          <a:xfrm>
            <a:off x="3689411" y="3976435"/>
            <a:ext cx="1845429" cy="397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объекта</a:t>
            </a:r>
          </a:p>
        </p:txBody>
      </p:sp>
      <p:sp>
        <p:nvSpPr>
          <p:cNvPr id="17" name="Облако 16"/>
          <p:cNvSpPr/>
          <p:nvPr/>
        </p:nvSpPr>
        <p:spPr>
          <a:xfrm>
            <a:off x="1565943" y="1135561"/>
            <a:ext cx="2556000" cy="936000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Форма 1 документа</a:t>
            </a:r>
          </a:p>
        </p:txBody>
      </p:sp>
      <p:sp>
        <p:nvSpPr>
          <p:cNvPr id="18" name="Прямоугольник 17"/>
          <p:cNvSpPr/>
          <p:nvPr/>
        </p:nvSpPr>
        <p:spPr>
          <a:xfrm>
            <a:off x="2302480" y="1944019"/>
            <a:ext cx="1845429" cy="397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формы</a:t>
            </a:r>
          </a:p>
        </p:txBody>
      </p:sp>
      <p:sp>
        <p:nvSpPr>
          <p:cNvPr id="19" name="Облако 18"/>
          <p:cNvSpPr/>
          <p:nvPr/>
        </p:nvSpPr>
        <p:spPr>
          <a:xfrm>
            <a:off x="475679" y="3107537"/>
            <a:ext cx="2556000" cy="936000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Форма 1 документа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1222605" y="3979125"/>
            <a:ext cx="1845429" cy="397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формы</a:t>
            </a:r>
          </a:p>
        </p:txBody>
      </p:sp>
      <p:sp>
        <p:nvSpPr>
          <p:cNvPr id="21" name="Стрелка вверх 20"/>
          <p:cNvSpPr/>
          <p:nvPr/>
        </p:nvSpPr>
        <p:spPr>
          <a:xfrm rot="10800000">
            <a:off x="1966451" y="1964867"/>
            <a:ext cx="301969" cy="1357453"/>
          </a:xfrm>
          <a:prstGeom prst="up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Стрелка вверх 21"/>
          <p:cNvSpPr/>
          <p:nvPr/>
        </p:nvSpPr>
        <p:spPr>
          <a:xfrm rot="5400000">
            <a:off x="2954036" y="3246470"/>
            <a:ext cx="301969" cy="646082"/>
          </a:xfrm>
          <a:prstGeom prst="up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верх 23"/>
          <p:cNvSpPr/>
          <p:nvPr/>
        </p:nvSpPr>
        <p:spPr>
          <a:xfrm rot="10800000">
            <a:off x="3384970" y="3879967"/>
            <a:ext cx="301969" cy="1676380"/>
          </a:xfrm>
          <a:prstGeom prst="up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Выноска 1 6"/>
          <p:cNvSpPr/>
          <p:nvPr/>
        </p:nvSpPr>
        <p:spPr>
          <a:xfrm>
            <a:off x="6228184" y="2708920"/>
            <a:ext cx="2304256" cy="1872208"/>
          </a:xfrm>
          <a:prstGeom prst="borderCallout1">
            <a:avLst>
              <a:gd name="adj1" fmla="val 47001"/>
              <a:gd name="adj2" fmla="val -552"/>
              <a:gd name="adj3" fmla="val 68452"/>
              <a:gd name="adj4" fmla="val -29594"/>
            </a:avLst>
          </a:prstGeom>
          <a:ln>
            <a:headEnd type="none"/>
            <a:tailEnd type="triangle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Здесь, вместе с записью документа, будем изменять данные справочника «Сотрудники»</a:t>
            </a:r>
          </a:p>
        </p:txBody>
      </p:sp>
    </p:spTree>
    <p:extLst>
      <p:ext uri="{BB962C8B-B14F-4D97-AF65-F5344CB8AC3E}">
        <p14:creationId xmlns:p14="http://schemas.microsoft.com/office/powerpoint/2010/main" val="4669423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События записи документ объекта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Три режима записи: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Запись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Проведение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Отмена проведения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37438181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5862" y="1484784"/>
            <a:ext cx="8784000" cy="4752527"/>
          </a:xfrm>
        </p:spPr>
        <p:txBody>
          <a:bodyPr/>
          <a:lstStyle/>
          <a:p>
            <a:r>
              <a:rPr lang="ru-RU" dirty="0"/>
              <a:t>Начало транзакции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Перед записью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При записи</a:t>
            </a:r>
          </a:p>
          <a:p>
            <a:r>
              <a:rPr lang="ru-RU" dirty="0"/>
              <a:t>Окончание транзакции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864096"/>
          </a:xfrm>
        </p:spPr>
        <p:txBody>
          <a:bodyPr/>
          <a:lstStyle/>
          <a:p>
            <a:r>
              <a:rPr lang="ru-RU" dirty="0"/>
              <a:t>Последовательность событий записи документа</a:t>
            </a:r>
          </a:p>
        </p:txBody>
      </p:sp>
    </p:spTree>
    <p:extLst>
      <p:ext uri="{BB962C8B-B14F-4D97-AF65-F5344CB8AC3E}">
        <p14:creationId xmlns:p14="http://schemas.microsoft.com/office/powerpoint/2010/main" val="11969383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События записи документа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3999" cy="11521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1024154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402499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837125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&lt;00000&gt;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4693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1) ПЕРЕД ЗАПИСЬЮ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915816" y="2636912"/>
            <a:ext cx="2291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Начало транзакции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985" y="3261240"/>
            <a:ext cx="6257925" cy="352425"/>
          </a:xfrm>
          <a:prstGeom prst="rect">
            <a:avLst/>
          </a:prstGeom>
        </p:spPr>
      </p:pic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1024154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402499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837125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384812"/>
              </p:ext>
            </p:extLst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&lt;00000&gt;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9037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/>
      <p:bldP spid="2" grpId="1"/>
      <p:bldP spid="2" grpId="2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2) ПРИ ЗАПИСИ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sp>
        <p:nvSpPr>
          <p:cNvPr id="3" name="Развернутая стрелка 2"/>
          <p:cNvSpPr/>
          <p:nvPr/>
        </p:nvSpPr>
        <p:spPr>
          <a:xfrm rot="5400000">
            <a:off x="6520031" y="3681028"/>
            <a:ext cx="3312368" cy="504056"/>
          </a:xfrm>
          <a:prstGeom prst="utur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3568" y="5684395"/>
            <a:ext cx="8136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u="sng" dirty="0"/>
              <a:t>Примечание:</a:t>
            </a:r>
            <a:r>
              <a:rPr lang="ru-RU" dirty="0"/>
              <a:t> </a:t>
            </a:r>
            <a:r>
              <a:rPr lang="ru-RU" sz="1400" i="1" dirty="0">
                <a:solidFill>
                  <a:srgbClr val="FF0000"/>
                </a:solidFill>
              </a:rPr>
              <a:t>в момент первой записи объекта базы данных для него генерируется новая ссылка (потом </a:t>
            </a:r>
            <a:r>
              <a:rPr lang="ru-RU" sz="1400" b="1" i="1" dirty="0">
                <a:solidFill>
                  <a:srgbClr val="0070C0"/>
                </a:solidFill>
              </a:rPr>
              <a:t>нельзя</a:t>
            </a:r>
            <a:r>
              <a:rPr lang="ru-RU" sz="1400" i="1" dirty="0">
                <a:solidFill>
                  <a:srgbClr val="FF0000"/>
                </a:solidFill>
              </a:rPr>
              <a:t> исправить) и новый номер (потом можно исправить).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895" y="3341296"/>
            <a:ext cx="2895600" cy="276225"/>
          </a:xfrm>
          <a:prstGeom prst="rect">
            <a:avLst/>
          </a:prstGeom>
        </p:spPr>
      </p:pic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6886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3" grpId="1" animBg="1"/>
      <p:bldP spid="3" grpId="2" animBg="1"/>
      <p:bldP spid="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2) ПРИ ЗАПИСИ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915816" y="2636912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Фиксация транзакции</a:t>
            </a:r>
          </a:p>
        </p:txBody>
      </p:sp>
    </p:spTree>
    <p:extLst>
      <p:ext uri="{BB962C8B-B14F-4D97-AF65-F5344CB8AC3E}">
        <p14:creationId xmlns:p14="http://schemas.microsoft.com/office/powerpoint/2010/main" val="1197135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/>
      <p:bldP spid="12" grpId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5862" y="1484784"/>
            <a:ext cx="8784000" cy="4752527"/>
          </a:xfrm>
        </p:spPr>
        <p:txBody>
          <a:bodyPr/>
          <a:lstStyle/>
          <a:p>
            <a:r>
              <a:rPr lang="ru-RU" dirty="0"/>
              <a:t>Начало транзакции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Перед записью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При записи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Обработка проведения</a:t>
            </a:r>
          </a:p>
          <a:p>
            <a:r>
              <a:rPr lang="ru-RU" dirty="0"/>
              <a:t>Окончание транзакции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864096"/>
          </a:xfrm>
        </p:spPr>
        <p:txBody>
          <a:bodyPr/>
          <a:lstStyle/>
          <a:p>
            <a:r>
              <a:rPr lang="ru-RU" dirty="0"/>
              <a:t>Последовательность событий проведение документа</a:t>
            </a:r>
          </a:p>
        </p:txBody>
      </p:sp>
    </p:spTree>
    <p:extLst>
      <p:ext uri="{BB962C8B-B14F-4D97-AF65-F5344CB8AC3E}">
        <p14:creationId xmlns:p14="http://schemas.microsoft.com/office/powerpoint/2010/main" val="3327099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События записи документа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3999" cy="11521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535625"/>
              </p:ext>
            </p:extLst>
          </p:nvPr>
        </p:nvGraphicFramePr>
        <p:xfrm>
          <a:off x="1024154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1954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0780630"/>
              </p:ext>
            </p:extLst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2872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1) ПЕРЕД ЗАПИСЬЮ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915816" y="2636912"/>
            <a:ext cx="2291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Начало транзакции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985" y="3261240"/>
            <a:ext cx="6257925" cy="352425"/>
          </a:xfrm>
          <a:prstGeom prst="rect">
            <a:avLst/>
          </a:prstGeom>
        </p:spPr>
      </p:pic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8882708"/>
              </p:ext>
            </p:extLst>
          </p:nvPr>
        </p:nvGraphicFramePr>
        <p:xfrm>
          <a:off x="1024154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1954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6333902"/>
              </p:ext>
            </p:extLst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45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/>
      <p:bldP spid="2" grpId="1"/>
      <p:bldP spid="2" grpId="2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2) ПРИ ЗАПИСИ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sp>
        <p:nvSpPr>
          <p:cNvPr id="3" name="Развернутая стрелка 2"/>
          <p:cNvSpPr/>
          <p:nvPr/>
        </p:nvSpPr>
        <p:spPr>
          <a:xfrm rot="5400000">
            <a:off x="6520031" y="3681028"/>
            <a:ext cx="3312368" cy="504056"/>
          </a:xfrm>
          <a:prstGeom prst="utur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3568" y="5684395"/>
            <a:ext cx="8136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u="sng" dirty="0"/>
              <a:t>Примечание:</a:t>
            </a:r>
            <a:r>
              <a:rPr lang="ru-RU" dirty="0"/>
              <a:t> </a:t>
            </a:r>
            <a:r>
              <a:rPr lang="ru-RU" sz="1400" i="1" dirty="0">
                <a:solidFill>
                  <a:srgbClr val="FF0000"/>
                </a:solidFill>
              </a:rPr>
              <a:t>в момент первой записи объекта базы данных для него генерируется новая ссылка (потом </a:t>
            </a:r>
            <a:r>
              <a:rPr lang="ru-RU" sz="1400" b="1" i="1" dirty="0">
                <a:solidFill>
                  <a:srgbClr val="0070C0"/>
                </a:solidFill>
              </a:rPr>
              <a:t>нельзя</a:t>
            </a:r>
            <a:r>
              <a:rPr lang="ru-RU" sz="1400" i="1" dirty="0">
                <a:solidFill>
                  <a:srgbClr val="FF0000"/>
                </a:solidFill>
              </a:rPr>
              <a:t> исправить) и новый номер (потом можно исправить).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895" y="3341296"/>
            <a:ext cx="2895600" cy="276225"/>
          </a:xfrm>
          <a:prstGeom prst="rect">
            <a:avLst/>
          </a:prstGeom>
        </p:spPr>
      </p:pic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568496"/>
              </p:ext>
            </p:extLst>
          </p:nvPr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878649"/>
              </p:ext>
            </p:extLst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6968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3" grpId="1" animBg="1"/>
      <p:bldP spid="3" grpId="2" animBg="1"/>
      <p:bldP spid="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3) Обработка проведения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260" y="3283199"/>
            <a:ext cx="5667375" cy="247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5683" y="5704448"/>
            <a:ext cx="7848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u="sng" dirty="0"/>
              <a:t>Примечание:</a:t>
            </a:r>
            <a:r>
              <a:rPr lang="ru-RU" dirty="0"/>
              <a:t> </a:t>
            </a:r>
            <a:r>
              <a:rPr lang="ru-RU" sz="1400" i="1" dirty="0">
                <a:solidFill>
                  <a:srgbClr val="FF0000"/>
                </a:solidFill>
              </a:rPr>
              <a:t>Срабатывает </a:t>
            </a:r>
            <a:r>
              <a:rPr lang="ru-RU" sz="1400" b="1" i="1" dirty="0">
                <a:solidFill>
                  <a:srgbClr val="0070C0"/>
                </a:solidFill>
              </a:rPr>
              <a:t>только</a:t>
            </a:r>
            <a:r>
              <a:rPr lang="ru-RU" sz="1400" i="1" dirty="0">
                <a:solidFill>
                  <a:srgbClr val="FF0000"/>
                </a:solidFill>
              </a:rPr>
              <a:t> в случае записи документа в режиме </a:t>
            </a:r>
            <a:r>
              <a:rPr lang="ru-RU" sz="1400" b="1" i="1" dirty="0">
                <a:solidFill>
                  <a:srgbClr val="0070C0"/>
                </a:solidFill>
              </a:rPr>
              <a:t>проведения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7882476"/>
              </p:ext>
            </p:extLst>
          </p:nvPr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323453"/>
              </p:ext>
            </p:extLst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</a:t>
                      </a:r>
                      <a:r>
                        <a:rPr lang="en-US" dirty="0"/>
                        <a:t>3</a:t>
                      </a:r>
                      <a:endParaRPr lang="ru-RU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6441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3) Обработка проведения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/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</a:t>
                      </a:r>
                      <a:r>
                        <a:rPr lang="en-US" dirty="0"/>
                        <a:t>3</a:t>
                      </a:r>
                      <a:endParaRPr lang="ru-RU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915816" y="2636912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Фиксация транзакции</a:t>
            </a:r>
          </a:p>
        </p:txBody>
      </p:sp>
    </p:spTree>
    <p:extLst>
      <p:ext uri="{BB962C8B-B14F-4D97-AF65-F5344CB8AC3E}">
        <p14:creationId xmlns:p14="http://schemas.microsoft.com/office/powerpoint/2010/main" val="109788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1" grpId="0"/>
      <p:bldP spid="11" grpId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5862" y="1484784"/>
            <a:ext cx="8784000" cy="4752527"/>
          </a:xfrm>
        </p:spPr>
        <p:txBody>
          <a:bodyPr/>
          <a:lstStyle/>
          <a:p>
            <a:r>
              <a:rPr lang="ru-RU" dirty="0"/>
              <a:t>Начало транзакции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Перед записью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Обработка удаления проведениям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При записи</a:t>
            </a:r>
          </a:p>
          <a:p>
            <a:r>
              <a:rPr lang="ru-RU" dirty="0"/>
              <a:t>Окончание транзакции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864096"/>
          </a:xfrm>
        </p:spPr>
        <p:txBody>
          <a:bodyPr/>
          <a:lstStyle/>
          <a:p>
            <a:r>
              <a:rPr lang="ru-RU" dirty="0"/>
              <a:t>Последовательность событий отмена проведения документа</a:t>
            </a:r>
          </a:p>
        </p:txBody>
      </p:sp>
    </p:spTree>
    <p:extLst>
      <p:ext uri="{BB962C8B-B14F-4D97-AF65-F5344CB8AC3E}">
        <p14:creationId xmlns:p14="http://schemas.microsoft.com/office/powerpoint/2010/main" val="3132462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События записи документа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3999" cy="11521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6408217"/>
              </p:ext>
            </p:extLst>
          </p:nvPr>
        </p:nvGraphicFramePr>
        <p:xfrm>
          <a:off x="1024154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1954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1623177"/>
              </p:ext>
            </p:extLst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3768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1) ПЕРЕД ЗАПИСЬЮ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915816" y="2636912"/>
            <a:ext cx="2291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Начало транзакции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985" y="3261240"/>
            <a:ext cx="6257925" cy="352425"/>
          </a:xfrm>
          <a:prstGeom prst="rect">
            <a:avLst/>
          </a:prstGeom>
        </p:spPr>
      </p:pic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0581861"/>
              </p:ext>
            </p:extLst>
          </p:nvPr>
        </p:nvGraphicFramePr>
        <p:xfrm>
          <a:off x="1024154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91552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282808"/>
              </p:ext>
            </p:extLst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5876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/>
      <p:bldP spid="2" grpId="1"/>
      <p:bldP spid="2" grpId="2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3) Обработка удаления проведения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683" y="5704448"/>
            <a:ext cx="7848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u="sng" dirty="0"/>
              <a:t>Примечание:</a:t>
            </a:r>
            <a:r>
              <a:rPr lang="ru-RU" dirty="0"/>
              <a:t> </a:t>
            </a:r>
            <a:r>
              <a:rPr lang="ru-RU" sz="1400" i="1" dirty="0">
                <a:solidFill>
                  <a:srgbClr val="FF0000"/>
                </a:solidFill>
              </a:rPr>
              <a:t>Срабатывает </a:t>
            </a:r>
            <a:r>
              <a:rPr lang="ru-RU" sz="1400" b="1" i="1" dirty="0">
                <a:solidFill>
                  <a:srgbClr val="0070C0"/>
                </a:solidFill>
              </a:rPr>
              <a:t>только</a:t>
            </a:r>
            <a:r>
              <a:rPr lang="ru-RU" sz="1400" i="1" dirty="0">
                <a:solidFill>
                  <a:srgbClr val="FF0000"/>
                </a:solidFill>
              </a:rPr>
              <a:t> в случае записи документа в режиме </a:t>
            </a:r>
            <a:r>
              <a:rPr lang="ru-RU" sz="1400" b="1" i="1" dirty="0">
                <a:solidFill>
                  <a:srgbClr val="0070C0"/>
                </a:solidFill>
              </a:rPr>
              <a:t>отмена</a:t>
            </a:r>
            <a:r>
              <a:rPr lang="ru-RU" sz="1400" i="1" dirty="0">
                <a:solidFill>
                  <a:srgbClr val="FF0000"/>
                </a:solidFill>
              </a:rPr>
              <a:t> </a:t>
            </a:r>
            <a:r>
              <a:rPr lang="ru-RU" sz="1400" b="1" i="1" dirty="0">
                <a:solidFill>
                  <a:srgbClr val="0070C0"/>
                </a:solidFill>
              </a:rPr>
              <a:t>проведения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0619633"/>
              </p:ext>
            </p:extLst>
          </p:nvPr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3499264"/>
              </p:ext>
            </p:extLst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  <p:pic>
        <p:nvPicPr>
          <p:cNvPr id="13" name="Рисунок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3284984"/>
            <a:ext cx="4657725" cy="21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95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2) ПРИ ЗАПИСИ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sp>
        <p:nvSpPr>
          <p:cNvPr id="3" name="Развернутая стрелка 2"/>
          <p:cNvSpPr/>
          <p:nvPr/>
        </p:nvSpPr>
        <p:spPr>
          <a:xfrm rot="5400000">
            <a:off x="6520031" y="3681028"/>
            <a:ext cx="3312368" cy="504056"/>
          </a:xfrm>
          <a:prstGeom prst="utur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3568" y="5684395"/>
            <a:ext cx="8136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u="sng" dirty="0"/>
              <a:t>Примечание:</a:t>
            </a:r>
            <a:r>
              <a:rPr lang="ru-RU" dirty="0"/>
              <a:t> </a:t>
            </a:r>
            <a:r>
              <a:rPr lang="ru-RU" sz="1400" i="1" dirty="0">
                <a:solidFill>
                  <a:srgbClr val="FF0000"/>
                </a:solidFill>
              </a:rPr>
              <a:t>в момент первой записи объекта базы данных для него генерируется новая ссылка (потом </a:t>
            </a:r>
            <a:r>
              <a:rPr lang="ru-RU" sz="1400" b="1" i="1" dirty="0">
                <a:solidFill>
                  <a:srgbClr val="0070C0"/>
                </a:solidFill>
              </a:rPr>
              <a:t>нельзя</a:t>
            </a:r>
            <a:r>
              <a:rPr lang="ru-RU" sz="1400" i="1" dirty="0">
                <a:solidFill>
                  <a:srgbClr val="FF0000"/>
                </a:solidFill>
              </a:rPr>
              <a:t> исправить) и новый номер (потом можно исправить).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895" y="3341296"/>
            <a:ext cx="2895600" cy="276225"/>
          </a:xfrm>
          <a:prstGeom prst="rect">
            <a:avLst/>
          </a:prstGeom>
        </p:spPr>
      </p:pic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1668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3" grpId="1" animBg="1"/>
      <p:bldP spid="3" grpId="2" animBg="1"/>
      <p:bldP spid="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2) ПРИ ЗАПИСИ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915816" y="2636912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Фиксация транзакции</a:t>
            </a:r>
          </a:p>
        </p:txBody>
      </p:sp>
    </p:spTree>
    <p:extLst>
      <p:ext uri="{BB962C8B-B14F-4D97-AF65-F5344CB8AC3E}">
        <p14:creationId xmlns:p14="http://schemas.microsoft.com/office/powerpoint/2010/main" val="174645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/>
      <p:bldP spid="12" grpId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Текст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записи документа сообщать режим записи и дату записи документа.</a:t>
            </a:r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476" y="2348880"/>
            <a:ext cx="6610350" cy="366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8967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79" y="1662217"/>
            <a:ext cx="7620000" cy="2057400"/>
          </a:xfrm>
          <a:prstGeom prst="rect">
            <a:avLst/>
          </a:prstGeom>
        </p:spPr>
      </p:pic>
      <p:sp>
        <p:nvSpPr>
          <p:cNvPr id="7170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020819"/>
          </a:xfrm>
        </p:spPr>
        <p:txBody>
          <a:bodyPr>
            <a:noAutofit/>
          </a:bodyPr>
          <a:lstStyle/>
          <a:p>
            <a:r>
              <a:rPr lang="ru-RU" sz="3600" dirty="0"/>
              <a:t>Предопределенные элементы</a:t>
            </a:r>
            <a:r>
              <a:rPr lang="en-US" sz="3600" dirty="0"/>
              <a:t> </a:t>
            </a:r>
            <a:r>
              <a:rPr lang="ru-RU" sz="3600" dirty="0"/>
              <a:t>базы данных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09879" y="3789040"/>
          <a:ext cx="8136904" cy="24988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08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6157">
                <a:tc>
                  <a:txBody>
                    <a:bodyPr/>
                    <a:lstStyle/>
                    <a:p>
                      <a:r>
                        <a:rPr lang="ru-RU" sz="1800" dirty="0"/>
                        <a:t>Имя</a:t>
                      </a:r>
                    </a:p>
                    <a:p>
                      <a:r>
                        <a:rPr lang="ru-RU" sz="1800" dirty="0"/>
                        <a:t>Предопределенных</a:t>
                      </a:r>
                    </a:p>
                    <a:p>
                      <a:r>
                        <a:rPr lang="ru-RU" sz="1800" dirty="0"/>
                        <a:t>Данных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Предопределенный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Код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Наименование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…</a:t>
                      </a:r>
                    </a:p>
                  </a:txBody>
                  <a:tcPr marL="91439" marR="91439" marT="45732" marB="45732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108">
                <a:tc>
                  <a:txBody>
                    <a:bodyPr/>
                    <a:lstStyle/>
                    <a:p>
                      <a:r>
                        <a:rPr lang="ru-RU" sz="1600" b="0" dirty="0">
                          <a:solidFill>
                            <a:srgbClr val="002060"/>
                          </a:solidFill>
                        </a:rPr>
                        <a:t>Принятые</a:t>
                      </a:r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Истина</a:t>
                      </a:r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01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Работающие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108"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Неприкасаемые</a:t>
                      </a:r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Истина</a:t>
                      </a:r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02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Руководители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108"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Ложь</a:t>
                      </a:r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03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Уволенные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108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4" name="Прямая со стрелкой 3"/>
          <p:cNvCxnSpPr/>
          <p:nvPr/>
        </p:nvCxnSpPr>
        <p:spPr>
          <a:xfrm>
            <a:off x="1331640" y="2996952"/>
            <a:ext cx="0" cy="722665"/>
          </a:xfrm>
          <a:prstGeom prst="straightConnector1">
            <a:avLst/>
          </a:prstGeom>
          <a:ln w="12700">
            <a:solidFill>
              <a:srgbClr val="FF0000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8838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185862" y="1268680"/>
            <a:ext cx="3788683" cy="4968631"/>
          </a:xfrm>
        </p:spPr>
        <p:txBody>
          <a:bodyPr>
            <a:normAutofit/>
          </a:bodyPr>
          <a:lstStyle/>
          <a:p>
            <a:r>
              <a:rPr lang="ru-RU" sz="2400" dirty="0"/>
              <a:t>При увольнении сотрудника, проверить ответственных на складах и, в случае, если ответственный и увольняемый одно лицо, то очищать реквизит «Ответственный» у склада.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920" y="2132856"/>
            <a:ext cx="5117942" cy="2952932"/>
          </a:xfrm>
          <a:prstGeom prst="rect">
            <a:avLst/>
          </a:prstGeom>
        </p:spPr>
      </p:pic>
      <p:sp>
        <p:nvSpPr>
          <p:cNvPr id="6" name="Скругленный прямоугольник 5"/>
          <p:cNvSpPr/>
          <p:nvPr/>
        </p:nvSpPr>
        <p:spPr>
          <a:xfrm>
            <a:off x="5940152" y="2636912"/>
            <a:ext cx="2376264" cy="2304256"/>
          </a:xfrm>
          <a:prstGeom prst="roundRect">
            <a:avLst/>
          </a:prstGeom>
          <a:solidFill>
            <a:srgbClr val="C00000">
              <a:alpha val="18000"/>
            </a:srgbClr>
          </a:solidFill>
          <a:ln w="3175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6208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5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1" dur="5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2" dur="5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" dur="5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0"/>
                            </p:stCondLst>
                            <p:childTnLst>
                              <p:par>
                                <p:cTn id="15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 anchor="t">
            <a:normAutofit fontScale="90000"/>
          </a:bodyPr>
          <a:lstStyle/>
          <a:p>
            <a:r>
              <a:rPr lang="ru-RU" sz="2800" dirty="0"/>
              <a:t>Чтение данных</a:t>
            </a:r>
            <a:r>
              <a:rPr lang="en-US" sz="2800" dirty="0"/>
              <a:t> </a:t>
            </a:r>
            <a:r>
              <a:rPr lang="ru-RU" sz="2800" i="1" dirty="0">
                <a:solidFill>
                  <a:srgbClr val="0070C0"/>
                </a:solidFill>
              </a:rPr>
              <a:t>нескольких </a:t>
            </a:r>
            <a:r>
              <a:rPr lang="ru-RU" sz="2800" dirty="0"/>
              <a:t>объектов данных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2502127" y="5015722"/>
          <a:ext cx="4128120" cy="152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986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ААА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ВВВ</a:t>
                      </a: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Груши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ССС</a:t>
                      </a: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Слива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Скругленный прямоугольник 17"/>
          <p:cNvSpPr/>
          <p:nvPr/>
        </p:nvSpPr>
        <p:spPr>
          <a:xfrm>
            <a:off x="323528" y="1196752"/>
            <a:ext cx="3600000" cy="3708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Выборка. Номенклатура</a:t>
            </a:r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657705" y="2031042"/>
          <a:ext cx="2820144" cy="21234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68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Свойство </a:t>
                      </a:r>
                      <a:br>
                        <a:rPr lang="ru-RU" dirty="0"/>
                      </a:br>
                      <a:r>
                        <a:rPr lang="ru-RU" dirty="0"/>
                        <a:t>(Реквизит)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Скругленный прямоугольник 21"/>
          <p:cNvSpPr/>
          <p:nvPr/>
        </p:nvSpPr>
        <p:spPr>
          <a:xfrm>
            <a:off x="4211960" y="1205970"/>
            <a:ext cx="4608056" cy="370800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Менеджер. Номенклатура</a:t>
            </a:r>
          </a:p>
        </p:txBody>
      </p:sp>
      <p:sp>
        <p:nvSpPr>
          <p:cNvPr id="23" name="Блок-схема: типовой процесс 22"/>
          <p:cNvSpPr/>
          <p:nvPr/>
        </p:nvSpPr>
        <p:spPr>
          <a:xfrm>
            <a:off x="4427984" y="3245008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…</a:t>
            </a:r>
          </a:p>
        </p:txBody>
      </p:sp>
      <p:sp>
        <p:nvSpPr>
          <p:cNvPr id="24" name="Блок-схема: типовой процесс 23"/>
          <p:cNvSpPr/>
          <p:nvPr/>
        </p:nvSpPr>
        <p:spPr>
          <a:xfrm>
            <a:off x="4436241" y="2544916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err="1"/>
              <a:t>НайтиПоНаименованию</a:t>
            </a:r>
            <a:r>
              <a:rPr lang="ru-RU" dirty="0"/>
              <a:t> (…)</a:t>
            </a:r>
          </a:p>
        </p:txBody>
      </p:sp>
      <p:sp>
        <p:nvSpPr>
          <p:cNvPr id="25" name="Блок-схема: типовой процесс 24"/>
          <p:cNvSpPr/>
          <p:nvPr/>
        </p:nvSpPr>
        <p:spPr>
          <a:xfrm>
            <a:off x="4452111" y="1844824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err="1"/>
              <a:t>НайтиПоРеквизиту</a:t>
            </a:r>
            <a:r>
              <a:rPr lang="ru-RU" dirty="0"/>
              <a:t> (…)</a:t>
            </a:r>
          </a:p>
        </p:txBody>
      </p:sp>
      <p:sp>
        <p:nvSpPr>
          <p:cNvPr id="26" name="Блок-схема: типовой процесс 25"/>
          <p:cNvSpPr/>
          <p:nvPr/>
        </p:nvSpPr>
        <p:spPr>
          <a:xfrm>
            <a:off x="4452111" y="3945101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Выбрать()</a:t>
            </a:r>
          </a:p>
        </p:txBody>
      </p:sp>
      <p:sp>
        <p:nvSpPr>
          <p:cNvPr id="2" name="Стрелка вниз 1"/>
          <p:cNvSpPr/>
          <p:nvPr/>
        </p:nvSpPr>
        <p:spPr>
          <a:xfrm rot="5400000">
            <a:off x="3640944" y="3725740"/>
            <a:ext cx="648072" cy="802186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317715" y="900558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Справочники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85867" y="900558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.Номенклатура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776" y="900558"/>
            <a:ext cx="2730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.Выбрать();</a:t>
            </a:r>
          </a:p>
        </p:txBody>
      </p:sp>
    </p:spTree>
    <p:extLst>
      <p:ext uri="{BB962C8B-B14F-4D97-AF65-F5344CB8AC3E}">
        <p14:creationId xmlns:p14="http://schemas.microsoft.com/office/powerpoint/2010/main" val="199215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6" presetClass="emph" presetSubtype="0" repeatCount="3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 tmFilter="0, 0; .2, .5; .8, .5; 1, 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3" grpId="0" animBg="1"/>
      <p:bldP spid="24" grpId="0" animBg="1"/>
      <p:bldP spid="25" grpId="0" animBg="1"/>
      <p:bldP spid="26" grpId="0" animBg="1"/>
      <p:bldP spid="26" grpId="1" animBg="1"/>
      <p:bldP spid="2" grpId="0" animBg="1"/>
      <p:bldP spid="2" grpId="1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 anchor="t">
            <a:normAutofit fontScale="90000"/>
          </a:bodyPr>
          <a:lstStyle/>
          <a:p>
            <a:r>
              <a:rPr lang="ru-RU" sz="2800" dirty="0"/>
              <a:t>Чтение данных</a:t>
            </a:r>
            <a:r>
              <a:rPr lang="en-US" sz="2800" dirty="0"/>
              <a:t> </a:t>
            </a:r>
            <a:r>
              <a:rPr lang="ru-RU" sz="2800" i="1" dirty="0">
                <a:solidFill>
                  <a:srgbClr val="0070C0"/>
                </a:solidFill>
              </a:rPr>
              <a:t>нескольких </a:t>
            </a:r>
            <a:r>
              <a:rPr lang="ru-RU" sz="2800" dirty="0"/>
              <a:t>объектов данных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2483568" y="5027539"/>
          <a:ext cx="4128120" cy="152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986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ААА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ВВВ</a:t>
                      </a: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Груши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ССС</a:t>
                      </a: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Слива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Скругленный прямоугольник 17"/>
          <p:cNvSpPr/>
          <p:nvPr/>
        </p:nvSpPr>
        <p:spPr>
          <a:xfrm>
            <a:off x="323528" y="1196752"/>
            <a:ext cx="3600000" cy="3708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Выборка. Номенклатура</a:t>
            </a:r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671736" y="2025640"/>
          <a:ext cx="2820144" cy="21234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68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Свойство </a:t>
                      </a:r>
                      <a:br>
                        <a:rPr lang="ru-RU" dirty="0"/>
                      </a:br>
                      <a:r>
                        <a:rPr lang="ru-RU" dirty="0"/>
                        <a:t>(Реквизит)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Скругленный прямоугольник 21"/>
          <p:cNvSpPr/>
          <p:nvPr/>
        </p:nvSpPr>
        <p:spPr>
          <a:xfrm>
            <a:off x="4211960" y="1220157"/>
            <a:ext cx="4608056" cy="370800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Менеджер. Номенклатура</a:t>
            </a:r>
          </a:p>
        </p:txBody>
      </p:sp>
      <p:sp>
        <p:nvSpPr>
          <p:cNvPr id="23" name="Блок-схема: типовой процесс 22"/>
          <p:cNvSpPr/>
          <p:nvPr/>
        </p:nvSpPr>
        <p:spPr>
          <a:xfrm>
            <a:off x="4427984" y="3196406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…</a:t>
            </a:r>
          </a:p>
        </p:txBody>
      </p:sp>
      <p:sp>
        <p:nvSpPr>
          <p:cNvPr id="24" name="Блок-схема: типовой процесс 23"/>
          <p:cNvSpPr/>
          <p:nvPr/>
        </p:nvSpPr>
        <p:spPr>
          <a:xfrm>
            <a:off x="4436241" y="2496314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err="1"/>
              <a:t>НайтиПоНаименованию</a:t>
            </a:r>
            <a:r>
              <a:rPr lang="ru-RU" dirty="0"/>
              <a:t> (…)</a:t>
            </a:r>
          </a:p>
        </p:txBody>
      </p:sp>
      <p:sp>
        <p:nvSpPr>
          <p:cNvPr id="25" name="Блок-схема: типовой процесс 24"/>
          <p:cNvSpPr/>
          <p:nvPr/>
        </p:nvSpPr>
        <p:spPr>
          <a:xfrm>
            <a:off x="4452111" y="1796222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err="1"/>
              <a:t>НайтиПоРеквизиту</a:t>
            </a:r>
            <a:r>
              <a:rPr lang="ru-RU" dirty="0"/>
              <a:t> (…)</a:t>
            </a:r>
          </a:p>
        </p:txBody>
      </p:sp>
      <p:sp>
        <p:nvSpPr>
          <p:cNvPr id="26" name="Блок-схема: типовой процесс 25"/>
          <p:cNvSpPr/>
          <p:nvPr/>
        </p:nvSpPr>
        <p:spPr>
          <a:xfrm>
            <a:off x="4452111" y="3896499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Выбрать()</a:t>
            </a:r>
          </a:p>
        </p:txBody>
      </p:sp>
      <p:sp>
        <p:nvSpPr>
          <p:cNvPr id="10" name="Стрелка углом 9"/>
          <p:cNvSpPr/>
          <p:nvPr/>
        </p:nvSpPr>
        <p:spPr>
          <a:xfrm rot="16200000">
            <a:off x="1579844" y="4671153"/>
            <a:ext cx="890115" cy="917332"/>
          </a:xfrm>
          <a:prstGeom prst="bentArrow">
            <a:avLst>
              <a:gd name="adj1" fmla="val 15769"/>
              <a:gd name="adj2" fmla="val 25000"/>
              <a:gd name="adj3" fmla="val 23846"/>
              <a:gd name="adj4" fmla="val 43750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2545159" y="5331347"/>
            <a:ext cx="4320480" cy="504056"/>
          </a:xfrm>
          <a:prstGeom prst="round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323528" y="899428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Справочники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80" y="899428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.Номенклатура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6589" y="899428"/>
            <a:ext cx="2730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.Выбрать();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6832" y="4302316"/>
            <a:ext cx="1573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Следующий()</a:t>
            </a:r>
          </a:p>
        </p:txBody>
      </p:sp>
      <p:graphicFrame>
        <p:nvGraphicFramePr>
          <p:cNvPr id="31" name="Таблица 30"/>
          <p:cNvGraphicFramePr>
            <a:graphicFrameLocks noGrp="1"/>
          </p:cNvGraphicFramePr>
          <p:nvPr/>
        </p:nvGraphicFramePr>
        <p:xfrm>
          <a:off x="671736" y="2025640"/>
          <a:ext cx="2820144" cy="21234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68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Свойство </a:t>
                      </a:r>
                      <a:br>
                        <a:rPr lang="ru-RU" dirty="0"/>
                      </a:br>
                      <a:r>
                        <a:rPr lang="ru-RU" dirty="0"/>
                        <a:t>(Реквизит)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ААА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7584" y="5574877"/>
            <a:ext cx="1021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ИСТИНА</a:t>
            </a:r>
          </a:p>
        </p:txBody>
      </p:sp>
      <p:sp>
        <p:nvSpPr>
          <p:cNvPr id="7" name="Стрелка вниз 6"/>
          <p:cNvSpPr/>
          <p:nvPr/>
        </p:nvSpPr>
        <p:spPr>
          <a:xfrm>
            <a:off x="1174140" y="4950459"/>
            <a:ext cx="216024" cy="62441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4540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"/>
                            </p:stCondLst>
                            <p:childTnLst>
                              <p:par>
                                <p:cTn id="8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75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500"/>
                            </p:stCondLst>
                            <p:childTnLst>
                              <p:par>
                                <p:cTn id="2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5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7" grpId="0" animBg="1"/>
      <p:bldP spid="27" grpId="1" animBg="1"/>
      <p:bldP spid="3" grpId="0"/>
      <p:bldP spid="3" grpId="1"/>
      <p:bldP spid="6" grpId="0"/>
      <p:bldP spid="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 anchor="t">
            <a:normAutofit fontScale="90000"/>
          </a:bodyPr>
          <a:lstStyle/>
          <a:p>
            <a:r>
              <a:rPr lang="ru-RU" sz="2800" dirty="0"/>
              <a:t>Чтение данных</a:t>
            </a:r>
            <a:r>
              <a:rPr lang="en-US" sz="2800" dirty="0"/>
              <a:t> </a:t>
            </a:r>
            <a:r>
              <a:rPr lang="ru-RU" sz="2800" i="1" dirty="0">
                <a:solidFill>
                  <a:srgbClr val="0070C0"/>
                </a:solidFill>
              </a:rPr>
              <a:t>нескольких </a:t>
            </a:r>
            <a:r>
              <a:rPr lang="ru-RU" sz="2800" dirty="0"/>
              <a:t>объектов данных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2484468" y="5012783"/>
          <a:ext cx="4128120" cy="152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986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ААА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ВВВ</a:t>
                      </a: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Груши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ССС</a:t>
                      </a: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Слива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Скругленный прямоугольник 17"/>
          <p:cNvSpPr/>
          <p:nvPr/>
        </p:nvSpPr>
        <p:spPr>
          <a:xfrm>
            <a:off x="323528" y="1196752"/>
            <a:ext cx="3600000" cy="3708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Выборка. Номенклатура</a:t>
            </a:r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671736" y="1988840"/>
          <a:ext cx="2820144" cy="21234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68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Свойство </a:t>
                      </a:r>
                      <a:br>
                        <a:rPr lang="ru-RU" dirty="0"/>
                      </a:br>
                      <a:r>
                        <a:rPr lang="ru-RU" dirty="0"/>
                        <a:t>(Реквизит)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ААА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&gt;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Яблоки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Скругленный прямоугольник 21"/>
          <p:cNvSpPr/>
          <p:nvPr/>
        </p:nvSpPr>
        <p:spPr>
          <a:xfrm>
            <a:off x="4211960" y="1196752"/>
            <a:ext cx="4608056" cy="370800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Менеджер. Номенклатура</a:t>
            </a:r>
          </a:p>
        </p:txBody>
      </p:sp>
      <p:sp>
        <p:nvSpPr>
          <p:cNvPr id="23" name="Блок-схема: типовой процесс 22"/>
          <p:cNvSpPr/>
          <p:nvPr/>
        </p:nvSpPr>
        <p:spPr>
          <a:xfrm>
            <a:off x="4427984" y="3254228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…</a:t>
            </a:r>
          </a:p>
        </p:txBody>
      </p:sp>
      <p:sp>
        <p:nvSpPr>
          <p:cNvPr id="24" name="Блок-схема: типовой процесс 23"/>
          <p:cNvSpPr/>
          <p:nvPr/>
        </p:nvSpPr>
        <p:spPr>
          <a:xfrm>
            <a:off x="4436241" y="2554136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err="1"/>
              <a:t>НайтиПоНаименованию</a:t>
            </a:r>
            <a:r>
              <a:rPr lang="ru-RU" dirty="0"/>
              <a:t> (…)</a:t>
            </a:r>
          </a:p>
        </p:txBody>
      </p:sp>
      <p:sp>
        <p:nvSpPr>
          <p:cNvPr id="25" name="Блок-схема: типовой процесс 24"/>
          <p:cNvSpPr/>
          <p:nvPr/>
        </p:nvSpPr>
        <p:spPr>
          <a:xfrm>
            <a:off x="4452111" y="1854044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err="1"/>
              <a:t>НайтиПоРеквизиту</a:t>
            </a:r>
            <a:r>
              <a:rPr lang="ru-RU" dirty="0"/>
              <a:t> (…)</a:t>
            </a:r>
          </a:p>
        </p:txBody>
      </p:sp>
      <p:sp>
        <p:nvSpPr>
          <p:cNvPr id="26" name="Блок-схема: типовой процесс 25"/>
          <p:cNvSpPr/>
          <p:nvPr/>
        </p:nvSpPr>
        <p:spPr>
          <a:xfrm>
            <a:off x="4452111" y="3954321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Выбрать()</a:t>
            </a:r>
          </a:p>
        </p:txBody>
      </p:sp>
      <p:sp>
        <p:nvSpPr>
          <p:cNvPr id="10" name="Стрелка углом 9"/>
          <p:cNvSpPr/>
          <p:nvPr/>
        </p:nvSpPr>
        <p:spPr>
          <a:xfrm rot="16200000">
            <a:off x="1538646" y="4932149"/>
            <a:ext cx="1300951" cy="877327"/>
          </a:xfrm>
          <a:prstGeom prst="bentArrow">
            <a:avLst>
              <a:gd name="adj1" fmla="val 15769"/>
              <a:gd name="adj2" fmla="val 25000"/>
              <a:gd name="adj3" fmla="val 23846"/>
              <a:gd name="adj4" fmla="val 43750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2375787" y="5685923"/>
            <a:ext cx="4320480" cy="504056"/>
          </a:xfrm>
          <a:prstGeom prst="round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323528" y="899428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Справочники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80" y="899428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.Номенклатура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6589" y="899428"/>
            <a:ext cx="2730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.Выбрать();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0516" y="4221088"/>
            <a:ext cx="1573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Следующий()</a:t>
            </a:r>
          </a:p>
        </p:txBody>
      </p:sp>
      <p:graphicFrame>
        <p:nvGraphicFramePr>
          <p:cNvPr id="31" name="Таблица 30"/>
          <p:cNvGraphicFramePr>
            <a:graphicFrameLocks noGrp="1"/>
          </p:cNvGraphicFramePr>
          <p:nvPr/>
        </p:nvGraphicFramePr>
        <p:xfrm>
          <a:off x="671736" y="1988840"/>
          <a:ext cx="2820144" cy="21234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68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Свойство </a:t>
                      </a:r>
                      <a:br>
                        <a:rPr lang="ru-RU" dirty="0"/>
                      </a:br>
                      <a:r>
                        <a:rPr lang="ru-RU" dirty="0"/>
                        <a:t>(Реквизит)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ВВВ</a:t>
                      </a: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2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Груши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85961" y="5291916"/>
            <a:ext cx="1021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ИСТИНА</a:t>
            </a:r>
          </a:p>
        </p:txBody>
      </p:sp>
      <p:sp>
        <p:nvSpPr>
          <p:cNvPr id="7" name="Стрелка вниз 6"/>
          <p:cNvSpPr/>
          <p:nvPr/>
        </p:nvSpPr>
        <p:spPr>
          <a:xfrm>
            <a:off x="1246001" y="4667498"/>
            <a:ext cx="216024" cy="62441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2091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"/>
                            </p:stCondLst>
                            <p:childTnLst>
                              <p:par>
                                <p:cTn id="8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75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500"/>
                            </p:stCondLst>
                            <p:childTnLst>
                              <p:par>
                                <p:cTn id="2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5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7" grpId="0" animBg="1"/>
      <p:bldP spid="27" grpId="1" animBg="1"/>
      <p:bldP spid="3" grpId="0"/>
      <p:bldP spid="3" grpId="1"/>
      <p:bldP spid="6" grpId="0"/>
      <p:bldP spid="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 anchor="t">
            <a:normAutofit fontScale="90000"/>
          </a:bodyPr>
          <a:lstStyle/>
          <a:p>
            <a:r>
              <a:rPr lang="ru-RU" sz="2800" dirty="0"/>
              <a:t>Чтение данных</a:t>
            </a:r>
            <a:r>
              <a:rPr lang="en-US" sz="2800" dirty="0"/>
              <a:t> </a:t>
            </a:r>
            <a:r>
              <a:rPr lang="ru-RU" sz="2800" i="1" dirty="0">
                <a:solidFill>
                  <a:srgbClr val="0070C0"/>
                </a:solidFill>
              </a:rPr>
              <a:t>нескольких </a:t>
            </a:r>
            <a:r>
              <a:rPr lang="ru-RU" sz="2800" dirty="0"/>
              <a:t>объектов данных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2483568" y="5027539"/>
          <a:ext cx="4128120" cy="152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986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ААА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ВВВ</a:t>
                      </a: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Груши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ССС</a:t>
                      </a: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Слива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Скругленный прямоугольник 17"/>
          <p:cNvSpPr/>
          <p:nvPr/>
        </p:nvSpPr>
        <p:spPr>
          <a:xfrm>
            <a:off x="323528" y="1196753"/>
            <a:ext cx="3600000" cy="3708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Выборка. Номенклатура</a:t>
            </a:r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671736" y="1988840"/>
          <a:ext cx="2820144" cy="21234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68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Свойство </a:t>
                      </a:r>
                      <a:br>
                        <a:rPr lang="ru-RU" dirty="0"/>
                      </a:br>
                      <a:r>
                        <a:rPr lang="ru-RU" dirty="0"/>
                        <a:t>(Реквизит)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ВВВ</a:t>
                      </a: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&gt;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2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Груши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Скругленный прямоугольник 21"/>
          <p:cNvSpPr/>
          <p:nvPr/>
        </p:nvSpPr>
        <p:spPr>
          <a:xfrm>
            <a:off x="4211960" y="1205971"/>
            <a:ext cx="4608056" cy="370800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Менеджер. Номенклатура</a:t>
            </a:r>
          </a:p>
        </p:txBody>
      </p:sp>
      <p:sp>
        <p:nvSpPr>
          <p:cNvPr id="23" name="Блок-схема: типовой процесс 22"/>
          <p:cNvSpPr/>
          <p:nvPr/>
        </p:nvSpPr>
        <p:spPr>
          <a:xfrm>
            <a:off x="4427984" y="3173000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…</a:t>
            </a:r>
          </a:p>
        </p:txBody>
      </p:sp>
      <p:sp>
        <p:nvSpPr>
          <p:cNvPr id="24" name="Блок-схема: типовой процесс 23"/>
          <p:cNvSpPr/>
          <p:nvPr/>
        </p:nvSpPr>
        <p:spPr>
          <a:xfrm>
            <a:off x="4436241" y="2472908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err="1"/>
              <a:t>НайтиПоНаименованию</a:t>
            </a:r>
            <a:r>
              <a:rPr lang="ru-RU" dirty="0"/>
              <a:t> (…)</a:t>
            </a:r>
          </a:p>
        </p:txBody>
      </p:sp>
      <p:sp>
        <p:nvSpPr>
          <p:cNvPr id="25" name="Блок-схема: типовой процесс 24"/>
          <p:cNvSpPr/>
          <p:nvPr/>
        </p:nvSpPr>
        <p:spPr>
          <a:xfrm>
            <a:off x="4452111" y="1772816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err="1"/>
              <a:t>НайтиПоРеквизиту</a:t>
            </a:r>
            <a:r>
              <a:rPr lang="ru-RU" dirty="0"/>
              <a:t> (…)</a:t>
            </a:r>
          </a:p>
        </p:txBody>
      </p:sp>
      <p:sp>
        <p:nvSpPr>
          <p:cNvPr id="26" name="Блок-схема: типовой процесс 25"/>
          <p:cNvSpPr/>
          <p:nvPr/>
        </p:nvSpPr>
        <p:spPr>
          <a:xfrm>
            <a:off x="4452111" y="3873093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Выбрать()</a:t>
            </a:r>
          </a:p>
        </p:txBody>
      </p:sp>
      <p:sp>
        <p:nvSpPr>
          <p:cNvPr id="10" name="Стрелка углом 9"/>
          <p:cNvSpPr/>
          <p:nvPr/>
        </p:nvSpPr>
        <p:spPr>
          <a:xfrm rot="16200000">
            <a:off x="1341788" y="5229448"/>
            <a:ext cx="1561846" cy="862057"/>
          </a:xfrm>
          <a:prstGeom prst="bentArrow">
            <a:avLst>
              <a:gd name="adj1" fmla="val 15769"/>
              <a:gd name="adj2" fmla="val 25000"/>
              <a:gd name="adj3" fmla="val 23846"/>
              <a:gd name="adj4" fmla="val 43750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2545159" y="6136275"/>
            <a:ext cx="4320480" cy="504056"/>
          </a:xfrm>
          <a:prstGeom prst="round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323528" y="899428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Справочники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80" y="899428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.Номенклатура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6589" y="899428"/>
            <a:ext cx="2730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.Выбрать();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0316" y="4221088"/>
            <a:ext cx="1573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Следующий()</a:t>
            </a:r>
          </a:p>
        </p:txBody>
      </p:sp>
      <p:graphicFrame>
        <p:nvGraphicFramePr>
          <p:cNvPr id="31" name="Таблица 30"/>
          <p:cNvGraphicFramePr>
            <a:graphicFrameLocks noGrp="1"/>
          </p:cNvGraphicFramePr>
          <p:nvPr/>
        </p:nvGraphicFramePr>
        <p:xfrm>
          <a:off x="671736" y="1988840"/>
          <a:ext cx="2820144" cy="21234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68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Свойство </a:t>
                      </a:r>
                      <a:br>
                        <a:rPr lang="ru-RU" dirty="0"/>
                      </a:br>
                      <a:r>
                        <a:rPr lang="ru-RU" dirty="0"/>
                        <a:t>(Реквизит)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ССС</a:t>
                      </a: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3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Слива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7584" y="5493649"/>
            <a:ext cx="1021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ИСТИНА</a:t>
            </a:r>
          </a:p>
        </p:txBody>
      </p:sp>
      <p:sp>
        <p:nvSpPr>
          <p:cNvPr id="7" name="Стрелка вниз 6"/>
          <p:cNvSpPr/>
          <p:nvPr/>
        </p:nvSpPr>
        <p:spPr>
          <a:xfrm>
            <a:off x="1187624" y="4869231"/>
            <a:ext cx="216024" cy="62441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2733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"/>
                            </p:stCondLst>
                            <p:childTnLst>
                              <p:par>
                                <p:cTn id="8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75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500"/>
                            </p:stCondLst>
                            <p:childTnLst>
                              <p:par>
                                <p:cTn id="2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5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7" grpId="0" animBg="1"/>
      <p:bldP spid="27" grpId="1" animBg="1"/>
      <p:bldP spid="3" grpId="0"/>
      <p:bldP spid="3" grpId="1"/>
      <p:bldP spid="6" grpId="0"/>
      <p:bldP spid="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 anchor="t">
            <a:normAutofit fontScale="90000"/>
          </a:bodyPr>
          <a:lstStyle/>
          <a:p>
            <a:r>
              <a:rPr lang="ru-RU" sz="2800" dirty="0"/>
              <a:t>Чтение данных</a:t>
            </a:r>
            <a:r>
              <a:rPr lang="en-US" sz="2800" dirty="0"/>
              <a:t> </a:t>
            </a:r>
            <a:r>
              <a:rPr lang="ru-RU" sz="2800" i="1" dirty="0">
                <a:solidFill>
                  <a:srgbClr val="0070C0"/>
                </a:solidFill>
              </a:rPr>
              <a:t>нескольких </a:t>
            </a:r>
            <a:r>
              <a:rPr lang="ru-RU" sz="2800" dirty="0"/>
              <a:t>объектов данных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2483568" y="5038794"/>
          <a:ext cx="4128120" cy="152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986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ААА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FF0000"/>
                          </a:solidFill>
                        </a:rPr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ВВВ</a:t>
                      </a:r>
                      <a:r>
                        <a:rPr lang="en-US" b="1" dirty="0">
                          <a:solidFill>
                            <a:srgbClr val="0070C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70C0"/>
                          </a:solidFill>
                        </a:rPr>
                        <a:t>Груши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9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ССС</a:t>
                      </a: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&gt;</a:t>
                      </a:r>
                      <a:endParaRPr lang="ru-RU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Слива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Скругленный прямоугольник 17"/>
          <p:cNvSpPr/>
          <p:nvPr/>
        </p:nvSpPr>
        <p:spPr>
          <a:xfrm>
            <a:off x="323528" y="1196751"/>
            <a:ext cx="3600000" cy="3708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Выборка. Номенклатура</a:t>
            </a:r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671736" y="1988840"/>
          <a:ext cx="2820144" cy="21234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68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Свойство </a:t>
                      </a:r>
                      <a:br>
                        <a:rPr lang="ru-RU" dirty="0"/>
                      </a:br>
                      <a:r>
                        <a:rPr lang="ru-RU" dirty="0"/>
                        <a:t>(Реквизит)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&lt;</a:t>
                      </a: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ССС</a:t>
                      </a: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&gt;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3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Слива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Скругленный прямоугольник 21"/>
          <p:cNvSpPr/>
          <p:nvPr/>
        </p:nvSpPr>
        <p:spPr>
          <a:xfrm>
            <a:off x="4211960" y="1205971"/>
            <a:ext cx="4608056" cy="370800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Менеджер. Номенклатура</a:t>
            </a:r>
          </a:p>
        </p:txBody>
      </p:sp>
      <p:sp>
        <p:nvSpPr>
          <p:cNvPr id="23" name="Блок-схема: типовой процесс 22"/>
          <p:cNvSpPr/>
          <p:nvPr/>
        </p:nvSpPr>
        <p:spPr>
          <a:xfrm>
            <a:off x="4427984" y="3173000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…</a:t>
            </a:r>
          </a:p>
        </p:txBody>
      </p:sp>
      <p:sp>
        <p:nvSpPr>
          <p:cNvPr id="24" name="Блок-схема: типовой процесс 23"/>
          <p:cNvSpPr/>
          <p:nvPr/>
        </p:nvSpPr>
        <p:spPr>
          <a:xfrm>
            <a:off x="4436241" y="2472908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err="1"/>
              <a:t>НайтиПоНаименованию</a:t>
            </a:r>
            <a:r>
              <a:rPr lang="ru-RU" dirty="0"/>
              <a:t> (…)</a:t>
            </a:r>
          </a:p>
        </p:txBody>
      </p:sp>
      <p:sp>
        <p:nvSpPr>
          <p:cNvPr id="25" name="Блок-схема: типовой процесс 24"/>
          <p:cNvSpPr/>
          <p:nvPr/>
        </p:nvSpPr>
        <p:spPr>
          <a:xfrm>
            <a:off x="4452111" y="1772816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err="1"/>
              <a:t>НайтиПоРеквизиту</a:t>
            </a:r>
            <a:r>
              <a:rPr lang="ru-RU" dirty="0"/>
              <a:t> (…)</a:t>
            </a:r>
          </a:p>
        </p:txBody>
      </p:sp>
      <p:sp>
        <p:nvSpPr>
          <p:cNvPr id="26" name="Блок-схема: типовой процесс 25"/>
          <p:cNvSpPr/>
          <p:nvPr/>
        </p:nvSpPr>
        <p:spPr>
          <a:xfrm>
            <a:off x="4452111" y="3873093"/>
            <a:ext cx="4140000" cy="599189"/>
          </a:xfrm>
          <a:prstGeom prst="flowChartPredefined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Выбрать()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3528" y="899428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Справочники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80" y="899428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.Номенклатура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6589" y="899428"/>
            <a:ext cx="2730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.Выбрать();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1849" y="4221088"/>
            <a:ext cx="1573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Следующий()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84" y="5507940"/>
            <a:ext cx="1021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ЛОЖЬ</a:t>
            </a:r>
          </a:p>
        </p:txBody>
      </p:sp>
      <p:sp>
        <p:nvSpPr>
          <p:cNvPr id="7" name="Стрелка вниз 6"/>
          <p:cNvSpPr/>
          <p:nvPr/>
        </p:nvSpPr>
        <p:spPr>
          <a:xfrm>
            <a:off x="1187624" y="4869160"/>
            <a:ext cx="216024" cy="62441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2456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"/>
                            </p:stCondLst>
                            <p:childTnLst>
                              <p:par>
                                <p:cTn id="8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75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25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6" grpId="0"/>
      <p:bldP spid="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 на основании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Копирование данных из строки одной таблицы в строку другой таблицы</a:t>
            </a:r>
          </a:p>
        </p:txBody>
      </p:sp>
    </p:spTree>
    <p:extLst>
      <p:ext uri="{BB962C8B-B14F-4D97-AF65-F5344CB8AC3E}">
        <p14:creationId xmlns:p14="http://schemas.microsoft.com/office/powerpoint/2010/main" val="27556187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40799"/>
          </a:xfrm>
        </p:spPr>
        <p:txBody>
          <a:bodyPr>
            <a:normAutofit fontScale="90000"/>
          </a:bodyPr>
          <a:lstStyle/>
          <a:p>
            <a:r>
              <a:rPr lang="ru-RU" dirty="0"/>
              <a:t>Открытие формы существующего объекта базы данных</a:t>
            </a:r>
          </a:p>
        </p:txBody>
      </p:sp>
    </p:spTree>
    <p:extLst>
      <p:ext uri="{BB962C8B-B14F-4D97-AF65-F5344CB8AC3E}">
        <p14:creationId xmlns:p14="http://schemas.microsoft.com/office/powerpoint/2010/main" val="18846124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696"/>
            <a:ext cx="8568952" cy="1728191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/>
              <a:t>СУБД</a:t>
            </a:r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 данными</a:t>
            </a:r>
          </a:p>
        </p:txBody>
      </p:sp>
    </p:spTree>
    <p:extLst>
      <p:ext uri="{BB962C8B-B14F-4D97-AF65-F5344CB8AC3E}">
        <p14:creationId xmlns:p14="http://schemas.microsoft.com/office/powerpoint/2010/main" val="679075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696"/>
            <a:ext cx="8568952" cy="1728191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/>
              <a:t>СУБД</a:t>
            </a:r>
          </a:p>
        </p:txBody>
      </p:sp>
      <p:sp>
        <p:nvSpPr>
          <p:cNvPr id="8" name="Облако 7"/>
          <p:cNvSpPr/>
          <p:nvPr/>
        </p:nvSpPr>
        <p:spPr>
          <a:xfrm>
            <a:off x="827584" y="3645024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Объект</a:t>
            </a:r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5" name="Стрелка углом 14"/>
          <p:cNvSpPr/>
          <p:nvPr/>
        </p:nvSpPr>
        <p:spPr>
          <a:xfrm rot="16200000">
            <a:off x="1497154" y="5222034"/>
            <a:ext cx="1339488" cy="633740"/>
          </a:xfrm>
          <a:prstGeom prst="bent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 данными</a:t>
            </a:r>
          </a:p>
        </p:txBody>
      </p:sp>
    </p:spTree>
    <p:extLst>
      <p:ext uri="{BB962C8B-B14F-4D97-AF65-F5344CB8AC3E}">
        <p14:creationId xmlns:p14="http://schemas.microsoft.com/office/powerpoint/2010/main" val="1642381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/>
              <a:t>СУБД</a:t>
            </a:r>
          </a:p>
        </p:txBody>
      </p:sp>
      <p:sp>
        <p:nvSpPr>
          <p:cNvPr id="8" name="Облако 7"/>
          <p:cNvSpPr/>
          <p:nvPr/>
        </p:nvSpPr>
        <p:spPr>
          <a:xfrm>
            <a:off x="827584" y="3645024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Объект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1" name="Стрелка вправо 10"/>
          <p:cNvSpPr/>
          <p:nvPr/>
        </p:nvSpPr>
        <p:spPr>
          <a:xfrm rot="21006267">
            <a:off x="3760941" y="3785921"/>
            <a:ext cx="1362879" cy="472813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 данными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112619" y="4409492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 чтении на сервере</a:t>
            </a:r>
          </a:p>
        </p:txBody>
      </p:sp>
    </p:spTree>
    <p:extLst>
      <p:ext uri="{BB962C8B-B14F-4D97-AF65-F5344CB8AC3E}">
        <p14:creationId xmlns:p14="http://schemas.microsoft.com/office/powerpoint/2010/main" val="115581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/>
              <a:t>СУБД</a:t>
            </a:r>
          </a:p>
        </p:txBody>
      </p:sp>
      <p:sp>
        <p:nvSpPr>
          <p:cNvPr id="8" name="Облако 7"/>
          <p:cNvSpPr/>
          <p:nvPr/>
        </p:nvSpPr>
        <p:spPr>
          <a:xfrm>
            <a:off x="827584" y="3645024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Объект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 данными</a:t>
            </a:r>
          </a:p>
        </p:txBody>
      </p:sp>
      <p:sp>
        <p:nvSpPr>
          <p:cNvPr id="17" name="Плюс 16"/>
          <p:cNvSpPr/>
          <p:nvPr/>
        </p:nvSpPr>
        <p:spPr>
          <a:xfrm rot="2601363">
            <a:off x="870754" y="2904665"/>
            <a:ext cx="2592288" cy="2613960"/>
          </a:xfrm>
          <a:prstGeom prst="mathPlus">
            <a:avLst>
              <a:gd name="adj1" fmla="val 11601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7272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/>
              <a:t>СУБД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 данными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148064" y="4409492"/>
            <a:ext cx="288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 создании на сервере</a:t>
            </a:r>
          </a:p>
        </p:txBody>
      </p:sp>
    </p:spTree>
    <p:extLst>
      <p:ext uri="{BB962C8B-B14F-4D97-AF65-F5344CB8AC3E}">
        <p14:creationId xmlns:p14="http://schemas.microsoft.com/office/powerpoint/2010/main" val="1319411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/>
              <a:t>СУБД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0" name="Облако 9"/>
          <p:cNvSpPr/>
          <p:nvPr/>
        </p:nvSpPr>
        <p:spPr>
          <a:xfrm>
            <a:off x="5135151" y="83671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2" name="Стрелка вправо 11"/>
          <p:cNvSpPr/>
          <p:nvPr/>
        </p:nvSpPr>
        <p:spPr>
          <a:xfrm rot="16200000">
            <a:off x="5857867" y="2367138"/>
            <a:ext cx="1362879" cy="472813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 данными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347864" y="1556792"/>
            <a:ext cx="2304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Перед открытием</a:t>
            </a:r>
            <a:br>
              <a:rPr lang="ru-RU" dirty="0"/>
            </a:br>
            <a:r>
              <a:rPr lang="ru-RU" dirty="0"/>
              <a:t>При открытии</a:t>
            </a:r>
          </a:p>
        </p:txBody>
      </p:sp>
    </p:spTree>
    <p:extLst>
      <p:ext uri="{BB962C8B-B14F-4D97-AF65-F5344CB8AC3E}">
        <p14:creationId xmlns:p14="http://schemas.microsoft.com/office/powerpoint/2010/main" val="2937209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/>
              <a:t>СУБД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0" name="Облако 9"/>
          <p:cNvSpPr/>
          <p:nvPr/>
        </p:nvSpPr>
        <p:spPr>
          <a:xfrm>
            <a:off x="5135151" y="83671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1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 данными</a:t>
            </a:r>
          </a:p>
        </p:txBody>
      </p:sp>
    </p:spTree>
    <p:extLst>
      <p:ext uri="{BB962C8B-B14F-4D97-AF65-F5344CB8AC3E}">
        <p14:creationId xmlns:p14="http://schemas.microsoft.com/office/powerpoint/2010/main" val="525134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416864"/>
          </a:xfrm>
        </p:spPr>
        <p:txBody>
          <a:bodyPr>
            <a:normAutofit fontScale="90000"/>
          </a:bodyPr>
          <a:lstStyle/>
          <a:p>
            <a:r>
              <a:rPr lang="ru-RU" dirty="0"/>
              <a:t>Открытие формы нового (еще не записанного в базу данных) объекта данных</a:t>
            </a:r>
          </a:p>
        </p:txBody>
      </p:sp>
    </p:spTree>
    <p:extLst>
      <p:ext uri="{BB962C8B-B14F-4D97-AF65-F5344CB8AC3E}">
        <p14:creationId xmlns:p14="http://schemas.microsoft.com/office/powerpoint/2010/main" val="23321375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696"/>
            <a:ext cx="8568952" cy="1728191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/>
              <a:t>СУБД</a:t>
            </a:r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 данными</a:t>
            </a:r>
          </a:p>
        </p:txBody>
      </p:sp>
    </p:spTree>
    <p:extLst>
      <p:ext uri="{BB962C8B-B14F-4D97-AF65-F5344CB8AC3E}">
        <p14:creationId xmlns:p14="http://schemas.microsoft.com/office/powerpoint/2010/main" val="3911472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696"/>
            <a:ext cx="8568952" cy="1728191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/>
              <a:t>СУБД</a:t>
            </a:r>
          </a:p>
        </p:txBody>
      </p:sp>
      <p:sp>
        <p:nvSpPr>
          <p:cNvPr id="8" name="Облако 7"/>
          <p:cNvSpPr/>
          <p:nvPr/>
        </p:nvSpPr>
        <p:spPr>
          <a:xfrm>
            <a:off x="827584" y="3645024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Объект</a:t>
            </a:r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 данными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3310649" y="4168978"/>
            <a:ext cx="2954391" cy="76361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/>
              <a:t>Модуль объекта</a:t>
            </a:r>
          </a:p>
          <a:p>
            <a:pPr algn="ctr"/>
            <a:endParaRPr lang="ru-RU" sz="1400" dirty="0"/>
          </a:p>
          <a:p>
            <a:pPr algn="ctr"/>
            <a:endParaRPr lang="ru-RU" sz="1400" dirty="0"/>
          </a:p>
        </p:txBody>
      </p:sp>
      <p:sp>
        <p:nvSpPr>
          <p:cNvPr id="11" name="TextBox 10"/>
          <p:cNvSpPr txBox="1"/>
          <p:nvPr/>
        </p:nvSpPr>
        <p:spPr>
          <a:xfrm>
            <a:off x="3528872" y="4560991"/>
            <a:ext cx="20313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</a:rPr>
              <a:t>Обработка заполнения</a:t>
            </a:r>
          </a:p>
        </p:txBody>
      </p:sp>
      <p:sp>
        <p:nvSpPr>
          <p:cNvPr id="12" name="Стрелка углом 11"/>
          <p:cNvSpPr/>
          <p:nvPr/>
        </p:nvSpPr>
        <p:spPr>
          <a:xfrm flipH="1">
            <a:off x="2750331" y="3806357"/>
            <a:ext cx="1387916" cy="713434"/>
          </a:xfrm>
          <a:prstGeom prst="ben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520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26" presetClass="emph" presetSubtype="0" repeatCount="2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50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/>
      <p:bldP spid="11" grpId="1"/>
      <p:bldP spid="1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/>
              <a:t>СУБД</a:t>
            </a:r>
          </a:p>
        </p:txBody>
      </p:sp>
      <p:sp>
        <p:nvSpPr>
          <p:cNvPr id="8" name="Облако 7"/>
          <p:cNvSpPr/>
          <p:nvPr/>
        </p:nvSpPr>
        <p:spPr>
          <a:xfrm>
            <a:off x="827584" y="3645024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Объект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1" name="Стрелка вправо 10"/>
          <p:cNvSpPr/>
          <p:nvPr/>
        </p:nvSpPr>
        <p:spPr>
          <a:xfrm rot="21006267">
            <a:off x="3760941" y="3785921"/>
            <a:ext cx="1362879" cy="472813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 данными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112619" y="4409492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 чтении на сервере</a:t>
            </a:r>
          </a:p>
        </p:txBody>
      </p:sp>
    </p:spTree>
    <p:extLst>
      <p:ext uri="{BB962C8B-B14F-4D97-AF65-F5344CB8AC3E}">
        <p14:creationId xmlns:p14="http://schemas.microsoft.com/office/powerpoint/2010/main" val="930002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/>
              <a:t>СУБД</a:t>
            </a:r>
          </a:p>
        </p:txBody>
      </p:sp>
      <p:sp>
        <p:nvSpPr>
          <p:cNvPr id="8" name="Облако 7"/>
          <p:cNvSpPr/>
          <p:nvPr/>
        </p:nvSpPr>
        <p:spPr>
          <a:xfrm>
            <a:off x="827584" y="3645024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Объект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 данными</a:t>
            </a:r>
          </a:p>
        </p:txBody>
      </p:sp>
      <p:sp>
        <p:nvSpPr>
          <p:cNvPr id="17" name="Плюс 16"/>
          <p:cNvSpPr/>
          <p:nvPr/>
        </p:nvSpPr>
        <p:spPr>
          <a:xfrm rot="2601363">
            <a:off x="870754" y="2904665"/>
            <a:ext cx="2592288" cy="2613960"/>
          </a:xfrm>
          <a:prstGeom prst="mathPlus">
            <a:avLst>
              <a:gd name="adj1" fmla="val 11601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297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/>
              <a:t>СУБД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 данными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148064" y="4409492"/>
            <a:ext cx="288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 создании на сервере</a:t>
            </a:r>
          </a:p>
        </p:txBody>
      </p:sp>
    </p:spTree>
    <p:extLst>
      <p:ext uri="{BB962C8B-B14F-4D97-AF65-F5344CB8AC3E}">
        <p14:creationId xmlns:p14="http://schemas.microsoft.com/office/powerpoint/2010/main" val="3916771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/>
              <a:t>СУБД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0" name="Облако 9"/>
          <p:cNvSpPr/>
          <p:nvPr/>
        </p:nvSpPr>
        <p:spPr>
          <a:xfrm>
            <a:off x="5135151" y="83671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2" name="Стрелка вправо 11"/>
          <p:cNvSpPr/>
          <p:nvPr/>
        </p:nvSpPr>
        <p:spPr>
          <a:xfrm rot="16200000">
            <a:off x="5857867" y="2367138"/>
            <a:ext cx="1362879" cy="472813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 данными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347864" y="1556792"/>
            <a:ext cx="2304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Перед открытием</a:t>
            </a:r>
            <a:br>
              <a:rPr lang="ru-RU" dirty="0"/>
            </a:br>
            <a:r>
              <a:rPr lang="ru-RU" dirty="0"/>
              <a:t>При открытии</a:t>
            </a:r>
          </a:p>
        </p:txBody>
      </p:sp>
    </p:spTree>
    <p:extLst>
      <p:ext uri="{BB962C8B-B14F-4D97-AF65-F5344CB8AC3E}">
        <p14:creationId xmlns:p14="http://schemas.microsoft.com/office/powerpoint/2010/main" val="1466873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/>
              <a:t>СУБД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0" name="Облако 9"/>
          <p:cNvSpPr/>
          <p:nvPr/>
        </p:nvSpPr>
        <p:spPr>
          <a:xfrm>
            <a:off x="5135151" y="83671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1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 данными</a:t>
            </a:r>
          </a:p>
        </p:txBody>
      </p:sp>
    </p:spTree>
    <p:extLst>
      <p:ext uri="{BB962C8B-B14F-4D97-AF65-F5344CB8AC3E}">
        <p14:creationId xmlns:p14="http://schemas.microsoft.com/office/powerpoint/2010/main" val="3260819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776904"/>
          </a:xfrm>
        </p:spPr>
        <p:txBody>
          <a:bodyPr>
            <a:normAutofit fontScale="90000"/>
          </a:bodyPr>
          <a:lstStyle/>
          <a:p>
            <a:r>
              <a:rPr lang="ru-RU" dirty="0"/>
              <a:t>Открытие формы нового (еще не записанного в базу данных) объекта данных при использовании механизма «</a:t>
            </a:r>
            <a:r>
              <a:rPr lang="ru-RU" dirty="0" err="1"/>
              <a:t>Вввод</a:t>
            </a:r>
            <a:r>
              <a:rPr lang="ru-RU" dirty="0"/>
              <a:t> на основании»</a:t>
            </a:r>
          </a:p>
        </p:txBody>
      </p:sp>
    </p:spTree>
    <p:extLst>
      <p:ext uri="{BB962C8B-B14F-4D97-AF65-F5344CB8AC3E}">
        <p14:creationId xmlns:p14="http://schemas.microsoft.com/office/powerpoint/2010/main" val="252767813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251520" y="574900"/>
            <a:ext cx="8640960" cy="451028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31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>
                <a:solidFill>
                  <a:schemeClr val="accent1"/>
                </a:solidFill>
              </a:rPr>
              <a:t>Оперативная память</a:t>
            </a:r>
          </a:p>
        </p:txBody>
      </p:sp>
      <p:sp>
        <p:nvSpPr>
          <p:cNvPr id="52" name="Скругленный прямоугольник 51"/>
          <p:cNvSpPr/>
          <p:nvPr/>
        </p:nvSpPr>
        <p:spPr>
          <a:xfrm>
            <a:off x="323528" y="1146404"/>
            <a:ext cx="8388000" cy="1346492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u="sng" dirty="0">
                <a:solidFill>
                  <a:schemeClr val="tx1"/>
                </a:solidFill>
              </a:rPr>
              <a:t>1С: Предприятие</a:t>
            </a:r>
            <a:br>
              <a:rPr lang="ru-RU" u="sng" dirty="0">
                <a:solidFill>
                  <a:schemeClr val="tx1"/>
                </a:solidFill>
              </a:rPr>
            </a:br>
            <a:r>
              <a:rPr lang="ru-RU" u="sng" dirty="0">
                <a:solidFill>
                  <a:schemeClr val="tx1"/>
                </a:solidFill>
              </a:rPr>
              <a:t> Клиент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323528" y="5193283"/>
            <a:ext cx="8388000" cy="1044030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4753492" y="5328490"/>
            <a:ext cx="3126933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приеме2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835696" y="5328490"/>
            <a:ext cx="2736304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23528" y="2564904"/>
            <a:ext cx="8388000" cy="23042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u="sng" dirty="0">
                <a:solidFill>
                  <a:schemeClr val="bg1"/>
                </a:solidFill>
              </a:rPr>
              <a:t>1С: Предприятие Сервер</a:t>
            </a:r>
          </a:p>
        </p:txBody>
      </p:sp>
      <p:grpSp>
        <p:nvGrpSpPr>
          <p:cNvPr id="3" name="Группа 2"/>
          <p:cNvGrpSpPr/>
          <p:nvPr/>
        </p:nvGrpSpPr>
        <p:grpSpPr>
          <a:xfrm>
            <a:off x="3214678" y="3646734"/>
            <a:ext cx="5024730" cy="1150418"/>
            <a:chOff x="3214678" y="3214686"/>
            <a:chExt cx="5024730" cy="1150418"/>
          </a:xfrm>
        </p:grpSpPr>
        <p:sp>
          <p:nvSpPr>
            <p:cNvPr id="16" name="Облако 15"/>
            <p:cNvSpPr/>
            <p:nvPr/>
          </p:nvSpPr>
          <p:spPr>
            <a:xfrm>
              <a:off x="3214678" y="3214686"/>
              <a:ext cx="2880320" cy="1008112"/>
            </a:xfrm>
            <a:prstGeom prst="cloud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sz="1400" dirty="0" err="1"/>
                <a:t>ДокументОбъект</a:t>
              </a:r>
              <a:r>
                <a:rPr lang="ru-RU" sz="1400" dirty="0"/>
                <a:t>.</a:t>
              </a:r>
              <a:br>
                <a:rPr lang="ru-RU" sz="1400" dirty="0"/>
              </a:br>
              <a:r>
                <a:rPr lang="ru-RU" sz="1400" dirty="0" err="1"/>
                <a:t>ПриказОПриеме</a:t>
              </a:r>
              <a:endParaRPr lang="ru-RU" sz="1400" dirty="0"/>
            </a:p>
          </p:txBody>
        </p:sp>
        <p:sp>
          <p:nvSpPr>
            <p:cNvPr id="39" name="Прямоугольник 38"/>
            <p:cNvSpPr/>
            <p:nvPr/>
          </p:nvSpPr>
          <p:spPr>
            <a:xfrm>
              <a:off x="5285017" y="3601487"/>
              <a:ext cx="2954391" cy="76361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ru-RU" dirty="0"/>
                <a:t>Модуль объекта</a:t>
              </a:r>
            </a:p>
            <a:p>
              <a:pPr algn="ctr"/>
              <a:endParaRPr lang="ru-RU" sz="1400" dirty="0"/>
            </a:p>
            <a:p>
              <a:pPr algn="ctr"/>
              <a:endParaRPr lang="ru-RU" sz="1400" dirty="0"/>
            </a:p>
          </p:txBody>
        </p:sp>
      </p:grpSp>
      <p:sp>
        <p:nvSpPr>
          <p:cNvPr id="20" name="Овал 19"/>
          <p:cNvSpPr/>
          <p:nvPr/>
        </p:nvSpPr>
        <p:spPr>
          <a:xfrm>
            <a:off x="3738818" y="702783"/>
            <a:ext cx="2376264" cy="432048"/>
          </a:xfrm>
          <a:prstGeom prst="ellips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пользователь</a:t>
            </a:r>
          </a:p>
        </p:txBody>
      </p:sp>
      <p:sp>
        <p:nvSpPr>
          <p:cNvPr id="12" name="Облако 11"/>
          <p:cNvSpPr/>
          <p:nvPr/>
        </p:nvSpPr>
        <p:spPr>
          <a:xfrm>
            <a:off x="406366" y="3077225"/>
            <a:ext cx="2725474" cy="1139018"/>
          </a:xfrm>
          <a:prstGeom prst="clou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 err="1"/>
              <a:t>СправочникСсылка</a:t>
            </a:r>
            <a:r>
              <a:rPr lang="ru-RU" sz="1400" dirty="0"/>
              <a:t>.</a:t>
            </a:r>
            <a:br>
              <a:rPr lang="ru-RU" sz="1400" dirty="0"/>
            </a:br>
            <a:r>
              <a:rPr lang="ru-RU" sz="1400" dirty="0"/>
              <a:t>Сотрудники</a:t>
            </a:r>
          </a:p>
        </p:txBody>
      </p:sp>
      <p:sp>
        <p:nvSpPr>
          <p:cNvPr id="17" name="Стрелка углом 16"/>
          <p:cNvSpPr/>
          <p:nvPr/>
        </p:nvSpPr>
        <p:spPr>
          <a:xfrm rot="5400000">
            <a:off x="3477236" y="2249013"/>
            <a:ext cx="1244872" cy="3087792"/>
          </a:xfrm>
          <a:prstGeom prst="bentArrow">
            <a:avLst>
              <a:gd name="adj1" fmla="val 9457"/>
              <a:gd name="adj2" fmla="val 14486"/>
              <a:gd name="adj3" fmla="val 25000"/>
              <a:gd name="adj4" fmla="val 24551"/>
            </a:avLst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284077" y="2623448"/>
            <a:ext cx="20009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</a:rPr>
              <a:t>Параметр – </a:t>
            </a:r>
            <a:br>
              <a:rPr lang="ru-RU" sz="1400" dirty="0">
                <a:solidFill>
                  <a:schemeClr val="bg1"/>
                </a:solidFill>
              </a:rPr>
            </a:br>
            <a:r>
              <a:rPr lang="ru-RU" sz="1400" b="1" dirty="0" err="1">
                <a:solidFill>
                  <a:schemeClr val="bg1"/>
                </a:solidFill>
              </a:rPr>
              <a:t>ДанныеЗаполнения</a:t>
            </a:r>
            <a:endParaRPr lang="ru-RU" sz="1400" b="1" dirty="0">
              <a:solidFill>
                <a:schemeClr val="bg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738818" y="1134831"/>
            <a:ext cx="17962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i="1" dirty="0"/>
              <a:t>Ввод на основании</a:t>
            </a:r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1547664" y="1567560"/>
            <a:ext cx="3447831" cy="90725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1" dirty="0"/>
              <a:t>Динамический список (Сотрудники)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sp>
        <p:nvSpPr>
          <p:cNvPr id="30" name="Стрелка углом 29"/>
          <p:cNvSpPr/>
          <p:nvPr/>
        </p:nvSpPr>
        <p:spPr>
          <a:xfrm rot="16200000">
            <a:off x="262709" y="4517513"/>
            <a:ext cx="2229454" cy="916524"/>
          </a:xfrm>
          <a:prstGeom prst="bentArrow">
            <a:avLst>
              <a:gd name="adj1" fmla="val 26327"/>
              <a:gd name="adj2" fmla="val 28488"/>
              <a:gd name="adj3" fmla="val 50000"/>
              <a:gd name="adj4" fmla="val 43750"/>
            </a:avLst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40" name="Стрелка углом 39"/>
          <p:cNvSpPr/>
          <p:nvPr/>
        </p:nvSpPr>
        <p:spPr>
          <a:xfrm rot="10800000">
            <a:off x="4402921" y="1152924"/>
            <a:ext cx="1044000" cy="1195956"/>
          </a:xfrm>
          <a:prstGeom prst="bentArrow">
            <a:avLst>
              <a:gd name="adj1" fmla="val 14180"/>
              <a:gd name="adj2" fmla="val 15327"/>
              <a:gd name="adj3" fmla="val 25781"/>
              <a:gd name="adj4" fmla="val 23164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365942" y="4415343"/>
            <a:ext cx="20313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</a:rPr>
              <a:t>Обработка заполнения</a:t>
            </a:r>
          </a:p>
        </p:txBody>
      </p:sp>
      <p:sp>
        <p:nvSpPr>
          <p:cNvPr id="33" name="Стрелка углом 32"/>
          <p:cNvSpPr/>
          <p:nvPr/>
        </p:nvSpPr>
        <p:spPr>
          <a:xfrm rot="5400000" flipH="1" flipV="1">
            <a:off x="4236891" y="3647033"/>
            <a:ext cx="514331" cy="1677261"/>
          </a:xfrm>
          <a:prstGeom prst="bentArrow">
            <a:avLst>
              <a:gd name="adj1" fmla="val 37003"/>
              <a:gd name="adj2" fmla="val 37201"/>
              <a:gd name="adj3" fmla="val 40687"/>
              <a:gd name="adj4" fmla="val 43750"/>
            </a:avLst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2148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2000" fill="hold"/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" dur="2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6" presetClass="emph" presetSubtype="0" repeatCount="2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1000" tmFilter="0, 0; .2, .5; .8, .5; 1, 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0" dur="50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1000"/>
                            </p:stCondLst>
                            <p:childTnLst>
                              <p:par>
                                <p:cTn id="42" presetID="26" presetClass="emph" presetSubtype="0" repeatCount="2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 tmFilter="0, 0; .2, .5; .8, .5; 1, 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500" autoRev="1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300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7" grpId="0" animBg="1"/>
      <p:bldP spid="18" grpId="0"/>
      <p:bldP spid="18" grpId="1"/>
      <p:bldP spid="23" grpId="0"/>
      <p:bldP spid="30" grpId="0" animBg="1"/>
      <p:bldP spid="40" grpId="0" animBg="1"/>
      <p:bldP spid="31" grpId="0"/>
      <p:bldP spid="31" grpId="1"/>
      <p:bldP spid="3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251520" y="574900"/>
            <a:ext cx="8640960" cy="451028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31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>
                <a:solidFill>
                  <a:schemeClr val="accent1"/>
                </a:solidFill>
              </a:rPr>
              <a:t>Оперативная память</a:t>
            </a:r>
          </a:p>
        </p:txBody>
      </p:sp>
      <p:sp>
        <p:nvSpPr>
          <p:cNvPr id="52" name="Скругленный прямоугольник 51"/>
          <p:cNvSpPr/>
          <p:nvPr/>
        </p:nvSpPr>
        <p:spPr>
          <a:xfrm>
            <a:off x="323528" y="1146404"/>
            <a:ext cx="8388000" cy="1346492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u="sng" dirty="0">
                <a:solidFill>
                  <a:schemeClr val="tx1"/>
                </a:solidFill>
              </a:rPr>
              <a:t>1С: Предприятие</a:t>
            </a:r>
            <a:br>
              <a:rPr lang="ru-RU" u="sng" dirty="0">
                <a:solidFill>
                  <a:schemeClr val="tx1"/>
                </a:solidFill>
              </a:rPr>
            </a:br>
            <a:r>
              <a:rPr lang="ru-RU" u="sng" dirty="0">
                <a:solidFill>
                  <a:schemeClr val="tx1"/>
                </a:solidFill>
              </a:rPr>
              <a:t> Клиент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323528" y="5193283"/>
            <a:ext cx="8388000" cy="1044030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4753492" y="5328490"/>
            <a:ext cx="3126933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приеме2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835696" y="5328490"/>
            <a:ext cx="2736304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23528" y="2564904"/>
            <a:ext cx="8388000" cy="23042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u="sng" dirty="0">
                <a:solidFill>
                  <a:schemeClr val="bg1"/>
                </a:solidFill>
              </a:rPr>
              <a:t>1С: Предприятие Сервер</a:t>
            </a:r>
          </a:p>
        </p:txBody>
      </p:sp>
      <p:sp>
        <p:nvSpPr>
          <p:cNvPr id="16" name="Облако 15"/>
          <p:cNvSpPr/>
          <p:nvPr/>
        </p:nvSpPr>
        <p:spPr>
          <a:xfrm>
            <a:off x="3214678" y="3646734"/>
            <a:ext cx="2880320" cy="1008112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400" dirty="0" err="1"/>
              <a:t>ДокументОбъект</a:t>
            </a:r>
            <a:r>
              <a:rPr lang="ru-RU" sz="1400" dirty="0"/>
              <a:t>.</a:t>
            </a:r>
            <a:br>
              <a:rPr lang="ru-RU" sz="1400" dirty="0"/>
            </a:br>
            <a:r>
              <a:rPr lang="ru-RU" sz="1400" dirty="0" err="1"/>
              <a:t>ПриказОПриеме</a:t>
            </a:r>
            <a:endParaRPr lang="ru-RU" sz="1400" dirty="0"/>
          </a:p>
        </p:txBody>
      </p:sp>
      <p:sp>
        <p:nvSpPr>
          <p:cNvPr id="20" name="Овал 19"/>
          <p:cNvSpPr/>
          <p:nvPr/>
        </p:nvSpPr>
        <p:spPr>
          <a:xfrm>
            <a:off x="3738818" y="702783"/>
            <a:ext cx="2376264" cy="432048"/>
          </a:xfrm>
          <a:prstGeom prst="ellips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пользователь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38818" y="1134831"/>
            <a:ext cx="17962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i="1" dirty="0"/>
              <a:t>Ввод на основании</a:t>
            </a:r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1547664" y="1567560"/>
            <a:ext cx="3447831" cy="90725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1" dirty="0"/>
              <a:t>Динамический список (Сотрудники)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sp>
        <p:nvSpPr>
          <p:cNvPr id="40" name="Стрелка углом 39"/>
          <p:cNvSpPr/>
          <p:nvPr/>
        </p:nvSpPr>
        <p:spPr>
          <a:xfrm rot="10800000">
            <a:off x="4402921" y="1152924"/>
            <a:ext cx="1044000" cy="1195956"/>
          </a:xfrm>
          <a:prstGeom prst="bentArrow">
            <a:avLst>
              <a:gd name="adj1" fmla="val 14180"/>
              <a:gd name="adj2" fmla="val 15327"/>
              <a:gd name="adj3" fmla="val 25781"/>
              <a:gd name="adj4" fmla="val 23164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26" name="Облако 25"/>
          <p:cNvSpPr/>
          <p:nvPr/>
        </p:nvSpPr>
        <p:spPr>
          <a:xfrm>
            <a:off x="5726406" y="2667093"/>
            <a:ext cx="2808312" cy="979641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27" name="Облако 26"/>
          <p:cNvSpPr/>
          <p:nvPr/>
        </p:nvSpPr>
        <p:spPr>
          <a:xfrm>
            <a:off x="5643568" y="1417150"/>
            <a:ext cx="2824616" cy="938249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29" name="Стрелка вправо 28"/>
          <p:cNvSpPr/>
          <p:nvPr/>
        </p:nvSpPr>
        <p:spPr>
          <a:xfrm rot="16200000">
            <a:off x="7355312" y="2275366"/>
            <a:ext cx="1362879" cy="472813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Стрелка вправо 31"/>
          <p:cNvSpPr/>
          <p:nvPr/>
        </p:nvSpPr>
        <p:spPr>
          <a:xfrm rot="21006267">
            <a:off x="5700194" y="3512516"/>
            <a:ext cx="1362879" cy="472813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люс 33"/>
          <p:cNvSpPr/>
          <p:nvPr/>
        </p:nvSpPr>
        <p:spPr>
          <a:xfrm rot="2601363">
            <a:off x="3357427" y="2666025"/>
            <a:ext cx="2592288" cy="2613960"/>
          </a:xfrm>
          <a:prstGeom prst="mathPlus">
            <a:avLst>
              <a:gd name="adj1" fmla="val 11601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0778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9" grpId="0" animBg="1"/>
      <p:bldP spid="32" grpId="0" animBg="1"/>
      <p:bldP spid="3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 idx="4294967295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r>
              <a:rPr lang="ru-RU" dirty="0"/>
              <a:t>Команды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56218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Кто создал</a:t>
            </a:r>
          </a:p>
          <a:p>
            <a:pPr lvl="1"/>
            <a:r>
              <a:rPr lang="ru-RU" dirty="0"/>
              <a:t>Платформа</a:t>
            </a:r>
          </a:p>
          <a:p>
            <a:pPr lvl="1"/>
            <a:r>
              <a:rPr lang="ru-RU" dirty="0">
                <a:solidFill>
                  <a:schemeClr val="bg2">
                    <a:lumMod val="25000"/>
                  </a:schemeClr>
                </a:solidFill>
              </a:rPr>
              <a:t>Разработчик</a:t>
            </a:r>
          </a:p>
          <a:p>
            <a:r>
              <a:rPr lang="ru-RU" dirty="0"/>
              <a:t>Количество мест расположения</a:t>
            </a:r>
          </a:p>
          <a:p>
            <a:pPr lvl="1"/>
            <a:r>
              <a:rPr lang="ru-RU" dirty="0">
                <a:solidFill>
                  <a:schemeClr val="accent4">
                    <a:lumMod val="75000"/>
                  </a:schemeClr>
                </a:solidFill>
              </a:rPr>
              <a:t>Только в одной форме</a:t>
            </a:r>
          </a:p>
          <a:p>
            <a:pPr lvl="1"/>
            <a:r>
              <a:rPr lang="ru-RU" dirty="0"/>
              <a:t>В разных формах</a:t>
            </a:r>
          </a:p>
          <a:p>
            <a:r>
              <a:rPr lang="ru-RU" dirty="0"/>
              <a:t>Выполняемое действие</a:t>
            </a:r>
          </a:p>
          <a:p>
            <a:pPr lvl="1"/>
            <a:r>
              <a:rPr lang="ru-RU" dirty="0">
                <a:solidFill>
                  <a:srgbClr val="C00000"/>
                </a:solidFill>
              </a:rPr>
              <a:t>Навигационные</a:t>
            </a:r>
          </a:p>
          <a:p>
            <a:pPr lvl="1"/>
            <a:r>
              <a:rPr lang="ru-RU" dirty="0">
                <a:solidFill>
                  <a:srgbClr val="0070C0"/>
                </a:solidFill>
              </a:rPr>
              <a:t>Действия</a:t>
            </a:r>
          </a:p>
          <a:p>
            <a:r>
              <a:rPr lang="ru-RU" dirty="0"/>
              <a:t>Зависимость от других данных</a:t>
            </a:r>
          </a:p>
          <a:p>
            <a:pPr lvl="1"/>
            <a:r>
              <a:rPr lang="ru-RU" dirty="0">
                <a:solidFill>
                  <a:srgbClr val="00B050"/>
                </a:solidFill>
              </a:rPr>
              <a:t>Независимые</a:t>
            </a:r>
          </a:p>
          <a:p>
            <a:pPr lvl="1"/>
            <a:r>
              <a:rPr lang="ru-RU" dirty="0">
                <a:solidFill>
                  <a:schemeClr val="accent6">
                    <a:lumMod val="75000"/>
                  </a:schemeClr>
                </a:solidFill>
              </a:rPr>
              <a:t>Параметризированные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команд</a:t>
            </a:r>
          </a:p>
        </p:txBody>
      </p:sp>
    </p:spTree>
    <p:extLst>
      <p:ext uri="{BB962C8B-B14F-4D97-AF65-F5344CB8AC3E}">
        <p14:creationId xmlns:p14="http://schemas.microsoft.com/office/powerpoint/2010/main" val="402673242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Кто создает команду</a:t>
            </a: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Стандартные команды</a:t>
            </a:r>
          </a:p>
          <a:p>
            <a:pPr lvl="1"/>
            <a:r>
              <a:rPr lang="ru-RU" dirty="0"/>
              <a:t>Зависят от настроек метаданных. </a:t>
            </a:r>
          </a:p>
          <a:p>
            <a:pPr lvl="1"/>
            <a:r>
              <a:rPr lang="ru-RU" dirty="0"/>
              <a:t>Автоматически создаются платформой.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ru-RU" dirty="0"/>
              <a:t>Команды созданные разработчиком</a:t>
            </a:r>
          </a:p>
          <a:p>
            <a:pPr lvl="1"/>
            <a:r>
              <a:rPr lang="ru-RU" dirty="0"/>
              <a:t>Явно создаются разработчиком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465927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Количество мест расположения</a:t>
            </a: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Локальные команды</a:t>
            </a:r>
          </a:p>
          <a:p>
            <a:pPr lvl="1"/>
            <a:r>
              <a:rPr lang="ru-RU" sz="2000" dirty="0"/>
              <a:t>Располагается только в одной форме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pPr lvl="0"/>
            <a:r>
              <a:rPr lang="ru-RU" dirty="0"/>
              <a:t>Глобальные команды</a:t>
            </a:r>
          </a:p>
          <a:p>
            <a:pPr lvl="1"/>
            <a:r>
              <a:rPr lang="ru-RU" sz="2000" dirty="0"/>
              <a:t>Могут располагаться в нескольких формах (окнах)</a:t>
            </a:r>
            <a:endParaRPr lang="en-US" sz="2000" dirty="0"/>
          </a:p>
          <a:p>
            <a:pPr lvl="1"/>
            <a:r>
              <a:rPr lang="ru-RU" sz="2000" dirty="0"/>
              <a:t>Могут располагаться в основном окне программы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05130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170" y="3604768"/>
            <a:ext cx="6448131" cy="2679153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980728"/>
            <a:ext cx="6629400" cy="2676525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Пример глобальной команды 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710235" y="1494964"/>
            <a:ext cx="2664296" cy="867807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4360639" y="4102779"/>
            <a:ext cx="2664296" cy="867807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9149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500"/>
                            </p:stCondLst>
                            <p:childTnLst>
                              <p:par>
                                <p:cTn id="2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1" dur="2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000"/>
                            </p:stCondLst>
                            <p:childTnLst>
                              <p:par>
                                <p:cTn id="3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  <p:bldP spid="8" grpId="0" animBg="1"/>
      <p:bldP spid="8" grpId="1" animBg="1"/>
      <p:bldP spid="8" grpId="2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«ожидаемому» действию</a:t>
            </a: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Навигационные</a:t>
            </a:r>
          </a:p>
          <a:p>
            <a:pPr lvl="1"/>
            <a:r>
              <a:rPr lang="ru-RU" sz="2000" dirty="0"/>
              <a:t>Встраивают в текущее окно список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pPr lvl="0"/>
            <a:r>
              <a:rPr lang="ru-RU" dirty="0"/>
              <a:t>Действия</a:t>
            </a:r>
          </a:p>
          <a:p>
            <a:pPr lvl="1"/>
            <a:r>
              <a:rPr lang="ru-RU" sz="2000" dirty="0"/>
              <a:t>Открывают другое окно, в котором будет инициирован некий процесс</a:t>
            </a:r>
          </a:p>
          <a:p>
            <a:pPr lvl="2"/>
            <a:r>
              <a:rPr lang="ru-RU" sz="1400" i="1" dirty="0"/>
              <a:t>Формирование отчета;</a:t>
            </a:r>
          </a:p>
          <a:p>
            <a:pPr lvl="2"/>
            <a:r>
              <a:rPr lang="ru-RU" sz="1400" i="1" dirty="0"/>
              <a:t>Создание нового документа;</a:t>
            </a:r>
          </a:p>
          <a:p>
            <a:pPr lvl="2"/>
            <a:r>
              <a:rPr lang="ru-RU" sz="1400" i="1" dirty="0"/>
              <a:t>Открытие формы обработки;</a:t>
            </a:r>
          </a:p>
          <a:p>
            <a:pPr lvl="2"/>
            <a:r>
              <a:rPr lang="ru-RU" sz="1400" i="1" dirty="0" err="1"/>
              <a:t>И.т.п</a:t>
            </a:r>
            <a:r>
              <a:rPr lang="ru-RU" sz="1400" i="1" dirty="0"/>
              <a:t>.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9392861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220" y="1422697"/>
            <a:ext cx="3933825" cy="235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команды действия</a:t>
            </a:r>
          </a:p>
        </p:txBody>
      </p:sp>
      <p:sp>
        <p:nvSpPr>
          <p:cNvPr id="3" name="Стрелка углом 2"/>
          <p:cNvSpPr/>
          <p:nvPr/>
        </p:nvSpPr>
        <p:spPr>
          <a:xfrm rot="10800000" flipH="1">
            <a:off x="2310346" y="4077072"/>
            <a:ext cx="1973622" cy="1756170"/>
          </a:xfrm>
          <a:prstGeom prst="ben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2627784" y="2883994"/>
            <a:ext cx="1800200" cy="328982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385" y="4005064"/>
            <a:ext cx="4139056" cy="22080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49967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6" grpId="1" animBg="1"/>
      <p:bldP spid="6" grpId="2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навигационной команды 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556792"/>
            <a:ext cx="2505075" cy="2305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2132856"/>
            <a:ext cx="3888432" cy="44085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Стрелка углом 2"/>
          <p:cNvSpPr/>
          <p:nvPr/>
        </p:nvSpPr>
        <p:spPr>
          <a:xfrm rot="10800000" flipH="1">
            <a:off x="2310346" y="4077072"/>
            <a:ext cx="1973622" cy="1756170"/>
          </a:xfrm>
          <a:prstGeom prst="ben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83568" y="2611446"/>
            <a:ext cx="2016224" cy="490404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6471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6" grpId="1" animBg="1"/>
      <p:bldP spid="6" grpId="2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зависимости от других данных</a:t>
            </a: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Независимые</a:t>
            </a:r>
          </a:p>
          <a:p>
            <a:pPr lvl="1"/>
            <a:r>
              <a:rPr lang="ru-RU" sz="2000" dirty="0"/>
              <a:t>Работают одинаково в любых ситуациях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0"/>
          </p:nvPr>
        </p:nvSpPr>
        <p:spPr>
          <a:xfrm>
            <a:off x="4355976" y="1340768"/>
            <a:ext cx="4594811" cy="4896543"/>
          </a:xfrm>
        </p:spPr>
        <p:txBody>
          <a:bodyPr/>
          <a:lstStyle/>
          <a:p>
            <a:r>
              <a:rPr lang="ru-RU" dirty="0"/>
              <a:t>Параметризируемые</a:t>
            </a:r>
          </a:p>
          <a:p>
            <a:pPr lvl="2"/>
            <a:r>
              <a:rPr lang="ru-RU" dirty="0"/>
              <a:t>Нужен входящий параметр (ссылка или массив ссылок)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2856344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независимой команды 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556792"/>
            <a:ext cx="2505075" cy="2305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844824"/>
            <a:ext cx="3888432" cy="44085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Стрелка углом 2"/>
          <p:cNvSpPr/>
          <p:nvPr/>
        </p:nvSpPr>
        <p:spPr>
          <a:xfrm rot="10800000" flipH="1">
            <a:off x="2310346" y="4077072"/>
            <a:ext cx="1973622" cy="1756170"/>
          </a:xfrm>
          <a:prstGeom prst="ben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83568" y="2611446"/>
            <a:ext cx="2016224" cy="490404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3267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6" grpId="1" animBg="1"/>
      <p:bldP spid="6" grpId="2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6846" y="3664613"/>
            <a:ext cx="5385594" cy="2563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1052736"/>
            <a:ext cx="6629400" cy="2676525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Пример параметризируемой команды </a:t>
            </a:r>
          </a:p>
        </p:txBody>
      </p:sp>
      <p:sp>
        <p:nvSpPr>
          <p:cNvPr id="3" name="Стрелка углом 2"/>
          <p:cNvSpPr/>
          <p:nvPr/>
        </p:nvSpPr>
        <p:spPr>
          <a:xfrm rot="5400000">
            <a:off x="5798268" y="2492256"/>
            <a:ext cx="2592290" cy="1086208"/>
          </a:xfrm>
          <a:prstGeom prst="ben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851920" y="1523190"/>
            <a:ext cx="2664296" cy="867807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440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6" grpId="1" animBg="1"/>
      <p:bldP spid="6" grpId="2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84815"/>
          </a:xfrm>
        </p:spPr>
        <p:txBody>
          <a:bodyPr>
            <a:normAutofit fontScale="90000"/>
          </a:bodyPr>
          <a:lstStyle/>
          <a:p>
            <a:r>
              <a:rPr lang="ru-RU" sz="3600" dirty="0"/>
              <a:t>Место расположение глобальных команд по умолчанию</a:t>
            </a:r>
            <a:br>
              <a:rPr lang="ru-RU" dirty="0"/>
            </a:br>
            <a:r>
              <a:rPr lang="ru-RU" sz="1800" dirty="0"/>
              <a:t>(</a:t>
            </a:r>
            <a:r>
              <a:rPr lang="ru-RU" sz="2000" dirty="0"/>
              <a:t>Потом можно изменить)</a:t>
            </a:r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1322546" y="1700808"/>
            <a:ext cx="3600400" cy="43204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Независимые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5093872" y="1706690"/>
            <a:ext cx="3600400" cy="432048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Параметризируемые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47564" y="2276872"/>
            <a:ext cx="504056" cy="193833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ru-RU" dirty="0"/>
              <a:t>Навигационные</a:t>
            </a: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647564" y="4365104"/>
            <a:ext cx="504056" cy="19383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ru-RU" dirty="0"/>
              <a:t>Действия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2700423"/>
            <a:ext cx="2643099" cy="7429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4906076"/>
            <a:ext cx="3008502" cy="779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2731688"/>
            <a:ext cx="2959785" cy="7308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5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8337" y="4906076"/>
            <a:ext cx="3690594" cy="755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83796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</p:bldLst>
  </p:timing>
</p:sld>
</file>

<file path=ppt/theme/theme1.xml><?xml version="1.0" encoding="utf-8"?>
<a:theme xmlns:a="http://schemas.openxmlformats.org/drawingml/2006/main" name="СофтБаланс_основные_объекты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_основные_объекты" id="{62BD0483-928A-448D-BBAD-621E3072F039}" vid="{487075A3-1F89-4279-8755-8EA96074D5C1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СофтБаланс_основные_объекты</Template>
  <TotalTime>4870</TotalTime>
  <Words>2542</Words>
  <Application>Microsoft Office PowerPoint</Application>
  <PresentationFormat>Экран (4:3)</PresentationFormat>
  <Paragraphs>1218</Paragraphs>
  <Slides>77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77</vt:i4>
      </vt:variant>
    </vt:vector>
  </HeadingPairs>
  <TitlesOfParts>
    <vt:vector size="84" baseType="lpstr">
      <vt:lpstr>Arial</vt:lpstr>
      <vt:lpstr>Arial Black</vt:lpstr>
      <vt:lpstr>Calibri</vt:lpstr>
      <vt:lpstr>Tahoma</vt:lpstr>
      <vt:lpstr>Verdana</vt:lpstr>
      <vt:lpstr>Wingdings</vt:lpstr>
      <vt:lpstr>СофтБаланс_основные_объекты</vt:lpstr>
      <vt:lpstr>Занятие 4</vt:lpstr>
      <vt:lpstr>Разница дат</vt:lpstr>
      <vt:lpstr>Прикладные объекты</vt:lpstr>
      <vt:lpstr>Задача</vt:lpstr>
      <vt:lpstr>Презентация PowerPoint</vt:lpstr>
      <vt:lpstr>Объектная модель доступа к данным константы</vt:lpstr>
      <vt:lpstr>Менеджер значения константы</vt:lpstr>
      <vt:lpstr>Глобальный контекст</vt:lpstr>
      <vt:lpstr>Объектная модель работы с данными справочников и документов</vt:lpstr>
      <vt:lpstr>Задача</vt:lpstr>
      <vt:lpstr>Объектная модель доступа к данным</vt:lpstr>
      <vt:lpstr>Пример</vt:lpstr>
      <vt:lpstr>Глобальный контекст</vt:lpstr>
      <vt:lpstr>Чтение данных одного объекта данных</vt:lpstr>
      <vt:lpstr>Запись данных справочника</vt:lpstr>
      <vt:lpstr>Объектная модель доступа к данным</vt:lpstr>
      <vt:lpstr>Чтение данных формой</vt:lpstr>
      <vt:lpstr>Запись из формы</vt:lpstr>
      <vt:lpstr>Запись из формы</vt:lpstr>
      <vt:lpstr>События записи документ объекта</vt:lpstr>
      <vt:lpstr>Последовательность событий записи документа</vt:lpstr>
      <vt:lpstr>События записи документа</vt:lpstr>
      <vt:lpstr>1) ПЕРЕД ЗАПИСЬЮ</vt:lpstr>
      <vt:lpstr>2) ПРИ ЗАПИСИ</vt:lpstr>
      <vt:lpstr>2) ПРИ ЗАПИСИ</vt:lpstr>
      <vt:lpstr>Последовательность событий проведение документа</vt:lpstr>
      <vt:lpstr>События записи документа</vt:lpstr>
      <vt:lpstr>1) ПЕРЕД ЗАПИСЬЮ</vt:lpstr>
      <vt:lpstr>2) ПРИ ЗАПИСИ</vt:lpstr>
      <vt:lpstr>3) Обработка проведения</vt:lpstr>
      <vt:lpstr>3) Обработка проведения</vt:lpstr>
      <vt:lpstr>Последовательность событий отмена проведения документа</vt:lpstr>
      <vt:lpstr>События записи документа</vt:lpstr>
      <vt:lpstr>1) ПЕРЕД ЗАПИСЬЮ</vt:lpstr>
      <vt:lpstr>3) Обработка удаления проведения</vt:lpstr>
      <vt:lpstr>2) ПРИ ЗАПИСИ</vt:lpstr>
      <vt:lpstr>2) ПРИ ЗАПИСИ</vt:lpstr>
      <vt:lpstr>Задача</vt:lpstr>
      <vt:lpstr>Предопределенные элементы базы данных</vt:lpstr>
      <vt:lpstr>Задача</vt:lpstr>
      <vt:lpstr>Чтение данных нескольких объектов данных</vt:lpstr>
      <vt:lpstr>Чтение данных нескольких объектов данных</vt:lpstr>
      <vt:lpstr>Чтение данных нескольких объектов данных</vt:lpstr>
      <vt:lpstr>Чтение данных нескольких объектов данных</vt:lpstr>
      <vt:lpstr>Чтение данных нескольких объектов данных</vt:lpstr>
      <vt:lpstr>Ввод на основании</vt:lpstr>
      <vt:lpstr>Открытие формы существующего объекта базы данных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Открытие формы нового (еще не записанного в базу данных) объекта данных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Открытие формы нового (еще не записанного в базу данных) объекта данных при использовании механизма «Вввод на основании»</vt:lpstr>
      <vt:lpstr>Презентация PowerPoint</vt:lpstr>
      <vt:lpstr>Презентация PowerPoint</vt:lpstr>
      <vt:lpstr>Команды</vt:lpstr>
      <vt:lpstr>Классификация команд</vt:lpstr>
      <vt:lpstr>Кто создает команду</vt:lpstr>
      <vt:lpstr>Количество мест расположения</vt:lpstr>
      <vt:lpstr>Пример глобальной команды </vt:lpstr>
      <vt:lpstr>По «ожидаемому» действию</vt:lpstr>
      <vt:lpstr>Пример команды действия</vt:lpstr>
      <vt:lpstr>Пример навигационной команды </vt:lpstr>
      <vt:lpstr>По зависимости от других данных</vt:lpstr>
      <vt:lpstr>Пример независимой команды </vt:lpstr>
      <vt:lpstr>Пример параметризируемой команды </vt:lpstr>
      <vt:lpstr>Место расположение глобальных команд по умолчанию (Потом можно изменить)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 занятие</dc:title>
  <dc:creator>Сергей</dc:creator>
  <cp:lastModifiedBy>eugeniy sizov</cp:lastModifiedBy>
  <cp:revision>114</cp:revision>
  <dcterms:created xsi:type="dcterms:W3CDTF">2010-10-21T16:41:17Z</dcterms:created>
  <dcterms:modified xsi:type="dcterms:W3CDTF">2020-03-17T14:20:38Z</dcterms:modified>
</cp:coreProperties>
</file>