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6"/>
  </p:notesMasterIdLst>
  <p:sldIdLst>
    <p:sldId id="256" r:id="rId2"/>
    <p:sldId id="299" r:id="rId3"/>
    <p:sldId id="309" r:id="rId4"/>
    <p:sldId id="392" r:id="rId5"/>
    <p:sldId id="311" r:id="rId6"/>
    <p:sldId id="443" r:id="rId7"/>
    <p:sldId id="283" r:id="rId8"/>
    <p:sldId id="444" r:id="rId9"/>
    <p:sldId id="445" r:id="rId10"/>
    <p:sldId id="436" r:id="rId11"/>
    <p:sldId id="442" r:id="rId12"/>
    <p:sldId id="437" r:id="rId13"/>
    <p:sldId id="438" r:id="rId14"/>
    <p:sldId id="439" r:id="rId15"/>
    <p:sldId id="440" r:id="rId16"/>
    <p:sldId id="441" r:id="rId17"/>
    <p:sldId id="472" r:id="rId18"/>
    <p:sldId id="475" r:id="rId19"/>
    <p:sldId id="473" r:id="rId20"/>
    <p:sldId id="461" r:id="rId21"/>
    <p:sldId id="476" r:id="rId22"/>
    <p:sldId id="477" r:id="rId23"/>
    <p:sldId id="478" r:id="rId24"/>
    <p:sldId id="479" r:id="rId25"/>
    <p:sldId id="480" r:id="rId26"/>
    <p:sldId id="390" r:id="rId27"/>
    <p:sldId id="296" r:id="rId28"/>
    <p:sldId id="333" r:id="rId29"/>
    <p:sldId id="446" r:id="rId30"/>
    <p:sldId id="448" r:id="rId31"/>
    <p:sldId id="453" r:id="rId32"/>
    <p:sldId id="454" r:id="rId33"/>
    <p:sldId id="455" r:id="rId34"/>
    <p:sldId id="456" r:id="rId35"/>
    <p:sldId id="458" r:id="rId36"/>
    <p:sldId id="459" r:id="rId37"/>
    <p:sldId id="470" r:id="rId38"/>
    <p:sldId id="468" r:id="rId39"/>
    <p:sldId id="471" r:id="rId40"/>
    <p:sldId id="469" r:id="rId41"/>
    <p:sldId id="278" r:id="rId42"/>
    <p:sldId id="371" r:id="rId43"/>
    <p:sldId id="413" r:id="rId44"/>
    <p:sldId id="414" r:id="rId45"/>
    <p:sldId id="415" r:id="rId46"/>
    <p:sldId id="416" r:id="rId47"/>
    <p:sldId id="417" r:id="rId48"/>
    <p:sldId id="418" r:id="rId49"/>
    <p:sldId id="372" r:id="rId50"/>
    <p:sldId id="419" r:id="rId51"/>
    <p:sldId id="420" r:id="rId52"/>
    <p:sldId id="421" r:id="rId53"/>
    <p:sldId id="422" r:id="rId54"/>
    <p:sldId id="423" r:id="rId55"/>
    <p:sldId id="424" r:id="rId56"/>
    <p:sldId id="381" r:id="rId57"/>
    <p:sldId id="435" r:id="rId58"/>
    <p:sldId id="426" r:id="rId59"/>
    <p:sldId id="430" r:id="rId60"/>
    <p:sldId id="431" r:id="rId61"/>
    <p:sldId id="428" r:id="rId62"/>
    <p:sldId id="432" r:id="rId63"/>
    <p:sldId id="429" r:id="rId64"/>
    <p:sldId id="434" r:id="rId6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56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6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BAF48D07-697E-4671-AE30-606B61A843A7}"/>
    <pc:docChg chg="modSld sldOrd">
      <pc:chgData name="eugeniy sizov" userId="f166da1dfb7bc990" providerId="LiveId" clId="{BAF48D07-697E-4671-AE30-606B61A843A7}" dt="2020-03-17T12:12:44.198" v="1"/>
      <pc:docMkLst>
        <pc:docMk/>
      </pc:docMkLst>
      <pc:sldChg chg="ord">
        <pc:chgData name="eugeniy sizov" userId="f166da1dfb7bc990" providerId="LiveId" clId="{BAF48D07-697E-4671-AE30-606B61A843A7}" dt="2020-03-17T12:12:44.198" v="1"/>
        <pc:sldMkLst>
          <pc:docMk/>
          <pc:sldMk cId="318035001" sldId="284"/>
        </pc:sldMkLst>
      </pc:sldChg>
    </pc:docChg>
  </pc:docChgLst>
  <pc:docChgLst>
    <pc:chgData name="eugeniy sizov" userId="f166da1dfb7bc990" providerId="LiveId" clId="{0040FEB4-D306-46E9-8895-BBB8FA83B8D5}"/>
    <pc:docChg chg="modSld sldOrd">
      <pc:chgData name="eugeniy sizov" userId="f166da1dfb7bc990" providerId="LiveId" clId="{0040FEB4-D306-46E9-8895-BBB8FA83B8D5}" dt="2018-08-07T13:36:28.201" v="0"/>
      <pc:docMkLst>
        <pc:docMk/>
      </pc:docMkLst>
      <pc:sldChg chg="ord">
        <pc:chgData name="eugeniy sizov" userId="f166da1dfb7bc990" providerId="LiveId" clId="{0040FEB4-D306-46E9-8895-BBB8FA83B8D5}" dt="2018-08-07T13:36:28.201" v="0"/>
        <pc:sldMkLst>
          <pc:docMk/>
          <pc:sldMk cId="3285921239" sldId="33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D2F9E-8932-4BC0-94C5-DE962599865D}" type="datetimeFigureOut">
              <a:rPr lang="ru-RU" smtClean="0"/>
              <a:t>26.09.2020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29DFA-7523-49D3-85FF-94385575B4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946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5221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447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5413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33049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04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9709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0935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102008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/77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415387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pc="300" dirty="0">
                <a:solidFill>
                  <a:srgbClr val="C00000"/>
                </a:solidFill>
              </a:rPr>
              <a:t>Занятие 4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 smtClean="0"/>
              <a:t>Прикладные </a:t>
            </a:r>
            <a:r>
              <a:rPr lang="ru-RU" dirty="0"/>
              <a:t>объекты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Ввод на </a:t>
            </a:r>
            <a:r>
              <a:rPr lang="ru-RU" dirty="0" smtClean="0"/>
              <a:t>основании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629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Прикладные объекты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Запись, чтение, изменение и удаление информации из базы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703770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sp>
        <p:nvSpPr>
          <p:cNvPr id="8" name="Объект 2"/>
          <p:cNvSpPr txBox="1">
            <a:spLocks/>
          </p:cNvSpPr>
          <p:nvPr/>
        </p:nvSpPr>
        <p:spPr>
          <a:xfrm>
            <a:off x="185862" y="1268681"/>
            <a:ext cx="8784000" cy="72015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ru-RU" sz="2400" dirty="0"/>
              <a:t>При начале работы системы установить в заголовке название организации, хранимое в константе.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2420888"/>
            <a:ext cx="6914286" cy="2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69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7835"/>
              <a:gd name="adj4" fmla="val -28242"/>
              <a:gd name="adj5" fmla="val -65161"/>
              <a:gd name="adj6" fmla="val -26659"/>
              <a:gd name="adj7" fmla="val -83749"/>
              <a:gd name="adj8" fmla="val -1513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65803"/>
              <a:gd name="adj8" fmla="val -46188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9" name="Прямоугольник 28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626609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 константы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Константы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Константа менеджер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какой константы будем читать информацию?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864" y="299105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Чтение, запись, изменение значения константы.</a:t>
            </a:r>
          </a:p>
        </p:txBody>
      </p:sp>
    </p:spTree>
    <p:extLst>
      <p:ext uri="{BB962C8B-B14F-4D97-AF65-F5344CB8AC3E}">
        <p14:creationId xmlns:p14="http://schemas.microsoft.com/office/powerpoint/2010/main" val="3931526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130470"/>
              </p:ext>
            </p:extLst>
          </p:nvPr>
        </p:nvGraphicFramePr>
        <p:xfrm>
          <a:off x="683568" y="980728"/>
          <a:ext cx="7848872" cy="18542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312368">
                  <a:extLst>
                    <a:ext uri="{9D8B030D-6E8A-4147-A177-3AD203B41FA5}">
                      <a16:colId xmlns:a16="http://schemas.microsoft.com/office/drawing/2014/main" val="1776118798"/>
                    </a:ext>
                  </a:extLst>
                </a:gridCol>
                <a:gridCol w="4536504">
                  <a:extLst>
                    <a:ext uri="{9D8B030D-6E8A-4147-A177-3AD203B41FA5}">
                      <a16:colId xmlns:a16="http://schemas.microsoft.com/office/drawing/2014/main" val="536701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Свойство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Значение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083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Клиентское приложение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aseline="0" dirty="0" smtClean="0"/>
                        <a:t>Клиентское приложение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186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Библиотека</a:t>
                      </a:r>
                      <a:r>
                        <a:rPr lang="ru-RU" baseline="0" dirty="0" smtClean="0"/>
                        <a:t> картинок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Библиотека картинок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258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Безопасное хранилище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Менеджер безопасного хранилища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83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…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…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681165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183211"/>
              </p:ext>
            </p:extLst>
          </p:nvPr>
        </p:nvGraphicFramePr>
        <p:xfrm>
          <a:off x="685564" y="3573016"/>
          <a:ext cx="7848872" cy="18542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312368">
                  <a:extLst>
                    <a:ext uri="{9D8B030D-6E8A-4147-A177-3AD203B41FA5}">
                      <a16:colId xmlns:a16="http://schemas.microsoft.com/office/drawing/2014/main" val="1776118798"/>
                    </a:ext>
                  </a:extLst>
                </a:gridCol>
                <a:gridCol w="4536504">
                  <a:extLst>
                    <a:ext uri="{9D8B030D-6E8A-4147-A177-3AD203B41FA5}">
                      <a16:colId xmlns:a16="http://schemas.microsoft.com/office/drawing/2014/main" val="536701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Свойство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Значение (менеджеры)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083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Константы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Константы менеджер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186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Справочники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Справочники менеджер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258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Документы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Документы менеджер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1783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…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…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68116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55776" y="587357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Глобальный контекст (клиент)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2555776" y="3204953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Глобальный контекст (сервер)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452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475822"/>
            <a:ext cx="8784000" cy="548798"/>
          </a:xfrm>
        </p:spPr>
        <p:txBody>
          <a:bodyPr/>
          <a:lstStyle/>
          <a:p>
            <a:r>
              <a:rPr lang="ru-RU" dirty="0">
                <a:solidFill>
                  <a:srgbClr val="C00000"/>
                </a:solidFill>
              </a:rPr>
              <a:t>Глобальный контекст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725836"/>
              </p:ext>
            </p:extLst>
          </p:nvPr>
        </p:nvGraphicFramePr>
        <p:xfrm>
          <a:off x="323528" y="908720"/>
          <a:ext cx="8424280" cy="53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772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Константы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Справочники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66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440862"/>
              </p:ext>
            </p:extLst>
          </p:nvPr>
        </p:nvGraphicFramePr>
        <p:xfrm>
          <a:off x="755574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константы</a:t>
                      </a:r>
                      <a:br>
                        <a:rPr lang="ru-RU" dirty="0"/>
                      </a:b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Константа 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Название </a:t>
                      </a:r>
                      <a:r>
                        <a:rPr lang="ru-RU" dirty="0" err="1"/>
                        <a:t>организа-ции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ИНН</a:t>
                      </a:r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Дата регистра-</a:t>
                      </a:r>
                      <a:r>
                        <a:rPr lang="ru-RU" dirty="0" err="1"/>
                        <a:t>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330539"/>
              </p:ext>
            </p:extLst>
          </p:nvPr>
        </p:nvGraphicFramePr>
        <p:xfrm>
          <a:off x="3347862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</a:t>
                      </a:r>
                      <a:r>
                        <a:rPr lang="ru-RU" dirty="0" err="1"/>
                        <a:t>справоч-ника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err="1"/>
                        <a:t>Справоч</a:t>
                      </a:r>
                      <a:r>
                        <a:rPr lang="ru-RU" dirty="0"/>
                        <a:t>-ник </a:t>
                      </a:r>
                      <a:br>
                        <a:rPr lang="ru-RU" dirty="0"/>
                      </a:br>
                      <a:r>
                        <a:rPr lang="ru-RU" dirty="0"/>
                        <a:t>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Номенкла</a:t>
                      </a:r>
                      <a:r>
                        <a:rPr lang="ru-RU" dirty="0"/>
                        <a:t>-тура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Подразде-ления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Должно-</a:t>
                      </a:r>
                      <a:r>
                        <a:rPr lang="ru-RU" dirty="0" err="1"/>
                        <a:t>сти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18966"/>
              </p:ext>
            </p:extLst>
          </p:nvPr>
        </p:nvGraphicFramePr>
        <p:xfrm>
          <a:off x="5868142" y="2076624"/>
          <a:ext cx="2520000" cy="40284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 </a:t>
                      </a:r>
                      <a:r>
                        <a:rPr lang="ru-RU" dirty="0" err="1"/>
                        <a:t>докумен</a:t>
                      </a:r>
                      <a:r>
                        <a:rPr lang="ru-RU" dirty="0"/>
                        <a:t>-та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менеджер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Приказ</a:t>
                      </a:r>
                      <a:r>
                        <a:rPr lang="ru-RU" baseline="0" dirty="0"/>
                        <a:t> о приеме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Приказ об </a:t>
                      </a:r>
                      <a:r>
                        <a:rPr lang="ru-RU" dirty="0" err="1"/>
                        <a:t>увольне-нии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Установка</a:t>
                      </a:r>
                      <a:r>
                        <a:rPr lang="ru-RU" baseline="0" dirty="0" smtClean="0"/>
                        <a:t> цен</a:t>
                      </a:r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2" name="Группа 21"/>
          <p:cNvGrpSpPr/>
          <p:nvPr/>
        </p:nvGrpSpPr>
        <p:grpSpPr>
          <a:xfrm>
            <a:off x="2051720" y="3068960"/>
            <a:ext cx="1091399" cy="2584896"/>
            <a:chOff x="2051720" y="3068960"/>
            <a:chExt cx="1091399" cy="2584896"/>
          </a:xfrm>
        </p:grpSpPr>
        <p:sp>
          <p:nvSpPr>
            <p:cNvPr id="16" name="Скругленный прямоугольник 15"/>
            <p:cNvSpPr/>
            <p:nvPr/>
          </p:nvSpPr>
          <p:spPr>
            <a:xfrm>
              <a:off x="2051720" y="3068960"/>
              <a:ext cx="1080438" cy="7200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Скругленный прямоугольник 19"/>
            <p:cNvSpPr/>
            <p:nvPr/>
          </p:nvSpPr>
          <p:spPr>
            <a:xfrm>
              <a:off x="2062681" y="3997247"/>
              <a:ext cx="1080438" cy="72008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Скругленный прямоугольник 20"/>
            <p:cNvSpPr/>
            <p:nvPr/>
          </p:nvSpPr>
          <p:spPr>
            <a:xfrm>
              <a:off x="2062681" y="4933776"/>
              <a:ext cx="1080438" cy="720080"/>
            </a:xfrm>
            <a:prstGeom prst="round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3" name="Группа 22"/>
          <p:cNvGrpSpPr/>
          <p:nvPr/>
        </p:nvGrpSpPr>
        <p:grpSpPr>
          <a:xfrm>
            <a:off x="4704735" y="3083859"/>
            <a:ext cx="1091399" cy="2584896"/>
            <a:chOff x="2051720" y="3068960"/>
            <a:chExt cx="1091399" cy="2584896"/>
          </a:xfrm>
        </p:grpSpPr>
        <p:sp>
          <p:nvSpPr>
            <p:cNvPr id="24" name="Скругленный прямоугольник 23"/>
            <p:cNvSpPr/>
            <p:nvPr/>
          </p:nvSpPr>
          <p:spPr>
            <a:xfrm>
              <a:off x="2051720" y="3068960"/>
              <a:ext cx="1080438" cy="72008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Скругленный прямоугольник 24"/>
            <p:cNvSpPr/>
            <p:nvPr/>
          </p:nvSpPr>
          <p:spPr>
            <a:xfrm>
              <a:off x="2062681" y="3997247"/>
              <a:ext cx="1080438" cy="72008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Скругленный прямоугольник 25"/>
            <p:cNvSpPr/>
            <p:nvPr/>
          </p:nvSpPr>
          <p:spPr>
            <a:xfrm>
              <a:off x="2062681" y="4933776"/>
              <a:ext cx="1080438" cy="7200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7" name="Группа 26"/>
          <p:cNvGrpSpPr/>
          <p:nvPr/>
        </p:nvGrpSpPr>
        <p:grpSpPr>
          <a:xfrm>
            <a:off x="7193811" y="3083859"/>
            <a:ext cx="1091399" cy="2584896"/>
            <a:chOff x="2051720" y="3068960"/>
            <a:chExt cx="1091399" cy="2584896"/>
          </a:xfrm>
        </p:grpSpPr>
        <p:sp>
          <p:nvSpPr>
            <p:cNvPr id="28" name="Скругленный прямоугольник 27"/>
            <p:cNvSpPr/>
            <p:nvPr/>
          </p:nvSpPr>
          <p:spPr>
            <a:xfrm>
              <a:off x="2051720" y="3068960"/>
              <a:ext cx="1080438" cy="72008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2062681" y="3997247"/>
              <a:ext cx="1080438" cy="72008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Скругленный прямоугольник 29"/>
            <p:cNvSpPr/>
            <p:nvPr/>
          </p:nvSpPr>
          <p:spPr>
            <a:xfrm>
              <a:off x="2062681" y="4933776"/>
              <a:ext cx="1080438" cy="72008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93504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058857"/>
              </p:ext>
            </p:extLst>
          </p:nvPr>
        </p:nvGraphicFramePr>
        <p:xfrm>
          <a:off x="1998439" y="1801731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23528" y="4077072"/>
            <a:ext cx="8534400" cy="1872208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None/>
            </a:pPr>
            <a:r>
              <a:rPr lang="ru-RU" sz="2000" u="sng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</a:t>
            </a:r>
            <a:r>
              <a:rPr lang="ru-RU" sz="2000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данных из структуры:</a:t>
            </a:r>
          </a:p>
          <a:p>
            <a:pPr>
              <a:lnSpc>
                <a:spcPct val="80000"/>
              </a:lnSpc>
              <a:buNone/>
            </a:pPr>
            <a:endParaRPr lang="ru-RU" sz="12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Заголовок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 " Анализ продаж"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ДатаАктуальности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 smtClean="0">
                <a:latin typeface="Courier New" pitchFamily="49" charset="0"/>
              </a:rPr>
              <a:t>Параметры</a:t>
            </a:r>
            <a:r>
              <a:rPr lang="ru-RU" sz="1600" dirty="0" err="1" smtClean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ДатаОтчета</a:t>
            </a:r>
            <a:r>
              <a:rPr lang="ru-RU" sz="1600" dirty="0" smtClean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 smtClean="0">
                <a:solidFill>
                  <a:srgbClr val="00B050"/>
                </a:solidFill>
                <a:latin typeface="Courier New" pitchFamily="49" charset="0"/>
              </a:rPr>
              <a:t>//31.10.2015</a:t>
            </a:r>
            <a:endParaRPr lang="ru-RU" sz="16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 err="1" smtClean="0">
                <a:latin typeface="Courier New" pitchFamily="49" charset="0"/>
              </a:rPr>
              <a:t>ВыводНомеров</a:t>
            </a:r>
            <a:r>
              <a:rPr lang="ru-RU" sz="1600" dirty="0" smtClean="0">
                <a:latin typeface="Courier New" pitchFamily="49" charset="0"/>
              </a:rPr>
              <a:t> 	  </a:t>
            </a:r>
            <a:r>
              <a:rPr lang="ru-RU" sz="1600" dirty="0" smtClean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 smtClean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//Истина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09317" y="1299517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Параметры</a:t>
            </a:r>
            <a:r>
              <a:rPr lang="ru-RU" dirty="0" smtClean="0"/>
              <a:t>  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763688" y="1700808"/>
            <a:ext cx="5184576" cy="1944216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6061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2752381" cy="5571429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147917" y="2721280"/>
            <a:ext cx="5816571" cy="77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buNone/>
            </a:pP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ЗаголовокПрограммы</a:t>
            </a:r>
            <a:r>
              <a:rPr lang="ru-RU" dirty="0" smtClean="0">
                <a:latin typeface="Courier New" pitchFamily="49" charset="0"/>
              </a:rPr>
              <a:t> </a:t>
            </a:r>
            <a:r>
              <a:rPr lang="ru-RU" dirty="0">
                <a:latin typeface="Courier New" pitchFamily="49" charset="0"/>
              </a:rPr>
              <a:t>	 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sz="16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Константы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НазваниеОрганизации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</a:t>
            </a:r>
            <a:r>
              <a:rPr lang="ru-RU" dirty="0" smtClean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dirty="0" smtClean="0">
                <a:solidFill>
                  <a:srgbClr val="00B050"/>
                </a:solidFill>
                <a:latin typeface="Courier New" pitchFamily="49" charset="0"/>
              </a:rPr>
              <a:t>//Софт-Баланс (учебный центр)</a:t>
            </a:r>
            <a:endParaRPr lang="ru-RU" dirty="0">
              <a:solidFill>
                <a:srgbClr val="00B050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8895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Прямоугольник 47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6" name="Цилиндр 15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67544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а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sp>
        <p:nvSpPr>
          <p:cNvPr id="49" name="Выноска 3 4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945025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3" name="Выноска 2 (с границей) 22"/>
          <p:cNvSpPr/>
          <p:nvPr/>
        </p:nvSpPr>
        <p:spPr>
          <a:xfrm>
            <a:off x="4499992" y="1757971"/>
            <a:ext cx="2664296" cy="802886"/>
          </a:xfrm>
          <a:prstGeom prst="accentCallout2">
            <a:avLst/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Нам надо получить значение константы здесь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3784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sp>
        <p:nvSpPr>
          <p:cNvPr id="11" name="Полилиния 10"/>
          <p:cNvSpPr/>
          <p:nvPr/>
        </p:nvSpPr>
        <p:spPr>
          <a:xfrm>
            <a:off x="3496235" y="2601171"/>
            <a:ext cx="2159354" cy="2230805"/>
          </a:xfrm>
          <a:custGeom>
            <a:avLst/>
            <a:gdLst>
              <a:gd name="connsiteX0" fmla="*/ 0 w 2159354"/>
              <a:gd name="connsiteY0" fmla="*/ 195817 h 2230805"/>
              <a:gd name="connsiteX1" fmla="*/ 1828800 w 2159354"/>
              <a:gd name="connsiteY1" fmla="*/ 195817 h 2230805"/>
              <a:gd name="connsiteX2" fmla="*/ 2151530 w 2159354"/>
              <a:gd name="connsiteY2" fmla="*/ 2230805 h 223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9354" h="2230805">
                <a:moveTo>
                  <a:pt x="0" y="195817"/>
                </a:moveTo>
                <a:cubicBezTo>
                  <a:pt x="735106" y="26234"/>
                  <a:pt x="1470212" y="-143348"/>
                  <a:pt x="1828800" y="195817"/>
                </a:cubicBezTo>
                <a:cubicBezTo>
                  <a:pt x="2187388" y="534982"/>
                  <a:pt x="2169459" y="1382893"/>
                  <a:pt x="2151530" y="223080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751928" y="421960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5" name="Выноска 3 14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ЗаголовокПрограммы</a:t>
            </a:r>
            <a:r>
              <a:rPr lang="ru-RU" dirty="0" smtClean="0"/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dirty="0"/>
              <a:t>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&lt;Имя общего модуля&gt;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</a:t>
            </a:r>
            <a:r>
              <a:rPr lang="ru-RU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Имя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функции&gt;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18" name="Цилиндр 17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013490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cxnSp>
        <p:nvCxnSpPr>
          <p:cNvPr id="40" name="Прямая со стрелкой 39"/>
          <p:cNvCxnSpPr/>
          <p:nvPr/>
        </p:nvCxnSpPr>
        <p:spPr>
          <a:xfrm flipV="1">
            <a:off x="4992702" y="4293096"/>
            <a:ext cx="11346" cy="82702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897771" y="3769118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24" name="Выноска 3 23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     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dirty="0" smtClean="0"/>
              <a:t>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Константы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Цилиндр 28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30" name="Таблица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37" name="Блок-схема: альтернативный процесс 36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1976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2483768" y="4077072"/>
            <a:ext cx="852750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Овал 41"/>
          <p:cNvSpPr/>
          <p:nvPr/>
        </p:nvSpPr>
        <p:spPr>
          <a:xfrm>
            <a:off x="3242030" y="360863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24" name="Цилиндр 23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     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dirty="0" smtClean="0"/>
              <a:t> 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Константы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НазваниеОрганизации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413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cxnSp>
        <p:nvCxnSpPr>
          <p:cNvPr id="36" name="Прямая со стрелкой 35"/>
          <p:cNvCxnSpPr>
            <a:endCxn id="26" idx="1"/>
          </p:cNvCxnSpPr>
          <p:nvPr/>
        </p:nvCxnSpPr>
        <p:spPr>
          <a:xfrm>
            <a:off x="1763688" y="4428083"/>
            <a:ext cx="803924" cy="1843971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Овал 16"/>
          <p:cNvSpPr/>
          <p:nvPr/>
        </p:nvSpPr>
        <p:spPr>
          <a:xfrm>
            <a:off x="1256962" y="486628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Выноска 3 23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Цилиндр 24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     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dirty="0" smtClean="0"/>
              <a:t> 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Константы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НазваниеОрганизации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015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2483768" y="4428083"/>
            <a:ext cx="1412166" cy="80111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Овал 44"/>
          <p:cNvSpPr/>
          <p:nvPr/>
        </p:nvSpPr>
        <p:spPr>
          <a:xfrm>
            <a:off x="2581093" y="4820304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Выноска 3 23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Цилиндр 24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Возврат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dirty="0" smtClean="0"/>
              <a:t> 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Константы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НазваниеОрганизации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88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sp>
        <p:nvSpPr>
          <p:cNvPr id="11" name="Полилиния 10"/>
          <p:cNvSpPr/>
          <p:nvPr/>
        </p:nvSpPr>
        <p:spPr>
          <a:xfrm>
            <a:off x="3496235" y="2601171"/>
            <a:ext cx="2159354" cy="2230805"/>
          </a:xfrm>
          <a:custGeom>
            <a:avLst/>
            <a:gdLst>
              <a:gd name="connsiteX0" fmla="*/ 0 w 2159354"/>
              <a:gd name="connsiteY0" fmla="*/ 195817 h 2230805"/>
              <a:gd name="connsiteX1" fmla="*/ 1828800 w 2159354"/>
              <a:gd name="connsiteY1" fmla="*/ 195817 h 2230805"/>
              <a:gd name="connsiteX2" fmla="*/ 2151530 w 2159354"/>
              <a:gd name="connsiteY2" fmla="*/ 2230805 h 223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9354" h="2230805">
                <a:moveTo>
                  <a:pt x="0" y="195817"/>
                </a:moveTo>
                <a:cubicBezTo>
                  <a:pt x="735106" y="26234"/>
                  <a:pt x="1470212" y="-143348"/>
                  <a:pt x="1828800" y="195817"/>
                </a:cubicBezTo>
                <a:cubicBezTo>
                  <a:pt x="2187388" y="534982"/>
                  <a:pt x="2169459" y="1382893"/>
                  <a:pt x="2151530" y="223080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669711" y="218378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Выноска 3 23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Цилиндр 24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353557"/>
              </p:ext>
            </p:extLst>
          </p:nvPr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ЗаголовокПрограммы</a:t>
            </a:r>
            <a:r>
              <a:rPr lang="ru-RU" dirty="0" smtClean="0"/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dirty="0"/>
              <a:t>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&lt;Имя общего модуля&gt;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</a:t>
            </a:r>
            <a:r>
              <a:rPr lang="ru-RU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Имя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функции&gt;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graphicFrame>
        <p:nvGraphicFramePr>
          <p:cNvPr id="38" name="Таблица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507781"/>
              </p:ext>
            </p:extLst>
          </p:nvPr>
        </p:nvGraphicFramePr>
        <p:xfrm>
          <a:off x="2783813" y="1270341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23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131840" y="354607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Констант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4" name="Выноска 2 (с границей) 3"/>
          <p:cNvSpPr/>
          <p:nvPr/>
        </p:nvSpPr>
        <p:spPr>
          <a:xfrm>
            <a:off x="6163477" y="3348807"/>
            <a:ext cx="2736305" cy="630177"/>
          </a:xfrm>
          <a:prstGeom prst="accentCallout2">
            <a:avLst>
              <a:gd name="adj1" fmla="val 109795"/>
              <a:gd name="adj2" fmla="val -2763"/>
              <a:gd name="adj3" fmla="val 236403"/>
              <a:gd name="adj4" fmla="val 29200"/>
              <a:gd name="adj5" fmla="val 296011"/>
              <a:gd name="adj6" fmla="val -8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Свойство  общего модуля «Вызов сервера»</a:t>
            </a:r>
            <a:endParaRPr lang="ru-RU" dirty="0"/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2483768" y="4077072"/>
            <a:ext cx="852750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>
            <a:endCxn id="26" idx="1"/>
          </p:cNvCxnSpPr>
          <p:nvPr/>
        </p:nvCxnSpPr>
        <p:spPr>
          <a:xfrm>
            <a:off x="1763688" y="4428083"/>
            <a:ext cx="803924" cy="1843971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/>
          <p:cNvCxnSpPr/>
          <p:nvPr/>
        </p:nvCxnSpPr>
        <p:spPr>
          <a:xfrm flipV="1">
            <a:off x="4992702" y="4293096"/>
            <a:ext cx="11346" cy="82702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олилиния 10"/>
          <p:cNvSpPr/>
          <p:nvPr/>
        </p:nvSpPr>
        <p:spPr>
          <a:xfrm>
            <a:off x="3496235" y="2601171"/>
            <a:ext cx="2159354" cy="2230805"/>
          </a:xfrm>
          <a:custGeom>
            <a:avLst/>
            <a:gdLst>
              <a:gd name="connsiteX0" fmla="*/ 0 w 2159354"/>
              <a:gd name="connsiteY0" fmla="*/ 195817 h 2230805"/>
              <a:gd name="connsiteX1" fmla="*/ 1828800 w 2159354"/>
              <a:gd name="connsiteY1" fmla="*/ 195817 h 2230805"/>
              <a:gd name="connsiteX2" fmla="*/ 2151530 w 2159354"/>
              <a:gd name="connsiteY2" fmla="*/ 2230805 h 223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9354" h="2230805">
                <a:moveTo>
                  <a:pt x="0" y="195817"/>
                </a:moveTo>
                <a:cubicBezTo>
                  <a:pt x="735106" y="26234"/>
                  <a:pt x="1470212" y="-143348"/>
                  <a:pt x="1828800" y="195817"/>
                </a:cubicBezTo>
                <a:cubicBezTo>
                  <a:pt x="2187388" y="534982"/>
                  <a:pt x="2169459" y="1382893"/>
                  <a:pt x="2151530" y="223080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2483768" y="4428083"/>
            <a:ext cx="1412166" cy="80111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Овал 16"/>
          <p:cNvSpPr/>
          <p:nvPr/>
        </p:nvSpPr>
        <p:spPr>
          <a:xfrm>
            <a:off x="1256962" y="486628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3203848" y="360863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43" name="Овал 42"/>
          <p:cNvSpPr/>
          <p:nvPr/>
        </p:nvSpPr>
        <p:spPr>
          <a:xfrm>
            <a:off x="4897771" y="3769118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5743108" y="4218217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5" name="Овал 44"/>
          <p:cNvSpPr/>
          <p:nvPr/>
        </p:nvSpPr>
        <p:spPr>
          <a:xfrm>
            <a:off x="2581093" y="4820304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46" name="Овал 45"/>
          <p:cNvSpPr/>
          <p:nvPr/>
        </p:nvSpPr>
        <p:spPr>
          <a:xfrm>
            <a:off x="3669711" y="218378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7018" y="1124744"/>
            <a:ext cx="8812654" cy="1997472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Выноска 3 23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258383"/>
              <a:gd name="adj8" fmla="val -301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Цилиндр 24"/>
          <p:cNvSpPr/>
          <p:nvPr/>
        </p:nvSpPr>
        <p:spPr>
          <a:xfrm>
            <a:off x="971600" y="5661248"/>
            <a:ext cx="5616624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2567612" y="6114574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2468946" y="5758665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Константа </a:t>
            </a:r>
            <a:r>
              <a:rPr lang="ru-RU" b="1" dirty="0" smtClean="0"/>
              <a:t>Название Организации</a:t>
            </a:r>
            <a:endParaRPr lang="ru-RU" b="1" dirty="0"/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395536" y="3546079"/>
            <a:ext cx="2592811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Констант</a:t>
            </a:r>
            <a:r>
              <a:rPr lang="ru-RU" b="1" dirty="0">
                <a:solidFill>
                  <a:schemeClr val="tx1"/>
                </a:solidFill>
              </a:rPr>
              <a:t>а</a:t>
            </a:r>
            <a:r>
              <a:rPr lang="ru-RU" dirty="0">
                <a:solidFill>
                  <a:schemeClr val="tx1"/>
                </a:solidFill>
              </a:rPr>
              <a:t> менеджер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Название Организации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187018" y="597637"/>
            <a:ext cx="84578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ЗаголовокПрограммы</a:t>
            </a:r>
            <a:r>
              <a:rPr lang="ru-RU" dirty="0" smtClean="0"/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dirty="0"/>
              <a:t>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&lt;Имя общего модуля&gt;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&lt;</a:t>
            </a:r>
            <a:r>
              <a:rPr lang="ru-RU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Имя 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функции&gt;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graphicFrame>
        <p:nvGraphicFramePr>
          <p:cNvPr id="29" name="Таблица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320375"/>
              </p:ext>
            </p:extLst>
          </p:nvPr>
        </p:nvGraphicFramePr>
        <p:xfrm>
          <a:off x="2783813" y="1270341"/>
          <a:ext cx="2946197" cy="31496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39731174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Софт-Баланс. Учебный центр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48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904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Задача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19" y="1120775"/>
            <a:ext cx="4792052" cy="259228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356992"/>
            <a:ext cx="7409425" cy="292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92080" y="1120775"/>
            <a:ext cx="35283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0070C0"/>
                </a:solidFill>
              </a:rPr>
              <a:t>Создадим обработку, которая поможет нам заполнять регистр сведений «Курсы валют».</a:t>
            </a:r>
            <a:br>
              <a:rPr lang="ru-RU" b="1" dirty="0" smtClean="0">
                <a:solidFill>
                  <a:srgbClr val="0070C0"/>
                </a:solidFill>
              </a:rPr>
            </a:br>
            <a:r>
              <a:rPr lang="ru-RU" b="1" dirty="0" smtClean="0">
                <a:solidFill>
                  <a:srgbClr val="0070C0"/>
                </a:solidFill>
              </a:rPr>
              <a:t>Также запишем актуальный курс в реквизиты справочника «Валюты»</a:t>
            </a:r>
            <a:endParaRPr lang="ru-RU" b="1" dirty="0">
              <a:solidFill>
                <a:srgbClr val="0070C0"/>
              </a:solidFill>
            </a:endParaRPr>
          </a:p>
        </p:txBody>
      </p:sp>
      <p:sp>
        <p:nvSpPr>
          <p:cNvPr id="6" name="Стрелка углом 5"/>
          <p:cNvSpPr/>
          <p:nvPr/>
        </p:nvSpPr>
        <p:spPr>
          <a:xfrm rot="5400000">
            <a:off x="4110986" y="2102588"/>
            <a:ext cx="1283370" cy="1225438"/>
          </a:xfrm>
          <a:prstGeom prst="bentArrow">
            <a:avLst>
              <a:gd name="adj1" fmla="val 9638"/>
              <a:gd name="adj2" fmla="val 16953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1947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</a:t>
            </a:r>
            <a:r>
              <a:rPr lang="ru-RU" dirty="0" smtClean="0"/>
              <a:t>данным регистра сведений (вариант 1)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Регистры сведений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</a:t>
            </a:r>
            <a:r>
              <a:rPr lang="ru-RU" dirty="0" smtClean="0"/>
              <a:t>Менеджер записи</a:t>
            </a:r>
            <a:endParaRPr lang="ru-RU" dirty="0"/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регистра сведений будем читать информацию (или записывать)?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набора записей.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Чтение </a:t>
            </a:r>
            <a:r>
              <a:rPr lang="ru-RU" b="1" dirty="0" smtClean="0"/>
              <a:t>одной</a:t>
            </a:r>
            <a:r>
              <a:rPr lang="ru-RU" dirty="0" smtClean="0"/>
              <a:t> записи из базы данных;</a:t>
            </a:r>
            <a:endParaRPr lang="ru-RU" dirty="0"/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Запись </a:t>
            </a:r>
            <a:r>
              <a:rPr lang="ru-RU" b="1" dirty="0" smtClean="0"/>
              <a:t>одной</a:t>
            </a:r>
            <a:r>
              <a:rPr lang="ru-RU" dirty="0" smtClean="0"/>
              <a:t> записи в базу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242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5633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5264784" y="4116388"/>
            <a:ext cx="2" cy="76833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4701736" y="428042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731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5264784" y="4116388"/>
            <a:ext cx="2" cy="76833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>
            <a:off x="3391617" y="3586270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Овал 35"/>
          <p:cNvSpPr/>
          <p:nvPr/>
        </p:nvSpPr>
        <p:spPr>
          <a:xfrm>
            <a:off x="3725099" y="38606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4701736" y="428042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8914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5264784" y="4116388"/>
            <a:ext cx="2" cy="76833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>
            <a:off x="3391617" y="3586270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1" name="Прямая со стрелкой 30"/>
          <p:cNvCxnSpPr/>
          <p:nvPr/>
        </p:nvCxnSpPr>
        <p:spPr>
          <a:xfrm>
            <a:off x="1835696" y="3382180"/>
            <a:ext cx="0" cy="78822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Овал 34"/>
          <p:cNvSpPr/>
          <p:nvPr/>
        </p:nvSpPr>
        <p:spPr>
          <a:xfrm>
            <a:off x="1033311" y="335656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36" name="Овал 35"/>
          <p:cNvSpPr/>
          <p:nvPr/>
        </p:nvSpPr>
        <p:spPr>
          <a:xfrm>
            <a:off x="3725099" y="38606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4701736" y="428042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683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5264784" y="4116388"/>
            <a:ext cx="2" cy="76833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>
            <a:off x="3391617" y="3586270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1" name="Прямая со стрелкой 30"/>
          <p:cNvCxnSpPr/>
          <p:nvPr/>
        </p:nvCxnSpPr>
        <p:spPr>
          <a:xfrm>
            <a:off x="1835696" y="3382180"/>
            <a:ext cx="0" cy="78822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Овал 34"/>
          <p:cNvSpPr/>
          <p:nvPr/>
        </p:nvSpPr>
        <p:spPr>
          <a:xfrm>
            <a:off x="1033311" y="335656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36" name="Овал 35"/>
          <p:cNvSpPr/>
          <p:nvPr/>
        </p:nvSpPr>
        <p:spPr>
          <a:xfrm>
            <a:off x="3725099" y="38606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4701736" y="428042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0" name="Овал 39"/>
          <p:cNvSpPr/>
          <p:nvPr/>
        </p:nvSpPr>
        <p:spPr>
          <a:xfrm>
            <a:off x="2230857" y="457037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29" name="TextBox 28"/>
          <p:cNvSpPr txBox="1"/>
          <p:nvPr/>
        </p:nvSpPr>
        <p:spPr>
          <a:xfrm>
            <a:off x="1796163" y="4878961"/>
            <a:ext cx="2396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Заполняем данными для записи в БД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13861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645054"/>
            <a:ext cx="8810374" cy="2942669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1883957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189175" y="3082215"/>
            <a:ext cx="1813837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</a:t>
            </a:r>
            <a:r>
              <a:rPr lang="ru-RU" b="1" dirty="0" smtClean="0">
                <a:solidFill>
                  <a:schemeClr val="tx1"/>
                </a:solidFill>
              </a:rPr>
              <a:t>ы</a:t>
            </a:r>
            <a:r>
              <a:rPr lang="ru-RU" dirty="0" smtClean="0">
                <a:solidFill>
                  <a:schemeClr val="tx1"/>
                </a:solidFill>
              </a:rPr>
              <a:t> сведений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1634462" y="278237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Курсы Валют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273528" y="3886236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менеджер записи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5264784" y="4116388"/>
            <a:ext cx="2" cy="768337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>
            <a:off x="3391617" y="3586270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V="1">
            <a:off x="1548180" y="4901184"/>
            <a:ext cx="18294" cy="104809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Блок-схема: альтернативный процесс 20"/>
          <p:cNvSpPr/>
          <p:nvPr/>
        </p:nvSpPr>
        <p:spPr>
          <a:xfrm>
            <a:off x="6535955" y="3649341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Выноска 3 22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4" name="Выноска 3 23"/>
          <p:cNvSpPr/>
          <p:nvPr/>
        </p:nvSpPr>
        <p:spPr>
          <a:xfrm>
            <a:off x="6551760" y="4714441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8" name="Выноска 2 (с границей) 27"/>
          <p:cNvSpPr/>
          <p:nvPr/>
        </p:nvSpPr>
        <p:spPr>
          <a:xfrm>
            <a:off x="2214030" y="1023409"/>
            <a:ext cx="2664296" cy="802886"/>
          </a:xfrm>
          <a:prstGeom prst="accentCallout2">
            <a:avLst>
              <a:gd name="adj1" fmla="val 6602"/>
              <a:gd name="adj2" fmla="val 106526"/>
              <a:gd name="adj3" fmla="val -34398"/>
              <a:gd name="adj4" fmla="val 127937"/>
              <a:gd name="adj5" fmla="val 6204"/>
              <a:gd name="adj6" fmla="val 165205"/>
            </a:avLst>
          </a:prstGeom>
          <a:ln>
            <a:tailEnd type="triangle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Исходные данные для записи у нас здесь</a:t>
            </a:r>
            <a:endParaRPr lang="ru-RU" dirty="0"/>
          </a:p>
        </p:txBody>
      </p:sp>
      <p:sp>
        <p:nvSpPr>
          <p:cNvPr id="6" name="Полилиния 5"/>
          <p:cNvSpPr/>
          <p:nvPr/>
        </p:nvSpPr>
        <p:spPr>
          <a:xfrm>
            <a:off x="6035040" y="1890947"/>
            <a:ext cx="609600" cy="3010237"/>
          </a:xfrm>
          <a:custGeom>
            <a:avLst/>
            <a:gdLst>
              <a:gd name="connsiteX0" fmla="*/ 609600 w 609600"/>
              <a:gd name="connsiteY0" fmla="*/ 263964 h 3007164"/>
              <a:gd name="connsiteX1" fmla="*/ 219456 w 609600"/>
              <a:gd name="connsiteY1" fmla="*/ 263964 h 3007164"/>
              <a:gd name="connsiteX2" fmla="*/ 0 w 609600"/>
              <a:gd name="connsiteY2" fmla="*/ 3007164 h 3007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3007164">
                <a:moveTo>
                  <a:pt x="609600" y="263964"/>
                </a:moveTo>
                <a:cubicBezTo>
                  <a:pt x="465328" y="35364"/>
                  <a:pt x="321056" y="-193236"/>
                  <a:pt x="219456" y="263964"/>
                </a:cubicBezTo>
                <a:cubicBezTo>
                  <a:pt x="117856" y="721164"/>
                  <a:pt x="58928" y="1864164"/>
                  <a:pt x="0" y="3007164"/>
                </a:cubicBezTo>
              </a:path>
            </a:pathLst>
          </a:cu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1" name="Прямая со стрелкой 30"/>
          <p:cNvCxnSpPr/>
          <p:nvPr/>
        </p:nvCxnSpPr>
        <p:spPr>
          <a:xfrm>
            <a:off x="1835696" y="3382180"/>
            <a:ext cx="0" cy="78822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Овал 34"/>
          <p:cNvSpPr/>
          <p:nvPr/>
        </p:nvSpPr>
        <p:spPr>
          <a:xfrm>
            <a:off x="1033311" y="335656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36" name="Овал 35"/>
          <p:cNvSpPr/>
          <p:nvPr/>
        </p:nvSpPr>
        <p:spPr>
          <a:xfrm>
            <a:off x="3725099" y="38606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7" name="Овал 36"/>
          <p:cNvSpPr/>
          <p:nvPr/>
        </p:nvSpPr>
        <p:spPr>
          <a:xfrm>
            <a:off x="4701736" y="428042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244620" y="277169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0" name="Овал 39"/>
          <p:cNvSpPr/>
          <p:nvPr/>
        </p:nvSpPr>
        <p:spPr>
          <a:xfrm>
            <a:off x="2230857" y="457037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41" name="Овал 40"/>
          <p:cNvSpPr/>
          <p:nvPr/>
        </p:nvSpPr>
        <p:spPr>
          <a:xfrm>
            <a:off x="474106" y="503116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29" name="TextBox 28"/>
          <p:cNvSpPr txBox="1"/>
          <p:nvPr/>
        </p:nvSpPr>
        <p:spPr>
          <a:xfrm>
            <a:off x="1796163" y="4878961"/>
            <a:ext cx="2396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Заполняем данными для записи в БД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854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700609" y="3777059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ru-RU" dirty="0"/>
              <a:t>Объектная модель работы с данными справочников и документов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>
          <a:xfrm>
            <a:off x="700609" y="2276872"/>
            <a:ext cx="7772400" cy="150018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8490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374877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списка документов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75501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196823"/>
            <a:ext cx="881265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7162353" y="3573016"/>
            <a:ext cx="1661373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637295" y="3270243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2887035" y="3281651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1128718" y="3281651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Объект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9" name="Блок-схема: альтернативный процесс 28"/>
          <p:cNvSpPr/>
          <p:nvPr/>
        </p:nvSpPr>
        <p:spPr>
          <a:xfrm>
            <a:off x="4639695" y="4231851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Контрагенты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Блок-схема: альтернативный процесс 29"/>
          <p:cNvSpPr/>
          <p:nvPr/>
        </p:nvSpPr>
        <p:spPr>
          <a:xfrm>
            <a:off x="2889435" y="4243259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Контрагенты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1" name="Блок-схема: альтернативный процесс 30"/>
          <p:cNvSpPr/>
          <p:nvPr/>
        </p:nvSpPr>
        <p:spPr>
          <a:xfrm>
            <a:off x="1131118" y="4243259"/>
            <a:ext cx="166137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Объект Контрагенты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Блок-схема: альтернативный процесс 36"/>
          <p:cNvSpPr/>
          <p:nvPr/>
        </p:nvSpPr>
        <p:spPr>
          <a:xfrm>
            <a:off x="4637295" y="5173817"/>
            <a:ext cx="1661373" cy="271408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….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Блок-схема: альтернативный процесс 37"/>
          <p:cNvSpPr/>
          <p:nvPr/>
        </p:nvSpPr>
        <p:spPr>
          <a:xfrm>
            <a:off x="2887035" y="5185225"/>
            <a:ext cx="1661373" cy="271408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…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Блок-схема: альтернативный процесс 46"/>
          <p:cNvSpPr/>
          <p:nvPr/>
        </p:nvSpPr>
        <p:spPr>
          <a:xfrm>
            <a:off x="1128718" y="5185225"/>
            <a:ext cx="1661373" cy="271408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…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8" name="Прямая со стрелкой 47"/>
          <p:cNvCxnSpPr/>
          <p:nvPr/>
        </p:nvCxnSpPr>
        <p:spPr>
          <a:xfrm flipH="1" flipV="1">
            <a:off x="6084168" y="3573016"/>
            <a:ext cx="1212790" cy="288032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6156176" y="4250355"/>
            <a:ext cx="1140782" cy="33077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 flipH="1">
            <a:off x="4122033" y="3717032"/>
            <a:ext cx="852750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>
            <a:off x="2439344" y="3724128"/>
            <a:ext cx="852750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 flipH="1">
            <a:off x="6372200" y="4509120"/>
            <a:ext cx="1132459" cy="79208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Блок-схема: альтернативный процесс 52"/>
          <p:cNvSpPr/>
          <p:nvPr/>
        </p:nvSpPr>
        <p:spPr>
          <a:xfrm>
            <a:off x="2891644" y="725703"/>
            <a:ext cx="1661373" cy="879953"/>
          </a:xfrm>
          <a:prstGeom prst="flowChartAlternateProcess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4" name="Блок-схема: альтернативный процесс 53"/>
          <p:cNvSpPr/>
          <p:nvPr/>
        </p:nvSpPr>
        <p:spPr>
          <a:xfrm>
            <a:off x="2894044" y="1687311"/>
            <a:ext cx="1661373" cy="879953"/>
          </a:xfrm>
          <a:prstGeom prst="flowChartAlternateProcess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Контрагенты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5" name="Блок-схема: альтернативный процесс 54"/>
          <p:cNvSpPr/>
          <p:nvPr/>
        </p:nvSpPr>
        <p:spPr>
          <a:xfrm>
            <a:off x="2891644" y="2629277"/>
            <a:ext cx="1661373" cy="271408"/>
          </a:xfrm>
          <a:prstGeom prst="flowChartAlternateProcess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…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Выноска 2 (с границей) 13"/>
          <p:cNvSpPr/>
          <p:nvPr/>
        </p:nvSpPr>
        <p:spPr>
          <a:xfrm>
            <a:off x="5799390" y="725703"/>
            <a:ext cx="3024336" cy="1290569"/>
          </a:xfrm>
          <a:prstGeom prst="accentCallout2">
            <a:avLst>
              <a:gd name="adj1" fmla="val 18750"/>
              <a:gd name="adj2" fmla="val -1812"/>
              <a:gd name="adj3" fmla="val 18750"/>
              <a:gd name="adj4" fmla="val -16667"/>
              <a:gd name="adj5" fmla="val 84020"/>
              <a:gd name="adj6" fmla="val -25918"/>
            </a:avLst>
          </a:prstGeom>
          <a:ln w="38100"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Могут «жить» на клиенте </a:t>
            </a:r>
            <a:r>
              <a:rPr lang="ru-RU" b="1" dirty="0" smtClean="0"/>
              <a:t>только</a:t>
            </a:r>
            <a:r>
              <a:rPr lang="ru-RU" dirty="0" smtClean="0"/>
              <a:t> для идентификации данных</a:t>
            </a:r>
            <a:endParaRPr lang="ru-RU" dirty="0"/>
          </a:p>
        </p:txBody>
      </p:sp>
      <p:sp>
        <p:nvSpPr>
          <p:cNvPr id="15" name="Правая фигурная скобка 14"/>
          <p:cNvSpPr/>
          <p:nvPr/>
        </p:nvSpPr>
        <p:spPr>
          <a:xfrm>
            <a:off x="4593345" y="725703"/>
            <a:ext cx="381438" cy="2223133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584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233669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Руб.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62" name="Блок-схема: альтернативный процесс 6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3" name="Прямоугольник 62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87624" y="587357"/>
            <a:ext cx="79144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         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632822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6372200" y="3894660"/>
            <a:ext cx="0" cy="79687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Овал 45"/>
          <p:cNvSpPr/>
          <p:nvPr/>
        </p:nvSpPr>
        <p:spPr>
          <a:xfrm>
            <a:off x="6503246" y="389635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6944042" y="3430072"/>
            <a:ext cx="22773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Ищем ссылку на интересующий объект базы данных</a:t>
            </a:r>
            <a:endParaRPr lang="ru-RU" sz="14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7624" y="587357"/>
            <a:ext cx="79144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         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НайтиПоКоду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</a:t>
            </a:r>
            <a:r>
              <a:rPr lang="ru-RU" sz="1500" b="1" dirty="0" smtClean="0">
                <a:latin typeface="Courier New" pitchFamily="49" charset="0"/>
                <a:ea typeface="Tahoma" pitchFamily="34" charset="0"/>
                <a:cs typeface="Tahoma" pitchFamily="34" charset="0"/>
              </a:rPr>
              <a:t>«643»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);</a:t>
            </a:r>
          </a:p>
        </p:txBody>
      </p:sp>
      <p:graphicFrame>
        <p:nvGraphicFramePr>
          <p:cNvPr id="30" name="Таблица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086845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Руб.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480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3516949" y="1545669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 flipV="1">
            <a:off x="4722755" y="2491767"/>
            <a:ext cx="18184" cy="198034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6372200" y="3894660"/>
            <a:ext cx="0" cy="79687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Овал 45"/>
          <p:cNvSpPr/>
          <p:nvPr/>
        </p:nvSpPr>
        <p:spPr>
          <a:xfrm>
            <a:off x="6503246" y="389635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6944042" y="3430072"/>
            <a:ext cx="22773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Ищем ссылку на интересующий объект базы данных</a:t>
            </a:r>
            <a:endParaRPr lang="ru-RU" sz="14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7624" y="587357"/>
            <a:ext cx="79144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dirty="0" smtClean="0"/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dirty="0"/>
              <a:t>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НайтиПоКоду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</a:t>
            </a:r>
            <a:r>
              <a:rPr lang="ru-RU" sz="1500" b="1" dirty="0" smtClean="0">
                <a:latin typeface="Courier New" pitchFamily="49" charset="0"/>
                <a:ea typeface="Tahoma" pitchFamily="34" charset="0"/>
                <a:cs typeface="Tahoma" pitchFamily="34" charset="0"/>
              </a:rPr>
              <a:t>«643»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);</a:t>
            </a:r>
            <a:endParaRPr lang="ru-RU" sz="1500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30" name="Овал 29"/>
          <p:cNvSpPr/>
          <p:nvPr/>
        </p:nvSpPr>
        <p:spPr>
          <a:xfrm>
            <a:off x="3280112" y="245869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1" name="TextBox 30"/>
          <p:cNvSpPr txBox="1"/>
          <p:nvPr/>
        </p:nvSpPr>
        <p:spPr>
          <a:xfrm>
            <a:off x="2581956" y="2804262"/>
            <a:ext cx="25561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Получаем ссылку и её представление (или получаем данные всего объекта базы данных для чтения)</a:t>
            </a:r>
            <a:endParaRPr lang="ru-RU" sz="1400" dirty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086845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Руб.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081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3516949" y="1545669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600047" y="2230955"/>
            <a:ext cx="1758317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Объект Валюты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 flipV="1">
            <a:off x="4722755" y="2491767"/>
            <a:ext cx="18184" cy="198034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6372200" y="3894660"/>
            <a:ext cx="0" cy="79687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25248" y="2369681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Овал 43"/>
          <p:cNvSpPr/>
          <p:nvPr/>
        </p:nvSpPr>
        <p:spPr>
          <a:xfrm>
            <a:off x="703518" y="174674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46" name="Овал 45"/>
          <p:cNvSpPr/>
          <p:nvPr/>
        </p:nvSpPr>
        <p:spPr>
          <a:xfrm>
            <a:off x="6503246" y="389635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6944042" y="3430072"/>
            <a:ext cx="22773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Ищем ссылку на интересующий объект базы данных</a:t>
            </a:r>
            <a:endParaRPr lang="ru-RU" sz="1400" dirty="0"/>
          </a:p>
        </p:txBody>
      </p:sp>
      <p:sp>
        <p:nvSpPr>
          <p:cNvPr id="60" name="TextBox 59"/>
          <p:cNvSpPr txBox="1"/>
          <p:nvPr/>
        </p:nvSpPr>
        <p:spPr>
          <a:xfrm>
            <a:off x="1135566" y="1476072"/>
            <a:ext cx="2297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Передаем данные в программный объект для их возможного изменения</a:t>
            </a:r>
            <a:endParaRPr lang="ru-RU" sz="14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7624" y="587357"/>
            <a:ext cx="79144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dirty="0" smtClean="0"/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dirty="0"/>
              <a:t>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НайтиПоКоду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</a:t>
            </a:r>
            <a:r>
              <a:rPr lang="ru-RU" sz="1500" b="1" dirty="0" smtClean="0">
                <a:latin typeface="Courier New" pitchFamily="49" charset="0"/>
                <a:ea typeface="Tahoma" pitchFamily="34" charset="0"/>
                <a:cs typeface="Tahoma" pitchFamily="34" charset="0"/>
              </a:rPr>
              <a:t>«643»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);</a:t>
            </a:r>
            <a:endParaRPr lang="ru-RU" sz="1500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  <a:p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ПолучитьОбъект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</a:p>
        </p:txBody>
      </p:sp>
      <p:sp>
        <p:nvSpPr>
          <p:cNvPr id="30" name="Овал 29"/>
          <p:cNvSpPr/>
          <p:nvPr/>
        </p:nvSpPr>
        <p:spPr>
          <a:xfrm>
            <a:off x="3280112" y="245869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1" name="TextBox 30"/>
          <p:cNvSpPr txBox="1"/>
          <p:nvPr/>
        </p:nvSpPr>
        <p:spPr>
          <a:xfrm>
            <a:off x="2581956" y="2804262"/>
            <a:ext cx="25561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Получаем ссылку и её представление (или получаем данные всего объекта базы данных для чтения)</a:t>
            </a:r>
            <a:endParaRPr lang="ru-RU" sz="1400" dirty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086845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Руб.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10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3516949" y="1545669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600047" y="2230955"/>
            <a:ext cx="1758317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Справочник Объект</a:t>
            </a:r>
            <a:endParaRPr lang="ru-RU" dirty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 </a:t>
            </a:r>
            <a:r>
              <a:rPr lang="ru-RU" dirty="0" smtClean="0">
                <a:solidFill>
                  <a:schemeClr val="tx1"/>
                </a:solidFill>
                <a:hlinkClick r:id="rId2" action="ppaction://hlinksldjump"/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 flipV="1">
            <a:off x="4722755" y="2491767"/>
            <a:ext cx="18184" cy="198034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6372200" y="3894660"/>
            <a:ext cx="0" cy="79687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25248" y="2369681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Овал 43"/>
          <p:cNvSpPr/>
          <p:nvPr/>
        </p:nvSpPr>
        <p:spPr>
          <a:xfrm>
            <a:off x="703518" y="174674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46" name="Овал 45"/>
          <p:cNvSpPr/>
          <p:nvPr/>
        </p:nvSpPr>
        <p:spPr>
          <a:xfrm>
            <a:off x="6503246" y="389635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6944042" y="3430072"/>
            <a:ext cx="22773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Ищем ссылку на интересующий объект базы данных</a:t>
            </a:r>
            <a:endParaRPr lang="ru-RU" sz="1400" dirty="0"/>
          </a:p>
        </p:txBody>
      </p:sp>
      <p:sp>
        <p:nvSpPr>
          <p:cNvPr id="60" name="TextBox 59"/>
          <p:cNvSpPr txBox="1"/>
          <p:nvPr/>
        </p:nvSpPr>
        <p:spPr>
          <a:xfrm>
            <a:off x="1135566" y="1476072"/>
            <a:ext cx="2297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Передаем данные в программный объект для их возможного изменения</a:t>
            </a:r>
            <a:endParaRPr lang="ru-RU" sz="1400" dirty="0"/>
          </a:p>
        </p:txBody>
      </p:sp>
      <p:sp>
        <p:nvSpPr>
          <p:cNvPr id="2" name="TextBox 1"/>
          <p:cNvSpPr txBox="1"/>
          <p:nvPr/>
        </p:nvSpPr>
        <p:spPr>
          <a:xfrm>
            <a:off x="1187624" y="587357"/>
            <a:ext cx="79144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dirty="0"/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dirty="0"/>
              <a:t>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НайтиПоКоду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</a:t>
            </a:r>
            <a:r>
              <a:rPr lang="ru-RU" sz="1500" b="1" dirty="0">
                <a:latin typeface="Courier New" pitchFamily="49" charset="0"/>
                <a:ea typeface="Tahoma" pitchFamily="34" charset="0"/>
                <a:cs typeface="Tahoma" pitchFamily="34" charset="0"/>
              </a:rPr>
              <a:t>«643»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);</a:t>
            </a:r>
          </a:p>
          <a:p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ПолучитьОбъект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</a:p>
          <a:p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Наименование</a:t>
            </a:r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smtClean="0">
                <a:latin typeface="Courier New" pitchFamily="49" charset="0"/>
                <a:ea typeface="Tahoma" pitchFamily="34" charset="0"/>
                <a:cs typeface="Tahoma" pitchFamily="34" charset="0"/>
              </a:rPr>
              <a:t>«Рубль РФ»</a:t>
            </a:r>
            <a:r>
              <a:rPr lang="ru-RU" sz="15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</a:p>
        </p:txBody>
      </p:sp>
      <p:sp>
        <p:nvSpPr>
          <p:cNvPr id="26" name="Овал 25"/>
          <p:cNvSpPr/>
          <p:nvPr/>
        </p:nvSpPr>
        <p:spPr>
          <a:xfrm>
            <a:off x="3280112" y="245869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29" name="TextBox 28"/>
          <p:cNvSpPr txBox="1"/>
          <p:nvPr/>
        </p:nvSpPr>
        <p:spPr>
          <a:xfrm>
            <a:off x="2581956" y="2804262"/>
            <a:ext cx="25561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Получаем ссылку и её представление (или получаем данные всего объекта базы данных для чтения)</a:t>
            </a:r>
            <a:endParaRPr lang="ru-RU" sz="1400" dirty="0"/>
          </a:p>
        </p:txBody>
      </p:sp>
      <p:sp>
        <p:nvSpPr>
          <p:cNvPr id="30" name="Овал 29"/>
          <p:cNvSpPr/>
          <p:nvPr/>
        </p:nvSpPr>
        <p:spPr>
          <a:xfrm>
            <a:off x="317139" y="309342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31" name="TextBox 30"/>
          <p:cNvSpPr txBox="1"/>
          <p:nvPr/>
        </p:nvSpPr>
        <p:spPr>
          <a:xfrm>
            <a:off x="782642" y="3111090"/>
            <a:ext cx="1971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Изменяем данных объекта базы данных</a:t>
            </a:r>
            <a:endParaRPr lang="ru-RU" sz="1400" dirty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086845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Руб.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370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6074349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</a:t>
            </a:r>
            <a:r>
              <a:rPr lang="ru-RU" dirty="0">
                <a:solidFill>
                  <a:schemeClr val="tx1"/>
                </a:solidFill>
              </a:rPr>
              <a:t>Справочник Валюты)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4973214" y="299009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>
                <a:solidFill>
                  <a:schemeClr val="tx1"/>
                </a:solidFill>
              </a:rPr>
              <a:t>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3516949" y="1545669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Ссылка Валюты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Блок-схема: альтернативный процесс 27"/>
          <p:cNvSpPr/>
          <p:nvPr/>
        </p:nvSpPr>
        <p:spPr>
          <a:xfrm>
            <a:off x="600047" y="2230955"/>
            <a:ext cx="1758317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Объект Валюты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 flipV="1">
            <a:off x="4722755" y="2491767"/>
            <a:ext cx="18184" cy="198034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6372200" y="3894660"/>
            <a:ext cx="0" cy="79687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25248" y="2369681"/>
            <a:ext cx="1008111" cy="1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/>
          <p:cNvCxnSpPr/>
          <p:nvPr/>
        </p:nvCxnSpPr>
        <p:spPr>
          <a:xfrm>
            <a:off x="2358364" y="3158642"/>
            <a:ext cx="0" cy="1593764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Овал 43"/>
          <p:cNvSpPr/>
          <p:nvPr/>
        </p:nvSpPr>
        <p:spPr>
          <a:xfrm>
            <a:off x="703518" y="174674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ru-RU" dirty="0"/>
          </a:p>
        </p:txBody>
      </p:sp>
      <p:sp>
        <p:nvSpPr>
          <p:cNvPr id="45" name="Овал 44"/>
          <p:cNvSpPr/>
          <p:nvPr/>
        </p:nvSpPr>
        <p:spPr>
          <a:xfrm>
            <a:off x="3280112" y="2458696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46" name="Овал 45"/>
          <p:cNvSpPr/>
          <p:nvPr/>
        </p:nvSpPr>
        <p:spPr>
          <a:xfrm>
            <a:off x="6503246" y="3896352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7" name="Овал 56"/>
          <p:cNvSpPr/>
          <p:nvPr/>
        </p:nvSpPr>
        <p:spPr>
          <a:xfrm>
            <a:off x="295055" y="371922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6944042" y="3430072"/>
            <a:ext cx="22773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Ищем ссылку на интересующий объект базы данных</a:t>
            </a:r>
            <a:endParaRPr lang="ru-RU" sz="1400" dirty="0"/>
          </a:p>
        </p:txBody>
      </p:sp>
      <p:sp>
        <p:nvSpPr>
          <p:cNvPr id="59" name="TextBox 58"/>
          <p:cNvSpPr txBox="1"/>
          <p:nvPr/>
        </p:nvSpPr>
        <p:spPr>
          <a:xfrm>
            <a:off x="2581956" y="2804262"/>
            <a:ext cx="25561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Получаем ссылку и её представление (или получаем данные всего объекта базы данных для чтения)</a:t>
            </a:r>
            <a:endParaRPr lang="ru-RU" sz="1400" dirty="0"/>
          </a:p>
        </p:txBody>
      </p:sp>
      <p:sp>
        <p:nvSpPr>
          <p:cNvPr id="60" name="TextBox 59"/>
          <p:cNvSpPr txBox="1"/>
          <p:nvPr/>
        </p:nvSpPr>
        <p:spPr>
          <a:xfrm>
            <a:off x="1135566" y="1476072"/>
            <a:ext cx="2297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Передаем данные в программный объект для их возможного изменения</a:t>
            </a:r>
            <a:endParaRPr lang="ru-RU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751735" y="3667279"/>
            <a:ext cx="2450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Записываем новую версию данных объекта базы данных</a:t>
            </a:r>
            <a:endParaRPr lang="ru-RU" sz="1400" dirty="0"/>
          </a:p>
        </p:txBody>
      </p:sp>
      <p:sp>
        <p:nvSpPr>
          <p:cNvPr id="2" name="TextBox 1"/>
          <p:cNvSpPr txBox="1"/>
          <p:nvPr/>
        </p:nvSpPr>
        <p:spPr>
          <a:xfrm>
            <a:off x="1187624" y="587357"/>
            <a:ext cx="79144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dirty="0"/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dirty="0"/>
              <a:t> 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Валюты</a:t>
            </a:r>
            <a:r>
              <a:rPr lang="ru-RU" sz="15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НайтиПоКоду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</a:t>
            </a:r>
            <a:r>
              <a:rPr lang="ru-RU" sz="1500" b="1" dirty="0">
                <a:latin typeface="Courier New" pitchFamily="49" charset="0"/>
                <a:ea typeface="Tahoma" pitchFamily="34" charset="0"/>
                <a:cs typeface="Tahoma" pitchFamily="34" charset="0"/>
              </a:rPr>
              <a:t>«643»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);</a:t>
            </a:r>
          </a:p>
          <a:p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СпрРубль</a:t>
            </a:r>
            <a:r>
              <a:rPr lang="ru-RU" sz="15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ПолучитьОбъект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</a:p>
          <a:p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sz="15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5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Наименование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5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500" b="1" dirty="0">
                <a:latin typeface="Courier New" pitchFamily="49" charset="0"/>
                <a:ea typeface="Tahoma" pitchFamily="34" charset="0"/>
                <a:cs typeface="Tahoma" pitchFamily="34" charset="0"/>
              </a:rPr>
              <a:t>«Рубль РФ»</a:t>
            </a:r>
            <a:r>
              <a:rPr lang="ru-RU" sz="15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</a:p>
          <a:p>
            <a:endParaRPr lang="ru-RU" sz="1500" b="1" dirty="0" smtClean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26" name="Овал 25"/>
          <p:cNvSpPr/>
          <p:nvPr/>
        </p:nvSpPr>
        <p:spPr>
          <a:xfrm>
            <a:off x="317139" y="3093429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ru-RU" dirty="0"/>
          </a:p>
        </p:txBody>
      </p:sp>
      <p:sp>
        <p:nvSpPr>
          <p:cNvPr id="29" name="TextBox 28"/>
          <p:cNvSpPr txBox="1"/>
          <p:nvPr/>
        </p:nvSpPr>
        <p:spPr>
          <a:xfrm>
            <a:off x="782642" y="3111090"/>
            <a:ext cx="1971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Изменяем данных объекта базы данных</a:t>
            </a:r>
            <a:endParaRPr lang="ru-RU" sz="1400" dirty="0"/>
          </a:p>
        </p:txBody>
      </p:sp>
      <p:graphicFrame>
        <p:nvGraphicFramePr>
          <p:cNvPr id="30" name="Таблица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650733"/>
              </p:ext>
            </p:extLst>
          </p:nvPr>
        </p:nvGraphicFramePr>
        <p:xfrm>
          <a:off x="2627784" y="5085184"/>
          <a:ext cx="3303727" cy="1259840"/>
        </p:xfrm>
        <a:graphic>
          <a:graphicData uri="http://schemas.openxmlformats.org/drawingml/2006/table">
            <a:tbl>
              <a:tblPr/>
              <a:tblGrid>
                <a:gridCol w="996696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627278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679753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643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Рубль</a:t>
                      </a:r>
                      <a:r>
                        <a:rPr lang="ru-RU" sz="1400" baseline="0" dirty="0" smtClean="0">
                          <a:effectLst/>
                          <a:latin typeface="Verdana" panose="020B0604030504040204" pitchFamily="34" charset="0"/>
                        </a:rPr>
                        <a:t> РФ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840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Доллары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978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ЕВРО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423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251520" y="980728"/>
            <a:ext cx="4104000" cy="288032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</a:t>
            </a:r>
            <a:r>
              <a:rPr lang="ru-RU" b="1" u="sng" dirty="0" smtClean="0"/>
              <a:t>Объект.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b="1" dirty="0">
                <a:solidFill>
                  <a:schemeClr val="tx1"/>
                </a:solidFill>
              </a:rPr>
              <a:t>Валюты</a:t>
            </a:r>
            <a:endParaRPr lang="ru-RU" b="1" u="sng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637652"/>
              </p:ext>
            </p:extLst>
          </p:nvPr>
        </p:nvGraphicFramePr>
        <p:xfrm>
          <a:off x="539552" y="1556793"/>
          <a:ext cx="3456384" cy="212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Свойство </a:t>
                      </a:r>
                      <a:br>
                        <a:rPr lang="ru-RU" b="1" dirty="0"/>
                      </a:br>
                      <a:r>
                        <a:rPr lang="ru-RU" b="1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&lt;id</a:t>
                      </a:r>
                      <a:r>
                        <a:rPr lang="en-US" baseline="0" dirty="0" smtClean="0"/>
                        <a:t> 1</a:t>
                      </a:r>
                      <a:r>
                        <a:rPr lang="en-US" dirty="0" smtClean="0"/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643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Руб.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Выноска 2 (с границей) 4"/>
          <p:cNvSpPr/>
          <p:nvPr/>
        </p:nvSpPr>
        <p:spPr>
          <a:xfrm>
            <a:off x="6084168" y="690321"/>
            <a:ext cx="2808312" cy="1944216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5328"/>
              <a:gd name="adj6" fmla="val -87208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Значения свойств и реквизитов доступны для чтения и записи (речь идет о записи не в базу данных, а о записи в самом программном объекте)!!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2843808" y="6165304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hlinkClick r:id="rId2" action="ppaction://hlinksldjump"/>
              </a:rPr>
              <a:t>Вернуться к предыдущему слайду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57568" y="5298936"/>
            <a:ext cx="4104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Наименование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b="1" dirty="0" smtClean="0">
                <a:latin typeface="Courier New" pitchFamily="49" charset="0"/>
                <a:ea typeface="Tahoma" pitchFamily="34" charset="0"/>
                <a:cs typeface="Tahoma" pitchFamily="34" charset="0"/>
              </a:rPr>
              <a:t>«Рубль РФ»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;</a:t>
            </a:r>
            <a:endParaRPr lang="ru-RU" b="1" dirty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1141474" y="651485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endParaRPr lang="ru-RU" dirty="0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643552" y="3212976"/>
            <a:ext cx="4104000" cy="288032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</a:t>
            </a:r>
            <a:r>
              <a:rPr lang="ru-RU" b="1" u="sng" dirty="0" smtClean="0"/>
              <a:t>Объект.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b="1" dirty="0">
                <a:solidFill>
                  <a:schemeClr val="tx1"/>
                </a:solidFill>
              </a:rPr>
              <a:t>Валюты</a:t>
            </a:r>
            <a:endParaRPr lang="ru-RU" b="1" u="sng" dirty="0"/>
          </a:p>
        </p:txBody>
      </p:sp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117417"/>
              </p:ext>
            </p:extLst>
          </p:nvPr>
        </p:nvGraphicFramePr>
        <p:xfrm>
          <a:off x="4931584" y="3789041"/>
          <a:ext cx="3456384" cy="212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chemeClr val="tx1"/>
                          </a:solidFill>
                        </a:rPr>
                        <a:t>Свойство </a:t>
                      </a:r>
                      <a:br>
                        <a:rPr lang="ru-RU" b="1" dirty="0">
                          <a:solidFill>
                            <a:schemeClr val="tx1"/>
                          </a:solidFill>
                        </a:rPr>
                      </a:br>
                      <a:r>
                        <a:rPr lang="ru-RU" b="1" dirty="0">
                          <a:solidFill>
                            <a:schemeClr val="tx1"/>
                          </a:solidFill>
                        </a:rPr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chemeClr val="tx1"/>
                          </a:solidFill>
                        </a:rPr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&lt;id</a:t>
                      </a:r>
                      <a:r>
                        <a:rPr lang="en-US" baseline="0" dirty="0" smtClean="0"/>
                        <a:t> 1</a:t>
                      </a:r>
                      <a:r>
                        <a:rPr lang="en-US" dirty="0" smtClean="0"/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643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Рубль РФ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Выноска 2 (с границей) 13"/>
          <p:cNvSpPr/>
          <p:nvPr/>
        </p:nvSpPr>
        <p:spPr>
          <a:xfrm>
            <a:off x="280996" y="4006805"/>
            <a:ext cx="3652256" cy="1149123"/>
          </a:xfrm>
          <a:prstGeom prst="accentCallout2">
            <a:avLst>
              <a:gd name="adj1" fmla="val 47057"/>
              <a:gd name="adj2" fmla="val 102756"/>
              <a:gd name="adj3" fmla="val -1119"/>
              <a:gd name="adj4" fmla="val 113233"/>
              <a:gd name="adj5" fmla="val 108626"/>
              <a:gd name="adj6" fmla="val 176934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Такой программный код сделает только это. В базе данных ничего не измениться в этот момент!!</a:t>
            </a:r>
            <a:endParaRPr lang="ru-RU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436096" y="2902541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СпрОбъектРубль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9739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animBg="1"/>
      <p:bldP spid="14" grpId="0" animBg="1"/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Выборка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252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8812654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(Справочник Склады)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6380342" y="308684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Склады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1992115" y="2540397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</a:t>
            </a:r>
            <a:r>
              <a:rPr lang="ru-RU" dirty="0" smtClean="0">
                <a:solidFill>
                  <a:schemeClr val="tx1"/>
                </a:solidFill>
              </a:rPr>
              <a:t>выборка </a:t>
            </a:r>
            <a:r>
              <a:rPr lang="ru-RU" dirty="0" smtClean="0">
                <a:solidFill>
                  <a:schemeClr val="tx1"/>
                </a:solidFill>
              </a:rPr>
              <a:t>Склады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019827"/>
              </p:ext>
            </p:extLst>
          </p:nvPr>
        </p:nvGraphicFramePr>
        <p:xfrm>
          <a:off x="2627784" y="5085184"/>
          <a:ext cx="5616624" cy="1259840"/>
        </p:xfrm>
        <a:graphic>
          <a:graphicData uri="http://schemas.openxmlformats.org/drawingml/2006/table">
            <a:tbl>
              <a:tblPr/>
              <a:tblGrid>
                <a:gridCol w="1123325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706973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986126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732999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 smtClean="0">
                          <a:effectLst/>
                          <a:latin typeface="Verdana" panose="020B0604030504040204" pitchFamily="34" charset="0"/>
                        </a:rPr>
                        <a:t>Ответственный</a:t>
                      </a:r>
                      <a:endParaRPr lang="ru-RU" sz="1400" b="1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1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001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Главный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31&gt;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22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002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Ангар 1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32&gt;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23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003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Ангар</a:t>
                      </a:r>
                      <a:r>
                        <a:rPr lang="ru-RU" sz="1400" baseline="0" dirty="0" smtClean="0">
                          <a:effectLst/>
                          <a:latin typeface="Verdana" panose="020B0604030504040204" pitchFamily="34" charset="0"/>
                        </a:rPr>
                        <a:t> 2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33&gt;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  <p:cxnSp>
        <p:nvCxnSpPr>
          <p:cNvPr id="32" name="Прямая со стрелкой 31"/>
          <p:cNvCxnSpPr/>
          <p:nvPr/>
        </p:nvCxnSpPr>
        <p:spPr>
          <a:xfrm flipH="1">
            <a:off x="3933268" y="3234658"/>
            <a:ext cx="2337438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Овал 45"/>
          <p:cNvSpPr/>
          <p:nvPr/>
        </p:nvSpPr>
        <p:spPr>
          <a:xfrm>
            <a:off x="4021302" y="161541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3805684" y="1945193"/>
            <a:ext cx="227738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Создаем программный объект, который переберет все записи, удовлетворяющие некоторому условию</a:t>
            </a:r>
            <a:endParaRPr lang="ru-RU" sz="14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7624" y="587357"/>
            <a:ext cx="79144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ВыборкаСклады</a:t>
            </a:r>
            <a:r>
              <a:rPr lang="en-US" sz="16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en-US" sz="16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en-US" sz="16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6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Склады</a:t>
            </a:r>
            <a:r>
              <a:rPr lang="ru-RU" sz="16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Выбрать</a:t>
            </a:r>
            <a:r>
              <a:rPr lang="ru-RU" sz="16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  <a:endParaRPr lang="en-US" sz="1600" b="1" dirty="0" smtClean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96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87018" y="4293096"/>
            <a:ext cx="8812654" cy="2232248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 smtClean="0">
                <a:solidFill>
                  <a:schemeClr val="tx1"/>
                </a:solidFill>
              </a:rPr>
              <a:t>База </a:t>
            </a:r>
            <a:r>
              <a:rPr lang="ru-RU" dirty="0" smtClean="0">
                <a:solidFill>
                  <a:schemeClr val="tx1"/>
                </a:solidFill>
              </a:rPr>
              <a:t>данных (Справочник Склады)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1412776"/>
            <a:ext cx="8812654" cy="2808312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270706" y="1524564"/>
            <a:ext cx="1661373" cy="864096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</a:rPr>
              <a:t>Справочник</a:t>
            </a:r>
            <a:r>
              <a:rPr lang="ru-RU" b="1" dirty="0" err="1" smtClean="0">
                <a:solidFill>
                  <a:schemeClr val="tx1"/>
                </a:solidFill>
              </a:rPr>
              <a:t>И</a:t>
            </a:r>
            <a:r>
              <a:rPr lang="ru-RU" dirty="0" smtClean="0">
                <a:solidFill>
                  <a:schemeClr val="tx1"/>
                </a:solidFill>
              </a:rPr>
              <a:t> менеджер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Блок-схема: альтернативный процесс 21"/>
          <p:cNvSpPr/>
          <p:nvPr/>
        </p:nvSpPr>
        <p:spPr>
          <a:xfrm>
            <a:off x="6380342" y="3086846"/>
            <a:ext cx="1806913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Менеджер</a:t>
            </a:r>
            <a:endParaRPr lang="ru-RU" dirty="0" smtClean="0">
              <a:solidFill>
                <a:schemeClr val="tx1"/>
              </a:solidFill>
            </a:endParaRP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Склады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Блок-схема: альтернативный процесс 26"/>
          <p:cNvSpPr/>
          <p:nvPr/>
        </p:nvSpPr>
        <p:spPr>
          <a:xfrm>
            <a:off x="1992115" y="2540397"/>
            <a:ext cx="1750260" cy="87995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Справочник </a:t>
            </a:r>
            <a:r>
              <a:rPr lang="ru-RU" dirty="0" smtClean="0">
                <a:solidFill>
                  <a:schemeClr val="tx1"/>
                </a:solidFill>
              </a:rPr>
              <a:t>выборка </a:t>
            </a:r>
            <a:r>
              <a:rPr lang="ru-RU" dirty="0" smtClean="0">
                <a:solidFill>
                  <a:schemeClr val="tx1"/>
                </a:solidFill>
                <a:hlinkClick r:id="rId2" action="ppaction://hlinksldjump"/>
              </a:rPr>
              <a:t>Склады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6588224" y="2540397"/>
            <a:ext cx="0" cy="402433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483768" y="3503720"/>
            <a:ext cx="0" cy="92615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627784" y="5085184"/>
          <a:ext cx="5616624" cy="1259840"/>
        </p:xfrm>
        <a:graphic>
          <a:graphicData uri="http://schemas.openxmlformats.org/drawingml/2006/table">
            <a:tbl>
              <a:tblPr/>
              <a:tblGrid>
                <a:gridCol w="1123325">
                  <a:extLst>
                    <a:ext uri="{9D8B030D-6E8A-4147-A177-3AD203B41FA5}">
                      <a16:colId xmlns:a16="http://schemas.microsoft.com/office/drawing/2014/main" val="2731765912"/>
                    </a:ext>
                  </a:extLst>
                </a:gridCol>
                <a:gridCol w="706973">
                  <a:extLst>
                    <a:ext uri="{9D8B030D-6E8A-4147-A177-3AD203B41FA5}">
                      <a16:colId xmlns:a16="http://schemas.microsoft.com/office/drawing/2014/main" val="1742045312"/>
                    </a:ext>
                  </a:extLst>
                </a:gridCol>
                <a:gridCol w="1986126">
                  <a:extLst>
                    <a:ext uri="{9D8B030D-6E8A-4147-A177-3AD203B41FA5}">
                      <a16:colId xmlns:a16="http://schemas.microsoft.com/office/drawing/2014/main" val="2966412247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732999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Ссылка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Код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Наименование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 smtClean="0">
                          <a:effectLst/>
                          <a:latin typeface="Verdana" panose="020B0604030504040204" pitchFamily="34" charset="0"/>
                        </a:rPr>
                        <a:t>Ответственный</a:t>
                      </a:r>
                      <a:endParaRPr lang="ru-RU" sz="1400" b="1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7090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1</a:t>
                      </a:r>
                      <a:endParaRPr lang="en-US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001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Главный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31&gt;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779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22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002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Ангар 1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32&gt;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12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Verdana" panose="020B0604030504040204" pitchFamily="34" charset="0"/>
                        </a:rPr>
                        <a:t>Id </a:t>
                      </a: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23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003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Ангар</a:t>
                      </a:r>
                      <a:r>
                        <a:rPr lang="ru-RU" sz="1400" baseline="0" dirty="0" smtClean="0">
                          <a:effectLst/>
                          <a:latin typeface="Verdana" panose="020B0604030504040204" pitchFamily="34" charset="0"/>
                        </a:rPr>
                        <a:t> 2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smtClean="0">
                          <a:effectLst/>
                          <a:latin typeface="Verdana" panose="020B0604030504040204" pitchFamily="34" charset="0"/>
                        </a:rPr>
                        <a:t>&lt;</a:t>
                      </a:r>
                      <a:r>
                        <a:rPr lang="en-US" sz="1400" dirty="0" smtClean="0">
                          <a:effectLst/>
                          <a:latin typeface="Verdana" panose="020B0604030504040204" pitchFamily="34" charset="0"/>
                        </a:rPr>
                        <a:t>id</a:t>
                      </a:r>
                      <a:r>
                        <a:rPr lang="en-US" sz="1400" baseline="0" dirty="0" smtClean="0">
                          <a:effectLst/>
                          <a:latin typeface="Verdana" panose="020B0604030504040204" pitchFamily="34" charset="0"/>
                        </a:rPr>
                        <a:t> 33&gt;</a:t>
                      </a:r>
                      <a:endParaRPr lang="x-none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921370"/>
                  </a:ext>
                </a:extLst>
              </a:tr>
            </a:tbl>
          </a:graphicData>
        </a:graphic>
      </p:graphicFrame>
      <p:cxnSp>
        <p:nvCxnSpPr>
          <p:cNvPr id="32" name="Прямая со стрелкой 31"/>
          <p:cNvCxnSpPr/>
          <p:nvPr/>
        </p:nvCxnSpPr>
        <p:spPr>
          <a:xfrm flipH="1">
            <a:off x="3933268" y="3234658"/>
            <a:ext cx="2337438" cy="0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Овал 45"/>
          <p:cNvSpPr/>
          <p:nvPr/>
        </p:nvSpPr>
        <p:spPr>
          <a:xfrm>
            <a:off x="4021302" y="1615413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56" name="Овал 55"/>
          <p:cNvSpPr/>
          <p:nvPr/>
        </p:nvSpPr>
        <p:spPr>
          <a:xfrm>
            <a:off x="6049404" y="2429191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762129" y="2408692"/>
            <a:ext cx="23398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Определяем данные какого справочника нас интересуют</a:t>
            </a:r>
            <a:endParaRPr lang="ru-RU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3805684" y="1945193"/>
            <a:ext cx="227738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Создаем программный объект, который переберет все записи, удовлетворяющие некоторому условию</a:t>
            </a:r>
            <a:endParaRPr lang="ru-RU" sz="14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187018" y="587357"/>
            <a:ext cx="948548" cy="681403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7624" y="587357"/>
            <a:ext cx="79144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ВыборкаСклады</a:t>
            </a:r>
            <a:r>
              <a:rPr lang="en-US" sz="16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en-US" sz="16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en-US" sz="16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Справочники</a:t>
            </a:r>
            <a:r>
              <a:rPr lang="ru-RU" sz="16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Склады</a:t>
            </a:r>
            <a:r>
              <a:rPr lang="ru-RU" sz="1600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Выбрать</a:t>
            </a:r>
            <a:r>
              <a:rPr lang="ru-RU" sz="1600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  <a:endParaRPr lang="en-US" sz="1600" b="1" dirty="0" smtClean="0">
              <a:solidFill>
                <a:srgbClr val="FF000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  <a:p>
            <a:r>
              <a:rPr lang="ru-RU" sz="1600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ДанныеНашли</a:t>
            </a:r>
            <a:r>
              <a:rPr lang="ru-RU" sz="1600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sz="16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ВыборкаСклады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sz="1600" b="1" dirty="0" err="1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Выбрать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</a:p>
        </p:txBody>
      </p:sp>
      <p:sp>
        <p:nvSpPr>
          <p:cNvPr id="30" name="Овал 29"/>
          <p:cNvSpPr/>
          <p:nvPr/>
        </p:nvSpPr>
        <p:spPr>
          <a:xfrm>
            <a:off x="1687123" y="3503720"/>
            <a:ext cx="432048" cy="419732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ru-RU" dirty="0"/>
          </a:p>
        </p:txBody>
      </p:sp>
      <p:sp>
        <p:nvSpPr>
          <p:cNvPr id="31" name="TextBox 30"/>
          <p:cNvSpPr txBox="1"/>
          <p:nvPr/>
        </p:nvSpPr>
        <p:spPr>
          <a:xfrm>
            <a:off x="287473" y="1717512"/>
            <a:ext cx="27993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«Затаскиваем» по очереди из базы данных внутрь объекта данные удовлетворяющие условиям выборки.</a:t>
            </a:r>
            <a:endParaRPr lang="ru-RU" sz="1400" dirty="0"/>
          </a:p>
        </p:txBody>
      </p:sp>
      <p:cxnSp>
        <p:nvCxnSpPr>
          <p:cNvPr id="23" name="Прямая со стрелкой 22"/>
          <p:cNvCxnSpPr/>
          <p:nvPr/>
        </p:nvCxnSpPr>
        <p:spPr>
          <a:xfrm flipV="1">
            <a:off x="2771800" y="3503720"/>
            <a:ext cx="0" cy="92615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3086773" y="3503720"/>
            <a:ext cx="0" cy="92615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/>
          <p:cNvCxnSpPr/>
          <p:nvPr/>
        </p:nvCxnSpPr>
        <p:spPr>
          <a:xfrm flipV="1">
            <a:off x="3347864" y="3503720"/>
            <a:ext cx="0" cy="92615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613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251520" y="980728"/>
            <a:ext cx="4104000" cy="316835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u="sng" dirty="0"/>
              <a:t>Справочник </a:t>
            </a:r>
            <a:r>
              <a:rPr lang="ru-RU" b="1" u="sng" dirty="0" err="1" smtClean="0"/>
              <a:t>Объект.Номенлатура</a:t>
            </a:r>
            <a:endParaRPr lang="ru-RU" b="1" u="sng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41474" y="651485"/>
            <a:ext cx="1976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ВыборкаСклады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603773"/>
              </p:ext>
            </p:extLst>
          </p:nvPr>
        </p:nvGraphicFramePr>
        <p:xfrm>
          <a:off x="539552" y="1556793"/>
          <a:ext cx="3456384" cy="249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Свойство </a:t>
                      </a:r>
                      <a:br>
                        <a:rPr lang="ru-RU" dirty="0"/>
                      </a:br>
                      <a:r>
                        <a:rPr lang="ru-RU" dirty="0"/>
                        <a:t>(Реквизит)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&lt;id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22</a:t>
                      </a:r>
                      <a:r>
                        <a:rPr lang="en-US" dirty="0" smtClean="0"/>
                        <a:t>&gt;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smtClean="0"/>
                        <a:t>00</a:t>
                      </a:r>
                      <a:r>
                        <a:rPr lang="ru-RU" sz="1800" kern="1200" dirty="0" smtClean="0"/>
                        <a:t>2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Ангар 1</a:t>
                      </a:r>
                      <a:endParaRPr lang="ru-RU" sz="1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Ответственный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en-US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en-US" sz="1800" b="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</a:t>
                      </a:r>
                      <a:r>
                        <a:rPr lang="en-US" sz="1800" b="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485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  <a:endParaRPr lang="ru-RU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Выноска 2 (с границей) 6"/>
          <p:cNvSpPr/>
          <p:nvPr/>
        </p:nvSpPr>
        <p:spPr>
          <a:xfrm>
            <a:off x="6084168" y="980728"/>
            <a:ext cx="2808312" cy="864096"/>
          </a:xfrm>
          <a:prstGeom prst="accentCallout2">
            <a:avLst>
              <a:gd name="adj1" fmla="val 56099"/>
              <a:gd name="adj2" fmla="val -7056"/>
              <a:gd name="adj3" fmla="val 32237"/>
              <a:gd name="adj4" fmla="val -34544"/>
              <a:gd name="adj5" fmla="val 126538"/>
              <a:gd name="adj6" fmla="val -61032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Программный объект работает только на чтение!!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467544" y="4355813"/>
            <a:ext cx="741682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ДанныеНашли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  <a:r>
              <a:rPr lang="ru-RU" b="1" dirty="0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 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ВыборкаСклады</a:t>
            </a:r>
            <a:r>
              <a:rPr lang="ru-RU" b="1" dirty="0" err="1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.</a:t>
            </a:r>
            <a:r>
              <a:rPr lang="ru-RU" b="1" dirty="0" err="1" smtClean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Выбрать</a:t>
            </a:r>
            <a:r>
              <a:rPr lang="ru-RU" b="1" dirty="0" smtClean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();</a:t>
            </a:r>
          </a:p>
          <a:p>
            <a:r>
              <a:rPr lang="ru-RU" b="1" dirty="0" smtClean="0">
                <a:solidFill>
                  <a:srgbClr val="00B05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//Если данные «вытащили» из базы данных в </a:t>
            </a:r>
            <a:br>
              <a:rPr lang="ru-RU" b="1" dirty="0" smtClean="0">
                <a:solidFill>
                  <a:srgbClr val="00B05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</a:br>
            <a:r>
              <a:rPr lang="ru-RU" b="1" dirty="0" smtClean="0">
                <a:solidFill>
                  <a:srgbClr val="00B05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//программный объект, то получаем ИСТИНУ,</a:t>
            </a:r>
          </a:p>
          <a:p>
            <a:r>
              <a:rPr lang="ru-RU" b="1" dirty="0" smtClean="0">
                <a:solidFill>
                  <a:srgbClr val="00B05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//а если данных для чтения больше нет, то ЛОЖЬ </a:t>
            </a:r>
            <a:endParaRPr lang="ru-RU" b="1" dirty="0">
              <a:solidFill>
                <a:srgbClr val="00B050"/>
              </a:solidFill>
              <a:latin typeface="Courier New" pitchFamily="49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99792" y="6093296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hlinkClick r:id="rId2" action="ppaction://hlinksldjump"/>
              </a:rPr>
              <a:t>Вернуться к предыдущему слайду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7054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на основании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Копирование данных из строки одной таблицы в строку другой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755618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Открытие формы существующего объекта базы данных</a:t>
            </a:r>
          </a:p>
        </p:txBody>
      </p:sp>
      <p:sp>
        <p:nvSpPr>
          <p:cNvPr id="2" name="Текст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4612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733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40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9116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55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242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06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683568" y="4149080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ru-RU" dirty="0"/>
              <a:t>Открытие формы нового (еще не записанного в базу данных) объекта данных</a:t>
            </a:r>
          </a:p>
        </p:txBody>
      </p:sp>
      <p:sp>
        <p:nvSpPr>
          <p:cNvPr id="2" name="Текст 1"/>
          <p:cNvSpPr>
            <a:spLocks noGrp="1"/>
          </p:cNvSpPr>
          <p:nvPr>
            <p:ph type="body" idx="1"/>
          </p:nvPr>
        </p:nvSpPr>
        <p:spPr>
          <a:xfrm>
            <a:off x="683568" y="2648893"/>
            <a:ext cx="7772400" cy="150018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137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7803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8"/>
            <a:ext cx="3213752" cy="928607"/>
          </a:xfrm>
          <a:prstGeom prst="borderCallout3">
            <a:avLst>
              <a:gd name="adj1" fmla="val -11912"/>
              <a:gd name="adj2" fmla="val 14468"/>
              <a:gd name="adj3" fmla="val -71467"/>
              <a:gd name="adj4" fmla="val -1310"/>
              <a:gd name="adj5" fmla="val -124097"/>
              <a:gd name="adj6" fmla="val 3287"/>
              <a:gd name="adj7" fmla="val -102171"/>
              <a:gd name="adj8" fmla="val 34149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(Обработка заполнения!)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27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463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613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059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4149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22313" y="4137099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ru-RU" dirty="0"/>
              <a:t>Открытие формы нового (еще не записанного в базу данных) объекта </a:t>
            </a:r>
            <a:r>
              <a:rPr lang="ru-RU" dirty="0" smtClean="0"/>
              <a:t>данных</a:t>
            </a:r>
            <a:endParaRPr lang="ru-RU" dirty="0"/>
          </a:p>
        </p:txBody>
      </p:sp>
      <p:sp>
        <p:nvSpPr>
          <p:cNvPr id="2" name="Текст 1"/>
          <p:cNvSpPr>
            <a:spLocks noGrp="1"/>
          </p:cNvSpPr>
          <p:nvPr>
            <p:ph type="body" idx="1"/>
          </p:nvPr>
        </p:nvSpPr>
        <p:spPr>
          <a:xfrm>
            <a:off x="722313" y="2636912"/>
            <a:ext cx="7772400" cy="1500187"/>
          </a:xfrm>
        </p:spPr>
        <p:txBody>
          <a:bodyPr/>
          <a:lstStyle/>
          <a:p>
            <a:r>
              <a:rPr lang="ru-RU" dirty="0"/>
              <a:t>при использовании механизма «</a:t>
            </a:r>
            <a:r>
              <a:rPr lang="ru-RU" dirty="0" err="1"/>
              <a:t>Вввод</a:t>
            </a:r>
            <a:r>
              <a:rPr lang="ru-RU" dirty="0"/>
              <a:t> на основании»</a:t>
            </a:r>
          </a:p>
        </p:txBody>
      </p:sp>
    </p:spTree>
    <p:extLst>
      <p:ext uri="{BB962C8B-B14F-4D97-AF65-F5344CB8AC3E}">
        <p14:creationId xmlns:p14="http://schemas.microsoft.com/office/powerpoint/2010/main" val="2527678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91692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" fill="hold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658097" y="328925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«Приказ о приеме»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(новый)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4582479" y="4690542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1539"/>
              <a:gd name="adj4" fmla="val -22644"/>
              <a:gd name="adj5" fmla="val -91219"/>
              <a:gd name="adj6" fmla="val -29327"/>
              <a:gd name="adj7" fmla="val -146594"/>
              <a:gd name="adj8" fmla="val -1360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6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6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91941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658097" y="328925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«Приказ о приеме»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(Новый)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4582479" y="4690542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416"/>
              <a:gd name="adj4" fmla="val -31338"/>
              <a:gd name="adj5" fmla="val -101891"/>
              <a:gd name="adj6" fmla="val -32044"/>
              <a:gd name="adj7" fmla="val -137700"/>
              <a:gd name="adj8" fmla="val -14691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6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6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34" name="Блок-схема: альтернативный процесс 33"/>
          <p:cNvSpPr/>
          <p:nvPr/>
        </p:nvSpPr>
        <p:spPr>
          <a:xfrm>
            <a:off x="539552" y="3766737"/>
            <a:ext cx="2520280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Справочник ссылка</a:t>
            </a:r>
            <a:r>
              <a:rPr lang="ru-RU" dirty="0">
                <a:solidFill>
                  <a:schemeClr val="tx1"/>
                </a:solidFill>
              </a:rPr>
              <a:t/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Сотрудники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(Данные сотрудника 3)</a:t>
            </a:r>
          </a:p>
        </p:txBody>
      </p:sp>
      <p:cxnSp>
        <p:nvCxnSpPr>
          <p:cNvPr id="35" name="Прямая со стрелкой 34"/>
          <p:cNvCxnSpPr/>
          <p:nvPr/>
        </p:nvCxnSpPr>
        <p:spPr>
          <a:xfrm>
            <a:off x="1907704" y="4774849"/>
            <a:ext cx="0" cy="1211781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979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4582479" y="4509120"/>
            <a:ext cx="2869841" cy="936104"/>
          </a:xfrm>
          <a:prstGeom prst="borderCallout3">
            <a:avLst>
              <a:gd name="adj1" fmla="val 29009"/>
              <a:gd name="adj2" fmla="val 6287"/>
              <a:gd name="adj3" fmla="val -833"/>
              <a:gd name="adj4" fmla="val -18665"/>
              <a:gd name="adj5" fmla="val -39448"/>
              <a:gd name="adj6" fmla="val -24057"/>
              <a:gd name="adj7" fmla="val -56374"/>
              <a:gd name="adj8" fmla="val -1494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Обработка заполнения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(Данные заполнения)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cxnSp>
        <p:nvCxnSpPr>
          <p:cNvPr id="11" name="Прямая со стрелкой 10"/>
          <p:cNvCxnSpPr/>
          <p:nvPr/>
        </p:nvCxnSpPr>
        <p:spPr>
          <a:xfrm>
            <a:off x="3059832" y="4774849"/>
            <a:ext cx="1872208" cy="526359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Блок-схема: альтернативный процесс 13"/>
          <p:cNvSpPr/>
          <p:nvPr/>
        </p:nvSpPr>
        <p:spPr>
          <a:xfrm>
            <a:off x="539552" y="3766737"/>
            <a:ext cx="2520280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Справочник ссылка</a:t>
            </a:r>
            <a:r>
              <a:rPr lang="ru-RU" dirty="0">
                <a:solidFill>
                  <a:schemeClr val="tx1"/>
                </a:solidFill>
              </a:rPr>
              <a:t/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Сотрудники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(Данные сотрудника 3)</a:t>
            </a:r>
          </a:p>
        </p:txBody>
      </p:sp>
      <p:sp>
        <p:nvSpPr>
          <p:cNvPr id="15" name="Блок-схема: альтернативный процесс 14"/>
          <p:cNvSpPr/>
          <p:nvPr/>
        </p:nvSpPr>
        <p:spPr>
          <a:xfrm>
            <a:off x="3658097" y="328925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«Приказ о приеме»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(Новый)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572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4582479" y="4690542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560"/>
              <a:gd name="adj4" fmla="val -31999"/>
              <a:gd name="adj5" fmla="val -78480"/>
              <a:gd name="adj6" fmla="val -38682"/>
              <a:gd name="adj7" fmla="val -144815"/>
              <a:gd name="adj8" fmla="val -2375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cxnSp>
        <p:nvCxnSpPr>
          <p:cNvPr id="15" name="Прямая со стрелкой 14"/>
          <p:cNvCxnSpPr/>
          <p:nvPr/>
        </p:nvCxnSpPr>
        <p:spPr>
          <a:xfrm>
            <a:off x="5913711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Блок-схема: альтернативный процесс 15"/>
          <p:cNvSpPr/>
          <p:nvPr/>
        </p:nvSpPr>
        <p:spPr>
          <a:xfrm>
            <a:off x="3658097" y="3289250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«Приказ о приеме»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(Новый)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7170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31274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cxnSp>
        <p:nvCxnSpPr>
          <p:cNvPr id="15" name="Прямая со стрелкой 14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484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1695956" y="716816"/>
            <a:ext cx="3447831" cy="90725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b="1" dirty="0"/>
              <a:t>Динамический список (Сотрудники)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4467556" y="5667754"/>
            <a:ext cx="3126933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Приказ о приеме2</a:t>
            </a:r>
          </a:p>
        </p:txBody>
      </p:sp>
      <p:sp>
        <p:nvSpPr>
          <p:cNvPr id="32" name="Прямоугольник 31"/>
          <p:cNvSpPr/>
          <p:nvPr/>
        </p:nvSpPr>
        <p:spPr>
          <a:xfrm>
            <a:off x="1549760" y="5667754"/>
            <a:ext cx="2736304" cy="79208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1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2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Сотрудник 3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ru-RU" sz="12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9074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СофтБаланс_основные_объекты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сновные_объекты" id="{62BD0483-928A-448D-BBAD-621E3072F039}" vid="{487075A3-1F89-4279-8755-8EA96074D5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СофтБаланс_основные_объекты</Template>
  <TotalTime>5703</TotalTime>
  <Words>2620</Words>
  <Application>Microsoft Office PowerPoint</Application>
  <PresentationFormat>Экран (4:3)</PresentationFormat>
  <Paragraphs>833</Paragraphs>
  <Slides>64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64</vt:i4>
      </vt:variant>
    </vt:vector>
  </HeadingPairs>
  <TitlesOfParts>
    <vt:vector size="73" baseType="lpstr">
      <vt:lpstr>Arial</vt:lpstr>
      <vt:lpstr>Arial Black</vt:lpstr>
      <vt:lpstr>Calibri</vt:lpstr>
      <vt:lpstr>Courier New</vt:lpstr>
      <vt:lpstr>Tahoma</vt:lpstr>
      <vt:lpstr>Times New Roman</vt:lpstr>
      <vt:lpstr>Verdana</vt:lpstr>
      <vt:lpstr>Wingdings</vt:lpstr>
      <vt:lpstr>СофтБаланс_основные_объекты</vt:lpstr>
      <vt:lpstr>Занятие 4</vt:lpstr>
      <vt:lpstr>Прикладные объекты</vt:lpstr>
      <vt:lpstr>Задача</vt:lpstr>
      <vt:lpstr>Презентация PowerPoint</vt:lpstr>
      <vt:lpstr>Объектная модель доступа к данным константы</vt:lpstr>
      <vt:lpstr>Презентация PowerPoint</vt:lpstr>
      <vt:lpstr>Глобальный контекст</vt:lpstr>
      <vt:lpstr>Структура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Задача</vt:lpstr>
      <vt:lpstr>Объектная модель доступа к данным регистра сведений (вариант 1)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Объектная модель работы с данными справочников и документов</vt:lpstr>
      <vt:lpstr>Объектная модель доступа к данным</vt:lpstr>
      <vt:lpstr>Объектная модель доступа к данным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Выборка</vt:lpstr>
      <vt:lpstr>Презентация PowerPoint</vt:lpstr>
      <vt:lpstr>Презентация PowerPoint</vt:lpstr>
      <vt:lpstr>Презентация PowerPoint</vt:lpstr>
      <vt:lpstr>Ввод на основании</vt:lpstr>
      <vt:lpstr>Открытие формы существующего объекта базы данных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Открытие формы нового (еще не записанного в базу данных) объекта данных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Открытие формы нового (еще не записанного в базу данных) объекта данных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занятие</dc:title>
  <dc:creator>Сергей</dc:creator>
  <cp:lastModifiedBy>eugeniy sizov</cp:lastModifiedBy>
  <cp:revision>151</cp:revision>
  <dcterms:created xsi:type="dcterms:W3CDTF">2010-10-21T16:41:17Z</dcterms:created>
  <dcterms:modified xsi:type="dcterms:W3CDTF">2020-09-26T17:21:01Z</dcterms:modified>
</cp:coreProperties>
</file>