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1"/>
  </p:notesMasterIdLst>
  <p:sldIdLst>
    <p:sldId id="256" r:id="rId2"/>
    <p:sldId id="304" r:id="rId3"/>
    <p:sldId id="299" r:id="rId4"/>
    <p:sldId id="309" r:id="rId5"/>
    <p:sldId id="392" r:id="rId6"/>
    <p:sldId id="311" r:id="rId7"/>
    <p:sldId id="284" r:id="rId8"/>
    <p:sldId id="283" r:id="rId9"/>
    <p:sldId id="390" r:id="rId10"/>
    <p:sldId id="306" r:id="rId11"/>
    <p:sldId id="296" r:id="rId12"/>
    <p:sldId id="285" r:id="rId13"/>
    <p:sldId id="286" r:id="rId14"/>
    <p:sldId id="287" r:id="rId15"/>
    <p:sldId id="288" r:id="rId16"/>
    <p:sldId id="333" r:id="rId17"/>
    <p:sldId id="393" r:id="rId18"/>
    <p:sldId id="406" r:id="rId19"/>
    <p:sldId id="401" r:id="rId20"/>
    <p:sldId id="402" r:id="rId21"/>
    <p:sldId id="408" r:id="rId22"/>
    <p:sldId id="407" r:id="rId23"/>
    <p:sldId id="403" r:id="rId24"/>
    <p:sldId id="404" r:id="rId25"/>
    <p:sldId id="405" r:id="rId26"/>
    <p:sldId id="409" r:id="rId27"/>
    <p:sldId id="410" r:id="rId28"/>
    <p:sldId id="412" r:id="rId29"/>
    <p:sldId id="411" r:id="rId30"/>
    <p:sldId id="389" r:id="rId31"/>
    <p:sldId id="315" r:id="rId32"/>
    <p:sldId id="316" r:id="rId33"/>
    <p:sldId id="317" r:id="rId34"/>
    <p:sldId id="318" r:id="rId35"/>
    <p:sldId id="361" r:id="rId36"/>
    <p:sldId id="349" r:id="rId37"/>
    <p:sldId id="350" r:id="rId38"/>
    <p:sldId id="351" r:id="rId39"/>
    <p:sldId id="352" r:id="rId40"/>
    <p:sldId id="353" r:id="rId41"/>
    <p:sldId id="362" r:id="rId42"/>
    <p:sldId id="355" r:id="rId43"/>
    <p:sldId id="356" r:id="rId44"/>
    <p:sldId id="357" r:id="rId45"/>
    <p:sldId id="360" r:id="rId46"/>
    <p:sldId id="358" r:id="rId47"/>
    <p:sldId id="363" r:id="rId48"/>
    <p:sldId id="314" r:id="rId49"/>
    <p:sldId id="388" r:id="rId50"/>
    <p:sldId id="382" r:id="rId51"/>
    <p:sldId id="383" r:id="rId52"/>
    <p:sldId id="384" r:id="rId53"/>
    <p:sldId id="385" r:id="rId54"/>
    <p:sldId id="386" r:id="rId55"/>
    <p:sldId id="387" r:id="rId56"/>
    <p:sldId id="278" r:id="rId57"/>
    <p:sldId id="371" r:id="rId58"/>
    <p:sldId id="413" r:id="rId59"/>
    <p:sldId id="414" r:id="rId60"/>
    <p:sldId id="415" r:id="rId61"/>
    <p:sldId id="416" r:id="rId62"/>
    <p:sldId id="417" r:id="rId63"/>
    <p:sldId id="418" r:id="rId64"/>
    <p:sldId id="372" r:id="rId65"/>
    <p:sldId id="419" r:id="rId66"/>
    <p:sldId id="420" r:id="rId67"/>
    <p:sldId id="421" r:id="rId68"/>
    <p:sldId id="422" r:id="rId69"/>
    <p:sldId id="423" r:id="rId70"/>
    <p:sldId id="424" r:id="rId71"/>
    <p:sldId id="381" r:id="rId72"/>
    <p:sldId id="435" r:id="rId73"/>
    <p:sldId id="426" r:id="rId74"/>
    <p:sldId id="430" r:id="rId75"/>
    <p:sldId id="431" r:id="rId76"/>
    <p:sldId id="428" r:id="rId77"/>
    <p:sldId id="432" r:id="rId78"/>
    <p:sldId id="429" r:id="rId79"/>
    <p:sldId id="434" r:id="rId8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0" y="75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27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BAF48D07-697E-4671-AE30-606B61A843A7}"/>
    <pc:docChg chg="modSld sldOrd">
      <pc:chgData name="eugeniy sizov" userId="f166da1dfb7bc990" providerId="LiveId" clId="{BAF48D07-697E-4671-AE30-606B61A843A7}" dt="2020-03-17T12:12:44.198" v="1"/>
      <pc:docMkLst>
        <pc:docMk/>
      </pc:docMkLst>
      <pc:sldChg chg="ord">
        <pc:chgData name="eugeniy sizov" userId="f166da1dfb7bc990" providerId="LiveId" clId="{BAF48D07-697E-4671-AE30-606B61A843A7}" dt="2020-03-17T12:12:44.198" v="1"/>
        <pc:sldMkLst>
          <pc:docMk/>
          <pc:sldMk cId="318035001" sldId="284"/>
        </pc:sldMkLst>
      </pc:sldChg>
    </pc:docChg>
  </pc:docChgLst>
  <pc:docChgLst>
    <pc:chgData name="eugeniy sizov" userId="f166da1dfb7bc990" providerId="LiveId" clId="{0040FEB4-D306-46E9-8895-BBB8FA83B8D5}"/>
    <pc:docChg chg="modSld sldOrd">
      <pc:chgData name="eugeniy sizov" userId="f166da1dfb7bc990" providerId="LiveId" clId="{0040FEB4-D306-46E9-8895-BBB8FA83B8D5}" dt="2018-08-07T13:36:28.201" v="0"/>
      <pc:docMkLst>
        <pc:docMk/>
      </pc:docMkLst>
      <pc:sldChg chg="ord">
        <pc:chgData name="eugeniy sizov" userId="f166da1dfb7bc990" providerId="LiveId" clId="{0040FEB4-D306-46E9-8895-BBB8FA83B8D5}" dt="2018-08-07T13:36:28.201" v="0"/>
        <pc:sldMkLst>
          <pc:docMk/>
          <pc:sldMk cId="3285921239" sldId="33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D2F9E-8932-4BC0-94C5-DE962599865D}" type="datetimeFigureOut">
              <a:rPr lang="ru-RU" smtClean="0"/>
              <a:t>24.09.2020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29DFA-7523-49D3-85FF-94385575B4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946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55F66-AF2F-429E-9855-1543ACD6536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053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55F66-AF2F-429E-9855-1543ACD6536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433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55F66-AF2F-429E-9855-1543ACD6536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652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55F66-AF2F-429E-9855-1543ACD65362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317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55F66-AF2F-429E-9855-1543ACD65362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715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55F66-AF2F-429E-9855-1543ACD65362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484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55F66-AF2F-429E-9855-1543ACD65362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573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255F66-AF2F-429E-9855-1543ACD65362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204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Основные объекты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5221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47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5413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33049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04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970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093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102008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1" y="6310313"/>
            <a:ext cx="855663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/77</a:t>
            </a: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Основные объекты</a:t>
            </a:r>
          </a:p>
        </p:txBody>
      </p:sp>
    </p:spTree>
    <p:extLst>
      <p:ext uri="{BB962C8B-B14F-4D97-AF65-F5344CB8AC3E}">
        <p14:creationId xmlns:p14="http://schemas.microsoft.com/office/powerpoint/2010/main" val="4153877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pc="300" dirty="0">
                <a:solidFill>
                  <a:srgbClr val="C00000"/>
                </a:solidFill>
              </a:rPr>
              <a:t>Занятие 4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/>
              <a:t>Программная работа в форме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/>
              <a:t>Прикладные объекты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/>
              <a:t>Ввод на основании</a:t>
            </a: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/>
              <a:t>Команды</a:t>
            </a:r>
          </a:p>
        </p:txBody>
      </p:sp>
    </p:spTree>
    <p:extLst>
      <p:ext uri="{BB962C8B-B14F-4D97-AF65-F5344CB8AC3E}">
        <p14:creationId xmlns:p14="http://schemas.microsoft.com/office/powerpoint/2010/main" val="592629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Разница дат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1643063"/>
            <a:ext cx="6362700" cy="35718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22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Прикладные объекты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Запись, чтение, изменение и удаление информации из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703770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85862" y="1268681"/>
            <a:ext cx="8784000" cy="72015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defRPr sz="2800" b="1" kern="120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800" b="1" kern="120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sz="2000" b="1" kern="120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b="1" kern="1200">
                <a:solidFill>
                  <a:srgbClr val="40404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40404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ru-RU" sz="2400" dirty="0"/>
              <a:t>При начале работы системы установить в заголовке название организации, хранимое в константе.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2420888"/>
            <a:ext cx="6914286" cy="2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69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1208689" y="3259235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Прикладные программные объекты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8" name="Выноска 3 37"/>
          <p:cNvSpPr/>
          <p:nvPr/>
        </p:nvSpPr>
        <p:spPr>
          <a:xfrm>
            <a:off x="539552" y="5113023"/>
            <a:ext cx="2880320" cy="432000"/>
          </a:xfrm>
          <a:prstGeom prst="borderCallout3">
            <a:avLst>
              <a:gd name="adj1" fmla="val 18750"/>
              <a:gd name="adj2" fmla="val -2675"/>
              <a:gd name="adj3" fmla="val 10367"/>
              <a:gd name="adj4" fmla="val -8809"/>
              <a:gd name="adj5" fmla="val -62465"/>
              <a:gd name="adj6" fmla="val -11076"/>
              <a:gd name="adj7" fmla="val -370797"/>
              <a:gd name="adj8" fmla="val 3400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сеанса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9" name="Выноска 3 38"/>
          <p:cNvSpPr/>
          <p:nvPr/>
        </p:nvSpPr>
        <p:spPr>
          <a:xfrm>
            <a:off x="539552" y="2575702"/>
            <a:ext cx="2880320" cy="432000"/>
          </a:xfrm>
          <a:prstGeom prst="borderCallout3">
            <a:avLst>
              <a:gd name="adj1" fmla="val 18750"/>
              <a:gd name="adj2" fmla="val -2047"/>
              <a:gd name="adj3" fmla="val 10367"/>
              <a:gd name="adj4" fmla="val -8181"/>
              <a:gd name="adj5" fmla="val -77135"/>
              <a:gd name="adj6" fmla="val -9190"/>
              <a:gd name="adj7" fmla="val -393850"/>
              <a:gd name="adj8" fmla="val 3085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приложения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7" name="Выноска 3 46"/>
          <p:cNvSpPr/>
          <p:nvPr/>
        </p:nvSpPr>
        <p:spPr>
          <a:xfrm>
            <a:off x="3741904" y="3381155"/>
            <a:ext cx="2198247" cy="801868"/>
          </a:xfrm>
          <a:prstGeom prst="borderCallout3">
            <a:avLst>
              <a:gd name="adj1" fmla="val 22601"/>
              <a:gd name="adj2" fmla="val -539"/>
              <a:gd name="adj3" fmla="val -6811"/>
              <a:gd name="adj4" fmla="val -8515"/>
              <a:gd name="adj5" fmla="val 103"/>
              <a:gd name="adj6" fmla="val -20671"/>
              <a:gd name="adj7" fmla="val 18709"/>
              <a:gd name="adj8" fmla="val -28225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менеджера значения константы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558614" y="4350084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37981"/>
              <a:gd name="adj4" fmla="val 26423"/>
              <a:gd name="adj5" fmla="val -66221"/>
              <a:gd name="adj6" fmla="val 39963"/>
              <a:gd name="adj7" fmla="val -120298"/>
              <a:gd name="adj8" fmla="val 63880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Выноска 3 19"/>
          <p:cNvSpPr/>
          <p:nvPr/>
        </p:nvSpPr>
        <p:spPr>
          <a:xfrm>
            <a:off x="2267744" y="4350084"/>
            <a:ext cx="1800200" cy="504000"/>
          </a:xfrm>
          <a:prstGeom prst="borderCallout3">
            <a:avLst>
              <a:gd name="adj1" fmla="val -5625"/>
              <a:gd name="adj2" fmla="val -539"/>
              <a:gd name="adj3" fmla="val -37835"/>
              <a:gd name="adj4" fmla="val -28242"/>
              <a:gd name="adj5" fmla="val -65161"/>
              <a:gd name="adj6" fmla="val -26659"/>
              <a:gd name="adj7" fmla="val -83749"/>
              <a:gd name="adj8" fmla="val -15132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набора записей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Выноска 3 20"/>
          <p:cNvSpPr/>
          <p:nvPr/>
        </p:nvSpPr>
        <p:spPr>
          <a:xfrm>
            <a:off x="4127292" y="4350084"/>
            <a:ext cx="1800200" cy="504000"/>
          </a:xfrm>
          <a:prstGeom prst="borderCallout3">
            <a:avLst>
              <a:gd name="adj1" fmla="val -5625"/>
              <a:gd name="adj2" fmla="val -539"/>
              <a:gd name="adj3" fmla="val -39553"/>
              <a:gd name="adj4" fmla="val -3573"/>
              <a:gd name="adj5" fmla="val -55220"/>
              <a:gd name="adj6" fmla="val -12434"/>
              <a:gd name="adj7" fmla="val -65803"/>
              <a:gd name="adj8" fmla="val -46188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Модуль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менеджера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895934" y="2387616"/>
            <a:ext cx="2170506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3832507" y="2474146"/>
            <a:ext cx="2170506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3769645" y="2575702"/>
            <a:ext cx="2170506" cy="43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Общие модули</a:t>
            </a:r>
          </a:p>
        </p:txBody>
      </p:sp>
      <p:sp>
        <p:nvSpPr>
          <p:cNvPr id="29" name="Прямоугольник 28"/>
          <p:cNvSpPr/>
          <p:nvPr/>
        </p:nvSpPr>
        <p:spPr>
          <a:xfrm>
            <a:off x="3895934" y="4952968"/>
            <a:ext cx="2170506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3832507" y="5039498"/>
            <a:ext cx="2170506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3785253" y="5113023"/>
            <a:ext cx="2154898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Общие модули</a:t>
            </a:r>
          </a:p>
        </p:txBody>
      </p:sp>
    </p:spTree>
    <p:extLst>
      <p:ext uri="{BB962C8B-B14F-4D97-AF65-F5344CB8AC3E}">
        <p14:creationId xmlns:p14="http://schemas.microsoft.com/office/powerpoint/2010/main" val="62660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40799"/>
          </a:xfrm>
        </p:spPr>
        <p:txBody>
          <a:bodyPr>
            <a:normAutofit fontScale="90000"/>
          </a:bodyPr>
          <a:lstStyle/>
          <a:p>
            <a:r>
              <a:rPr lang="ru-RU" dirty="0"/>
              <a:t>Объектная модель доступа к данным константы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27584" y="1844824"/>
            <a:ext cx="20882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Константы менеджер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27584" y="2996952"/>
            <a:ext cx="2088232" cy="7200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Константа менеджер</a:t>
            </a:r>
          </a:p>
        </p:txBody>
      </p:sp>
      <p:sp>
        <p:nvSpPr>
          <p:cNvPr id="9" name="Стрелка вниз 8"/>
          <p:cNvSpPr/>
          <p:nvPr/>
        </p:nvSpPr>
        <p:spPr>
          <a:xfrm>
            <a:off x="1691680" y="2564904"/>
            <a:ext cx="288032" cy="43204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347864" y="1844824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Из какой константы будем читать информацию?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7864" y="2991054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Чтение, запись, изменение значения константы.</a:t>
            </a:r>
          </a:p>
        </p:txBody>
      </p:sp>
    </p:spTree>
    <p:extLst>
      <p:ext uri="{BB962C8B-B14F-4D97-AF65-F5344CB8AC3E}">
        <p14:creationId xmlns:p14="http://schemas.microsoft.com/office/powerpoint/2010/main" val="393152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C00000"/>
                </a:solidFill>
              </a:rPr>
              <a:t>Менеджер значения константы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8096"/>
              </p:ext>
            </p:extLst>
          </p:nvPr>
        </p:nvGraphicFramePr>
        <p:xfrm>
          <a:off x="4080029" y="5065375"/>
          <a:ext cx="3432212" cy="95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2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59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 организации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940">
                <a:tc>
                  <a:txBody>
                    <a:bodyPr/>
                    <a:lstStyle/>
                    <a:p>
                      <a:r>
                        <a:rPr lang="ru-RU" dirty="0"/>
                        <a:t>«Север»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трелка углом 8"/>
          <p:cNvSpPr/>
          <p:nvPr/>
        </p:nvSpPr>
        <p:spPr>
          <a:xfrm rot="10800000">
            <a:off x="7596334" y="2492896"/>
            <a:ext cx="504057" cy="324036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96135" y="3685674"/>
            <a:ext cx="2052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Установить(«Юг»)</a:t>
            </a:r>
          </a:p>
        </p:txBody>
      </p:sp>
      <p:sp>
        <p:nvSpPr>
          <p:cNvPr id="12" name="Стрелка углом 11"/>
          <p:cNvSpPr/>
          <p:nvPr/>
        </p:nvSpPr>
        <p:spPr>
          <a:xfrm rot="16200000">
            <a:off x="1187623" y="2924945"/>
            <a:ext cx="3168353" cy="2304256"/>
          </a:xfrm>
          <a:prstGeom prst="bentArrow">
            <a:avLst>
              <a:gd name="adj1" fmla="val 5141"/>
              <a:gd name="adj2" fmla="val 7459"/>
              <a:gd name="adj3" fmla="val 10047"/>
              <a:gd name="adj4" fmla="val 201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79712" y="368567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Получить()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632" y="200843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«Север»</a:t>
            </a:r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392493"/>
              </p:ext>
            </p:extLst>
          </p:nvPr>
        </p:nvGraphicFramePr>
        <p:xfrm>
          <a:off x="4080029" y="5065375"/>
          <a:ext cx="3432212" cy="95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2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59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 организации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940">
                <a:tc>
                  <a:txBody>
                    <a:bodyPr/>
                    <a:lstStyle/>
                    <a:p>
                      <a:r>
                        <a:rPr lang="ru-RU" dirty="0"/>
                        <a:t>«Юг»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Скругленный прямоугольник 3"/>
          <p:cNvSpPr/>
          <p:nvPr/>
        </p:nvSpPr>
        <p:spPr>
          <a:xfrm>
            <a:off x="3131840" y="1174907"/>
            <a:ext cx="4788531" cy="182204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Константа менеджер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«</a:t>
            </a:r>
            <a:r>
              <a:rPr lang="ru-RU" dirty="0"/>
              <a:t>Название организации»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r>
              <a:rPr lang="ru-RU" dirty="0"/>
              <a:t>Методы</a:t>
            </a:r>
            <a:r>
              <a:rPr lang="ru-RU" dirty="0" smtClean="0"/>
              <a:t>: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03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 animBg="1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75822"/>
            <a:ext cx="8784000" cy="548798"/>
          </a:xfrm>
        </p:spPr>
        <p:txBody>
          <a:bodyPr/>
          <a:lstStyle/>
          <a:p>
            <a:r>
              <a:rPr lang="ru-RU" dirty="0">
                <a:solidFill>
                  <a:srgbClr val="C00000"/>
                </a:solidFill>
              </a:rPr>
              <a:t>Глобальный контекст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725836"/>
              </p:ext>
            </p:extLst>
          </p:nvPr>
        </p:nvGraphicFramePr>
        <p:xfrm>
          <a:off x="323528" y="908720"/>
          <a:ext cx="8424280" cy="53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3772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Константы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Справочники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Документы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6648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440862"/>
              </p:ext>
            </p:extLst>
          </p:nvPr>
        </p:nvGraphicFramePr>
        <p:xfrm>
          <a:off x="755574" y="2076624"/>
          <a:ext cx="2520000" cy="4028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Имя константы</a:t>
                      </a:r>
                      <a:br>
                        <a:rPr lang="ru-RU" dirty="0"/>
                      </a:b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Константа менеджер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Название </a:t>
                      </a:r>
                      <a:r>
                        <a:rPr lang="ru-RU" dirty="0" err="1"/>
                        <a:t>организа-ции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ИНН</a:t>
                      </a:r>
                    </a:p>
                    <a:p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Дата регистра-</a:t>
                      </a:r>
                      <a:r>
                        <a:rPr lang="ru-RU" dirty="0" err="1"/>
                        <a:t>ции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330539"/>
              </p:ext>
            </p:extLst>
          </p:nvPr>
        </p:nvGraphicFramePr>
        <p:xfrm>
          <a:off x="3347862" y="2076624"/>
          <a:ext cx="2520000" cy="40284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Имя </a:t>
                      </a:r>
                      <a:r>
                        <a:rPr lang="ru-RU" dirty="0" err="1"/>
                        <a:t>справоч-ника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Справоч</a:t>
                      </a:r>
                      <a:r>
                        <a:rPr lang="ru-RU" dirty="0"/>
                        <a:t>-ник </a:t>
                      </a:r>
                      <a:br>
                        <a:rPr lang="ru-RU" dirty="0"/>
                      </a:br>
                      <a:r>
                        <a:rPr lang="ru-RU" dirty="0"/>
                        <a:t>менеджер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Номенкла</a:t>
                      </a:r>
                      <a:r>
                        <a:rPr lang="ru-RU" dirty="0"/>
                        <a:t>-тура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Подразде-ления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Должно-</a:t>
                      </a:r>
                      <a:r>
                        <a:rPr lang="ru-RU" dirty="0" err="1"/>
                        <a:t>сти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61633"/>
              </p:ext>
            </p:extLst>
          </p:nvPr>
        </p:nvGraphicFramePr>
        <p:xfrm>
          <a:off x="5868142" y="2076624"/>
          <a:ext cx="2520000" cy="4028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Имя </a:t>
                      </a:r>
                      <a:r>
                        <a:rPr lang="ru-RU" dirty="0" err="1"/>
                        <a:t>докумен</a:t>
                      </a:r>
                      <a:r>
                        <a:rPr lang="ru-RU" dirty="0"/>
                        <a:t>-та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Документ менеджер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Приказ</a:t>
                      </a:r>
                      <a:r>
                        <a:rPr lang="ru-RU" baseline="0" dirty="0"/>
                        <a:t> о приеме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Приказ об </a:t>
                      </a:r>
                      <a:r>
                        <a:rPr lang="ru-RU" dirty="0" err="1"/>
                        <a:t>увольне-нии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Заказ </a:t>
                      </a:r>
                      <a:r>
                        <a:rPr lang="ru-RU" dirty="0" err="1"/>
                        <a:t>по-купателя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2" name="Группа 21"/>
          <p:cNvGrpSpPr/>
          <p:nvPr/>
        </p:nvGrpSpPr>
        <p:grpSpPr>
          <a:xfrm>
            <a:off x="2051720" y="3068960"/>
            <a:ext cx="1091399" cy="2584896"/>
            <a:chOff x="2051720" y="3068960"/>
            <a:chExt cx="1091399" cy="2584896"/>
          </a:xfrm>
        </p:grpSpPr>
        <p:sp>
          <p:nvSpPr>
            <p:cNvPr id="16" name="Скругленный прямоугольник 15"/>
            <p:cNvSpPr/>
            <p:nvPr/>
          </p:nvSpPr>
          <p:spPr>
            <a:xfrm>
              <a:off x="2051720" y="3068960"/>
              <a:ext cx="1080438" cy="72008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Скругленный прямоугольник 19"/>
            <p:cNvSpPr/>
            <p:nvPr/>
          </p:nvSpPr>
          <p:spPr>
            <a:xfrm>
              <a:off x="2062681" y="3997247"/>
              <a:ext cx="1080438" cy="72008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Скругленный прямоугольник 20"/>
            <p:cNvSpPr/>
            <p:nvPr/>
          </p:nvSpPr>
          <p:spPr>
            <a:xfrm>
              <a:off x="2062681" y="4933776"/>
              <a:ext cx="1080438" cy="72008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/>
          <p:cNvGrpSpPr/>
          <p:nvPr/>
        </p:nvGrpSpPr>
        <p:grpSpPr>
          <a:xfrm>
            <a:off x="4704735" y="3083859"/>
            <a:ext cx="1091399" cy="2584896"/>
            <a:chOff x="2051720" y="3068960"/>
            <a:chExt cx="1091399" cy="2584896"/>
          </a:xfrm>
        </p:grpSpPr>
        <p:sp>
          <p:nvSpPr>
            <p:cNvPr id="24" name="Скругленный прямоугольник 23"/>
            <p:cNvSpPr/>
            <p:nvPr/>
          </p:nvSpPr>
          <p:spPr>
            <a:xfrm>
              <a:off x="2051720" y="3068960"/>
              <a:ext cx="1080438" cy="72008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Скругленный прямоугольник 24"/>
            <p:cNvSpPr/>
            <p:nvPr/>
          </p:nvSpPr>
          <p:spPr>
            <a:xfrm>
              <a:off x="2062681" y="3997247"/>
              <a:ext cx="1080438" cy="72008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Скругленный прямоугольник 25"/>
            <p:cNvSpPr/>
            <p:nvPr/>
          </p:nvSpPr>
          <p:spPr>
            <a:xfrm>
              <a:off x="2062681" y="4933776"/>
              <a:ext cx="1080438" cy="72008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7193811" y="3083859"/>
            <a:ext cx="1091399" cy="2584896"/>
            <a:chOff x="2051720" y="3068960"/>
            <a:chExt cx="1091399" cy="2584896"/>
          </a:xfrm>
        </p:grpSpPr>
        <p:sp>
          <p:nvSpPr>
            <p:cNvPr id="28" name="Скругленный прямоугольник 27"/>
            <p:cNvSpPr/>
            <p:nvPr/>
          </p:nvSpPr>
          <p:spPr>
            <a:xfrm>
              <a:off x="2051720" y="3068960"/>
              <a:ext cx="1080438" cy="72008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Скругленный прямоугольник 28"/>
            <p:cNvSpPr/>
            <p:nvPr/>
          </p:nvSpPr>
          <p:spPr>
            <a:xfrm>
              <a:off x="2062681" y="3997247"/>
              <a:ext cx="1080438" cy="72008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Скругленный прямоугольник 29"/>
            <p:cNvSpPr/>
            <p:nvPr/>
          </p:nvSpPr>
          <p:spPr>
            <a:xfrm>
              <a:off x="2062681" y="4933776"/>
              <a:ext cx="1080438" cy="72008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9350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00609" y="3777059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ru-RU" dirty="0"/>
              <a:t>Объектная модель работы с данными справочников и документов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700609" y="2276872"/>
            <a:ext cx="7772400" cy="1500187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849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862" y="1268681"/>
            <a:ext cx="8784000" cy="2088312"/>
          </a:xfrm>
        </p:spPr>
        <p:txBody>
          <a:bodyPr/>
          <a:lstStyle/>
          <a:p>
            <a:r>
              <a:rPr lang="ru-RU" dirty="0"/>
              <a:t>При проведении документа «Приказ о приеме» перемещать принятого сотрудника из папки «Кандидаты» в папку «Работающие». 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3068960"/>
            <a:ext cx="6264696" cy="2971156"/>
          </a:xfrm>
          <a:prstGeom prst="rect">
            <a:avLst/>
          </a:prstGeom>
        </p:spPr>
      </p:pic>
      <p:sp>
        <p:nvSpPr>
          <p:cNvPr id="5" name="Развернутая стрелка 4"/>
          <p:cNvSpPr/>
          <p:nvPr/>
        </p:nvSpPr>
        <p:spPr>
          <a:xfrm rot="5400000" flipV="1">
            <a:off x="1860386" y="4815234"/>
            <a:ext cx="1498793" cy="684076"/>
          </a:xfrm>
          <a:prstGeom prst="uturnArrow">
            <a:avLst>
              <a:gd name="adj1" fmla="val 13206"/>
              <a:gd name="adj2" fmla="val 23034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769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Объектная модель доступа к данным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27584" y="1844824"/>
            <a:ext cx="20882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Справочники менеджер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27584" y="2996952"/>
            <a:ext cx="2088232" cy="7200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Справочник менеджер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03077" y="4149080"/>
            <a:ext cx="2088232" cy="7200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Справочник Ссылка</a:t>
            </a:r>
          </a:p>
        </p:txBody>
      </p:sp>
      <p:sp>
        <p:nvSpPr>
          <p:cNvPr id="9" name="Стрелка вниз 8"/>
          <p:cNvSpPr/>
          <p:nvPr/>
        </p:nvSpPr>
        <p:spPr>
          <a:xfrm>
            <a:off x="1691680" y="2564904"/>
            <a:ext cx="288032" cy="43204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низ 9"/>
          <p:cNvSpPr/>
          <p:nvPr/>
        </p:nvSpPr>
        <p:spPr>
          <a:xfrm>
            <a:off x="1686073" y="3717032"/>
            <a:ext cx="288032" cy="43204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347864" y="1844824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Из какого справочника будем читать информацию?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7864" y="299695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Поиск ссылки на нужный объект базы данных.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7864" y="4149080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Идентификация объекта базы данных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Чтение данных нужного объекта базы данных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27584" y="5296346"/>
            <a:ext cx="2088232" cy="72008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Справочник объект</a:t>
            </a:r>
          </a:p>
        </p:txBody>
      </p:sp>
      <p:sp>
        <p:nvSpPr>
          <p:cNvPr id="15" name="Стрелка вниз 14"/>
          <p:cNvSpPr/>
          <p:nvPr/>
        </p:nvSpPr>
        <p:spPr>
          <a:xfrm>
            <a:off x="1710580" y="4864298"/>
            <a:ext cx="288032" cy="432048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3366765" y="5296346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Запись, изменение и удаление объекта базы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74877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00B050"/>
                </a:solidFill>
              </a:rPr>
              <a:t>Прочитать данные элемента справочника «Номенклатура» с кодом 1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0070C0"/>
                </a:solidFill>
              </a:rPr>
              <a:t>Изменить наименование этого элемента на «Бананы»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</p:spTree>
    <p:extLst>
      <p:ext uri="{BB962C8B-B14F-4D97-AF65-F5344CB8AC3E}">
        <p14:creationId xmlns:p14="http://schemas.microsoft.com/office/powerpoint/2010/main" val="4219335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ru-RU" sz="2800" dirty="0"/>
              <a:t>Глобальный контекст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023294"/>
              </p:ext>
            </p:extLst>
          </p:nvPr>
        </p:nvGraphicFramePr>
        <p:xfrm>
          <a:off x="971601" y="1340768"/>
          <a:ext cx="7272805" cy="331236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7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97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Константы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Справочники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Документ</a:t>
                      </a:r>
                      <a:r>
                        <a:rPr lang="ru-RU" dirty="0"/>
                        <a:t>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39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114725"/>
              </p:ext>
            </p:extLst>
          </p:nvPr>
        </p:nvGraphicFramePr>
        <p:xfrm>
          <a:off x="2460104" y="4997400"/>
          <a:ext cx="4128120" cy="152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ААА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ВВВ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ССС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Слива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Скругленный прямоугольник 6"/>
          <p:cNvSpPr/>
          <p:nvPr/>
        </p:nvSpPr>
        <p:spPr>
          <a:xfrm>
            <a:off x="2987824" y="1916832"/>
            <a:ext cx="3096344" cy="266429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Справочники Менеджер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579652"/>
              </p:ext>
            </p:extLst>
          </p:nvPr>
        </p:nvGraphicFramePr>
        <p:xfrm>
          <a:off x="3059832" y="2492896"/>
          <a:ext cx="2964160" cy="1920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68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Имя справочника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Менеджер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Контрагенты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Скругленный прямоугольник 19"/>
          <p:cNvSpPr/>
          <p:nvPr/>
        </p:nvSpPr>
        <p:spPr>
          <a:xfrm>
            <a:off x="5004048" y="3825044"/>
            <a:ext cx="792088" cy="54006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2843808" y="1268760"/>
            <a:ext cx="3384376" cy="576064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5004048" y="3176972"/>
            <a:ext cx="792088" cy="54006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4508816" y="1772816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/>
              <a:t>Справочник Менеджер. Номенклатура</a:t>
            </a:r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755576" y="89942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Справочники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3728" y="89942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.Номенклатура</a:t>
            </a:r>
          </a:p>
        </p:txBody>
      </p:sp>
    </p:spTree>
    <p:extLst>
      <p:ext uri="{BB962C8B-B14F-4D97-AF65-F5344CB8AC3E}">
        <p14:creationId xmlns:p14="http://schemas.microsoft.com/office/powerpoint/2010/main" val="145593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600000" y="6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82 0.04189 L 0.06511 0.04189 C 0.09601 0.04189 0.13403 0.00046 0.13403 -0.03311 L 0.13403 -0.10764 " pathEditMode="relative" rAng="0" ptsTypes="AAAA">
                                      <p:cBhvr>
                                        <p:cTn id="3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92" y="-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20" grpId="0" animBg="1"/>
      <p:bldP spid="20" grpId="1" animBg="1"/>
      <p:bldP spid="12" grpId="0" animBg="1"/>
      <p:bldP spid="12" grpId="1" animBg="1"/>
      <p:bldP spid="12" grpId="2" animBg="1"/>
      <p:bldP spid="11" grpId="0" animBg="1"/>
      <p:bldP spid="11" grpId="1" animBg="1"/>
      <p:bldP spid="11" grpId="2" animBg="1"/>
      <p:bldP spid="13" grpId="0"/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5828" y="498674"/>
            <a:ext cx="8784000" cy="548798"/>
          </a:xfrm>
        </p:spPr>
        <p:txBody>
          <a:bodyPr anchor="t">
            <a:normAutofit/>
          </a:bodyPr>
          <a:lstStyle/>
          <a:p>
            <a:r>
              <a:rPr lang="ru-RU" sz="2800" dirty="0"/>
              <a:t>Чтение данных </a:t>
            </a:r>
            <a:r>
              <a:rPr lang="ru-RU" sz="2800" i="1" dirty="0">
                <a:solidFill>
                  <a:srgbClr val="0070C0"/>
                </a:solidFill>
              </a:rPr>
              <a:t>одного </a:t>
            </a:r>
            <a:r>
              <a:rPr lang="ru-RU" sz="2800" dirty="0"/>
              <a:t>объекта данных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17033"/>
              </p:ext>
            </p:extLst>
          </p:nvPr>
        </p:nvGraphicFramePr>
        <p:xfrm>
          <a:off x="2483768" y="5022042"/>
          <a:ext cx="4128120" cy="152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ААА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ВВВ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ССС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Слива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Скругленный прямоугольник 17"/>
          <p:cNvSpPr/>
          <p:nvPr/>
        </p:nvSpPr>
        <p:spPr>
          <a:xfrm>
            <a:off x="323528" y="1340768"/>
            <a:ext cx="3600000" cy="3240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Ссылка . Номенклатура</a:t>
            </a:r>
          </a:p>
          <a:p>
            <a:pPr algn="ctr"/>
            <a:r>
              <a:rPr lang="ru-RU" dirty="0"/>
              <a:t>(без режима чтения данных)</a:t>
            </a:r>
          </a:p>
        </p:txBody>
      </p:sp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273935"/>
              </p:ext>
            </p:extLst>
          </p:nvPr>
        </p:nvGraphicFramePr>
        <p:xfrm>
          <a:off x="611560" y="2421204"/>
          <a:ext cx="2952328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46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Данные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ААА</a:t>
                      </a: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488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Др. свойства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442135"/>
                  </a:ext>
                </a:extLst>
              </a:tr>
            </a:tbl>
          </a:graphicData>
        </a:graphic>
      </p:graphicFrame>
      <p:sp>
        <p:nvSpPr>
          <p:cNvPr id="22" name="Скругленный прямоугольник 21"/>
          <p:cNvSpPr/>
          <p:nvPr/>
        </p:nvSpPr>
        <p:spPr>
          <a:xfrm>
            <a:off x="4211960" y="1349987"/>
            <a:ext cx="4608056" cy="35280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Менеджер. Номенклатура</a:t>
            </a:r>
          </a:p>
        </p:txBody>
      </p:sp>
      <p:sp>
        <p:nvSpPr>
          <p:cNvPr id="23" name="Блок-схема: типовой процесс 22"/>
          <p:cNvSpPr/>
          <p:nvPr/>
        </p:nvSpPr>
        <p:spPr>
          <a:xfrm>
            <a:off x="4427984" y="3326236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…</a:t>
            </a:r>
          </a:p>
        </p:txBody>
      </p:sp>
      <p:sp>
        <p:nvSpPr>
          <p:cNvPr id="24" name="Блок-схема: типовой процесс 23"/>
          <p:cNvSpPr/>
          <p:nvPr/>
        </p:nvSpPr>
        <p:spPr>
          <a:xfrm>
            <a:off x="4436241" y="2626144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НайтиПоНаименованию</a:t>
            </a:r>
            <a:r>
              <a:rPr lang="ru-RU" dirty="0"/>
              <a:t> (…)</a:t>
            </a:r>
          </a:p>
        </p:txBody>
      </p:sp>
      <p:sp>
        <p:nvSpPr>
          <p:cNvPr id="25" name="Блок-схема: типовой процесс 24"/>
          <p:cNvSpPr/>
          <p:nvPr/>
        </p:nvSpPr>
        <p:spPr>
          <a:xfrm>
            <a:off x="4452111" y="1926052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НайтиПоРеквизиту</a:t>
            </a:r>
            <a:r>
              <a:rPr lang="ru-RU" dirty="0"/>
              <a:t> (…)</a:t>
            </a:r>
          </a:p>
        </p:txBody>
      </p:sp>
      <p:sp>
        <p:nvSpPr>
          <p:cNvPr id="26" name="Блок-схема: типовой процесс 25"/>
          <p:cNvSpPr/>
          <p:nvPr/>
        </p:nvSpPr>
        <p:spPr>
          <a:xfrm>
            <a:off x="4452111" y="4026329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НайтиПоКоду</a:t>
            </a:r>
            <a:r>
              <a:rPr lang="ru-RU" dirty="0"/>
              <a:t>(1)</a:t>
            </a:r>
          </a:p>
        </p:txBody>
      </p:sp>
      <p:sp>
        <p:nvSpPr>
          <p:cNvPr id="2" name="Стрелка вниз 1"/>
          <p:cNvSpPr/>
          <p:nvPr/>
        </p:nvSpPr>
        <p:spPr>
          <a:xfrm>
            <a:off x="4363423" y="4619448"/>
            <a:ext cx="288032" cy="468886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707904" y="4965810"/>
            <a:ext cx="1008112" cy="1584176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3707904" y="5325850"/>
            <a:ext cx="1008112" cy="504056"/>
          </a:xfrm>
          <a:prstGeom prst="ellipse">
            <a:avLst/>
          </a:prstGeom>
          <a:solidFill>
            <a:schemeClr val="accent2">
              <a:alpha val="31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углом 9"/>
          <p:cNvSpPr/>
          <p:nvPr/>
        </p:nvSpPr>
        <p:spPr>
          <a:xfrm rot="16200000">
            <a:off x="1339996" y="4658124"/>
            <a:ext cx="1116124" cy="1027405"/>
          </a:xfrm>
          <a:prstGeom prst="bentArrow">
            <a:avLst>
              <a:gd name="adj1" fmla="val 15769"/>
              <a:gd name="adj2" fmla="val 25000"/>
              <a:gd name="adj3" fmla="val 23846"/>
              <a:gd name="adj4" fmla="val 4375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2411760" y="5325850"/>
            <a:ext cx="4320480" cy="504056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323528" y="971436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Справочники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80" y="971436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.Номенклатура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6589" y="971436"/>
            <a:ext cx="273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.</a:t>
            </a:r>
            <a:r>
              <a:rPr lang="ru-RU" b="1" dirty="0" err="1">
                <a:solidFill>
                  <a:srgbClr val="C00000"/>
                </a:solidFill>
              </a:rPr>
              <a:t>НайтиПоКоду</a:t>
            </a:r>
            <a:r>
              <a:rPr lang="ru-RU" b="1" dirty="0">
                <a:solidFill>
                  <a:srgbClr val="C00000"/>
                </a:solidFill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318933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250"/>
                            </p:stCondLst>
                            <p:childTnLst>
                              <p:par>
                                <p:cTn id="4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750"/>
                            </p:stCondLst>
                            <p:childTnLst>
                              <p:par>
                                <p:cTn id="52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250"/>
                            </p:stCondLst>
                            <p:childTnLst>
                              <p:par>
                                <p:cTn id="63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75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1250"/>
                            </p:stCondLst>
                            <p:childTnLst>
                              <p:par>
                                <p:cTn id="78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2000"/>
                            </p:stCondLst>
                            <p:childTnLst>
                              <p:par>
                                <p:cTn id="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2750"/>
                            </p:stCondLst>
                            <p:childTnLst>
                              <p:par>
                                <p:cTn id="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6" grpId="2" animBg="1"/>
      <p:bldP spid="2" grpId="0" animBg="1"/>
      <p:bldP spid="2" grpId="1" animBg="1"/>
      <p:bldP spid="6" grpId="0" animBg="1"/>
      <p:bldP spid="6" grpId="1" animBg="1"/>
      <p:bldP spid="6" grpId="2" animBg="1"/>
      <p:bldP spid="8" grpId="0" animBg="1"/>
      <p:bldP spid="8" grpId="1" animBg="1"/>
      <p:bldP spid="8" grpId="2" animBg="1"/>
      <p:bldP spid="10" grpId="0" animBg="1"/>
      <p:bldP spid="10" grpId="1" animBg="1"/>
      <p:bldP spid="27" grpId="0" animBg="1"/>
      <p:bldP spid="27" grpId="1" animBg="1"/>
      <p:bldP spid="27" grpId="2" animBg="1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4716016" y="1277979"/>
            <a:ext cx="4104000" cy="3528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Объект . Номенклатура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79512" y="488404"/>
            <a:ext cx="8784000" cy="548798"/>
          </a:xfrm>
        </p:spPr>
        <p:txBody>
          <a:bodyPr anchor="t">
            <a:normAutofit/>
          </a:bodyPr>
          <a:lstStyle/>
          <a:p>
            <a:r>
              <a:rPr lang="ru-RU" sz="2800" dirty="0"/>
              <a:t>Запись данных справочника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978907"/>
              </p:ext>
            </p:extLst>
          </p:nvPr>
        </p:nvGraphicFramePr>
        <p:xfrm>
          <a:off x="2478270" y="5023311"/>
          <a:ext cx="4128120" cy="152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ААА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ВВВ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ССС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Слива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247188"/>
              </p:ext>
            </p:extLst>
          </p:nvPr>
        </p:nvGraphicFramePr>
        <p:xfrm>
          <a:off x="5004048" y="1854044"/>
          <a:ext cx="2820144" cy="2123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68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Свойство </a:t>
                      </a:r>
                      <a:br>
                        <a:rPr lang="ru-RU" dirty="0"/>
                      </a:br>
                      <a:r>
                        <a:rPr lang="ru-RU" dirty="0"/>
                        <a:t>(Реквизит)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ААА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Скругленный прямоугольник 11"/>
          <p:cNvSpPr/>
          <p:nvPr/>
        </p:nvSpPr>
        <p:spPr>
          <a:xfrm>
            <a:off x="323528" y="1268760"/>
            <a:ext cx="3600400" cy="324036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Ссылка. Номенклатура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278788"/>
              </p:ext>
            </p:extLst>
          </p:nvPr>
        </p:nvGraphicFramePr>
        <p:xfrm>
          <a:off x="611560" y="2132856"/>
          <a:ext cx="2952328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46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Данные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ААА</a:t>
                      </a: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591759"/>
                  </a:ext>
                </a:extLst>
              </a:tr>
            </a:tbl>
          </a:graphicData>
        </a:graphic>
      </p:graphicFrame>
      <p:sp>
        <p:nvSpPr>
          <p:cNvPr id="3" name="Блок-схема: типовой процесс 2"/>
          <p:cNvSpPr/>
          <p:nvPr/>
        </p:nvSpPr>
        <p:spPr>
          <a:xfrm>
            <a:off x="1218952" y="3700710"/>
            <a:ext cx="1800200" cy="599189"/>
          </a:xfrm>
          <a:prstGeom prst="flowChartPredefinedProces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Получить Объект ()</a:t>
            </a:r>
          </a:p>
        </p:txBody>
      </p:sp>
      <p:sp>
        <p:nvSpPr>
          <p:cNvPr id="16" name="Блок-схема: типовой процесс 15"/>
          <p:cNvSpPr/>
          <p:nvPr/>
        </p:nvSpPr>
        <p:spPr>
          <a:xfrm>
            <a:off x="6876256" y="4063165"/>
            <a:ext cx="1800200" cy="648072"/>
          </a:xfrm>
          <a:prstGeom prst="flowChartPredefinedProces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Записать()</a:t>
            </a:r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724953"/>
              </p:ext>
            </p:extLst>
          </p:nvPr>
        </p:nvGraphicFramePr>
        <p:xfrm>
          <a:off x="5004048" y="1854044"/>
          <a:ext cx="2820144" cy="2123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68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Свойство </a:t>
                      </a:r>
                      <a:br>
                        <a:rPr lang="ru-RU" dirty="0"/>
                      </a:br>
                      <a:r>
                        <a:rPr lang="ru-RU" dirty="0"/>
                        <a:t>(Реквизит)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ААА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Бананы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826386"/>
              </p:ext>
            </p:extLst>
          </p:nvPr>
        </p:nvGraphicFramePr>
        <p:xfrm>
          <a:off x="2478270" y="5023311"/>
          <a:ext cx="4128120" cy="152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ААА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Бананы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ВВВ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ССС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Слива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Стрелка углом 6"/>
          <p:cNvSpPr/>
          <p:nvPr/>
        </p:nvSpPr>
        <p:spPr>
          <a:xfrm rot="10800000">
            <a:off x="6606390" y="4711236"/>
            <a:ext cx="2070066" cy="1094027"/>
          </a:xfrm>
          <a:prstGeom prst="bentArrow">
            <a:avLst>
              <a:gd name="adj1" fmla="val 15553"/>
              <a:gd name="adj2" fmla="val 20706"/>
              <a:gd name="adj3" fmla="val 25000"/>
              <a:gd name="adj4" fmla="val 4375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5536" y="89942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Справочники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3688" y="899428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.Номенклатура. </a:t>
            </a:r>
            <a:r>
              <a:rPr lang="ru-RU" b="1" dirty="0" err="1">
                <a:solidFill>
                  <a:srgbClr val="002060"/>
                </a:solidFill>
              </a:rPr>
              <a:t>НайтиПоКоду</a:t>
            </a:r>
            <a:r>
              <a:rPr lang="ru-RU" b="1" dirty="0">
                <a:solidFill>
                  <a:srgbClr val="002060"/>
                </a:solidFill>
              </a:rPr>
              <a:t>(</a:t>
            </a:r>
            <a:r>
              <a:rPr lang="en-US" b="1" dirty="0">
                <a:solidFill>
                  <a:srgbClr val="002060"/>
                </a:solidFill>
              </a:rPr>
              <a:t>1</a:t>
            </a:r>
            <a:r>
              <a:rPr lang="ru-RU" b="1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4048" y="899428"/>
            <a:ext cx="273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.</a:t>
            </a:r>
            <a:r>
              <a:rPr lang="ru-RU" b="1" dirty="0" err="1">
                <a:solidFill>
                  <a:srgbClr val="FF0000"/>
                </a:solidFill>
              </a:rPr>
              <a:t>ПолучитьОбъект</a:t>
            </a:r>
            <a:r>
              <a:rPr lang="ru-RU" b="1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2" name="Стрелка вправо 1"/>
          <p:cNvSpPr/>
          <p:nvPr/>
        </p:nvSpPr>
        <p:spPr>
          <a:xfrm>
            <a:off x="3091160" y="3839096"/>
            <a:ext cx="1728192" cy="32241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632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  <p:bldP spid="3" grpId="1" animBg="1"/>
      <p:bldP spid="16" grpId="0" animBg="1"/>
      <p:bldP spid="16" grpId="1" animBg="1"/>
      <p:bldP spid="7" grpId="0" animBg="1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Объектная модель доступа к данным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27584" y="1844824"/>
            <a:ext cx="2088232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Документы менеджер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27584" y="2996952"/>
            <a:ext cx="2088232" cy="7200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менеджер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03077" y="4149080"/>
            <a:ext cx="2088232" cy="7200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Ссылка</a:t>
            </a:r>
          </a:p>
        </p:txBody>
      </p:sp>
      <p:sp>
        <p:nvSpPr>
          <p:cNvPr id="9" name="Стрелка вниз 8"/>
          <p:cNvSpPr/>
          <p:nvPr/>
        </p:nvSpPr>
        <p:spPr>
          <a:xfrm>
            <a:off x="1691680" y="2564904"/>
            <a:ext cx="288032" cy="43204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низ 9"/>
          <p:cNvSpPr/>
          <p:nvPr/>
        </p:nvSpPr>
        <p:spPr>
          <a:xfrm>
            <a:off x="1686073" y="3717032"/>
            <a:ext cx="288032" cy="43204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347864" y="1844824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Из какого списка документов будем читать информацию?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7864" y="299695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Поиск ссылки на нужный объект базы данных.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7864" y="4149080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Идентификация объекта базы данных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Чтение данных нужного объекта базы данных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27584" y="5296346"/>
            <a:ext cx="2088232" cy="72008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15" name="Стрелка вниз 14"/>
          <p:cNvSpPr/>
          <p:nvPr/>
        </p:nvSpPr>
        <p:spPr>
          <a:xfrm>
            <a:off x="1710580" y="4864298"/>
            <a:ext cx="288032" cy="432048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3366765" y="5296346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Запись, изменение и удаление объекта базы данных.</a:t>
            </a:r>
          </a:p>
        </p:txBody>
      </p:sp>
    </p:spTree>
    <p:extLst>
      <p:ext uri="{BB962C8B-B14F-4D97-AF65-F5344CB8AC3E}">
        <p14:creationId xmlns:p14="http://schemas.microsoft.com/office/powerpoint/2010/main" val="47550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16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5" name="Прямая со стрелкой 34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70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39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63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33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32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59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671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5" name="Прямая со стрелкой 34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87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46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</a:t>
            </a:r>
            <a:r>
              <a:rPr lang="ru-RU" dirty="0" smtClean="0">
                <a:solidFill>
                  <a:schemeClr val="tx1"/>
                </a:solidFill>
              </a:rPr>
              <a:t>приложения 1</a:t>
            </a: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</a:t>
            </a:r>
            <a:r>
              <a:rPr lang="ru-RU" dirty="0" smtClean="0">
                <a:solidFill>
                  <a:schemeClr val="tx1"/>
                </a:solidFill>
              </a:rPr>
              <a:t>приложения 2</a:t>
            </a: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3537587" y="4731353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35529"/>
              <a:gd name="adj4" fmla="val 71363"/>
              <a:gd name="adj5" fmla="val -93190"/>
              <a:gd name="adj6" fmla="val 95388"/>
              <a:gd name="adj7" fmla="val -144815"/>
              <a:gd name="adj8" fmla="val 81107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56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</a:t>
            </a:r>
            <a:r>
              <a:rPr lang="ru-RU" dirty="0" smtClean="0">
                <a:solidFill>
                  <a:schemeClr val="tx1"/>
                </a:solidFill>
              </a:rPr>
              <a:t>приложения 1</a:t>
            </a: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</a:t>
            </a:r>
            <a:r>
              <a:rPr lang="ru-RU" dirty="0" smtClean="0">
                <a:solidFill>
                  <a:schemeClr val="tx1"/>
                </a:solidFill>
              </a:rPr>
              <a:t>приложения 2</a:t>
            </a: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3537587" y="4731353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35529"/>
              <a:gd name="adj4" fmla="val 71363"/>
              <a:gd name="adj5" fmla="val -93190"/>
              <a:gd name="adj6" fmla="val 95388"/>
              <a:gd name="adj7" fmla="val -144815"/>
              <a:gd name="adj8" fmla="val 81107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Блок-схема: альтернативный процесс 13"/>
          <p:cNvSpPr/>
          <p:nvPr/>
        </p:nvSpPr>
        <p:spPr>
          <a:xfrm>
            <a:off x="514064" y="1090364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</a:t>
            </a:r>
            <a:r>
              <a:rPr lang="ru-RU" dirty="0" smtClean="0">
                <a:solidFill>
                  <a:schemeClr val="tx1"/>
                </a:solidFill>
              </a:rPr>
              <a:t>приложения 2</a:t>
            </a: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Блок-схема: альтернативный процесс 14"/>
          <p:cNvSpPr/>
          <p:nvPr/>
        </p:nvSpPr>
        <p:spPr>
          <a:xfrm>
            <a:off x="559631" y="366625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</a:t>
            </a:r>
            <a:r>
              <a:rPr lang="ru-RU" dirty="0" smtClean="0">
                <a:solidFill>
                  <a:schemeClr val="tx1"/>
                </a:solidFill>
              </a:rPr>
              <a:t>приложения 2</a:t>
            </a: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Выноска 3 16"/>
          <p:cNvSpPr/>
          <p:nvPr/>
        </p:nvSpPr>
        <p:spPr>
          <a:xfrm>
            <a:off x="575436" y="2183532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18" name="Выноска 3 17"/>
          <p:cNvSpPr/>
          <p:nvPr/>
        </p:nvSpPr>
        <p:spPr>
          <a:xfrm>
            <a:off x="575436" y="473135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0" name="Прямая со стрелкой 19"/>
          <p:cNvCxnSpPr/>
          <p:nvPr/>
        </p:nvCxnSpPr>
        <p:spPr>
          <a:xfrm>
            <a:off x="2575855" y="2098476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2915816" y="4005064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37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</a:t>
            </a:r>
            <a:r>
              <a:rPr lang="ru-RU" dirty="0" smtClean="0">
                <a:solidFill>
                  <a:schemeClr val="tx1"/>
                </a:solidFill>
              </a:rPr>
              <a:t>приложения 1</a:t>
            </a: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</a:t>
            </a:r>
            <a:r>
              <a:rPr lang="ru-RU" dirty="0" smtClean="0">
                <a:solidFill>
                  <a:schemeClr val="tx1"/>
                </a:solidFill>
              </a:rPr>
              <a:t>приложения 2</a:t>
            </a:r>
            <a:r>
              <a:rPr lang="ru-RU" dirty="0" smtClean="0">
                <a:solidFill>
                  <a:schemeClr val="tx1"/>
                </a:solidFill>
              </a:rPr>
              <a:t/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3537587" y="4731353"/>
            <a:ext cx="1649781" cy="504000"/>
          </a:xfrm>
          <a:prstGeom prst="borderCallout3">
            <a:avLst>
              <a:gd name="adj1" fmla="val -11912"/>
              <a:gd name="adj2" fmla="val 87869"/>
              <a:gd name="adj3" fmla="val -45336"/>
              <a:gd name="adj4" fmla="val 100574"/>
              <a:gd name="adj5" fmla="val -93190"/>
              <a:gd name="adj6" fmla="val 95388"/>
              <a:gd name="adj7" fmla="val -144815"/>
              <a:gd name="adj8" fmla="val 81107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Выноска 1 21"/>
          <p:cNvSpPr/>
          <p:nvPr/>
        </p:nvSpPr>
        <p:spPr>
          <a:xfrm>
            <a:off x="631331" y="3933056"/>
            <a:ext cx="2304256" cy="1399386"/>
          </a:xfrm>
          <a:prstGeom prst="borderCallout1">
            <a:avLst>
              <a:gd name="adj1" fmla="val 34639"/>
              <a:gd name="adj2" fmla="val 102410"/>
              <a:gd name="adj3" fmla="val 52558"/>
              <a:gd name="adj4" fmla="val 120558"/>
            </a:avLst>
          </a:prstGeom>
          <a:ln>
            <a:headEnd type="none"/>
            <a:tailEnd type="triangl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Здесь, вместе с записью документа, будем изменять данные справочника «Сотрудники»</a:t>
            </a:r>
          </a:p>
        </p:txBody>
      </p:sp>
    </p:spTree>
    <p:extLst>
      <p:ext uri="{BB962C8B-B14F-4D97-AF65-F5344CB8AC3E}">
        <p14:creationId xmlns:p14="http://schemas.microsoft.com/office/powerpoint/2010/main" val="60911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События записи документ объекта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Три режима записи: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Запись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Проведение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Отмена проведения</a:t>
            </a:r>
          </a:p>
        </p:txBody>
      </p:sp>
    </p:spTree>
    <p:extLst>
      <p:ext uri="{BB962C8B-B14F-4D97-AF65-F5344CB8AC3E}">
        <p14:creationId xmlns:p14="http://schemas.microsoft.com/office/powerpoint/2010/main" val="374381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862" y="1484784"/>
            <a:ext cx="8784000" cy="4752527"/>
          </a:xfrm>
        </p:spPr>
        <p:txBody>
          <a:bodyPr/>
          <a:lstStyle/>
          <a:p>
            <a:r>
              <a:rPr lang="ru-RU" dirty="0"/>
              <a:t>Начало транзакции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Перед записью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При записи</a:t>
            </a:r>
          </a:p>
          <a:p>
            <a:r>
              <a:rPr lang="ru-RU" dirty="0"/>
              <a:t>Окончание транзакции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864096"/>
          </a:xfrm>
        </p:spPr>
        <p:txBody>
          <a:bodyPr/>
          <a:lstStyle/>
          <a:p>
            <a:r>
              <a:rPr lang="ru-RU" dirty="0"/>
              <a:t>Последовательность событий записи документа</a:t>
            </a:r>
          </a:p>
        </p:txBody>
      </p:sp>
    </p:spTree>
    <p:extLst>
      <p:ext uri="{BB962C8B-B14F-4D97-AF65-F5344CB8AC3E}">
        <p14:creationId xmlns:p14="http://schemas.microsoft.com/office/powerpoint/2010/main" val="119693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События записи документа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3999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024154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402499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837125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&lt;00000&gt;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69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1) ПЕРЕД ЗАПИСЬЮ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15816" y="2636912"/>
            <a:ext cx="229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Начало транзакции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85" y="3261240"/>
            <a:ext cx="6257925" cy="352425"/>
          </a:xfrm>
          <a:prstGeom prst="rect">
            <a:avLst/>
          </a:prstGeom>
        </p:spPr>
      </p:pic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024154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402499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837125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384812"/>
              </p:ext>
            </p:extLst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&lt;00000&gt;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03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2" grpId="1"/>
      <p:bldP spid="2" grpId="2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2) ПРИ ЗАПИСИ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3" name="Развернутая стрелка 2"/>
          <p:cNvSpPr/>
          <p:nvPr/>
        </p:nvSpPr>
        <p:spPr>
          <a:xfrm rot="5400000">
            <a:off x="6520031" y="3681028"/>
            <a:ext cx="3312368" cy="504056"/>
          </a:xfrm>
          <a:prstGeom prst="utur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5684395"/>
            <a:ext cx="8136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u="sng" dirty="0"/>
              <a:t>Примечание:</a:t>
            </a:r>
            <a:r>
              <a:rPr lang="ru-RU" dirty="0"/>
              <a:t> </a:t>
            </a:r>
            <a:r>
              <a:rPr lang="ru-RU" sz="1400" i="1" dirty="0">
                <a:solidFill>
                  <a:srgbClr val="FF0000"/>
                </a:solidFill>
              </a:rPr>
              <a:t>в момент первой записи объекта базы данных для него генерируется новая ссылка (потом </a:t>
            </a:r>
            <a:r>
              <a:rPr lang="ru-RU" sz="1400" b="1" i="1" dirty="0">
                <a:solidFill>
                  <a:srgbClr val="0070C0"/>
                </a:solidFill>
              </a:rPr>
              <a:t>нельзя</a:t>
            </a:r>
            <a:r>
              <a:rPr lang="ru-RU" sz="1400" i="1" dirty="0">
                <a:solidFill>
                  <a:srgbClr val="FF0000"/>
                </a:solidFill>
              </a:rPr>
              <a:t> исправить) и новый номер (потом можно исправить).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895" y="3341296"/>
            <a:ext cx="2895600" cy="276225"/>
          </a:xfrm>
          <a:prstGeom prst="rect">
            <a:avLst/>
          </a:prstGeom>
        </p:spPr>
      </p:pic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88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3" grpId="1" animBg="1"/>
      <p:bldP spid="3" grpId="2" animBg="1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2) ПРИ ЗАПИСИ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915816" y="2636912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Фиксация транзакции</a:t>
            </a:r>
          </a:p>
        </p:txBody>
      </p:sp>
    </p:spTree>
    <p:extLst>
      <p:ext uri="{BB962C8B-B14F-4D97-AF65-F5344CB8AC3E}">
        <p14:creationId xmlns:p14="http://schemas.microsoft.com/office/powerpoint/2010/main" val="119713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2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862" y="1484784"/>
            <a:ext cx="8784000" cy="4752527"/>
          </a:xfrm>
        </p:spPr>
        <p:txBody>
          <a:bodyPr/>
          <a:lstStyle/>
          <a:p>
            <a:r>
              <a:rPr lang="ru-RU" dirty="0"/>
              <a:t>Начало транзакции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Перед записью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При записи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Обработка проведения</a:t>
            </a:r>
          </a:p>
          <a:p>
            <a:r>
              <a:rPr lang="ru-RU" dirty="0"/>
              <a:t>Окончание транзакции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864096"/>
          </a:xfrm>
        </p:spPr>
        <p:txBody>
          <a:bodyPr/>
          <a:lstStyle/>
          <a:p>
            <a:r>
              <a:rPr lang="ru-RU" dirty="0"/>
              <a:t>Последовательность событий проведение документа</a:t>
            </a:r>
          </a:p>
        </p:txBody>
      </p:sp>
    </p:spTree>
    <p:extLst>
      <p:ext uri="{BB962C8B-B14F-4D97-AF65-F5344CB8AC3E}">
        <p14:creationId xmlns:p14="http://schemas.microsoft.com/office/powerpoint/2010/main" val="33270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События записи документа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3999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535625"/>
              </p:ext>
            </p:extLst>
          </p:nvPr>
        </p:nvGraphicFramePr>
        <p:xfrm>
          <a:off x="1024154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780630"/>
              </p:ext>
            </p:extLst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87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1) ПЕРЕД ЗАПИСЬЮ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15816" y="2636912"/>
            <a:ext cx="229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Начало транзакции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85" y="3261240"/>
            <a:ext cx="6257925" cy="352425"/>
          </a:xfrm>
          <a:prstGeom prst="rect">
            <a:avLst/>
          </a:prstGeom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882708"/>
              </p:ext>
            </p:extLst>
          </p:nvPr>
        </p:nvGraphicFramePr>
        <p:xfrm>
          <a:off x="1024154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333902"/>
              </p:ext>
            </p:extLst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4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2" grpId="1"/>
      <p:bldP spid="2" grpId="2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2) ПРИ ЗАПИСИ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3" name="Развернутая стрелка 2"/>
          <p:cNvSpPr/>
          <p:nvPr/>
        </p:nvSpPr>
        <p:spPr>
          <a:xfrm rot="5400000">
            <a:off x="6520031" y="3681028"/>
            <a:ext cx="3312368" cy="504056"/>
          </a:xfrm>
          <a:prstGeom prst="utur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5684395"/>
            <a:ext cx="8136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u="sng" dirty="0"/>
              <a:t>Примечание:</a:t>
            </a:r>
            <a:r>
              <a:rPr lang="ru-RU" dirty="0"/>
              <a:t> </a:t>
            </a:r>
            <a:r>
              <a:rPr lang="ru-RU" sz="1400" i="1" dirty="0">
                <a:solidFill>
                  <a:srgbClr val="FF0000"/>
                </a:solidFill>
              </a:rPr>
              <a:t>в момент первой записи объекта базы данных для него генерируется новая ссылка (потом </a:t>
            </a:r>
            <a:r>
              <a:rPr lang="ru-RU" sz="1400" b="1" i="1" dirty="0">
                <a:solidFill>
                  <a:srgbClr val="0070C0"/>
                </a:solidFill>
              </a:rPr>
              <a:t>нельзя</a:t>
            </a:r>
            <a:r>
              <a:rPr lang="ru-RU" sz="1400" i="1" dirty="0">
                <a:solidFill>
                  <a:srgbClr val="FF0000"/>
                </a:solidFill>
              </a:rPr>
              <a:t> исправить) и новый номер (потом можно исправить).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895" y="3341296"/>
            <a:ext cx="2895600" cy="276225"/>
          </a:xfrm>
          <a:prstGeom prst="rect">
            <a:avLst/>
          </a:prstGeom>
        </p:spPr>
      </p:pic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568496"/>
              </p:ext>
            </p:extLst>
          </p:nvPr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878649"/>
              </p:ext>
            </p:extLst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96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3" grpId="1" animBg="1"/>
      <p:bldP spid="3" grpId="2" animBg="1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3) Обработка проведения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260" y="3283199"/>
            <a:ext cx="56673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5683" y="5704448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u="sng" dirty="0"/>
              <a:t>Примечание:</a:t>
            </a:r>
            <a:r>
              <a:rPr lang="ru-RU" dirty="0"/>
              <a:t> </a:t>
            </a:r>
            <a:r>
              <a:rPr lang="ru-RU" sz="1400" i="1" dirty="0">
                <a:solidFill>
                  <a:srgbClr val="FF0000"/>
                </a:solidFill>
              </a:rPr>
              <a:t>Срабатывает </a:t>
            </a:r>
            <a:r>
              <a:rPr lang="ru-RU" sz="1400" b="1" i="1" dirty="0">
                <a:solidFill>
                  <a:srgbClr val="0070C0"/>
                </a:solidFill>
              </a:rPr>
              <a:t>только</a:t>
            </a:r>
            <a:r>
              <a:rPr lang="ru-RU" sz="1400" i="1" dirty="0">
                <a:solidFill>
                  <a:srgbClr val="FF0000"/>
                </a:solidFill>
              </a:rPr>
              <a:t> в случае записи документа в режиме </a:t>
            </a:r>
            <a:r>
              <a:rPr lang="ru-RU" sz="1400" b="1" i="1" dirty="0">
                <a:solidFill>
                  <a:srgbClr val="0070C0"/>
                </a:solidFill>
              </a:rPr>
              <a:t>проведения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882476"/>
              </p:ext>
            </p:extLst>
          </p:nvPr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323453"/>
              </p:ext>
            </p:extLst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</a:t>
                      </a:r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441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3) Обработка проведения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</a:t>
                      </a:r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915816" y="2636912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Фиксация транзакции</a:t>
            </a:r>
          </a:p>
        </p:txBody>
      </p:sp>
    </p:spTree>
    <p:extLst>
      <p:ext uri="{BB962C8B-B14F-4D97-AF65-F5344CB8AC3E}">
        <p14:creationId xmlns:p14="http://schemas.microsoft.com/office/powerpoint/2010/main" val="109788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1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862" y="1484784"/>
            <a:ext cx="8784000" cy="4752527"/>
          </a:xfrm>
        </p:spPr>
        <p:txBody>
          <a:bodyPr/>
          <a:lstStyle/>
          <a:p>
            <a:r>
              <a:rPr lang="ru-RU" dirty="0"/>
              <a:t>Начало транзакции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Перед записью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Обработка удаления проведениям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При записи</a:t>
            </a:r>
          </a:p>
          <a:p>
            <a:r>
              <a:rPr lang="ru-RU" dirty="0"/>
              <a:t>Окончание транзакции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864096"/>
          </a:xfrm>
        </p:spPr>
        <p:txBody>
          <a:bodyPr/>
          <a:lstStyle/>
          <a:p>
            <a:r>
              <a:rPr lang="ru-RU" dirty="0"/>
              <a:t>Последовательность событий отмена проведения документа</a:t>
            </a:r>
          </a:p>
        </p:txBody>
      </p:sp>
    </p:spTree>
    <p:extLst>
      <p:ext uri="{BB962C8B-B14F-4D97-AF65-F5344CB8AC3E}">
        <p14:creationId xmlns:p14="http://schemas.microsoft.com/office/powerpoint/2010/main" val="313246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События записи документа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3999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408217"/>
              </p:ext>
            </p:extLst>
          </p:nvPr>
        </p:nvGraphicFramePr>
        <p:xfrm>
          <a:off x="1024154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623177"/>
              </p:ext>
            </p:extLst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76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1) ПЕРЕД ЗАПИСЬЮ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15816" y="2636912"/>
            <a:ext cx="229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Начало транзакции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85" y="3261240"/>
            <a:ext cx="6257925" cy="352425"/>
          </a:xfrm>
          <a:prstGeom prst="rect">
            <a:avLst/>
          </a:prstGeom>
        </p:spPr>
      </p:pic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581861"/>
              </p:ext>
            </p:extLst>
          </p:nvPr>
        </p:nvGraphicFramePr>
        <p:xfrm>
          <a:off x="1024154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91552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282808"/>
              </p:ext>
            </p:extLst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87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2" grpId="1"/>
      <p:bldP spid="2" grpId="2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3) Обработка удаления проведения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83" y="5704448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u="sng" dirty="0"/>
              <a:t>Примечание:</a:t>
            </a:r>
            <a:r>
              <a:rPr lang="ru-RU" dirty="0"/>
              <a:t> </a:t>
            </a:r>
            <a:r>
              <a:rPr lang="ru-RU" sz="1400" i="1" dirty="0">
                <a:solidFill>
                  <a:srgbClr val="FF0000"/>
                </a:solidFill>
              </a:rPr>
              <a:t>Срабатывает </a:t>
            </a:r>
            <a:r>
              <a:rPr lang="ru-RU" sz="1400" b="1" i="1" dirty="0">
                <a:solidFill>
                  <a:srgbClr val="0070C0"/>
                </a:solidFill>
              </a:rPr>
              <a:t>только</a:t>
            </a:r>
            <a:r>
              <a:rPr lang="ru-RU" sz="1400" i="1" dirty="0">
                <a:solidFill>
                  <a:srgbClr val="FF0000"/>
                </a:solidFill>
              </a:rPr>
              <a:t> в случае записи документа в режиме </a:t>
            </a:r>
            <a:r>
              <a:rPr lang="ru-RU" sz="1400" b="1" i="1" dirty="0">
                <a:solidFill>
                  <a:srgbClr val="0070C0"/>
                </a:solidFill>
              </a:rPr>
              <a:t>отмена</a:t>
            </a:r>
            <a:r>
              <a:rPr lang="ru-RU" sz="1400" i="1" dirty="0">
                <a:solidFill>
                  <a:srgbClr val="FF0000"/>
                </a:solidFill>
              </a:rPr>
              <a:t> </a:t>
            </a:r>
            <a:r>
              <a:rPr lang="ru-RU" sz="1400" b="1" i="1" dirty="0">
                <a:solidFill>
                  <a:srgbClr val="0070C0"/>
                </a:solidFill>
              </a:rPr>
              <a:t>проведения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619633"/>
              </p:ext>
            </p:extLst>
          </p:nvPr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499264"/>
              </p:ext>
            </p:extLst>
          </p:nvPr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284984"/>
            <a:ext cx="465772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9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2) ПРИ ЗАПИСИ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sp>
        <p:nvSpPr>
          <p:cNvPr id="3" name="Развернутая стрелка 2"/>
          <p:cNvSpPr/>
          <p:nvPr/>
        </p:nvSpPr>
        <p:spPr>
          <a:xfrm rot="5400000">
            <a:off x="6520031" y="3681028"/>
            <a:ext cx="3312368" cy="504056"/>
          </a:xfrm>
          <a:prstGeom prst="utur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5684395"/>
            <a:ext cx="8136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u="sng" dirty="0"/>
              <a:t>Примечание:</a:t>
            </a:r>
            <a:r>
              <a:rPr lang="ru-RU" dirty="0"/>
              <a:t> </a:t>
            </a:r>
            <a:r>
              <a:rPr lang="ru-RU" sz="1400" i="1" dirty="0">
                <a:solidFill>
                  <a:srgbClr val="FF0000"/>
                </a:solidFill>
              </a:rPr>
              <a:t>в момент первой записи объекта базы данных для него генерируется новая ссылка (потом </a:t>
            </a:r>
            <a:r>
              <a:rPr lang="ru-RU" sz="1400" b="1" i="1" dirty="0">
                <a:solidFill>
                  <a:srgbClr val="0070C0"/>
                </a:solidFill>
              </a:rPr>
              <a:t>нельзя</a:t>
            </a:r>
            <a:r>
              <a:rPr lang="ru-RU" sz="1400" i="1" dirty="0">
                <a:solidFill>
                  <a:srgbClr val="FF0000"/>
                </a:solidFill>
              </a:rPr>
              <a:t> исправить) и новый номер (потом можно исправить).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895" y="3341296"/>
            <a:ext cx="2895600" cy="276225"/>
          </a:xfrm>
          <a:prstGeom prst="rect">
            <a:avLst/>
          </a:prstGeom>
        </p:spPr>
      </p:pic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166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3" grpId="1" animBg="1"/>
      <p:bldP spid="3" grpId="2" animBg="1"/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2) ПРИ ЗАПИСИ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88119" y="1412776"/>
            <a:ext cx="8784000" cy="11521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«Документ объект»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024153" y="4221088"/>
          <a:ext cx="6860214" cy="14833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9812">
                  <a:extLst>
                    <a:ext uri="{9D8B030D-6E8A-4147-A177-3AD203B41FA5}">
                      <a16:colId xmlns:a16="http://schemas.microsoft.com/office/drawing/2014/main" val="1761716461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290229493"/>
                    </a:ext>
                  </a:extLst>
                </a:gridCol>
                <a:gridCol w="1261155">
                  <a:extLst>
                    <a:ext uri="{9D8B030D-6E8A-4147-A177-3AD203B41FA5}">
                      <a16:colId xmlns:a16="http://schemas.microsoft.com/office/drawing/2014/main" val="3938447570"/>
                    </a:ext>
                  </a:extLst>
                </a:gridCol>
                <a:gridCol w="978468">
                  <a:extLst>
                    <a:ext uri="{9D8B030D-6E8A-4147-A177-3AD203B41FA5}">
                      <a16:colId xmlns:a16="http://schemas.microsoft.com/office/drawing/2014/main" val="2617385734"/>
                    </a:ext>
                  </a:extLst>
                </a:gridCol>
                <a:gridCol w="1555704">
                  <a:extLst>
                    <a:ext uri="{9D8B030D-6E8A-4147-A177-3AD203B41FA5}">
                      <a16:colId xmlns:a16="http://schemas.microsoft.com/office/drawing/2014/main" val="1354176934"/>
                    </a:ext>
                  </a:extLst>
                </a:gridCol>
                <a:gridCol w="683920">
                  <a:extLst>
                    <a:ext uri="{9D8B030D-6E8A-4147-A177-3AD203B41FA5}">
                      <a16:colId xmlns:a16="http://schemas.microsoft.com/office/drawing/2014/main" val="1588877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&lt;11111&gt;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Истина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13.12.2013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&lt;Иванцева&gt;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19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&lt;22222&gt;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05.06.2015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&lt;Мальцев&gt;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06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145878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1055948" y="1772816"/>
          <a:ext cx="6828420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114622">
                  <a:extLst>
                    <a:ext uri="{9D8B030D-6E8A-4147-A177-3AD203B41FA5}">
                      <a16:colId xmlns:a16="http://schemas.microsoft.com/office/drawing/2014/main" val="1176376862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880320530"/>
                    </a:ext>
                  </a:extLst>
                </a:gridCol>
                <a:gridCol w="1255310">
                  <a:extLst>
                    <a:ext uri="{9D8B030D-6E8A-4147-A177-3AD203B41FA5}">
                      <a16:colId xmlns:a16="http://schemas.microsoft.com/office/drawing/2014/main" val="3965154755"/>
                    </a:ext>
                  </a:extLst>
                </a:gridCol>
                <a:gridCol w="973934">
                  <a:extLst>
                    <a:ext uri="{9D8B030D-6E8A-4147-A177-3AD203B41FA5}">
                      <a16:colId xmlns:a16="http://schemas.microsoft.com/office/drawing/2014/main" val="1507061168"/>
                    </a:ext>
                  </a:extLst>
                </a:gridCol>
                <a:gridCol w="1509164">
                  <a:extLst>
                    <a:ext uri="{9D8B030D-6E8A-4147-A177-3AD203B41FA5}">
                      <a16:colId xmlns:a16="http://schemas.microsoft.com/office/drawing/2014/main" val="339044101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42290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Проведен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Дата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Сотрудник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442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&lt;33333&gt;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Ложь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02.05.2016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000003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&lt;Сироткина&gt;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7705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915816" y="2636912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Фиксация транзакции</a:t>
            </a:r>
          </a:p>
        </p:txBody>
      </p:sp>
    </p:spTree>
    <p:extLst>
      <p:ext uri="{BB962C8B-B14F-4D97-AF65-F5344CB8AC3E}">
        <p14:creationId xmlns:p14="http://schemas.microsoft.com/office/powerpoint/2010/main" val="174645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2" grpId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записи документа сообщать режим записи и дату записи документа.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476" y="2348880"/>
            <a:ext cx="661035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96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79" y="1662217"/>
            <a:ext cx="7620000" cy="2057400"/>
          </a:xfrm>
          <a:prstGeom prst="rect">
            <a:avLst/>
          </a:prstGeom>
        </p:spPr>
      </p:pic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020819"/>
          </a:xfrm>
        </p:spPr>
        <p:txBody>
          <a:bodyPr>
            <a:noAutofit/>
          </a:bodyPr>
          <a:lstStyle/>
          <a:p>
            <a:r>
              <a:rPr lang="ru-RU" sz="3600" dirty="0"/>
              <a:t>Предопределенные элементы</a:t>
            </a:r>
            <a:r>
              <a:rPr lang="en-US" sz="3600" dirty="0"/>
              <a:t> </a:t>
            </a:r>
            <a:r>
              <a:rPr lang="ru-RU" sz="3600" dirty="0"/>
              <a:t>базы данных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09879" y="3789040"/>
          <a:ext cx="8136904" cy="24988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157">
                <a:tc>
                  <a:txBody>
                    <a:bodyPr/>
                    <a:lstStyle/>
                    <a:p>
                      <a:r>
                        <a:rPr lang="ru-RU" sz="1800" dirty="0"/>
                        <a:t>Имя</a:t>
                      </a:r>
                    </a:p>
                    <a:p>
                      <a:r>
                        <a:rPr lang="ru-RU" sz="1800" dirty="0"/>
                        <a:t>Предопределенных</a:t>
                      </a:r>
                    </a:p>
                    <a:p>
                      <a:r>
                        <a:rPr lang="ru-RU" sz="1800" dirty="0"/>
                        <a:t>Данных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Предопределенный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Код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Наименование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…</a:t>
                      </a:r>
                    </a:p>
                  </a:txBody>
                  <a:tcPr marL="91439" marR="91439" marT="45732" marB="457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08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rgbClr val="002060"/>
                          </a:solidFill>
                        </a:rPr>
                        <a:t>Принятые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02060"/>
                          </a:solidFill>
                        </a:rPr>
                        <a:t>Истина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02060"/>
                          </a:solidFill>
                        </a:rPr>
                        <a:t>01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02060"/>
                          </a:solidFill>
                        </a:rPr>
                        <a:t>Работающие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08">
                <a:tc>
                  <a:txBody>
                    <a:bodyPr/>
                    <a:lstStyle/>
                    <a:p>
                      <a:r>
                        <a:rPr lang="ru-RU" sz="1600" b="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Неприкасаемые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Истина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Руководители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08"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Ложь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03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Уволенные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08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32" marB="457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" name="Прямая со стрелкой 3"/>
          <p:cNvCxnSpPr/>
          <p:nvPr/>
        </p:nvCxnSpPr>
        <p:spPr>
          <a:xfrm>
            <a:off x="1331640" y="2996952"/>
            <a:ext cx="0" cy="722665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83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85862" y="1268680"/>
            <a:ext cx="3788683" cy="4968631"/>
          </a:xfrm>
        </p:spPr>
        <p:txBody>
          <a:bodyPr>
            <a:normAutofit/>
          </a:bodyPr>
          <a:lstStyle/>
          <a:p>
            <a:r>
              <a:rPr lang="ru-RU" sz="2400" dirty="0"/>
              <a:t>При увольнении сотрудника, проверить ответственных на складах и, в случае, если ответственный и увольняемый одно лицо, то очищать реквизит «Ответственный» у склада.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2132856"/>
            <a:ext cx="5117942" cy="2952932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5940152" y="2636912"/>
            <a:ext cx="2376264" cy="2304256"/>
          </a:xfrm>
          <a:prstGeom prst="roundRect">
            <a:avLst/>
          </a:prstGeom>
          <a:solidFill>
            <a:srgbClr val="C00000">
              <a:alpha val="18000"/>
            </a:srgbClr>
          </a:solidFill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20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ru-RU" sz="2800" dirty="0"/>
              <a:t>Чтение данных</a:t>
            </a:r>
            <a:r>
              <a:rPr lang="en-US" sz="2800" dirty="0"/>
              <a:t> </a:t>
            </a:r>
            <a:r>
              <a:rPr lang="ru-RU" sz="2800" i="1" dirty="0">
                <a:solidFill>
                  <a:srgbClr val="0070C0"/>
                </a:solidFill>
              </a:rPr>
              <a:t>нескольких </a:t>
            </a:r>
            <a:r>
              <a:rPr lang="ru-RU" sz="2800" dirty="0"/>
              <a:t>объектов данных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502127" y="5015722"/>
          <a:ext cx="4128120" cy="152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ААА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ВВВ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ССС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Слива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Скругленный прямоугольник 17"/>
          <p:cNvSpPr/>
          <p:nvPr/>
        </p:nvSpPr>
        <p:spPr>
          <a:xfrm>
            <a:off x="323528" y="1196752"/>
            <a:ext cx="3600000" cy="3708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Выборка. Номенклатура</a:t>
            </a:r>
          </a:p>
        </p:txBody>
      </p:sp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657705" y="2031042"/>
          <a:ext cx="2820144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8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Свойство </a:t>
                      </a:r>
                      <a:br>
                        <a:rPr lang="ru-RU" dirty="0"/>
                      </a:br>
                      <a:r>
                        <a:rPr lang="ru-RU" dirty="0"/>
                        <a:t>(Реквизит)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Скругленный прямоугольник 21"/>
          <p:cNvSpPr/>
          <p:nvPr/>
        </p:nvSpPr>
        <p:spPr>
          <a:xfrm>
            <a:off x="4211960" y="1205970"/>
            <a:ext cx="4608056" cy="37080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Менеджер. Номенклатура</a:t>
            </a:r>
          </a:p>
        </p:txBody>
      </p:sp>
      <p:sp>
        <p:nvSpPr>
          <p:cNvPr id="23" name="Блок-схема: типовой процесс 22"/>
          <p:cNvSpPr/>
          <p:nvPr/>
        </p:nvSpPr>
        <p:spPr>
          <a:xfrm>
            <a:off x="4427984" y="3245008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…</a:t>
            </a:r>
          </a:p>
        </p:txBody>
      </p:sp>
      <p:sp>
        <p:nvSpPr>
          <p:cNvPr id="24" name="Блок-схема: типовой процесс 23"/>
          <p:cNvSpPr/>
          <p:nvPr/>
        </p:nvSpPr>
        <p:spPr>
          <a:xfrm>
            <a:off x="4436241" y="2544916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НайтиПоНаименованию</a:t>
            </a:r>
            <a:r>
              <a:rPr lang="ru-RU" dirty="0"/>
              <a:t> (…)</a:t>
            </a:r>
          </a:p>
        </p:txBody>
      </p:sp>
      <p:sp>
        <p:nvSpPr>
          <p:cNvPr id="25" name="Блок-схема: типовой процесс 24"/>
          <p:cNvSpPr/>
          <p:nvPr/>
        </p:nvSpPr>
        <p:spPr>
          <a:xfrm>
            <a:off x="4452111" y="1844824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НайтиПоРеквизиту</a:t>
            </a:r>
            <a:r>
              <a:rPr lang="ru-RU" dirty="0"/>
              <a:t> (…)</a:t>
            </a:r>
          </a:p>
        </p:txBody>
      </p:sp>
      <p:sp>
        <p:nvSpPr>
          <p:cNvPr id="26" name="Блок-схема: типовой процесс 25"/>
          <p:cNvSpPr/>
          <p:nvPr/>
        </p:nvSpPr>
        <p:spPr>
          <a:xfrm>
            <a:off x="4452111" y="3945101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Выбрать()</a:t>
            </a:r>
          </a:p>
        </p:txBody>
      </p:sp>
      <p:sp>
        <p:nvSpPr>
          <p:cNvPr id="2" name="Стрелка вниз 1"/>
          <p:cNvSpPr/>
          <p:nvPr/>
        </p:nvSpPr>
        <p:spPr>
          <a:xfrm rot="5400000">
            <a:off x="3640944" y="3725740"/>
            <a:ext cx="648072" cy="802186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317715" y="90055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Справочники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5867" y="90055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.Номенклатура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776" y="900558"/>
            <a:ext cx="273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.Выбрать();</a:t>
            </a:r>
          </a:p>
        </p:txBody>
      </p:sp>
    </p:spTree>
    <p:extLst>
      <p:ext uri="{BB962C8B-B14F-4D97-AF65-F5344CB8AC3E}">
        <p14:creationId xmlns:p14="http://schemas.microsoft.com/office/powerpoint/2010/main" val="199215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3" grpId="0" animBg="1"/>
      <p:bldP spid="24" grpId="0" animBg="1"/>
      <p:bldP spid="25" grpId="0" animBg="1"/>
      <p:bldP spid="26" grpId="0" animBg="1"/>
      <p:bldP spid="26" grpId="1" animBg="1"/>
      <p:bldP spid="2" grpId="0" animBg="1"/>
      <p:bldP spid="2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ru-RU" sz="2800" dirty="0"/>
              <a:t>Чтение данных</a:t>
            </a:r>
            <a:r>
              <a:rPr lang="en-US" sz="2800" dirty="0"/>
              <a:t> </a:t>
            </a:r>
            <a:r>
              <a:rPr lang="ru-RU" sz="2800" i="1" dirty="0">
                <a:solidFill>
                  <a:srgbClr val="0070C0"/>
                </a:solidFill>
              </a:rPr>
              <a:t>нескольких </a:t>
            </a:r>
            <a:r>
              <a:rPr lang="ru-RU" sz="2800" dirty="0"/>
              <a:t>объектов данных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483568" y="5027539"/>
          <a:ext cx="4128120" cy="152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ААА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ВВВ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ССС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Слива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Скругленный прямоугольник 17"/>
          <p:cNvSpPr/>
          <p:nvPr/>
        </p:nvSpPr>
        <p:spPr>
          <a:xfrm>
            <a:off x="323528" y="1196752"/>
            <a:ext cx="3600000" cy="3708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Выборка. Номенклатура</a:t>
            </a:r>
          </a:p>
        </p:txBody>
      </p:sp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671736" y="2025640"/>
          <a:ext cx="2820144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8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Свойство </a:t>
                      </a:r>
                      <a:br>
                        <a:rPr lang="ru-RU" dirty="0"/>
                      </a:br>
                      <a:r>
                        <a:rPr lang="ru-RU" dirty="0"/>
                        <a:t>(Реквизит)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Скругленный прямоугольник 21"/>
          <p:cNvSpPr/>
          <p:nvPr/>
        </p:nvSpPr>
        <p:spPr>
          <a:xfrm>
            <a:off x="4211960" y="1220157"/>
            <a:ext cx="4608056" cy="37080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Менеджер. Номенклатура</a:t>
            </a:r>
          </a:p>
        </p:txBody>
      </p:sp>
      <p:sp>
        <p:nvSpPr>
          <p:cNvPr id="23" name="Блок-схема: типовой процесс 22"/>
          <p:cNvSpPr/>
          <p:nvPr/>
        </p:nvSpPr>
        <p:spPr>
          <a:xfrm>
            <a:off x="4427984" y="3196406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…</a:t>
            </a:r>
          </a:p>
        </p:txBody>
      </p:sp>
      <p:sp>
        <p:nvSpPr>
          <p:cNvPr id="24" name="Блок-схема: типовой процесс 23"/>
          <p:cNvSpPr/>
          <p:nvPr/>
        </p:nvSpPr>
        <p:spPr>
          <a:xfrm>
            <a:off x="4436241" y="2496314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НайтиПоНаименованию</a:t>
            </a:r>
            <a:r>
              <a:rPr lang="ru-RU" dirty="0"/>
              <a:t> (…)</a:t>
            </a:r>
          </a:p>
        </p:txBody>
      </p:sp>
      <p:sp>
        <p:nvSpPr>
          <p:cNvPr id="25" name="Блок-схема: типовой процесс 24"/>
          <p:cNvSpPr/>
          <p:nvPr/>
        </p:nvSpPr>
        <p:spPr>
          <a:xfrm>
            <a:off x="4452111" y="1796222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НайтиПоРеквизиту</a:t>
            </a:r>
            <a:r>
              <a:rPr lang="ru-RU" dirty="0"/>
              <a:t> (…)</a:t>
            </a:r>
          </a:p>
        </p:txBody>
      </p:sp>
      <p:sp>
        <p:nvSpPr>
          <p:cNvPr id="26" name="Блок-схема: типовой процесс 25"/>
          <p:cNvSpPr/>
          <p:nvPr/>
        </p:nvSpPr>
        <p:spPr>
          <a:xfrm>
            <a:off x="4452111" y="3896499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Выбрать()</a:t>
            </a:r>
          </a:p>
        </p:txBody>
      </p:sp>
      <p:sp>
        <p:nvSpPr>
          <p:cNvPr id="10" name="Стрелка углом 9"/>
          <p:cNvSpPr/>
          <p:nvPr/>
        </p:nvSpPr>
        <p:spPr>
          <a:xfrm rot="16200000">
            <a:off x="1579844" y="4671153"/>
            <a:ext cx="890115" cy="917332"/>
          </a:xfrm>
          <a:prstGeom prst="bentArrow">
            <a:avLst>
              <a:gd name="adj1" fmla="val 15769"/>
              <a:gd name="adj2" fmla="val 25000"/>
              <a:gd name="adj3" fmla="val 23846"/>
              <a:gd name="adj4" fmla="val 4375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2545159" y="5331347"/>
            <a:ext cx="4320480" cy="504056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323528" y="89942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Справочники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80" y="89942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.Номенклатура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6589" y="899428"/>
            <a:ext cx="273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.Выбрать();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6832" y="4302316"/>
            <a:ext cx="1573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Следующий()</a:t>
            </a:r>
          </a:p>
        </p:txBody>
      </p:sp>
      <p:graphicFrame>
        <p:nvGraphicFramePr>
          <p:cNvPr id="31" name="Таблица 30"/>
          <p:cNvGraphicFramePr>
            <a:graphicFrameLocks noGrp="1"/>
          </p:cNvGraphicFramePr>
          <p:nvPr/>
        </p:nvGraphicFramePr>
        <p:xfrm>
          <a:off x="671736" y="2025640"/>
          <a:ext cx="2820144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8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Свойство </a:t>
                      </a:r>
                      <a:br>
                        <a:rPr lang="ru-RU" dirty="0"/>
                      </a:br>
                      <a:r>
                        <a:rPr lang="ru-RU" dirty="0"/>
                        <a:t>(Реквизит)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ААА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84" y="5574877"/>
            <a:ext cx="1021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ИСТИНА</a:t>
            </a:r>
          </a:p>
        </p:txBody>
      </p:sp>
      <p:sp>
        <p:nvSpPr>
          <p:cNvPr id="7" name="Стрелка вниз 6"/>
          <p:cNvSpPr/>
          <p:nvPr/>
        </p:nvSpPr>
        <p:spPr>
          <a:xfrm>
            <a:off x="1174140" y="4950459"/>
            <a:ext cx="216024" cy="6244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54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7" grpId="0" animBg="1"/>
      <p:bldP spid="27" grpId="1" animBg="1"/>
      <p:bldP spid="3" grpId="0"/>
      <p:bldP spid="3" grpId="1"/>
      <p:bldP spid="6" grpId="0"/>
      <p:bldP spid="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ru-RU" sz="2800" dirty="0"/>
              <a:t>Чтение данных</a:t>
            </a:r>
            <a:r>
              <a:rPr lang="en-US" sz="2800" dirty="0"/>
              <a:t> </a:t>
            </a:r>
            <a:r>
              <a:rPr lang="ru-RU" sz="2800" i="1" dirty="0">
                <a:solidFill>
                  <a:srgbClr val="0070C0"/>
                </a:solidFill>
              </a:rPr>
              <a:t>нескольких </a:t>
            </a:r>
            <a:r>
              <a:rPr lang="ru-RU" sz="2800" dirty="0"/>
              <a:t>объектов данных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484468" y="5012783"/>
          <a:ext cx="4128120" cy="152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ААА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ВВВ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ССС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Слива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Скругленный прямоугольник 17"/>
          <p:cNvSpPr/>
          <p:nvPr/>
        </p:nvSpPr>
        <p:spPr>
          <a:xfrm>
            <a:off x="323528" y="1196752"/>
            <a:ext cx="3600000" cy="3708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Выборка. Номенклатура</a:t>
            </a:r>
          </a:p>
        </p:txBody>
      </p:sp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671736" y="1988840"/>
          <a:ext cx="2820144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8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Свойство </a:t>
                      </a:r>
                      <a:br>
                        <a:rPr lang="ru-RU" dirty="0"/>
                      </a:br>
                      <a:r>
                        <a:rPr lang="ru-RU" dirty="0"/>
                        <a:t>(Реквизит)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ААА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Яблоки</a:t>
                      </a: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Скругленный прямоугольник 21"/>
          <p:cNvSpPr/>
          <p:nvPr/>
        </p:nvSpPr>
        <p:spPr>
          <a:xfrm>
            <a:off x="4211960" y="1196752"/>
            <a:ext cx="4608056" cy="37080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Менеджер. Номенклатура</a:t>
            </a:r>
          </a:p>
        </p:txBody>
      </p:sp>
      <p:sp>
        <p:nvSpPr>
          <p:cNvPr id="23" name="Блок-схема: типовой процесс 22"/>
          <p:cNvSpPr/>
          <p:nvPr/>
        </p:nvSpPr>
        <p:spPr>
          <a:xfrm>
            <a:off x="4427984" y="3254228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…</a:t>
            </a:r>
          </a:p>
        </p:txBody>
      </p:sp>
      <p:sp>
        <p:nvSpPr>
          <p:cNvPr id="24" name="Блок-схема: типовой процесс 23"/>
          <p:cNvSpPr/>
          <p:nvPr/>
        </p:nvSpPr>
        <p:spPr>
          <a:xfrm>
            <a:off x="4436241" y="2554136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НайтиПоНаименованию</a:t>
            </a:r>
            <a:r>
              <a:rPr lang="ru-RU" dirty="0"/>
              <a:t> (…)</a:t>
            </a:r>
          </a:p>
        </p:txBody>
      </p:sp>
      <p:sp>
        <p:nvSpPr>
          <p:cNvPr id="25" name="Блок-схема: типовой процесс 24"/>
          <p:cNvSpPr/>
          <p:nvPr/>
        </p:nvSpPr>
        <p:spPr>
          <a:xfrm>
            <a:off x="4452111" y="1854044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НайтиПоРеквизиту</a:t>
            </a:r>
            <a:r>
              <a:rPr lang="ru-RU" dirty="0"/>
              <a:t> (…)</a:t>
            </a:r>
          </a:p>
        </p:txBody>
      </p:sp>
      <p:sp>
        <p:nvSpPr>
          <p:cNvPr id="26" name="Блок-схема: типовой процесс 25"/>
          <p:cNvSpPr/>
          <p:nvPr/>
        </p:nvSpPr>
        <p:spPr>
          <a:xfrm>
            <a:off x="4452111" y="3954321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Выбрать()</a:t>
            </a:r>
          </a:p>
        </p:txBody>
      </p:sp>
      <p:sp>
        <p:nvSpPr>
          <p:cNvPr id="10" name="Стрелка углом 9"/>
          <p:cNvSpPr/>
          <p:nvPr/>
        </p:nvSpPr>
        <p:spPr>
          <a:xfrm rot="16200000">
            <a:off x="1538646" y="4932149"/>
            <a:ext cx="1300951" cy="877327"/>
          </a:xfrm>
          <a:prstGeom prst="bentArrow">
            <a:avLst>
              <a:gd name="adj1" fmla="val 15769"/>
              <a:gd name="adj2" fmla="val 25000"/>
              <a:gd name="adj3" fmla="val 23846"/>
              <a:gd name="adj4" fmla="val 4375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2375787" y="5685923"/>
            <a:ext cx="4320480" cy="504056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323528" y="89942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Справочники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80" y="89942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.Номенклатура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6589" y="899428"/>
            <a:ext cx="273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.Выбрать();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0516" y="4221088"/>
            <a:ext cx="1573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Следующий()</a:t>
            </a:r>
          </a:p>
        </p:txBody>
      </p:sp>
      <p:graphicFrame>
        <p:nvGraphicFramePr>
          <p:cNvPr id="31" name="Таблица 30"/>
          <p:cNvGraphicFramePr>
            <a:graphicFrameLocks noGrp="1"/>
          </p:cNvGraphicFramePr>
          <p:nvPr/>
        </p:nvGraphicFramePr>
        <p:xfrm>
          <a:off x="671736" y="1988840"/>
          <a:ext cx="2820144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8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Свойство </a:t>
                      </a:r>
                      <a:br>
                        <a:rPr lang="ru-RU" dirty="0"/>
                      </a:br>
                      <a:r>
                        <a:rPr lang="ru-RU" dirty="0"/>
                        <a:t>(Реквизит)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ВВВ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2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Груши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85961" y="5291916"/>
            <a:ext cx="1021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ИСТИНА</a:t>
            </a:r>
          </a:p>
        </p:txBody>
      </p:sp>
      <p:sp>
        <p:nvSpPr>
          <p:cNvPr id="7" name="Стрелка вниз 6"/>
          <p:cNvSpPr/>
          <p:nvPr/>
        </p:nvSpPr>
        <p:spPr>
          <a:xfrm>
            <a:off x="1246001" y="4667498"/>
            <a:ext cx="216024" cy="6244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09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7" grpId="0" animBg="1"/>
      <p:bldP spid="27" grpId="1" animBg="1"/>
      <p:bldP spid="3" grpId="0"/>
      <p:bldP spid="3" grpId="1"/>
      <p:bldP spid="6" grpId="0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ru-RU" sz="2800" dirty="0"/>
              <a:t>Чтение данных</a:t>
            </a:r>
            <a:r>
              <a:rPr lang="en-US" sz="2800" dirty="0"/>
              <a:t> </a:t>
            </a:r>
            <a:r>
              <a:rPr lang="ru-RU" sz="2800" i="1" dirty="0">
                <a:solidFill>
                  <a:srgbClr val="0070C0"/>
                </a:solidFill>
              </a:rPr>
              <a:t>нескольких </a:t>
            </a:r>
            <a:r>
              <a:rPr lang="ru-RU" sz="2800" dirty="0"/>
              <a:t>объектов данных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483568" y="5027539"/>
          <a:ext cx="4128120" cy="152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ААА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ВВВ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ССС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Слива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Скругленный прямоугольник 17"/>
          <p:cNvSpPr/>
          <p:nvPr/>
        </p:nvSpPr>
        <p:spPr>
          <a:xfrm>
            <a:off x="323528" y="1196753"/>
            <a:ext cx="3600000" cy="3708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Выборка. Номенклатура</a:t>
            </a:r>
          </a:p>
        </p:txBody>
      </p:sp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671736" y="1988840"/>
          <a:ext cx="2820144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8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Свойство </a:t>
                      </a:r>
                      <a:br>
                        <a:rPr lang="ru-RU" dirty="0"/>
                      </a:br>
                      <a:r>
                        <a:rPr lang="ru-RU" dirty="0"/>
                        <a:t>(Реквизит)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ВВВ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&gt;</a:t>
                      </a: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2</a:t>
                      </a: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Груши</a:t>
                      </a: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Скругленный прямоугольник 21"/>
          <p:cNvSpPr/>
          <p:nvPr/>
        </p:nvSpPr>
        <p:spPr>
          <a:xfrm>
            <a:off x="4211960" y="1205971"/>
            <a:ext cx="4608056" cy="37080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Менеджер. Номенклатура</a:t>
            </a:r>
          </a:p>
        </p:txBody>
      </p:sp>
      <p:sp>
        <p:nvSpPr>
          <p:cNvPr id="23" name="Блок-схема: типовой процесс 22"/>
          <p:cNvSpPr/>
          <p:nvPr/>
        </p:nvSpPr>
        <p:spPr>
          <a:xfrm>
            <a:off x="4427984" y="3173000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…</a:t>
            </a:r>
          </a:p>
        </p:txBody>
      </p:sp>
      <p:sp>
        <p:nvSpPr>
          <p:cNvPr id="24" name="Блок-схема: типовой процесс 23"/>
          <p:cNvSpPr/>
          <p:nvPr/>
        </p:nvSpPr>
        <p:spPr>
          <a:xfrm>
            <a:off x="4436241" y="2472908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НайтиПоНаименованию</a:t>
            </a:r>
            <a:r>
              <a:rPr lang="ru-RU" dirty="0"/>
              <a:t> (…)</a:t>
            </a:r>
          </a:p>
        </p:txBody>
      </p:sp>
      <p:sp>
        <p:nvSpPr>
          <p:cNvPr id="25" name="Блок-схема: типовой процесс 24"/>
          <p:cNvSpPr/>
          <p:nvPr/>
        </p:nvSpPr>
        <p:spPr>
          <a:xfrm>
            <a:off x="4452111" y="1772816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НайтиПоРеквизиту</a:t>
            </a:r>
            <a:r>
              <a:rPr lang="ru-RU" dirty="0"/>
              <a:t> (…)</a:t>
            </a:r>
          </a:p>
        </p:txBody>
      </p:sp>
      <p:sp>
        <p:nvSpPr>
          <p:cNvPr id="26" name="Блок-схема: типовой процесс 25"/>
          <p:cNvSpPr/>
          <p:nvPr/>
        </p:nvSpPr>
        <p:spPr>
          <a:xfrm>
            <a:off x="4452111" y="3873093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Выбрать()</a:t>
            </a:r>
          </a:p>
        </p:txBody>
      </p:sp>
      <p:sp>
        <p:nvSpPr>
          <p:cNvPr id="10" name="Стрелка углом 9"/>
          <p:cNvSpPr/>
          <p:nvPr/>
        </p:nvSpPr>
        <p:spPr>
          <a:xfrm rot="16200000">
            <a:off x="1341788" y="5229448"/>
            <a:ext cx="1561846" cy="862057"/>
          </a:xfrm>
          <a:prstGeom prst="bentArrow">
            <a:avLst>
              <a:gd name="adj1" fmla="val 15769"/>
              <a:gd name="adj2" fmla="val 25000"/>
              <a:gd name="adj3" fmla="val 23846"/>
              <a:gd name="adj4" fmla="val 4375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2545159" y="6136275"/>
            <a:ext cx="4320480" cy="504056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323528" y="89942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Справочники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80" y="89942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.Номенклатура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6589" y="899428"/>
            <a:ext cx="273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.Выбрать();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0316" y="4221088"/>
            <a:ext cx="1573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Следующий()</a:t>
            </a:r>
          </a:p>
        </p:txBody>
      </p:sp>
      <p:graphicFrame>
        <p:nvGraphicFramePr>
          <p:cNvPr id="31" name="Таблица 30"/>
          <p:cNvGraphicFramePr>
            <a:graphicFrameLocks noGrp="1"/>
          </p:cNvGraphicFramePr>
          <p:nvPr/>
        </p:nvGraphicFramePr>
        <p:xfrm>
          <a:off x="671736" y="1988840"/>
          <a:ext cx="2820144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8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Свойство </a:t>
                      </a:r>
                      <a:br>
                        <a:rPr lang="ru-RU" dirty="0"/>
                      </a:br>
                      <a:r>
                        <a:rPr lang="ru-RU" dirty="0"/>
                        <a:t>(Реквизит)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ССС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3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Слива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84" y="5493649"/>
            <a:ext cx="1021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ИСТИНА</a:t>
            </a:r>
          </a:p>
        </p:txBody>
      </p:sp>
      <p:sp>
        <p:nvSpPr>
          <p:cNvPr id="7" name="Стрелка вниз 6"/>
          <p:cNvSpPr/>
          <p:nvPr/>
        </p:nvSpPr>
        <p:spPr>
          <a:xfrm>
            <a:off x="1187624" y="4869231"/>
            <a:ext cx="216024" cy="6244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73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7" grpId="0" animBg="1"/>
      <p:bldP spid="27" grpId="1" animBg="1"/>
      <p:bldP spid="3" grpId="0"/>
      <p:bldP spid="3" grpId="1"/>
      <p:bldP spid="6" grpId="0"/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r>
              <a:rPr lang="ru-RU" sz="2800" dirty="0"/>
              <a:t>Чтение данных</a:t>
            </a:r>
            <a:r>
              <a:rPr lang="en-US" sz="2800" dirty="0"/>
              <a:t> </a:t>
            </a:r>
            <a:r>
              <a:rPr lang="ru-RU" sz="2800" i="1" dirty="0">
                <a:solidFill>
                  <a:srgbClr val="0070C0"/>
                </a:solidFill>
              </a:rPr>
              <a:t>нескольких </a:t>
            </a:r>
            <a:r>
              <a:rPr lang="ru-RU" sz="2800" dirty="0"/>
              <a:t>объектов данных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483568" y="5038794"/>
          <a:ext cx="4128120" cy="1527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986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ААА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ВВВ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98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ССС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&gt;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Слива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Скругленный прямоугольник 17"/>
          <p:cNvSpPr/>
          <p:nvPr/>
        </p:nvSpPr>
        <p:spPr>
          <a:xfrm>
            <a:off x="323528" y="1196751"/>
            <a:ext cx="3600000" cy="3708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Выборка. Номенклатура</a:t>
            </a:r>
          </a:p>
        </p:txBody>
      </p:sp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671736" y="1988840"/>
          <a:ext cx="2820144" cy="212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8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Свойство </a:t>
                      </a:r>
                      <a:br>
                        <a:rPr lang="ru-RU" dirty="0"/>
                      </a:br>
                      <a:r>
                        <a:rPr lang="ru-RU" dirty="0"/>
                        <a:t>(Реквизит)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Ссылка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&lt;</a:t>
                      </a: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ССС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&gt;</a:t>
                      </a: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3</a:t>
                      </a: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Слива</a:t>
                      </a:r>
                      <a:endParaRPr lang="ru-RU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Скругленный прямоугольник 21"/>
          <p:cNvSpPr/>
          <p:nvPr/>
        </p:nvSpPr>
        <p:spPr>
          <a:xfrm>
            <a:off x="4211960" y="1205971"/>
            <a:ext cx="4608056" cy="37080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b="1" u="sng" dirty="0"/>
              <a:t>Справочник Менеджер. Номенклатура</a:t>
            </a:r>
          </a:p>
        </p:txBody>
      </p:sp>
      <p:sp>
        <p:nvSpPr>
          <p:cNvPr id="23" name="Блок-схема: типовой процесс 22"/>
          <p:cNvSpPr/>
          <p:nvPr/>
        </p:nvSpPr>
        <p:spPr>
          <a:xfrm>
            <a:off x="4427984" y="3173000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…</a:t>
            </a:r>
          </a:p>
        </p:txBody>
      </p:sp>
      <p:sp>
        <p:nvSpPr>
          <p:cNvPr id="24" name="Блок-схема: типовой процесс 23"/>
          <p:cNvSpPr/>
          <p:nvPr/>
        </p:nvSpPr>
        <p:spPr>
          <a:xfrm>
            <a:off x="4436241" y="2472908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НайтиПоНаименованию</a:t>
            </a:r>
            <a:r>
              <a:rPr lang="ru-RU" dirty="0"/>
              <a:t> (…)</a:t>
            </a:r>
          </a:p>
        </p:txBody>
      </p:sp>
      <p:sp>
        <p:nvSpPr>
          <p:cNvPr id="25" name="Блок-схема: типовой процесс 24"/>
          <p:cNvSpPr/>
          <p:nvPr/>
        </p:nvSpPr>
        <p:spPr>
          <a:xfrm>
            <a:off x="4452111" y="1772816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НайтиПоРеквизиту</a:t>
            </a:r>
            <a:r>
              <a:rPr lang="ru-RU" dirty="0"/>
              <a:t> (…)</a:t>
            </a:r>
          </a:p>
        </p:txBody>
      </p:sp>
      <p:sp>
        <p:nvSpPr>
          <p:cNvPr id="26" name="Блок-схема: типовой процесс 25"/>
          <p:cNvSpPr/>
          <p:nvPr/>
        </p:nvSpPr>
        <p:spPr>
          <a:xfrm>
            <a:off x="4452111" y="3873093"/>
            <a:ext cx="4140000" cy="599189"/>
          </a:xfrm>
          <a:prstGeom prst="flowChartPredefined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Выбрать()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528" y="89942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Справочники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80" y="89942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.Номенклатура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6589" y="899428"/>
            <a:ext cx="273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.Выбрать();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1849" y="4221088"/>
            <a:ext cx="1573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Следующий()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84" y="5507940"/>
            <a:ext cx="1021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ЛОЖЬ</a:t>
            </a:r>
          </a:p>
        </p:txBody>
      </p:sp>
      <p:sp>
        <p:nvSpPr>
          <p:cNvPr id="7" name="Стрелка вниз 6"/>
          <p:cNvSpPr/>
          <p:nvPr/>
        </p:nvSpPr>
        <p:spPr>
          <a:xfrm>
            <a:off x="1187624" y="4869160"/>
            <a:ext cx="216024" cy="6244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45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5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 на основании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Копирование данных из строки одной таблицы в строку другой таблицы</a:t>
            </a:r>
          </a:p>
        </p:txBody>
      </p:sp>
    </p:spTree>
    <p:extLst>
      <p:ext uri="{BB962C8B-B14F-4D97-AF65-F5344CB8AC3E}">
        <p14:creationId xmlns:p14="http://schemas.microsoft.com/office/powerpoint/2010/main" val="27556187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40799"/>
          </a:xfrm>
        </p:spPr>
        <p:txBody>
          <a:bodyPr>
            <a:normAutofit fontScale="90000"/>
          </a:bodyPr>
          <a:lstStyle/>
          <a:p>
            <a:r>
              <a:rPr lang="ru-RU" dirty="0"/>
              <a:t>Открытие формы существующего объекта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88461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73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5" name="Прямая со стрелкой 34"/>
          <p:cNvCxnSpPr/>
          <p:nvPr/>
        </p:nvCxnSpPr>
        <p:spPr>
          <a:xfrm flipH="1">
            <a:off x="5364088" y="4338962"/>
            <a:ext cx="11679" cy="128695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40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11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55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42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6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416864"/>
          </a:xfrm>
        </p:spPr>
        <p:txBody>
          <a:bodyPr>
            <a:normAutofit fontScale="90000"/>
          </a:bodyPr>
          <a:lstStyle/>
          <a:p>
            <a:r>
              <a:rPr lang="ru-RU" dirty="0"/>
              <a:t>Открытие формы нового (еще не записанного в базу данных) объекта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233213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80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8"/>
            <a:ext cx="3213752" cy="928607"/>
          </a:xfrm>
          <a:prstGeom prst="borderCallout3">
            <a:avLst>
              <a:gd name="adj1" fmla="val -11912"/>
              <a:gd name="adj2" fmla="val 14468"/>
              <a:gd name="adj3" fmla="val -71467"/>
              <a:gd name="adj4" fmla="val -1310"/>
              <a:gd name="adj5" fmla="val -124097"/>
              <a:gd name="adj6" fmla="val 3287"/>
              <a:gd name="adj7" fmla="val -102171"/>
              <a:gd name="adj8" fmla="val 34149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(Обработка заполнения!)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27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518321" y="3301383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2942424" y="4444609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2112"/>
              <a:gd name="adj4" fmla="val -541"/>
              <a:gd name="adj5" fmla="val -198615"/>
              <a:gd name="adj6" fmla="val 16744"/>
              <a:gd name="adj7" fmla="val -176688"/>
              <a:gd name="adj8" fmla="val 5414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4" name="Прямая со стрелкой 33"/>
          <p:cNvCxnSpPr/>
          <p:nvPr/>
        </p:nvCxnSpPr>
        <p:spPr>
          <a:xfrm>
            <a:off x="5868144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46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61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05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Цилиндр 15"/>
          <p:cNvSpPr/>
          <p:nvPr/>
        </p:nvSpPr>
        <p:spPr>
          <a:xfrm>
            <a:off x="1403648" y="5661248"/>
            <a:ext cx="4857719" cy="864096"/>
          </a:xfrm>
          <a:prstGeom prst="can">
            <a:avLst>
              <a:gd name="adj" fmla="val 19215"/>
            </a:avLst>
          </a:prstGeom>
          <a:solidFill>
            <a:schemeClr val="accent3">
              <a:lumMod val="40000"/>
              <a:lumOff val="60000"/>
              <a:alpha val="1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База данных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14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776904"/>
          </a:xfrm>
        </p:spPr>
        <p:txBody>
          <a:bodyPr>
            <a:normAutofit fontScale="90000"/>
          </a:bodyPr>
          <a:lstStyle/>
          <a:p>
            <a:r>
              <a:rPr lang="ru-RU" dirty="0"/>
              <a:t>Открытие формы нового (еще не записанного в базу данных) объекта данных при использовании механизма «</a:t>
            </a:r>
            <a:r>
              <a:rPr lang="ru-RU" dirty="0" err="1"/>
              <a:t>Вввод</a:t>
            </a:r>
            <a:r>
              <a:rPr lang="ru-RU" dirty="0"/>
              <a:t> на основании»</a:t>
            </a:r>
          </a:p>
        </p:txBody>
      </p:sp>
    </p:spTree>
    <p:extLst>
      <p:ext uri="{BB962C8B-B14F-4D97-AF65-F5344CB8AC3E}">
        <p14:creationId xmlns:p14="http://schemas.microsoft.com/office/powerpoint/2010/main" val="252767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1695956" y="716816"/>
            <a:ext cx="3447831" cy="9072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/>
              <a:t>Динамический список (Сотрудники)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3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4467556" y="5667754"/>
            <a:ext cx="3126933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приеме2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1549760" y="5667754"/>
            <a:ext cx="2736304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3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9169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658097" y="3289250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</a:p>
          <a:p>
            <a:pPr algn="ctr"/>
            <a:r>
              <a:rPr lang="ru-RU" dirty="0" smtClean="0">
                <a:solidFill>
                  <a:schemeClr val="tx1"/>
                </a:solidFill>
              </a:rPr>
              <a:t>«Приказ о приеме»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(новый)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4582479" y="4690542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40433"/>
              <a:gd name="adj4" fmla="val -11776"/>
              <a:gd name="adj5" fmla="val -105449"/>
              <a:gd name="adj6" fmla="val -18459"/>
              <a:gd name="adj7" fmla="val -144815"/>
              <a:gd name="adj8" fmla="val 15195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1695956" y="716816"/>
            <a:ext cx="3447831" cy="9072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/>
              <a:t>Динамический список (Сотрудники)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600" dirty="0"/>
              <a:t>Сотрудник 3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4467556" y="5667754"/>
            <a:ext cx="3126933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приеме2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1549760" y="5667754"/>
            <a:ext cx="2736304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600" dirty="0"/>
              <a:t>Сотрудник 3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919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3658097" y="3289250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«Приказ о приеме»</a:t>
            </a:r>
          </a:p>
          <a:p>
            <a:pPr algn="ctr"/>
            <a:r>
              <a:rPr lang="ru-RU" dirty="0" smtClean="0">
                <a:solidFill>
                  <a:schemeClr val="tx1"/>
                </a:solidFill>
              </a:rPr>
              <a:t>(Новый)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4582479" y="4690542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40433"/>
              <a:gd name="adj4" fmla="val -11776"/>
              <a:gd name="adj5" fmla="val -105449"/>
              <a:gd name="adj6" fmla="val -18459"/>
              <a:gd name="adj7" fmla="val -144815"/>
              <a:gd name="adj8" fmla="val 15195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1695956" y="716816"/>
            <a:ext cx="3447831" cy="9072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/>
              <a:t>Динамический список (Сотрудники)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600" dirty="0"/>
              <a:t>Сотрудник 3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4467556" y="5667754"/>
            <a:ext cx="3126933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приеме2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1549760" y="5667754"/>
            <a:ext cx="2736304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600" dirty="0"/>
              <a:t>Сотрудник 3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  <p:sp>
        <p:nvSpPr>
          <p:cNvPr id="34" name="Блок-схема: альтернативный процесс 33"/>
          <p:cNvSpPr/>
          <p:nvPr/>
        </p:nvSpPr>
        <p:spPr>
          <a:xfrm>
            <a:off x="539552" y="3766737"/>
            <a:ext cx="2520280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Справочник ссылка</a:t>
            </a:r>
            <a:r>
              <a:rPr lang="ru-RU" dirty="0">
                <a:solidFill>
                  <a:schemeClr val="tx1"/>
                </a:solidFill>
              </a:rPr>
              <a:t/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Сотрудники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(Данные сотрудника 3)</a:t>
            </a:r>
            <a:endParaRPr lang="ru-RU" dirty="0" smtClean="0">
              <a:solidFill>
                <a:schemeClr val="tx1"/>
              </a:solidFill>
            </a:endParaRPr>
          </a:p>
        </p:txBody>
      </p:sp>
      <p:cxnSp>
        <p:nvCxnSpPr>
          <p:cNvPr id="35" name="Прямая со стрелкой 34"/>
          <p:cNvCxnSpPr/>
          <p:nvPr/>
        </p:nvCxnSpPr>
        <p:spPr>
          <a:xfrm>
            <a:off x="1907704" y="4774849"/>
            <a:ext cx="0" cy="1211781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97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4582479" y="4509120"/>
            <a:ext cx="2869841" cy="936104"/>
          </a:xfrm>
          <a:prstGeom prst="borderCallout3">
            <a:avLst>
              <a:gd name="adj1" fmla="val 29009"/>
              <a:gd name="adj2" fmla="val 6287"/>
              <a:gd name="adj3" fmla="val -833"/>
              <a:gd name="adj4" fmla="val -18665"/>
              <a:gd name="adj5" fmla="val -39448"/>
              <a:gd name="adj6" fmla="val -24057"/>
              <a:gd name="adj7" fmla="val -56374"/>
              <a:gd name="adj8" fmla="val -14945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Обработка заполнения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(Данные заполнения)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1695956" y="716816"/>
            <a:ext cx="3447831" cy="9072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/>
              <a:t>Динамический список (Сотрудники)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3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4467556" y="5667754"/>
            <a:ext cx="3126933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приеме2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1549760" y="5667754"/>
            <a:ext cx="2736304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3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  <p:cxnSp>
        <p:nvCxnSpPr>
          <p:cNvPr id="11" name="Прямая со стрелкой 10"/>
          <p:cNvCxnSpPr/>
          <p:nvPr/>
        </p:nvCxnSpPr>
        <p:spPr>
          <a:xfrm>
            <a:off x="3059832" y="4774849"/>
            <a:ext cx="1872208" cy="526359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Блок-схема: альтернативный процесс 13"/>
          <p:cNvSpPr/>
          <p:nvPr/>
        </p:nvSpPr>
        <p:spPr>
          <a:xfrm>
            <a:off x="539552" y="3766737"/>
            <a:ext cx="2520280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Справочник ссылка</a:t>
            </a:r>
            <a:r>
              <a:rPr lang="ru-RU" dirty="0">
                <a:solidFill>
                  <a:schemeClr val="tx1"/>
                </a:solidFill>
              </a:rPr>
              <a:t/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Сотрудники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(Данные сотрудника 3)</a:t>
            </a:r>
            <a:endParaRPr lang="ru-RU" dirty="0" smtClean="0">
              <a:solidFill>
                <a:schemeClr val="tx1"/>
              </a:solidFill>
            </a:endParaRPr>
          </a:p>
        </p:txBody>
      </p:sp>
      <p:sp>
        <p:nvSpPr>
          <p:cNvPr id="15" name="Блок-схема: альтернативный процесс 14"/>
          <p:cNvSpPr/>
          <p:nvPr/>
        </p:nvSpPr>
        <p:spPr>
          <a:xfrm>
            <a:off x="3658097" y="3289250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«Приказ о приеме»</a:t>
            </a:r>
          </a:p>
          <a:p>
            <a:pPr algn="ctr"/>
            <a:r>
              <a:rPr lang="ru-RU" dirty="0" smtClean="0">
                <a:solidFill>
                  <a:schemeClr val="tx1"/>
                </a:solidFill>
              </a:rPr>
              <a:t>(Новый)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7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Выноска 3 18"/>
          <p:cNvSpPr/>
          <p:nvPr/>
        </p:nvSpPr>
        <p:spPr>
          <a:xfrm>
            <a:off x="4582479" y="4690542"/>
            <a:ext cx="1649781" cy="504000"/>
          </a:xfrm>
          <a:prstGeom prst="borderCallout3">
            <a:avLst>
              <a:gd name="adj1" fmla="val -11912"/>
              <a:gd name="adj2" fmla="val 14468"/>
              <a:gd name="adj3" fmla="val -8560"/>
              <a:gd name="adj4" fmla="val -31999"/>
              <a:gd name="adj5" fmla="val -78480"/>
              <a:gd name="adj6" fmla="val -38682"/>
              <a:gd name="adj7" fmla="val -144815"/>
              <a:gd name="adj8" fmla="val -23753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</a:t>
            </a:r>
            <a:r>
              <a:rPr lang="ru-RU" dirty="0" smtClean="0">
                <a:solidFill>
                  <a:schemeClr val="tx1"/>
                </a:solidFill>
              </a:rPr>
              <a:t>объекта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1695956" y="716816"/>
            <a:ext cx="3447831" cy="9072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/>
              <a:t>Динамический список (Сотрудники)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3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4467556" y="5667754"/>
            <a:ext cx="3126933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приеме2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1549760" y="5667754"/>
            <a:ext cx="2736304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3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  <p:cxnSp>
        <p:nvCxnSpPr>
          <p:cNvPr id="15" name="Прямая со стрелкой 14"/>
          <p:cNvCxnSpPr/>
          <p:nvPr/>
        </p:nvCxnSpPr>
        <p:spPr>
          <a:xfrm>
            <a:off x="5913711" y="3429000"/>
            <a:ext cx="602505" cy="0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Блок-схема: альтернативный процесс 15"/>
          <p:cNvSpPr/>
          <p:nvPr/>
        </p:nvSpPr>
        <p:spPr>
          <a:xfrm>
            <a:off x="3658097" y="3289250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Документ объект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«Приказ о приеме»</a:t>
            </a:r>
          </a:p>
          <a:p>
            <a:pPr algn="ctr"/>
            <a:r>
              <a:rPr lang="ru-RU" dirty="0" smtClean="0">
                <a:solidFill>
                  <a:schemeClr val="tx1"/>
                </a:solidFill>
              </a:rPr>
              <a:t>(Новый)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170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1695956" y="716816"/>
            <a:ext cx="3447831" cy="9072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/>
              <a:t>Динамический список (Сотрудники)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3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4467556" y="5667754"/>
            <a:ext cx="3126933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приеме2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1549760" y="5667754"/>
            <a:ext cx="2736304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3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3127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1695956" y="716816"/>
            <a:ext cx="3447831" cy="9072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/>
              <a:t>Динамический список (Сотрудники)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3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4467556" y="5667754"/>
            <a:ext cx="3126933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приеме2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1549760" y="5667754"/>
            <a:ext cx="2736304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3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  <p:cxnSp>
        <p:nvCxnSpPr>
          <p:cNvPr id="15" name="Прямая со стрелкой 14"/>
          <p:cNvCxnSpPr/>
          <p:nvPr/>
        </p:nvCxnSpPr>
        <p:spPr>
          <a:xfrm>
            <a:off x="8532440" y="1717207"/>
            <a:ext cx="0" cy="1584176"/>
          </a:xfrm>
          <a:prstGeom prst="straightConnector1">
            <a:avLst/>
          </a:prstGeom>
          <a:ln w="38100">
            <a:solidFill>
              <a:schemeClr val="tx2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48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87018" y="3204953"/>
            <a:ext cx="8810374" cy="238277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00B0F0"/>
                </a:solidFill>
              </a:rPr>
              <a:t>Сервер</a:t>
            </a:r>
            <a:endParaRPr lang="ru-RU" b="1" dirty="0">
              <a:solidFill>
                <a:srgbClr val="00B0F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87018" y="587357"/>
            <a:ext cx="8812654" cy="2534859"/>
          </a:xfrm>
          <a:prstGeom prst="rect">
            <a:avLst/>
          </a:prstGeom>
          <a:solidFill>
            <a:srgbClr val="FF0000">
              <a:alpha val="8000"/>
            </a:srgbClr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 smtClean="0">
                <a:solidFill>
                  <a:srgbClr val="C00000"/>
                </a:solidFill>
              </a:rPr>
              <a:t>Клиент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24" name="Блок-схема: альтернативный процесс 23"/>
          <p:cNvSpPr/>
          <p:nvPr/>
        </p:nvSpPr>
        <p:spPr>
          <a:xfrm>
            <a:off x="6470649" y="709095"/>
            <a:ext cx="2304256" cy="1008112"/>
          </a:xfrm>
          <a:prstGeom prst="flowChartAlternate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клиенте)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6" name="Блок-схема: альтернативный процесс 25"/>
          <p:cNvSpPr/>
          <p:nvPr/>
        </p:nvSpPr>
        <p:spPr>
          <a:xfrm>
            <a:off x="6516216" y="3284984"/>
            <a:ext cx="2304256" cy="1008112"/>
          </a:xfrm>
          <a:prstGeom prst="flowChartAlternateProcess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Форма клиентского приложения</a:t>
            </a:r>
            <a:br>
              <a:rPr lang="ru-RU" dirty="0" smtClean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 (на сервере)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8" name="Выноска 3 27"/>
          <p:cNvSpPr/>
          <p:nvPr/>
        </p:nvSpPr>
        <p:spPr>
          <a:xfrm>
            <a:off x="6532021" y="1802263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accent6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Клиенте</a:t>
            </a:r>
          </a:p>
        </p:txBody>
      </p:sp>
      <p:sp>
        <p:nvSpPr>
          <p:cNvPr id="37" name="Выноска 3 36"/>
          <p:cNvSpPr/>
          <p:nvPr/>
        </p:nvSpPr>
        <p:spPr>
          <a:xfrm>
            <a:off x="6532021" y="4350084"/>
            <a:ext cx="1728192" cy="5040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47795"/>
              <a:gd name="adj6" fmla="val -17677"/>
              <a:gd name="adj7" fmla="val -72169"/>
              <a:gd name="adj8" fmla="val 13874"/>
            </a:avLst>
          </a:prstGeom>
          <a:solidFill>
            <a:schemeClr val="tx2">
              <a:lumMod val="20000"/>
              <a:lumOff val="80000"/>
            </a:schemeClr>
          </a:solidFill>
          <a:ln w="15875">
            <a:prstDash val="sysDot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Модуль формы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&amp;На </a:t>
            </a:r>
            <a:r>
              <a:rPr lang="ru-RU" dirty="0" smtClean="0">
                <a:solidFill>
                  <a:schemeClr val="tx1"/>
                </a:solidFill>
              </a:rPr>
              <a:t>Сервере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1695956" y="716816"/>
            <a:ext cx="3447831" cy="9072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b="1" dirty="0"/>
              <a:t>Динамический список (Сотрудники)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Сотрудник 3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4467556" y="5667754"/>
            <a:ext cx="3126933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Приказ о приеме2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1549760" y="5667754"/>
            <a:ext cx="2736304" cy="79208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1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2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Сотрудник 3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ru-RU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7907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офтБаланс_основные_объект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основные_объекты" id="{62BD0483-928A-448D-BBAD-621E3072F039}" vid="{487075A3-1F89-4279-8755-8EA96074D5C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СофтБаланс_основные_объекты</Template>
  <TotalTime>5156</TotalTime>
  <Words>3092</Words>
  <Application>Microsoft Office PowerPoint</Application>
  <PresentationFormat>Экран (4:3)</PresentationFormat>
  <Paragraphs>1298</Paragraphs>
  <Slides>79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79</vt:i4>
      </vt:variant>
    </vt:vector>
  </HeadingPairs>
  <TitlesOfParts>
    <vt:vector size="86" baseType="lpstr">
      <vt:lpstr>Arial</vt:lpstr>
      <vt:lpstr>Arial Black</vt:lpstr>
      <vt:lpstr>Calibri</vt:lpstr>
      <vt:lpstr>Tahoma</vt:lpstr>
      <vt:lpstr>Verdana</vt:lpstr>
      <vt:lpstr>Wingdings</vt:lpstr>
      <vt:lpstr>СофтБаланс_основные_объекты</vt:lpstr>
      <vt:lpstr>Занятие 4</vt:lpstr>
      <vt:lpstr>Разница дат</vt:lpstr>
      <vt:lpstr>Прикладные объекты</vt:lpstr>
      <vt:lpstr>Задача</vt:lpstr>
      <vt:lpstr>Презентация PowerPoint</vt:lpstr>
      <vt:lpstr>Объектная модель доступа к данным константы</vt:lpstr>
      <vt:lpstr>Менеджер значения константы</vt:lpstr>
      <vt:lpstr>Глобальный контекст</vt:lpstr>
      <vt:lpstr>Объектная модель работы с данными справочников и документов</vt:lpstr>
      <vt:lpstr>Задача</vt:lpstr>
      <vt:lpstr>Объектная модель доступа к данным</vt:lpstr>
      <vt:lpstr>Пример</vt:lpstr>
      <vt:lpstr>Глобальный контекст</vt:lpstr>
      <vt:lpstr>Чтение данных одного объекта данных</vt:lpstr>
      <vt:lpstr>Запись данных справочника</vt:lpstr>
      <vt:lpstr>Объектная модель доступа к данным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События записи документ объекта</vt:lpstr>
      <vt:lpstr>Последовательность событий записи документа</vt:lpstr>
      <vt:lpstr>События записи документа</vt:lpstr>
      <vt:lpstr>1) ПЕРЕД ЗАПИСЬЮ</vt:lpstr>
      <vt:lpstr>2) ПРИ ЗАПИСИ</vt:lpstr>
      <vt:lpstr>2) ПРИ ЗАПИСИ</vt:lpstr>
      <vt:lpstr>Последовательность событий проведение документа</vt:lpstr>
      <vt:lpstr>События записи документа</vt:lpstr>
      <vt:lpstr>1) ПЕРЕД ЗАПИСЬЮ</vt:lpstr>
      <vt:lpstr>2) ПРИ ЗАПИСИ</vt:lpstr>
      <vt:lpstr>3) Обработка проведения</vt:lpstr>
      <vt:lpstr>3) Обработка проведения</vt:lpstr>
      <vt:lpstr>Последовательность событий отмена проведения документа</vt:lpstr>
      <vt:lpstr>События записи документа</vt:lpstr>
      <vt:lpstr>1) ПЕРЕД ЗАПИСЬЮ</vt:lpstr>
      <vt:lpstr>3) Обработка удаления проведения</vt:lpstr>
      <vt:lpstr>2) ПРИ ЗАПИСИ</vt:lpstr>
      <vt:lpstr>2) ПРИ ЗАПИСИ</vt:lpstr>
      <vt:lpstr>Задача</vt:lpstr>
      <vt:lpstr>Предопределенные элементы базы данных</vt:lpstr>
      <vt:lpstr>Задача</vt:lpstr>
      <vt:lpstr>Чтение данных нескольких объектов данных</vt:lpstr>
      <vt:lpstr>Чтение данных нескольких объектов данных</vt:lpstr>
      <vt:lpstr>Чтение данных нескольких объектов данных</vt:lpstr>
      <vt:lpstr>Чтение данных нескольких объектов данных</vt:lpstr>
      <vt:lpstr>Чтение данных нескольких объектов данных</vt:lpstr>
      <vt:lpstr>Ввод на основании</vt:lpstr>
      <vt:lpstr>Открытие формы существующего объекта базы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Открытие формы нового (еще не записанного в базу данных) объекта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Открытие формы нового (еще не записанного в базу данных) объекта данных при использовании механизма «Вввод на основании»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занятие</dc:title>
  <dc:creator>Сергей</dc:creator>
  <cp:lastModifiedBy>eugeniy sizov</cp:lastModifiedBy>
  <cp:revision>121</cp:revision>
  <dcterms:created xsi:type="dcterms:W3CDTF">2010-10-21T16:41:17Z</dcterms:created>
  <dcterms:modified xsi:type="dcterms:W3CDTF">2020-09-24T19:03:18Z</dcterms:modified>
</cp:coreProperties>
</file>