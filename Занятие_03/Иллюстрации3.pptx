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sldIdLst>
    <p:sldId id="287" r:id="rId2"/>
    <p:sldId id="388" r:id="rId3"/>
    <p:sldId id="389" r:id="rId4"/>
    <p:sldId id="391" r:id="rId5"/>
    <p:sldId id="392" r:id="rId6"/>
    <p:sldId id="393" r:id="rId7"/>
    <p:sldId id="394" r:id="rId8"/>
    <p:sldId id="402" r:id="rId9"/>
    <p:sldId id="395" r:id="rId10"/>
    <p:sldId id="396" r:id="rId11"/>
    <p:sldId id="397" r:id="rId12"/>
    <p:sldId id="398" r:id="rId13"/>
    <p:sldId id="403" r:id="rId14"/>
    <p:sldId id="338" r:id="rId15"/>
    <p:sldId id="271" r:id="rId16"/>
    <p:sldId id="292" r:id="rId17"/>
    <p:sldId id="293" r:id="rId18"/>
    <p:sldId id="277" r:id="rId19"/>
    <p:sldId id="325" r:id="rId20"/>
    <p:sldId id="404" r:id="rId21"/>
    <p:sldId id="294" r:id="rId22"/>
    <p:sldId id="278" r:id="rId23"/>
    <p:sldId id="297" r:id="rId24"/>
    <p:sldId id="298" r:id="rId25"/>
    <p:sldId id="299" r:id="rId26"/>
    <p:sldId id="291" r:id="rId27"/>
    <p:sldId id="301" r:id="rId28"/>
    <p:sldId id="273" r:id="rId29"/>
    <p:sldId id="274" r:id="rId30"/>
    <p:sldId id="275" r:id="rId31"/>
    <p:sldId id="276" r:id="rId32"/>
    <p:sldId id="305" r:id="rId33"/>
    <p:sldId id="368" r:id="rId34"/>
    <p:sldId id="369" r:id="rId35"/>
    <p:sldId id="370" r:id="rId36"/>
    <p:sldId id="302" r:id="rId37"/>
    <p:sldId id="279" r:id="rId38"/>
    <p:sldId id="303" r:id="rId39"/>
    <p:sldId id="304" r:id="rId40"/>
    <p:sldId id="280" r:id="rId41"/>
    <p:sldId id="281" r:id="rId42"/>
    <p:sldId id="340" r:id="rId43"/>
    <p:sldId id="339" r:id="rId44"/>
    <p:sldId id="341" r:id="rId45"/>
    <p:sldId id="342" r:id="rId46"/>
    <p:sldId id="282" r:id="rId47"/>
    <p:sldId id="286" r:id="rId48"/>
    <p:sldId id="283" r:id="rId49"/>
    <p:sldId id="346" r:id="rId50"/>
    <p:sldId id="347" r:id="rId51"/>
    <p:sldId id="348" r:id="rId52"/>
    <p:sldId id="381" r:id="rId53"/>
    <p:sldId id="284" r:id="rId54"/>
    <p:sldId id="350" r:id="rId55"/>
    <p:sldId id="351" r:id="rId56"/>
    <p:sldId id="352" r:id="rId57"/>
    <p:sldId id="357" r:id="rId58"/>
    <p:sldId id="358" r:id="rId59"/>
    <p:sldId id="359" r:id="rId60"/>
    <p:sldId id="382" r:id="rId61"/>
    <p:sldId id="383" r:id="rId62"/>
    <p:sldId id="384" r:id="rId63"/>
    <p:sldId id="385" r:id="rId64"/>
    <p:sldId id="386" r:id="rId65"/>
    <p:sldId id="387" r:id="rId66"/>
    <p:sldId id="322" r:id="rId67"/>
    <p:sldId id="360" r:id="rId68"/>
    <p:sldId id="361" r:id="rId69"/>
    <p:sldId id="362" r:id="rId70"/>
    <p:sldId id="363" r:id="rId71"/>
    <p:sldId id="364" r:id="rId72"/>
    <p:sldId id="365" r:id="rId73"/>
    <p:sldId id="366" r:id="rId74"/>
    <p:sldId id="367" r:id="rId75"/>
    <p:sldId id="343" r:id="rId76"/>
    <p:sldId id="344" r:id="rId77"/>
    <p:sldId id="345" r:id="rId78"/>
    <p:sldId id="405" r:id="rId7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Средний стиль 2 -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Средний стиль 2 -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Средний стиль 2 -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Средний стиль 2 -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484" autoAdjust="0"/>
    <p:restoredTop sz="94660"/>
  </p:normalViewPr>
  <p:slideViewPr>
    <p:cSldViewPr>
      <p:cViewPr varScale="1">
        <p:scale>
          <a:sx n="78" d="100"/>
          <a:sy n="78" d="100"/>
        </p:scale>
        <p:origin x="114" y="75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CBB03645-8B2B-43D4-8CF1-788D1D3A41AC}"/>
    <pc:docChg chg="custSel modSld">
      <pc:chgData name="eugeniy sizov" userId="f166da1dfb7bc990" providerId="LiveId" clId="{CBB03645-8B2B-43D4-8CF1-788D1D3A41AC}" dt="2020-03-17T11:32:19.723" v="1" actId="27636"/>
      <pc:docMkLst>
        <pc:docMk/>
      </pc:docMkLst>
      <pc:sldChg chg="modSp mod">
        <pc:chgData name="eugeniy sizov" userId="f166da1dfb7bc990" providerId="LiveId" clId="{CBB03645-8B2B-43D4-8CF1-788D1D3A41AC}" dt="2020-03-17T11:32:19.723" v="1" actId="27636"/>
        <pc:sldMkLst>
          <pc:docMk/>
          <pc:sldMk cId="2057294236" sldId="286"/>
        </pc:sldMkLst>
        <pc:spChg chg="mod">
          <ac:chgData name="eugeniy sizov" userId="f166da1dfb7bc990" providerId="LiveId" clId="{CBB03645-8B2B-43D4-8CF1-788D1D3A41AC}" dt="2020-03-17T11:32:19.723" v="1" actId="27636"/>
          <ac:spMkLst>
            <pc:docMk/>
            <pc:sldMk cId="2057294236" sldId="286"/>
            <ac:spMk id="3" creationId="{00000000-0000-0000-0000-000000000000}"/>
          </ac:spMkLst>
        </pc:spChg>
      </pc:sldChg>
      <pc:sldChg chg="modSp">
        <pc:chgData name="eugeniy sizov" userId="f166da1dfb7bc990" providerId="LiveId" clId="{CBB03645-8B2B-43D4-8CF1-788D1D3A41AC}" dt="2020-03-17T11:32:19.452" v="0" actId="207"/>
        <pc:sldMkLst>
          <pc:docMk/>
          <pc:sldMk cId="2391645975" sldId="381"/>
        </pc:sldMkLst>
        <pc:spChg chg="mod">
          <ac:chgData name="eugeniy sizov" userId="f166da1dfb7bc990" providerId="LiveId" clId="{CBB03645-8B2B-43D4-8CF1-788D1D3A41AC}" dt="2020-03-17T11:32:19.452" v="0" actId="207"/>
          <ac:spMkLst>
            <pc:docMk/>
            <pc:sldMk cId="2391645975" sldId="381"/>
            <ac:spMk id="29699" creationId="{00000000-0000-0000-0000-000000000000}"/>
          </ac:spMkLst>
        </pc:spChg>
      </pc:sldChg>
    </pc:docChg>
  </pc:docChgLst>
  <pc:docChgLst>
    <pc:chgData name="eugeniy sizov" userId="f166da1dfb7bc990" providerId="LiveId" clId="{99ABC262-1883-4ED5-A24B-0399F56B7B47}"/>
    <pc:docChg chg="custSel addSld delSld modSld">
      <pc:chgData name="eugeniy sizov" userId="f166da1dfb7bc990" providerId="LiveId" clId="{99ABC262-1883-4ED5-A24B-0399F56B7B47}" dt="2018-11-13T10:08:58.072" v="2" actId="2696"/>
      <pc:docMkLst>
        <pc:docMk/>
      </pc:docMkLst>
      <pc:sldChg chg="modSp">
        <pc:chgData name="eugeniy sizov" userId="f166da1dfb7bc990" providerId="LiveId" clId="{99ABC262-1883-4ED5-A24B-0399F56B7B47}" dt="2018-11-13T10:08:53.750" v="1" actId="27636"/>
        <pc:sldMkLst>
          <pc:docMk/>
          <pc:sldMk cId="2057294236" sldId="286"/>
        </pc:sldMkLst>
        <pc:spChg chg="mod">
          <ac:chgData name="eugeniy sizov" userId="f166da1dfb7bc990" providerId="LiveId" clId="{99ABC262-1883-4ED5-A24B-0399F56B7B47}" dt="2018-11-13T10:08:53.750" v="1" actId="27636"/>
          <ac:spMkLst>
            <pc:docMk/>
            <pc:sldMk cId="2057294236" sldId="286"/>
            <ac:spMk id="3" creationId="{00000000-0000-0000-0000-000000000000}"/>
          </ac:spMkLst>
        </pc:spChg>
      </pc:sldChg>
      <pc:sldChg chg="add del">
        <pc:chgData name="eugeniy sizov" userId="f166da1dfb7bc990" providerId="LiveId" clId="{99ABC262-1883-4ED5-A24B-0399F56B7B47}" dt="2018-11-13T10:08:58.072" v="2" actId="2696"/>
        <pc:sldMkLst>
          <pc:docMk/>
          <pc:sldMk cId="843330757" sldId="37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1524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9552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780768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33497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5069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0007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8D14C-B0B6-412E-A4FA-EB464F80DBC4}" type="datetimeFigureOut">
              <a:rPr lang="ru-RU" smtClean="0"/>
              <a:pPr/>
              <a:t>08.09.2020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DD8D-9978-4DC2-B244-F3D79A870A6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9162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33ED7-CC3A-4DC7-BBB8-B1E15885FA80}" type="datetimeFigureOut">
              <a:rPr lang="ru-RU" smtClean="0"/>
              <a:t>08.09.2020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510C-9D3D-4530-A20C-39119351C7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997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/81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3202595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Занятие 3</a:t>
            </a:r>
          </a:p>
        </p:txBody>
      </p:sp>
      <p:sp>
        <p:nvSpPr>
          <p:cNvPr id="5" name="Объект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Темы:</a:t>
            </a:r>
          </a:p>
          <a:p>
            <a:pPr lvl="1"/>
            <a:r>
              <a:rPr lang="ru-RU" dirty="0">
                <a:solidFill>
                  <a:srgbClr val="FF0000"/>
                </a:solidFill>
              </a:rPr>
              <a:t>Встроенный программный язык</a:t>
            </a:r>
          </a:p>
        </p:txBody>
      </p:sp>
    </p:spTree>
    <p:extLst>
      <p:ext uri="{BB962C8B-B14F-4D97-AF65-F5344CB8AC3E}">
        <p14:creationId xmlns:p14="http://schemas.microsoft.com/office/powerpoint/2010/main" val="42598510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980728"/>
            <a:ext cx="2295238" cy="51904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55723" y="61139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Конфигуратор</a:t>
            </a:r>
            <a:endParaRPr lang="ru-RU" dirty="0"/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530780"/>
              </p:ext>
            </p:extLst>
          </p:nvPr>
        </p:nvGraphicFramePr>
        <p:xfrm>
          <a:off x="620890" y="1844824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900819"/>
              </p:ext>
            </p:extLst>
          </p:nvPr>
        </p:nvGraphicFramePr>
        <p:xfrm>
          <a:off x="623589" y="3327826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402148"/>
              </p:ext>
            </p:extLst>
          </p:nvPr>
        </p:nvGraphicFramePr>
        <p:xfrm>
          <a:off x="642955" y="513779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061179" y="4314904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…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20890" y="1475492"/>
            <a:ext cx="3415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справочника «Валюты»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619572" y="2958505"/>
            <a:ext cx="407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справочника «Контрагенты»</a:t>
            </a:r>
            <a:endParaRPr lang="ru-RU" dirty="0"/>
          </a:p>
        </p:txBody>
      </p:sp>
      <p:sp>
        <p:nvSpPr>
          <p:cNvPr id="13" name="TextBox 12"/>
          <p:cNvSpPr txBox="1"/>
          <p:nvPr/>
        </p:nvSpPr>
        <p:spPr>
          <a:xfrm>
            <a:off x="620889" y="4777020"/>
            <a:ext cx="3497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справочника «Склады»</a:t>
            </a:r>
            <a:endParaRPr lang="ru-RU" dirty="0"/>
          </a:p>
        </p:txBody>
      </p:sp>
      <p:sp>
        <p:nvSpPr>
          <p:cNvPr id="14" name="Стрелка влево 13"/>
          <p:cNvSpPr/>
          <p:nvPr/>
        </p:nvSpPr>
        <p:spPr>
          <a:xfrm>
            <a:off x="4337955" y="3000470"/>
            <a:ext cx="2117995" cy="1854112"/>
          </a:xfrm>
          <a:prstGeom prst="leftArrow">
            <a:avLst/>
          </a:prstGeom>
          <a:solidFill>
            <a:schemeClr val="accent2">
              <a:alpha val="2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Обновить конфигурацию БД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03648" y="965185"/>
            <a:ext cx="1626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База данных</a:t>
            </a:r>
            <a:endParaRPr lang="ru-RU" dirty="0"/>
          </a:p>
        </p:txBody>
      </p:sp>
      <p:sp>
        <p:nvSpPr>
          <p:cNvPr id="16" name="Цилиндр 15"/>
          <p:cNvSpPr/>
          <p:nvPr/>
        </p:nvSpPr>
        <p:spPr>
          <a:xfrm>
            <a:off x="271767" y="731650"/>
            <a:ext cx="4068360" cy="568863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Выноска 1 16"/>
          <p:cNvSpPr/>
          <p:nvPr/>
        </p:nvSpPr>
        <p:spPr>
          <a:xfrm>
            <a:off x="4572001" y="1334517"/>
            <a:ext cx="1453284" cy="726331"/>
          </a:xfrm>
          <a:prstGeom prst="borderCallout1">
            <a:avLst>
              <a:gd name="adj1" fmla="val 39940"/>
              <a:gd name="adj2" fmla="val 102718"/>
              <a:gd name="adj3" fmla="val 94391"/>
              <a:gd name="adj4" fmla="val 129767"/>
            </a:avLst>
          </a:prstGeom>
          <a:solidFill>
            <a:schemeClr val="accent3">
              <a:alpha val="12000"/>
            </a:schemeClr>
          </a:solidFill>
          <a:ln>
            <a:solidFill>
              <a:schemeClr val="accent3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Объекты метаданных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Выноска 1 17"/>
          <p:cNvSpPr/>
          <p:nvPr/>
        </p:nvSpPr>
        <p:spPr>
          <a:xfrm>
            <a:off x="4670310" y="5247067"/>
            <a:ext cx="1453284" cy="726331"/>
          </a:xfrm>
          <a:prstGeom prst="borderCallout1">
            <a:avLst>
              <a:gd name="adj1" fmla="val 33708"/>
              <a:gd name="adj2" fmla="val -5678"/>
              <a:gd name="adj3" fmla="val 50765"/>
              <a:gd name="adj4" fmla="val -90140"/>
            </a:avLst>
          </a:prstGeom>
          <a:ln>
            <a:tailEnd type="triangle" w="med" len="lg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Объекты базы данных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18705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675595"/>
              </p:ext>
            </p:extLst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219856"/>
              </p:ext>
            </p:extLst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935337"/>
              </p:ext>
            </p:extLst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498" y="561021"/>
            <a:ext cx="5857389" cy="3444044"/>
          </a:xfrm>
          <a:prstGeom prst="rect">
            <a:avLst/>
          </a:prstGeom>
        </p:spPr>
      </p:pic>
      <p:sp>
        <p:nvSpPr>
          <p:cNvPr id="2" name="Стрелка углом 1"/>
          <p:cNvSpPr/>
          <p:nvPr/>
        </p:nvSpPr>
        <p:spPr>
          <a:xfrm>
            <a:off x="755576" y="1760915"/>
            <a:ext cx="2493485" cy="1656184"/>
          </a:xfrm>
          <a:prstGeom prst="bentArrow">
            <a:avLst/>
          </a:prstGeom>
          <a:noFill/>
          <a:ln w="508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r>
              <a:rPr lang="ru-RU" dirty="0" smtClean="0">
                <a:solidFill>
                  <a:srgbClr val="C00000"/>
                </a:solidFill>
              </a:rPr>
              <a:t>1С: Предприятие 8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9678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/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/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498" y="561020"/>
            <a:ext cx="5857389" cy="3444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24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/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/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3131840" y="587357"/>
            <a:ext cx="5858046" cy="330627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3131840" y="587357"/>
            <a:ext cx="5867832" cy="39337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 smtClean="0">
                <a:solidFill>
                  <a:srgbClr val="C00000"/>
                </a:solidFill>
              </a:rPr>
              <a:t>1С: Предприятие 8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4" name="Блок-схема: альтернативный процесс 3"/>
          <p:cNvSpPr/>
          <p:nvPr/>
        </p:nvSpPr>
        <p:spPr>
          <a:xfrm>
            <a:off x="3915212" y="1200480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444866" y="247242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3899846" y="244934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5044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/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/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3131840" y="587357"/>
            <a:ext cx="5858046" cy="330627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3131840" y="587357"/>
            <a:ext cx="5867832" cy="39337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 smtClean="0">
                <a:solidFill>
                  <a:srgbClr val="C00000"/>
                </a:solidFill>
              </a:rPr>
              <a:t>1С: Предприятие 8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4" name="Блок-схема: альтернативный процесс 3"/>
          <p:cNvSpPr/>
          <p:nvPr/>
        </p:nvSpPr>
        <p:spPr>
          <a:xfrm>
            <a:off x="3915212" y="1200480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Другие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444866" y="247242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3899846" y="244934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Интерфейсные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5093064" y="3549213"/>
            <a:ext cx="2052320" cy="1751995"/>
          </a:xfrm>
          <a:prstGeom prst="straightConnector1">
            <a:avLst/>
          </a:prstGeom>
          <a:ln w="38100">
            <a:solidFill>
              <a:srgbClr val="00B050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777" y="2300218"/>
            <a:ext cx="1657143" cy="1761905"/>
          </a:xfrm>
          <a:prstGeom prst="rect">
            <a:avLst/>
          </a:prstGeom>
        </p:spPr>
      </p:pic>
      <p:cxnSp>
        <p:nvCxnSpPr>
          <p:cNvPr id="15" name="Прямая со стрелкой 14"/>
          <p:cNvCxnSpPr/>
          <p:nvPr/>
        </p:nvCxnSpPr>
        <p:spPr>
          <a:xfrm flipH="1" flipV="1">
            <a:off x="2531920" y="3051969"/>
            <a:ext cx="1116043" cy="6412"/>
          </a:xfrm>
          <a:prstGeom prst="straightConnector1">
            <a:avLst/>
          </a:prstGeom>
          <a:ln w="38100">
            <a:solidFill>
              <a:srgbClr val="00B050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41" y="587357"/>
            <a:ext cx="1455831" cy="46643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768" y="1046976"/>
            <a:ext cx="1838095" cy="371429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146" y="1445390"/>
            <a:ext cx="910260" cy="839879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4318" y="1445390"/>
            <a:ext cx="962481" cy="532103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05518" y="589356"/>
            <a:ext cx="916498" cy="928099"/>
          </a:xfrm>
          <a:prstGeom prst="rect">
            <a:avLst/>
          </a:prstGeom>
        </p:spPr>
      </p:pic>
      <p:cxnSp>
        <p:nvCxnSpPr>
          <p:cNvPr id="22" name="Прямая со стрелкой 21"/>
          <p:cNvCxnSpPr/>
          <p:nvPr/>
        </p:nvCxnSpPr>
        <p:spPr>
          <a:xfrm flipH="1" flipV="1">
            <a:off x="2470902" y="1753661"/>
            <a:ext cx="1116043" cy="6412"/>
          </a:xfrm>
          <a:prstGeom prst="straightConnector1">
            <a:avLst/>
          </a:prstGeom>
          <a:ln w="38100">
            <a:solidFill>
              <a:srgbClr val="00B050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H="1" flipV="1">
            <a:off x="6261367" y="1766624"/>
            <a:ext cx="1046937" cy="637123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 flipV="1">
            <a:off x="5911962" y="1766626"/>
            <a:ext cx="16844" cy="1014302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 flipH="1" flipV="1">
            <a:off x="5781933" y="2976480"/>
            <a:ext cx="1116043" cy="6412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63525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3489877" y="692696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Д</a:t>
            </a:r>
            <a:r>
              <a:rPr lang="ru-RU" dirty="0" smtClean="0">
                <a:solidFill>
                  <a:schemeClr val="tx1"/>
                </a:solidFill>
              </a:rPr>
              <a:t>ругие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8" name="Блок-схема: альтернативный процесс 47"/>
          <p:cNvSpPr/>
          <p:nvPr/>
        </p:nvSpPr>
        <p:spPr>
          <a:xfrm>
            <a:off x="3635896" y="4353207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Другие программные объекты</a:t>
            </a: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H="1">
            <a:off x="1858019" y="4293096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 стрелкой 51"/>
          <p:cNvCxnSpPr/>
          <p:nvPr/>
        </p:nvCxnSpPr>
        <p:spPr>
          <a:xfrm>
            <a:off x="3512945" y="3429000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1652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 стрелкой 51"/>
          <p:cNvCxnSpPr/>
          <p:nvPr/>
        </p:nvCxnSpPr>
        <p:spPr>
          <a:xfrm>
            <a:off x="3512945" y="3429000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/>
          <p:cNvCxnSpPr/>
          <p:nvPr/>
        </p:nvCxnSpPr>
        <p:spPr>
          <a:xfrm flipH="1">
            <a:off x="1858019" y="426734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2735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>
            <a:off x="3512945" y="3429000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858019" y="426734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9937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5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37" grpId="0" animBg="1"/>
      <p:bldP spid="37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>
            <a:off x="3512945" y="3301383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Выноска 3 21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1" name="Прямая со стрелкой 20"/>
          <p:cNvCxnSpPr/>
          <p:nvPr/>
        </p:nvCxnSpPr>
        <p:spPr>
          <a:xfrm flipH="1">
            <a:off x="1858019" y="426734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Выноска 3 22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2864"/>
              <a:gd name="adj4" fmla="val -29634"/>
              <a:gd name="adj5" fmla="val -62676"/>
              <a:gd name="adj6" fmla="val -27355"/>
              <a:gd name="adj7" fmla="val -76293"/>
              <a:gd name="adj8" fmla="val -17219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Выноска 3 24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80715"/>
              <a:gd name="adj8" fmla="val -475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0458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5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10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5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10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5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1000" tmFilter="0, 0; .2, .5; .8, .5; 1, 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500" autoRev="1" fill="hold"/>
                                        <p:tgtEl>
                                          <p:spTgt spid="4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47" grpId="1" animBg="1"/>
      <p:bldP spid="22" grpId="0" animBg="1"/>
      <p:bldP spid="22" grpId="1" animBg="1"/>
      <p:bldP spid="23" grpId="0" animBg="1"/>
      <p:bldP spid="23" grpId="1" animBg="1"/>
      <p:bldP spid="25" grpId="0" animBg="1"/>
      <p:bldP spid="25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Выноска 3 39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Выноска 3 40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40320"/>
              <a:gd name="adj4" fmla="val -25459"/>
              <a:gd name="adj5" fmla="val -62676"/>
              <a:gd name="adj6" fmla="val -23876"/>
              <a:gd name="adj7" fmla="val -78778"/>
              <a:gd name="adj8" fmla="val -1304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2" name="Выноска 3 41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85686"/>
              <a:gd name="adj8" fmla="val -48971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3895934" y="238761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3832507" y="247414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Прямоугольник 43"/>
          <p:cNvSpPr/>
          <p:nvPr/>
        </p:nvSpPr>
        <p:spPr>
          <a:xfrm>
            <a:off x="3769645" y="2575702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5" name="Прямоугольник 44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12038238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1000" tmFilter="0, 0; .2, .5; .8, .5; 1, 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500" autoRev="1" fill="hold"/>
                                        <p:tgtEl>
                                          <p:spTgt spid="4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1000" tmFilter="0, 0; .2, .5; .8, .5; 1, 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5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0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5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5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5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5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  <p:bldP spid="18" grpId="0" animBg="1"/>
      <p:bldP spid="18" grpId="1" animBg="1"/>
      <p:bldP spid="44" grpId="0" animBg="1"/>
      <p:bldP spid="44" grpId="1" animBg="1"/>
      <p:bldP spid="22" grpId="0" animBg="1"/>
      <p:bldP spid="22" grpId="1" animBg="1"/>
      <p:bldP spid="23" grpId="0" animBg="1"/>
      <p:bldP spid="23" grpId="1" animBg="1"/>
      <p:bldP spid="45" grpId="0" animBg="1"/>
      <p:bldP spid="45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393850"/>
              <a:gd name="adj8" fmla="val 3085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" name="Выноска 3 19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40320"/>
              <a:gd name="adj4" fmla="val -29634"/>
              <a:gd name="adj5" fmla="val -70132"/>
              <a:gd name="adj6" fmla="val -26659"/>
              <a:gd name="adj7" fmla="val -78778"/>
              <a:gd name="adj8" fmla="val -1374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Выноска 3 20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70774"/>
              <a:gd name="adj8" fmla="val -4827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3895934" y="238761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3832507" y="247414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769645" y="2575702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7" name="Прямоугольник 26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4716439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 tmFilter="0, 0; .2, .5; .8, .5; 1, 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0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39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Выноска 3 37"/>
          <p:cNvSpPr/>
          <p:nvPr/>
        </p:nvSpPr>
        <p:spPr>
          <a:xfrm>
            <a:off x="539552" y="5113023"/>
            <a:ext cx="2880320" cy="432000"/>
          </a:xfrm>
          <a:prstGeom prst="borderCallout3">
            <a:avLst>
              <a:gd name="adj1" fmla="val 18750"/>
              <a:gd name="adj2" fmla="val -2675"/>
              <a:gd name="adj3" fmla="val 10367"/>
              <a:gd name="adj4" fmla="val -8809"/>
              <a:gd name="adj5" fmla="val -62465"/>
              <a:gd name="adj6" fmla="val -11076"/>
              <a:gd name="adj7" fmla="val -370797"/>
              <a:gd name="adj8" fmla="val 340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сеанса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393850"/>
              <a:gd name="adj8" fmla="val 3085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" name="Выноска 3 19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7835"/>
              <a:gd name="adj4" fmla="val -28242"/>
              <a:gd name="adj5" fmla="val -65161"/>
              <a:gd name="adj6" fmla="val -26659"/>
              <a:gd name="adj7" fmla="val -83749"/>
              <a:gd name="adj8" fmla="val -15132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Выноска 3 20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65803"/>
              <a:gd name="adj8" fmla="val -46188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3895934" y="238761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832507" y="247414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3769645" y="2575702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9" name="Прямоугольник 28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15131143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 tmFilter="0, 0; .2, .5; .8, .5; 1, 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0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8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484784"/>
            <a:ext cx="8784000" cy="4752527"/>
          </a:xfrm>
        </p:spPr>
        <p:txBody>
          <a:bodyPr>
            <a:normAutofit/>
          </a:bodyPr>
          <a:lstStyle/>
          <a:p>
            <a:r>
              <a:rPr lang="ru-RU" dirty="0"/>
              <a:t>Язык </a:t>
            </a:r>
            <a:r>
              <a:rPr lang="ru-RU" dirty="0" err="1"/>
              <a:t>РеГиСтРоНеЗаВиСиМыЙ</a:t>
            </a:r>
            <a:r>
              <a:rPr lang="ru-RU" dirty="0"/>
              <a:t>, двуязычный (русский и английский языки)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936104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Особенность встроенного программного языка</a:t>
            </a:r>
          </a:p>
        </p:txBody>
      </p:sp>
    </p:spTree>
    <p:extLst>
      <p:ext uri="{BB962C8B-B14F-4D97-AF65-F5344CB8AC3E}">
        <p14:creationId xmlns:p14="http://schemas.microsoft.com/office/powerpoint/2010/main" val="11403364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Операторы</a:t>
            </a:r>
            <a:r>
              <a:rPr lang="ru-RU" dirty="0">
                <a:solidFill>
                  <a:srgbClr val="FF0000"/>
                </a:solidFill>
              </a:rPr>
              <a:t>;</a:t>
            </a:r>
          </a:p>
          <a:p>
            <a:r>
              <a:rPr lang="ru-RU" dirty="0">
                <a:solidFill>
                  <a:srgbClr val="00B050"/>
                </a:solidFill>
              </a:rPr>
              <a:t>//Комментарии</a:t>
            </a:r>
          </a:p>
          <a:p>
            <a:pPr marL="857250" lvl="2" indent="0">
              <a:buNone/>
            </a:pPr>
            <a:endParaRPr lang="ru-RU" sz="2000" dirty="0">
              <a:solidFill>
                <a:srgbClr val="00B050"/>
              </a:solidFill>
            </a:endParaRP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//Комментарии начинаются с знака «//» 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//и заканчивается концом строки.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//В режиме исполнения программы комментарии </a:t>
            </a:r>
            <a:r>
              <a:rPr lang="en-US" sz="2000" dirty="0">
                <a:solidFill>
                  <a:srgbClr val="00B050"/>
                </a:solidFill>
              </a:rPr>
              <a:t>//</a:t>
            </a:r>
            <a:r>
              <a:rPr lang="ru-RU" sz="2000" dirty="0">
                <a:solidFill>
                  <a:srgbClr val="00B050"/>
                </a:solidFill>
              </a:rPr>
              <a:t>пропускаются.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//Комментарий может начинаться с начала строки или </a:t>
            </a:r>
            <a:r>
              <a:rPr lang="en-US" sz="2000" dirty="0">
                <a:solidFill>
                  <a:srgbClr val="00B050"/>
                </a:solidFill>
              </a:rPr>
              <a:t>//</a:t>
            </a:r>
            <a:r>
              <a:rPr lang="ru-RU" sz="2000" dirty="0">
                <a:solidFill>
                  <a:srgbClr val="00B050"/>
                </a:solidFill>
              </a:rPr>
              <a:t>после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//оператора той же строки.</a:t>
            </a:r>
          </a:p>
        </p:txBody>
      </p:sp>
      <p:sp>
        <p:nvSpPr>
          <p:cNvPr id="7680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Что располагается в модуле</a:t>
            </a:r>
          </a:p>
        </p:txBody>
      </p:sp>
    </p:spTree>
    <p:extLst>
      <p:ext uri="{BB962C8B-B14F-4D97-AF65-F5344CB8AC3E}">
        <p14:creationId xmlns:p14="http://schemas.microsoft.com/office/powerpoint/2010/main" val="4451710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68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7680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«Атом» управления поведением системы</a:t>
            </a:r>
          </a:p>
          <a:p>
            <a:r>
              <a:rPr lang="ru-RU" dirty="0"/>
              <a:t>Операторы делятся на:</a:t>
            </a:r>
          </a:p>
          <a:p>
            <a:pPr lvl="1"/>
            <a:r>
              <a:rPr lang="ru-RU" dirty="0"/>
              <a:t>Операторы явного объявления переменных</a:t>
            </a:r>
          </a:p>
          <a:p>
            <a:pPr lvl="2"/>
            <a:r>
              <a:rPr lang="ru-RU" sz="26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 </a:t>
            </a: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ИмяПеременной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1"/>
            <a:r>
              <a:rPr lang="ru-RU" dirty="0"/>
              <a:t>Исполняемые операторы</a:t>
            </a:r>
          </a:p>
          <a:p>
            <a:pPr lvl="2"/>
            <a:r>
              <a:rPr lang="ru-RU" dirty="0"/>
              <a:t>Операторы присвоения </a:t>
            </a:r>
          </a:p>
          <a:p>
            <a:pPr lvl="3"/>
            <a:r>
              <a:rPr lang="ru-RU" sz="2600" b="1" dirty="0" err="1">
                <a:solidFill>
                  <a:srgbClr val="0070C0"/>
                </a:solidFill>
                <a:latin typeface="Courier New" pitchFamily="49" charset="0"/>
              </a:rPr>
              <a:t>ИмяПеременной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2"/>
            <a:r>
              <a:rPr lang="ru-RU" dirty="0"/>
              <a:t>Оператор вызова на исполнения процедуры или функции (метода объекта)</a:t>
            </a:r>
          </a:p>
          <a:p>
            <a:pPr lvl="3"/>
            <a:r>
              <a:rPr lang="ru-RU" sz="2600" b="1" dirty="0" err="1">
                <a:solidFill>
                  <a:srgbClr val="0070C0"/>
                </a:solidFill>
                <a:latin typeface="Courier New" pitchFamily="49" charset="0"/>
              </a:rPr>
              <a:t>ИмяПроцедуры</a:t>
            </a:r>
            <a:r>
              <a:rPr lang="ru-RU" sz="2600" b="1" dirty="0">
                <a:solidFill>
                  <a:srgbClr val="FF0000"/>
                </a:solidFill>
                <a:latin typeface="Courier New" pitchFamily="49" charset="0"/>
              </a:rPr>
              <a:t>()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1"/>
            <a:r>
              <a:rPr lang="ru-RU" dirty="0"/>
              <a:t>Синтаксические конструкции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Операторы</a:t>
            </a:r>
          </a:p>
        </p:txBody>
      </p:sp>
    </p:spTree>
    <p:extLst>
      <p:ext uri="{BB962C8B-B14F-4D97-AF65-F5344CB8AC3E}">
        <p14:creationId xmlns:p14="http://schemas.microsoft.com/office/powerpoint/2010/main" val="40135401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Любой оператор заканчивается знаком «</a:t>
            </a:r>
            <a:r>
              <a:rPr lang="ru-RU" dirty="0">
                <a:solidFill>
                  <a:srgbClr val="FF0000"/>
                </a:solidFill>
              </a:rPr>
              <a:t>;</a:t>
            </a:r>
            <a:r>
              <a:rPr lang="ru-RU" dirty="0"/>
              <a:t>»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r>
              <a:rPr lang="ru-RU" dirty="0"/>
              <a:t>Один оператор может располагаться на нескольких строках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endParaRPr lang="ru-RU" sz="2600" dirty="0">
              <a:solidFill>
                <a:srgbClr val="0070C0"/>
              </a:solidFill>
              <a:latin typeface="Courier New" pitchFamily="49" charset="0"/>
            </a:endParaRPr>
          </a:p>
          <a:p>
            <a:pPr marL="457200" lvl="1" indent="0">
              <a:buNone/>
            </a:pP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</a:p>
          <a:p>
            <a:pPr marL="457200" lvl="1" indent="0">
              <a:buNone/>
            </a:pPr>
            <a:r>
              <a:rPr lang="ru-RU" sz="2600" dirty="0">
                <a:latin typeface="Courier New" pitchFamily="49" charset="0"/>
              </a:rPr>
              <a:t>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r>
              <a:rPr lang="ru-RU" dirty="0"/>
              <a:t>Несколько операторов может быть в одной строке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ВашаПеременная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2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Операторы - синтаксис</a:t>
            </a:r>
          </a:p>
        </p:txBody>
      </p:sp>
    </p:spTree>
    <p:extLst>
      <p:ext uri="{BB962C8B-B14F-4D97-AF65-F5344CB8AC3E}">
        <p14:creationId xmlns:p14="http://schemas.microsoft.com/office/powerpoint/2010/main" val="16342411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057400"/>
            <a:ext cx="8610600" cy="388620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Явное объявление: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МаксимальныйКредит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глТекущийПользователь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ru-RU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Неявное объявление: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Кредит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1000000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//Если в операторе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//присвоения встречается необъявленная явно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//переменная, то это неявное объявление переменной</a:t>
            </a:r>
          </a:p>
        </p:txBody>
      </p: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548680"/>
            <a:ext cx="8229600" cy="8229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Объявление переменных</a:t>
            </a:r>
          </a:p>
        </p:txBody>
      </p:sp>
    </p:spTree>
    <p:extLst>
      <p:ext uri="{BB962C8B-B14F-4D97-AF65-F5344CB8AC3E}">
        <p14:creationId xmlns:p14="http://schemas.microsoft.com/office/powerpoint/2010/main" val="6289173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5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Hello</a:t>
            </a:r>
            <a:r>
              <a:rPr lang="en-US">
                <a:solidFill>
                  <a:srgbClr val="C00000"/>
                </a:solidFill>
              </a:rPr>
              <a:t>, World !</a:t>
            </a:r>
            <a:endParaRPr lang="ru-RU" dirty="0">
              <a:solidFill>
                <a:srgbClr val="C00000"/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428" y="1662333"/>
            <a:ext cx="7057143" cy="35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1721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38" name="Выноска 3 37"/>
          <p:cNvSpPr/>
          <p:nvPr/>
        </p:nvSpPr>
        <p:spPr>
          <a:xfrm>
            <a:off x="539552" y="5113023"/>
            <a:ext cx="2880320" cy="432000"/>
          </a:xfrm>
          <a:prstGeom prst="borderCallout3">
            <a:avLst>
              <a:gd name="adj1" fmla="val 18750"/>
              <a:gd name="adj2" fmla="val -2675"/>
              <a:gd name="adj3" fmla="val 10367"/>
              <a:gd name="adj4" fmla="val -8809"/>
              <a:gd name="adj5" fmla="val -62465"/>
              <a:gd name="adj6" fmla="val -11076"/>
              <a:gd name="adj7" fmla="val -370797"/>
              <a:gd name="adj8" fmla="val 340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сеанса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393850"/>
              <a:gd name="adj8" fmla="val 3085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665005"/>
            <a:ext cx="4679080" cy="23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7423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несколько операторов должны выполняться в определенной последовательности</a:t>
            </a:r>
            <a:r>
              <a:rPr lang="en-US" dirty="0"/>
              <a:t> </a:t>
            </a:r>
            <a:r>
              <a:rPr lang="ru-RU" dirty="0"/>
              <a:t>несколько раз, то их удобно объединять в Процедуру или Функцию</a:t>
            </a:r>
          </a:p>
          <a:p>
            <a:r>
              <a:rPr lang="ru-RU" dirty="0"/>
              <a:t>Впоследствии, можно будет указывать не каждый оператор в отдельности, а вызвать на исполнение эту Процедуру или Функцию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Процедуры и функции</a:t>
            </a:r>
          </a:p>
        </p:txBody>
      </p:sp>
    </p:spTree>
    <p:extLst>
      <p:ext uri="{BB962C8B-B14F-4D97-AF65-F5344CB8AC3E}">
        <p14:creationId xmlns:p14="http://schemas.microsoft.com/office/powerpoint/2010/main" val="2349033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228600" y="1844824"/>
            <a:ext cx="8915400" cy="44196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П1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20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П3 = П3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77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А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Б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40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</p:txBody>
      </p:sp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210448" y="548680"/>
            <a:ext cx="8682032" cy="792088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Описание процедур и функций</a:t>
            </a:r>
          </a:p>
        </p:txBody>
      </p:sp>
    </p:spTree>
    <p:extLst>
      <p:ext uri="{BB962C8B-B14F-4D97-AF65-F5344CB8AC3E}">
        <p14:creationId xmlns:p14="http://schemas.microsoft.com/office/powerpoint/2010/main" val="14433193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07504" y="1052736"/>
            <a:ext cx="8928992" cy="5184576"/>
          </a:xfrm>
          <a:prstGeom prst="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4056" y="1724912"/>
            <a:ext cx="8735888" cy="648072"/>
          </a:xfrm>
          <a:prstGeom prst="roundRect">
            <a:avLst/>
          </a:prstGeom>
          <a:solidFill>
            <a:srgbClr val="0070C0">
              <a:alpha val="11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1) Раздел явного объявления переменных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204056" y="4729708"/>
            <a:ext cx="8735888" cy="1440160"/>
          </a:xfrm>
          <a:prstGeom prst="roundRect">
            <a:avLst/>
          </a:prstGeom>
          <a:solidFill>
            <a:srgbClr val="00B050">
              <a:alpha val="8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3) Раздел основной программы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04056" y="2505844"/>
            <a:ext cx="8735888" cy="2079848"/>
          </a:xfrm>
          <a:prstGeom prst="roundRect">
            <a:avLst/>
          </a:prstGeom>
          <a:solidFill>
            <a:srgbClr val="7030A0">
              <a:alpha val="9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2) Раздел описания процедур и функций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</p:spTree>
    <p:extLst>
      <p:ext uri="{BB962C8B-B14F-4D97-AF65-F5344CB8AC3E}">
        <p14:creationId xmlns:p14="http://schemas.microsoft.com/office/powerpoint/2010/main" val="14589191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6" grpId="0" animBg="1"/>
      <p:bldP spid="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28600" y="1844824"/>
            <a:ext cx="8915400" cy="44196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defRPr sz="28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2"/>
              </a:buBlip>
              <a:defRPr sz="2800" b="1" kern="1200">
                <a:solidFill>
                  <a:srgbClr val="FF000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0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  <a:defRPr b="1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П1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20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П3 = П3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77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А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Б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40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2019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07504" y="1120774"/>
            <a:ext cx="8928992" cy="5116537"/>
          </a:xfrm>
          <a:prstGeom prst="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228600" y="2060848"/>
            <a:ext cx="8915400" cy="44196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А, Б;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(П1,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П2, П3=20)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П1 = П1 + П3;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П2 = П2 + П3;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</a:t>
            </a:r>
            <a:r>
              <a:rPr lang="ru-RU" sz="1800" dirty="0"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П3 = П3 + 77;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А = 5;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Б = 5;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(А, Б, 40);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Font typeface="Arial" pitchFamily="34" charset="0"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(А, Б);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Font typeface="Arial" pitchFamily="34" charset="0"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204056" y="4729708"/>
            <a:ext cx="8735888" cy="1440160"/>
          </a:xfrm>
          <a:prstGeom prst="roundRect">
            <a:avLst/>
          </a:prstGeom>
          <a:solidFill>
            <a:srgbClr val="00B050">
              <a:alpha val="8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3) Раздел основной программы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04056" y="2505844"/>
            <a:ext cx="8735888" cy="2079848"/>
          </a:xfrm>
          <a:prstGeom prst="roundRect">
            <a:avLst/>
          </a:prstGeom>
          <a:solidFill>
            <a:srgbClr val="7030A0">
              <a:alpha val="9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2) Раздел описания процедур и функций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4056" y="1724912"/>
            <a:ext cx="8735888" cy="648072"/>
          </a:xfrm>
          <a:prstGeom prst="roundRect">
            <a:avLst/>
          </a:prstGeom>
          <a:solidFill>
            <a:srgbClr val="0070C0">
              <a:alpha val="11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1) Раздел явного объявления переменных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</p:spTree>
    <p:extLst>
      <p:ext uri="{BB962C8B-B14F-4D97-AF65-F5344CB8AC3E}">
        <p14:creationId xmlns:p14="http://schemas.microsoft.com/office/powerpoint/2010/main" val="15895636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Некоторые процедуры можно «связать» с событиями программных объектов</a:t>
            </a:r>
          </a:p>
          <a:p>
            <a:r>
              <a:rPr lang="ru-RU" dirty="0"/>
              <a:t>Такие процедуры будут отрабатывать в момент наступления соответствующего события</a:t>
            </a:r>
          </a:p>
          <a:p>
            <a:r>
              <a:rPr lang="ru-RU" dirty="0"/>
              <a:t>Эти процедуры называются </a:t>
            </a:r>
            <a:r>
              <a:rPr lang="ru-RU" dirty="0">
                <a:solidFill>
                  <a:srgbClr val="0070C0"/>
                </a:solidFill>
              </a:rPr>
              <a:t>ОБРАБОТЧИКИ СОБЫТИЙ</a:t>
            </a:r>
          </a:p>
          <a:p>
            <a:r>
              <a:rPr lang="ru-RU" dirty="0"/>
              <a:t>Обработчик события должен располагается в модуле того объекта, где происходит событие</a:t>
            </a:r>
          </a:p>
          <a:p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Не все процедуры одинаковы</a:t>
            </a:r>
          </a:p>
        </p:txBody>
      </p:sp>
    </p:spTree>
    <p:extLst>
      <p:ext uri="{BB962C8B-B14F-4D97-AF65-F5344CB8AC3E}">
        <p14:creationId xmlns:p14="http://schemas.microsoft.com/office/powerpoint/2010/main" val="24354514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Булево</a:t>
            </a:r>
          </a:p>
          <a:p>
            <a:r>
              <a:rPr lang="ru-RU" dirty="0"/>
              <a:t>Число</a:t>
            </a:r>
          </a:p>
          <a:p>
            <a:r>
              <a:rPr lang="ru-RU" dirty="0"/>
              <a:t>Строка</a:t>
            </a:r>
          </a:p>
          <a:p>
            <a:r>
              <a:rPr lang="ru-RU" dirty="0"/>
              <a:t>Дата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Программная работа с данными примитивного типа</a:t>
            </a:r>
          </a:p>
        </p:txBody>
      </p:sp>
    </p:spTree>
    <p:extLst>
      <p:ext uri="{BB962C8B-B14F-4D97-AF65-F5344CB8AC3E}">
        <p14:creationId xmlns:p14="http://schemas.microsoft.com/office/powerpoint/2010/main" val="8647140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181721" y="1628800"/>
            <a:ext cx="8839200" cy="4525962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ru-RU" sz="22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Использование в логических выражениях: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КолТиповЦен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&gt;</a:t>
            </a:r>
            <a:r>
              <a:rPr lang="ru-RU" sz="1400" dirty="0">
                <a:latin typeface="Courier New" pitchFamily="49" charset="0"/>
              </a:rPr>
              <a:t> 0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И</a:t>
            </a:r>
            <a:r>
              <a:rPr lang="ru-RU" sz="1400" dirty="0">
                <a:latin typeface="Courier New" pitchFamily="49" charset="0"/>
              </a:rPr>
              <a:t> (</a:t>
            </a:r>
            <a:r>
              <a:rPr lang="ru-RU" sz="1400" dirty="0" err="1">
                <a:latin typeface="Courier New" pitchFamily="49" charset="0"/>
              </a:rPr>
              <a:t>ВариантВывода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3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ИЛИ НЕ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ФормироватьЦены</a:t>
            </a:r>
            <a:r>
              <a:rPr lang="ru-RU" sz="1400" dirty="0"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1800" dirty="0">
                <a:latin typeface="Courier New" pitchFamily="49" charset="0"/>
              </a:rPr>
              <a:t>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Проведен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Истина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Проведен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 err="1">
                <a:latin typeface="Courier New" pitchFamily="49" charset="0"/>
              </a:rPr>
              <a:t>ПараметрыОтчетаКорректны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Ложь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НЕ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 err="1">
                <a:latin typeface="Courier New" pitchFamily="49" charset="0"/>
              </a:rPr>
              <a:t>ПараметрыОтчетаКорректны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 </a:t>
            </a:r>
          </a:p>
        </p:txBody>
      </p:sp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520" y="548680"/>
            <a:ext cx="8784000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Булево</a:t>
            </a:r>
          </a:p>
        </p:txBody>
      </p:sp>
    </p:spTree>
    <p:extLst>
      <p:ext uri="{BB962C8B-B14F-4D97-AF65-F5344CB8AC3E}">
        <p14:creationId xmlns:p14="http://schemas.microsoft.com/office/powerpoint/2010/main" val="24492562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4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4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2484438"/>
            <a:ext cx="8382000" cy="2087562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ru-RU" sz="22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Пример использования в арифметических вычислениях: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dirty="0"/>
          </a:p>
          <a:p>
            <a:pPr>
              <a:lnSpc>
                <a:spcPct val="90000"/>
              </a:lnSpc>
              <a:buFontTx/>
              <a:buNone/>
            </a:pPr>
            <a:r>
              <a:rPr lang="ru-RU" b="1" dirty="0">
                <a:latin typeface="Courier New" pitchFamily="49" charset="0"/>
              </a:rPr>
              <a:t>А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b="1" dirty="0">
                <a:latin typeface="Courier New" pitchFamily="49" charset="0"/>
              </a:rPr>
              <a:t> 10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b="1" dirty="0">
                <a:latin typeface="Courier New" pitchFamily="49" charset="0"/>
              </a:rPr>
              <a:t> 7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b="1" dirty="0">
                <a:latin typeface="Courier New" pitchFamily="49" charset="0"/>
              </a:rPr>
              <a:t> 1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ru-RU" b="1" dirty="0">
                <a:latin typeface="Courier New" pitchFamily="49" charset="0"/>
              </a:rPr>
              <a:t>Б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b="1" dirty="0">
                <a:latin typeface="Courier New" pitchFamily="49" charset="0"/>
              </a:rPr>
              <a:t> А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%</a:t>
            </a:r>
            <a:r>
              <a:rPr lang="ru-RU" b="1" dirty="0">
                <a:latin typeface="Courier New" pitchFamily="49" charset="0"/>
              </a:rPr>
              <a:t> 6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dirty="0"/>
              <a:t> </a:t>
            </a:r>
          </a:p>
        </p:txBody>
      </p:sp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Число</a:t>
            </a:r>
          </a:p>
        </p:txBody>
      </p:sp>
    </p:spTree>
    <p:extLst>
      <p:ext uri="{BB962C8B-B14F-4D97-AF65-F5344CB8AC3E}">
        <p14:creationId xmlns:p14="http://schemas.microsoft.com/office/powerpoint/2010/main" val="4724404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052736"/>
            <a:ext cx="8610600" cy="522156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Определение строк: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Строка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Пример обычной строки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Конкатенация строк: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ОбъединеннаяСтрока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"Строка №1"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"Строка №2"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Многострочные строки (2 способа):</a:t>
            </a:r>
          </a:p>
          <a:p>
            <a:pPr>
              <a:lnSpc>
                <a:spcPct val="80000"/>
              </a:lnSpc>
              <a:buNone/>
            </a:pPr>
            <a:endParaRPr lang="ru-RU" sz="20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Предупреждение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"Перед блокированием документ необходимо записать."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			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Символы</a:t>
            </a:r>
            <a:r>
              <a:rPr lang="ru-RU" sz="16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b="1" dirty="0" err="1">
                <a:latin typeface="Courier New" pitchFamily="49" charset="0"/>
              </a:rPr>
              <a:t>ПС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"Сделать это сейчас?"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Запрос.Текст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ВЫБРАТЬ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МаксимальныйКредитКонтрагенту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,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Приоритет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ИЗ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Справочник.Контрагенты</a:t>
            </a:r>
            <a:endParaRPr lang="ru-RU" sz="1600" dirty="0">
              <a:solidFill>
                <a:schemeClr val="tx1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000" cy="576064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Строка</a:t>
            </a:r>
          </a:p>
        </p:txBody>
      </p:sp>
    </p:spTree>
    <p:extLst>
      <p:ext uri="{BB962C8B-B14F-4D97-AF65-F5344CB8AC3E}">
        <p14:creationId xmlns:p14="http://schemas.microsoft.com/office/powerpoint/2010/main" val="7143614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5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5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50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50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50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50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266212" y="1340768"/>
            <a:ext cx="8610600" cy="45720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Способы определения дат: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ДатаНачалаКурса_1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 smtClean="0">
                <a:solidFill>
                  <a:schemeClr val="tx1"/>
                </a:solidFill>
                <a:latin typeface="Courier New" pitchFamily="49" charset="0"/>
              </a:rPr>
              <a:t>'</a:t>
            </a:r>
            <a:r>
              <a:rPr lang="ru-RU" sz="1400" dirty="0" smtClean="0">
                <a:solidFill>
                  <a:schemeClr val="tx1"/>
                </a:solidFill>
                <a:latin typeface="Courier New" pitchFamily="49" charset="0"/>
              </a:rPr>
              <a:t>2020091418</a:t>
            </a:r>
            <a:r>
              <a:rPr lang="en-US" sz="1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1400" dirty="0">
                <a:solidFill>
                  <a:schemeClr val="tx1"/>
                </a:solidFill>
                <a:latin typeface="Courier New" pitchFamily="49" charset="0"/>
              </a:rPr>
              <a:t>000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'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ДатаНачалаКурса_2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 smtClean="0">
                <a:solidFill>
                  <a:srgbClr val="FF0000"/>
                </a:solidFill>
                <a:latin typeface="Courier New" pitchFamily="49" charset="0"/>
              </a:rPr>
              <a:t>Дата(</a:t>
            </a:r>
            <a:r>
              <a:rPr lang="ru-RU" sz="1400" dirty="0" smtClean="0">
                <a:latin typeface="Courier New" pitchFamily="49" charset="0"/>
              </a:rPr>
              <a:t>2020, 09, </a:t>
            </a:r>
            <a:r>
              <a:rPr lang="ru-RU" sz="1400" dirty="0">
                <a:latin typeface="Courier New" pitchFamily="49" charset="0"/>
              </a:rPr>
              <a:t>14,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 18, 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0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0, 00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           Сейчас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ТекущаяДата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Операции с датами: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Перерыв                    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ДатаНачалаКурса_1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1400" dirty="0">
                <a:latin typeface="Courier New" pitchFamily="49" charset="0"/>
              </a:rPr>
              <a:t>5400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 err="1">
                <a:latin typeface="Courier New" pitchFamily="49" charset="0"/>
              </a:rPr>
              <a:t>НачалоВторогоДня</a:t>
            </a:r>
            <a:r>
              <a:rPr lang="ru-RU" sz="1400" dirty="0">
                <a:latin typeface="Courier New" pitchFamily="49" charset="0"/>
              </a:rPr>
              <a:t>           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ДатаНачалаКурса_2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1400" dirty="0">
                <a:latin typeface="Courier New" pitchFamily="49" charset="0"/>
              </a:rPr>
              <a:t>2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24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60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60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 err="1">
                <a:latin typeface="Courier New" pitchFamily="49" charset="0"/>
              </a:rPr>
              <a:t>ДлительностьПервогоДня</a:t>
            </a:r>
            <a:r>
              <a:rPr lang="ru-RU" sz="1000" dirty="0">
                <a:latin typeface="Courier New" pitchFamily="49" charset="0"/>
              </a:rPr>
              <a:t>     </a:t>
            </a:r>
            <a:r>
              <a:rPr lang="ru-RU" sz="900" dirty="0">
                <a:latin typeface="Courier New" pitchFamily="49" charset="0"/>
              </a:rPr>
              <a:t>  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smtClean="0">
                <a:latin typeface="Courier New" pitchFamily="49" charset="0"/>
              </a:rPr>
              <a:t>Дата(2020, 09, </a:t>
            </a:r>
            <a:r>
              <a:rPr lang="ru-RU" sz="1400" dirty="0">
                <a:latin typeface="Courier New" pitchFamily="49" charset="0"/>
              </a:rPr>
              <a:t>14, 21, </a:t>
            </a:r>
            <a:r>
              <a:rPr lang="en-US" sz="1400" dirty="0">
                <a:latin typeface="Courier New" pitchFamily="49" charset="0"/>
              </a:rPr>
              <a:t>0</a:t>
            </a:r>
            <a:r>
              <a:rPr lang="ru-RU" sz="1400" dirty="0">
                <a:latin typeface="Courier New" pitchFamily="49" charset="0"/>
              </a:rPr>
              <a:t>0,00)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-</a:t>
            </a:r>
            <a:r>
              <a:rPr lang="ru-RU" sz="1400" b="1" dirty="0" smtClean="0">
                <a:solidFill>
                  <a:schemeClr val="tx1"/>
                </a:solidFill>
                <a:latin typeface="Courier New" pitchFamily="49" charset="0"/>
              </a:rPr>
              <a:t>'2020011418</a:t>
            </a:r>
            <a:r>
              <a:rPr lang="en-US" sz="1400" b="1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000'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Проверка на «пустую» дату: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ДатаОтчета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'00010101'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1400" dirty="0">
                <a:latin typeface="Courier New" pitchFamily="49" charset="0"/>
              </a:rPr>
              <a:t> ...</a:t>
            </a:r>
          </a:p>
        </p:txBody>
      </p:sp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000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Дата</a:t>
            </a:r>
          </a:p>
        </p:txBody>
      </p:sp>
    </p:spTree>
    <p:extLst>
      <p:ext uri="{BB962C8B-B14F-4D97-AF65-F5344CB8AC3E}">
        <p14:creationId xmlns:p14="http://schemas.microsoft.com/office/powerpoint/2010/main" val="19983023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5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53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Неявное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"АБВ"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"АБВ777"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Ошибка!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""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"777АБВ"</a:t>
            </a:r>
          </a:p>
          <a:p>
            <a:r>
              <a:rPr lang="ru-RU" dirty="0"/>
              <a:t>Явное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Строка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000" dirty="0">
                <a:latin typeface="Courier New" pitchFamily="49" charset="0"/>
              </a:rPr>
              <a:t>777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//"777АБВ"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Число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000" dirty="0">
                <a:latin typeface="Courier New" pitchFamily="49" charset="0"/>
              </a:rPr>
              <a:t>"23,5000"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10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33.5</a:t>
            </a:r>
          </a:p>
          <a:p>
            <a:pPr marL="800100" lvl="2" indent="0">
              <a:buNone/>
            </a:pPr>
            <a:endParaRPr lang="ru-RU" sz="2000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Преобразование типов</a:t>
            </a:r>
          </a:p>
        </p:txBody>
      </p:sp>
    </p:spTree>
    <p:extLst>
      <p:ext uri="{BB962C8B-B14F-4D97-AF65-F5344CB8AC3E}">
        <p14:creationId xmlns:p14="http://schemas.microsoft.com/office/powerpoint/2010/main" val="26432493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3" y="1052736"/>
            <a:ext cx="8077032" cy="51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188119" y="571976"/>
            <a:ext cx="8784000" cy="7200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5252069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1052736"/>
            <a:ext cx="8077034" cy="51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8119" y="571975"/>
            <a:ext cx="8784000" cy="720000"/>
          </a:xfrm>
          <a:prstGeom prst="rect">
            <a:avLst/>
          </a:prstGeo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sz="3200" b="1" kern="120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9pPr>
          </a:lstStyle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9224288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1026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4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L 0.14323 -3.7037E-6 C 0.20747 -3.7037E-6 0.28664 -0.0493 0.28664 -0.08912 L 0.28664 -0.17801 " pathEditMode="relative" rAng="0" ptsTypes="AAAA">
                                      <p:cBhvr>
                                        <p:cTn id="9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23" y="-89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1124744"/>
            <a:ext cx="4056856" cy="25856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304800" y="3284538"/>
            <a:ext cx="8839200" cy="307022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ru-RU" sz="2200" b="1" dirty="0">
                <a:latin typeface="Courier New" pitchFamily="49" charset="0"/>
              </a:rPr>
              <a:t>Свойства и реквизиты:</a:t>
            </a:r>
          </a:p>
          <a:p>
            <a:pPr>
              <a:buFontTx/>
              <a:buNone/>
            </a:pPr>
            <a:endParaRPr lang="ru-RU" sz="2000" b="1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 err="1">
                <a:latin typeface="Courier New" pitchFamily="49" charset="0"/>
              </a:rPr>
              <a:t>Форма</a:t>
            </a:r>
            <a:r>
              <a:rPr lang="ru-RU" sz="20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000" dirty="0" err="1">
                <a:latin typeface="Courier New" pitchFamily="49" charset="0"/>
              </a:rPr>
              <a:t>Заголовок</a:t>
            </a:r>
            <a:r>
              <a:rPr lang="ru-RU" sz="2000" dirty="0">
                <a:latin typeface="Courier New" pitchFamily="49" charset="0"/>
              </a:rPr>
              <a:t>   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"ООО Север"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>
                <a:latin typeface="Courier New" pitchFamily="49" charset="0"/>
              </a:rPr>
              <a:t>Форма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"Директор"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"Иванов И.А."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endParaRPr lang="ru-RU" sz="2000" i="1" u="sng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endParaRPr lang="ru-RU" sz="2000" i="1" u="sng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200" b="1" dirty="0">
                <a:latin typeface="Courier New" pitchFamily="49" charset="0"/>
              </a:rPr>
              <a:t>Методы:</a:t>
            </a:r>
          </a:p>
          <a:p>
            <a:pPr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 err="1">
                <a:latin typeface="Courier New" pitchFamily="49" charset="0"/>
              </a:rPr>
              <a:t>Форма</a:t>
            </a:r>
            <a:r>
              <a:rPr lang="ru-RU" sz="20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000" dirty="0" err="1">
                <a:latin typeface="Courier New" pitchFamily="49" charset="0"/>
              </a:rPr>
              <a:t>Открыть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()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7904" y="2132856"/>
            <a:ext cx="28083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Форма 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188119" y="571976"/>
            <a:ext cx="8784000" cy="6967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200" b="1" kern="120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9pPr>
          </a:lstStyle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6672052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Ветвление</a:t>
            </a:r>
          </a:p>
          <a:p>
            <a:r>
              <a:rPr lang="ru-RU" dirty="0"/>
              <a:t>Циклы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Синтаксические конструкции</a:t>
            </a:r>
          </a:p>
        </p:txBody>
      </p:sp>
    </p:spTree>
    <p:extLst>
      <p:ext uri="{BB962C8B-B14F-4D97-AF65-F5344CB8AC3E}">
        <p14:creationId xmlns:p14="http://schemas.microsoft.com/office/powerpoint/2010/main" val="1579250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532440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ОпределитьВыборПользователя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"Ок"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"Отмена"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"Не понял…"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Иначе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35826128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6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6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532440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ОпределитьВыборПользователя</a:t>
            </a:r>
            <a:r>
              <a:rPr lang="ru-RU" sz="2400" dirty="0">
                <a:latin typeface="Courier New" pitchFamily="49" charset="0"/>
              </a:rPr>
              <a:t>()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 err="1">
                <a:latin typeface="Courier New" pitchFamily="49" charset="0"/>
              </a:rPr>
              <a:t>ТекстСообщения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 = ?(</a:t>
            </a:r>
            <a:r>
              <a:rPr lang="ru-RU" sz="2400" dirty="0">
                <a:latin typeface="Courier New" pitchFamily="49" charset="0"/>
              </a:rPr>
              <a:t>А =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"Ок"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chemeClr val="tx1"/>
                </a:solidFill>
                <a:latin typeface="Courier New" pitchFamily="49" charset="0"/>
              </a:rPr>
              <a:t>Да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chemeClr val="tx1"/>
                </a:solidFill>
                <a:latin typeface="Courier New" pitchFamily="49" charset="0"/>
              </a:rPr>
              <a:t>Нет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40468502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064896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Попытка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 err="1">
                <a:latin typeface="Courier New" pitchFamily="49" charset="0"/>
              </a:rPr>
              <a:t>НашаФункция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Исключение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	Сообщить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 err="1">
                <a:latin typeface="Courier New" pitchFamily="49" charset="0"/>
              </a:rPr>
              <a:t>ОписаниеОшибки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КонецПопытки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31462001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341784" y="1700808"/>
            <a:ext cx="8460432" cy="4184104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Для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</a:t>
            </a:r>
            <a:r>
              <a:rPr lang="ru-RU" sz="2400" dirty="0">
                <a:latin typeface="Courier New" pitchFamily="49" charset="0"/>
              </a:rPr>
              <a:t> 10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ru-RU" sz="2400" dirty="0">
                <a:latin typeface="Courier New" pitchFamily="49" charset="0"/>
              </a:rPr>
              <a:t> 3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	Продолжить;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//Цикл не прерывается! //Управление передаются в начало цикла.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</a:t>
            </a: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НЕ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&lt;=</a:t>
            </a:r>
            <a:r>
              <a:rPr lang="ru-RU" sz="2400" dirty="0">
                <a:latin typeface="Courier New" pitchFamily="49" charset="0"/>
              </a:rPr>
              <a:t> 7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	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	Прервать;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//Цикл прерывается!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Сообщить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"Счетчик цикла = "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400" dirty="0">
                <a:latin typeface="Courier New" pitchFamily="49" charset="0"/>
              </a:rPr>
              <a:t> Счетчик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936104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со счетчиком</a:t>
            </a:r>
          </a:p>
        </p:txBody>
      </p:sp>
    </p:spTree>
    <p:extLst>
      <p:ext uri="{BB962C8B-B14F-4D97-AF65-F5344CB8AC3E}">
        <p14:creationId xmlns:p14="http://schemas.microsoft.com/office/powerpoint/2010/main" val="38207720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6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6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6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>
          <a:xfrm>
            <a:off x="539552" y="2209800"/>
            <a:ext cx="8223448" cy="28956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Пока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ru-RU" sz="2400" dirty="0">
                <a:latin typeface="Courier New" pitchFamily="49" charset="0"/>
              </a:rPr>
              <a:t> 10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b="1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2400" dirty="0">
                <a:latin typeface="Courier New" pitchFamily="49" charset="0"/>
              </a:rPr>
              <a:t>3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936104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с предусловием</a:t>
            </a:r>
          </a:p>
        </p:txBody>
      </p:sp>
    </p:spTree>
    <p:extLst>
      <p:ext uri="{BB962C8B-B14F-4D97-AF65-F5344CB8AC3E}">
        <p14:creationId xmlns:p14="http://schemas.microsoft.com/office/powerpoint/2010/main" val="34636420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3" y="1268681"/>
            <a:ext cx="4022560" cy="2755454"/>
          </a:xfrm>
        </p:spPr>
      </p:pic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Коллекции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6" y="1273306"/>
            <a:ext cx="3946038" cy="2367623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4024135"/>
            <a:ext cx="2057410" cy="24928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804" y="3789040"/>
            <a:ext cx="3526618" cy="234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3203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0958516"/>
              </p:ext>
            </p:extLst>
          </p:nvPr>
        </p:nvGraphicFramePr>
        <p:xfrm>
          <a:off x="329752" y="1268680"/>
          <a:ext cx="4458272" cy="1584525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568">
                  <a:extLst>
                    <a:ext uri="{9D8B030D-6E8A-4147-A177-3AD203B41FA5}">
                      <a16:colId xmlns:a16="http://schemas.microsoft.com/office/drawing/2014/main" val="3275268676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1120284479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2172378305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4052972464"/>
                    </a:ext>
                  </a:extLst>
                </a:gridCol>
              </a:tblGrid>
              <a:tr h="528175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231081"/>
                  </a:ext>
                </a:extLst>
              </a:tr>
              <a:tr h="528175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2077456"/>
                  </a:ext>
                </a:extLst>
              </a:tr>
              <a:tr h="528175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7543241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Коллекции - таблицы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493822"/>
              </p:ext>
            </p:extLst>
          </p:nvPr>
        </p:nvGraphicFramePr>
        <p:xfrm>
          <a:off x="3707904" y="3504870"/>
          <a:ext cx="4032448" cy="401794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19435036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1828096469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864300904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141151276"/>
                    </a:ext>
                  </a:extLst>
                </a:gridCol>
              </a:tblGrid>
              <a:tr h="4017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835572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0078188"/>
              </p:ext>
            </p:extLst>
          </p:nvPr>
        </p:nvGraphicFramePr>
        <p:xfrm>
          <a:off x="1259632" y="3886541"/>
          <a:ext cx="1175792" cy="146304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175792">
                  <a:extLst>
                    <a:ext uri="{9D8B030D-6E8A-4147-A177-3AD203B41FA5}">
                      <a16:colId xmlns:a16="http://schemas.microsoft.com/office/drawing/2014/main" val="3510416778"/>
                    </a:ext>
                  </a:extLst>
                </a:gridCol>
              </a:tblGrid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962003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586916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2595429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47783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994216"/>
              </p:ext>
            </p:extLst>
          </p:nvPr>
        </p:nvGraphicFramePr>
        <p:xfrm>
          <a:off x="3609031" y="4960394"/>
          <a:ext cx="1178993" cy="401794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178993">
                  <a:extLst>
                    <a:ext uri="{9D8B030D-6E8A-4147-A177-3AD203B41FA5}">
                      <a16:colId xmlns:a16="http://schemas.microsoft.com/office/drawing/2014/main" val="4128136899"/>
                    </a:ext>
                  </a:extLst>
                </a:gridCol>
              </a:tblGrid>
              <a:tr h="4017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404618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1914" y="1700809"/>
            <a:ext cx="3888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rPr>
              <a:t>Элемент коллекции </a:t>
            </a:r>
            <a:r>
              <a:rPr lang="ru-RU" sz="2400" b="1" dirty="0">
                <a:ln>
                  <a:solidFill>
                    <a:schemeClr val="bg1"/>
                  </a:solidFill>
                </a:ln>
                <a:solidFill>
                  <a:srgbClr val="0070C0"/>
                </a:soli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rPr>
              <a:t>– строка таблицы</a:t>
            </a:r>
          </a:p>
        </p:txBody>
      </p:sp>
    </p:spTree>
    <p:extLst>
      <p:ext uri="{BB962C8B-B14F-4D97-AF65-F5344CB8AC3E}">
        <p14:creationId xmlns:p14="http://schemas.microsoft.com/office/powerpoint/2010/main" val="25708999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коллекции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9965734"/>
              </p:ext>
            </p:extLst>
          </p:nvPr>
        </p:nvGraphicFramePr>
        <p:xfrm>
          <a:off x="755575" y="1397000"/>
          <a:ext cx="7632850" cy="148285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481609"/>
              </p:ext>
            </p:extLst>
          </p:nvPr>
        </p:nvGraphicFramePr>
        <p:xfrm>
          <a:off x="770032" y="4149080"/>
          <a:ext cx="7632850" cy="148285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sp>
        <p:nvSpPr>
          <p:cNvPr id="6" name="Овал 5"/>
          <p:cNvSpPr/>
          <p:nvPr/>
        </p:nvSpPr>
        <p:spPr>
          <a:xfrm>
            <a:off x="539552" y="1268680"/>
            <a:ext cx="288032" cy="288112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/>
          <p:cNvSpPr/>
          <p:nvPr/>
        </p:nvSpPr>
        <p:spPr>
          <a:xfrm>
            <a:off x="8258866" y="5487882"/>
            <a:ext cx="288032" cy="288112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549365"/>
              </p:ext>
            </p:extLst>
          </p:nvPr>
        </p:nvGraphicFramePr>
        <p:xfrm>
          <a:off x="3194238" y="1772816"/>
          <a:ext cx="5184577" cy="110704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368152">
                  <a:extLst>
                    <a:ext uri="{9D8B030D-6E8A-4147-A177-3AD203B41FA5}">
                      <a16:colId xmlns:a16="http://schemas.microsoft.com/office/drawing/2014/main" val="740275257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77955149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77309381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4056309209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441344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130975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3617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15616" y="2987436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Адрес ячейки: 	строка 1 колонка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616" y="3329803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		колонка 3 строка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616" y="3672170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		строка </a:t>
            </a:r>
            <a:r>
              <a:rPr lang="en-US" dirty="0"/>
              <a:t>3</a:t>
            </a:r>
            <a:r>
              <a:rPr lang="ru-RU" dirty="0"/>
              <a:t> колонка 2</a:t>
            </a:r>
          </a:p>
        </p:txBody>
      </p:sp>
    </p:spTree>
    <p:extLst>
      <p:ext uri="{BB962C8B-B14F-4D97-AF65-F5344CB8AC3E}">
        <p14:creationId xmlns:p14="http://schemas.microsoft.com/office/powerpoint/2010/main" val="9082660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/>
      <p:bldP spid="11" grpId="0"/>
      <p:bldP spid="1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коллекции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38558"/>
              </p:ext>
            </p:extLst>
          </p:nvPr>
        </p:nvGraphicFramePr>
        <p:xfrm>
          <a:off x="755575" y="1397000"/>
          <a:ext cx="7632850" cy="375816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4010835"/>
              </p:ext>
            </p:extLst>
          </p:nvPr>
        </p:nvGraphicFramePr>
        <p:xfrm>
          <a:off x="755575" y="1988840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003685"/>
              </p:ext>
            </p:extLst>
          </p:nvPr>
        </p:nvGraphicFramePr>
        <p:xfrm>
          <a:off x="749420" y="2721709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917466"/>
              </p:ext>
            </p:extLst>
          </p:nvPr>
        </p:nvGraphicFramePr>
        <p:xfrm>
          <a:off x="749420" y="3454577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sp>
        <p:nvSpPr>
          <p:cNvPr id="13" name="Скругленный прямоугольник 12"/>
          <p:cNvSpPr/>
          <p:nvPr/>
        </p:nvSpPr>
        <p:spPr>
          <a:xfrm>
            <a:off x="206356" y="1908194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206356" y="2628511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179512" y="3352257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3203848" y="1196751"/>
            <a:ext cx="1368152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4531673" y="1189250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Скругленный прямоугольник 18"/>
          <p:cNvSpPr/>
          <p:nvPr/>
        </p:nvSpPr>
        <p:spPr>
          <a:xfrm>
            <a:off x="5859346" y="1196751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7167297" y="1173152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536" y="5013176"/>
            <a:ext cx="84249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Данные нужной ячейки: 	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СтрокаКоллекцииОдин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ИмяКоллекции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Данные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СтрокаКоллекцииОдин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ru-RU" dirty="0"/>
              <a:t>Или			</a:t>
            </a:r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Данные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ИмяКоллекции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1490543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60363" y="549275"/>
            <a:ext cx="8783637" cy="1008063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для обхода коллекций значений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360363" y="1557338"/>
            <a:ext cx="8229600" cy="19050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Для каждого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СтрокаТЧ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Из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ТЧТовары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1800" dirty="0" err="1">
                <a:latin typeface="Courier New" pitchFamily="49" charset="0"/>
              </a:rPr>
              <a:t>СтрокаТЧ.Сумма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СтрокаТЧ.Цена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СтрокаТЧ.Количество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607178"/>
              </p:ext>
            </p:extLst>
          </p:nvPr>
        </p:nvGraphicFramePr>
        <p:xfrm>
          <a:off x="2267743" y="3789039"/>
          <a:ext cx="6336705" cy="2016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5">
                  <a:extLst>
                    <a:ext uri="{9D8B030D-6E8A-4147-A177-3AD203B41FA5}">
                      <a16:colId xmlns:a16="http://schemas.microsoft.com/office/drawing/2014/main" val="731844639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420056446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1282073890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3860790244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573663885"/>
                    </a:ext>
                  </a:extLst>
                </a:gridCol>
              </a:tblGrid>
              <a:tr h="73636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Цена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794046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2381108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076153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5304344"/>
                  </a:ext>
                </a:extLst>
              </a:tr>
            </a:tbl>
          </a:graphicData>
        </a:graphic>
      </p:graphicFrame>
      <p:sp>
        <p:nvSpPr>
          <p:cNvPr id="4" name="Скругленный прямоугольник 3"/>
          <p:cNvSpPr/>
          <p:nvPr/>
        </p:nvSpPr>
        <p:spPr>
          <a:xfrm>
            <a:off x="2098230" y="3284984"/>
            <a:ext cx="6768752" cy="2736304"/>
          </a:xfrm>
          <a:prstGeom prst="roundRect">
            <a:avLst/>
          </a:prstGeom>
          <a:solidFill>
            <a:schemeClr val="accent1">
              <a:alpha val="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 err="1">
                <a:solidFill>
                  <a:schemeClr val="tx1"/>
                </a:solidFill>
              </a:rPr>
              <a:t>ТЧТовары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360363" y="4522590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347806" y="4972376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7806" y="5409668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6741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  <p:bldP spid="4" grpId="0" animBg="1"/>
      <p:bldP spid="4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2758" y="1480405"/>
            <a:ext cx="3826768" cy="4525963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200000"/>
              </a:lnSpc>
            </a:pPr>
            <a:r>
              <a:rPr lang="ru-RU" sz="2800" dirty="0">
                <a:solidFill>
                  <a:srgbClr val="0070C0"/>
                </a:solidFill>
              </a:rPr>
              <a:t>Массив</a:t>
            </a:r>
          </a:p>
          <a:p>
            <a:pPr>
              <a:lnSpc>
                <a:spcPct val="200000"/>
              </a:lnSpc>
            </a:pPr>
            <a:r>
              <a:rPr lang="ru-RU" sz="2800" dirty="0">
                <a:solidFill>
                  <a:schemeClr val="accent3">
                    <a:lumMod val="50000"/>
                  </a:schemeClr>
                </a:solidFill>
              </a:rPr>
              <a:t>Структура</a:t>
            </a:r>
          </a:p>
          <a:p>
            <a:r>
              <a:rPr lang="ru-RU" sz="2800" dirty="0">
                <a:solidFill>
                  <a:schemeClr val="accent3">
                    <a:lumMod val="50000"/>
                  </a:schemeClr>
                </a:solidFill>
              </a:rPr>
              <a:t>Соответствие</a:t>
            </a:r>
          </a:p>
          <a:p>
            <a:pPr>
              <a:lnSpc>
                <a:spcPct val="150000"/>
              </a:lnSpc>
            </a:pPr>
            <a:r>
              <a:rPr lang="ru-RU" sz="2800" dirty="0">
                <a:solidFill>
                  <a:schemeClr val="accent6">
                    <a:lumMod val="75000"/>
                  </a:schemeClr>
                </a:solidFill>
              </a:rPr>
              <a:t>Список значений</a:t>
            </a:r>
          </a:p>
          <a:p>
            <a:pPr>
              <a:lnSpc>
                <a:spcPct val="260000"/>
              </a:lnSpc>
            </a:pPr>
            <a:r>
              <a:rPr lang="ru-RU" sz="2800" dirty="0">
                <a:solidFill>
                  <a:schemeClr val="accent4">
                    <a:lumMod val="75000"/>
                  </a:schemeClr>
                </a:solidFill>
              </a:rPr>
              <a:t>Таблица значений</a:t>
            </a:r>
          </a:p>
          <a:p>
            <a:pPr>
              <a:lnSpc>
                <a:spcPct val="260000"/>
              </a:lnSpc>
            </a:pPr>
            <a:r>
              <a:rPr lang="ru-RU" sz="2800" dirty="0">
                <a:solidFill>
                  <a:srgbClr val="C00000"/>
                </a:solidFill>
              </a:rPr>
              <a:t>Дерево значений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936104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Универсальные коллекции значений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408557"/>
              </p:ext>
            </p:extLst>
          </p:nvPr>
        </p:nvGraphicFramePr>
        <p:xfrm>
          <a:off x="3707904" y="1556792"/>
          <a:ext cx="95976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829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9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145184"/>
              </p:ext>
            </p:extLst>
          </p:nvPr>
        </p:nvGraphicFramePr>
        <p:xfrm>
          <a:off x="3707904" y="2459331"/>
          <a:ext cx="2135560" cy="86409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3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ru-RU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415693"/>
              </p:ext>
            </p:extLst>
          </p:nvPr>
        </p:nvGraphicFramePr>
        <p:xfrm>
          <a:off x="3707904" y="3452495"/>
          <a:ext cx="5352256" cy="74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3198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Представление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Пометка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Картинка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1553905"/>
              </p:ext>
            </p:extLst>
          </p:nvPr>
        </p:nvGraphicFramePr>
        <p:xfrm>
          <a:off x="3707904" y="4341138"/>
          <a:ext cx="4416152" cy="73585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296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7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7928">
                <a:tc>
                  <a:txBody>
                    <a:bodyPr/>
                    <a:lstStyle/>
                    <a:p>
                      <a:r>
                        <a:rPr lang="ru-RU" dirty="0"/>
                        <a:t>Колонка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92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429742"/>
              </p:ext>
            </p:extLst>
          </p:nvPr>
        </p:nvGraphicFramePr>
        <p:xfrm>
          <a:off x="3684053" y="5222638"/>
          <a:ext cx="5184574" cy="100811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2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146">
                <a:tc>
                  <a:txBody>
                    <a:bodyPr/>
                    <a:lstStyle/>
                    <a:p>
                      <a:r>
                        <a:rPr lang="ru-RU" dirty="0"/>
                        <a:t>Родитель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966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Правая фигурная скобка 8"/>
          <p:cNvSpPr/>
          <p:nvPr/>
        </p:nvSpPr>
        <p:spPr>
          <a:xfrm>
            <a:off x="3203848" y="2459331"/>
            <a:ext cx="360040" cy="936104"/>
          </a:xfrm>
          <a:prstGeom prst="rightBrac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72942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034305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 err="1"/>
                        <a:t>Неопределено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 err="1"/>
                        <a:t>Неопределено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46717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373995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 err="1"/>
                        <a:t>Неопределено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4698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95184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280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>
                <a:latin typeface="Courier New" pitchFamily="49" charset="0"/>
              </a:rPr>
              <a:t>Добавить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"Опт"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036191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776947" y="2695479"/>
          <a:ext cx="1827499" cy="40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"Опт"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390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latin typeface="Courier New" pitchFamily="49" charset="0"/>
              </a:rPr>
              <a:t>Массив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>
                <a:latin typeface="Courier New" pitchFamily="49" charset="0"/>
              </a:rPr>
              <a:t>Добавить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"Опт"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endParaRPr lang="ru-RU" sz="2400" dirty="0">
              <a:solidFill>
                <a:srgbClr val="00B05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//Чтение данных массива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Если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 &gt; </a:t>
            </a: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 Тогда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</a:t>
            </a:r>
            <a:r>
              <a:rPr lang="ru-RU" sz="2400" dirty="0">
                <a:latin typeface="Courier New" pitchFamily="49" charset="0"/>
              </a:rPr>
              <a:t>Отказ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 = </a:t>
            </a: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63861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776947" y="2695479"/>
          <a:ext cx="1827499" cy="40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"Опт"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16459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525398"/>
              </p:ext>
            </p:extLst>
          </p:nvPr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23144564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/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  <p:graphicFrame>
        <p:nvGraphicFramePr>
          <p:cNvPr id="5" name="Group 104"/>
          <p:cNvGraphicFramePr>
            <a:graphicFrameLocks noGrp="1"/>
          </p:cNvGraphicFramePr>
          <p:nvPr/>
        </p:nvGraphicFramePr>
        <p:xfrm>
          <a:off x="1979712" y="1647221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4337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/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  <p:graphicFrame>
        <p:nvGraphicFramePr>
          <p:cNvPr id="6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5676631"/>
              </p:ext>
            </p:extLst>
          </p:nvPr>
        </p:nvGraphicFramePr>
        <p:xfrm>
          <a:off x="1979711" y="1646973"/>
          <a:ext cx="4733925" cy="8636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.06.20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88187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4187150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0199340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836294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Ложь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//Повтор ключа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18538737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077006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//Повтор ключа</a:t>
            </a: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40095629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/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528392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Истина;</a:t>
            </a:r>
          </a:p>
          <a:p>
            <a:pPr>
              <a:lnSpc>
                <a:spcPct val="80000"/>
              </a:lnSpc>
              <a:buNone/>
            </a:pPr>
            <a:endParaRPr lang="ru-RU" sz="2000" u="sng" dirty="0">
              <a:solidFill>
                <a:schemeClr val="tx1">
                  <a:lumMod val="75000"/>
                  <a:lumOff val="25000"/>
                </a:schemeClr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Чтение данных из структуры:</a:t>
            </a:r>
          </a:p>
          <a:p>
            <a:pPr>
              <a:lnSpc>
                <a:spcPct val="80000"/>
              </a:lnSpc>
              <a:buNone/>
            </a:pPr>
            <a:endParaRPr lang="ru-RU" sz="12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>
                <a:latin typeface="Courier New" pitchFamily="49" charset="0"/>
              </a:rPr>
              <a:t>Заголовок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 " Анализ продаж"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ДатаАктуальности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//Истина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>
                <a:latin typeface="Courier New" pitchFamily="49" charset="0"/>
              </a:rPr>
              <a:t>...</a:t>
            </a:r>
          </a:p>
          <a:p>
            <a:pPr>
              <a:lnSpc>
                <a:spcPct val="80000"/>
              </a:lnSpc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5105596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</p:spTree>
    <p:extLst>
      <p:ext uri="{BB962C8B-B14F-4D97-AF65-F5344CB8AC3E}">
        <p14:creationId xmlns:p14="http://schemas.microsoft.com/office/powerpoint/2010/main" val="9381637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395536" y="3789040"/>
            <a:ext cx="5147563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921122"/>
              </p:ext>
            </p:extLst>
          </p:nvPr>
        </p:nvGraphicFramePr>
        <p:xfrm>
          <a:off x="1187624" y="1484784"/>
          <a:ext cx="6365138" cy="31496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3666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525667"/>
              </p:ext>
            </p:extLst>
          </p:nvPr>
        </p:nvGraphicFramePr>
        <p:xfrm>
          <a:off x="1187624" y="1484784"/>
          <a:ext cx="6365138" cy="62992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err="1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673867"/>
              </p:ext>
            </p:extLst>
          </p:nvPr>
        </p:nvGraphicFramePr>
        <p:xfrm>
          <a:off x="1187624" y="1484784"/>
          <a:ext cx="6365138" cy="31496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789040"/>
            <a:ext cx="8042586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395536" y="3789040"/>
            <a:ext cx="5147563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214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3446384"/>
              </p:ext>
            </p:extLst>
          </p:nvPr>
        </p:nvGraphicFramePr>
        <p:xfrm>
          <a:off x="1187624" y="1484784"/>
          <a:ext cx="6365138" cy="62992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789040"/>
            <a:ext cx="8262198" cy="164352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395536" y="3789040"/>
            <a:ext cx="8042586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386152"/>
              </p:ext>
            </p:extLst>
          </p:nvPr>
        </p:nvGraphicFramePr>
        <p:xfrm>
          <a:off x="1187624" y="1484784"/>
          <a:ext cx="6365138" cy="94488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</a:tbl>
          </a:graphicData>
        </a:graphic>
      </p:graphicFrame>
      <p:sp>
        <p:nvSpPr>
          <p:cNvPr id="11" name="Прямоугольник 10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63146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395536" y="3789040"/>
            <a:ext cx="8343951" cy="186512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Должность","Должность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395536" y="3789040"/>
            <a:ext cx="8262198" cy="164352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2713140"/>
              </p:ext>
            </p:extLst>
          </p:nvPr>
        </p:nvGraphicFramePr>
        <p:xfrm>
          <a:off x="1187624" y="1484784"/>
          <a:ext cx="6365138" cy="94488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err="1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021776"/>
              </p:ext>
            </p:extLst>
          </p:nvPr>
        </p:nvGraphicFramePr>
        <p:xfrm>
          <a:off x="1187624" y="1484784"/>
          <a:ext cx="6365138" cy="125984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32796"/>
                  </a:ext>
                </a:extLst>
              </a:tr>
            </a:tbl>
          </a:graphicData>
        </a:graphic>
      </p:graphicFrame>
      <p:sp>
        <p:nvSpPr>
          <p:cNvPr id="2" name="Прямоугольник 1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149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77668" y="3645024"/>
            <a:ext cx="6939720" cy="14219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chemeClr val="tx1">
                  <a:lumMod val="50000"/>
                  <a:lumOff val="50000"/>
                </a:schemeClr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ИмяПоляФильтра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 = 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b="1" dirty="0">
                <a:solidFill>
                  <a:schemeClr val="tx2"/>
                </a:solidFill>
                <a:latin typeface="Courier New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].</a:t>
            </a:r>
            <a:r>
              <a:rPr lang="ru-RU" b="1" dirty="0">
                <a:solidFill>
                  <a:schemeClr val="tx2"/>
                </a:solidFill>
                <a:latin typeface="Courier New" pitchFamily="49" charset="0"/>
              </a:rPr>
              <a:t>Значение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				 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//"</a:t>
            </a:r>
            <a:r>
              <a:rPr lang="ru-RU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ru-RU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СинонимПоляФильтра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ru-RU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ИменаПолей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].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Представление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//"Физическое лицо"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7946143"/>
              </p:ext>
            </p:extLst>
          </p:nvPr>
        </p:nvGraphicFramePr>
        <p:xfrm>
          <a:off x="1187624" y="1484784"/>
          <a:ext cx="6365138" cy="125984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32796"/>
                  </a:ext>
                </a:extLst>
              </a:tr>
            </a:tbl>
          </a:graphicData>
        </a:graphic>
      </p:graphicFrame>
      <p:sp>
        <p:nvSpPr>
          <p:cNvPr id="9" name="Прямоугольник 8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Чтение из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9196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</p:spTree>
    <p:extLst>
      <p:ext uri="{BB962C8B-B14F-4D97-AF65-F5344CB8AC3E}">
        <p14:creationId xmlns:p14="http://schemas.microsoft.com/office/powerpoint/2010/main" val="31448664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31382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61799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56507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724620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6616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938194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05823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443702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68974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ГруппаТоваров</a:t>
            </a:r>
            <a:r>
              <a:rPr lang="ru-RU" sz="1600" dirty="0">
                <a:latin typeface="Courier New" pitchFamily="49" charset="0"/>
              </a:rPr>
              <a:t>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000" dirty="0" err="1">
                <a:latin typeface="Courier New" pitchFamily="49" charset="0"/>
              </a:rPr>
              <a:t>Справочники.Номенклатура.НайтиПоНаименованию</a:t>
            </a:r>
            <a:r>
              <a:rPr lang="ru-RU" sz="1000" dirty="0">
                <a:latin typeface="Courier New" pitchFamily="49" charset="0"/>
              </a:rPr>
              <a:t>(</a:t>
            </a:r>
            <a:r>
              <a:rPr lang="ru-RU" sz="1000" dirty="0">
                <a:solidFill>
                  <a:schemeClr val="tx1"/>
                </a:solidFill>
                <a:latin typeface="Courier New" pitchFamily="49" charset="0"/>
              </a:rPr>
              <a:t>"Лето"</a:t>
            </a:r>
            <a:r>
              <a:rPr lang="ru-RU" sz="1000" dirty="0">
                <a:latin typeface="Courier New" pitchFamily="49" charset="0"/>
              </a:rPr>
              <a:t>)</a:t>
            </a:r>
            <a:r>
              <a:rPr lang="ru-RU" sz="1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/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Лето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02059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ГруппаТоваров</a:t>
            </a:r>
            <a:r>
              <a:rPr lang="ru-RU" sz="1600" dirty="0">
                <a:latin typeface="Courier New" pitchFamily="49" charset="0"/>
              </a:rPr>
              <a:t>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000" dirty="0" err="1">
                <a:latin typeface="Courier New" pitchFamily="49" charset="0"/>
              </a:rPr>
              <a:t>Справочники.Номенклатура.НайтиПоНаименованию</a:t>
            </a:r>
            <a:r>
              <a:rPr lang="ru-RU" sz="1000" dirty="0">
                <a:latin typeface="Courier New" pitchFamily="49" charset="0"/>
              </a:rPr>
              <a:t>(</a:t>
            </a:r>
            <a:r>
              <a:rPr lang="ru-RU" sz="1000" dirty="0">
                <a:solidFill>
                  <a:schemeClr val="tx1"/>
                </a:solidFill>
                <a:latin typeface="Courier New" pitchFamily="49" charset="0"/>
              </a:rPr>
              <a:t>"Лето"</a:t>
            </a:r>
            <a:r>
              <a:rPr lang="ru-RU" sz="1000" dirty="0">
                <a:latin typeface="Courier New" pitchFamily="49" charset="0"/>
              </a:rPr>
              <a:t>)</a:t>
            </a:r>
            <a:r>
              <a:rPr lang="ru-RU" sz="1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...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008444"/>
              </p:ext>
            </p:extLst>
          </p:nvPr>
        </p:nvGraphicFramePr>
        <p:xfrm>
          <a:off x="783158" y="1115616"/>
          <a:ext cx="7461250" cy="17272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Лето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Список товаров ЗАО "Юг".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357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Юг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Цены ООО "Лукойл".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70 611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Лукойл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61890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1628800"/>
            <a:ext cx="3162951" cy="4032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Общая форма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18909" y="4941168"/>
            <a:ext cx="3057550" cy="504056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48737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5" grpId="1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открытии формы сообщить текущую дату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Задача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150" y="2780928"/>
            <a:ext cx="5219700" cy="31527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02597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7" y="1628800"/>
            <a:ext cx="8277225" cy="2143125"/>
          </a:xfrm>
          <a:prstGeom prst="rect">
            <a:avLst/>
          </a:prstGeom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Разбор ФИО</a:t>
            </a:r>
          </a:p>
        </p:txBody>
      </p:sp>
      <p:sp>
        <p:nvSpPr>
          <p:cNvPr id="5" name="Правая фигурная скобка 4"/>
          <p:cNvSpPr/>
          <p:nvPr/>
        </p:nvSpPr>
        <p:spPr>
          <a:xfrm>
            <a:off x="3566756" y="2832230"/>
            <a:ext cx="288032" cy="864096"/>
          </a:xfrm>
          <a:prstGeom prst="rightBrace">
            <a:avLst/>
          </a:prstGeom>
          <a:ln w="3810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углом 5"/>
          <p:cNvSpPr/>
          <p:nvPr/>
        </p:nvSpPr>
        <p:spPr>
          <a:xfrm rot="5400000" flipH="1">
            <a:off x="3840141" y="2856158"/>
            <a:ext cx="720080" cy="552506"/>
          </a:xfrm>
          <a:prstGeom prst="ben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Стрелка углом 8"/>
          <p:cNvSpPr/>
          <p:nvPr/>
        </p:nvSpPr>
        <p:spPr>
          <a:xfrm rot="10800000">
            <a:off x="4936000" y="2772371"/>
            <a:ext cx="1004152" cy="864096"/>
          </a:xfrm>
          <a:prstGeom prst="bentArrow">
            <a:avLst>
              <a:gd name="adj1" fmla="val 13972"/>
              <a:gd name="adj2" fmla="val 13972"/>
              <a:gd name="adj3" fmla="val 16729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978290" y="2947745"/>
            <a:ext cx="55117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dirty="0"/>
              <a:t>ДЗ</a:t>
            </a:r>
          </a:p>
        </p:txBody>
      </p:sp>
    </p:spTree>
    <p:extLst>
      <p:ext uri="{BB962C8B-B14F-4D97-AF65-F5344CB8AC3E}">
        <p14:creationId xmlns:p14="http://schemas.microsoft.com/office/powerpoint/2010/main" val="4895498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Разница дат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0650" y="1643063"/>
            <a:ext cx="6362700" cy="35718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32860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СофтБаланс1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1" id="{544E1D70-FC81-461C-8A2C-95A7C0C1033B}" vid="{EC467584-E60C-463F-AF8D-1AD37B3FD37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</Template>
  <TotalTime>7442</TotalTime>
  <Words>2902</Words>
  <Application>Microsoft Office PowerPoint</Application>
  <PresentationFormat>Экран (4:3)</PresentationFormat>
  <Paragraphs>1053</Paragraphs>
  <Slides>78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78</vt:i4>
      </vt:variant>
    </vt:vector>
  </HeadingPairs>
  <TitlesOfParts>
    <vt:vector size="87" baseType="lpstr">
      <vt:lpstr>Arial</vt:lpstr>
      <vt:lpstr>Arial Black</vt:lpstr>
      <vt:lpstr>Calibri</vt:lpstr>
      <vt:lpstr>Courier New</vt:lpstr>
      <vt:lpstr>Tahoma</vt:lpstr>
      <vt:lpstr>Times New Roman</vt:lpstr>
      <vt:lpstr>Verdana</vt:lpstr>
      <vt:lpstr>Wingdings</vt:lpstr>
      <vt:lpstr>СофтБаланс1</vt:lpstr>
      <vt:lpstr>Занятие 3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Особенность встроенного программного языка</vt:lpstr>
      <vt:lpstr>Что располагается в модуле</vt:lpstr>
      <vt:lpstr>Операторы</vt:lpstr>
      <vt:lpstr>Операторы - синтаксис</vt:lpstr>
      <vt:lpstr>Объявление переменных</vt:lpstr>
      <vt:lpstr>Hello, World !</vt:lpstr>
      <vt:lpstr>Презентация PowerPoint</vt:lpstr>
      <vt:lpstr>Процедуры и функции</vt:lpstr>
      <vt:lpstr>Описание процедур и функций</vt:lpstr>
      <vt:lpstr>Структура модуля</vt:lpstr>
      <vt:lpstr>Структура модуля</vt:lpstr>
      <vt:lpstr>Структура модуля</vt:lpstr>
      <vt:lpstr>Не все процедуры одинаковы</vt:lpstr>
      <vt:lpstr>Программная работа с данными примитивного типа</vt:lpstr>
      <vt:lpstr>Примитивные типы: Булево</vt:lpstr>
      <vt:lpstr>Примитивные типы: Число</vt:lpstr>
      <vt:lpstr>Примитивные типы: Строка</vt:lpstr>
      <vt:lpstr>Примитивные типы: Дата</vt:lpstr>
      <vt:lpstr>Преобразование типов</vt:lpstr>
      <vt:lpstr>Работа с программными объектами</vt:lpstr>
      <vt:lpstr>Презентация PowerPoint</vt:lpstr>
      <vt:lpstr>Презентация PowerPoint</vt:lpstr>
      <vt:lpstr>Синтаксические конструкции</vt:lpstr>
      <vt:lpstr>Ветвление</vt:lpstr>
      <vt:lpstr>Ветвление</vt:lpstr>
      <vt:lpstr>Ветвление</vt:lpstr>
      <vt:lpstr>Цикл со счетчиком</vt:lpstr>
      <vt:lpstr>Цикл с предусловием</vt:lpstr>
      <vt:lpstr>Коллекции</vt:lpstr>
      <vt:lpstr>Коллекции - таблицы</vt:lpstr>
      <vt:lpstr>Данные в коллекции</vt:lpstr>
      <vt:lpstr>Данные в коллекции</vt:lpstr>
      <vt:lpstr>Цикл для обхода коллекций значений</vt:lpstr>
      <vt:lpstr>Универсальные коллекции значений</vt:lpstr>
      <vt:lpstr>Массив</vt:lpstr>
      <vt:lpstr>Массив</vt:lpstr>
      <vt:lpstr>Массив</vt:lpstr>
      <vt:lpstr>Массив</vt:lpstr>
      <vt:lpstr>Массив</vt:lpstr>
      <vt:lpstr>Структура</vt:lpstr>
      <vt:lpstr>Структура</vt:lpstr>
      <vt:lpstr>Структура</vt:lpstr>
      <vt:lpstr>Структура</vt:lpstr>
      <vt:lpstr>Структура</vt:lpstr>
      <vt:lpstr>Структура</vt:lpstr>
      <vt:lpstr>Структура</vt:lpstr>
      <vt:lpstr>Список значений</vt:lpstr>
      <vt:lpstr>Список значений</vt:lpstr>
      <vt:lpstr>Список значений</vt:lpstr>
      <vt:lpstr>Список значений</vt:lpstr>
      <vt:lpstr>Список значений</vt:lpstr>
      <vt:lpstr>Список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Общая форма</vt:lpstr>
      <vt:lpstr>Задача</vt:lpstr>
      <vt:lpstr>Разбор ФИО</vt:lpstr>
      <vt:lpstr>Разница дат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 занятие</dc:title>
  <dc:creator>Сергей</dc:creator>
  <cp:lastModifiedBy>eugeniy sizov</cp:lastModifiedBy>
  <cp:revision>202</cp:revision>
  <dcterms:created xsi:type="dcterms:W3CDTF">2011-02-01T12:09:32Z</dcterms:created>
  <dcterms:modified xsi:type="dcterms:W3CDTF">2020-09-08T06:05:44Z</dcterms:modified>
</cp:coreProperties>
</file>