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1"/>
  </p:sldMasterIdLst>
  <p:sldIdLst>
    <p:sldId id="287" r:id="rId2"/>
    <p:sldId id="388" r:id="rId3"/>
    <p:sldId id="389" r:id="rId4"/>
    <p:sldId id="391" r:id="rId5"/>
    <p:sldId id="392" r:id="rId6"/>
    <p:sldId id="393" r:id="rId7"/>
    <p:sldId id="394" r:id="rId8"/>
    <p:sldId id="402" r:id="rId9"/>
    <p:sldId id="395" r:id="rId10"/>
    <p:sldId id="396" r:id="rId11"/>
    <p:sldId id="397" r:id="rId12"/>
    <p:sldId id="398" r:id="rId13"/>
    <p:sldId id="403" r:id="rId14"/>
    <p:sldId id="338" r:id="rId15"/>
    <p:sldId id="271" r:id="rId16"/>
    <p:sldId id="292" r:id="rId17"/>
    <p:sldId id="293" r:id="rId18"/>
    <p:sldId id="277" r:id="rId19"/>
    <p:sldId id="325" r:id="rId20"/>
    <p:sldId id="404" r:id="rId21"/>
    <p:sldId id="294" r:id="rId22"/>
    <p:sldId id="278" r:id="rId23"/>
    <p:sldId id="297" r:id="rId24"/>
    <p:sldId id="298" r:id="rId25"/>
    <p:sldId id="299" r:id="rId26"/>
    <p:sldId id="291" r:id="rId27"/>
    <p:sldId id="301" r:id="rId28"/>
    <p:sldId id="273" r:id="rId29"/>
    <p:sldId id="274" r:id="rId30"/>
    <p:sldId id="275" r:id="rId31"/>
    <p:sldId id="276" r:id="rId32"/>
    <p:sldId id="305" r:id="rId33"/>
    <p:sldId id="368" r:id="rId34"/>
    <p:sldId id="369" r:id="rId35"/>
    <p:sldId id="370" r:id="rId36"/>
    <p:sldId id="302" r:id="rId37"/>
    <p:sldId id="279" r:id="rId38"/>
    <p:sldId id="303" r:id="rId39"/>
    <p:sldId id="304" r:id="rId40"/>
    <p:sldId id="280" r:id="rId41"/>
    <p:sldId id="281" r:id="rId42"/>
    <p:sldId id="340" r:id="rId43"/>
    <p:sldId id="339" r:id="rId44"/>
    <p:sldId id="341" r:id="rId45"/>
    <p:sldId id="342" r:id="rId46"/>
    <p:sldId id="282" r:id="rId47"/>
    <p:sldId id="286" r:id="rId48"/>
    <p:sldId id="283" r:id="rId49"/>
    <p:sldId id="346" r:id="rId50"/>
    <p:sldId id="347" r:id="rId51"/>
    <p:sldId id="348" r:id="rId52"/>
    <p:sldId id="381" r:id="rId53"/>
    <p:sldId id="284" r:id="rId54"/>
    <p:sldId id="350" r:id="rId55"/>
    <p:sldId id="351" r:id="rId56"/>
    <p:sldId id="352" r:id="rId57"/>
    <p:sldId id="357" r:id="rId58"/>
    <p:sldId id="358" r:id="rId59"/>
    <p:sldId id="359" r:id="rId60"/>
    <p:sldId id="382" r:id="rId61"/>
    <p:sldId id="383" r:id="rId62"/>
    <p:sldId id="384" r:id="rId63"/>
    <p:sldId id="385" r:id="rId64"/>
    <p:sldId id="386" r:id="rId65"/>
    <p:sldId id="387" r:id="rId66"/>
    <p:sldId id="322" r:id="rId67"/>
    <p:sldId id="360" r:id="rId68"/>
    <p:sldId id="361" r:id="rId69"/>
    <p:sldId id="362" r:id="rId70"/>
    <p:sldId id="363" r:id="rId71"/>
    <p:sldId id="364" r:id="rId72"/>
    <p:sldId id="365" r:id="rId73"/>
    <p:sldId id="366" r:id="rId74"/>
    <p:sldId id="367" r:id="rId75"/>
    <p:sldId id="343" r:id="rId76"/>
    <p:sldId id="344" r:id="rId77"/>
    <p:sldId id="345" r:id="rId78"/>
    <p:sldId id="405" r:id="rId79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Средний стиль 2 -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Средний стиль 2 -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Средний стиль 2 -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Средний стиль 2 -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Светлый стиль 3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8B1032C-EA38-4F05-BA0D-38AFFFC7BED3}" styleName="Светлый стиль 3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84" autoAdjust="0"/>
    <p:restoredTop sz="94660"/>
  </p:normalViewPr>
  <p:slideViewPr>
    <p:cSldViewPr>
      <p:cViewPr varScale="1">
        <p:scale>
          <a:sx n="77" d="100"/>
          <a:sy n="77" d="100"/>
        </p:scale>
        <p:origin x="132" y="768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31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88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CBB03645-8B2B-43D4-8CF1-788D1D3A41AC}"/>
    <pc:docChg chg="custSel modSld">
      <pc:chgData name="eugeniy sizov" userId="f166da1dfb7bc990" providerId="LiveId" clId="{CBB03645-8B2B-43D4-8CF1-788D1D3A41AC}" dt="2020-03-17T11:32:19.723" v="1" actId="27636"/>
      <pc:docMkLst>
        <pc:docMk/>
      </pc:docMkLst>
      <pc:sldChg chg="modSp mod">
        <pc:chgData name="eugeniy sizov" userId="f166da1dfb7bc990" providerId="LiveId" clId="{CBB03645-8B2B-43D4-8CF1-788D1D3A41AC}" dt="2020-03-17T11:32:19.723" v="1" actId="27636"/>
        <pc:sldMkLst>
          <pc:docMk/>
          <pc:sldMk cId="2057294236" sldId="286"/>
        </pc:sldMkLst>
        <pc:spChg chg="mod">
          <ac:chgData name="eugeniy sizov" userId="f166da1dfb7bc990" providerId="LiveId" clId="{CBB03645-8B2B-43D4-8CF1-788D1D3A41AC}" dt="2020-03-17T11:32:19.723" v="1" actId="27636"/>
          <ac:spMkLst>
            <pc:docMk/>
            <pc:sldMk cId="2057294236" sldId="286"/>
            <ac:spMk id="3" creationId="{00000000-0000-0000-0000-000000000000}"/>
          </ac:spMkLst>
        </pc:spChg>
      </pc:sldChg>
      <pc:sldChg chg="modSp">
        <pc:chgData name="eugeniy sizov" userId="f166da1dfb7bc990" providerId="LiveId" clId="{CBB03645-8B2B-43D4-8CF1-788D1D3A41AC}" dt="2020-03-17T11:32:19.452" v="0" actId="207"/>
        <pc:sldMkLst>
          <pc:docMk/>
          <pc:sldMk cId="2391645975" sldId="381"/>
        </pc:sldMkLst>
        <pc:spChg chg="mod">
          <ac:chgData name="eugeniy sizov" userId="f166da1dfb7bc990" providerId="LiveId" clId="{CBB03645-8B2B-43D4-8CF1-788D1D3A41AC}" dt="2020-03-17T11:32:19.452" v="0" actId="207"/>
          <ac:spMkLst>
            <pc:docMk/>
            <pc:sldMk cId="2391645975" sldId="381"/>
            <ac:spMk id="29699" creationId="{00000000-0000-0000-0000-000000000000}"/>
          </ac:spMkLst>
        </pc:spChg>
      </pc:sldChg>
    </pc:docChg>
  </pc:docChgLst>
  <pc:docChgLst>
    <pc:chgData name="eugeniy sizov" userId="f166da1dfb7bc990" providerId="LiveId" clId="{99ABC262-1883-4ED5-A24B-0399F56B7B47}"/>
    <pc:docChg chg="custSel addSld delSld modSld">
      <pc:chgData name="eugeniy sizov" userId="f166da1dfb7bc990" providerId="LiveId" clId="{99ABC262-1883-4ED5-A24B-0399F56B7B47}" dt="2018-11-13T10:08:58.072" v="2" actId="2696"/>
      <pc:docMkLst>
        <pc:docMk/>
      </pc:docMkLst>
      <pc:sldChg chg="modSp">
        <pc:chgData name="eugeniy sizov" userId="f166da1dfb7bc990" providerId="LiveId" clId="{99ABC262-1883-4ED5-A24B-0399F56B7B47}" dt="2018-11-13T10:08:53.750" v="1" actId="27636"/>
        <pc:sldMkLst>
          <pc:docMk/>
          <pc:sldMk cId="2057294236" sldId="286"/>
        </pc:sldMkLst>
        <pc:spChg chg="mod">
          <ac:chgData name="eugeniy sizov" userId="f166da1dfb7bc990" providerId="LiveId" clId="{99ABC262-1883-4ED5-A24B-0399F56B7B47}" dt="2018-11-13T10:08:53.750" v="1" actId="27636"/>
          <ac:spMkLst>
            <pc:docMk/>
            <pc:sldMk cId="2057294236" sldId="286"/>
            <ac:spMk id="3" creationId="{00000000-0000-0000-0000-000000000000}"/>
          </ac:spMkLst>
        </pc:spChg>
      </pc:sldChg>
      <pc:sldChg chg="add del">
        <pc:chgData name="eugeniy sizov" userId="f166da1dfb7bc990" providerId="LiveId" clId="{99ABC262-1883-4ED5-A24B-0399F56B7B47}" dt="2018-11-13T10:08:58.072" v="2" actId="2696"/>
        <pc:sldMkLst>
          <pc:docMk/>
          <pc:sldMk cId="843330757" sldId="37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615248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95525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780768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33497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5069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70007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8D14C-B0B6-412E-A4FA-EB464F80DBC4}" type="datetimeFigureOut">
              <a:rPr lang="ru-RU" smtClean="0"/>
              <a:pPr/>
              <a:t>07.09.2020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DD8D-9978-4DC2-B244-F3D79A870A66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91626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33ED7-CC3A-4DC7-BBB8-B1E15885FA80}" type="datetimeFigureOut">
              <a:rPr lang="ru-RU" smtClean="0"/>
              <a:t>07.09.2020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510C-9D3D-4530-A20C-39119351C7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9979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93663" y="6310313"/>
            <a:ext cx="949326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/81</a:t>
            </a: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</p:spTree>
    <p:extLst>
      <p:ext uri="{BB962C8B-B14F-4D97-AF65-F5344CB8AC3E}">
        <p14:creationId xmlns:p14="http://schemas.microsoft.com/office/powerpoint/2010/main" val="3202595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1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2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Занятие 3</a:t>
            </a:r>
          </a:p>
        </p:txBody>
      </p:sp>
      <p:sp>
        <p:nvSpPr>
          <p:cNvPr id="5" name="Объект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Темы:</a:t>
            </a:r>
          </a:p>
          <a:p>
            <a:pPr lvl="1"/>
            <a:r>
              <a:rPr lang="ru-RU" dirty="0">
                <a:solidFill>
                  <a:srgbClr val="FF0000"/>
                </a:solidFill>
              </a:rPr>
              <a:t>Встроенный программный язык</a:t>
            </a:r>
          </a:p>
        </p:txBody>
      </p:sp>
    </p:spTree>
    <p:extLst>
      <p:ext uri="{BB962C8B-B14F-4D97-AF65-F5344CB8AC3E}">
        <p14:creationId xmlns:p14="http://schemas.microsoft.com/office/powerpoint/2010/main" val="4259851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980728"/>
            <a:ext cx="2295238" cy="51904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55723" y="61139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Конфигуратор</a:t>
            </a:r>
            <a:endParaRPr lang="ru-RU" dirty="0"/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530780"/>
              </p:ext>
            </p:extLst>
          </p:nvPr>
        </p:nvGraphicFramePr>
        <p:xfrm>
          <a:off x="620890" y="1844824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4276041812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8024283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98820329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3981689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0042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777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6154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4900819"/>
              </p:ext>
            </p:extLst>
          </p:nvPr>
        </p:nvGraphicFramePr>
        <p:xfrm>
          <a:off x="623589" y="3327826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3244277791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9537977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614360597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263970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6493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5747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27421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402148"/>
              </p:ext>
            </p:extLst>
          </p:nvPr>
        </p:nvGraphicFramePr>
        <p:xfrm>
          <a:off x="642955" y="5137793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1581262253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53512341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13428486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12710370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4541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2387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8232917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061179" y="4314904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…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20890" y="1475492"/>
            <a:ext cx="3415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справочника «Валюты»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619572" y="2958505"/>
            <a:ext cx="407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справочника «Контрагенты»</a:t>
            </a:r>
            <a:endParaRPr lang="ru-RU" dirty="0"/>
          </a:p>
        </p:txBody>
      </p:sp>
      <p:sp>
        <p:nvSpPr>
          <p:cNvPr id="13" name="TextBox 12"/>
          <p:cNvSpPr txBox="1"/>
          <p:nvPr/>
        </p:nvSpPr>
        <p:spPr>
          <a:xfrm>
            <a:off x="620889" y="4777020"/>
            <a:ext cx="3497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справочника «Склады»</a:t>
            </a:r>
            <a:endParaRPr lang="ru-RU" dirty="0"/>
          </a:p>
        </p:txBody>
      </p:sp>
      <p:sp>
        <p:nvSpPr>
          <p:cNvPr id="14" name="Стрелка влево 13"/>
          <p:cNvSpPr/>
          <p:nvPr/>
        </p:nvSpPr>
        <p:spPr>
          <a:xfrm>
            <a:off x="4337955" y="3000470"/>
            <a:ext cx="2117995" cy="1854112"/>
          </a:xfrm>
          <a:prstGeom prst="leftArrow">
            <a:avLst/>
          </a:prstGeom>
          <a:solidFill>
            <a:schemeClr val="accent2">
              <a:alpha val="2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Обновить конфигурацию БД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03648" y="965185"/>
            <a:ext cx="1626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База данных</a:t>
            </a:r>
            <a:endParaRPr lang="ru-RU" dirty="0"/>
          </a:p>
        </p:txBody>
      </p:sp>
      <p:sp>
        <p:nvSpPr>
          <p:cNvPr id="16" name="Цилиндр 15"/>
          <p:cNvSpPr/>
          <p:nvPr/>
        </p:nvSpPr>
        <p:spPr>
          <a:xfrm>
            <a:off x="271767" y="731650"/>
            <a:ext cx="4068360" cy="5688632"/>
          </a:xfrm>
          <a:prstGeom prst="can">
            <a:avLst>
              <a:gd name="adj" fmla="val 19215"/>
            </a:avLst>
          </a:prstGeom>
          <a:solidFill>
            <a:schemeClr val="accent1">
              <a:alpha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Выноска 1 16"/>
          <p:cNvSpPr/>
          <p:nvPr/>
        </p:nvSpPr>
        <p:spPr>
          <a:xfrm>
            <a:off x="4572001" y="1334517"/>
            <a:ext cx="1453284" cy="726331"/>
          </a:xfrm>
          <a:prstGeom prst="borderCallout1">
            <a:avLst>
              <a:gd name="adj1" fmla="val 39940"/>
              <a:gd name="adj2" fmla="val 102718"/>
              <a:gd name="adj3" fmla="val 94391"/>
              <a:gd name="adj4" fmla="val 129767"/>
            </a:avLst>
          </a:prstGeom>
          <a:solidFill>
            <a:schemeClr val="accent3">
              <a:alpha val="12000"/>
            </a:schemeClr>
          </a:solidFill>
          <a:ln>
            <a:solidFill>
              <a:schemeClr val="accent3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Объекты метаданных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Выноска 1 17"/>
          <p:cNvSpPr/>
          <p:nvPr/>
        </p:nvSpPr>
        <p:spPr>
          <a:xfrm>
            <a:off x="4670310" y="5247067"/>
            <a:ext cx="1453284" cy="726331"/>
          </a:xfrm>
          <a:prstGeom prst="borderCallout1">
            <a:avLst>
              <a:gd name="adj1" fmla="val 33708"/>
              <a:gd name="adj2" fmla="val -5678"/>
              <a:gd name="adj3" fmla="val 50765"/>
              <a:gd name="adj4" fmla="val -90140"/>
            </a:avLst>
          </a:prstGeom>
          <a:ln>
            <a:tailEnd type="triangle" w="med" len="lg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Объекты </a:t>
            </a:r>
            <a:r>
              <a:rPr lang="ru-RU" dirty="0" smtClean="0">
                <a:solidFill>
                  <a:schemeClr val="tx1"/>
                </a:solidFill>
              </a:rPr>
              <a:t>базы данных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1870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1675595"/>
              </p:ext>
            </p:extLst>
          </p:nvPr>
        </p:nvGraphicFramePr>
        <p:xfrm>
          <a:off x="1127612" y="4950638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4276041812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8024283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98820329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3981689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042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777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6154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5219856"/>
              </p:ext>
            </p:extLst>
          </p:nvPr>
        </p:nvGraphicFramePr>
        <p:xfrm>
          <a:off x="1373642" y="5157363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3244277791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9537977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614360597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263970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6493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747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7421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3935337"/>
              </p:ext>
            </p:extLst>
          </p:nvPr>
        </p:nvGraphicFramePr>
        <p:xfrm>
          <a:off x="1619672" y="5397019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1581262253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53512341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13428486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12710370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541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387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8232917"/>
                  </a:ext>
                </a:extLst>
              </a:tr>
            </a:tbl>
          </a:graphicData>
        </a:graphic>
      </p:graphicFrame>
      <p:sp>
        <p:nvSpPr>
          <p:cNvPr id="16" name="Цилиндр 15"/>
          <p:cNvSpPr/>
          <p:nvPr/>
        </p:nvSpPr>
        <p:spPr>
          <a:xfrm>
            <a:off x="899592" y="4077072"/>
            <a:ext cx="4068360" cy="2448272"/>
          </a:xfrm>
          <a:prstGeom prst="can">
            <a:avLst>
              <a:gd name="adj" fmla="val 19215"/>
            </a:avLst>
          </a:prstGeom>
          <a:solidFill>
            <a:schemeClr val="accent1">
              <a:alpha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498" y="561021"/>
            <a:ext cx="5857389" cy="3444044"/>
          </a:xfrm>
          <a:prstGeom prst="rect">
            <a:avLst/>
          </a:prstGeom>
        </p:spPr>
      </p:pic>
      <p:sp>
        <p:nvSpPr>
          <p:cNvPr id="2" name="Стрелка углом 1"/>
          <p:cNvSpPr/>
          <p:nvPr/>
        </p:nvSpPr>
        <p:spPr>
          <a:xfrm>
            <a:off x="755576" y="1760915"/>
            <a:ext cx="2493485" cy="1656184"/>
          </a:xfrm>
          <a:prstGeom prst="bentArrow">
            <a:avLst/>
          </a:prstGeom>
          <a:noFill/>
          <a:ln w="508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r>
              <a:rPr lang="ru-RU" dirty="0" smtClean="0">
                <a:solidFill>
                  <a:srgbClr val="C00000"/>
                </a:solidFill>
              </a:rPr>
              <a:t>1С: Предприятие 8</a:t>
            </a:r>
            <a:endParaRPr lang="ru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996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Таблица 6"/>
          <p:cNvGraphicFramePr>
            <a:graphicFrameLocks noGrp="1"/>
          </p:cNvGraphicFramePr>
          <p:nvPr>
            <p:extLst/>
          </p:nvPr>
        </p:nvGraphicFramePr>
        <p:xfrm>
          <a:off x="1127612" y="4950638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4276041812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8024283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98820329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3981689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042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777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6154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/>
          </p:nvPr>
        </p:nvGraphicFramePr>
        <p:xfrm>
          <a:off x="1373642" y="5157363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3244277791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9537977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614360597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263970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6493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747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7421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/>
          </p:nvPr>
        </p:nvGraphicFramePr>
        <p:xfrm>
          <a:off x="1619672" y="5397019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1581262253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53512341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13428486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12710370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541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387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8232917"/>
                  </a:ext>
                </a:extLst>
              </a:tr>
            </a:tbl>
          </a:graphicData>
        </a:graphic>
      </p:graphicFrame>
      <p:sp>
        <p:nvSpPr>
          <p:cNvPr id="16" name="Цилиндр 15"/>
          <p:cNvSpPr/>
          <p:nvPr/>
        </p:nvSpPr>
        <p:spPr>
          <a:xfrm>
            <a:off x="899592" y="4077072"/>
            <a:ext cx="4068360" cy="2448272"/>
          </a:xfrm>
          <a:prstGeom prst="can">
            <a:avLst>
              <a:gd name="adj" fmla="val 19215"/>
            </a:avLst>
          </a:prstGeom>
          <a:solidFill>
            <a:schemeClr val="accent1">
              <a:alpha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498" y="561020"/>
            <a:ext cx="5857389" cy="3444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2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Таблица 6"/>
          <p:cNvGraphicFramePr>
            <a:graphicFrameLocks noGrp="1"/>
          </p:cNvGraphicFramePr>
          <p:nvPr>
            <p:extLst/>
          </p:nvPr>
        </p:nvGraphicFramePr>
        <p:xfrm>
          <a:off x="1127612" y="4950638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4276041812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8024283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98820329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3981689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042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777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6154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/>
          </p:nvPr>
        </p:nvGraphicFramePr>
        <p:xfrm>
          <a:off x="1373642" y="5157363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3244277791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9537977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614360597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263970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6493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747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7421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/>
          </p:nvPr>
        </p:nvGraphicFramePr>
        <p:xfrm>
          <a:off x="1619672" y="5397019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1581262253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53512341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13428486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12710370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541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387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8232917"/>
                  </a:ext>
                </a:extLst>
              </a:tr>
            </a:tbl>
          </a:graphicData>
        </a:graphic>
      </p:graphicFrame>
      <p:sp>
        <p:nvSpPr>
          <p:cNvPr id="16" name="Цилиндр 15"/>
          <p:cNvSpPr/>
          <p:nvPr/>
        </p:nvSpPr>
        <p:spPr>
          <a:xfrm>
            <a:off x="899592" y="4077072"/>
            <a:ext cx="4068360" cy="2448272"/>
          </a:xfrm>
          <a:prstGeom prst="can">
            <a:avLst>
              <a:gd name="adj" fmla="val 19215"/>
            </a:avLst>
          </a:prstGeom>
          <a:solidFill>
            <a:schemeClr val="accent1">
              <a:alpha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3131840" y="587357"/>
            <a:ext cx="5858046" cy="3306270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/>
        </p:nvSpPr>
        <p:spPr>
          <a:xfrm>
            <a:off x="3131840" y="587357"/>
            <a:ext cx="5867832" cy="393371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 smtClean="0">
                <a:solidFill>
                  <a:srgbClr val="C00000"/>
                </a:solidFill>
              </a:rPr>
              <a:t>1С: Предприятие 8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4" name="Блок-схема: альтернативный процесс 3"/>
          <p:cNvSpPr/>
          <p:nvPr/>
        </p:nvSpPr>
        <p:spPr>
          <a:xfrm>
            <a:off x="3915212" y="1200480"/>
            <a:ext cx="2304256" cy="1008112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6444866" y="2472424"/>
            <a:ext cx="2304256" cy="1008112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Блок-схема: альтернативный процесс 13"/>
          <p:cNvSpPr/>
          <p:nvPr/>
        </p:nvSpPr>
        <p:spPr>
          <a:xfrm>
            <a:off x="3899846" y="2449344"/>
            <a:ext cx="2304256" cy="1008112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05044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Таблица 6"/>
          <p:cNvGraphicFramePr>
            <a:graphicFrameLocks noGrp="1"/>
          </p:cNvGraphicFramePr>
          <p:nvPr>
            <p:extLst/>
          </p:nvPr>
        </p:nvGraphicFramePr>
        <p:xfrm>
          <a:off x="1127612" y="4950638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4276041812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8024283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98820329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3981689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042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777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6154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/>
          </p:nvPr>
        </p:nvGraphicFramePr>
        <p:xfrm>
          <a:off x="1373642" y="5157363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3244277791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9537977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614360597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263970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6493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747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7421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/>
          </p:nvPr>
        </p:nvGraphicFramePr>
        <p:xfrm>
          <a:off x="1619672" y="5397019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1581262253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53512341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13428486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12710370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541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387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8232917"/>
                  </a:ext>
                </a:extLst>
              </a:tr>
            </a:tbl>
          </a:graphicData>
        </a:graphic>
      </p:graphicFrame>
      <p:sp>
        <p:nvSpPr>
          <p:cNvPr id="16" name="Цилиндр 15"/>
          <p:cNvSpPr/>
          <p:nvPr/>
        </p:nvSpPr>
        <p:spPr>
          <a:xfrm>
            <a:off x="899592" y="4077072"/>
            <a:ext cx="4068360" cy="2448272"/>
          </a:xfrm>
          <a:prstGeom prst="can">
            <a:avLst>
              <a:gd name="adj" fmla="val 19215"/>
            </a:avLst>
          </a:prstGeom>
          <a:solidFill>
            <a:schemeClr val="accent1">
              <a:alpha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3131840" y="587357"/>
            <a:ext cx="5858046" cy="3306270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/>
        </p:nvSpPr>
        <p:spPr>
          <a:xfrm>
            <a:off x="3131840" y="587357"/>
            <a:ext cx="5867832" cy="393371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 smtClean="0">
                <a:solidFill>
                  <a:srgbClr val="C00000"/>
                </a:solidFill>
              </a:rPr>
              <a:t>1С: Предприятие 8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4" name="Блок-схема: альтернативный процесс 3"/>
          <p:cNvSpPr/>
          <p:nvPr/>
        </p:nvSpPr>
        <p:spPr>
          <a:xfrm>
            <a:off x="3915212" y="1200480"/>
            <a:ext cx="2304256" cy="1008112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Другие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6444866" y="2472424"/>
            <a:ext cx="2304256" cy="1008112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Блок-схема: альтернативный процесс 13"/>
          <p:cNvSpPr/>
          <p:nvPr/>
        </p:nvSpPr>
        <p:spPr>
          <a:xfrm>
            <a:off x="3899846" y="2449344"/>
            <a:ext cx="2304256" cy="1008112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Интерфейсные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5" name="Прямая со стрелкой 4"/>
          <p:cNvCxnSpPr/>
          <p:nvPr/>
        </p:nvCxnSpPr>
        <p:spPr>
          <a:xfrm flipH="1">
            <a:off x="5093064" y="3549213"/>
            <a:ext cx="2052320" cy="1751995"/>
          </a:xfrm>
          <a:prstGeom prst="straightConnector1">
            <a:avLst/>
          </a:prstGeom>
          <a:ln w="38100">
            <a:solidFill>
              <a:srgbClr val="00B050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777" y="2300218"/>
            <a:ext cx="1657143" cy="1761905"/>
          </a:xfrm>
          <a:prstGeom prst="rect">
            <a:avLst/>
          </a:prstGeom>
        </p:spPr>
      </p:pic>
      <p:cxnSp>
        <p:nvCxnSpPr>
          <p:cNvPr id="15" name="Прямая со стрелкой 14"/>
          <p:cNvCxnSpPr/>
          <p:nvPr/>
        </p:nvCxnSpPr>
        <p:spPr>
          <a:xfrm flipH="1" flipV="1">
            <a:off x="2531920" y="3051969"/>
            <a:ext cx="1116043" cy="6412"/>
          </a:xfrm>
          <a:prstGeom prst="straightConnector1">
            <a:avLst/>
          </a:prstGeom>
          <a:ln w="38100">
            <a:solidFill>
              <a:srgbClr val="00B050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41" y="587357"/>
            <a:ext cx="1455831" cy="46643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768" y="1046976"/>
            <a:ext cx="1838095" cy="371429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146" y="1445390"/>
            <a:ext cx="910260" cy="839879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4318" y="1445390"/>
            <a:ext cx="962481" cy="532103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05518" y="589356"/>
            <a:ext cx="916498" cy="928099"/>
          </a:xfrm>
          <a:prstGeom prst="rect">
            <a:avLst/>
          </a:prstGeom>
        </p:spPr>
      </p:pic>
      <p:cxnSp>
        <p:nvCxnSpPr>
          <p:cNvPr id="22" name="Прямая со стрелкой 21"/>
          <p:cNvCxnSpPr/>
          <p:nvPr/>
        </p:nvCxnSpPr>
        <p:spPr>
          <a:xfrm flipH="1" flipV="1">
            <a:off x="2470902" y="1753661"/>
            <a:ext cx="1116043" cy="6412"/>
          </a:xfrm>
          <a:prstGeom prst="straightConnector1">
            <a:avLst/>
          </a:prstGeom>
          <a:ln w="38100">
            <a:solidFill>
              <a:srgbClr val="00B050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/>
          <p:cNvCxnSpPr/>
          <p:nvPr/>
        </p:nvCxnSpPr>
        <p:spPr>
          <a:xfrm flipH="1" flipV="1">
            <a:off x="6261367" y="1766624"/>
            <a:ext cx="1046937" cy="637123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/>
          <p:cNvCxnSpPr/>
          <p:nvPr/>
        </p:nvCxnSpPr>
        <p:spPr>
          <a:xfrm flipH="1" flipV="1">
            <a:off x="5911962" y="1766626"/>
            <a:ext cx="16844" cy="1014302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 flipH="1" flipV="1">
            <a:off x="5781933" y="2976480"/>
            <a:ext cx="1116043" cy="6412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6352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Блок-схема: альтернативный процесс 13"/>
          <p:cNvSpPr/>
          <p:nvPr/>
        </p:nvSpPr>
        <p:spPr>
          <a:xfrm>
            <a:off x="3489877" y="692696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Д</a:t>
            </a:r>
            <a:r>
              <a:rPr lang="ru-RU" dirty="0" smtClean="0">
                <a:solidFill>
                  <a:schemeClr val="tx1"/>
                </a:solidFill>
              </a:rPr>
              <a:t>ругие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8" name="Блок-схема: альтернативный процесс 47"/>
          <p:cNvSpPr/>
          <p:nvPr/>
        </p:nvSpPr>
        <p:spPr>
          <a:xfrm>
            <a:off x="3635896" y="4353207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Другие программные объекты</a:t>
            </a:r>
          </a:p>
        </p:txBody>
      </p:sp>
      <p:cxnSp>
        <p:nvCxnSpPr>
          <p:cNvPr id="50" name="Прямая со стрелкой 49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я со стрелкой 50"/>
          <p:cNvCxnSpPr/>
          <p:nvPr/>
        </p:nvCxnSpPr>
        <p:spPr>
          <a:xfrm flipH="1">
            <a:off x="1858019" y="4293096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Прямая со стрелкой 51"/>
          <p:cNvCxnSpPr/>
          <p:nvPr/>
        </p:nvCxnSpPr>
        <p:spPr>
          <a:xfrm>
            <a:off x="3512945" y="3429000"/>
            <a:ext cx="2957704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1165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50" name="Прямая со стрелкой 49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Прямая со стрелкой 51"/>
          <p:cNvCxnSpPr/>
          <p:nvPr/>
        </p:nvCxnSpPr>
        <p:spPr>
          <a:xfrm>
            <a:off x="3512945" y="3429000"/>
            <a:ext cx="2957704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 стрелкой 14"/>
          <p:cNvCxnSpPr/>
          <p:nvPr/>
        </p:nvCxnSpPr>
        <p:spPr>
          <a:xfrm flipH="1">
            <a:off x="1858019" y="4267347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27350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9" name="Прямая со стрелкой 18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>
            <a:off x="3512945" y="3429000"/>
            <a:ext cx="2957704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858019" y="4267347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993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 tmFilter="0, 0; .2, .5; .8, .5; 1, 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0" tmFilter="0, 0; .2, .5; .8, .5; 1, 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50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8" grpId="1" animBg="1"/>
      <p:bldP spid="37" grpId="0" animBg="1"/>
      <p:bldP spid="37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7" name="Выноска 3 46"/>
          <p:cNvSpPr/>
          <p:nvPr/>
        </p:nvSpPr>
        <p:spPr>
          <a:xfrm>
            <a:off x="3741904" y="3381155"/>
            <a:ext cx="2198247" cy="801868"/>
          </a:xfrm>
          <a:prstGeom prst="borderCallout3">
            <a:avLst>
              <a:gd name="adj1" fmla="val 22601"/>
              <a:gd name="adj2" fmla="val -539"/>
              <a:gd name="adj3" fmla="val -6811"/>
              <a:gd name="adj4" fmla="val -8515"/>
              <a:gd name="adj5" fmla="val 103"/>
              <a:gd name="adj6" fmla="val -20671"/>
              <a:gd name="adj7" fmla="val 18709"/>
              <a:gd name="adj8" fmla="val -28225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 значения константы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9" name="Прямая со стрелкой 18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>
            <a:off x="3512945" y="3301383"/>
            <a:ext cx="2957704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Выноска 3 21"/>
          <p:cNvSpPr/>
          <p:nvPr/>
        </p:nvSpPr>
        <p:spPr>
          <a:xfrm>
            <a:off x="558614" y="4350084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37981"/>
              <a:gd name="adj4" fmla="val 26423"/>
              <a:gd name="adj5" fmla="val -66221"/>
              <a:gd name="adj6" fmla="val 39963"/>
              <a:gd name="adj7" fmla="val -120298"/>
              <a:gd name="adj8" fmla="val 6388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21" name="Прямая со стрелкой 20"/>
          <p:cNvCxnSpPr/>
          <p:nvPr/>
        </p:nvCxnSpPr>
        <p:spPr>
          <a:xfrm flipH="1">
            <a:off x="1858019" y="4267347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Выноска 3 22"/>
          <p:cNvSpPr/>
          <p:nvPr/>
        </p:nvSpPr>
        <p:spPr>
          <a:xfrm>
            <a:off x="2267744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2864"/>
              <a:gd name="adj4" fmla="val -29634"/>
              <a:gd name="adj5" fmla="val -62676"/>
              <a:gd name="adj6" fmla="val -27355"/>
              <a:gd name="adj7" fmla="val -76293"/>
              <a:gd name="adj8" fmla="val -17219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набора записей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Выноска 3 24"/>
          <p:cNvSpPr/>
          <p:nvPr/>
        </p:nvSpPr>
        <p:spPr>
          <a:xfrm>
            <a:off x="4127292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9553"/>
              <a:gd name="adj4" fmla="val -3573"/>
              <a:gd name="adj5" fmla="val -55220"/>
              <a:gd name="adj6" fmla="val -12434"/>
              <a:gd name="adj7" fmla="val -80715"/>
              <a:gd name="adj8" fmla="val -4758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04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10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50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1000" tmFilter="0, 0; .2, .5; .8, .5; 1, 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3" dur="50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4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1000" tmFilter="0, 0; .2, .5; .8, .5; 1, 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50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1000" tmFilter="0, 0; .2, .5; .8, .5; 1, 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" dur="500" autoRev="1" fill="hold"/>
                                        <p:tgtEl>
                                          <p:spTgt spid="4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47" grpId="1" animBg="1"/>
      <p:bldP spid="22" grpId="0" animBg="1"/>
      <p:bldP spid="22" grpId="1" animBg="1"/>
      <p:bldP spid="23" grpId="0" animBg="1"/>
      <p:bldP spid="23" grpId="1" animBg="1"/>
      <p:bldP spid="25" grpId="0" animBg="1"/>
      <p:bldP spid="25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Выноска 3 39"/>
          <p:cNvSpPr/>
          <p:nvPr/>
        </p:nvSpPr>
        <p:spPr>
          <a:xfrm>
            <a:off x="558614" y="4350084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37981"/>
              <a:gd name="adj4" fmla="val 26423"/>
              <a:gd name="adj5" fmla="val -66221"/>
              <a:gd name="adj6" fmla="val 39963"/>
              <a:gd name="adj7" fmla="val -120298"/>
              <a:gd name="adj8" fmla="val 6388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1" name="Выноска 3 40"/>
          <p:cNvSpPr/>
          <p:nvPr/>
        </p:nvSpPr>
        <p:spPr>
          <a:xfrm>
            <a:off x="2267744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40320"/>
              <a:gd name="adj4" fmla="val -25459"/>
              <a:gd name="adj5" fmla="val -62676"/>
              <a:gd name="adj6" fmla="val -23876"/>
              <a:gd name="adj7" fmla="val -78778"/>
              <a:gd name="adj8" fmla="val -1304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набора записей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2" name="Выноска 3 41"/>
          <p:cNvSpPr/>
          <p:nvPr/>
        </p:nvSpPr>
        <p:spPr>
          <a:xfrm>
            <a:off x="4127292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9553"/>
              <a:gd name="adj4" fmla="val -3573"/>
              <a:gd name="adj5" fmla="val -55220"/>
              <a:gd name="adj6" fmla="val -12434"/>
              <a:gd name="adj7" fmla="val -85686"/>
              <a:gd name="adj8" fmla="val -48971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4" name="Прямоугольник 43"/>
          <p:cNvSpPr/>
          <p:nvPr/>
        </p:nvSpPr>
        <p:spPr>
          <a:xfrm>
            <a:off x="3769645" y="2575702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45" name="Прямоугольник 44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47" name="Выноска 3 46"/>
          <p:cNvSpPr/>
          <p:nvPr/>
        </p:nvSpPr>
        <p:spPr>
          <a:xfrm>
            <a:off x="3741904" y="3381155"/>
            <a:ext cx="2198247" cy="801868"/>
          </a:xfrm>
          <a:prstGeom prst="borderCallout3">
            <a:avLst>
              <a:gd name="adj1" fmla="val 22601"/>
              <a:gd name="adj2" fmla="val -539"/>
              <a:gd name="adj3" fmla="val -6811"/>
              <a:gd name="adj4" fmla="val -8515"/>
              <a:gd name="adj5" fmla="val 103"/>
              <a:gd name="adj6" fmla="val -20671"/>
              <a:gd name="adj7" fmla="val 18709"/>
              <a:gd name="adj8" fmla="val -28225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 значения константы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3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 tmFilter="0, 0; .2, .5; .8, .5; 1, 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autoRev="1" fill="hold"/>
                                        <p:tgtEl>
                                          <p:spTgt spid="4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0" tmFilter="0, 0; .2, .5; .8, .5; 1, 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500" autoRev="1" fill="hold"/>
                                        <p:tgtEl>
                                          <p:spTgt spid="4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44" grpId="1" animBg="1"/>
      <p:bldP spid="45" grpId="0" animBg="1"/>
      <p:bldP spid="45" grpId="1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9" name="Выноска 3 38"/>
          <p:cNvSpPr/>
          <p:nvPr/>
        </p:nvSpPr>
        <p:spPr>
          <a:xfrm>
            <a:off x="539552" y="2575702"/>
            <a:ext cx="2880320" cy="432000"/>
          </a:xfrm>
          <a:prstGeom prst="borderCallout3">
            <a:avLst>
              <a:gd name="adj1" fmla="val 18750"/>
              <a:gd name="adj2" fmla="val -2047"/>
              <a:gd name="adj3" fmla="val 10367"/>
              <a:gd name="adj4" fmla="val -8181"/>
              <a:gd name="adj5" fmla="val -77135"/>
              <a:gd name="adj6" fmla="val -9190"/>
              <a:gd name="adj7" fmla="val -393850"/>
              <a:gd name="adj8" fmla="val 3085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7" name="Выноска 3 46"/>
          <p:cNvSpPr/>
          <p:nvPr/>
        </p:nvSpPr>
        <p:spPr>
          <a:xfrm>
            <a:off x="3741904" y="3381155"/>
            <a:ext cx="2198247" cy="801868"/>
          </a:xfrm>
          <a:prstGeom prst="borderCallout3">
            <a:avLst>
              <a:gd name="adj1" fmla="val 22601"/>
              <a:gd name="adj2" fmla="val -539"/>
              <a:gd name="adj3" fmla="val -6811"/>
              <a:gd name="adj4" fmla="val -8515"/>
              <a:gd name="adj5" fmla="val 103"/>
              <a:gd name="adj6" fmla="val -20671"/>
              <a:gd name="adj7" fmla="val 18709"/>
              <a:gd name="adj8" fmla="val -28225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 значения константы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558614" y="4350084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37981"/>
              <a:gd name="adj4" fmla="val 26423"/>
              <a:gd name="adj5" fmla="val -66221"/>
              <a:gd name="adj6" fmla="val 39963"/>
              <a:gd name="adj7" fmla="val -120298"/>
              <a:gd name="adj8" fmla="val 6388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0" name="Выноска 3 19"/>
          <p:cNvSpPr/>
          <p:nvPr/>
        </p:nvSpPr>
        <p:spPr>
          <a:xfrm>
            <a:off x="2267744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40320"/>
              <a:gd name="adj4" fmla="val -29634"/>
              <a:gd name="adj5" fmla="val -70132"/>
              <a:gd name="adj6" fmla="val -26659"/>
              <a:gd name="adj7" fmla="val -78778"/>
              <a:gd name="adj8" fmla="val -1374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набора записей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Выноска 3 20"/>
          <p:cNvSpPr/>
          <p:nvPr/>
        </p:nvSpPr>
        <p:spPr>
          <a:xfrm>
            <a:off x="4127292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9553"/>
              <a:gd name="adj4" fmla="val -3573"/>
              <a:gd name="adj5" fmla="val -55220"/>
              <a:gd name="adj6" fmla="val -12434"/>
              <a:gd name="adj7" fmla="val -70774"/>
              <a:gd name="adj8" fmla="val -48275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/>
          <p:cNvSpPr/>
          <p:nvPr/>
        </p:nvSpPr>
        <p:spPr>
          <a:xfrm>
            <a:off x="3769645" y="2575702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</p:spTree>
    <p:extLst>
      <p:ext uri="{BB962C8B-B14F-4D97-AF65-F5344CB8AC3E}">
        <p14:creationId xmlns:p14="http://schemas.microsoft.com/office/powerpoint/2010/main" val="471643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0" tmFilter="0, 0; .2, .5; .8, .5; 1, 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500" autoRev="1" fill="hold"/>
                                        <p:tgtEl>
                                          <p:spTgt spid="3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39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Выноска 3 37"/>
          <p:cNvSpPr/>
          <p:nvPr/>
        </p:nvSpPr>
        <p:spPr>
          <a:xfrm>
            <a:off x="539552" y="5113023"/>
            <a:ext cx="2880320" cy="432000"/>
          </a:xfrm>
          <a:prstGeom prst="borderCallout3">
            <a:avLst>
              <a:gd name="adj1" fmla="val 18750"/>
              <a:gd name="adj2" fmla="val -2675"/>
              <a:gd name="adj3" fmla="val 10367"/>
              <a:gd name="adj4" fmla="val -8809"/>
              <a:gd name="adj5" fmla="val -62465"/>
              <a:gd name="adj6" fmla="val -11076"/>
              <a:gd name="adj7" fmla="val -370797"/>
              <a:gd name="adj8" fmla="val 340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сеанса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9" name="Выноска 3 38"/>
          <p:cNvSpPr/>
          <p:nvPr/>
        </p:nvSpPr>
        <p:spPr>
          <a:xfrm>
            <a:off x="539552" y="2575702"/>
            <a:ext cx="2880320" cy="432000"/>
          </a:xfrm>
          <a:prstGeom prst="borderCallout3">
            <a:avLst>
              <a:gd name="adj1" fmla="val 18750"/>
              <a:gd name="adj2" fmla="val -2047"/>
              <a:gd name="adj3" fmla="val 10367"/>
              <a:gd name="adj4" fmla="val -8181"/>
              <a:gd name="adj5" fmla="val -77135"/>
              <a:gd name="adj6" fmla="val -9190"/>
              <a:gd name="adj7" fmla="val -393850"/>
              <a:gd name="adj8" fmla="val 3085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7" name="Выноска 3 46"/>
          <p:cNvSpPr/>
          <p:nvPr/>
        </p:nvSpPr>
        <p:spPr>
          <a:xfrm>
            <a:off x="3741904" y="3381155"/>
            <a:ext cx="2198247" cy="801868"/>
          </a:xfrm>
          <a:prstGeom prst="borderCallout3">
            <a:avLst>
              <a:gd name="adj1" fmla="val 22601"/>
              <a:gd name="adj2" fmla="val -539"/>
              <a:gd name="adj3" fmla="val -6811"/>
              <a:gd name="adj4" fmla="val -8515"/>
              <a:gd name="adj5" fmla="val 103"/>
              <a:gd name="adj6" fmla="val -20671"/>
              <a:gd name="adj7" fmla="val 18709"/>
              <a:gd name="adj8" fmla="val -28225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 значения константы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558614" y="4350084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37981"/>
              <a:gd name="adj4" fmla="val 26423"/>
              <a:gd name="adj5" fmla="val -66221"/>
              <a:gd name="adj6" fmla="val 39963"/>
              <a:gd name="adj7" fmla="val -120298"/>
              <a:gd name="adj8" fmla="val 6388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0" name="Выноска 3 19"/>
          <p:cNvSpPr/>
          <p:nvPr/>
        </p:nvSpPr>
        <p:spPr>
          <a:xfrm>
            <a:off x="2267744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7835"/>
              <a:gd name="adj4" fmla="val -28242"/>
              <a:gd name="adj5" fmla="val -65161"/>
              <a:gd name="adj6" fmla="val -26659"/>
              <a:gd name="adj7" fmla="val -83749"/>
              <a:gd name="adj8" fmla="val -15132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набора записей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Выноска 3 20"/>
          <p:cNvSpPr/>
          <p:nvPr/>
        </p:nvSpPr>
        <p:spPr>
          <a:xfrm>
            <a:off x="4127292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9553"/>
              <a:gd name="adj4" fmla="val -3573"/>
              <a:gd name="adj5" fmla="val -55220"/>
              <a:gd name="adj6" fmla="val -12434"/>
              <a:gd name="adj7" fmla="val -65803"/>
              <a:gd name="adj8" fmla="val -46188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/>
          <p:cNvSpPr/>
          <p:nvPr/>
        </p:nvSpPr>
        <p:spPr>
          <a:xfrm>
            <a:off x="3769645" y="2575702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</p:spTree>
    <p:extLst>
      <p:ext uri="{BB962C8B-B14F-4D97-AF65-F5344CB8AC3E}">
        <p14:creationId xmlns:p14="http://schemas.microsoft.com/office/powerpoint/2010/main" val="1513114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0" tmFilter="0, 0; .2, .5; .8, .5; 1, 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500" autoRev="1" fill="hold"/>
                                        <p:tgtEl>
                                          <p:spTgt spid="3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8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5862" y="1484784"/>
            <a:ext cx="8784000" cy="4752527"/>
          </a:xfrm>
        </p:spPr>
        <p:txBody>
          <a:bodyPr>
            <a:normAutofit/>
          </a:bodyPr>
          <a:lstStyle/>
          <a:p>
            <a:r>
              <a:rPr lang="ru-RU" dirty="0"/>
              <a:t>Язык </a:t>
            </a:r>
            <a:r>
              <a:rPr lang="ru-RU" dirty="0" err="1"/>
              <a:t>РеГиСтРоНеЗаВиСиМыЙ</a:t>
            </a:r>
            <a:r>
              <a:rPr lang="ru-RU" dirty="0"/>
              <a:t>, двуязычный (русский и английский языки)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936104"/>
          </a:xfrm>
        </p:spPr>
        <p:txBody>
          <a:bodyPr>
            <a:normAutofit fontScale="90000"/>
          </a:bodyPr>
          <a:lstStyle/>
          <a:p>
            <a:r>
              <a:rPr lang="ru-RU" dirty="0">
                <a:solidFill>
                  <a:srgbClr val="FF0000"/>
                </a:solidFill>
              </a:rPr>
              <a:t>Особенность встроенного программного языка</a:t>
            </a:r>
          </a:p>
        </p:txBody>
      </p:sp>
    </p:spTree>
    <p:extLst>
      <p:ext uri="{BB962C8B-B14F-4D97-AF65-F5344CB8AC3E}">
        <p14:creationId xmlns:p14="http://schemas.microsoft.com/office/powerpoint/2010/main" val="1140336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Операторы</a:t>
            </a:r>
            <a:r>
              <a:rPr lang="ru-RU" dirty="0">
                <a:solidFill>
                  <a:srgbClr val="FF0000"/>
                </a:solidFill>
              </a:rPr>
              <a:t>;</a:t>
            </a:r>
          </a:p>
          <a:p>
            <a:r>
              <a:rPr lang="ru-RU" dirty="0">
                <a:solidFill>
                  <a:srgbClr val="00B050"/>
                </a:solidFill>
              </a:rPr>
              <a:t>//Комментарии</a:t>
            </a:r>
          </a:p>
          <a:p>
            <a:pPr marL="857250" lvl="2" indent="0">
              <a:buNone/>
            </a:pPr>
            <a:endParaRPr lang="ru-RU" sz="2000" dirty="0">
              <a:solidFill>
                <a:srgbClr val="00B050"/>
              </a:solidFill>
            </a:endParaRP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//Комментарии начинаются с знака «//» </a:t>
            </a: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//и заканчивается концом строки.</a:t>
            </a: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//В режиме исполнения программы комментарии </a:t>
            </a:r>
            <a:r>
              <a:rPr lang="en-US" sz="2000" dirty="0">
                <a:solidFill>
                  <a:srgbClr val="00B050"/>
                </a:solidFill>
              </a:rPr>
              <a:t>//</a:t>
            </a:r>
            <a:r>
              <a:rPr lang="ru-RU" sz="2000" dirty="0">
                <a:solidFill>
                  <a:srgbClr val="00B050"/>
                </a:solidFill>
              </a:rPr>
              <a:t>пропускаются.</a:t>
            </a: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//Комментарий может начинаться с начала строки или </a:t>
            </a:r>
            <a:r>
              <a:rPr lang="en-US" sz="2000" dirty="0">
                <a:solidFill>
                  <a:srgbClr val="00B050"/>
                </a:solidFill>
              </a:rPr>
              <a:t>//</a:t>
            </a:r>
            <a:r>
              <a:rPr lang="ru-RU" sz="2000" dirty="0">
                <a:solidFill>
                  <a:srgbClr val="00B050"/>
                </a:solidFill>
              </a:rPr>
              <a:t>после</a:t>
            </a: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//оператора той же строки.</a:t>
            </a:r>
          </a:p>
        </p:txBody>
      </p:sp>
      <p:sp>
        <p:nvSpPr>
          <p:cNvPr id="7680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Что располагается в модуле</a:t>
            </a:r>
          </a:p>
        </p:txBody>
      </p:sp>
    </p:spTree>
    <p:extLst>
      <p:ext uri="{BB962C8B-B14F-4D97-AF65-F5344CB8AC3E}">
        <p14:creationId xmlns:p14="http://schemas.microsoft.com/office/powerpoint/2010/main" val="445171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68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7680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«Атом» управления поведением системы</a:t>
            </a:r>
          </a:p>
          <a:p>
            <a:r>
              <a:rPr lang="ru-RU" dirty="0"/>
              <a:t>Операторы делятся на:</a:t>
            </a:r>
          </a:p>
          <a:p>
            <a:pPr lvl="1"/>
            <a:r>
              <a:rPr lang="ru-RU" dirty="0"/>
              <a:t>Операторы явного объявления переменных</a:t>
            </a:r>
          </a:p>
          <a:p>
            <a:pPr lvl="2"/>
            <a:r>
              <a:rPr lang="ru-RU" sz="2600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 </a:t>
            </a: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ИмяПеременной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 lvl="1"/>
            <a:r>
              <a:rPr lang="ru-RU" dirty="0"/>
              <a:t>Исполняемые операторы</a:t>
            </a:r>
          </a:p>
          <a:p>
            <a:pPr lvl="2"/>
            <a:r>
              <a:rPr lang="ru-RU" dirty="0"/>
              <a:t>Операторы присвоения </a:t>
            </a:r>
          </a:p>
          <a:p>
            <a:pPr lvl="3"/>
            <a:r>
              <a:rPr lang="ru-RU" sz="2600" b="1" dirty="0" err="1">
                <a:solidFill>
                  <a:srgbClr val="0070C0"/>
                </a:solidFill>
                <a:latin typeface="Courier New" pitchFamily="49" charset="0"/>
              </a:rPr>
              <a:t>ИмяПеременной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b="1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600" dirty="0">
                <a:latin typeface="Courier New" pitchFamily="49" charset="0"/>
              </a:rPr>
              <a:t> 1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 lvl="2"/>
            <a:r>
              <a:rPr lang="ru-RU" dirty="0"/>
              <a:t>Оператор вызова на исполнения процедуры или функции (метода объекта)</a:t>
            </a:r>
          </a:p>
          <a:p>
            <a:pPr lvl="3"/>
            <a:r>
              <a:rPr lang="ru-RU" sz="2600" b="1" dirty="0" err="1">
                <a:solidFill>
                  <a:srgbClr val="0070C0"/>
                </a:solidFill>
                <a:latin typeface="Courier New" pitchFamily="49" charset="0"/>
              </a:rPr>
              <a:t>ИмяПроцедуры</a:t>
            </a:r>
            <a:r>
              <a:rPr lang="ru-RU" sz="2600" b="1" dirty="0">
                <a:solidFill>
                  <a:srgbClr val="FF0000"/>
                </a:solidFill>
                <a:latin typeface="Courier New" pitchFamily="49" charset="0"/>
              </a:rPr>
              <a:t>()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 lvl="1"/>
            <a:r>
              <a:rPr lang="ru-RU" dirty="0"/>
              <a:t>Синтаксические конструкции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Операторы</a:t>
            </a:r>
          </a:p>
        </p:txBody>
      </p:sp>
    </p:spTree>
    <p:extLst>
      <p:ext uri="{BB962C8B-B14F-4D97-AF65-F5344CB8AC3E}">
        <p14:creationId xmlns:p14="http://schemas.microsoft.com/office/powerpoint/2010/main" val="4013540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60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Любой оператор заканчивается знаком «</a:t>
            </a:r>
            <a:r>
              <a:rPr lang="ru-RU" dirty="0">
                <a:solidFill>
                  <a:srgbClr val="FF0000"/>
                </a:solidFill>
              </a:rPr>
              <a:t>;</a:t>
            </a:r>
            <a:r>
              <a:rPr lang="ru-RU" dirty="0"/>
              <a:t>»</a:t>
            </a:r>
          </a:p>
          <a:p>
            <a:pPr marL="457200" lvl="1" indent="0">
              <a:buNone/>
            </a:pP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600" dirty="0">
                <a:latin typeface="Courier New" pitchFamily="49" charset="0"/>
              </a:rPr>
              <a:t> 1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r>
              <a:rPr lang="ru-RU" dirty="0"/>
              <a:t>Один оператор может располагаться на нескольких строках</a:t>
            </a:r>
          </a:p>
          <a:p>
            <a:pPr marL="457200" lvl="1" indent="0">
              <a:buNone/>
            </a:pP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endParaRPr lang="ru-RU" sz="2600" dirty="0">
              <a:solidFill>
                <a:srgbClr val="0070C0"/>
              </a:solidFill>
              <a:latin typeface="Courier New" pitchFamily="49" charset="0"/>
            </a:endParaRPr>
          </a:p>
          <a:p>
            <a:pPr marL="457200" lvl="1" indent="0">
              <a:buNone/>
            </a:pP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=</a:t>
            </a:r>
          </a:p>
          <a:p>
            <a:pPr marL="457200" lvl="1" indent="0">
              <a:buNone/>
            </a:pPr>
            <a:r>
              <a:rPr lang="ru-RU" sz="2600" dirty="0">
                <a:latin typeface="Courier New" pitchFamily="49" charset="0"/>
              </a:rPr>
              <a:t>1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r>
              <a:rPr lang="ru-RU" dirty="0"/>
              <a:t>Несколько операторов может быть в одной строке</a:t>
            </a:r>
          </a:p>
          <a:p>
            <a:pPr marL="457200" lvl="1" indent="0">
              <a:buNone/>
            </a:pP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600" dirty="0">
                <a:latin typeface="Courier New" pitchFamily="49" charset="0"/>
              </a:rPr>
              <a:t> 1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ВашаПеременная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600" dirty="0">
                <a:latin typeface="Courier New" pitchFamily="49" charset="0"/>
              </a:rPr>
              <a:t> 2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Операторы - синтаксис</a:t>
            </a:r>
          </a:p>
        </p:txBody>
      </p:sp>
    </p:spTree>
    <p:extLst>
      <p:ext uri="{BB962C8B-B14F-4D97-AF65-F5344CB8AC3E}">
        <p14:creationId xmlns:p14="http://schemas.microsoft.com/office/powerpoint/2010/main" val="1634241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057400"/>
            <a:ext cx="8610600" cy="3886200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Явное объявление: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МаксимальныйКредит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глТекущийПользователь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Экспорт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ru-RU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Неявное объявление: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b="1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Кредит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1000000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//Если в операторе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//присвоения встречается необъявленная явно 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//переменная, то это неявное объявление переменной</a:t>
            </a:r>
          </a:p>
        </p:txBody>
      </p:sp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548680"/>
            <a:ext cx="8229600" cy="8229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Объявление переменных</a:t>
            </a:r>
          </a:p>
        </p:txBody>
      </p:sp>
    </p:spTree>
    <p:extLst>
      <p:ext uri="{BB962C8B-B14F-4D97-AF65-F5344CB8AC3E}">
        <p14:creationId xmlns:p14="http://schemas.microsoft.com/office/powerpoint/2010/main" val="62891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5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5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355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5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Hello</a:t>
            </a:r>
            <a:r>
              <a:rPr lang="en-US">
                <a:solidFill>
                  <a:srgbClr val="C00000"/>
                </a:solidFill>
              </a:rPr>
              <a:t>, World !</a:t>
            </a:r>
            <a:endParaRPr lang="ru-RU" dirty="0">
              <a:solidFill>
                <a:srgbClr val="C00000"/>
              </a:solidFill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428" y="1662333"/>
            <a:ext cx="7057143" cy="35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172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38" name="Выноска 3 37"/>
          <p:cNvSpPr/>
          <p:nvPr/>
        </p:nvSpPr>
        <p:spPr>
          <a:xfrm>
            <a:off x="539552" y="5113023"/>
            <a:ext cx="2880320" cy="432000"/>
          </a:xfrm>
          <a:prstGeom prst="borderCallout3">
            <a:avLst>
              <a:gd name="adj1" fmla="val 18750"/>
              <a:gd name="adj2" fmla="val -2675"/>
              <a:gd name="adj3" fmla="val 10367"/>
              <a:gd name="adj4" fmla="val -8809"/>
              <a:gd name="adj5" fmla="val -62465"/>
              <a:gd name="adj6" fmla="val -11076"/>
              <a:gd name="adj7" fmla="val -370797"/>
              <a:gd name="adj8" fmla="val 340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сеанса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9" name="Выноска 3 38"/>
          <p:cNvSpPr/>
          <p:nvPr/>
        </p:nvSpPr>
        <p:spPr>
          <a:xfrm>
            <a:off x="539552" y="2575702"/>
            <a:ext cx="2880320" cy="432000"/>
          </a:xfrm>
          <a:prstGeom prst="borderCallout3">
            <a:avLst>
              <a:gd name="adj1" fmla="val 18750"/>
              <a:gd name="adj2" fmla="val -2047"/>
              <a:gd name="adj3" fmla="val 10367"/>
              <a:gd name="adj4" fmla="val -8181"/>
              <a:gd name="adj5" fmla="val -77135"/>
              <a:gd name="adj6" fmla="val -9190"/>
              <a:gd name="adj7" fmla="val -393850"/>
              <a:gd name="adj8" fmla="val 3085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665005"/>
            <a:ext cx="4679080" cy="234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74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несколько операторов должны выполняться в определенной последовательности</a:t>
            </a:r>
            <a:r>
              <a:rPr lang="en-US" dirty="0"/>
              <a:t> </a:t>
            </a:r>
            <a:r>
              <a:rPr lang="ru-RU" dirty="0"/>
              <a:t>несколько раз, то их удобно объединять в Процедуру или Функцию</a:t>
            </a:r>
          </a:p>
          <a:p>
            <a:r>
              <a:rPr lang="ru-RU" dirty="0"/>
              <a:t>Впоследствии, можно будет указывать не каждый оператор в отдельности, а вызвать на исполнение эту Процедуру или Функцию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Процедуры и функции</a:t>
            </a:r>
          </a:p>
        </p:txBody>
      </p:sp>
    </p:spTree>
    <p:extLst>
      <p:ext uri="{BB962C8B-B14F-4D97-AF65-F5344CB8AC3E}">
        <p14:creationId xmlns:p14="http://schemas.microsoft.com/office/powerpoint/2010/main" val="234903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>
          <a:xfrm>
            <a:off x="228600" y="1844824"/>
            <a:ext cx="8915400" cy="4419600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1800" dirty="0">
                <a:latin typeface="Courier New" pitchFamily="49" charset="0"/>
              </a:rPr>
              <a:t> 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b="1" dirty="0">
                <a:solidFill>
                  <a:srgbClr val="FF0000"/>
                </a:solidFill>
                <a:latin typeface="Courier New" pitchFamily="49" charset="0"/>
              </a:rPr>
              <a:t>Процедура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П1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Знач</a:t>
            </a:r>
            <a:r>
              <a:rPr lang="ru-RU" sz="1800" dirty="0">
                <a:latin typeface="Courier New" pitchFamily="49" charset="0"/>
              </a:rPr>
              <a:t> П2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20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Экспорт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П1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П1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П2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П2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Возврат;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П3 = П3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77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b="1" dirty="0" err="1">
                <a:solidFill>
                  <a:srgbClr val="FF0000"/>
                </a:solidFill>
                <a:latin typeface="Courier New" pitchFamily="49" charset="0"/>
              </a:rPr>
              <a:t>КонецПроцедуры</a:t>
            </a: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А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5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Б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5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40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);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  <a:buNone/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);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 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</p:txBody>
      </p:sp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210448" y="548680"/>
            <a:ext cx="8682032" cy="792088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Описание процедур и функций</a:t>
            </a:r>
          </a:p>
        </p:txBody>
      </p:sp>
    </p:spTree>
    <p:extLst>
      <p:ext uri="{BB962C8B-B14F-4D97-AF65-F5344CB8AC3E}">
        <p14:creationId xmlns:p14="http://schemas.microsoft.com/office/powerpoint/2010/main" val="144331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5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45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5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5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45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9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07504" y="1052736"/>
            <a:ext cx="8928992" cy="5184576"/>
          </a:xfrm>
          <a:prstGeom prst="rect">
            <a:avLst/>
          </a:prstGeom>
          <a:gradFill>
            <a:gsLst>
              <a:gs pos="0">
                <a:schemeClr val="accent1">
                  <a:tint val="50000"/>
                  <a:satMod val="300000"/>
                  <a:alpha val="17000"/>
                </a:schemeClr>
              </a:gs>
              <a:gs pos="35000">
                <a:schemeClr val="accent1">
                  <a:tint val="37000"/>
                  <a:satMod val="300000"/>
                </a:schemeClr>
              </a:gs>
              <a:gs pos="100000">
                <a:schemeClr val="accent1">
                  <a:tint val="15000"/>
                  <a:satMod val="350000"/>
                </a:schemeClr>
              </a:gs>
            </a:gsLst>
          </a:gra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204056" y="1724912"/>
            <a:ext cx="8735888" cy="648072"/>
          </a:xfrm>
          <a:prstGeom prst="round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/>
              <a:t>1) Раздел явного объявления переменных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204056" y="4729708"/>
            <a:ext cx="8735888" cy="1440160"/>
          </a:xfrm>
          <a:prstGeom prst="round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b="1" dirty="0"/>
              <a:t>3) Раздел основной программы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204056" y="2505844"/>
            <a:ext cx="8735888" cy="2079848"/>
          </a:xfrm>
          <a:prstGeom prst="round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/>
              <a:t>2) Раздел описания процедур и функций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 модуля</a:t>
            </a:r>
          </a:p>
        </p:txBody>
      </p:sp>
    </p:spTree>
    <p:extLst>
      <p:ext uri="{BB962C8B-B14F-4D97-AF65-F5344CB8AC3E}">
        <p14:creationId xmlns:p14="http://schemas.microsoft.com/office/powerpoint/2010/main" val="1458919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6" grpId="0" animBg="1"/>
      <p:bldP spid="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 модуля</a:t>
            </a:r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28600" y="1844824"/>
            <a:ext cx="8915400" cy="4419600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defRPr sz="2800" b="1" kern="1200">
                <a:solidFill>
                  <a:srgbClr val="0070C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2"/>
              </a:buBlip>
              <a:defRPr sz="2800" b="1" kern="1200">
                <a:solidFill>
                  <a:srgbClr val="FF000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000" b="1" kern="1200">
                <a:solidFill>
                  <a:srgbClr val="0070C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§"/>
              <a:defRPr b="1" kern="1200">
                <a:solidFill>
                  <a:srgbClr val="40404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40404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</a:pP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1800" dirty="0">
                <a:latin typeface="Courier New" pitchFamily="49" charset="0"/>
              </a:rPr>
              <a:t> 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Процедура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П1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Знач</a:t>
            </a:r>
            <a:r>
              <a:rPr lang="ru-RU" sz="1800" dirty="0">
                <a:latin typeface="Courier New" pitchFamily="49" charset="0"/>
              </a:rPr>
              <a:t> П2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20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Экспорт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П1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П1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П2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П2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Возврат;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П3 = П3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77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КонецПроцедуры</a:t>
            </a: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А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5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Б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5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40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);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);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 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2019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07504" y="1052736"/>
            <a:ext cx="8928992" cy="5184576"/>
          </a:xfrm>
          <a:prstGeom prst="rect">
            <a:avLst/>
          </a:prstGeom>
          <a:gradFill>
            <a:gsLst>
              <a:gs pos="0">
                <a:schemeClr val="accent1">
                  <a:tint val="50000"/>
                  <a:satMod val="300000"/>
                  <a:alpha val="17000"/>
                </a:schemeClr>
              </a:gs>
              <a:gs pos="35000">
                <a:schemeClr val="accent1">
                  <a:tint val="37000"/>
                  <a:satMod val="300000"/>
                </a:schemeClr>
              </a:gs>
              <a:gs pos="100000">
                <a:schemeClr val="accent1">
                  <a:tint val="15000"/>
                  <a:satMod val="350000"/>
                </a:schemeClr>
              </a:gs>
            </a:gsLst>
          </a:gra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228600" y="2060848"/>
            <a:ext cx="8915400" cy="4419600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  <a:buFontTx/>
              <a:buNone/>
            </a:pPr>
            <a:r>
              <a:rPr lang="ru-RU" sz="1800" dirty="0" err="1">
                <a:latin typeface="Courier New" pitchFamily="49" charset="0"/>
              </a:rPr>
              <a:t>Перем</a:t>
            </a:r>
            <a:r>
              <a:rPr lang="ru-RU" sz="1800" dirty="0">
                <a:latin typeface="Courier New" pitchFamily="49" charset="0"/>
              </a:rPr>
              <a:t> А, Б;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b="1" dirty="0">
                <a:solidFill>
                  <a:srgbClr val="FF0000"/>
                </a:solidFill>
                <a:latin typeface="Courier New" pitchFamily="49" charset="0"/>
              </a:rPr>
              <a:t>Процедура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latin typeface="Courier New" pitchFamily="49" charset="0"/>
              </a:rPr>
              <a:t>(П1, </a:t>
            </a: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Знач</a:t>
            </a:r>
            <a:r>
              <a:rPr lang="ru-RU" sz="1800" dirty="0">
                <a:latin typeface="Courier New" pitchFamily="49" charset="0"/>
              </a:rPr>
              <a:t> П2, П3=20)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Экспорт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П1 = П1 + П3;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П2 = П2 + П3;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Возврат</a:t>
            </a:r>
            <a:r>
              <a:rPr lang="ru-RU" sz="1800" dirty="0"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П3 = П3 + 77;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b="1" dirty="0" err="1">
                <a:solidFill>
                  <a:srgbClr val="FF0000"/>
                </a:solidFill>
                <a:latin typeface="Courier New" pitchFamily="49" charset="0"/>
              </a:rPr>
              <a:t>КонецПроцедуры</a:t>
            </a: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А = 5;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Б = 5;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latin typeface="Courier New" pitchFamily="49" charset="0"/>
              </a:rPr>
              <a:t>(А, Б, 40);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  <a:buFont typeface="Arial" pitchFamily="34" charset="0"/>
              <a:buNone/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latin typeface="Courier New" pitchFamily="49" charset="0"/>
              </a:rPr>
              <a:t>(А, Б);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 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  <a:buFont typeface="Arial" pitchFamily="34" charset="0"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204056" y="4729708"/>
            <a:ext cx="8735888" cy="1440160"/>
          </a:xfrm>
          <a:prstGeom prst="round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b="1" dirty="0"/>
              <a:t>3) Раздел основной программы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204056" y="2505844"/>
            <a:ext cx="8735888" cy="2079848"/>
          </a:xfrm>
          <a:prstGeom prst="round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/>
              <a:t>2) Раздел описания процедур и функций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204056" y="1724912"/>
            <a:ext cx="8735888" cy="648072"/>
          </a:xfrm>
          <a:prstGeom prst="round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/>
              <a:t>1) Раздел явного объявления переменных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 модуля</a:t>
            </a:r>
          </a:p>
        </p:txBody>
      </p:sp>
    </p:spTree>
    <p:extLst>
      <p:ext uri="{BB962C8B-B14F-4D97-AF65-F5344CB8AC3E}">
        <p14:creationId xmlns:p14="http://schemas.microsoft.com/office/powerpoint/2010/main" val="1589563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Некоторые процедуры можно «связать» с событиями программных объектов</a:t>
            </a:r>
          </a:p>
          <a:p>
            <a:r>
              <a:rPr lang="ru-RU" dirty="0"/>
              <a:t>Такие процедуры будут отрабатывать в момент наступления соответствующего события</a:t>
            </a:r>
          </a:p>
          <a:p>
            <a:r>
              <a:rPr lang="ru-RU" dirty="0"/>
              <a:t>Эти процедуры называются </a:t>
            </a:r>
            <a:r>
              <a:rPr lang="ru-RU" dirty="0">
                <a:solidFill>
                  <a:srgbClr val="0070C0"/>
                </a:solidFill>
              </a:rPr>
              <a:t>ОБРАБОТЧИКИ СОБЫТИЙ</a:t>
            </a:r>
          </a:p>
          <a:p>
            <a:r>
              <a:rPr lang="ru-RU" dirty="0"/>
              <a:t>Обработчик события должен располагается в модуле того объекта, где происходит событие</a:t>
            </a:r>
          </a:p>
          <a:p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Не все процедуры одинаковы</a:t>
            </a:r>
          </a:p>
        </p:txBody>
      </p:sp>
    </p:spTree>
    <p:extLst>
      <p:ext uri="{BB962C8B-B14F-4D97-AF65-F5344CB8AC3E}">
        <p14:creationId xmlns:p14="http://schemas.microsoft.com/office/powerpoint/2010/main" val="2435451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Булево</a:t>
            </a:r>
          </a:p>
          <a:p>
            <a:r>
              <a:rPr lang="ru-RU" dirty="0"/>
              <a:t>Число</a:t>
            </a:r>
          </a:p>
          <a:p>
            <a:r>
              <a:rPr lang="ru-RU" dirty="0"/>
              <a:t>Строка</a:t>
            </a:r>
          </a:p>
          <a:p>
            <a:r>
              <a:rPr lang="ru-RU" dirty="0"/>
              <a:t>Дата</a:t>
            </a: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864096"/>
          </a:xfrm>
        </p:spPr>
        <p:txBody>
          <a:bodyPr>
            <a:no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Программная работа с данными примитивного типа</a:t>
            </a:r>
          </a:p>
        </p:txBody>
      </p:sp>
    </p:spTree>
    <p:extLst>
      <p:ext uri="{BB962C8B-B14F-4D97-AF65-F5344CB8AC3E}">
        <p14:creationId xmlns:p14="http://schemas.microsoft.com/office/powerpoint/2010/main" val="864714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>
          <a:xfrm>
            <a:off x="181721" y="1628800"/>
            <a:ext cx="8839200" cy="4525962"/>
          </a:xfrm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ru-RU" sz="22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Использование в логических выражениях: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1400" dirty="0" err="1">
                <a:latin typeface="Courier New" pitchFamily="49" charset="0"/>
              </a:rPr>
              <a:t>КолТиповЦен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&gt;</a:t>
            </a:r>
            <a:r>
              <a:rPr lang="ru-RU" sz="1400" dirty="0">
                <a:latin typeface="Courier New" pitchFamily="49" charset="0"/>
              </a:rPr>
              <a:t> 0 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И</a:t>
            </a:r>
            <a:r>
              <a:rPr lang="ru-RU" sz="1400" dirty="0">
                <a:latin typeface="Courier New" pitchFamily="49" charset="0"/>
              </a:rPr>
              <a:t> (</a:t>
            </a:r>
            <a:r>
              <a:rPr lang="ru-RU" sz="1400" dirty="0" err="1">
                <a:latin typeface="Courier New" pitchFamily="49" charset="0"/>
              </a:rPr>
              <a:t>ВариантВывода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3 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ИЛИ НЕ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 err="1">
                <a:latin typeface="Courier New" pitchFamily="49" charset="0"/>
              </a:rPr>
              <a:t>ФормироватьЦены</a:t>
            </a:r>
            <a:r>
              <a:rPr lang="ru-RU" sz="1400" dirty="0">
                <a:latin typeface="Courier New" pitchFamily="49" charset="0"/>
              </a:rPr>
              <a:t>)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1800" dirty="0">
                <a:latin typeface="Courier New" pitchFamily="49" charset="0"/>
              </a:rPr>
              <a:t>...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Проведен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Истина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...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Проведен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...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 err="1">
                <a:latin typeface="Courier New" pitchFamily="49" charset="0"/>
              </a:rPr>
              <a:t>ПараметрыОтчетаКорректны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Ложь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...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</a:rPr>
              <a:t>НЕ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 err="1">
                <a:latin typeface="Courier New" pitchFamily="49" charset="0"/>
              </a:rPr>
              <a:t>ПараметрыОтчетаКорректны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... </a:t>
            </a:r>
          </a:p>
        </p:txBody>
      </p:sp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251520" y="548680"/>
            <a:ext cx="8784000" cy="72000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Примитивные типы: Булево</a:t>
            </a:r>
          </a:p>
        </p:txBody>
      </p:sp>
    </p:spTree>
    <p:extLst>
      <p:ext uri="{BB962C8B-B14F-4D97-AF65-F5344CB8AC3E}">
        <p14:creationId xmlns:p14="http://schemas.microsoft.com/office/powerpoint/2010/main" val="2449256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94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4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4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94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9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3"/>
          <p:cNvSpPr>
            <a:spLocks noGrp="1" noChangeArrowheads="1"/>
          </p:cNvSpPr>
          <p:nvPr>
            <p:ph idx="1"/>
          </p:nvPr>
        </p:nvSpPr>
        <p:spPr>
          <a:xfrm>
            <a:off x="381000" y="2484438"/>
            <a:ext cx="8382000" cy="2087562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ru-RU" sz="22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Пример использования в арифметических вычислениях: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dirty="0"/>
          </a:p>
          <a:p>
            <a:pPr>
              <a:lnSpc>
                <a:spcPct val="90000"/>
              </a:lnSpc>
              <a:buFontTx/>
              <a:buNone/>
            </a:pPr>
            <a:r>
              <a:rPr lang="ru-RU" b="1" dirty="0">
                <a:latin typeface="Courier New" pitchFamily="49" charset="0"/>
              </a:rPr>
              <a:t>А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b="1" dirty="0">
                <a:latin typeface="Courier New" pitchFamily="49" charset="0"/>
              </a:rPr>
              <a:t> 10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b="1" dirty="0">
                <a:latin typeface="Courier New" pitchFamily="49" charset="0"/>
              </a:rPr>
              <a:t> 7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b="1" dirty="0">
                <a:latin typeface="Courier New" pitchFamily="49" charset="0"/>
              </a:rPr>
              <a:t> 1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ru-RU" b="1" dirty="0">
                <a:latin typeface="Courier New" pitchFamily="49" charset="0"/>
              </a:rPr>
              <a:t>Б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b="1" dirty="0">
                <a:latin typeface="Courier New" pitchFamily="49" charset="0"/>
              </a:rPr>
              <a:t> А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%</a:t>
            </a:r>
            <a:r>
              <a:rPr lang="ru-RU" b="1" dirty="0">
                <a:latin typeface="Courier New" pitchFamily="49" charset="0"/>
              </a:rPr>
              <a:t> 6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dirty="0"/>
              <a:t> </a:t>
            </a:r>
          </a:p>
        </p:txBody>
      </p:sp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72000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Примитивные типы: Число</a:t>
            </a:r>
          </a:p>
        </p:txBody>
      </p:sp>
    </p:spTree>
    <p:extLst>
      <p:ext uri="{BB962C8B-B14F-4D97-AF65-F5344CB8AC3E}">
        <p14:creationId xmlns:p14="http://schemas.microsoft.com/office/powerpoint/2010/main" val="47244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052736"/>
            <a:ext cx="8610600" cy="5221560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Определение строк: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Строка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Пример обычной строки</a:t>
            </a: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Конкатенация строк: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ОбъединеннаяСтрока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"Строка №1"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"Строка №2"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Многострочные строки (2 способа):</a:t>
            </a:r>
          </a:p>
          <a:p>
            <a:pPr>
              <a:lnSpc>
                <a:spcPct val="80000"/>
              </a:lnSpc>
              <a:buNone/>
            </a:pPr>
            <a:endParaRPr lang="ru-RU" sz="2000" b="1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Предупреждение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"Перед блокированием документ необходимо записать."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			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Символы</a:t>
            </a:r>
            <a:r>
              <a:rPr lang="ru-RU" sz="1600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b="1" dirty="0" err="1">
                <a:latin typeface="Courier New" pitchFamily="49" charset="0"/>
              </a:rPr>
              <a:t>ПС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"Сделать это сейчас?"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Запрос.Текст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"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ВЫБРАТЬ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	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МаксимальныйКредитКонтрагенту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,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	Приоритет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ИЗ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	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Справочник.Контрагенты</a:t>
            </a:r>
            <a:endParaRPr lang="ru-RU" sz="1600" dirty="0">
              <a:solidFill>
                <a:schemeClr val="tx1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000" cy="576064"/>
          </a:xfrm>
        </p:spPr>
        <p:txBody>
          <a:bodyPr>
            <a:normAutofit fontScale="90000"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Примитивные типы: Строка</a:t>
            </a:r>
          </a:p>
        </p:txBody>
      </p:sp>
    </p:spTree>
    <p:extLst>
      <p:ext uri="{BB962C8B-B14F-4D97-AF65-F5344CB8AC3E}">
        <p14:creationId xmlns:p14="http://schemas.microsoft.com/office/powerpoint/2010/main" val="714361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5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50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50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50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50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50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150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150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50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>
          <a:xfrm>
            <a:off x="266212" y="1340768"/>
            <a:ext cx="8610600" cy="45720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Способы определения дат: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7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latin typeface="Courier New" pitchFamily="49" charset="0"/>
              </a:rPr>
              <a:t>ДатаНачалаКурса_1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b="1" dirty="0" smtClean="0">
                <a:solidFill>
                  <a:schemeClr val="tx1"/>
                </a:solidFill>
                <a:latin typeface="Courier New" pitchFamily="49" charset="0"/>
              </a:rPr>
              <a:t>'</a:t>
            </a:r>
            <a:r>
              <a:rPr lang="ru-RU" sz="1400" dirty="0" smtClean="0">
                <a:solidFill>
                  <a:schemeClr val="tx1"/>
                </a:solidFill>
                <a:latin typeface="Courier New" pitchFamily="49" charset="0"/>
              </a:rPr>
              <a:t>2020091418</a:t>
            </a:r>
            <a:r>
              <a:rPr lang="en-US" sz="1400" dirty="0">
                <a:solidFill>
                  <a:schemeClr val="tx1"/>
                </a:solidFill>
                <a:latin typeface="Courier New" pitchFamily="49" charset="0"/>
              </a:rPr>
              <a:t>0</a:t>
            </a:r>
            <a:r>
              <a:rPr lang="ru-RU" sz="1400" dirty="0">
                <a:solidFill>
                  <a:schemeClr val="tx1"/>
                </a:solidFill>
                <a:latin typeface="Courier New" pitchFamily="49" charset="0"/>
              </a:rPr>
              <a:t>000</a:t>
            </a:r>
            <a:r>
              <a:rPr lang="ru-RU" sz="1400" b="1" dirty="0">
                <a:solidFill>
                  <a:schemeClr val="tx1"/>
                </a:solidFill>
                <a:latin typeface="Courier New" pitchFamily="49" charset="0"/>
              </a:rPr>
              <a:t>'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latin typeface="Courier New" pitchFamily="49" charset="0"/>
              </a:rPr>
              <a:t>ДатаНачалаКурса_2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b="1" dirty="0" smtClean="0">
                <a:solidFill>
                  <a:srgbClr val="FF0000"/>
                </a:solidFill>
                <a:latin typeface="Courier New" pitchFamily="49" charset="0"/>
              </a:rPr>
              <a:t>Дата(</a:t>
            </a:r>
            <a:r>
              <a:rPr lang="ru-RU" sz="1400" dirty="0" smtClean="0">
                <a:latin typeface="Courier New" pitchFamily="49" charset="0"/>
              </a:rPr>
              <a:t>2020, 09, </a:t>
            </a:r>
            <a:r>
              <a:rPr lang="ru-RU" sz="1400" dirty="0">
                <a:latin typeface="Courier New" pitchFamily="49" charset="0"/>
              </a:rPr>
              <a:t>14,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</a:rPr>
              <a:t> 18, 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</a:rPr>
              <a:t>0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</a:rPr>
              <a:t>0, 00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latin typeface="Courier New" pitchFamily="49" charset="0"/>
              </a:rPr>
              <a:t>           Сейчас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 err="1">
                <a:latin typeface="Courier New" pitchFamily="49" charset="0"/>
              </a:rPr>
              <a:t>ТекущаяДата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Операции с датами: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7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latin typeface="Courier New" pitchFamily="49" charset="0"/>
              </a:rPr>
              <a:t>Перерыв                    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ДатаНачалаКурса_1 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+ </a:t>
            </a:r>
            <a:r>
              <a:rPr lang="ru-RU" sz="1400" dirty="0">
                <a:latin typeface="Courier New" pitchFamily="49" charset="0"/>
              </a:rPr>
              <a:t>5400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 err="1">
                <a:latin typeface="Courier New" pitchFamily="49" charset="0"/>
              </a:rPr>
              <a:t>НачалоВторогоДня</a:t>
            </a:r>
            <a:r>
              <a:rPr lang="ru-RU" sz="1400" dirty="0">
                <a:latin typeface="Courier New" pitchFamily="49" charset="0"/>
              </a:rPr>
              <a:t>           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ДатаНачалаКурса_2 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+ </a:t>
            </a:r>
            <a:r>
              <a:rPr lang="ru-RU" sz="1400" dirty="0">
                <a:latin typeface="Courier New" pitchFamily="49" charset="0"/>
              </a:rPr>
              <a:t>2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sz="1400" dirty="0">
                <a:latin typeface="Courier New" pitchFamily="49" charset="0"/>
              </a:rPr>
              <a:t>24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sz="1400" dirty="0">
                <a:latin typeface="Courier New" pitchFamily="49" charset="0"/>
              </a:rPr>
              <a:t>60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sz="1400" dirty="0">
                <a:latin typeface="Courier New" pitchFamily="49" charset="0"/>
              </a:rPr>
              <a:t>60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 err="1">
                <a:latin typeface="Courier New" pitchFamily="49" charset="0"/>
              </a:rPr>
              <a:t>ДлительностьПервогоДня</a:t>
            </a:r>
            <a:r>
              <a:rPr lang="ru-RU" sz="1000" dirty="0">
                <a:latin typeface="Courier New" pitchFamily="49" charset="0"/>
              </a:rPr>
              <a:t>     </a:t>
            </a:r>
            <a:r>
              <a:rPr lang="ru-RU" sz="900" dirty="0">
                <a:latin typeface="Courier New" pitchFamily="49" charset="0"/>
              </a:rPr>
              <a:t>  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 smtClean="0">
                <a:latin typeface="Courier New" pitchFamily="49" charset="0"/>
              </a:rPr>
              <a:t>Дата(2020, 09, </a:t>
            </a:r>
            <a:r>
              <a:rPr lang="ru-RU" sz="1400" dirty="0">
                <a:latin typeface="Courier New" pitchFamily="49" charset="0"/>
              </a:rPr>
              <a:t>14, 21, </a:t>
            </a:r>
            <a:r>
              <a:rPr lang="en-US" sz="1400" dirty="0">
                <a:latin typeface="Courier New" pitchFamily="49" charset="0"/>
              </a:rPr>
              <a:t>0</a:t>
            </a:r>
            <a:r>
              <a:rPr lang="ru-RU" sz="1400" dirty="0">
                <a:latin typeface="Courier New" pitchFamily="49" charset="0"/>
              </a:rPr>
              <a:t>0,00)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-</a:t>
            </a:r>
            <a:r>
              <a:rPr lang="ru-RU" sz="1400" b="1" dirty="0" smtClean="0">
                <a:solidFill>
                  <a:schemeClr val="tx1"/>
                </a:solidFill>
                <a:latin typeface="Courier New" pitchFamily="49" charset="0"/>
              </a:rPr>
              <a:t>'2020011418</a:t>
            </a:r>
            <a:r>
              <a:rPr lang="en-US" sz="1400" b="1" dirty="0">
                <a:solidFill>
                  <a:schemeClr val="tx1"/>
                </a:solidFill>
                <a:latin typeface="Courier New" pitchFamily="49" charset="0"/>
              </a:rPr>
              <a:t>0</a:t>
            </a:r>
            <a:r>
              <a:rPr lang="ru-RU" sz="1400" b="1" dirty="0">
                <a:solidFill>
                  <a:schemeClr val="tx1"/>
                </a:solidFill>
                <a:latin typeface="Courier New" pitchFamily="49" charset="0"/>
              </a:rPr>
              <a:t>000'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Проверка на «пустую» дату: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7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 err="1">
                <a:latin typeface="Courier New" pitchFamily="49" charset="0"/>
              </a:rPr>
              <a:t>ДатаОтчета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b="1" dirty="0">
                <a:solidFill>
                  <a:schemeClr val="tx1"/>
                </a:solidFill>
                <a:latin typeface="Courier New" pitchFamily="49" charset="0"/>
              </a:rPr>
              <a:t>'00010101'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1400" dirty="0">
                <a:latin typeface="Courier New" pitchFamily="49" charset="0"/>
              </a:rPr>
              <a:t> ...</a:t>
            </a:r>
          </a:p>
        </p:txBody>
      </p:sp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000" cy="72000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Примитивные типы: Дата</a:t>
            </a:r>
          </a:p>
        </p:txBody>
      </p:sp>
    </p:spTree>
    <p:extLst>
      <p:ext uri="{BB962C8B-B14F-4D97-AF65-F5344CB8AC3E}">
        <p14:creationId xmlns:p14="http://schemas.microsoft.com/office/powerpoint/2010/main" val="1998302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25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25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53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253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Неявное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"АБВ"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777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 "АБВ777"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777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"АБВ"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 Ошибка!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""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777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"АБВ"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 "777АБВ"</a:t>
            </a:r>
          </a:p>
          <a:p>
            <a:r>
              <a:rPr lang="ru-RU" dirty="0"/>
              <a:t>Явное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Строка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000" dirty="0">
                <a:latin typeface="Courier New" pitchFamily="49" charset="0"/>
              </a:rPr>
              <a:t>777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"АБВ"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//"777АБВ"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Число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000" dirty="0">
                <a:latin typeface="Courier New" pitchFamily="49" charset="0"/>
              </a:rPr>
              <a:t>"23,5000"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10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 33.5</a:t>
            </a:r>
          </a:p>
          <a:p>
            <a:pPr marL="800100" lvl="2" indent="0">
              <a:buNone/>
            </a:pPr>
            <a:endParaRPr lang="ru-RU" sz="2000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Преобразование типов</a:t>
            </a:r>
          </a:p>
        </p:txBody>
      </p:sp>
    </p:spTree>
    <p:extLst>
      <p:ext uri="{BB962C8B-B14F-4D97-AF65-F5344CB8AC3E}">
        <p14:creationId xmlns:p14="http://schemas.microsoft.com/office/powerpoint/2010/main" val="2643249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3" y="1052736"/>
            <a:ext cx="8077032" cy="51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188119" y="571976"/>
            <a:ext cx="8784000" cy="7200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Работа с программными объектами</a:t>
            </a:r>
          </a:p>
        </p:txBody>
      </p:sp>
    </p:spTree>
    <p:extLst>
      <p:ext uri="{BB962C8B-B14F-4D97-AF65-F5344CB8AC3E}">
        <p14:creationId xmlns:p14="http://schemas.microsoft.com/office/powerpoint/2010/main" val="1525206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1052736"/>
            <a:ext cx="8077034" cy="51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188119" y="571975"/>
            <a:ext cx="8784000" cy="720000"/>
          </a:xfrm>
          <a:prstGeom prst="rect">
            <a:avLst/>
          </a:prstGeo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sz="3200" b="1" kern="1200">
                <a:ln>
                  <a:solidFill>
                    <a:schemeClr val="bg1"/>
                  </a:solidFill>
                </a:ln>
                <a:gradFill>
                  <a:gsLst>
                    <a:gs pos="55000">
                      <a:srgbClr val="F50516"/>
                    </a:gs>
                    <a:gs pos="86000">
                      <a:srgbClr val="C00000"/>
                    </a:gs>
                  </a:gsLst>
                  <a:lin ang="5400000" scaled="0"/>
                </a:gradFill>
                <a:effectLst>
                  <a:outerShdw blurRad="38100" dist="38100" dir="5400000" algn="ctr" rotWithShape="0">
                    <a:schemeClr val="bg1">
                      <a:lumMod val="50000"/>
                    </a:schemeClr>
                  </a:outerShdw>
                </a:effectLst>
                <a:latin typeface="Arial Black" pitchFamily="34" charset="0"/>
                <a:ea typeface="Verdana" pitchFamily="34" charset="0"/>
                <a:cs typeface="Verdana" pitchFamily="34" charset="0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9pPr>
          </a:lstStyle>
          <a:p>
            <a:r>
              <a:rPr lang="ru-RU" dirty="0">
                <a:solidFill>
                  <a:srgbClr val="FF0000"/>
                </a:solidFill>
              </a:rPr>
              <a:t>Работа с программными объектами</a:t>
            </a:r>
          </a:p>
        </p:txBody>
      </p:sp>
    </p:spTree>
    <p:extLst>
      <p:ext uri="{BB962C8B-B14F-4D97-AF65-F5344CB8AC3E}">
        <p14:creationId xmlns:p14="http://schemas.microsoft.com/office/powerpoint/2010/main" val="1922428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1026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4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3.7037E-6 L 0.14323 -3.7037E-6 C 0.20747 -3.7037E-6 0.28664 -0.0493 0.28664 -0.08912 L 0.28664 -0.17801 " pathEditMode="relative" rAng="0" ptsTypes="AAAA">
                                      <p:cBhvr>
                                        <p:cTn id="9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323" y="-891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32" y="1124744"/>
            <a:ext cx="4056856" cy="25856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5" name="Rectangle 3"/>
          <p:cNvSpPr>
            <a:spLocks noGrp="1" noChangeArrowheads="1"/>
          </p:cNvSpPr>
          <p:nvPr>
            <p:ph idx="4294967295"/>
          </p:nvPr>
        </p:nvSpPr>
        <p:spPr>
          <a:xfrm>
            <a:off x="304800" y="3284538"/>
            <a:ext cx="8839200" cy="307022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>
              <a:buFontTx/>
              <a:buNone/>
            </a:pPr>
            <a:r>
              <a:rPr lang="ru-RU" sz="2200" b="1" dirty="0">
                <a:latin typeface="Courier New" pitchFamily="49" charset="0"/>
              </a:rPr>
              <a:t>Свойства и реквизиты:</a:t>
            </a:r>
          </a:p>
          <a:p>
            <a:pPr>
              <a:buFontTx/>
              <a:buNone/>
            </a:pPr>
            <a:endParaRPr lang="ru-RU" sz="2000" b="1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ru-RU" sz="2000" dirty="0" err="1">
                <a:latin typeface="Courier New" pitchFamily="49" charset="0"/>
              </a:rPr>
              <a:t>Форма</a:t>
            </a:r>
            <a:r>
              <a:rPr lang="ru-RU" sz="2000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000" dirty="0" err="1">
                <a:latin typeface="Courier New" pitchFamily="49" charset="0"/>
              </a:rPr>
              <a:t>Заголовок</a:t>
            </a:r>
            <a:r>
              <a:rPr lang="ru-RU" sz="2000" dirty="0">
                <a:latin typeface="Courier New" pitchFamily="49" charset="0"/>
              </a:rPr>
              <a:t>   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chemeClr val="tx1"/>
                </a:solidFill>
                <a:latin typeface="Courier New" pitchFamily="49" charset="0"/>
              </a:rPr>
              <a:t>"ООО Север"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ru-RU" sz="2000" dirty="0">
                <a:latin typeface="Courier New" pitchFamily="49" charset="0"/>
              </a:rPr>
              <a:t>Форма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000" dirty="0">
                <a:solidFill>
                  <a:schemeClr val="tx1"/>
                </a:solidFill>
                <a:latin typeface="Courier New" pitchFamily="49" charset="0"/>
              </a:rPr>
              <a:t>"Директор"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chemeClr val="tx1"/>
                </a:solidFill>
                <a:latin typeface="Courier New" pitchFamily="49" charset="0"/>
              </a:rPr>
              <a:t>"Иванов И.А."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endParaRPr lang="ru-RU" sz="2000" i="1" u="sng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buFontTx/>
              <a:buNone/>
            </a:pPr>
            <a:endParaRPr lang="ru-RU" sz="2000" i="1" u="sng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ru-RU" sz="2200" b="1" dirty="0">
                <a:latin typeface="Courier New" pitchFamily="49" charset="0"/>
              </a:rPr>
              <a:t>Методы:</a:t>
            </a:r>
          </a:p>
          <a:p>
            <a:pPr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ru-RU" sz="2000" dirty="0" err="1">
                <a:latin typeface="Courier New" pitchFamily="49" charset="0"/>
              </a:rPr>
              <a:t>Форма</a:t>
            </a:r>
            <a:r>
              <a:rPr lang="ru-RU" sz="2000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000" dirty="0" err="1">
                <a:latin typeface="Courier New" pitchFamily="49" charset="0"/>
              </a:rPr>
              <a:t>Открыть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</a:rPr>
              <a:t>()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latin typeface="Courier New" pitchFamily="49" charset="0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07904" y="2132856"/>
            <a:ext cx="28083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Форма 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188119" y="571976"/>
            <a:ext cx="8784000" cy="6967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3200" b="1" kern="1200">
                <a:ln>
                  <a:solidFill>
                    <a:schemeClr val="bg1"/>
                  </a:solidFill>
                </a:ln>
                <a:gradFill>
                  <a:gsLst>
                    <a:gs pos="55000">
                      <a:srgbClr val="F50516"/>
                    </a:gs>
                    <a:gs pos="86000">
                      <a:srgbClr val="C00000"/>
                    </a:gs>
                  </a:gsLst>
                  <a:lin ang="5400000" scaled="0"/>
                </a:gradFill>
                <a:effectLst>
                  <a:outerShdw blurRad="38100" dist="38100" dir="5400000" algn="ctr" rotWithShape="0">
                    <a:schemeClr val="bg1">
                      <a:lumMod val="50000"/>
                    </a:schemeClr>
                  </a:outerShdw>
                </a:effectLst>
                <a:latin typeface="Arial Black" pitchFamily="34" charset="0"/>
                <a:ea typeface="Verdana" pitchFamily="34" charset="0"/>
                <a:cs typeface="Verdana" pitchFamily="34" charset="0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9pPr>
          </a:lstStyle>
          <a:p>
            <a:r>
              <a:rPr lang="ru-RU" dirty="0">
                <a:solidFill>
                  <a:srgbClr val="FF0000"/>
                </a:solidFill>
              </a:rPr>
              <a:t>Работа с программными объектами</a:t>
            </a:r>
          </a:p>
        </p:txBody>
      </p:sp>
    </p:spTree>
    <p:extLst>
      <p:ext uri="{BB962C8B-B14F-4D97-AF65-F5344CB8AC3E}">
        <p14:creationId xmlns:p14="http://schemas.microsoft.com/office/powerpoint/2010/main" val="16672052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Ветвление</a:t>
            </a:r>
          </a:p>
          <a:p>
            <a:r>
              <a:rPr lang="ru-RU" dirty="0"/>
              <a:t>Циклы</a:t>
            </a: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Синтаксические конструкции</a:t>
            </a:r>
          </a:p>
        </p:txBody>
      </p:sp>
    </p:spTree>
    <p:extLst>
      <p:ext uri="{BB962C8B-B14F-4D97-AF65-F5344CB8AC3E}">
        <p14:creationId xmlns:p14="http://schemas.microsoft.com/office/powerpoint/2010/main" val="1579250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>
          <a:xfrm>
            <a:off x="611560" y="1676400"/>
            <a:ext cx="8532440" cy="44196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ОпределитьВыборПользователя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"Ок"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ИначеЕсли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"Отмена"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ИначеЕсли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"Не понял…"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Иначе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КонецЕсли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86409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Ветвление</a:t>
            </a:r>
          </a:p>
        </p:txBody>
      </p:sp>
    </p:spTree>
    <p:extLst>
      <p:ext uri="{BB962C8B-B14F-4D97-AF65-F5344CB8AC3E}">
        <p14:creationId xmlns:p14="http://schemas.microsoft.com/office/powerpoint/2010/main" val="358261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5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56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56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6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56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>
          <a:xfrm>
            <a:off x="611560" y="1676400"/>
            <a:ext cx="8532440" cy="44196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ОпределитьВыборПользователя</a:t>
            </a:r>
            <a:r>
              <a:rPr lang="ru-RU" sz="2400" dirty="0">
                <a:latin typeface="Courier New" pitchFamily="49" charset="0"/>
              </a:rPr>
              <a:t>()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 err="1">
                <a:latin typeface="Courier New" pitchFamily="49" charset="0"/>
              </a:rPr>
              <a:t>ТекстСообщения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 = ?(</a:t>
            </a:r>
            <a:r>
              <a:rPr lang="ru-RU" sz="2400" dirty="0">
                <a:latin typeface="Courier New" pitchFamily="49" charset="0"/>
              </a:rPr>
              <a:t>А =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"Ок"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2400" b="1" dirty="0">
                <a:solidFill>
                  <a:schemeClr val="tx1"/>
                </a:solidFill>
                <a:latin typeface="Courier New" pitchFamily="49" charset="0"/>
              </a:rPr>
              <a:t>Да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2400" b="1" dirty="0">
                <a:solidFill>
                  <a:schemeClr val="tx1"/>
                </a:solidFill>
                <a:latin typeface="Courier New" pitchFamily="49" charset="0"/>
              </a:rPr>
              <a:t>Нет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</a:p>
        </p:txBody>
      </p:sp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86409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Ветвление</a:t>
            </a:r>
          </a:p>
        </p:txBody>
      </p:sp>
    </p:spTree>
    <p:extLst>
      <p:ext uri="{BB962C8B-B14F-4D97-AF65-F5344CB8AC3E}">
        <p14:creationId xmlns:p14="http://schemas.microsoft.com/office/powerpoint/2010/main" val="4046850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>
          <a:xfrm>
            <a:off x="611560" y="1676400"/>
            <a:ext cx="8064896" cy="44196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Попытка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  <a:r>
              <a:rPr lang="ru-RU" sz="2400" dirty="0" err="1">
                <a:latin typeface="Courier New" pitchFamily="49" charset="0"/>
              </a:rPr>
              <a:t>НашаФункция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Исключение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latin typeface="Courier New" pitchFamily="49" charset="0"/>
              </a:rPr>
              <a:t>	Сообщить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 err="1">
                <a:latin typeface="Courier New" pitchFamily="49" charset="0"/>
              </a:rPr>
              <a:t>ОписаниеОшибки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КонецПопытки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86409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Ветвление</a:t>
            </a:r>
          </a:p>
        </p:txBody>
      </p:sp>
    </p:spTree>
    <p:extLst>
      <p:ext uri="{BB962C8B-B14F-4D97-AF65-F5344CB8AC3E}">
        <p14:creationId xmlns:p14="http://schemas.microsoft.com/office/powerpoint/2010/main" val="314620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56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341784" y="1700808"/>
            <a:ext cx="8460432" cy="4184104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Для</a:t>
            </a:r>
            <a:r>
              <a:rPr lang="ru-RU" sz="2400" dirty="0">
                <a:latin typeface="Courier New" pitchFamily="49" charset="0"/>
              </a:rPr>
              <a:t> Счетчик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1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По</a:t>
            </a:r>
            <a:r>
              <a:rPr lang="ru-RU" sz="2400" dirty="0">
                <a:latin typeface="Courier New" pitchFamily="49" charset="0"/>
              </a:rPr>
              <a:t> 10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Цикл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8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400" dirty="0">
                <a:latin typeface="Courier New" pitchFamily="49" charset="0"/>
              </a:rPr>
              <a:t> Счетчик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&lt;</a:t>
            </a:r>
            <a:r>
              <a:rPr lang="ru-RU" sz="2400" dirty="0">
                <a:latin typeface="Courier New" pitchFamily="49" charset="0"/>
              </a:rPr>
              <a:t> 3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		Продолжить; </a:t>
            </a: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//Цикл не прерывается! //Управление передаются в начало цикла.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	</a:t>
            </a:r>
            <a:r>
              <a:rPr lang="ru-RU" sz="2400" dirty="0" err="1">
                <a:solidFill>
                  <a:srgbClr val="FF0000"/>
                </a:solidFill>
                <a:latin typeface="Courier New" pitchFamily="49" charset="0"/>
              </a:rPr>
              <a:t>ИначеЕсли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НЕ</a:t>
            </a:r>
            <a:r>
              <a:rPr lang="ru-RU" sz="2400" dirty="0">
                <a:latin typeface="Courier New" pitchFamily="49" charset="0"/>
              </a:rPr>
              <a:t> Счетчик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&lt;=</a:t>
            </a:r>
            <a:r>
              <a:rPr lang="ru-RU" sz="2400" dirty="0">
                <a:latin typeface="Courier New" pitchFamily="49" charset="0"/>
              </a:rPr>
              <a:t> 7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	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		Прервать; </a:t>
            </a: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//Цикл прерывается!</a:t>
            </a:r>
            <a:endParaRPr lang="ru-RU" sz="24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  <a:r>
              <a:rPr lang="ru-RU" sz="2400" dirty="0" err="1">
                <a:solidFill>
                  <a:srgbClr val="FF0000"/>
                </a:solidFill>
                <a:latin typeface="Courier New" pitchFamily="49" charset="0"/>
              </a:rPr>
              <a:t>КонецЕсли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Сообщить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"Счетчик цикла = "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400" dirty="0">
                <a:latin typeface="Courier New" pitchFamily="49" charset="0"/>
              </a:rPr>
              <a:t> Счетчик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КонецЦикла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936104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Цикл со счетчиком</a:t>
            </a:r>
          </a:p>
        </p:txBody>
      </p:sp>
    </p:spTree>
    <p:extLst>
      <p:ext uri="{BB962C8B-B14F-4D97-AF65-F5344CB8AC3E}">
        <p14:creationId xmlns:p14="http://schemas.microsoft.com/office/powerpoint/2010/main" val="3820772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62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6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662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7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/>
          <p:cNvSpPr>
            <a:spLocks noGrp="1" noChangeArrowheads="1"/>
          </p:cNvSpPr>
          <p:nvPr>
            <p:ph idx="1"/>
          </p:nvPr>
        </p:nvSpPr>
        <p:spPr>
          <a:xfrm>
            <a:off x="539552" y="2209800"/>
            <a:ext cx="8223448" cy="2895600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Пока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&lt;</a:t>
            </a:r>
            <a:r>
              <a:rPr lang="ru-RU" sz="2400" dirty="0">
                <a:latin typeface="Courier New" pitchFamily="49" charset="0"/>
              </a:rPr>
              <a:t> 10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Цикл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b="1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+ </a:t>
            </a:r>
            <a:r>
              <a:rPr lang="ru-RU" sz="2400" dirty="0">
                <a:latin typeface="Courier New" pitchFamily="49" charset="0"/>
              </a:rPr>
              <a:t>3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КонецЦикла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936104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Цикл с предусловием</a:t>
            </a:r>
          </a:p>
        </p:txBody>
      </p:sp>
    </p:spTree>
    <p:extLst>
      <p:ext uri="{BB962C8B-B14F-4D97-AF65-F5344CB8AC3E}">
        <p14:creationId xmlns:p14="http://schemas.microsoft.com/office/powerpoint/2010/main" val="3463642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6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76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6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1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3" y="1268681"/>
            <a:ext cx="4022560" cy="2755454"/>
          </a:xfrm>
        </p:spPr>
      </p:pic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Коллекции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6016" y="1273306"/>
            <a:ext cx="3946038" cy="2367623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92" y="4024135"/>
            <a:ext cx="2057410" cy="24928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804" y="3789040"/>
            <a:ext cx="3526618" cy="2349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320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50958516"/>
              </p:ext>
            </p:extLst>
          </p:nvPr>
        </p:nvGraphicFramePr>
        <p:xfrm>
          <a:off x="329752" y="1268680"/>
          <a:ext cx="4458272" cy="1584525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568">
                  <a:extLst>
                    <a:ext uri="{9D8B030D-6E8A-4147-A177-3AD203B41FA5}">
                      <a16:colId xmlns:a16="http://schemas.microsoft.com/office/drawing/2014/main" val="3275268676"/>
                    </a:ext>
                  </a:extLst>
                </a:gridCol>
                <a:gridCol w="1114568">
                  <a:extLst>
                    <a:ext uri="{9D8B030D-6E8A-4147-A177-3AD203B41FA5}">
                      <a16:colId xmlns:a16="http://schemas.microsoft.com/office/drawing/2014/main" val="1120284479"/>
                    </a:ext>
                  </a:extLst>
                </a:gridCol>
                <a:gridCol w="1114568">
                  <a:extLst>
                    <a:ext uri="{9D8B030D-6E8A-4147-A177-3AD203B41FA5}">
                      <a16:colId xmlns:a16="http://schemas.microsoft.com/office/drawing/2014/main" val="2172378305"/>
                    </a:ext>
                  </a:extLst>
                </a:gridCol>
                <a:gridCol w="1114568">
                  <a:extLst>
                    <a:ext uri="{9D8B030D-6E8A-4147-A177-3AD203B41FA5}">
                      <a16:colId xmlns:a16="http://schemas.microsoft.com/office/drawing/2014/main" val="4052972464"/>
                    </a:ext>
                  </a:extLst>
                </a:gridCol>
              </a:tblGrid>
              <a:tr h="528175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231081"/>
                  </a:ext>
                </a:extLst>
              </a:tr>
              <a:tr h="528175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2077456"/>
                  </a:ext>
                </a:extLst>
              </a:tr>
              <a:tr h="528175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7543241"/>
                  </a:ext>
                </a:extLst>
              </a:tr>
            </a:tbl>
          </a:graphicData>
        </a:graphic>
      </p:graphicFrame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Коллекции - таблицы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5493822"/>
              </p:ext>
            </p:extLst>
          </p:nvPr>
        </p:nvGraphicFramePr>
        <p:xfrm>
          <a:off x="3707904" y="3504870"/>
          <a:ext cx="4032448" cy="401794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008112">
                  <a:extLst>
                    <a:ext uri="{9D8B030D-6E8A-4147-A177-3AD203B41FA5}">
                      <a16:colId xmlns:a16="http://schemas.microsoft.com/office/drawing/2014/main" val="194350362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1828096469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864300904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141151276"/>
                    </a:ext>
                  </a:extLst>
                </a:gridCol>
              </a:tblGrid>
              <a:tr h="4017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8355722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0078188"/>
              </p:ext>
            </p:extLst>
          </p:nvPr>
        </p:nvGraphicFramePr>
        <p:xfrm>
          <a:off x="1259632" y="3886541"/>
          <a:ext cx="1175792" cy="146304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175792">
                  <a:extLst>
                    <a:ext uri="{9D8B030D-6E8A-4147-A177-3AD203B41FA5}">
                      <a16:colId xmlns:a16="http://schemas.microsoft.com/office/drawing/2014/main" val="3510416778"/>
                    </a:ext>
                  </a:extLst>
                </a:gridCol>
              </a:tblGrid>
              <a:tr h="36398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0962003"/>
                  </a:ext>
                </a:extLst>
              </a:tr>
              <a:tr h="36398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586916"/>
                  </a:ext>
                </a:extLst>
              </a:tr>
              <a:tr h="36398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2595429"/>
                  </a:ext>
                </a:extLst>
              </a:tr>
              <a:tr h="36398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9477833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994216"/>
              </p:ext>
            </p:extLst>
          </p:nvPr>
        </p:nvGraphicFramePr>
        <p:xfrm>
          <a:off x="3609031" y="4960394"/>
          <a:ext cx="1178993" cy="401794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178993">
                  <a:extLst>
                    <a:ext uri="{9D8B030D-6E8A-4147-A177-3AD203B41FA5}">
                      <a16:colId xmlns:a16="http://schemas.microsoft.com/office/drawing/2014/main" val="4128136899"/>
                    </a:ext>
                  </a:extLst>
                </a:gridCol>
              </a:tblGrid>
              <a:tr h="4017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404618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1914" y="1700809"/>
            <a:ext cx="38885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n>
                  <a:solidFill>
                    <a:schemeClr val="bg1"/>
                  </a:solidFill>
                </a:ln>
                <a:gradFill>
                  <a:gsLst>
                    <a:gs pos="55000">
                      <a:srgbClr val="F50516"/>
                    </a:gs>
                    <a:gs pos="86000">
                      <a:srgbClr val="C00000"/>
                    </a:gs>
                  </a:gsLst>
                  <a:lin ang="5400000" scaled="0"/>
                </a:gradFill>
                <a:effectLst>
                  <a:outerShdw blurRad="38100" dist="38100" dir="5400000" algn="ctr" rotWithShape="0">
                    <a:schemeClr val="bg1">
                      <a:lumMod val="50000"/>
                    </a:schemeClr>
                  </a:outerShdw>
                </a:effectLst>
                <a:latin typeface="Arial Black" pitchFamily="34" charset="0"/>
                <a:ea typeface="Verdana" pitchFamily="34" charset="0"/>
                <a:cs typeface="Verdana" pitchFamily="34" charset="0"/>
              </a:rPr>
              <a:t>Элемент коллекции </a:t>
            </a:r>
            <a:r>
              <a:rPr lang="ru-RU" sz="2400" b="1" dirty="0">
                <a:ln>
                  <a:solidFill>
                    <a:schemeClr val="bg1"/>
                  </a:solidFill>
                </a:ln>
                <a:solidFill>
                  <a:srgbClr val="0070C0"/>
                </a:solidFill>
                <a:effectLst>
                  <a:outerShdw blurRad="38100" dist="38100" dir="5400000" algn="ctr" rotWithShape="0">
                    <a:schemeClr val="bg1">
                      <a:lumMod val="50000"/>
                    </a:schemeClr>
                  </a:outerShdw>
                </a:effectLst>
                <a:latin typeface="Arial Black" pitchFamily="34" charset="0"/>
                <a:ea typeface="Verdana" pitchFamily="34" charset="0"/>
                <a:cs typeface="Verdana" pitchFamily="34" charset="0"/>
              </a:rPr>
              <a:t>– строка таблицы</a:t>
            </a:r>
          </a:p>
        </p:txBody>
      </p:sp>
    </p:spTree>
    <p:extLst>
      <p:ext uri="{BB962C8B-B14F-4D97-AF65-F5344CB8AC3E}">
        <p14:creationId xmlns:p14="http://schemas.microsoft.com/office/powerpoint/2010/main" val="257089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Данные в коллекции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9965734"/>
              </p:ext>
            </p:extLst>
          </p:nvPr>
        </p:nvGraphicFramePr>
        <p:xfrm>
          <a:off x="755575" y="1397000"/>
          <a:ext cx="7632850" cy="1482858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75816">
                <a:tc>
                  <a:txBody>
                    <a:bodyPr/>
                    <a:lstStyle/>
                    <a:p>
                      <a:r>
                        <a:rPr lang="ru-RU" dirty="0"/>
                        <a:t>№ Строки/ № колонки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0227093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******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675211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5772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8908389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2481609"/>
              </p:ext>
            </p:extLst>
          </p:nvPr>
        </p:nvGraphicFramePr>
        <p:xfrm>
          <a:off x="770032" y="4149080"/>
          <a:ext cx="7632850" cy="1482858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75816">
                <a:tc>
                  <a:txBody>
                    <a:bodyPr/>
                    <a:lstStyle/>
                    <a:p>
                      <a:r>
                        <a:rPr lang="ru-RU" dirty="0"/>
                        <a:t>№ Строки/ № колонки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0227093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******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675211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5772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8908389"/>
                  </a:ext>
                </a:extLst>
              </a:tr>
            </a:tbl>
          </a:graphicData>
        </a:graphic>
      </p:graphicFrame>
      <p:sp>
        <p:nvSpPr>
          <p:cNvPr id="6" name="Овал 5"/>
          <p:cNvSpPr/>
          <p:nvPr/>
        </p:nvSpPr>
        <p:spPr>
          <a:xfrm>
            <a:off x="539552" y="1268680"/>
            <a:ext cx="288032" cy="288112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/>
          <p:cNvSpPr/>
          <p:nvPr/>
        </p:nvSpPr>
        <p:spPr>
          <a:xfrm>
            <a:off x="8258866" y="5487882"/>
            <a:ext cx="288032" cy="288112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549365"/>
              </p:ext>
            </p:extLst>
          </p:nvPr>
        </p:nvGraphicFramePr>
        <p:xfrm>
          <a:off x="3194238" y="1772816"/>
          <a:ext cx="5184577" cy="1107042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368152">
                  <a:extLst>
                    <a:ext uri="{9D8B030D-6E8A-4147-A177-3AD203B41FA5}">
                      <a16:colId xmlns:a16="http://schemas.microsoft.com/office/drawing/2014/main" val="740275257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77955149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77309381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4056309209"/>
                    </a:ext>
                  </a:extLst>
                </a:gridCol>
              </a:tblGrid>
              <a:tr h="36901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******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441344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130975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13617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15616" y="2987436"/>
            <a:ext cx="42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Адрес ячейки: 	строка 1 колонка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616" y="3329803"/>
            <a:ext cx="42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		колонка 3 строка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616" y="3672170"/>
            <a:ext cx="42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		строка </a:t>
            </a:r>
            <a:r>
              <a:rPr lang="en-US" dirty="0"/>
              <a:t>3</a:t>
            </a:r>
            <a:r>
              <a:rPr lang="ru-RU" dirty="0"/>
              <a:t> колонка 2</a:t>
            </a:r>
          </a:p>
        </p:txBody>
      </p:sp>
    </p:spTree>
    <p:extLst>
      <p:ext uri="{BB962C8B-B14F-4D97-AF65-F5344CB8AC3E}">
        <p14:creationId xmlns:p14="http://schemas.microsoft.com/office/powerpoint/2010/main" val="908266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/>
      <p:bldP spid="11" grpId="0"/>
      <p:bldP spid="1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Данные в коллекции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38558"/>
              </p:ext>
            </p:extLst>
          </p:nvPr>
        </p:nvGraphicFramePr>
        <p:xfrm>
          <a:off x="755575" y="1397000"/>
          <a:ext cx="7632850" cy="375816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75816">
                <a:tc>
                  <a:txBody>
                    <a:bodyPr/>
                    <a:lstStyle/>
                    <a:p>
                      <a:r>
                        <a:rPr lang="ru-RU" dirty="0"/>
                        <a:t>№ Строки/ № колонки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022709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4010835"/>
              </p:ext>
            </p:extLst>
          </p:nvPr>
        </p:nvGraphicFramePr>
        <p:xfrm>
          <a:off x="755575" y="1988840"/>
          <a:ext cx="7632850" cy="369014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******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675211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7003685"/>
              </p:ext>
            </p:extLst>
          </p:nvPr>
        </p:nvGraphicFramePr>
        <p:xfrm>
          <a:off x="749420" y="2721709"/>
          <a:ext cx="7632850" cy="369014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5772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3917466"/>
              </p:ext>
            </p:extLst>
          </p:nvPr>
        </p:nvGraphicFramePr>
        <p:xfrm>
          <a:off x="749420" y="3454577"/>
          <a:ext cx="7632850" cy="369014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8908389"/>
                  </a:ext>
                </a:extLst>
              </a:tr>
            </a:tbl>
          </a:graphicData>
        </a:graphic>
      </p:graphicFrame>
      <p:sp>
        <p:nvSpPr>
          <p:cNvPr id="13" name="Скругленный прямоугольник 12"/>
          <p:cNvSpPr/>
          <p:nvPr/>
        </p:nvSpPr>
        <p:spPr>
          <a:xfrm>
            <a:off x="206356" y="1908194"/>
            <a:ext cx="8460000" cy="540000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206356" y="2628511"/>
            <a:ext cx="8460000" cy="540000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179512" y="3352257"/>
            <a:ext cx="8460000" cy="540000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6" name="Скругленный прямоугольник 15"/>
          <p:cNvSpPr/>
          <p:nvPr/>
        </p:nvSpPr>
        <p:spPr>
          <a:xfrm>
            <a:off x="3203848" y="1196751"/>
            <a:ext cx="1368152" cy="3420000"/>
          </a:xfrm>
          <a:prstGeom prst="roundRect">
            <a:avLst/>
          </a:prstGeom>
          <a:solidFill>
            <a:schemeClr val="accent5">
              <a:lumMod val="50000"/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RU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17" name="Скругленный прямоугольник 16"/>
          <p:cNvSpPr/>
          <p:nvPr/>
        </p:nvSpPr>
        <p:spPr>
          <a:xfrm>
            <a:off x="4531673" y="1189250"/>
            <a:ext cx="1368000" cy="3420000"/>
          </a:xfrm>
          <a:prstGeom prst="roundRect">
            <a:avLst/>
          </a:prstGeom>
          <a:solidFill>
            <a:schemeClr val="accent5">
              <a:lumMod val="50000"/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RU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Скругленный прямоугольник 18"/>
          <p:cNvSpPr/>
          <p:nvPr/>
        </p:nvSpPr>
        <p:spPr>
          <a:xfrm>
            <a:off x="5859346" y="1196751"/>
            <a:ext cx="1368000" cy="3420000"/>
          </a:xfrm>
          <a:prstGeom prst="roundRect">
            <a:avLst/>
          </a:prstGeom>
          <a:solidFill>
            <a:schemeClr val="accent5">
              <a:lumMod val="50000"/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RU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7167297" y="1173152"/>
            <a:ext cx="1368000" cy="3420000"/>
          </a:xfrm>
          <a:prstGeom prst="roundRect">
            <a:avLst/>
          </a:prstGeom>
          <a:solidFill>
            <a:schemeClr val="accent5">
              <a:lumMod val="50000"/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RU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536" y="5013176"/>
            <a:ext cx="84249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Данные нужной ячейки: 	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СтрокаКоллекцииОдин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ИмяКоллекции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ru-RU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Данные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СтрокаКоллекцииОдин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ru-RU" dirty="0"/>
              <a:t>Или			</a:t>
            </a:r>
            <a:r>
              <a:rPr lang="ru-RU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Данные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ИмяКоллекции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][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</p:txBody>
      </p:sp>
    </p:spTree>
    <p:extLst>
      <p:ext uri="{BB962C8B-B14F-4D97-AF65-F5344CB8AC3E}">
        <p14:creationId xmlns:p14="http://schemas.microsoft.com/office/powerpoint/2010/main" val="1490543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360363" y="549275"/>
            <a:ext cx="8783637" cy="1008063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Цикл для обхода коллекций значений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360363" y="1557338"/>
            <a:ext cx="8229600" cy="1905000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Для каждого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СтрокаТЧ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Из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ТЧТовары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Цикл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b="1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  <a:r>
              <a:rPr lang="ru-RU" sz="1800" dirty="0" err="1">
                <a:latin typeface="Courier New" pitchFamily="49" charset="0"/>
              </a:rPr>
              <a:t>СтрокаТЧ.Сумма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СтрокаТЧ.Цена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СтрокаТЧ.Количество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КонецЦикла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607178"/>
              </p:ext>
            </p:extLst>
          </p:nvPr>
        </p:nvGraphicFramePr>
        <p:xfrm>
          <a:off x="2267743" y="3789039"/>
          <a:ext cx="6336705" cy="20162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5">
                  <a:extLst>
                    <a:ext uri="{9D8B030D-6E8A-4147-A177-3AD203B41FA5}">
                      <a16:colId xmlns:a16="http://schemas.microsoft.com/office/drawing/2014/main" val="731844639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420056446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1282073890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3860790244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573663885"/>
                    </a:ext>
                  </a:extLst>
                </a:gridCol>
              </a:tblGrid>
              <a:tr h="73636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Номер строки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Товар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Цена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Сумма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8794046"/>
                  </a:ext>
                </a:extLst>
              </a:tr>
              <a:tr h="426622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2381108"/>
                  </a:ext>
                </a:extLst>
              </a:tr>
              <a:tr h="426622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9076153"/>
                  </a:ext>
                </a:extLst>
              </a:tr>
              <a:tr h="426622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Апельсины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5304344"/>
                  </a:ext>
                </a:extLst>
              </a:tr>
            </a:tbl>
          </a:graphicData>
        </a:graphic>
      </p:graphicFrame>
      <p:sp>
        <p:nvSpPr>
          <p:cNvPr id="4" name="Скругленный прямоугольник 3"/>
          <p:cNvSpPr/>
          <p:nvPr/>
        </p:nvSpPr>
        <p:spPr>
          <a:xfrm>
            <a:off x="2098230" y="3284984"/>
            <a:ext cx="6768752" cy="2736304"/>
          </a:xfrm>
          <a:prstGeom prst="roundRect">
            <a:avLst/>
          </a:prstGeom>
          <a:solidFill>
            <a:schemeClr val="accent1">
              <a:alpha val="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 err="1">
                <a:solidFill>
                  <a:schemeClr val="tx1"/>
                </a:solidFill>
              </a:rPr>
              <a:t>ТЧТовары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360363" y="4522590"/>
            <a:ext cx="8388102" cy="435215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err="1">
                <a:solidFill>
                  <a:schemeClr val="tx1"/>
                </a:solidFill>
              </a:rPr>
              <a:t>СтрокаТЧ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347806" y="4972376"/>
            <a:ext cx="8388102" cy="435215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err="1">
                <a:solidFill>
                  <a:schemeClr val="tx1"/>
                </a:solidFill>
              </a:rPr>
              <a:t>СтрокаТЧ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347806" y="5409668"/>
            <a:ext cx="8388102" cy="435215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err="1">
                <a:solidFill>
                  <a:schemeClr val="tx1"/>
                </a:solidFill>
              </a:rPr>
              <a:t>СтрокаТЧ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674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5" grpId="0" build="p"/>
      <p:bldP spid="4" grpId="0" animBg="1"/>
      <p:bldP spid="4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92758" y="1480405"/>
            <a:ext cx="3826768" cy="4525963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200000"/>
              </a:lnSpc>
            </a:pPr>
            <a:r>
              <a:rPr lang="ru-RU" sz="2800" dirty="0">
                <a:solidFill>
                  <a:srgbClr val="0070C0"/>
                </a:solidFill>
              </a:rPr>
              <a:t>Массив</a:t>
            </a:r>
          </a:p>
          <a:p>
            <a:pPr>
              <a:lnSpc>
                <a:spcPct val="200000"/>
              </a:lnSpc>
            </a:pPr>
            <a:r>
              <a:rPr lang="ru-RU" sz="2800" dirty="0">
                <a:solidFill>
                  <a:schemeClr val="accent3">
                    <a:lumMod val="50000"/>
                  </a:schemeClr>
                </a:solidFill>
              </a:rPr>
              <a:t>Структура</a:t>
            </a:r>
          </a:p>
          <a:p>
            <a:r>
              <a:rPr lang="ru-RU" sz="2800" dirty="0">
                <a:solidFill>
                  <a:schemeClr val="accent3">
                    <a:lumMod val="50000"/>
                  </a:schemeClr>
                </a:solidFill>
              </a:rPr>
              <a:t>Соответствие</a:t>
            </a:r>
          </a:p>
          <a:p>
            <a:pPr>
              <a:lnSpc>
                <a:spcPct val="150000"/>
              </a:lnSpc>
            </a:pPr>
            <a:r>
              <a:rPr lang="ru-RU" sz="2800" dirty="0">
                <a:solidFill>
                  <a:schemeClr val="accent6">
                    <a:lumMod val="75000"/>
                  </a:schemeClr>
                </a:solidFill>
              </a:rPr>
              <a:t>Список значений</a:t>
            </a:r>
          </a:p>
          <a:p>
            <a:pPr>
              <a:lnSpc>
                <a:spcPct val="260000"/>
              </a:lnSpc>
            </a:pPr>
            <a:r>
              <a:rPr lang="ru-RU" sz="2800" dirty="0">
                <a:solidFill>
                  <a:schemeClr val="accent4">
                    <a:lumMod val="75000"/>
                  </a:schemeClr>
                </a:solidFill>
              </a:rPr>
              <a:t>Таблица значений</a:t>
            </a:r>
          </a:p>
          <a:p>
            <a:pPr>
              <a:lnSpc>
                <a:spcPct val="260000"/>
              </a:lnSpc>
            </a:pPr>
            <a:r>
              <a:rPr lang="ru-RU" sz="2800" dirty="0">
                <a:solidFill>
                  <a:srgbClr val="C00000"/>
                </a:solidFill>
              </a:rPr>
              <a:t>Дерево значений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936104"/>
          </a:xfrm>
        </p:spPr>
        <p:txBody>
          <a:bodyPr>
            <a:no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Универсальные коллекции значений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4408557"/>
              </p:ext>
            </p:extLst>
          </p:nvPr>
        </p:nvGraphicFramePr>
        <p:xfrm>
          <a:off x="3707904" y="1556792"/>
          <a:ext cx="95976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82932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932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145184"/>
              </p:ext>
            </p:extLst>
          </p:nvPr>
        </p:nvGraphicFramePr>
        <p:xfrm>
          <a:off x="3707904" y="2459331"/>
          <a:ext cx="2135560" cy="86409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9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3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ru-RU" dirty="0"/>
                        <a:t>Ключ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415693"/>
              </p:ext>
            </p:extLst>
          </p:nvPr>
        </p:nvGraphicFramePr>
        <p:xfrm>
          <a:off x="3707904" y="3452495"/>
          <a:ext cx="5352256" cy="7416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3198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Представление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Пометка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Картинка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1553905"/>
              </p:ext>
            </p:extLst>
          </p:nvPr>
        </p:nvGraphicFramePr>
        <p:xfrm>
          <a:off x="3707904" y="4341138"/>
          <a:ext cx="4416152" cy="73585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2961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77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7928">
                <a:tc>
                  <a:txBody>
                    <a:bodyPr/>
                    <a:lstStyle/>
                    <a:p>
                      <a:r>
                        <a:rPr lang="ru-RU" dirty="0"/>
                        <a:t>Колонка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</a:t>
                      </a:r>
                      <a:r>
                        <a:rPr lang="en-US" dirty="0"/>
                        <a:t>n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7928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429742"/>
              </p:ext>
            </p:extLst>
          </p:nvPr>
        </p:nvGraphicFramePr>
        <p:xfrm>
          <a:off x="3684053" y="5222638"/>
          <a:ext cx="5184574" cy="1008112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521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146">
                <a:tc>
                  <a:txBody>
                    <a:bodyPr/>
                    <a:lstStyle/>
                    <a:p>
                      <a:r>
                        <a:rPr lang="ru-RU" dirty="0"/>
                        <a:t>Родитель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</a:t>
                      </a:r>
                      <a:r>
                        <a:rPr lang="en-US" dirty="0"/>
                        <a:t>n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7966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Правая фигурная скобка 8"/>
          <p:cNvSpPr/>
          <p:nvPr/>
        </p:nvSpPr>
        <p:spPr>
          <a:xfrm>
            <a:off x="3203848" y="2459331"/>
            <a:ext cx="360040" cy="936104"/>
          </a:xfrm>
          <a:prstGeom prst="rightBrac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729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Массив(</a:t>
            </a:r>
            <a:r>
              <a:rPr lang="ru-RU" sz="2400" dirty="0">
                <a:latin typeface="Courier New" pitchFamily="49" charset="0"/>
              </a:rPr>
              <a:t>2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6034305"/>
              </p:ext>
            </p:extLst>
          </p:nvPr>
        </p:nvGraphicFramePr>
        <p:xfrm>
          <a:off x="6776948" y="1898583"/>
          <a:ext cx="1827499" cy="8103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dirty="0" err="1"/>
                        <a:t>Неопределено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168">
                <a:tc>
                  <a:txBody>
                    <a:bodyPr/>
                    <a:lstStyle/>
                    <a:p>
                      <a:r>
                        <a:rPr lang="ru-RU" dirty="0" err="1"/>
                        <a:t>Неопределено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467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9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Массив(</a:t>
            </a:r>
            <a:r>
              <a:rPr lang="ru-RU" sz="2400" dirty="0">
                <a:latin typeface="Courier New" pitchFamily="49" charset="0"/>
              </a:rPr>
              <a:t>2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latin typeface="Courier New" pitchFamily="49" charset="0"/>
              </a:rPr>
              <a:t>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Истина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4373995"/>
              </p:ext>
            </p:extLst>
          </p:nvPr>
        </p:nvGraphicFramePr>
        <p:xfrm>
          <a:off x="6776948" y="1898583"/>
          <a:ext cx="1827499" cy="8103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168">
                <a:tc>
                  <a:txBody>
                    <a:bodyPr/>
                    <a:lstStyle/>
                    <a:p>
                      <a:r>
                        <a:rPr lang="ru-RU" dirty="0" err="1"/>
                        <a:t>Неопределено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4698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Массив(</a:t>
            </a:r>
            <a:r>
              <a:rPr lang="ru-RU" sz="2400" dirty="0">
                <a:latin typeface="Courier New" pitchFamily="49" charset="0"/>
              </a:rPr>
              <a:t>2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latin typeface="Courier New" pitchFamily="49" charset="0"/>
              </a:rPr>
              <a:t>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Истина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latin typeface="Courier New" pitchFamily="49" charset="0"/>
              </a:rPr>
              <a:t>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ТекущаяДата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495184"/>
              </p:ext>
            </p:extLst>
          </p:nvPr>
        </p:nvGraphicFramePr>
        <p:xfrm>
          <a:off x="6776948" y="1898583"/>
          <a:ext cx="1827499" cy="8103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2020.02.14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528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Массив(</a:t>
            </a:r>
            <a:r>
              <a:rPr lang="ru-RU" sz="2400" dirty="0">
                <a:latin typeface="Courier New" pitchFamily="49" charset="0"/>
              </a:rPr>
              <a:t>2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latin typeface="Courier New" pitchFamily="49" charset="0"/>
              </a:rPr>
              <a:t>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Истина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latin typeface="Courier New" pitchFamily="49" charset="0"/>
              </a:rPr>
              <a:t>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ТекущаяДата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400" dirty="0">
                <a:latin typeface="Courier New" pitchFamily="49" charset="0"/>
              </a:rPr>
              <a:t>Добавить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"Опт"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036191"/>
              </p:ext>
            </p:extLst>
          </p:nvPr>
        </p:nvGraphicFramePr>
        <p:xfrm>
          <a:off x="6776948" y="1898583"/>
          <a:ext cx="1827499" cy="8103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2020.02.14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6776947" y="2695479"/>
          <a:ext cx="1827499" cy="405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tx1"/>
                          </a:solidFill>
                          <a:latin typeface="Courier New" pitchFamily="49" charset="0"/>
                        </a:rPr>
                        <a:t>"Опт"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1390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>
                <a:latin typeface="Courier New" pitchFamily="49" charset="0"/>
              </a:rPr>
              <a:t>Массив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2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Истина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ТекущаяДата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400" dirty="0">
                <a:latin typeface="Courier New" pitchFamily="49" charset="0"/>
              </a:rPr>
              <a:t>Добавить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"Опт"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endParaRPr lang="ru-RU" sz="2400" dirty="0">
              <a:solidFill>
                <a:srgbClr val="00B05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//Чтение данных массива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Если </a:t>
            </a:r>
            <a:r>
              <a:rPr lang="ru-RU" sz="2400" dirty="0" err="1">
                <a:latin typeface="Courier New" pitchFamily="49" charset="0"/>
              </a:rPr>
              <a:t>ТекущаяДата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 &gt; </a:t>
            </a: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 Тогда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	</a:t>
            </a:r>
            <a:r>
              <a:rPr lang="ru-RU" sz="2400" dirty="0">
                <a:latin typeface="Courier New" pitchFamily="49" charset="0"/>
              </a:rPr>
              <a:t>Отказ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 = </a:t>
            </a: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];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 err="1">
                <a:solidFill>
                  <a:srgbClr val="FF0000"/>
                </a:solidFill>
                <a:latin typeface="Courier New" pitchFamily="49" charset="0"/>
              </a:rPr>
              <a:t>КонецЕсли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363861"/>
              </p:ext>
            </p:extLst>
          </p:nvPr>
        </p:nvGraphicFramePr>
        <p:xfrm>
          <a:off x="6776948" y="1898583"/>
          <a:ext cx="1827499" cy="8103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2020.02.14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6776947" y="2695479"/>
          <a:ext cx="1827499" cy="405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tx1"/>
                          </a:solidFill>
                          <a:latin typeface="Courier New" pitchFamily="49" charset="0"/>
                        </a:rPr>
                        <a:t>"Опт"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1645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5525398"/>
              </p:ext>
            </p:extLst>
          </p:nvPr>
        </p:nvGraphicFramePr>
        <p:xfrm>
          <a:off x="1979712" y="1215173"/>
          <a:ext cx="4733925" cy="4318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2314456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Group 104"/>
          <p:cNvGraphicFramePr>
            <a:graphicFrameLocks noGrp="1"/>
          </p:cNvGraphicFramePr>
          <p:nvPr/>
        </p:nvGraphicFramePr>
        <p:xfrm>
          <a:off x="1979712" y="1215173"/>
          <a:ext cx="4733925" cy="4318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  <p:graphicFrame>
        <p:nvGraphicFramePr>
          <p:cNvPr id="5" name="Group 104"/>
          <p:cNvGraphicFramePr>
            <a:graphicFrameLocks noGrp="1"/>
          </p:cNvGraphicFramePr>
          <p:nvPr/>
        </p:nvGraphicFramePr>
        <p:xfrm>
          <a:off x="1979712" y="1647221"/>
          <a:ext cx="4733925" cy="4318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4337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Group 104"/>
          <p:cNvGraphicFramePr>
            <a:graphicFrameLocks noGrp="1"/>
          </p:cNvGraphicFramePr>
          <p:nvPr/>
        </p:nvGraphicFramePr>
        <p:xfrm>
          <a:off x="1979712" y="1215173"/>
          <a:ext cx="4733925" cy="4318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  <p:graphicFrame>
        <p:nvGraphicFramePr>
          <p:cNvPr id="6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5676631"/>
              </p:ext>
            </p:extLst>
          </p:nvPr>
        </p:nvGraphicFramePr>
        <p:xfrm>
          <a:off x="1979711" y="1646973"/>
          <a:ext cx="4733925" cy="8636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.06.20</a:t>
                      </a: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8818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824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4187150"/>
              </p:ext>
            </p:extLst>
          </p:nvPr>
        </p:nvGraphicFramePr>
        <p:xfrm>
          <a:off x="1979711" y="1215173"/>
          <a:ext cx="4733925" cy="1710411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ВыводитьНомераСтраниц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Истина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31.10.2015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01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Истина);</a:t>
            </a: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3019934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824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836294"/>
              </p:ext>
            </p:extLst>
          </p:nvPr>
        </p:nvGraphicFramePr>
        <p:xfrm>
          <a:off x="1979711" y="1215173"/>
          <a:ext cx="4733925" cy="1710411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ВыводитьНомераСтраниц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Ложь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31.10.2015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01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Ложь); 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</a:rPr>
              <a:t>//Повтор ключа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1853873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824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8077006"/>
              </p:ext>
            </p:extLst>
          </p:nvPr>
        </p:nvGraphicFramePr>
        <p:xfrm>
          <a:off x="1979711" y="1215173"/>
          <a:ext cx="4733925" cy="1710411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ВыводитьНомераСтраниц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Истина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31.10.2015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01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Ложь); 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</a:rPr>
              <a:t>//Повтор ключа</a:t>
            </a: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4009562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824" name="Group 104"/>
          <p:cNvGraphicFramePr>
            <a:graphicFrameLocks noGrp="1"/>
          </p:cNvGraphicFramePr>
          <p:nvPr/>
        </p:nvGraphicFramePr>
        <p:xfrm>
          <a:off x="1979711" y="1215173"/>
          <a:ext cx="4733925" cy="1710411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ВыводитьНомераСтраниц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Истина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31.10.2015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01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528392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Ложь);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Истина;</a:t>
            </a:r>
          </a:p>
          <a:p>
            <a:pPr>
              <a:lnSpc>
                <a:spcPct val="80000"/>
              </a:lnSpc>
              <a:buNone/>
            </a:pPr>
            <a:endParaRPr lang="ru-RU" sz="2000" u="sng" dirty="0">
              <a:solidFill>
                <a:schemeClr val="tx1">
                  <a:lumMod val="75000"/>
                  <a:lumOff val="25000"/>
                </a:schemeClr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Чтение данных из структуры:</a:t>
            </a:r>
          </a:p>
          <a:p>
            <a:pPr>
              <a:lnSpc>
                <a:spcPct val="80000"/>
              </a:lnSpc>
              <a:buNone/>
            </a:pPr>
            <a:endParaRPr lang="ru-RU" sz="12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1600" dirty="0">
                <a:latin typeface="Courier New" pitchFamily="49" charset="0"/>
              </a:rPr>
              <a:t>Заголовок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</a:rPr>
              <a:t>// " Анализ продаж"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ДатаАктуальности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</a:rPr>
              <a:t>//Истина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>
                <a:latin typeface="Courier New" pitchFamily="49" charset="0"/>
              </a:rPr>
              <a:t>...</a:t>
            </a:r>
          </a:p>
          <a:p>
            <a:pPr>
              <a:lnSpc>
                <a:spcPct val="80000"/>
              </a:lnSpc>
              <a:buNone/>
            </a:pP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3510559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</p:spTree>
    <p:extLst>
      <p:ext uri="{BB962C8B-B14F-4D97-AF65-F5344CB8AC3E}">
        <p14:creationId xmlns:p14="http://schemas.microsoft.com/office/powerpoint/2010/main" val="938163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395536" y="3789040"/>
            <a:ext cx="5147563" cy="3139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921122"/>
              </p:ext>
            </p:extLst>
          </p:nvPr>
        </p:nvGraphicFramePr>
        <p:xfrm>
          <a:off x="1187624" y="1484784"/>
          <a:ext cx="6365138" cy="31496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</a:tbl>
          </a:graphicData>
        </a:graphic>
      </p:graphicFrame>
      <p:sp>
        <p:nvSpPr>
          <p:cNvPr id="8" name="Прямоугольник 7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6366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8525667"/>
              </p:ext>
            </p:extLst>
          </p:nvPr>
        </p:nvGraphicFramePr>
        <p:xfrm>
          <a:off x="1187624" y="1484784"/>
          <a:ext cx="6365138" cy="62992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err="1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673867"/>
              </p:ext>
            </p:extLst>
          </p:nvPr>
        </p:nvGraphicFramePr>
        <p:xfrm>
          <a:off x="1187624" y="1484784"/>
          <a:ext cx="6365138" cy="31496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</a:tbl>
          </a:graphicData>
        </a:graphic>
      </p:graphicFrame>
      <p:sp>
        <p:nvSpPr>
          <p:cNvPr id="8" name="Прямоугольник 7"/>
          <p:cNvSpPr/>
          <p:nvPr/>
        </p:nvSpPr>
        <p:spPr>
          <a:xfrm>
            <a:off x="395536" y="3789040"/>
            <a:ext cx="8042586" cy="7571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395536" y="3789040"/>
            <a:ext cx="5147563" cy="3139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21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3446384"/>
              </p:ext>
            </p:extLst>
          </p:nvPr>
        </p:nvGraphicFramePr>
        <p:xfrm>
          <a:off x="1187624" y="1484784"/>
          <a:ext cx="6365138" cy="62992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</a:tbl>
          </a:graphicData>
        </a:graphic>
      </p:graphicFrame>
      <p:sp>
        <p:nvSpPr>
          <p:cNvPr id="8" name="Прямоугольник 7"/>
          <p:cNvSpPr/>
          <p:nvPr/>
        </p:nvSpPr>
        <p:spPr>
          <a:xfrm>
            <a:off x="395536" y="3789040"/>
            <a:ext cx="8262198" cy="164352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Подразделение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Структурная</a:t>
            </a:r>
            <a:r>
              <a:rPr lang="ru-RU" dirty="0">
                <a:latin typeface="Verdana" panose="020B0604030504040204" pitchFamily="34" charset="0"/>
              </a:rPr>
              <a:t>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единица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395536" y="3789040"/>
            <a:ext cx="8042586" cy="7571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386152"/>
              </p:ext>
            </p:extLst>
          </p:nvPr>
        </p:nvGraphicFramePr>
        <p:xfrm>
          <a:off x="1187624" y="1484784"/>
          <a:ext cx="6365138" cy="94488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Подразделение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Структурная единица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9099756"/>
                  </a:ext>
                </a:extLst>
              </a:tr>
            </a:tbl>
          </a:graphicData>
        </a:graphic>
      </p:graphicFrame>
      <p:sp>
        <p:nvSpPr>
          <p:cNvPr id="11" name="Прямоугольник 10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6314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395536" y="3789040"/>
            <a:ext cx="8343951" cy="186512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Подразделение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Структурная</a:t>
            </a:r>
            <a:r>
              <a:rPr lang="ru-RU" dirty="0">
                <a:latin typeface="Verdana" panose="020B0604030504040204" pitchFamily="34" charset="0"/>
              </a:rPr>
              <a:t>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единица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Должность","Должность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395536" y="3789040"/>
            <a:ext cx="8262198" cy="164352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Подразделение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Структурная</a:t>
            </a:r>
            <a:r>
              <a:rPr lang="ru-RU" dirty="0">
                <a:latin typeface="Verdana" panose="020B0604030504040204" pitchFamily="34" charset="0"/>
              </a:rPr>
              <a:t>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единица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2713140"/>
              </p:ext>
            </p:extLst>
          </p:nvPr>
        </p:nvGraphicFramePr>
        <p:xfrm>
          <a:off x="1187624" y="1484784"/>
          <a:ext cx="6365138" cy="94488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err="1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Подразделение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Структурная единица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9099756"/>
                  </a:ext>
                </a:extLst>
              </a:tr>
            </a:tbl>
          </a:graphicData>
        </a:graphic>
      </p:graphicFrame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9021776"/>
              </p:ext>
            </p:extLst>
          </p:nvPr>
        </p:nvGraphicFramePr>
        <p:xfrm>
          <a:off x="1187624" y="1484784"/>
          <a:ext cx="6365138" cy="125984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Подразделение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Структурная единица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9099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Должность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Должность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32796"/>
                  </a:ext>
                </a:extLst>
              </a:tr>
            </a:tbl>
          </a:graphicData>
        </a:graphic>
      </p:graphicFrame>
      <p:sp>
        <p:nvSpPr>
          <p:cNvPr id="2" name="Прямоугольник 1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14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77668" y="3645024"/>
            <a:ext cx="6939720" cy="14219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chemeClr val="tx1">
                  <a:lumMod val="50000"/>
                  <a:lumOff val="50000"/>
                </a:schemeClr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ИмяПоляФильтра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 = 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b="1" dirty="0">
                <a:solidFill>
                  <a:schemeClr val="tx2"/>
                </a:solidFill>
                <a:latin typeface="Courier New" pitchFamily="49" charset="0"/>
              </a:rPr>
              <a:t>0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].</a:t>
            </a:r>
            <a:r>
              <a:rPr lang="ru-RU" b="1" dirty="0">
                <a:solidFill>
                  <a:schemeClr val="tx2"/>
                </a:solidFill>
                <a:latin typeface="Courier New" pitchFamily="49" charset="0"/>
              </a:rPr>
              <a:t>Значение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				 </a:t>
            </a:r>
            <a:r>
              <a:rPr lang="ru-RU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//"</a:t>
            </a:r>
            <a:r>
              <a:rPr lang="ru-RU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ru-RU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СинонимПоляФильтра</a:t>
            </a:r>
            <a:r>
              <a:rPr lang="ru-RU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ru-RU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ИменаПолей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ru-RU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].</a:t>
            </a:r>
            <a:r>
              <a:rPr lang="ru-RU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Представление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		</a:t>
            </a:r>
            <a:r>
              <a:rPr lang="ru-RU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//"Физическое лицо"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7946143"/>
              </p:ext>
            </p:extLst>
          </p:nvPr>
        </p:nvGraphicFramePr>
        <p:xfrm>
          <a:off x="1187624" y="1484784"/>
          <a:ext cx="6365138" cy="125984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Подразделение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Структурная единица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9099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Должность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Должность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32796"/>
                  </a:ext>
                </a:extLst>
              </a:tr>
            </a:tbl>
          </a:graphicData>
        </a:graphic>
      </p:graphicFrame>
      <p:sp>
        <p:nvSpPr>
          <p:cNvPr id="9" name="Прямоугольник 8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Чтение из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9196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</p:spTree>
    <p:extLst>
      <p:ext uri="{BB962C8B-B14F-4D97-AF65-F5344CB8AC3E}">
        <p14:creationId xmlns:p14="http://schemas.microsoft.com/office/powerpoint/2010/main" val="3144866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uiExpand="1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3138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6179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5650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Group 2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9724620"/>
              </p:ext>
            </p:extLst>
          </p:nvPr>
        </p:nvGraphicFramePr>
        <p:xfrm>
          <a:off x="783158" y="1124310"/>
          <a:ext cx="7461250" cy="863848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6661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ИмяФайла</a:t>
            </a:r>
            <a:r>
              <a:rPr lang="ru-RU" sz="1600" dirty="0">
                <a:latin typeface="Courier New" pitchFamily="49" charset="0"/>
              </a:rPr>
              <a:t>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"Прайс ОАО "Лето"".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xls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Group 2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4938194"/>
              </p:ext>
            </p:extLst>
          </p:nvPr>
        </p:nvGraphicFramePr>
        <p:xfrm>
          <a:off x="783158" y="1124310"/>
          <a:ext cx="7461250" cy="863848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Прайс ОАО "Лето".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0582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ИмяФайла</a:t>
            </a:r>
            <a:r>
              <a:rPr lang="ru-RU" sz="1600" dirty="0">
                <a:latin typeface="Courier New" pitchFamily="49" charset="0"/>
              </a:rPr>
              <a:t>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"Прайс ОАО "Лето"".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xls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КоличествоСтрок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500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Group 2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4443702"/>
              </p:ext>
            </p:extLst>
          </p:nvPr>
        </p:nvGraphicFramePr>
        <p:xfrm>
          <a:off x="783158" y="1124310"/>
          <a:ext cx="7461250" cy="863848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Прайс ОАО "Лето".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500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6897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ИмяФайла</a:t>
            </a:r>
            <a:r>
              <a:rPr lang="ru-RU" sz="1600" dirty="0">
                <a:latin typeface="Courier New" pitchFamily="49" charset="0"/>
              </a:rPr>
              <a:t>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"Прайс ОАО "Лето"".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xls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КоличествоСтрок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500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ГруппаТоваров</a:t>
            </a:r>
            <a:r>
              <a:rPr lang="ru-RU" sz="1600" dirty="0">
                <a:latin typeface="Courier New" pitchFamily="49" charset="0"/>
              </a:rPr>
              <a:t>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000" dirty="0" err="1">
                <a:latin typeface="Courier New" pitchFamily="49" charset="0"/>
              </a:rPr>
              <a:t>Справочники.Номенклатура.НайтиПоНаименованию</a:t>
            </a:r>
            <a:r>
              <a:rPr lang="ru-RU" sz="1000" dirty="0">
                <a:latin typeface="Courier New" pitchFamily="49" charset="0"/>
              </a:rPr>
              <a:t>(</a:t>
            </a:r>
            <a:r>
              <a:rPr lang="ru-RU" sz="1000" dirty="0">
                <a:solidFill>
                  <a:schemeClr val="tx1"/>
                </a:solidFill>
                <a:latin typeface="Courier New" pitchFamily="49" charset="0"/>
              </a:rPr>
              <a:t>"Лето"</a:t>
            </a:r>
            <a:r>
              <a:rPr lang="ru-RU" sz="1000" dirty="0">
                <a:latin typeface="Courier New" pitchFamily="49" charset="0"/>
              </a:rPr>
              <a:t>)</a:t>
            </a:r>
            <a:r>
              <a:rPr lang="ru-RU" sz="10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Group 282"/>
          <p:cNvGraphicFramePr>
            <a:graphicFrameLocks noGrp="1"/>
          </p:cNvGraphicFramePr>
          <p:nvPr/>
        </p:nvGraphicFramePr>
        <p:xfrm>
          <a:off x="783158" y="1124310"/>
          <a:ext cx="7461250" cy="863848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Прайс ОАО "Лето".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500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Лето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0205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ИмяФайла</a:t>
            </a:r>
            <a:r>
              <a:rPr lang="ru-RU" sz="1600" dirty="0">
                <a:latin typeface="Courier New" pitchFamily="49" charset="0"/>
              </a:rPr>
              <a:t>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"Прайс ОАО "Лето"".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xls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КоличествоСтрок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500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ГруппаТоваров</a:t>
            </a:r>
            <a:r>
              <a:rPr lang="ru-RU" sz="1600" dirty="0">
                <a:latin typeface="Courier New" pitchFamily="49" charset="0"/>
              </a:rPr>
              <a:t>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000" dirty="0" err="1">
                <a:latin typeface="Courier New" pitchFamily="49" charset="0"/>
              </a:rPr>
              <a:t>Справочники.Номенклатура.НайтиПоНаименованию</a:t>
            </a:r>
            <a:r>
              <a:rPr lang="ru-RU" sz="1000" dirty="0">
                <a:latin typeface="Courier New" pitchFamily="49" charset="0"/>
              </a:rPr>
              <a:t>(</a:t>
            </a:r>
            <a:r>
              <a:rPr lang="ru-RU" sz="1000" dirty="0">
                <a:solidFill>
                  <a:schemeClr val="tx1"/>
                </a:solidFill>
                <a:latin typeface="Courier New" pitchFamily="49" charset="0"/>
              </a:rPr>
              <a:t>"Лето"</a:t>
            </a:r>
            <a:r>
              <a:rPr lang="ru-RU" sz="1000" dirty="0">
                <a:latin typeface="Courier New" pitchFamily="49" charset="0"/>
              </a:rPr>
              <a:t>)</a:t>
            </a:r>
            <a:r>
              <a:rPr lang="ru-RU" sz="10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...</a:t>
            </a: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Group 2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008444"/>
              </p:ext>
            </p:extLst>
          </p:nvPr>
        </p:nvGraphicFramePr>
        <p:xfrm>
          <a:off x="783158" y="1115616"/>
          <a:ext cx="7461250" cy="17272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Прайс ОАО "Лето".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500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Лето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Список товаров ЗАО "Юг".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357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Юг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Цены ООО "Лукойл".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70 611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Лукойл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6189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1680" y="1628800"/>
            <a:ext cx="3162951" cy="4032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Общая форма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18909" y="4941168"/>
            <a:ext cx="3057550" cy="504056"/>
          </a:xfrm>
          <a:prstGeom prst="roundRect">
            <a:avLst/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4873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50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5" grpId="1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 открытии формы сообщить текущую дату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Задача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2150" y="2780928"/>
            <a:ext cx="5219700" cy="315277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025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7" y="1628800"/>
            <a:ext cx="8277225" cy="2143125"/>
          </a:xfrm>
          <a:prstGeom prst="rect">
            <a:avLst/>
          </a:prstGeom>
        </p:spPr>
      </p:pic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Разбор ФИО</a:t>
            </a:r>
          </a:p>
        </p:txBody>
      </p:sp>
      <p:sp>
        <p:nvSpPr>
          <p:cNvPr id="5" name="Правая фигурная скобка 4"/>
          <p:cNvSpPr/>
          <p:nvPr/>
        </p:nvSpPr>
        <p:spPr>
          <a:xfrm>
            <a:off x="3566756" y="2832230"/>
            <a:ext cx="288032" cy="864096"/>
          </a:xfrm>
          <a:prstGeom prst="rightBrace">
            <a:avLst/>
          </a:prstGeom>
          <a:ln w="3810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углом 5"/>
          <p:cNvSpPr/>
          <p:nvPr/>
        </p:nvSpPr>
        <p:spPr>
          <a:xfrm rot="5400000" flipH="1">
            <a:off x="3840141" y="2856158"/>
            <a:ext cx="720080" cy="552506"/>
          </a:xfrm>
          <a:prstGeom prst="ben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Стрелка углом 8"/>
          <p:cNvSpPr/>
          <p:nvPr/>
        </p:nvSpPr>
        <p:spPr>
          <a:xfrm rot="10800000">
            <a:off x="4936000" y="2772371"/>
            <a:ext cx="1004152" cy="864096"/>
          </a:xfrm>
          <a:prstGeom prst="bentArrow">
            <a:avLst>
              <a:gd name="adj1" fmla="val 13972"/>
              <a:gd name="adj2" fmla="val 13972"/>
              <a:gd name="adj3" fmla="val 16729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978290" y="2947745"/>
            <a:ext cx="55117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ru-RU" dirty="0"/>
              <a:t>ДЗ</a:t>
            </a:r>
          </a:p>
        </p:txBody>
      </p:sp>
    </p:spTree>
    <p:extLst>
      <p:ext uri="{BB962C8B-B14F-4D97-AF65-F5344CB8AC3E}">
        <p14:creationId xmlns:p14="http://schemas.microsoft.com/office/powerpoint/2010/main" val="48954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 animBg="1"/>
      <p:bldP spid="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Разница дат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0650" y="1643063"/>
            <a:ext cx="6362700" cy="357187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3286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СофтБаланс1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офтБаланс1" id="{544E1D70-FC81-461C-8A2C-95A7C0C1033B}" vid="{EC467584-E60C-463F-AF8D-1AD37B3FD37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СофтБаланс</Template>
  <TotalTime>7428</TotalTime>
  <Words>2902</Words>
  <Application>Microsoft Office PowerPoint</Application>
  <PresentationFormat>Экран (4:3)</PresentationFormat>
  <Paragraphs>1053</Paragraphs>
  <Slides>78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78</vt:i4>
      </vt:variant>
    </vt:vector>
  </HeadingPairs>
  <TitlesOfParts>
    <vt:vector size="87" baseType="lpstr">
      <vt:lpstr>Arial</vt:lpstr>
      <vt:lpstr>Arial Black</vt:lpstr>
      <vt:lpstr>Calibri</vt:lpstr>
      <vt:lpstr>Courier New</vt:lpstr>
      <vt:lpstr>Tahoma</vt:lpstr>
      <vt:lpstr>Times New Roman</vt:lpstr>
      <vt:lpstr>Verdana</vt:lpstr>
      <vt:lpstr>Wingdings</vt:lpstr>
      <vt:lpstr>СофтБаланс1</vt:lpstr>
      <vt:lpstr>Занятие 3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Особенность встроенного программного языка</vt:lpstr>
      <vt:lpstr>Что располагается в модуле</vt:lpstr>
      <vt:lpstr>Операторы</vt:lpstr>
      <vt:lpstr>Операторы - синтаксис</vt:lpstr>
      <vt:lpstr>Объявление переменных</vt:lpstr>
      <vt:lpstr>Hello, World !</vt:lpstr>
      <vt:lpstr>Презентация PowerPoint</vt:lpstr>
      <vt:lpstr>Процедуры и функции</vt:lpstr>
      <vt:lpstr>Описание процедур и функций</vt:lpstr>
      <vt:lpstr>Структура модуля</vt:lpstr>
      <vt:lpstr>Структура модуля</vt:lpstr>
      <vt:lpstr>Структура модуля</vt:lpstr>
      <vt:lpstr>Не все процедуры одинаковы</vt:lpstr>
      <vt:lpstr>Программная работа с данными примитивного типа</vt:lpstr>
      <vt:lpstr>Примитивные типы: Булево</vt:lpstr>
      <vt:lpstr>Примитивные типы: Число</vt:lpstr>
      <vt:lpstr>Примитивные типы: Строка</vt:lpstr>
      <vt:lpstr>Примитивные типы: Дата</vt:lpstr>
      <vt:lpstr>Преобразование типов</vt:lpstr>
      <vt:lpstr>Работа с программными объектами</vt:lpstr>
      <vt:lpstr>Презентация PowerPoint</vt:lpstr>
      <vt:lpstr>Презентация PowerPoint</vt:lpstr>
      <vt:lpstr>Синтаксические конструкции</vt:lpstr>
      <vt:lpstr>Ветвление</vt:lpstr>
      <vt:lpstr>Ветвление</vt:lpstr>
      <vt:lpstr>Ветвление</vt:lpstr>
      <vt:lpstr>Цикл со счетчиком</vt:lpstr>
      <vt:lpstr>Цикл с предусловием</vt:lpstr>
      <vt:lpstr>Коллекции</vt:lpstr>
      <vt:lpstr>Коллекции - таблицы</vt:lpstr>
      <vt:lpstr>Данные в коллекции</vt:lpstr>
      <vt:lpstr>Данные в коллекции</vt:lpstr>
      <vt:lpstr>Цикл для обхода коллекций значений</vt:lpstr>
      <vt:lpstr>Универсальные коллекции значений</vt:lpstr>
      <vt:lpstr>Массив</vt:lpstr>
      <vt:lpstr>Массив</vt:lpstr>
      <vt:lpstr>Массив</vt:lpstr>
      <vt:lpstr>Массив</vt:lpstr>
      <vt:lpstr>Массив</vt:lpstr>
      <vt:lpstr>Структура</vt:lpstr>
      <vt:lpstr>Структура</vt:lpstr>
      <vt:lpstr>Структура</vt:lpstr>
      <vt:lpstr>Структура</vt:lpstr>
      <vt:lpstr>Структура</vt:lpstr>
      <vt:lpstr>Структура</vt:lpstr>
      <vt:lpstr>Структура</vt:lpstr>
      <vt:lpstr>Список значений</vt:lpstr>
      <vt:lpstr>Список значений</vt:lpstr>
      <vt:lpstr>Список значений</vt:lpstr>
      <vt:lpstr>Список значений</vt:lpstr>
      <vt:lpstr>Список значений</vt:lpstr>
      <vt:lpstr>Список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Общая форма</vt:lpstr>
      <vt:lpstr>Задача</vt:lpstr>
      <vt:lpstr>Разбор ФИО</vt:lpstr>
      <vt:lpstr>Разница дат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 занятие</dc:title>
  <dc:creator>Сергей</dc:creator>
  <cp:lastModifiedBy>eugeniy sizov</cp:lastModifiedBy>
  <cp:revision>200</cp:revision>
  <dcterms:created xsi:type="dcterms:W3CDTF">2011-02-01T12:09:32Z</dcterms:created>
  <dcterms:modified xsi:type="dcterms:W3CDTF">2020-09-07T17:17:53Z</dcterms:modified>
</cp:coreProperties>
</file>