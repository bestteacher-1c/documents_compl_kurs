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6" r:id="rId1"/>
  </p:sldMasterIdLst>
  <p:sldIdLst>
    <p:sldId id="287" r:id="rId2"/>
    <p:sldId id="371" r:id="rId3"/>
    <p:sldId id="378" r:id="rId4"/>
    <p:sldId id="379" r:id="rId5"/>
    <p:sldId id="380" r:id="rId6"/>
    <p:sldId id="288" r:id="rId7"/>
    <p:sldId id="289" r:id="rId8"/>
    <p:sldId id="259" r:id="rId9"/>
    <p:sldId id="328" r:id="rId10"/>
    <p:sldId id="331" r:id="rId11"/>
    <p:sldId id="332" r:id="rId12"/>
    <p:sldId id="333" r:id="rId13"/>
    <p:sldId id="334" r:id="rId14"/>
    <p:sldId id="335" r:id="rId15"/>
    <p:sldId id="336" r:id="rId16"/>
    <p:sldId id="290" r:id="rId17"/>
    <p:sldId id="338" r:id="rId18"/>
    <p:sldId id="271" r:id="rId19"/>
    <p:sldId id="292" r:id="rId20"/>
    <p:sldId id="293" r:id="rId21"/>
    <p:sldId id="277" r:id="rId22"/>
    <p:sldId id="325" r:id="rId23"/>
    <p:sldId id="326" r:id="rId24"/>
    <p:sldId id="294" r:id="rId25"/>
    <p:sldId id="278" r:id="rId26"/>
    <p:sldId id="297" r:id="rId27"/>
    <p:sldId id="298" r:id="rId28"/>
    <p:sldId id="299" r:id="rId29"/>
    <p:sldId id="291" r:id="rId30"/>
    <p:sldId id="257" r:id="rId31"/>
    <p:sldId id="301" r:id="rId32"/>
    <p:sldId id="273" r:id="rId33"/>
    <p:sldId id="274" r:id="rId34"/>
    <p:sldId id="275" r:id="rId35"/>
    <p:sldId id="276" r:id="rId36"/>
    <p:sldId id="305" r:id="rId37"/>
    <p:sldId id="368" r:id="rId38"/>
    <p:sldId id="369" r:id="rId39"/>
    <p:sldId id="370" r:id="rId40"/>
    <p:sldId id="302" r:id="rId41"/>
    <p:sldId id="279" r:id="rId42"/>
    <p:sldId id="303" r:id="rId43"/>
    <p:sldId id="304" r:id="rId44"/>
    <p:sldId id="280" r:id="rId45"/>
    <p:sldId id="281" r:id="rId46"/>
    <p:sldId id="340" r:id="rId47"/>
    <p:sldId id="339" r:id="rId48"/>
    <p:sldId id="341" r:id="rId49"/>
    <p:sldId id="342" r:id="rId50"/>
    <p:sldId id="282" r:id="rId51"/>
    <p:sldId id="286" r:id="rId52"/>
    <p:sldId id="283" r:id="rId53"/>
    <p:sldId id="346" r:id="rId54"/>
    <p:sldId id="347" r:id="rId55"/>
    <p:sldId id="348" r:id="rId56"/>
    <p:sldId id="381" r:id="rId57"/>
    <p:sldId id="284" r:id="rId58"/>
    <p:sldId id="350" r:id="rId59"/>
    <p:sldId id="351" r:id="rId60"/>
    <p:sldId id="352" r:id="rId61"/>
    <p:sldId id="357" r:id="rId62"/>
    <p:sldId id="358" r:id="rId63"/>
    <p:sldId id="359" r:id="rId64"/>
    <p:sldId id="382" r:id="rId65"/>
    <p:sldId id="383" r:id="rId66"/>
    <p:sldId id="384" r:id="rId67"/>
    <p:sldId id="385" r:id="rId68"/>
    <p:sldId id="386" r:id="rId69"/>
    <p:sldId id="387" r:id="rId70"/>
    <p:sldId id="322" r:id="rId71"/>
    <p:sldId id="360" r:id="rId72"/>
    <p:sldId id="361" r:id="rId73"/>
    <p:sldId id="362" r:id="rId74"/>
    <p:sldId id="363" r:id="rId75"/>
    <p:sldId id="364" r:id="rId76"/>
    <p:sldId id="365" r:id="rId77"/>
    <p:sldId id="366" r:id="rId78"/>
    <p:sldId id="367" r:id="rId79"/>
    <p:sldId id="343" r:id="rId80"/>
    <p:sldId id="344" r:id="rId81"/>
    <p:sldId id="345" r:id="rId82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Средний стиль 2 -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Средний стиль 2 -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Средний стиль 2 - акцент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Средний стиль 2 -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Светлый стиль 3 — акцент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8799B23B-EC83-4686-B30A-512413B5E67A}" styleName="Светлый стиль 3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84" autoAdjust="0"/>
    <p:restoredTop sz="94660"/>
  </p:normalViewPr>
  <p:slideViewPr>
    <p:cSldViewPr>
      <p:cViewPr varScale="1">
        <p:scale>
          <a:sx n="85" d="100"/>
          <a:sy n="85" d="100"/>
        </p:scale>
        <p:origin x="930" y="84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31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ugeniy sizov" userId="f166da1dfb7bc990" providerId="LiveId" clId="{CBB03645-8B2B-43D4-8CF1-788D1D3A41AC}"/>
    <pc:docChg chg="custSel modSld">
      <pc:chgData name="eugeniy sizov" userId="f166da1dfb7bc990" providerId="LiveId" clId="{CBB03645-8B2B-43D4-8CF1-788D1D3A41AC}" dt="2020-03-17T11:32:19.723" v="1" actId="27636"/>
      <pc:docMkLst>
        <pc:docMk/>
      </pc:docMkLst>
      <pc:sldChg chg="modSp mod">
        <pc:chgData name="eugeniy sizov" userId="f166da1dfb7bc990" providerId="LiveId" clId="{CBB03645-8B2B-43D4-8CF1-788D1D3A41AC}" dt="2020-03-17T11:32:19.723" v="1" actId="27636"/>
        <pc:sldMkLst>
          <pc:docMk/>
          <pc:sldMk cId="2057294236" sldId="286"/>
        </pc:sldMkLst>
        <pc:spChg chg="mod">
          <ac:chgData name="eugeniy sizov" userId="f166da1dfb7bc990" providerId="LiveId" clId="{CBB03645-8B2B-43D4-8CF1-788D1D3A41AC}" dt="2020-03-17T11:32:19.723" v="1" actId="27636"/>
          <ac:spMkLst>
            <pc:docMk/>
            <pc:sldMk cId="2057294236" sldId="286"/>
            <ac:spMk id="3" creationId="{00000000-0000-0000-0000-000000000000}"/>
          </ac:spMkLst>
        </pc:spChg>
      </pc:sldChg>
      <pc:sldChg chg="modSp">
        <pc:chgData name="eugeniy sizov" userId="f166da1dfb7bc990" providerId="LiveId" clId="{CBB03645-8B2B-43D4-8CF1-788D1D3A41AC}" dt="2020-03-17T11:32:19.452" v="0" actId="207"/>
        <pc:sldMkLst>
          <pc:docMk/>
          <pc:sldMk cId="2391645975" sldId="381"/>
        </pc:sldMkLst>
        <pc:spChg chg="mod">
          <ac:chgData name="eugeniy sizov" userId="f166da1dfb7bc990" providerId="LiveId" clId="{CBB03645-8B2B-43D4-8CF1-788D1D3A41AC}" dt="2020-03-17T11:32:19.452" v="0" actId="207"/>
          <ac:spMkLst>
            <pc:docMk/>
            <pc:sldMk cId="2391645975" sldId="381"/>
            <ac:spMk id="29699" creationId="{00000000-0000-0000-0000-000000000000}"/>
          </ac:spMkLst>
        </pc:spChg>
      </pc:sldChg>
    </pc:docChg>
  </pc:docChgLst>
  <pc:docChgLst>
    <pc:chgData name="eugeniy sizov" userId="f166da1dfb7bc990" providerId="LiveId" clId="{99ABC262-1883-4ED5-A24B-0399F56B7B47}"/>
    <pc:docChg chg="custSel addSld delSld modSld">
      <pc:chgData name="eugeniy sizov" userId="f166da1dfb7bc990" providerId="LiveId" clId="{99ABC262-1883-4ED5-A24B-0399F56B7B47}" dt="2018-11-13T10:08:58.072" v="2" actId="2696"/>
      <pc:docMkLst>
        <pc:docMk/>
      </pc:docMkLst>
      <pc:sldChg chg="modSp">
        <pc:chgData name="eugeniy sizov" userId="f166da1dfb7bc990" providerId="LiveId" clId="{99ABC262-1883-4ED5-A24B-0399F56B7B47}" dt="2018-11-13T10:08:53.750" v="1" actId="27636"/>
        <pc:sldMkLst>
          <pc:docMk/>
          <pc:sldMk cId="2057294236" sldId="286"/>
        </pc:sldMkLst>
        <pc:spChg chg="mod">
          <ac:chgData name="eugeniy sizov" userId="f166da1dfb7bc990" providerId="LiveId" clId="{99ABC262-1883-4ED5-A24B-0399F56B7B47}" dt="2018-11-13T10:08:53.750" v="1" actId="27636"/>
          <ac:spMkLst>
            <pc:docMk/>
            <pc:sldMk cId="2057294236" sldId="286"/>
            <ac:spMk id="3" creationId="{00000000-0000-0000-0000-000000000000}"/>
          </ac:spMkLst>
        </pc:spChg>
      </pc:sldChg>
      <pc:sldChg chg="add del">
        <pc:chgData name="eugeniy sizov" userId="f166da1dfb7bc990" providerId="LiveId" clId="{99ABC262-1883-4ED5-A24B-0399F56B7B47}" dt="2018-11-13T10:08:58.072" v="2" actId="2696"/>
        <pc:sldMkLst>
          <pc:docMk/>
          <pc:sldMk cId="843330757" sldId="37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61524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95525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780768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334977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50697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70007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8D14C-B0B6-412E-A4FA-EB464F80DBC4}" type="datetimeFigureOut">
              <a:rPr lang="ru-RU" smtClean="0"/>
              <a:pPr/>
              <a:t>17.03.2020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9BDD8D-9978-4DC2-B244-F3D79A870A66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9162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233ED7-CC3A-4DC7-BBB8-B1E15885FA80}" type="datetimeFigureOut">
              <a:rPr lang="ru-RU" smtClean="0"/>
              <a:t>17.03.2020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510C-9D3D-4530-A20C-39119351C7A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997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93663" y="6310313"/>
            <a:ext cx="949326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/81</a:t>
            </a: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3202595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1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Занятие 3</a:t>
            </a:r>
          </a:p>
        </p:txBody>
      </p:sp>
      <p:sp>
        <p:nvSpPr>
          <p:cNvPr id="5" name="Объект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Темы:</a:t>
            </a:r>
          </a:p>
          <a:p>
            <a:pPr lvl="1"/>
            <a:r>
              <a:rPr lang="ru-RU" dirty="0">
                <a:solidFill>
                  <a:schemeClr val="bg1">
                    <a:lumMod val="50000"/>
                  </a:schemeClr>
                </a:solidFill>
              </a:rPr>
              <a:t>Встроенный программный язык</a:t>
            </a:r>
          </a:p>
        </p:txBody>
      </p:sp>
    </p:spTree>
    <p:extLst>
      <p:ext uri="{BB962C8B-B14F-4D97-AF65-F5344CB8AC3E}">
        <p14:creationId xmlns:p14="http://schemas.microsoft.com/office/powerpoint/2010/main" val="4259851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307750" y="1115352"/>
            <a:ext cx="8476718" cy="3158896"/>
          </a:xfrm>
          <a:prstGeom prst="roundRect">
            <a:avLst/>
          </a:prstGeom>
          <a:solidFill>
            <a:schemeClr val="accent5">
              <a:lumMod val="40000"/>
              <a:lumOff val="60000"/>
              <a:alpha val="31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>
                <a:solidFill>
                  <a:schemeClr val="accent5"/>
                </a:solidFill>
              </a:rPr>
              <a:t>Оперативная память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287524" y="4490274"/>
            <a:ext cx="8496944" cy="1728192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768244" y="4850314"/>
            <a:ext cx="1656184" cy="79208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Конфигурация базы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91580" y="4922322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079612" y="5066338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439652" y="5210354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799692" y="5354370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42489" y="1199829"/>
            <a:ext cx="1961959" cy="2867789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u="sng" dirty="0">
                <a:solidFill>
                  <a:srgbClr val="0070C0"/>
                </a:solidFill>
              </a:rPr>
              <a:t>Конфигуратор</a:t>
            </a:r>
          </a:p>
        </p:txBody>
      </p:sp>
      <p:sp>
        <p:nvSpPr>
          <p:cNvPr id="18" name="Двойная стрелка вверх/вниз 17"/>
          <p:cNvSpPr/>
          <p:nvPr/>
        </p:nvSpPr>
        <p:spPr>
          <a:xfrm>
            <a:off x="7359110" y="3969029"/>
            <a:ext cx="360040" cy="773242"/>
          </a:xfrm>
          <a:prstGeom prst="up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7020272" y="2996952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7020272" y="3501008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 rot="5400000">
            <a:off x="6051547" y="3032956"/>
            <a:ext cx="136815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/>
          <p:cNvCxnSpPr/>
          <p:nvPr/>
        </p:nvCxnSpPr>
        <p:spPr>
          <a:xfrm>
            <a:off x="6732240" y="3212976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/>
          <p:cNvCxnSpPr/>
          <p:nvPr/>
        </p:nvCxnSpPr>
        <p:spPr>
          <a:xfrm>
            <a:off x="6732240" y="3717032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/>
          <p:cNvCxnSpPr/>
          <p:nvPr/>
        </p:nvCxnSpPr>
        <p:spPr>
          <a:xfrm>
            <a:off x="6732240" y="2708920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76256" y="1556792"/>
            <a:ext cx="1440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Дерево</a:t>
            </a:r>
          </a:p>
          <a:p>
            <a:r>
              <a:rPr lang="ru-RU" dirty="0"/>
              <a:t>метаданных</a:t>
            </a:r>
          </a:p>
        </p:txBody>
      </p:sp>
      <p:sp>
        <p:nvSpPr>
          <p:cNvPr id="58" name="Выгнутая вправо стрелка 57"/>
          <p:cNvSpPr/>
          <p:nvPr/>
        </p:nvSpPr>
        <p:spPr>
          <a:xfrm rot="5400000">
            <a:off x="5076056" y="3950214"/>
            <a:ext cx="504056" cy="3888432"/>
          </a:xfrm>
          <a:prstGeom prst="curvedLef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6" name="Скругленный прямоугольник 65"/>
          <p:cNvSpPr/>
          <p:nvPr/>
        </p:nvSpPr>
        <p:spPr>
          <a:xfrm>
            <a:off x="7020272" y="2492896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3029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2" grpId="0" animBg="1"/>
      <p:bldP spid="5" grpId="0" animBg="1"/>
      <p:bldP spid="6" grpId="0" animBg="1"/>
      <p:bldP spid="8" grpId="0" animBg="1"/>
      <p:bldP spid="9" grpId="0" animBg="1"/>
      <p:bldP spid="10" grpId="0" animBg="1"/>
      <p:bldP spid="12" grpId="0" animBg="1"/>
      <p:bldP spid="18" grpId="0" animBg="1"/>
      <p:bldP spid="27" grpId="0" animBg="1"/>
      <p:bldP spid="28" grpId="0" animBg="1"/>
      <p:bldP spid="48" grpId="0"/>
      <p:bldP spid="58" grpId="0" animBg="1"/>
      <p:bldP spid="6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307750" y="1115352"/>
            <a:ext cx="8476718" cy="3158896"/>
          </a:xfrm>
          <a:prstGeom prst="roundRect">
            <a:avLst/>
          </a:prstGeom>
          <a:solidFill>
            <a:schemeClr val="accent5">
              <a:lumMod val="40000"/>
              <a:lumOff val="60000"/>
              <a:alpha val="31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>
                <a:solidFill>
                  <a:schemeClr val="accent5"/>
                </a:solidFill>
              </a:rPr>
              <a:t>Оперативная память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287524" y="4490274"/>
            <a:ext cx="8496944" cy="1728192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768244" y="4850314"/>
            <a:ext cx="1656184" cy="79208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Конфигурация базы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91580" y="4922322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079612" y="5066338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439652" y="5210354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799692" y="5354370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42489" y="1199829"/>
            <a:ext cx="1961959" cy="2867789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u="sng" dirty="0">
                <a:solidFill>
                  <a:srgbClr val="0070C0"/>
                </a:solidFill>
              </a:rPr>
              <a:t>Конфигуратор</a:t>
            </a:r>
          </a:p>
        </p:txBody>
      </p:sp>
      <p:sp>
        <p:nvSpPr>
          <p:cNvPr id="18" name="Двойная стрелка вверх/вниз 17"/>
          <p:cNvSpPr/>
          <p:nvPr/>
        </p:nvSpPr>
        <p:spPr>
          <a:xfrm>
            <a:off x="7359110" y="3969029"/>
            <a:ext cx="360040" cy="773242"/>
          </a:xfrm>
          <a:prstGeom prst="up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7020272" y="2996952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7020272" y="3501008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 rot="5400000">
            <a:off x="6051547" y="3032956"/>
            <a:ext cx="136815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/>
          <p:cNvCxnSpPr/>
          <p:nvPr/>
        </p:nvCxnSpPr>
        <p:spPr>
          <a:xfrm>
            <a:off x="6732240" y="3212976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/>
          <p:cNvCxnSpPr/>
          <p:nvPr/>
        </p:nvCxnSpPr>
        <p:spPr>
          <a:xfrm>
            <a:off x="6732240" y="3717032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/>
          <p:cNvCxnSpPr/>
          <p:nvPr/>
        </p:nvCxnSpPr>
        <p:spPr>
          <a:xfrm>
            <a:off x="6732240" y="2708920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76256" y="1556792"/>
            <a:ext cx="1440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Дерево</a:t>
            </a:r>
          </a:p>
          <a:p>
            <a:r>
              <a:rPr lang="ru-RU" dirty="0"/>
              <a:t>метаданных</a:t>
            </a:r>
          </a:p>
        </p:txBody>
      </p:sp>
      <p:sp>
        <p:nvSpPr>
          <p:cNvPr id="58" name="Выгнутая вправо стрелка 57"/>
          <p:cNvSpPr/>
          <p:nvPr/>
        </p:nvSpPr>
        <p:spPr>
          <a:xfrm rot="5400000">
            <a:off x="5076056" y="3950214"/>
            <a:ext cx="504056" cy="3888432"/>
          </a:xfrm>
          <a:prstGeom prst="curvedLef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6" name="Скругленный прямоугольник 65"/>
          <p:cNvSpPr/>
          <p:nvPr/>
        </p:nvSpPr>
        <p:spPr>
          <a:xfrm>
            <a:off x="7020272" y="2492896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431540" y="1620594"/>
            <a:ext cx="6129482" cy="2598807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u="sng" dirty="0">
                <a:solidFill>
                  <a:schemeClr val="tx1"/>
                </a:solidFill>
              </a:rPr>
              <a:t>1С: Предприятие</a:t>
            </a:r>
          </a:p>
        </p:txBody>
      </p:sp>
      <p:sp>
        <p:nvSpPr>
          <p:cNvPr id="21" name="Облако 20"/>
          <p:cNvSpPr/>
          <p:nvPr/>
        </p:nvSpPr>
        <p:spPr>
          <a:xfrm>
            <a:off x="537991" y="2056814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Программные объекты</a:t>
            </a:r>
          </a:p>
        </p:txBody>
      </p:sp>
      <p:sp>
        <p:nvSpPr>
          <p:cNvPr id="22" name="Облако 21"/>
          <p:cNvSpPr/>
          <p:nvPr/>
        </p:nvSpPr>
        <p:spPr>
          <a:xfrm>
            <a:off x="3580070" y="1715819"/>
            <a:ext cx="2952328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Программные объекты</a:t>
            </a:r>
          </a:p>
        </p:txBody>
      </p:sp>
      <p:sp>
        <p:nvSpPr>
          <p:cNvPr id="23" name="Облако 22"/>
          <p:cNvSpPr/>
          <p:nvPr/>
        </p:nvSpPr>
        <p:spPr>
          <a:xfrm>
            <a:off x="2034960" y="3125241"/>
            <a:ext cx="2880320" cy="108012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Программные объекты</a:t>
            </a:r>
          </a:p>
        </p:txBody>
      </p:sp>
      <p:sp>
        <p:nvSpPr>
          <p:cNvPr id="24" name="Двойная стрелка вверх/вниз 23"/>
          <p:cNvSpPr/>
          <p:nvPr/>
        </p:nvSpPr>
        <p:spPr>
          <a:xfrm>
            <a:off x="1882462" y="3914210"/>
            <a:ext cx="360040" cy="1080120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872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1" grpId="1" animBg="1"/>
      <p:bldP spid="22" grpId="0" animBg="1"/>
      <p:bldP spid="22" grpId="1" animBg="1"/>
      <p:bldP spid="23" grpId="0" animBg="1"/>
      <p:bldP spid="23" grpId="1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307750" y="1115352"/>
            <a:ext cx="8476718" cy="3158896"/>
          </a:xfrm>
          <a:prstGeom prst="roundRect">
            <a:avLst/>
          </a:prstGeom>
          <a:solidFill>
            <a:schemeClr val="accent5">
              <a:lumMod val="40000"/>
              <a:lumOff val="60000"/>
              <a:alpha val="31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>
                <a:solidFill>
                  <a:schemeClr val="accent5"/>
                </a:solidFill>
              </a:rPr>
              <a:t>Оперативная память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287524" y="4490274"/>
            <a:ext cx="8496944" cy="1728192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768244" y="4850314"/>
            <a:ext cx="1656184" cy="79208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Конфигурация базы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91580" y="4922322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079612" y="5066338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439652" y="5210354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799692" y="5354370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42489" y="1199829"/>
            <a:ext cx="1961959" cy="2867789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u="sng" dirty="0">
                <a:solidFill>
                  <a:srgbClr val="0070C0"/>
                </a:solidFill>
              </a:rPr>
              <a:t>Конфигуратор</a:t>
            </a:r>
          </a:p>
        </p:txBody>
      </p:sp>
      <p:sp>
        <p:nvSpPr>
          <p:cNvPr id="18" name="Двойная стрелка вверх/вниз 17"/>
          <p:cNvSpPr/>
          <p:nvPr/>
        </p:nvSpPr>
        <p:spPr>
          <a:xfrm>
            <a:off x="7359110" y="3969029"/>
            <a:ext cx="360040" cy="773242"/>
          </a:xfrm>
          <a:prstGeom prst="up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7020272" y="2996952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7020272" y="3501008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 rot="5400000">
            <a:off x="6051547" y="3032956"/>
            <a:ext cx="136815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/>
          <p:cNvCxnSpPr/>
          <p:nvPr/>
        </p:nvCxnSpPr>
        <p:spPr>
          <a:xfrm>
            <a:off x="6732240" y="3212976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/>
          <p:cNvCxnSpPr/>
          <p:nvPr/>
        </p:nvCxnSpPr>
        <p:spPr>
          <a:xfrm>
            <a:off x="6732240" y="3717032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/>
          <p:cNvCxnSpPr/>
          <p:nvPr/>
        </p:nvCxnSpPr>
        <p:spPr>
          <a:xfrm>
            <a:off x="6732240" y="2708920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76256" y="1556792"/>
            <a:ext cx="1440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Дерево</a:t>
            </a:r>
          </a:p>
          <a:p>
            <a:r>
              <a:rPr lang="ru-RU" dirty="0"/>
              <a:t>метаданных</a:t>
            </a:r>
          </a:p>
        </p:txBody>
      </p:sp>
      <p:sp>
        <p:nvSpPr>
          <p:cNvPr id="58" name="Выгнутая вправо стрелка 57"/>
          <p:cNvSpPr/>
          <p:nvPr/>
        </p:nvSpPr>
        <p:spPr>
          <a:xfrm rot="5400000">
            <a:off x="5076056" y="3950214"/>
            <a:ext cx="504056" cy="3888432"/>
          </a:xfrm>
          <a:prstGeom prst="curvedLef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6" name="Скругленный прямоугольник 65"/>
          <p:cNvSpPr/>
          <p:nvPr/>
        </p:nvSpPr>
        <p:spPr>
          <a:xfrm>
            <a:off x="7020272" y="2492896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431540" y="1620594"/>
            <a:ext cx="6129482" cy="2598807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u="sng" dirty="0">
                <a:solidFill>
                  <a:schemeClr val="tx1"/>
                </a:solidFill>
              </a:rPr>
              <a:t>1С: Предприятие</a:t>
            </a:r>
          </a:p>
        </p:txBody>
      </p:sp>
      <p:sp>
        <p:nvSpPr>
          <p:cNvPr id="24" name="Двойная стрелка вверх/вниз 23"/>
          <p:cNvSpPr/>
          <p:nvPr/>
        </p:nvSpPr>
        <p:spPr>
          <a:xfrm>
            <a:off x="1882462" y="3914210"/>
            <a:ext cx="360040" cy="1080120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3904106" y="596986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38" name="Двойная стрелка вверх/вниз 37"/>
          <p:cNvSpPr/>
          <p:nvPr/>
        </p:nvSpPr>
        <p:spPr>
          <a:xfrm>
            <a:off x="4788024" y="993393"/>
            <a:ext cx="432048" cy="720080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Скругленный прямоугольник 38"/>
          <p:cNvSpPr/>
          <p:nvPr/>
        </p:nvSpPr>
        <p:spPr>
          <a:xfrm>
            <a:off x="512338" y="612482"/>
            <a:ext cx="2880320" cy="576064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Другие системы, файловая система, </a:t>
            </a:r>
            <a:r>
              <a:rPr lang="en-US" dirty="0"/>
              <a:t>XML</a:t>
            </a:r>
            <a:r>
              <a:rPr lang="ru-RU" dirty="0"/>
              <a:t>…</a:t>
            </a:r>
          </a:p>
        </p:txBody>
      </p:sp>
      <p:sp>
        <p:nvSpPr>
          <p:cNvPr id="40" name="Облако 39"/>
          <p:cNvSpPr/>
          <p:nvPr/>
        </p:nvSpPr>
        <p:spPr>
          <a:xfrm>
            <a:off x="609999" y="2056814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Другие программные объекты</a:t>
            </a:r>
          </a:p>
        </p:txBody>
      </p:sp>
      <p:sp>
        <p:nvSpPr>
          <p:cNvPr id="42" name="Облако 41"/>
          <p:cNvSpPr/>
          <p:nvPr/>
        </p:nvSpPr>
        <p:spPr>
          <a:xfrm>
            <a:off x="3652078" y="1715819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Интерфейсные программные объекты</a:t>
            </a:r>
          </a:p>
        </p:txBody>
      </p:sp>
      <p:sp>
        <p:nvSpPr>
          <p:cNvPr id="43" name="Облако 42"/>
          <p:cNvSpPr/>
          <p:nvPr/>
        </p:nvSpPr>
        <p:spPr>
          <a:xfrm>
            <a:off x="2034960" y="3125241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Прикладные программные объекты</a:t>
            </a:r>
          </a:p>
        </p:txBody>
      </p:sp>
      <p:sp>
        <p:nvSpPr>
          <p:cNvPr id="44" name="Двойная стрелка вверх/вниз 43"/>
          <p:cNvSpPr/>
          <p:nvPr/>
        </p:nvSpPr>
        <p:spPr>
          <a:xfrm>
            <a:off x="4241139" y="2477167"/>
            <a:ext cx="288032" cy="864096"/>
          </a:xfrm>
          <a:prstGeom prst="up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Двойная стрелка вверх/вниз 44"/>
          <p:cNvSpPr/>
          <p:nvPr/>
        </p:nvSpPr>
        <p:spPr>
          <a:xfrm rot="4732253">
            <a:off x="3492678" y="2052170"/>
            <a:ext cx="288032" cy="864096"/>
          </a:xfrm>
          <a:prstGeom prst="up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Двойная стрелка вверх/вниз 48"/>
          <p:cNvSpPr/>
          <p:nvPr/>
        </p:nvSpPr>
        <p:spPr>
          <a:xfrm rot="7331183">
            <a:off x="2938251" y="2549178"/>
            <a:ext cx="288032" cy="864096"/>
          </a:xfrm>
          <a:prstGeom prst="up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Двойная стрелка вверх/вниз 49"/>
          <p:cNvSpPr/>
          <p:nvPr/>
        </p:nvSpPr>
        <p:spPr>
          <a:xfrm>
            <a:off x="2605689" y="1199829"/>
            <a:ext cx="288032" cy="1032540"/>
          </a:xfrm>
          <a:prstGeom prst="up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7915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  <p:bldP spid="49" grpId="0" animBg="1"/>
      <p:bldP spid="5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307750" y="1115352"/>
            <a:ext cx="8476718" cy="3158896"/>
          </a:xfrm>
          <a:prstGeom prst="roundRect">
            <a:avLst/>
          </a:prstGeom>
          <a:solidFill>
            <a:schemeClr val="accent5">
              <a:lumMod val="40000"/>
              <a:lumOff val="60000"/>
              <a:alpha val="31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ru-RU" dirty="0">
                <a:solidFill>
                  <a:schemeClr val="accent5"/>
                </a:solidFill>
              </a:rPr>
              <a:t>Оперативная память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287524" y="4490274"/>
            <a:ext cx="8496944" cy="1728192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768244" y="4850314"/>
            <a:ext cx="1656184" cy="79208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Конфигурация базы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791580" y="4922322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079612" y="5066338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439652" y="5210354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799692" y="5354370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42489" y="1199829"/>
            <a:ext cx="1961959" cy="2867789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u="sng" dirty="0">
                <a:solidFill>
                  <a:srgbClr val="0070C0"/>
                </a:solidFill>
              </a:rPr>
              <a:t>Конфигуратор</a:t>
            </a:r>
          </a:p>
        </p:txBody>
      </p:sp>
      <p:sp>
        <p:nvSpPr>
          <p:cNvPr id="18" name="Двойная стрелка вверх/вниз 17"/>
          <p:cNvSpPr/>
          <p:nvPr/>
        </p:nvSpPr>
        <p:spPr>
          <a:xfrm>
            <a:off x="7359110" y="3969029"/>
            <a:ext cx="360040" cy="773242"/>
          </a:xfrm>
          <a:prstGeom prst="up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7020272" y="2996952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7020272" y="3501008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 rot="5400000">
            <a:off x="6051547" y="3032956"/>
            <a:ext cx="136815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/>
          <p:cNvCxnSpPr/>
          <p:nvPr/>
        </p:nvCxnSpPr>
        <p:spPr>
          <a:xfrm>
            <a:off x="6732240" y="3212976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/>
          <p:cNvCxnSpPr/>
          <p:nvPr/>
        </p:nvCxnSpPr>
        <p:spPr>
          <a:xfrm>
            <a:off x="6732240" y="3717032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/>
          <p:cNvCxnSpPr/>
          <p:nvPr/>
        </p:nvCxnSpPr>
        <p:spPr>
          <a:xfrm>
            <a:off x="6732240" y="2708920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76256" y="1556792"/>
            <a:ext cx="1440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Дерево</a:t>
            </a:r>
          </a:p>
          <a:p>
            <a:r>
              <a:rPr lang="ru-RU" dirty="0"/>
              <a:t>метаданных</a:t>
            </a:r>
          </a:p>
        </p:txBody>
      </p:sp>
      <p:sp>
        <p:nvSpPr>
          <p:cNvPr id="58" name="Выгнутая вправо стрелка 57"/>
          <p:cNvSpPr/>
          <p:nvPr/>
        </p:nvSpPr>
        <p:spPr>
          <a:xfrm rot="5400000">
            <a:off x="5076056" y="3950214"/>
            <a:ext cx="504056" cy="3888432"/>
          </a:xfrm>
          <a:prstGeom prst="curvedLef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6" name="Скругленный прямоугольник 65"/>
          <p:cNvSpPr/>
          <p:nvPr/>
        </p:nvSpPr>
        <p:spPr>
          <a:xfrm>
            <a:off x="7020272" y="2492896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431540" y="1620594"/>
            <a:ext cx="6129482" cy="2598807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u="sng" dirty="0">
                <a:solidFill>
                  <a:schemeClr val="tx1"/>
                </a:solidFill>
              </a:rPr>
              <a:t>1С: Предприятие</a:t>
            </a:r>
          </a:p>
        </p:txBody>
      </p:sp>
      <p:sp>
        <p:nvSpPr>
          <p:cNvPr id="24" name="Двойная стрелка вверх/вниз 23"/>
          <p:cNvSpPr/>
          <p:nvPr/>
        </p:nvSpPr>
        <p:spPr>
          <a:xfrm>
            <a:off x="1882462" y="3914210"/>
            <a:ext cx="360040" cy="1080120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Овал 36"/>
          <p:cNvSpPr/>
          <p:nvPr/>
        </p:nvSpPr>
        <p:spPr>
          <a:xfrm>
            <a:off x="3904106" y="596986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38" name="Двойная стрелка вверх/вниз 37"/>
          <p:cNvSpPr/>
          <p:nvPr/>
        </p:nvSpPr>
        <p:spPr>
          <a:xfrm>
            <a:off x="4788024" y="993393"/>
            <a:ext cx="432048" cy="720080"/>
          </a:xfrm>
          <a:prstGeom prst="upDownArrow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Скругленный прямоугольник 38"/>
          <p:cNvSpPr/>
          <p:nvPr/>
        </p:nvSpPr>
        <p:spPr>
          <a:xfrm>
            <a:off x="512338" y="612482"/>
            <a:ext cx="2880320" cy="576064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Другие системы, файловая система, </a:t>
            </a:r>
            <a:r>
              <a:rPr lang="en-US" dirty="0"/>
              <a:t>XML</a:t>
            </a:r>
            <a:r>
              <a:rPr lang="ru-RU" dirty="0"/>
              <a:t>…</a:t>
            </a:r>
          </a:p>
        </p:txBody>
      </p:sp>
      <p:sp>
        <p:nvSpPr>
          <p:cNvPr id="40" name="Облако 39"/>
          <p:cNvSpPr/>
          <p:nvPr/>
        </p:nvSpPr>
        <p:spPr>
          <a:xfrm>
            <a:off x="609999" y="2056814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Другие программные объекты</a:t>
            </a:r>
          </a:p>
        </p:txBody>
      </p:sp>
      <p:sp>
        <p:nvSpPr>
          <p:cNvPr id="32" name="Облако 31"/>
          <p:cNvSpPr/>
          <p:nvPr/>
        </p:nvSpPr>
        <p:spPr>
          <a:xfrm>
            <a:off x="2034960" y="3125241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Прикладные программные объекты</a:t>
            </a:r>
          </a:p>
        </p:txBody>
      </p:sp>
      <p:sp>
        <p:nvSpPr>
          <p:cNvPr id="42" name="Облако 41"/>
          <p:cNvSpPr/>
          <p:nvPr/>
        </p:nvSpPr>
        <p:spPr>
          <a:xfrm>
            <a:off x="3652078" y="1715819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Интерфейсные программные объекты</a:t>
            </a:r>
          </a:p>
        </p:txBody>
      </p:sp>
      <p:sp>
        <p:nvSpPr>
          <p:cNvPr id="44" name="Двойная стрелка вверх/вниз 43"/>
          <p:cNvSpPr/>
          <p:nvPr/>
        </p:nvSpPr>
        <p:spPr>
          <a:xfrm>
            <a:off x="4241139" y="2477167"/>
            <a:ext cx="288032" cy="864096"/>
          </a:xfrm>
          <a:prstGeom prst="up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Двойная стрелка вверх/вниз 44"/>
          <p:cNvSpPr/>
          <p:nvPr/>
        </p:nvSpPr>
        <p:spPr>
          <a:xfrm rot="4732253">
            <a:off x="3492678" y="2052170"/>
            <a:ext cx="288032" cy="864096"/>
          </a:xfrm>
          <a:prstGeom prst="up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Двойная стрелка вверх/вниз 48"/>
          <p:cNvSpPr/>
          <p:nvPr/>
        </p:nvSpPr>
        <p:spPr>
          <a:xfrm rot="7331183">
            <a:off x="2938251" y="2549178"/>
            <a:ext cx="288032" cy="864096"/>
          </a:xfrm>
          <a:prstGeom prst="up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0" name="Двойная стрелка вверх/вниз 49"/>
          <p:cNvSpPr/>
          <p:nvPr/>
        </p:nvSpPr>
        <p:spPr>
          <a:xfrm>
            <a:off x="2605689" y="1199829"/>
            <a:ext cx="288032" cy="1032540"/>
          </a:xfrm>
          <a:prstGeom prst="upDown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33" name="Таблица 32"/>
          <p:cNvGraphicFramePr>
            <a:graphicFrameLocks noGrp="1"/>
          </p:cNvGraphicFramePr>
          <p:nvPr/>
        </p:nvGraphicFramePr>
        <p:xfrm>
          <a:off x="3995936" y="4877736"/>
          <a:ext cx="2232248" cy="1097280"/>
        </p:xfrm>
        <a:graphic>
          <a:graphicData uri="http://schemas.openxmlformats.org/drawingml/2006/table">
            <a:tbl>
              <a:tblPr firstRow="1" bandRow="1">
                <a:tableStyleId>{08FB837D-C827-4EFA-A057-4D05807E0F7C}</a:tableStyleId>
              </a:tblPr>
              <a:tblGrid>
                <a:gridCol w="11161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61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1758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758">
                <a:tc gridSpan="2">
                  <a:txBody>
                    <a:bodyPr/>
                    <a:lstStyle/>
                    <a:p>
                      <a:r>
                        <a:rPr lang="ru-RU" dirty="0"/>
                        <a:t>Объект базы данных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175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4" name="Скругленный прямоугольник 33"/>
          <p:cNvSpPr/>
          <p:nvPr/>
        </p:nvSpPr>
        <p:spPr>
          <a:xfrm>
            <a:off x="6948264" y="2276872"/>
            <a:ext cx="1512168" cy="576064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Объект метаданных</a:t>
            </a:r>
          </a:p>
        </p:txBody>
      </p:sp>
    </p:spTree>
    <p:extLst>
      <p:ext uri="{BB962C8B-B14F-4D97-AF65-F5344CB8AC3E}">
        <p14:creationId xmlns:p14="http://schemas.microsoft.com/office/powerpoint/2010/main" val="3325608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3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000" tmFilter="0, 0; .2, .5; .8, .5; 1, 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500" autoRev="1" fill="hold"/>
                                        <p:tgtEl>
                                          <p:spTgt spid="3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6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1000" tmFilter="0, 0; .2, .5; .8, .5; 1, 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5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1000" tmFilter="0, 0; .2, .5; .8, .5; 1, 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50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4" grpId="0" animBg="1"/>
      <p:bldP spid="34" grpId="1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Необходимость наличия определена концепцией настраиваемости системы</a:t>
            </a:r>
          </a:p>
          <a:p>
            <a:r>
              <a:rPr lang="ru-RU" dirty="0"/>
              <a:t>Используется для описания </a:t>
            </a:r>
            <a:r>
              <a:rPr lang="ru-RU" dirty="0">
                <a:solidFill>
                  <a:srgbClr val="0070C0"/>
                </a:solidFill>
              </a:rPr>
              <a:t>специфических </a:t>
            </a:r>
            <a:r>
              <a:rPr lang="ru-RU" dirty="0"/>
              <a:t>алгоритмов обработки информации</a:t>
            </a:r>
          </a:p>
          <a:p>
            <a:r>
              <a:rPr lang="ru-RU" dirty="0"/>
              <a:t>Алгоритмы обработки информации описываются в </a:t>
            </a:r>
            <a:r>
              <a:rPr lang="ru-RU" dirty="0">
                <a:solidFill>
                  <a:srgbClr val="0070C0"/>
                </a:solidFill>
              </a:rPr>
              <a:t>модулях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Встроенный программный язык</a:t>
            </a:r>
          </a:p>
        </p:txBody>
      </p:sp>
    </p:spTree>
    <p:extLst>
      <p:ext uri="{BB962C8B-B14F-4D97-AF65-F5344CB8AC3E}">
        <p14:creationId xmlns:p14="http://schemas.microsoft.com/office/powerpoint/2010/main" val="775882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Модулем называется программа на встроенном языке системы </a:t>
            </a:r>
          </a:p>
          <a:p>
            <a:r>
              <a:rPr lang="ru-RU" dirty="0"/>
              <a:t>Модули располагаются в заданных точках структуры конфигурации</a:t>
            </a:r>
          </a:p>
          <a:p>
            <a:r>
              <a:rPr lang="ru-RU" dirty="0"/>
              <a:t>Вызываются для выполнения в заранее известные моменты работы системы (при наступлении определенных событий)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Модуль</a:t>
            </a:r>
          </a:p>
        </p:txBody>
      </p:sp>
    </p:spTree>
    <p:extLst>
      <p:ext uri="{BB962C8B-B14F-4D97-AF65-F5344CB8AC3E}">
        <p14:creationId xmlns:p14="http://schemas.microsoft.com/office/powerpoint/2010/main" val="4209963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Модуль управляемого приложения</a:t>
            </a:r>
          </a:p>
          <a:p>
            <a:r>
              <a:rPr lang="ru-RU" dirty="0"/>
              <a:t>Модуль обычного приложения</a:t>
            </a:r>
          </a:p>
          <a:p>
            <a:r>
              <a:rPr lang="ru-RU" dirty="0"/>
              <a:t>Модуль сеанса</a:t>
            </a:r>
          </a:p>
          <a:p>
            <a:r>
              <a:rPr lang="ru-RU" dirty="0"/>
              <a:t>Модуль внешнего соединения</a:t>
            </a:r>
          </a:p>
          <a:p>
            <a:r>
              <a:rPr lang="ru-RU" dirty="0"/>
              <a:t>Общие модули</a:t>
            </a:r>
          </a:p>
          <a:p>
            <a:r>
              <a:rPr lang="ru-RU" dirty="0"/>
              <a:t>Модуль формы</a:t>
            </a:r>
          </a:p>
          <a:p>
            <a:r>
              <a:rPr lang="ru-RU" dirty="0"/>
              <a:t>Модуль объекта</a:t>
            </a:r>
          </a:p>
          <a:p>
            <a:r>
              <a:rPr lang="ru-RU" dirty="0"/>
              <a:t>Модуль набора записей</a:t>
            </a:r>
          </a:p>
          <a:p>
            <a:r>
              <a:rPr lang="ru-RU" dirty="0"/>
              <a:t>Модуль менеджера значения</a:t>
            </a:r>
          </a:p>
          <a:p>
            <a:r>
              <a:rPr lang="ru-RU" dirty="0"/>
              <a:t>Модуль менеджера</a:t>
            </a:r>
          </a:p>
          <a:p>
            <a:r>
              <a:rPr lang="ru-RU" dirty="0"/>
              <a:t>….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Виды программных модулей</a:t>
            </a:r>
          </a:p>
        </p:txBody>
      </p:sp>
    </p:spTree>
    <p:extLst>
      <p:ext uri="{BB962C8B-B14F-4D97-AF65-F5344CB8AC3E}">
        <p14:creationId xmlns:p14="http://schemas.microsoft.com/office/powerpoint/2010/main" val="1122757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203299" y="1131254"/>
            <a:ext cx="8617500" cy="3522032"/>
          </a:xfrm>
          <a:prstGeom prst="roundRect">
            <a:avLst/>
          </a:prstGeom>
          <a:solidFill>
            <a:schemeClr val="accent5">
              <a:lumMod val="40000"/>
              <a:lumOff val="60000"/>
              <a:alpha val="31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ru-RU" dirty="0">
                <a:solidFill>
                  <a:schemeClr val="accent5"/>
                </a:solidFill>
              </a:rPr>
              <a:t>Оперативная память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203299" y="4797302"/>
            <a:ext cx="8617500" cy="1478465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804575" y="4907616"/>
            <a:ext cx="1656184" cy="79208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Конфигурация базы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27911" y="4979624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115943" y="5123640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475983" y="5267656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836023" y="5411672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855" y="1190464"/>
            <a:ext cx="6120680" cy="305048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                 1С: Предприятие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91800" y="1602803"/>
            <a:ext cx="2088232" cy="2638146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u="sng" dirty="0">
                <a:solidFill>
                  <a:schemeClr val="bg1"/>
                </a:solidFill>
              </a:rPr>
              <a:t>Конфигуратор</a:t>
            </a:r>
          </a:p>
        </p:txBody>
      </p:sp>
      <p:sp>
        <p:nvSpPr>
          <p:cNvPr id="18" name="Двойная стрелка вверх/вниз 17"/>
          <p:cNvSpPr/>
          <p:nvPr/>
        </p:nvSpPr>
        <p:spPr>
          <a:xfrm>
            <a:off x="7380639" y="4209960"/>
            <a:ext cx="360040" cy="679061"/>
          </a:xfrm>
          <a:prstGeom prst="upDown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Двойная стрелка вверх/вниз 18"/>
          <p:cNvSpPr/>
          <p:nvPr/>
        </p:nvSpPr>
        <p:spPr>
          <a:xfrm>
            <a:off x="899918" y="3448861"/>
            <a:ext cx="288000" cy="144700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3889558" y="649847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838872" y="594691"/>
            <a:ext cx="2880320" cy="576064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Другие системы файловая система, </a:t>
            </a:r>
            <a:r>
              <a:rPr lang="en-US" dirty="0"/>
              <a:t>XML</a:t>
            </a:r>
            <a:r>
              <a:rPr lang="ru-RU" dirty="0"/>
              <a:t>…</a:t>
            </a: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7171456" y="3201849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7171456" y="3705905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 rot="5400000">
            <a:off x="6199348" y="3237853"/>
            <a:ext cx="136815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/>
          <p:cNvCxnSpPr/>
          <p:nvPr/>
        </p:nvCxnSpPr>
        <p:spPr>
          <a:xfrm>
            <a:off x="6883424" y="3417873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/>
          <p:cNvCxnSpPr/>
          <p:nvPr/>
        </p:nvCxnSpPr>
        <p:spPr>
          <a:xfrm>
            <a:off x="6883424" y="3921929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/>
          <p:cNvCxnSpPr/>
          <p:nvPr/>
        </p:nvCxnSpPr>
        <p:spPr>
          <a:xfrm>
            <a:off x="6883424" y="2913817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42303" y="2069375"/>
            <a:ext cx="1440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Дерево</a:t>
            </a:r>
          </a:p>
          <a:p>
            <a:r>
              <a:rPr lang="ru-RU" dirty="0"/>
              <a:t>метаданных</a:t>
            </a:r>
          </a:p>
        </p:txBody>
      </p:sp>
      <p:sp>
        <p:nvSpPr>
          <p:cNvPr id="58" name="Выгнутая вправо стрелка 57"/>
          <p:cNvSpPr/>
          <p:nvPr/>
        </p:nvSpPr>
        <p:spPr>
          <a:xfrm rot="5400000">
            <a:off x="5112387" y="4007516"/>
            <a:ext cx="504056" cy="3888432"/>
          </a:xfrm>
          <a:prstGeom prst="curvedLef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7" name="Облако 16"/>
          <p:cNvSpPr/>
          <p:nvPr/>
        </p:nvSpPr>
        <p:spPr>
          <a:xfrm>
            <a:off x="395863" y="1458787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Другие программные объекты</a:t>
            </a:r>
          </a:p>
        </p:txBody>
      </p:sp>
      <p:sp>
        <p:nvSpPr>
          <p:cNvPr id="15" name="Облако 14"/>
          <p:cNvSpPr/>
          <p:nvPr/>
        </p:nvSpPr>
        <p:spPr>
          <a:xfrm>
            <a:off x="3539063" y="1657959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Интерфейсные программные объекты</a:t>
            </a:r>
          </a:p>
        </p:txBody>
      </p:sp>
      <p:sp>
        <p:nvSpPr>
          <p:cNvPr id="16" name="Облако 15"/>
          <p:cNvSpPr/>
          <p:nvPr/>
        </p:nvSpPr>
        <p:spPr>
          <a:xfrm>
            <a:off x="899919" y="2538906"/>
            <a:ext cx="3015952" cy="909955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Прикладные программные объекты</a:t>
            </a:r>
          </a:p>
        </p:txBody>
      </p:sp>
      <p:sp>
        <p:nvSpPr>
          <p:cNvPr id="66" name="Скругленный прямоугольник 65"/>
          <p:cNvSpPr/>
          <p:nvPr/>
        </p:nvSpPr>
        <p:spPr>
          <a:xfrm>
            <a:off x="7171456" y="2697793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Двойная стрелка вверх/вниз 20"/>
          <p:cNvSpPr/>
          <p:nvPr/>
        </p:nvSpPr>
        <p:spPr>
          <a:xfrm>
            <a:off x="4835207" y="1081895"/>
            <a:ext cx="288000" cy="720080"/>
          </a:xfrm>
          <a:prstGeom prst="up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Двойная стрелка вверх/вниз 51"/>
          <p:cNvSpPr/>
          <p:nvPr/>
        </p:nvSpPr>
        <p:spPr>
          <a:xfrm>
            <a:off x="2196063" y="1134836"/>
            <a:ext cx="288000" cy="467967"/>
          </a:xfrm>
          <a:prstGeom prst="up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1570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9" grpId="0" animBg="1"/>
      <p:bldP spid="20" grpId="0" animBg="1"/>
      <p:bldP spid="25" grpId="0" animBg="1"/>
      <p:bldP spid="17" grpId="0" animBg="1"/>
      <p:bldP spid="15" grpId="0" animBg="1"/>
      <p:bldP spid="16" grpId="0" animBg="1"/>
      <p:bldP spid="21" grpId="0" animBg="1"/>
      <p:bldP spid="5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203299" y="1131254"/>
            <a:ext cx="8617500" cy="3522032"/>
          </a:xfrm>
          <a:prstGeom prst="roundRect">
            <a:avLst/>
          </a:prstGeom>
          <a:solidFill>
            <a:schemeClr val="accent5">
              <a:lumMod val="40000"/>
              <a:lumOff val="60000"/>
              <a:alpha val="31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ru-RU" dirty="0">
                <a:solidFill>
                  <a:schemeClr val="accent5"/>
                </a:solidFill>
              </a:rPr>
              <a:t>Оперативная память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203299" y="4797302"/>
            <a:ext cx="8617500" cy="1478465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804575" y="4907616"/>
            <a:ext cx="1656184" cy="79208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Конфигурация базы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27911" y="4979624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115943" y="5123640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475983" y="5267656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836023" y="5411672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855" y="1190464"/>
            <a:ext cx="6120680" cy="305048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                 1С: Предприятие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91800" y="1602803"/>
            <a:ext cx="2088232" cy="2638146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u="sng" dirty="0">
                <a:solidFill>
                  <a:schemeClr val="bg1"/>
                </a:solidFill>
              </a:rPr>
              <a:t>Конфигуратор</a:t>
            </a:r>
          </a:p>
        </p:txBody>
      </p:sp>
      <p:sp>
        <p:nvSpPr>
          <p:cNvPr id="18" name="Двойная стрелка вверх/вниз 17"/>
          <p:cNvSpPr/>
          <p:nvPr/>
        </p:nvSpPr>
        <p:spPr>
          <a:xfrm>
            <a:off x="7380639" y="4209960"/>
            <a:ext cx="360040" cy="679061"/>
          </a:xfrm>
          <a:prstGeom prst="upDown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3889558" y="649847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838872" y="594691"/>
            <a:ext cx="2880320" cy="576064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Другие системы файловая система, </a:t>
            </a:r>
            <a:r>
              <a:rPr lang="en-US" dirty="0"/>
              <a:t>XML</a:t>
            </a:r>
            <a:r>
              <a:rPr lang="ru-RU" dirty="0"/>
              <a:t>…</a:t>
            </a: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7171456" y="3201849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7171456" y="3705905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 rot="5400000">
            <a:off x="6199348" y="3237853"/>
            <a:ext cx="136815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/>
          <p:cNvCxnSpPr/>
          <p:nvPr/>
        </p:nvCxnSpPr>
        <p:spPr>
          <a:xfrm>
            <a:off x="6883424" y="3417873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/>
          <p:cNvCxnSpPr/>
          <p:nvPr/>
        </p:nvCxnSpPr>
        <p:spPr>
          <a:xfrm>
            <a:off x="6883424" y="3921929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/>
          <p:cNvCxnSpPr/>
          <p:nvPr/>
        </p:nvCxnSpPr>
        <p:spPr>
          <a:xfrm>
            <a:off x="6883424" y="2913817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42303" y="2069375"/>
            <a:ext cx="1440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Дерево</a:t>
            </a:r>
          </a:p>
          <a:p>
            <a:r>
              <a:rPr lang="ru-RU" dirty="0"/>
              <a:t>метаданных</a:t>
            </a:r>
          </a:p>
        </p:txBody>
      </p:sp>
      <p:sp>
        <p:nvSpPr>
          <p:cNvPr id="58" name="Выгнутая вправо стрелка 57"/>
          <p:cNvSpPr/>
          <p:nvPr/>
        </p:nvSpPr>
        <p:spPr>
          <a:xfrm rot="5400000">
            <a:off x="5112387" y="4007516"/>
            <a:ext cx="504056" cy="3888432"/>
          </a:xfrm>
          <a:prstGeom prst="curvedLef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7" name="Облако 16"/>
          <p:cNvSpPr/>
          <p:nvPr/>
        </p:nvSpPr>
        <p:spPr>
          <a:xfrm>
            <a:off x="395863" y="1458787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Другие программные объекты</a:t>
            </a:r>
          </a:p>
        </p:txBody>
      </p:sp>
      <p:sp>
        <p:nvSpPr>
          <p:cNvPr id="15" name="Облако 14"/>
          <p:cNvSpPr/>
          <p:nvPr/>
        </p:nvSpPr>
        <p:spPr>
          <a:xfrm>
            <a:off x="3539063" y="1657959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Интерфейсные программные объекты</a:t>
            </a:r>
          </a:p>
        </p:txBody>
      </p:sp>
      <p:sp>
        <p:nvSpPr>
          <p:cNvPr id="16" name="Облако 15"/>
          <p:cNvSpPr/>
          <p:nvPr/>
        </p:nvSpPr>
        <p:spPr>
          <a:xfrm>
            <a:off x="899919" y="2538906"/>
            <a:ext cx="3015952" cy="909955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Прикладные программные объекты</a:t>
            </a:r>
          </a:p>
        </p:txBody>
      </p:sp>
      <p:sp>
        <p:nvSpPr>
          <p:cNvPr id="66" name="Скругленный прямоугольник 65"/>
          <p:cNvSpPr/>
          <p:nvPr/>
        </p:nvSpPr>
        <p:spPr>
          <a:xfrm>
            <a:off x="7171456" y="2697793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Двойная стрелка вверх/вниз 20"/>
          <p:cNvSpPr/>
          <p:nvPr/>
        </p:nvSpPr>
        <p:spPr>
          <a:xfrm>
            <a:off x="4835207" y="1081895"/>
            <a:ext cx="288000" cy="720080"/>
          </a:xfrm>
          <a:prstGeom prst="up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/>
          <p:cNvSpPr/>
          <p:nvPr/>
        </p:nvSpPr>
        <p:spPr>
          <a:xfrm>
            <a:off x="1115943" y="4240950"/>
            <a:ext cx="4536504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управляемого приложения</a:t>
            </a:r>
          </a:p>
        </p:txBody>
      </p:sp>
      <p:sp>
        <p:nvSpPr>
          <p:cNvPr id="31" name="Двойная стрелка вверх/вниз 30"/>
          <p:cNvSpPr/>
          <p:nvPr/>
        </p:nvSpPr>
        <p:spPr>
          <a:xfrm>
            <a:off x="2196063" y="1134836"/>
            <a:ext cx="288000" cy="467967"/>
          </a:xfrm>
          <a:prstGeom prst="up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Двойная стрелка вверх/вниз 31"/>
          <p:cNvSpPr/>
          <p:nvPr/>
        </p:nvSpPr>
        <p:spPr>
          <a:xfrm>
            <a:off x="899918" y="3448861"/>
            <a:ext cx="288000" cy="144700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9040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1000" tmFilter="0, 0; .2, .5; .8, .5; 1, 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1" dur="5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29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203299" y="1131254"/>
            <a:ext cx="8617500" cy="3522032"/>
          </a:xfrm>
          <a:prstGeom prst="roundRect">
            <a:avLst/>
          </a:prstGeom>
          <a:solidFill>
            <a:schemeClr val="accent5">
              <a:lumMod val="40000"/>
              <a:lumOff val="60000"/>
              <a:alpha val="31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ru-RU" dirty="0">
                <a:solidFill>
                  <a:schemeClr val="accent5"/>
                </a:solidFill>
              </a:rPr>
              <a:t>Оперативная память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203299" y="4797302"/>
            <a:ext cx="8617500" cy="1478465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804575" y="4907616"/>
            <a:ext cx="1656184" cy="79208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Конфигурация базы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27911" y="4979624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115943" y="5123640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475983" y="5267656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836023" y="5411672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855" y="1190464"/>
            <a:ext cx="6120680" cy="305048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                 1С: Предприятие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91800" y="1602803"/>
            <a:ext cx="2088232" cy="2638146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u="sng" dirty="0">
                <a:solidFill>
                  <a:schemeClr val="bg1"/>
                </a:solidFill>
              </a:rPr>
              <a:t>Конфигуратор</a:t>
            </a:r>
          </a:p>
        </p:txBody>
      </p:sp>
      <p:sp>
        <p:nvSpPr>
          <p:cNvPr id="18" name="Двойная стрелка вверх/вниз 17"/>
          <p:cNvSpPr/>
          <p:nvPr/>
        </p:nvSpPr>
        <p:spPr>
          <a:xfrm>
            <a:off x="7380639" y="4209960"/>
            <a:ext cx="360040" cy="679061"/>
          </a:xfrm>
          <a:prstGeom prst="upDown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3889558" y="649847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25" name="Скругленный прямоугольник 24"/>
          <p:cNvSpPr/>
          <p:nvPr/>
        </p:nvSpPr>
        <p:spPr>
          <a:xfrm>
            <a:off x="838872" y="594691"/>
            <a:ext cx="2880320" cy="576064"/>
          </a:xfrm>
          <a:prstGeom prst="round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Другие системы файловая система, </a:t>
            </a:r>
            <a:r>
              <a:rPr lang="en-US" dirty="0"/>
              <a:t>XML</a:t>
            </a:r>
            <a:r>
              <a:rPr lang="ru-RU" dirty="0"/>
              <a:t>…</a:t>
            </a: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7171456" y="3201849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7171456" y="3705905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 rot="5400000">
            <a:off x="6199348" y="3237853"/>
            <a:ext cx="136815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/>
          <p:cNvCxnSpPr/>
          <p:nvPr/>
        </p:nvCxnSpPr>
        <p:spPr>
          <a:xfrm>
            <a:off x="6883424" y="3417873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/>
          <p:cNvCxnSpPr/>
          <p:nvPr/>
        </p:nvCxnSpPr>
        <p:spPr>
          <a:xfrm>
            <a:off x="6883424" y="3921929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/>
          <p:cNvCxnSpPr/>
          <p:nvPr/>
        </p:nvCxnSpPr>
        <p:spPr>
          <a:xfrm>
            <a:off x="6883424" y="2913817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42303" y="2069375"/>
            <a:ext cx="1440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Дерево</a:t>
            </a:r>
          </a:p>
          <a:p>
            <a:r>
              <a:rPr lang="ru-RU" dirty="0"/>
              <a:t>метаданных</a:t>
            </a:r>
          </a:p>
        </p:txBody>
      </p:sp>
      <p:sp>
        <p:nvSpPr>
          <p:cNvPr id="58" name="Выгнутая вправо стрелка 57"/>
          <p:cNvSpPr/>
          <p:nvPr/>
        </p:nvSpPr>
        <p:spPr>
          <a:xfrm rot="5400000">
            <a:off x="5112387" y="4007516"/>
            <a:ext cx="504056" cy="3888432"/>
          </a:xfrm>
          <a:prstGeom prst="curvedLef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7" name="Облако 16"/>
          <p:cNvSpPr/>
          <p:nvPr/>
        </p:nvSpPr>
        <p:spPr>
          <a:xfrm>
            <a:off x="395863" y="1458787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Другие программные объекты</a:t>
            </a:r>
          </a:p>
        </p:txBody>
      </p:sp>
      <p:sp>
        <p:nvSpPr>
          <p:cNvPr id="15" name="Облако 14"/>
          <p:cNvSpPr/>
          <p:nvPr/>
        </p:nvSpPr>
        <p:spPr>
          <a:xfrm>
            <a:off x="3539063" y="1657959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Интерфейсные программные объекты</a:t>
            </a:r>
          </a:p>
        </p:txBody>
      </p:sp>
      <p:sp>
        <p:nvSpPr>
          <p:cNvPr id="16" name="Облако 15"/>
          <p:cNvSpPr/>
          <p:nvPr/>
        </p:nvSpPr>
        <p:spPr>
          <a:xfrm>
            <a:off x="899919" y="2538906"/>
            <a:ext cx="3015952" cy="909955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Прикладные программные объекты</a:t>
            </a:r>
          </a:p>
        </p:txBody>
      </p:sp>
      <p:sp>
        <p:nvSpPr>
          <p:cNvPr id="66" name="Скругленный прямоугольник 65"/>
          <p:cNvSpPr/>
          <p:nvPr/>
        </p:nvSpPr>
        <p:spPr>
          <a:xfrm>
            <a:off x="7171456" y="2697793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Двойная стрелка вверх/вниз 20"/>
          <p:cNvSpPr/>
          <p:nvPr/>
        </p:nvSpPr>
        <p:spPr>
          <a:xfrm>
            <a:off x="4835207" y="1081895"/>
            <a:ext cx="288000" cy="720080"/>
          </a:xfrm>
          <a:prstGeom prst="up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/>
          <p:cNvSpPr/>
          <p:nvPr/>
        </p:nvSpPr>
        <p:spPr>
          <a:xfrm>
            <a:off x="1115943" y="4240950"/>
            <a:ext cx="4536504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управляемого приложения</a:t>
            </a:r>
          </a:p>
        </p:txBody>
      </p:sp>
      <p:sp>
        <p:nvSpPr>
          <p:cNvPr id="31" name="Двойная стрелка вверх/вниз 30"/>
          <p:cNvSpPr/>
          <p:nvPr/>
        </p:nvSpPr>
        <p:spPr>
          <a:xfrm>
            <a:off x="2196063" y="1134836"/>
            <a:ext cx="288000" cy="467967"/>
          </a:xfrm>
          <a:prstGeom prst="upDown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Двойная стрелка вверх/вниз 31"/>
          <p:cNvSpPr/>
          <p:nvPr/>
        </p:nvSpPr>
        <p:spPr>
          <a:xfrm>
            <a:off x="899918" y="3448861"/>
            <a:ext cx="288000" cy="144700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666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17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203299" y="1131254"/>
            <a:ext cx="8617500" cy="3522032"/>
          </a:xfrm>
          <a:prstGeom prst="roundRect">
            <a:avLst/>
          </a:prstGeom>
          <a:solidFill>
            <a:schemeClr val="accent5">
              <a:lumMod val="40000"/>
              <a:lumOff val="60000"/>
              <a:alpha val="31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ru-RU" dirty="0">
                <a:solidFill>
                  <a:schemeClr val="accent5"/>
                </a:solidFill>
              </a:rPr>
              <a:t>Оперативная память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203299" y="4797302"/>
            <a:ext cx="8617500" cy="1478465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804575" y="4907616"/>
            <a:ext cx="1656184" cy="79208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Конфигурация базы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27911" y="4979624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115943" y="5123640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475983" y="5267656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836023" y="5411672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855" y="1190464"/>
            <a:ext cx="6120680" cy="305048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                 1С: Предприятие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91800" y="1602803"/>
            <a:ext cx="2088232" cy="2638146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u="sng" dirty="0">
                <a:solidFill>
                  <a:schemeClr val="bg1"/>
                </a:solidFill>
              </a:rPr>
              <a:t>Конфигуратор</a:t>
            </a:r>
          </a:p>
        </p:txBody>
      </p:sp>
      <p:sp>
        <p:nvSpPr>
          <p:cNvPr id="18" name="Двойная стрелка вверх/вниз 17"/>
          <p:cNvSpPr/>
          <p:nvPr/>
        </p:nvSpPr>
        <p:spPr>
          <a:xfrm>
            <a:off x="7380639" y="4209960"/>
            <a:ext cx="360040" cy="679061"/>
          </a:xfrm>
          <a:prstGeom prst="upDown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3889558" y="649847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7171456" y="3201849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7171456" y="3705905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 rot="5400000">
            <a:off x="6199348" y="3237853"/>
            <a:ext cx="136815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/>
          <p:cNvCxnSpPr/>
          <p:nvPr/>
        </p:nvCxnSpPr>
        <p:spPr>
          <a:xfrm>
            <a:off x="6883424" y="3417873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/>
          <p:cNvCxnSpPr/>
          <p:nvPr/>
        </p:nvCxnSpPr>
        <p:spPr>
          <a:xfrm>
            <a:off x="6883424" y="3921929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/>
          <p:cNvCxnSpPr/>
          <p:nvPr/>
        </p:nvCxnSpPr>
        <p:spPr>
          <a:xfrm>
            <a:off x="6883424" y="2913817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42303" y="2069375"/>
            <a:ext cx="1440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Дерево</a:t>
            </a:r>
          </a:p>
          <a:p>
            <a:r>
              <a:rPr lang="ru-RU" dirty="0"/>
              <a:t>метаданных</a:t>
            </a:r>
          </a:p>
        </p:txBody>
      </p:sp>
      <p:sp>
        <p:nvSpPr>
          <p:cNvPr id="58" name="Выгнутая вправо стрелка 57"/>
          <p:cNvSpPr/>
          <p:nvPr/>
        </p:nvSpPr>
        <p:spPr>
          <a:xfrm rot="5400000">
            <a:off x="5112387" y="4007516"/>
            <a:ext cx="504056" cy="3888432"/>
          </a:xfrm>
          <a:prstGeom prst="curvedLef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5" name="Облако 14"/>
          <p:cNvSpPr/>
          <p:nvPr/>
        </p:nvSpPr>
        <p:spPr>
          <a:xfrm>
            <a:off x="3539063" y="1657959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Интерфейсные программные объекты</a:t>
            </a:r>
          </a:p>
        </p:txBody>
      </p:sp>
      <p:sp>
        <p:nvSpPr>
          <p:cNvPr id="16" name="Облако 15"/>
          <p:cNvSpPr/>
          <p:nvPr/>
        </p:nvSpPr>
        <p:spPr>
          <a:xfrm>
            <a:off x="899919" y="2538906"/>
            <a:ext cx="3015952" cy="909955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Прикладные программные объекты</a:t>
            </a:r>
          </a:p>
        </p:txBody>
      </p:sp>
      <p:sp>
        <p:nvSpPr>
          <p:cNvPr id="66" name="Скругленный прямоугольник 65"/>
          <p:cNvSpPr/>
          <p:nvPr/>
        </p:nvSpPr>
        <p:spPr>
          <a:xfrm>
            <a:off x="7171456" y="2697793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Двойная стрелка вверх/вниз 20"/>
          <p:cNvSpPr/>
          <p:nvPr/>
        </p:nvSpPr>
        <p:spPr>
          <a:xfrm>
            <a:off x="4835207" y="1081895"/>
            <a:ext cx="288000" cy="720080"/>
          </a:xfrm>
          <a:prstGeom prst="up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/>
          <p:cNvSpPr/>
          <p:nvPr/>
        </p:nvSpPr>
        <p:spPr>
          <a:xfrm>
            <a:off x="1115943" y="4240950"/>
            <a:ext cx="4536504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управляемого приложения</a:t>
            </a:r>
          </a:p>
        </p:txBody>
      </p:sp>
      <p:sp>
        <p:nvSpPr>
          <p:cNvPr id="33" name="Двойная стрелка вверх/вниз 32"/>
          <p:cNvSpPr/>
          <p:nvPr/>
        </p:nvSpPr>
        <p:spPr>
          <a:xfrm>
            <a:off x="899918" y="3448861"/>
            <a:ext cx="288000" cy="144700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85781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203299" y="1131254"/>
            <a:ext cx="8617500" cy="3522032"/>
          </a:xfrm>
          <a:prstGeom prst="roundRect">
            <a:avLst/>
          </a:prstGeom>
          <a:solidFill>
            <a:schemeClr val="accent5">
              <a:lumMod val="40000"/>
              <a:lumOff val="60000"/>
              <a:alpha val="31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ru-RU" dirty="0">
                <a:solidFill>
                  <a:schemeClr val="accent5"/>
                </a:solidFill>
              </a:rPr>
              <a:t>Оперативная память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203299" y="4797302"/>
            <a:ext cx="8617500" cy="1478465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804575" y="4907616"/>
            <a:ext cx="1656184" cy="79208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Конфигурация базы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27911" y="4979624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115943" y="5123640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475983" y="5267656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836023" y="5411672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855" y="1190464"/>
            <a:ext cx="6120680" cy="305048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                 1С: Предприятие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91800" y="1602803"/>
            <a:ext cx="2088232" cy="2638146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u="sng" dirty="0">
                <a:solidFill>
                  <a:schemeClr val="bg1"/>
                </a:solidFill>
              </a:rPr>
              <a:t>Конфигуратор</a:t>
            </a:r>
          </a:p>
        </p:txBody>
      </p:sp>
      <p:sp>
        <p:nvSpPr>
          <p:cNvPr id="18" name="Двойная стрелка вверх/вниз 17"/>
          <p:cNvSpPr/>
          <p:nvPr/>
        </p:nvSpPr>
        <p:spPr>
          <a:xfrm>
            <a:off x="7380639" y="4209960"/>
            <a:ext cx="360040" cy="679061"/>
          </a:xfrm>
          <a:prstGeom prst="upDown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3889558" y="649847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7171456" y="3201849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7171456" y="3705905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 rot="5400000">
            <a:off x="6199348" y="3237853"/>
            <a:ext cx="136815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/>
          <p:cNvCxnSpPr/>
          <p:nvPr/>
        </p:nvCxnSpPr>
        <p:spPr>
          <a:xfrm>
            <a:off x="6883424" y="3417873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/>
          <p:cNvCxnSpPr/>
          <p:nvPr/>
        </p:nvCxnSpPr>
        <p:spPr>
          <a:xfrm>
            <a:off x="6883424" y="3921929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/>
          <p:cNvCxnSpPr/>
          <p:nvPr/>
        </p:nvCxnSpPr>
        <p:spPr>
          <a:xfrm>
            <a:off x="6883424" y="2913817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42303" y="2069375"/>
            <a:ext cx="1440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Дерево</a:t>
            </a:r>
          </a:p>
          <a:p>
            <a:r>
              <a:rPr lang="ru-RU" dirty="0"/>
              <a:t>метаданных</a:t>
            </a:r>
          </a:p>
        </p:txBody>
      </p:sp>
      <p:sp>
        <p:nvSpPr>
          <p:cNvPr id="58" name="Выгнутая вправо стрелка 57"/>
          <p:cNvSpPr/>
          <p:nvPr/>
        </p:nvSpPr>
        <p:spPr>
          <a:xfrm rot="5400000">
            <a:off x="5112387" y="4007516"/>
            <a:ext cx="504056" cy="3888432"/>
          </a:xfrm>
          <a:prstGeom prst="curvedLef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5" name="Облако 14"/>
          <p:cNvSpPr/>
          <p:nvPr/>
        </p:nvSpPr>
        <p:spPr>
          <a:xfrm>
            <a:off x="3539063" y="1657959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Форма</a:t>
            </a:r>
          </a:p>
        </p:txBody>
      </p:sp>
      <p:sp>
        <p:nvSpPr>
          <p:cNvPr id="16" name="Облако 15"/>
          <p:cNvSpPr/>
          <p:nvPr/>
        </p:nvSpPr>
        <p:spPr>
          <a:xfrm>
            <a:off x="899919" y="2538906"/>
            <a:ext cx="3015952" cy="909955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Прикладные программные объекты</a:t>
            </a:r>
          </a:p>
        </p:txBody>
      </p:sp>
      <p:sp>
        <p:nvSpPr>
          <p:cNvPr id="66" name="Скругленный прямоугольник 65"/>
          <p:cNvSpPr/>
          <p:nvPr/>
        </p:nvSpPr>
        <p:spPr>
          <a:xfrm>
            <a:off x="7171456" y="2697793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Двойная стрелка вверх/вниз 20"/>
          <p:cNvSpPr/>
          <p:nvPr/>
        </p:nvSpPr>
        <p:spPr>
          <a:xfrm>
            <a:off x="4835207" y="1081895"/>
            <a:ext cx="288000" cy="720080"/>
          </a:xfrm>
          <a:prstGeom prst="up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/>
          <p:cNvSpPr/>
          <p:nvPr/>
        </p:nvSpPr>
        <p:spPr>
          <a:xfrm>
            <a:off x="1115943" y="4240950"/>
            <a:ext cx="4536504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управляемого приложения</a:t>
            </a:r>
          </a:p>
        </p:txBody>
      </p:sp>
      <p:sp>
        <p:nvSpPr>
          <p:cNvPr id="31" name="Прямоугольник 30"/>
          <p:cNvSpPr/>
          <p:nvPr/>
        </p:nvSpPr>
        <p:spPr>
          <a:xfrm>
            <a:off x="4475167" y="2666071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32" name="Двойная стрелка вверх/вниз 31"/>
          <p:cNvSpPr/>
          <p:nvPr/>
        </p:nvSpPr>
        <p:spPr>
          <a:xfrm>
            <a:off x="899918" y="3448861"/>
            <a:ext cx="288000" cy="144700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320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repeatCount="300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375" autoRev="1" fill="remove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375" autoRev="1" fill="remove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375" autoRev="1" fill="remove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375" autoRev="1" fill="remove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7" presetClass="emph" presetSubtype="0" repeatCount="300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375" autoRev="1" fill="remove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2" dur="375" autoRev="1" fill="remove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3" dur="375" autoRev="1" fill="remove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375" autoRev="1" fill="remove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1000" tmFilter="0, 0; .2, .5; .8, .5; 1, 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500" autoRev="1" fill="hold"/>
                                        <p:tgtEl>
                                          <p:spTgt spid="31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31" grpId="0" animBg="1"/>
      <p:bldP spid="31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203299" y="1131254"/>
            <a:ext cx="8617500" cy="3522032"/>
          </a:xfrm>
          <a:prstGeom prst="roundRect">
            <a:avLst/>
          </a:prstGeom>
          <a:solidFill>
            <a:schemeClr val="accent5">
              <a:lumMod val="40000"/>
              <a:lumOff val="60000"/>
              <a:alpha val="31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ru-RU" dirty="0">
                <a:solidFill>
                  <a:schemeClr val="accent5"/>
                </a:solidFill>
              </a:rPr>
              <a:t>Оперативная память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203299" y="4797302"/>
            <a:ext cx="8617500" cy="1478465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804575" y="4907616"/>
            <a:ext cx="1656184" cy="79208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Конфигурация базы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27911" y="4979624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115943" y="5123640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475983" y="5267656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836023" y="5411672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855" y="1190464"/>
            <a:ext cx="6120680" cy="305048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                 1С: Предприятие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91800" y="1602803"/>
            <a:ext cx="2088232" cy="2638146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u="sng" dirty="0">
                <a:solidFill>
                  <a:schemeClr val="bg1"/>
                </a:solidFill>
              </a:rPr>
              <a:t>Конфигуратор</a:t>
            </a:r>
          </a:p>
        </p:txBody>
      </p:sp>
      <p:sp>
        <p:nvSpPr>
          <p:cNvPr id="18" name="Двойная стрелка вверх/вниз 17"/>
          <p:cNvSpPr/>
          <p:nvPr/>
        </p:nvSpPr>
        <p:spPr>
          <a:xfrm>
            <a:off x="7380639" y="4209960"/>
            <a:ext cx="360040" cy="679061"/>
          </a:xfrm>
          <a:prstGeom prst="upDown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Двойная стрелка вверх/вниз 18"/>
          <p:cNvSpPr/>
          <p:nvPr/>
        </p:nvSpPr>
        <p:spPr>
          <a:xfrm>
            <a:off x="899624" y="3431831"/>
            <a:ext cx="288000" cy="144700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3889558" y="649847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7171456" y="3201849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7171456" y="3705905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 rot="5400000">
            <a:off x="6199348" y="3237853"/>
            <a:ext cx="136815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/>
          <p:cNvCxnSpPr/>
          <p:nvPr/>
        </p:nvCxnSpPr>
        <p:spPr>
          <a:xfrm>
            <a:off x="6883424" y="3417873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/>
          <p:cNvCxnSpPr/>
          <p:nvPr/>
        </p:nvCxnSpPr>
        <p:spPr>
          <a:xfrm>
            <a:off x="6883424" y="3921929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/>
          <p:cNvCxnSpPr/>
          <p:nvPr/>
        </p:nvCxnSpPr>
        <p:spPr>
          <a:xfrm>
            <a:off x="6883424" y="2913817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42303" y="2069375"/>
            <a:ext cx="1440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Дерево</a:t>
            </a:r>
          </a:p>
          <a:p>
            <a:r>
              <a:rPr lang="ru-RU" dirty="0"/>
              <a:t>метаданных</a:t>
            </a:r>
          </a:p>
        </p:txBody>
      </p:sp>
      <p:sp>
        <p:nvSpPr>
          <p:cNvPr id="58" name="Выгнутая вправо стрелка 57"/>
          <p:cNvSpPr/>
          <p:nvPr/>
        </p:nvSpPr>
        <p:spPr>
          <a:xfrm rot="5400000">
            <a:off x="5112387" y="4007516"/>
            <a:ext cx="504056" cy="3888432"/>
          </a:xfrm>
          <a:prstGeom prst="curvedLef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5" name="Облако 14"/>
          <p:cNvSpPr/>
          <p:nvPr/>
        </p:nvSpPr>
        <p:spPr>
          <a:xfrm>
            <a:off x="3539063" y="1657959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Форма</a:t>
            </a:r>
          </a:p>
        </p:txBody>
      </p:sp>
      <p:sp>
        <p:nvSpPr>
          <p:cNvPr id="16" name="Облако 15"/>
          <p:cNvSpPr/>
          <p:nvPr/>
        </p:nvSpPr>
        <p:spPr>
          <a:xfrm>
            <a:off x="899919" y="2538906"/>
            <a:ext cx="3015952" cy="909955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Прикладные программные объекты</a:t>
            </a:r>
          </a:p>
        </p:txBody>
      </p:sp>
      <p:sp>
        <p:nvSpPr>
          <p:cNvPr id="66" name="Скругленный прямоугольник 65"/>
          <p:cNvSpPr/>
          <p:nvPr/>
        </p:nvSpPr>
        <p:spPr>
          <a:xfrm>
            <a:off x="7171456" y="2697793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Двойная стрелка вверх/вниз 20"/>
          <p:cNvSpPr/>
          <p:nvPr/>
        </p:nvSpPr>
        <p:spPr>
          <a:xfrm>
            <a:off x="4835207" y="1081895"/>
            <a:ext cx="288000" cy="720080"/>
          </a:xfrm>
          <a:prstGeom prst="up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/>
          <p:cNvSpPr/>
          <p:nvPr/>
        </p:nvSpPr>
        <p:spPr>
          <a:xfrm>
            <a:off x="1115943" y="4240950"/>
            <a:ext cx="4536504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управляемого приложения</a:t>
            </a:r>
          </a:p>
        </p:txBody>
      </p:sp>
      <p:sp>
        <p:nvSpPr>
          <p:cNvPr id="31" name="Прямоугольник 30"/>
          <p:cNvSpPr/>
          <p:nvPr/>
        </p:nvSpPr>
        <p:spPr>
          <a:xfrm>
            <a:off x="4475167" y="2666071"/>
            <a:ext cx="13680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33" name="Прямоугольник 32"/>
          <p:cNvSpPr/>
          <p:nvPr/>
        </p:nvSpPr>
        <p:spPr>
          <a:xfrm>
            <a:off x="1302810" y="3302982"/>
            <a:ext cx="1368000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объекта</a:t>
            </a:r>
          </a:p>
        </p:txBody>
      </p:sp>
      <p:sp>
        <p:nvSpPr>
          <p:cNvPr id="34" name="Прямоугольник 33"/>
          <p:cNvSpPr/>
          <p:nvPr/>
        </p:nvSpPr>
        <p:spPr>
          <a:xfrm>
            <a:off x="2771800" y="3289327"/>
            <a:ext cx="1368000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набора записей</a:t>
            </a:r>
          </a:p>
        </p:txBody>
      </p:sp>
      <p:sp>
        <p:nvSpPr>
          <p:cNvPr id="37" name="Прямоугольник 36"/>
          <p:cNvSpPr/>
          <p:nvPr/>
        </p:nvSpPr>
        <p:spPr>
          <a:xfrm>
            <a:off x="4211960" y="3289327"/>
            <a:ext cx="1368000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Менеджера</a:t>
            </a:r>
          </a:p>
        </p:txBody>
      </p:sp>
      <p:grpSp>
        <p:nvGrpSpPr>
          <p:cNvPr id="3" name="Группа 2"/>
          <p:cNvGrpSpPr/>
          <p:nvPr/>
        </p:nvGrpSpPr>
        <p:grpSpPr>
          <a:xfrm>
            <a:off x="5664168" y="3933056"/>
            <a:ext cx="606003" cy="144016"/>
            <a:chOff x="5664168" y="3933056"/>
            <a:chExt cx="606003" cy="144016"/>
          </a:xfrm>
        </p:grpSpPr>
        <p:sp>
          <p:nvSpPr>
            <p:cNvPr id="38" name="Овал 37"/>
            <p:cNvSpPr/>
            <p:nvPr/>
          </p:nvSpPr>
          <p:spPr>
            <a:xfrm>
              <a:off x="5664168" y="3933056"/>
              <a:ext cx="144016" cy="14401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Овал 38"/>
            <p:cNvSpPr/>
            <p:nvPr/>
          </p:nvSpPr>
          <p:spPr>
            <a:xfrm>
              <a:off x="5895161" y="3933056"/>
              <a:ext cx="144016" cy="14401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Овал 39"/>
            <p:cNvSpPr/>
            <p:nvPr/>
          </p:nvSpPr>
          <p:spPr>
            <a:xfrm>
              <a:off x="6126155" y="3933056"/>
              <a:ext cx="144016" cy="14401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282250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repeatCount="3000" fill="remove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375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375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375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375" autoRev="1" fill="remove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7" presetClass="emph" presetSubtype="0" repeatCount="300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375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2" dur="375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3" dur="375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375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7" presetClass="emph" presetSubtype="0" repeatCount="300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375" autoRev="1" fill="remov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17" dur="375" autoRev="1" fill="remove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18" dur="375" autoRev="1" fill="remove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375" autoRev="1" fill="remove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7" presetClass="emph" presetSubtype="0" repeatCount="300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375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2" dur="375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3" dur="375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375" autoRev="1" fill="remove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7" presetClass="emph" presetSubtype="0" repeatCount="3000" fill="remove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375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27" dur="375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28" dur="375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375" autoRev="1" fill="remove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45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1000" tmFilter="0, 0; .2, .5; .8, .5; 1, 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7" dur="500" autoRev="1" fill="hold"/>
                                        <p:tgtEl>
                                          <p:spTgt spid="3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8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1000" tmFilter="0, 0; .2, .5; .8, .5; 1, 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0" dur="500" autoRev="1" fill="hold"/>
                                        <p:tgtEl>
                                          <p:spTgt spid="3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1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1000" tmFilter="0, 0; .2, .5; .8, .5; 1, 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3" dur="500" autoRev="1" fill="hold"/>
                                        <p:tgtEl>
                                          <p:spTgt spid="3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54" presetID="26" presetClass="emph" presetSubtype="0" repeatCount="3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10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50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9" grpId="0" animBg="1"/>
      <p:bldP spid="33" grpId="0" animBg="1"/>
      <p:bldP spid="33" grpId="1" animBg="1"/>
      <p:bldP spid="34" grpId="0" animBg="1"/>
      <p:bldP spid="34" grpId="1" animBg="1"/>
      <p:bldP spid="37" grpId="0" animBg="1"/>
      <p:bldP spid="37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/>
          <p:cNvSpPr/>
          <p:nvPr/>
        </p:nvSpPr>
        <p:spPr>
          <a:xfrm>
            <a:off x="203299" y="1131254"/>
            <a:ext cx="8617500" cy="3522032"/>
          </a:xfrm>
          <a:prstGeom prst="roundRect">
            <a:avLst/>
          </a:prstGeom>
          <a:solidFill>
            <a:schemeClr val="accent5">
              <a:lumMod val="40000"/>
              <a:lumOff val="60000"/>
              <a:alpha val="31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ru-RU" dirty="0">
                <a:solidFill>
                  <a:schemeClr val="accent5"/>
                </a:solidFill>
              </a:rPr>
              <a:t>Оперативная память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203299" y="4797302"/>
            <a:ext cx="8617500" cy="1478465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804575" y="4907616"/>
            <a:ext cx="1656184" cy="79208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Конфигурация базы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27911" y="4979624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115943" y="5123640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475983" y="5267656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836023" y="5411672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855" y="1190464"/>
            <a:ext cx="6120680" cy="305048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                 1С: Предприятие</a:t>
            </a: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691800" y="1602803"/>
            <a:ext cx="2088232" cy="2638146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u="sng" dirty="0">
                <a:solidFill>
                  <a:schemeClr val="bg1"/>
                </a:solidFill>
              </a:rPr>
              <a:t>Конфигуратор</a:t>
            </a:r>
          </a:p>
        </p:txBody>
      </p:sp>
      <p:sp>
        <p:nvSpPr>
          <p:cNvPr id="18" name="Двойная стрелка вверх/вниз 17"/>
          <p:cNvSpPr/>
          <p:nvPr/>
        </p:nvSpPr>
        <p:spPr>
          <a:xfrm>
            <a:off x="7380639" y="4209960"/>
            <a:ext cx="360040" cy="679061"/>
          </a:xfrm>
          <a:prstGeom prst="upDown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3889558" y="649847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7171456" y="3201849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Скругленный прямоугольник 27"/>
          <p:cNvSpPr/>
          <p:nvPr/>
        </p:nvSpPr>
        <p:spPr>
          <a:xfrm>
            <a:off x="7171456" y="3705905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 rot="5400000">
            <a:off x="6199348" y="3237853"/>
            <a:ext cx="136815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/>
          <p:cNvCxnSpPr/>
          <p:nvPr/>
        </p:nvCxnSpPr>
        <p:spPr>
          <a:xfrm>
            <a:off x="6883424" y="3417873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6" name="Прямая соединительная линия 45"/>
          <p:cNvCxnSpPr/>
          <p:nvPr/>
        </p:nvCxnSpPr>
        <p:spPr>
          <a:xfrm>
            <a:off x="6883424" y="3921929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47" name="Прямая соединительная линия 46"/>
          <p:cNvCxnSpPr/>
          <p:nvPr/>
        </p:nvCxnSpPr>
        <p:spPr>
          <a:xfrm>
            <a:off x="6883424" y="2913817"/>
            <a:ext cx="288032" cy="0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042303" y="2069375"/>
            <a:ext cx="1440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Дерево</a:t>
            </a:r>
          </a:p>
          <a:p>
            <a:r>
              <a:rPr lang="ru-RU" dirty="0"/>
              <a:t>метаданных</a:t>
            </a:r>
          </a:p>
        </p:txBody>
      </p:sp>
      <p:sp>
        <p:nvSpPr>
          <p:cNvPr id="58" name="Выгнутая вправо стрелка 57"/>
          <p:cNvSpPr/>
          <p:nvPr/>
        </p:nvSpPr>
        <p:spPr>
          <a:xfrm rot="5400000">
            <a:off x="5112387" y="4007516"/>
            <a:ext cx="504056" cy="3888432"/>
          </a:xfrm>
          <a:prstGeom prst="curvedLef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5" name="Облако 14"/>
          <p:cNvSpPr/>
          <p:nvPr/>
        </p:nvSpPr>
        <p:spPr>
          <a:xfrm>
            <a:off x="3539063" y="1657959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Форма</a:t>
            </a:r>
          </a:p>
        </p:txBody>
      </p:sp>
      <p:sp>
        <p:nvSpPr>
          <p:cNvPr id="16" name="Облако 15"/>
          <p:cNvSpPr/>
          <p:nvPr/>
        </p:nvSpPr>
        <p:spPr>
          <a:xfrm>
            <a:off x="899919" y="2538906"/>
            <a:ext cx="3015952" cy="909955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Прикладные программные объекты</a:t>
            </a:r>
          </a:p>
        </p:txBody>
      </p:sp>
      <p:sp>
        <p:nvSpPr>
          <p:cNvPr id="66" name="Скругленный прямоугольник 65"/>
          <p:cNvSpPr/>
          <p:nvPr/>
        </p:nvSpPr>
        <p:spPr>
          <a:xfrm>
            <a:off x="7171456" y="2697793"/>
            <a:ext cx="1152128" cy="360040"/>
          </a:xfrm>
          <a:prstGeom prst="round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Двойная стрелка вверх/вниз 20"/>
          <p:cNvSpPr/>
          <p:nvPr/>
        </p:nvSpPr>
        <p:spPr>
          <a:xfrm>
            <a:off x="4835207" y="1081895"/>
            <a:ext cx="288000" cy="720080"/>
          </a:xfrm>
          <a:prstGeom prst="up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/>
          <p:cNvSpPr/>
          <p:nvPr/>
        </p:nvSpPr>
        <p:spPr>
          <a:xfrm>
            <a:off x="1115943" y="4240950"/>
            <a:ext cx="4536504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управляемого приложения</a:t>
            </a:r>
          </a:p>
        </p:txBody>
      </p:sp>
      <p:sp>
        <p:nvSpPr>
          <p:cNvPr id="31" name="Прямоугольник 30"/>
          <p:cNvSpPr/>
          <p:nvPr/>
        </p:nvSpPr>
        <p:spPr>
          <a:xfrm>
            <a:off x="4475167" y="2666071"/>
            <a:ext cx="13680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33" name="Прямоугольник 32"/>
          <p:cNvSpPr/>
          <p:nvPr/>
        </p:nvSpPr>
        <p:spPr>
          <a:xfrm>
            <a:off x="1302810" y="3302982"/>
            <a:ext cx="1368000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объекта</a:t>
            </a:r>
          </a:p>
        </p:txBody>
      </p:sp>
      <p:sp>
        <p:nvSpPr>
          <p:cNvPr id="34" name="Прямоугольник 33"/>
          <p:cNvSpPr/>
          <p:nvPr/>
        </p:nvSpPr>
        <p:spPr>
          <a:xfrm>
            <a:off x="2771800" y="3289327"/>
            <a:ext cx="1368000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набора записей</a:t>
            </a:r>
          </a:p>
        </p:txBody>
      </p:sp>
      <p:sp>
        <p:nvSpPr>
          <p:cNvPr id="37" name="Прямоугольник 36"/>
          <p:cNvSpPr/>
          <p:nvPr/>
        </p:nvSpPr>
        <p:spPr>
          <a:xfrm>
            <a:off x="4211960" y="3289327"/>
            <a:ext cx="1368000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Менеджера</a:t>
            </a:r>
          </a:p>
        </p:txBody>
      </p:sp>
      <p:grpSp>
        <p:nvGrpSpPr>
          <p:cNvPr id="3" name="Группа 2"/>
          <p:cNvGrpSpPr/>
          <p:nvPr/>
        </p:nvGrpSpPr>
        <p:grpSpPr>
          <a:xfrm>
            <a:off x="5664168" y="3933056"/>
            <a:ext cx="606003" cy="144016"/>
            <a:chOff x="5664168" y="3933056"/>
            <a:chExt cx="606003" cy="144016"/>
          </a:xfrm>
        </p:grpSpPr>
        <p:sp>
          <p:nvSpPr>
            <p:cNvPr id="38" name="Овал 37"/>
            <p:cNvSpPr/>
            <p:nvPr/>
          </p:nvSpPr>
          <p:spPr>
            <a:xfrm>
              <a:off x="5664168" y="3933056"/>
              <a:ext cx="144016" cy="14401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Овал 38"/>
            <p:cNvSpPr/>
            <p:nvPr/>
          </p:nvSpPr>
          <p:spPr>
            <a:xfrm>
              <a:off x="5895161" y="3933056"/>
              <a:ext cx="144016" cy="14401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Овал 39"/>
            <p:cNvSpPr/>
            <p:nvPr/>
          </p:nvSpPr>
          <p:spPr>
            <a:xfrm>
              <a:off x="6126155" y="3933056"/>
              <a:ext cx="144016" cy="14401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5" name="Прямоугольник 34"/>
          <p:cNvSpPr/>
          <p:nvPr/>
        </p:nvSpPr>
        <p:spPr>
          <a:xfrm>
            <a:off x="586735" y="1244318"/>
            <a:ext cx="1872208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Общие модули</a:t>
            </a:r>
          </a:p>
        </p:txBody>
      </p:sp>
      <p:sp>
        <p:nvSpPr>
          <p:cNvPr id="36" name="Прямоугольник 35"/>
          <p:cNvSpPr/>
          <p:nvPr/>
        </p:nvSpPr>
        <p:spPr>
          <a:xfrm>
            <a:off x="739135" y="1396718"/>
            <a:ext cx="1872208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Общие модули</a:t>
            </a:r>
          </a:p>
        </p:txBody>
      </p:sp>
      <p:sp>
        <p:nvSpPr>
          <p:cNvPr id="42" name="Прямоугольник 41"/>
          <p:cNvSpPr/>
          <p:nvPr/>
        </p:nvSpPr>
        <p:spPr>
          <a:xfrm>
            <a:off x="891535" y="1549118"/>
            <a:ext cx="1872208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Общие модули</a:t>
            </a:r>
          </a:p>
        </p:txBody>
      </p:sp>
      <p:sp>
        <p:nvSpPr>
          <p:cNvPr id="43" name="Прямоугольник 42"/>
          <p:cNvSpPr/>
          <p:nvPr/>
        </p:nvSpPr>
        <p:spPr>
          <a:xfrm>
            <a:off x="1043935" y="1701518"/>
            <a:ext cx="1872208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Общие модули</a:t>
            </a:r>
          </a:p>
        </p:txBody>
      </p:sp>
      <p:sp>
        <p:nvSpPr>
          <p:cNvPr id="44" name="Двойная стрелка вверх/вниз 43"/>
          <p:cNvSpPr/>
          <p:nvPr/>
        </p:nvSpPr>
        <p:spPr>
          <a:xfrm>
            <a:off x="899918" y="3448861"/>
            <a:ext cx="288000" cy="1447004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4041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1000" tmFilter="0, 0; .2, .5; .8, .5; 1, 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0" dur="500" autoRev="1" fill="hold"/>
                                        <p:tgtEl>
                                          <p:spTgt spid="3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1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1000" tmFilter="0, 0; .2, .5; .8, .5; 1, 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500" autoRev="1" fill="hold"/>
                                        <p:tgtEl>
                                          <p:spTgt spid="3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4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1000" tmFilter="0, 0; .2, .5; .8, .5; 1, 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6" dur="500" autoRev="1" fill="hold"/>
                                        <p:tgtEl>
                                          <p:spTgt spid="4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7" presetID="26" presetClass="emph" presetSubtype="0" repeatCount="3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1000" tmFilter="0, 0; .2, .5; .8, .5; 1, 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9" dur="500" autoRev="1" fill="hold"/>
                                        <p:tgtEl>
                                          <p:spTgt spid="4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5" grpId="1" animBg="1"/>
      <p:bldP spid="36" grpId="0" animBg="1"/>
      <p:bldP spid="36" grpId="1" animBg="1"/>
      <p:bldP spid="42" grpId="0" animBg="1"/>
      <p:bldP spid="42" grpId="1" animBg="1"/>
      <p:bldP spid="43" grpId="0" animBg="1"/>
      <p:bldP spid="43" grpId="1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Скругленный прямоугольник 51"/>
          <p:cNvSpPr/>
          <p:nvPr/>
        </p:nvSpPr>
        <p:spPr>
          <a:xfrm>
            <a:off x="323528" y="1035608"/>
            <a:ext cx="8424936" cy="1472905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b="1" u="sng" dirty="0">
                <a:solidFill>
                  <a:schemeClr val="tx1"/>
                </a:solidFill>
              </a:rPr>
              <a:t>На Клиенте</a:t>
            </a:r>
          </a:p>
        </p:txBody>
      </p:sp>
      <p:sp>
        <p:nvSpPr>
          <p:cNvPr id="37" name="Прямоугольник 36"/>
          <p:cNvSpPr/>
          <p:nvPr/>
        </p:nvSpPr>
        <p:spPr>
          <a:xfrm>
            <a:off x="612013" y="2508514"/>
            <a:ext cx="779847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управляемого приложения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322729" y="5100609"/>
            <a:ext cx="8497743" cy="1208711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1049025" y="5167679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337057" y="5311695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697097" y="5455711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528" y="3006411"/>
            <a:ext cx="8424936" cy="152933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algn="ctr"/>
            <a:r>
              <a:rPr lang="ru-RU" b="1" u="sng" dirty="0">
                <a:solidFill>
                  <a:schemeClr val="tx1"/>
                </a:solidFill>
              </a:rPr>
              <a:t>На  Сервере</a:t>
            </a:r>
          </a:p>
        </p:txBody>
      </p:sp>
      <p:sp>
        <p:nvSpPr>
          <p:cNvPr id="20" name="Овал 19"/>
          <p:cNvSpPr/>
          <p:nvPr/>
        </p:nvSpPr>
        <p:spPr>
          <a:xfrm>
            <a:off x="6063378" y="585557"/>
            <a:ext cx="2376264" cy="432048"/>
          </a:xfrm>
          <a:prstGeom prst="ellipse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пользователь</a:t>
            </a:r>
          </a:p>
        </p:txBody>
      </p:sp>
      <p:sp>
        <p:nvSpPr>
          <p:cNvPr id="17" name="Облако 16"/>
          <p:cNvSpPr/>
          <p:nvPr/>
        </p:nvSpPr>
        <p:spPr>
          <a:xfrm>
            <a:off x="3137258" y="3438459"/>
            <a:ext cx="3090926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Программные объекты для обработки данных</a:t>
            </a:r>
          </a:p>
        </p:txBody>
      </p:sp>
      <p:sp>
        <p:nvSpPr>
          <p:cNvPr id="15" name="Облако 14"/>
          <p:cNvSpPr/>
          <p:nvPr/>
        </p:nvSpPr>
        <p:spPr>
          <a:xfrm>
            <a:off x="6053644" y="1151166"/>
            <a:ext cx="2556000" cy="93600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16" name="Облако 15"/>
          <p:cNvSpPr/>
          <p:nvPr/>
        </p:nvSpPr>
        <p:spPr>
          <a:xfrm>
            <a:off x="617430" y="3592141"/>
            <a:ext cx="2519827" cy="89844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Прикладные программные объекты</a:t>
            </a:r>
          </a:p>
        </p:txBody>
      </p:sp>
      <p:sp>
        <p:nvSpPr>
          <p:cNvPr id="21" name="Двойная стрелка вверх/вниз 20"/>
          <p:cNvSpPr/>
          <p:nvPr/>
        </p:nvSpPr>
        <p:spPr>
          <a:xfrm>
            <a:off x="5998238" y="911875"/>
            <a:ext cx="288000" cy="600249"/>
          </a:xfrm>
          <a:prstGeom prst="upDown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Прямоугольник 44"/>
          <p:cNvSpPr/>
          <p:nvPr/>
        </p:nvSpPr>
        <p:spPr>
          <a:xfrm>
            <a:off x="612013" y="1347052"/>
            <a:ext cx="1872208" cy="396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Общие модули</a:t>
            </a:r>
          </a:p>
        </p:txBody>
      </p:sp>
      <p:sp>
        <p:nvSpPr>
          <p:cNvPr id="50" name="Прямоугольник 49"/>
          <p:cNvSpPr/>
          <p:nvPr/>
        </p:nvSpPr>
        <p:spPr>
          <a:xfrm>
            <a:off x="597200" y="3115686"/>
            <a:ext cx="1872208" cy="396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Общие модули</a:t>
            </a:r>
          </a:p>
        </p:txBody>
      </p:sp>
      <p:sp>
        <p:nvSpPr>
          <p:cNvPr id="53" name="Облако 52"/>
          <p:cNvSpPr/>
          <p:nvPr/>
        </p:nvSpPr>
        <p:spPr>
          <a:xfrm>
            <a:off x="6069512" y="3105605"/>
            <a:ext cx="2556000" cy="936000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Управляемая форма</a:t>
            </a:r>
          </a:p>
        </p:txBody>
      </p:sp>
      <p:sp>
        <p:nvSpPr>
          <p:cNvPr id="54" name="Облако 53"/>
          <p:cNvSpPr/>
          <p:nvPr/>
        </p:nvSpPr>
        <p:spPr>
          <a:xfrm>
            <a:off x="2772706" y="1482400"/>
            <a:ext cx="2880320" cy="1008112"/>
          </a:xfrm>
          <a:prstGeom prst="cloud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Программные объекты для визуализации</a:t>
            </a:r>
          </a:p>
        </p:txBody>
      </p:sp>
      <p:sp>
        <p:nvSpPr>
          <p:cNvPr id="3" name="Стрелка вверх 2"/>
          <p:cNvSpPr/>
          <p:nvPr/>
        </p:nvSpPr>
        <p:spPr>
          <a:xfrm>
            <a:off x="6284219" y="2000680"/>
            <a:ext cx="301969" cy="1357453"/>
          </a:xfrm>
          <a:prstGeom prst="upArrow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Прямоугольник 55"/>
          <p:cNvSpPr/>
          <p:nvPr/>
        </p:nvSpPr>
        <p:spPr>
          <a:xfrm>
            <a:off x="614258" y="4554687"/>
            <a:ext cx="779847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сеанса</a:t>
            </a:r>
          </a:p>
        </p:txBody>
      </p:sp>
      <p:sp>
        <p:nvSpPr>
          <p:cNvPr id="19" name="Двойная стрелка вверх/вниз 18"/>
          <p:cNvSpPr/>
          <p:nvPr/>
        </p:nvSpPr>
        <p:spPr>
          <a:xfrm>
            <a:off x="719572" y="4221088"/>
            <a:ext cx="252028" cy="1188132"/>
          </a:xfrm>
          <a:prstGeom prst="up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9" name="Прямоугольник 58"/>
          <p:cNvSpPr/>
          <p:nvPr/>
        </p:nvSpPr>
        <p:spPr>
          <a:xfrm>
            <a:off x="6600881" y="4088824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  <p:sp>
        <p:nvSpPr>
          <p:cNvPr id="61" name="Прямоугольник 60"/>
          <p:cNvSpPr/>
          <p:nvPr/>
        </p:nvSpPr>
        <p:spPr>
          <a:xfrm>
            <a:off x="6706580" y="2006853"/>
            <a:ext cx="1845429" cy="397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формы</a:t>
            </a:r>
          </a:p>
        </p:txBody>
      </p:sp>
    </p:spTree>
    <p:extLst>
      <p:ext uri="{BB962C8B-B14F-4D97-AF65-F5344CB8AC3E}">
        <p14:creationId xmlns:p14="http://schemas.microsoft.com/office/powerpoint/2010/main" val="770488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7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80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90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10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20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300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14000"/>
                            </p:stCondLst>
                            <p:childTnLst>
                              <p:par>
                                <p:cTn id="7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37" grpId="0" animBg="1"/>
      <p:bldP spid="2" grpId="0" animBg="1"/>
      <p:bldP spid="6" grpId="0" animBg="1"/>
      <p:bldP spid="8" grpId="0" animBg="1"/>
      <p:bldP spid="9" grpId="0" animBg="1"/>
      <p:bldP spid="11" grpId="0" animBg="1"/>
      <p:bldP spid="20" grpId="0" animBg="1"/>
      <p:bldP spid="17" grpId="0" animBg="1"/>
      <p:bldP spid="15" grpId="0" animBg="1"/>
      <p:bldP spid="16" grpId="0" animBg="1"/>
      <p:bldP spid="21" grpId="0" animBg="1"/>
      <p:bldP spid="45" grpId="0" animBg="1"/>
      <p:bldP spid="50" grpId="0" animBg="1"/>
      <p:bldP spid="53" grpId="0" animBg="1"/>
      <p:bldP spid="54" grpId="0" animBg="1"/>
      <p:bldP spid="3" grpId="0" animBg="1"/>
      <p:bldP spid="56" grpId="0" animBg="1"/>
      <p:bldP spid="19" grpId="0" animBg="1"/>
      <p:bldP spid="59" grpId="0" animBg="1"/>
      <p:bldP spid="6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5862" y="1484784"/>
            <a:ext cx="8784000" cy="4752527"/>
          </a:xfrm>
        </p:spPr>
        <p:txBody>
          <a:bodyPr>
            <a:normAutofit/>
          </a:bodyPr>
          <a:lstStyle/>
          <a:p>
            <a:r>
              <a:rPr lang="ru-RU" dirty="0"/>
              <a:t>Язык </a:t>
            </a:r>
            <a:r>
              <a:rPr lang="ru-RU" dirty="0" err="1"/>
              <a:t>РеГиСтРоНеЗаВиСиМыЙ</a:t>
            </a:r>
            <a:r>
              <a:rPr lang="ru-RU" dirty="0"/>
              <a:t>, двуязычный (русский и английский языки)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936104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FF0000"/>
                </a:solidFill>
              </a:rPr>
              <a:t>Особенность встроенного программного языка</a:t>
            </a:r>
          </a:p>
        </p:txBody>
      </p:sp>
    </p:spTree>
    <p:extLst>
      <p:ext uri="{BB962C8B-B14F-4D97-AF65-F5344CB8AC3E}">
        <p14:creationId xmlns:p14="http://schemas.microsoft.com/office/powerpoint/2010/main" val="1140336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Операторы</a:t>
            </a:r>
            <a:r>
              <a:rPr lang="ru-RU" dirty="0">
                <a:solidFill>
                  <a:srgbClr val="FF0000"/>
                </a:solidFill>
              </a:rPr>
              <a:t>;</a:t>
            </a:r>
          </a:p>
          <a:p>
            <a:r>
              <a:rPr lang="ru-RU" dirty="0">
                <a:solidFill>
                  <a:srgbClr val="00B050"/>
                </a:solidFill>
              </a:rPr>
              <a:t>//Комментарии</a:t>
            </a:r>
          </a:p>
          <a:p>
            <a:pPr marL="857250" lvl="2" indent="0">
              <a:buNone/>
            </a:pPr>
            <a:endParaRPr lang="ru-RU" sz="2000" dirty="0">
              <a:solidFill>
                <a:srgbClr val="00B050"/>
              </a:solidFill>
            </a:endParaRP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//Комментарии начинаются с знака «//» 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//и заканчивается концом строки.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//В режиме исполнения программы комментарии </a:t>
            </a:r>
            <a:r>
              <a:rPr lang="en-US" sz="2000" dirty="0">
                <a:solidFill>
                  <a:srgbClr val="00B050"/>
                </a:solidFill>
              </a:rPr>
              <a:t>//</a:t>
            </a:r>
            <a:r>
              <a:rPr lang="ru-RU" sz="2000" dirty="0">
                <a:solidFill>
                  <a:srgbClr val="00B050"/>
                </a:solidFill>
              </a:rPr>
              <a:t>пропускаются.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//Комментарий может начинаться с начала строки или </a:t>
            </a:r>
            <a:r>
              <a:rPr lang="en-US" sz="2000" dirty="0">
                <a:solidFill>
                  <a:srgbClr val="00B050"/>
                </a:solidFill>
              </a:rPr>
              <a:t>//</a:t>
            </a:r>
            <a:r>
              <a:rPr lang="ru-RU" sz="2000" dirty="0">
                <a:solidFill>
                  <a:srgbClr val="00B050"/>
                </a:solidFill>
              </a:rPr>
              <a:t>после</a:t>
            </a:r>
          </a:p>
          <a:p>
            <a:pPr marL="857250" lvl="2" indent="0">
              <a:buNone/>
            </a:pPr>
            <a:r>
              <a:rPr lang="ru-RU" sz="2000" dirty="0">
                <a:solidFill>
                  <a:srgbClr val="00B050"/>
                </a:solidFill>
              </a:rPr>
              <a:t>//оператора той же строки.</a:t>
            </a:r>
          </a:p>
        </p:txBody>
      </p:sp>
      <p:sp>
        <p:nvSpPr>
          <p:cNvPr id="76804" name="Rectangle 4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Что располагается в модуле</a:t>
            </a:r>
          </a:p>
        </p:txBody>
      </p:sp>
    </p:spTree>
    <p:extLst>
      <p:ext uri="{BB962C8B-B14F-4D97-AF65-F5344CB8AC3E}">
        <p14:creationId xmlns:p14="http://schemas.microsoft.com/office/powerpoint/2010/main" val="445171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68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7680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«Атом» управления поведением системы</a:t>
            </a:r>
          </a:p>
          <a:p>
            <a:r>
              <a:rPr lang="ru-RU" dirty="0"/>
              <a:t>Операторы делятся на:</a:t>
            </a:r>
          </a:p>
          <a:p>
            <a:pPr lvl="1"/>
            <a:r>
              <a:rPr lang="ru-RU" dirty="0"/>
              <a:t>Операторы явного объявления переменных</a:t>
            </a:r>
          </a:p>
          <a:p>
            <a:pPr lvl="2"/>
            <a:r>
              <a:rPr lang="ru-RU" sz="2600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 </a:t>
            </a: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ИмяПеременной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 lvl="1"/>
            <a:r>
              <a:rPr lang="ru-RU" dirty="0"/>
              <a:t>Исполняемые операторы</a:t>
            </a:r>
          </a:p>
          <a:p>
            <a:pPr lvl="2"/>
            <a:r>
              <a:rPr lang="ru-RU" dirty="0"/>
              <a:t>Операторы присвоения </a:t>
            </a:r>
          </a:p>
          <a:p>
            <a:pPr lvl="3"/>
            <a:r>
              <a:rPr lang="ru-RU" sz="2600" b="1" dirty="0" err="1">
                <a:solidFill>
                  <a:srgbClr val="0070C0"/>
                </a:solidFill>
                <a:latin typeface="Courier New" pitchFamily="49" charset="0"/>
              </a:rPr>
              <a:t>ИмяПеременной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 lvl="2"/>
            <a:r>
              <a:rPr lang="ru-RU" dirty="0"/>
              <a:t>Оператор вызова на исполнения процедуры или функции (метода объекта)</a:t>
            </a:r>
          </a:p>
          <a:p>
            <a:pPr lvl="3"/>
            <a:r>
              <a:rPr lang="ru-RU" sz="2600" b="1" dirty="0" err="1">
                <a:solidFill>
                  <a:srgbClr val="0070C0"/>
                </a:solidFill>
                <a:latin typeface="Courier New" pitchFamily="49" charset="0"/>
              </a:rPr>
              <a:t>ИмяПроцедуры</a:t>
            </a:r>
            <a:r>
              <a:rPr lang="ru-RU" sz="2600" b="1" dirty="0">
                <a:solidFill>
                  <a:srgbClr val="FF0000"/>
                </a:solidFill>
                <a:latin typeface="Courier New" pitchFamily="49" charset="0"/>
              </a:rPr>
              <a:t>()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 lvl="1"/>
            <a:r>
              <a:rPr lang="ru-RU" dirty="0"/>
              <a:t>Синтаксические конструкции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Операторы</a:t>
            </a:r>
          </a:p>
        </p:txBody>
      </p:sp>
    </p:spTree>
    <p:extLst>
      <p:ext uri="{BB962C8B-B14F-4D97-AF65-F5344CB8AC3E}">
        <p14:creationId xmlns:p14="http://schemas.microsoft.com/office/powerpoint/2010/main" val="4013540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Любой оператор заканчивается знаком «</a:t>
            </a:r>
            <a:r>
              <a:rPr lang="ru-RU" dirty="0">
                <a:solidFill>
                  <a:srgbClr val="FF0000"/>
                </a:solidFill>
              </a:rPr>
              <a:t>;</a:t>
            </a:r>
            <a:r>
              <a:rPr lang="ru-RU" dirty="0"/>
              <a:t>»</a:t>
            </a:r>
          </a:p>
          <a:p>
            <a:pPr marL="457200" lvl="1" indent="0">
              <a:buNone/>
            </a:pP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r>
              <a:rPr lang="ru-RU" dirty="0"/>
              <a:t>Один оператор может располагаться на нескольких строках</a:t>
            </a:r>
          </a:p>
          <a:p>
            <a:pPr marL="457200" lvl="1" indent="0">
              <a:buNone/>
            </a:pP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endParaRPr lang="ru-RU" sz="2600" dirty="0">
              <a:solidFill>
                <a:srgbClr val="0070C0"/>
              </a:solidFill>
              <a:latin typeface="Courier New" pitchFamily="49" charset="0"/>
            </a:endParaRPr>
          </a:p>
          <a:p>
            <a:pPr marL="457200" lvl="1" indent="0">
              <a:buNone/>
            </a:pP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</a:p>
          <a:p>
            <a:pPr marL="457200" lvl="1" indent="0">
              <a:buNone/>
            </a:pPr>
            <a:r>
              <a:rPr lang="ru-RU" sz="2600" dirty="0">
                <a:latin typeface="Courier New" pitchFamily="49" charset="0"/>
              </a:rPr>
              <a:t>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r>
              <a:rPr lang="ru-RU" dirty="0"/>
              <a:t>Несколько операторов может быть в одной строке</a:t>
            </a:r>
          </a:p>
          <a:p>
            <a:pPr marL="457200" lvl="1" indent="0">
              <a:buNone/>
            </a:pP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1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 err="1">
                <a:solidFill>
                  <a:srgbClr val="0070C0"/>
                </a:solidFill>
                <a:latin typeface="Courier New" pitchFamily="49" charset="0"/>
              </a:rPr>
              <a:t>ВашаПеременная</a:t>
            </a:r>
            <a:r>
              <a:rPr lang="ru-RU" sz="2600" dirty="0">
                <a:latin typeface="Courier New" pitchFamily="49" charset="0"/>
              </a:rPr>
              <a:t> 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600" dirty="0">
                <a:latin typeface="Courier New" pitchFamily="49" charset="0"/>
              </a:rPr>
              <a:t> 2</a:t>
            </a:r>
            <a:r>
              <a:rPr lang="ru-RU" sz="2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Операторы - синтаксис</a:t>
            </a:r>
          </a:p>
        </p:txBody>
      </p:sp>
    </p:spTree>
    <p:extLst>
      <p:ext uri="{BB962C8B-B14F-4D97-AF65-F5344CB8AC3E}">
        <p14:creationId xmlns:p14="http://schemas.microsoft.com/office/powerpoint/2010/main" val="1634241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057400"/>
            <a:ext cx="8610600" cy="388620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Явное объявление: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МаксимальныйКредит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глТекущийПользователь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ru-RU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Неявное объявление: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Кредит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1000000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//Если в операторе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//присвоения встречается необъявленная явно 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//переменная, то это неявное объявление переменной</a:t>
            </a:r>
          </a:p>
        </p:txBody>
      </p:sp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548680"/>
            <a:ext cx="8229600" cy="8229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Объявление переменных</a:t>
            </a:r>
          </a:p>
        </p:txBody>
      </p:sp>
    </p:spTree>
    <p:extLst>
      <p:ext uri="{BB962C8B-B14F-4D97-AF65-F5344CB8AC3E}">
        <p14:creationId xmlns:p14="http://schemas.microsoft.com/office/powerpoint/2010/main" val="62891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5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5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55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55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55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355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55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Hello</a:t>
            </a:r>
            <a:r>
              <a:rPr lang="en-US">
                <a:solidFill>
                  <a:srgbClr val="C00000"/>
                </a:solidFill>
              </a:rPr>
              <a:t>, World !</a:t>
            </a:r>
            <a:endParaRPr lang="ru-RU" dirty="0">
              <a:solidFill>
                <a:srgbClr val="C00000"/>
              </a:solidFill>
            </a:endParaRPr>
          </a:p>
        </p:txBody>
      </p:sp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8300" y="1468338"/>
            <a:ext cx="5867400" cy="455295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5172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Скругленный прямоугольник 51"/>
          <p:cNvSpPr/>
          <p:nvPr/>
        </p:nvSpPr>
        <p:spPr>
          <a:xfrm>
            <a:off x="323528" y="780746"/>
            <a:ext cx="8424936" cy="2162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b="1" u="sng" dirty="0">
                <a:solidFill>
                  <a:schemeClr val="tx1"/>
                </a:solidFill>
              </a:rPr>
              <a:t>На Клиенте</a:t>
            </a:r>
          </a:p>
        </p:txBody>
      </p:sp>
      <p:sp>
        <p:nvSpPr>
          <p:cNvPr id="37" name="Прямоугольник 36"/>
          <p:cNvSpPr/>
          <p:nvPr/>
        </p:nvSpPr>
        <p:spPr>
          <a:xfrm>
            <a:off x="627315" y="2960949"/>
            <a:ext cx="779847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управляемого приложения</a:t>
            </a:r>
          </a:p>
        </p:txBody>
      </p:sp>
      <p:sp>
        <p:nvSpPr>
          <p:cNvPr id="2" name="Скругленный прямоугольник 1"/>
          <p:cNvSpPr/>
          <p:nvPr/>
        </p:nvSpPr>
        <p:spPr>
          <a:xfrm>
            <a:off x="323528" y="4941168"/>
            <a:ext cx="8496944" cy="1296144"/>
          </a:xfrm>
          <a:prstGeom prst="roundRect">
            <a:avLst/>
          </a:prstGeom>
          <a:ln w="38100">
            <a:prstDash val="dash"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ru-RU" dirty="0"/>
              <a:t>База данных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85232" y="5049180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1173264" y="5193196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1533304" y="5337212"/>
            <a:ext cx="1800200" cy="79208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Таблицы с данными</a:t>
            </a:r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23528" y="3421527"/>
            <a:ext cx="8424936" cy="871570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ru-RU" b="1" u="sng" dirty="0">
                <a:solidFill>
                  <a:schemeClr val="tx1"/>
                </a:solidFill>
              </a:rPr>
              <a:t>На  Сервере</a:t>
            </a:r>
          </a:p>
        </p:txBody>
      </p:sp>
      <p:sp>
        <p:nvSpPr>
          <p:cNvPr id="56" name="Прямоугольник 55"/>
          <p:cNvSpPr/>
          <p:nvPr/>
        </p:nvSpPr>
        <p:spPr>
          <a:xfrm>
            <a:off x="627315" y="4293096"/>
            <a:ext cx="7798478" cy="4320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Модуль сеанса</a:t>
            </a: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9752" y="834100"/>
            <a:ext cx="2717676" cy="21088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30970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00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37" grpId="0" animBg="1"/>
      <p:bldP spid="2" grpId="0" animBg="1"/>
      <p:bldP spid="6" grpId="0" animBg="1"/>
      <p:bldP spid="8" grpId="0" animBg="1"/>
      <p:bldP spid="9" grpId="0" animBg="1"/>
      <p:bldP spid="11" grpId="0" animBg="1"/>
      <p:bldP spid="5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несколько операторов должны выполняться в определенной последовательности</a:t>
            </a:r>
            <a:r>
              <a:rPr lang="en-US" dirty="0"/>
              <a:t> </a:t>
            </a:r>
            <a:r>
              <a:rPr lang="ru-RU" dirty="0"/>
              <a:t>несколько раз, то их удобно объединять в Процедуру или Функцию</a:t>
            </a:r>
          </a:p>
          <a:p>
            <a:r>
              <a:rPr lang="ru-RU" dirty="0"/>
              <a:t>Впоследствии, можно будет указывать не каждый оператор в отдельности, а вызвать на исполнение эту Процедуру или Функцию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Процедуры и функции</a:t>
            </a:r>
          </a:p>
        </p:txBody>
      </p:sp>
    </p:spTree>
    <p:extLst>
      <p:ext uri="{BB962C8B-B14F-4D97-AF65-F5344CB8AC3E}">
        <p14:creationId xmlns:p14="http://schemas.microsoft.com/office/powerpoint/2010/main" val="234903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9" name="Rectangle 3"/>
          <p:cNvSpPr>
            <a:spLocks noGrp="1" noChangeArrowheads="1"/>
          </p:cNvSpPr>
          <p:nvPr>
            <p:ph idx="1"/>
          </p:nvPr>
        </p:nvSpPr>
        <p:spPr>
          <a:xfrm>
            <a:off x="228600" y="1844824"/>
            <a:ext cx="8915400" cy="441960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1800" dirty="0">
                <a:latin typeface="Courier New" pitchFamily="49" charset="0"/>
              </a:rPr>
              <a:t> 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>
                <a:solidFill>
                  <a:srgbClr val="FF0000"/>
                </a:solidFill>
                <a:latin typeface="Courier New" pitchFamily="49" charset="0"/>
              </a:rPr>
              <a:t>Процедура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П1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Знач</a:t>
            </a:r>
            <a:r>
              <a:rPr lang="ru-RU" sz="1800" dirty="0">
                <a:latin typeface="Courier New" pitchFamily="49" charset="0"/>
              </a:rPr>
              <a:t> П2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20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Возврат;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П3 = П3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77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 err="1">
                <a:solidFill>
                  <a:srgbClr val="FF0000"/>
                </a:solidFill>
                <a:latin typeface="Courier New" pitchFamily="49" charset="0"/>
              </a:rPr>
              <a:t>КонецПроцедуры</a:t>
            </a: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А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Б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40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 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</p:txBody>
      </p:sp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210448" y="548680"/>
            <a:ext cx="8682032" cy="792088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Описание процедур и функций</a:t>
            </a:r>
          </a:p>
        </p:txBody>
      </p:sp>
    </p:spTree>
    <p:extLst>
      <p:ext uri="{BB962C8B-B14F-4D97-AF65-F5344CB8AC3E}">
        <p14:creationId xmlns:p14="http://schemas.microsoft.com/office/powerpoint/2010/main" val="144331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5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5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5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5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5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57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457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457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57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457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79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07504" y="1052736"/>
            <a:ext cx="8928992" cy="5184576"/>
          </a:xfrm>
          <a:prstGeom prst="rect">
            <a:avLst/>
          </a:prstGeom>
          <a:gradFill>
            <a:gsLst>
              <a:gs pos="0">
                <a:schemeClr val="accent1">
                  <a:tint val="50000"/>
                  <a:satMod val="300000"/>
                  <a:alpha val="17000"/>
                </a:schemeClr>
              </a:gs>
              <a:gs pos="35000">
                <a:schemeClr val="accent1">
                  <a:tint val="37000"/>
                  <a:satMod val="300000"/>
                </a:schemeClr>
              </a:gs>
              <a:gs pos="100000">
                <a:schemeClr val="accent1">
                  <a:tint val="15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04056" y="1724912"/>
            <a:ext cx="8735888" cy="648072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1) Раздел явного объявления переменных</a:t>
            </a: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204056" y="4729708"/>
            <a:ext cx="8735888" cy="1440160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b="1" dirty="0"/>
              <a:t>3) Раздел основной программы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204056" y="2505844"/>
            <a:ext cx="8735888" cy="2079848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2) Раздел описания процедур и функций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 модуля</a:t>
            </a:r>
          </a:p>
        </p:txBody>
      </p:sp>
    </p:spTree>
    <p:extLst>
      <p:ext uri="{BB962C8B-B14F-4D97-AF65-F5344CB8AC3E}">
        <p14:creationId xmlns:p14="http://schemas.microsoft.com/office/powerpoint/2010/main" val="1458919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6" grpId="0" animBg="1"/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 модуля</a:t>
            </a:r>
          </a:p>
        </p:txBody>
      </p:sp>
      <p:sp>
        <p:nvSpPr>
          <p:cNvPr id="4" name="Rectangle 3"/>
          <p:cNvSpPr txBox="1">
            <a:spLocks noChangeArrowheads="1"/>
          </p:cNvSpPr>
          <p:nvPr/>
        </p:nvSpPr>
        <p:spPr>
          <a:xfrm>
            <a:off x="228600" y="1844824"/>
            <a:ext cx="8915400" cy="441960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C00000"/>
              </a:buClr>
              <a:defRPr sz="2800" b="1" kern="1200">
                <a:solidFill>
                  <a:srgbClr val="0070C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2"/>
              </a:buBlip>
              <a:defRPr sz="2800" b="1" kern="1200">
                <a:solidFill>
                  <a:srgbClr val="FF000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Blip>
                <a:blip r:embed="rId3"/>
              </a:buBlip>
              <a:defRPr sz="2000" b="1" kern="1200">
                <a:solidFill>
                  <a:srgbClr val="0070C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Wingdings" panose="05000000000000000000" pitchFamily="2" charset="2"/>
              <a:buChar char="§"/>
              <a:defRPr b="1" kern="1200">
                <a:solidFill>
                  <a:srgbClr val="40404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FF000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404040"/>
                </a:solidFill>
                <a:latin typeface="Tahoma" pitchFamily="34" charset="0"/>
                <a:ea typeface="Tahoma" pitchFamily="34" charset="0"/>
                <a:cs typeface="Tahom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</a:pP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Перем</a:t>
            </a:r>
            <a:r>
              <a:rPr lang="ru-RU" sz="1800" dirty="0">
                <a:latin typeface="Courier New" pitchFamily="49" charset="0"/>
              </a:rPr>
              <a:t> 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Процедура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П1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Знач</a:t>
            </a:r>
            <a:r>
              <a:rPr lang="ru-RU" sz="1800" dirty="0">
                <a:latin typeface="Courier New" pitchFamily="49" charset="0"/>
              </a:rPr>
              <a:t> П2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20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П1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П2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П3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Возврат;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	П3 = П3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800" dirty="0">
                <a:latin typeface="Courier New" pitchFamily="49" charset="0"/>
              </a:rPr>
              <a:t> 77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КонецПроцедуры</a:t>
            </a: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А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sz="1800" dirty="0">
                <a:latin typeface="Courier New" pitchFamily="49" charset="0"/>
              </a:rPr>
              <a:t>Б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5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40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800" dirty="0">
                <a:latin typeface="Courier New" pitchFamily="49" charset="0"/>
              </a:rPr>
              <a:t>А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800" dirty="0">
                <a:latin typeface="Courier New" pitchFamily="49" charset="0"/>
              </a:rPr>
              <a:t> Б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);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 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</a:pPr>
            <a:endParaRPr lang="ru-RU" sz="1800" dirty="0"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2019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07504" y="1052736"/>
            <a:ext cx="8928992" cy="5184576"/>
          </a:xfrm>
          <a:prstGeom prst="rect">
            <a:avLst/>
          </a:prstGeom>
          <a:gradFill>
            <a:gsLst>
              <a:gs pos="0">
                <a:schemeClr val="accent1">
                  <a:tint val="50000"/>
                  <a:satMod val="300000"/>
                  <a:alpha val="17000"/>
                </a:schemeClr>
              </a:gs>
              <a:gs pos="35000">
                <a:schemeClr val="accent1">
                  <a:tint val="37000"/>
                  <a:satMod val="300000"/>
                </a:schemeClr>
              </a:gs>
              <a:gs pos="100000">
                <a:schemeClr val="accent1">
                  <a:tint val="15000"/>
                  <a:satMod val="350000"/>
                </a:schemeClr>
              </a:gs>
            </a:gsLst>
          </a:gra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228600" y="2060848"/>
            <a:ext cx="8915400" cy="441960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latin typeface="Courier New" pitchFamily="49" charset="0"/>
              </a:rPr>
              <a:t>Перем</a:t>
            </a:r>
            <a:r>
              <a:rPr lang="ru-RU" sz="1800" dirty="0">
                <a:latin typeface="Courier New" pitchFamily="49" charset="0"/>
              </a:rPr>
              <a:t> А, Б;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>
                <a:solidFill>
                  <a:srgbClr val="FF0000"/>
                </a:solidFill>
                <a:latin typeface="Courier New" pitchFamily="49" charset="0"/>
              </a:rPr>
              <a:t>Процедура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latin typeface="Courier New" pitchFamily="49" charset="0"/>
              </a:rPr>
              <a:t>(П1, </a:t>
            </a:r>
            <a:r>
              <a:rPr lang="ru-RU" sz="1800" dirty="0" err="1">
                <a:solidFill>
                  <a:srgbClr val="FF0000"/>
                </a:solidFill>
                <a:latin typeface="Courier New" pitchFamily="49" charset="0"/>
              </a:rPr>
              <a:t>Знач</a:t>
            </a:r>
            <a:r>
              <a:rPr lang="ru-RU" sz="1800" dirty="0">
                <a:latin typeface="Courier New" pitchFamily="49" charset="0"/>
              </a:rPr>
              <a:t> П2, П3=20)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Экспорт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П1 = П1 + П3;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П2 = П2 + П3;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Возврат</a:t>
            </a:r>
            <a:r>
              <a:rPr lang="ru-RU" sz="1800" dirty="0"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	П3 = П3 + 77;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b="1" dirty="0" err="1">
                <a:solidFill>
                  <a:srgbClr val="FF0000"/>
                </a:solidFill>
                <a:latin typeface="Courier New" pitchFamily="49" charset="0"/>
              </a:rPr>
              <a:t>КонецПроцедуры</a:t>
            </a: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А = 5;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>
                <a:latin typeface="Courier New" pitchFamily="49" charset="0"/>
              </a:rPr>
              <a:t>Б = 5;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latin typeface="Courier New" pitchFamily="49" charset="0"/>
              </a:rPr>
              <a:t>(А, Б, 40);</a:t>
            </a:r>
            <a:r>
              <a:rPr lang="en-US" sz="1800" dirty="0">
                <a:latin typeface="Courier New" pitchFamily="49" charset="0"/>
              </a:rPr>
              <a:t> 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Font typeface="Arial" pitchFamily="34" charset="0"/>
              <a:buNone/>
            </a:pPr>
            <a:r>
              <a:rPr lang="ru-RU" sz="1800" dirty="0" err="1">
                <a:latin typeface="Courier New" pitchFamily="49" charset="0"/>
              </a:rPr>
              <a:t>ИзменитьЗначенияПеременных</a:t>
            </a:r>
            <a:r>
              <a:rPr lang="ru-RU" sz="1800" dirty="0">
                <a:latin typeface="Courier New" pitchFamily="49" charset="0"/>
              </a:rPr>
              <a:t>(А, Б);</a:t>
            </a:r>
            <a:r>
              <a:rPr lang="en-US" sz="1800" dirty="0">
                <a:solidFill>
                  <a:srgbClr val="00B050"/>
                </a:solidFill>
                <a:latin typeface="Courier New" pitchFamily="49" charset="0"/>
              </a:rPr>
              <a:t> // </a:t>
            </a:r>
            <a:r>
              <a:rPr lang="ru-RU" sz="1800" dirty="0">
                <a:solidFill>
                  <a:srgbClr val="00B050"/>
                </a:solidFill>
                <a:latin typeface="Courier New" pitchFamily="49" charset="0"/>
              </a:rPr>
              <a:t>А = ? Б = ?</a:t>
            </a:r>
          </a:p>
          <a:p>
            <a:pPr>
              <a:lnSpc>
                <a:spcPct val="80000"/>
              </a:lnSpc>
              <a:buFont typeface="Arial" pitchFamily="34" charset="0"/>
              <a:buNone/>
            </a:pPr>
            <a:endParaRPr lang="ru-RU" sz="1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800" dirty="0">
              <a:latin typeface="Courier New" pitchFamily="49" charset="0"/>
            </a:endParaRPr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204056" y="4729708"/>
            <a:ext cx="8735888" cy="1440160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b="1" dirty="0"/>
              <a:t>3) Раздел основной программы</a:t>
            </a: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204056" y="2505844"/>
            <a:ext cx="8735888" cy="2079848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2) Раздел описания процедур и функций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204056" y="1724912"/>
            <a:ext cx="8735888" cy="648072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b="1" dirty="0"/>
              <a:t>1) Раздел явного объявления переменных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 модуля</a:t>
            </a:r>
          </a:p>
        </p:txBody>
      </p:sp>
    </p:spTree>
    <p:extLst>
      <p:ext uri="{BB962C8B-B14F-4D97-AF65-F5344CB8AC3E}">
        <p14:creationId xmlns:p14="http://schemas.microsoft.com/office/powerpoint/2010/main" val="1589563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Некоторые процедуры можно «связать» с событиями программных объектов</a:t>
            </a:r>
          </a:p>
          <a:p>
            <a:r>
              <a:rPr lang="ru-RU" dirty="0"/>
              <a:t>Такие процедуры будут отрабатывать в момент наступления соответствующего события</a:t>
            </a:r>
          </a:p>
          <a:p>
            <a:r>
              <a:rPr lang="ru-RU" dirty="0"/>
              <a:t>Эти процедуры называются </a:t>
            </a:r>
            <a:r>
              <a:rPr lang="ru-RU" dirty="0">
                <a:solidFill>
                  <a:srgbClr val="0070C0"/>
                </a:solidFill>
              </a:rPr>
              <a:t>ОБРАБОТЧИКИ СОБЫТИЙ</a:t>
            </a:r>
          </a:p>
          <a:p>
            <a:r>
              <a:rPr lang="ru-RU" dirty="0"/>
              <a:t>Обработчик события должен располагается в модуле того объекта, где происходит событие</a:t>
            </a:r>
          </a:p>
          <a:p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Не все процедуры одинаковы</a:t>
            </a:r>
          </a:p>
        </p:txBody>
      </p:sp>
    </p:spTree>
    <p:extLst>
      <p:ext uri="{BB962C8B-B14F-4D97-AF65-F5344CB8AC3E}">
        <p14:creationId xmlns:p14="http://schemas.microsoft.com/office/powerpoint/2010/main" val="2435451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2" y="547009"/>
            <a:ext cx="8784976" cy="1143000"/>
          </a:xfrm>
        </p:spPr>
        <p:txBody>
          <a:bodyPr>
            <a:normAutofit fontScale="90000"/>
          </a:bodyPr>
          <a:lstStyle/>
          <a:p>
            <a:r>
              <a:rPr lang="ru-RU" sz="3600" dirty="0">
                <a:solidFill>
                  <a:srgbClr val="FF0000"/>
                </a:solidFill>
              </a:rPr>
              <a:t>Событийно-зависимая ориентация встроенного языка</a:t>
            </a: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57158" y="2143116"/>
            <a:ext cx="2143140" cy="1000132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Действие пользователя</a:t>
            </a: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3500430" y="2143116"/>
            <a:ext cx="2143140" cy="1000132"/>
          </a:xfrm>
          <a:prstGeom prst="round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Системное событие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6643702" y="2143116"/>
            <a:ext cx="2143140" cy="1000132"/>
          </a:xfrm>
          <a:prstGeom prst="round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Обработчик события</a:t>
            </a:r>
          </a:p>
        </p:txBody>
      </p:sp>
      <p:sp>
        <p:nvSpPr>
          <p:cNvPr id="7" name="Стрелка вправо 6"/>
          <p:cNvSpPr/>
          <p:nvPr/>
        </p:nvSpPr>
        <p:spPr>
          <a:xfrm>
            <a:off x="2643174" y="2500306"/>
            <a:ext cx="714380" cy="285752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трелка вправо 7"/>
          <p:cNvSpPr/>
          <p:nvPr/>
        </p:nvSpPr>
        <p:spPr>
          <a:xfrm>
            <a:off x="5786446" y="2500306"/>
            <a:ext cx="714380" cy="285752"/>
          </a:xfrm>
          <a:prstGeom prst="rightArrow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16" name="Таблица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820041"/>
              </p:ext>
            </p:extLst>
          </p:nvPr>
        </p:nvGraphicFramePr>
        <p:xfrm>
          <a:off x="357158" y="3429000"/>
          <a:ext cx="8429685" cy="2880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809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9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9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6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Запустил систему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err="1">
                          <a:solidFill>
                            <a:srgbClr val="7030A0"/>
                          </a:solidFill>
                        </a:rPr>
                        <a:t>ПриНачалеРаботыСистемы</a:t>
                      </a:r>
                      <a:endParaRPr lang="ru-RU" sz="1400" dirty="0">
                        <a:solidFill>
                          <a:srgbClr val="7030A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Процедура</a:t>
                      </a:r>
                    </a:p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dirty="0" err="1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ПриНачалеРаботыСистемы</a:t>
                      </a:r>
                      <a:r>
                        <a:rPr lang="ru-RU" sz="1400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Открыл отчет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err="1">
                          <a:solidFill>
                            <a:srgbClr val="7030A0"/>
                          </a:solidFill>
                        </a:rPr>
                        <a:t>ПриОткрытии</a:t>
                      </a:r>
                      <a:endParaRPr lang="ru-RU" sz="1400" dirty="0">
                        <a:solidFill>
                          <a:srgbClr val="7030A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Процедура</a:t>
                      </a:r>
                    </a:p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dirty="0" err="1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ПриОткрытии</a:t>
                      </a:r>
                      <a:r>
                        <a:rPr lang="ru-RU" sz="1400" b="0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()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Нажал на кнопку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rgbClr val="7030A0"/>
                          </a:solidFill>
                        </a:rPr>
                        <a:t>Выполнение</a:t>
                      </a:r>
                      <a:r>
                        <a:rPr lang="ru-RU" sz="1400" baseline="0" dirty="0">
                          <a:solidFill>
                            <a:srgbClr val="7030A0"/>
                          </a:solidFill>
                        </a:rPr>
                        <a:t> команды</a:t>
                      </a:r>
                      <a:endParaRPr lang="ru-RU" sz="1400" dirty="0">
                        <a:solidFill>
                          <a:srgbClr val="7030A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Процедура</a:t>
                      </a:r>
                    </a:p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Команда1</a:t>
                      </a:r>
                      <a:r>
                        <a:rPr lang="ru-RU" sz="1400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(…)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Провел документ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 err="1">
                          <a:solidFill>
                            <a:srgbClr val="7030A0"/>
                          </a:solidFill>
                        </a:rPr>
                        <a:t>ОбработкаПроведения</a:t>
                      </a:r>
                      <a:endParaRPr lang="ru-RU" sz="1400" dirty="0">
                        <a:solidFill>
                          <a:srgbClr val="7030A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Процедура</a:t>
                      </a:r>
                    </a:p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dirty="0" err="1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ОбработкаПроведения</a:t>
                      </a:r>
                      <a:r>
                        <a:rPr lang="ru-RU" sz="1400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(…)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solidFill>
                            <a:srgbClr val="002060"/>
                          </a:solidFill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solidFill>
                            <a:srgbClr val="7030A0"/>
                          </a:solidFill>
                        </a:rPr>
                        <a:t>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ru-RU" sz="1400" dirty="0">
                          <a:solidFill>
                            <a:schemeClr val="accent5">
                              <a:lumMod val="50000"/>
                            </a:schemeClr>
                          </a:solidFill>
                        </a:rPr>
                        <a:t>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8632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Объект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Булево</a:t>
            </a:r>
          </a:p>
          <a:p>
            <a:r>
              <a:rPr lang="ru-RU" dirty="0"/>
              <a:t>Число</a:t>
            </a:r>
          </a:p>
          <a:p>
            <a:r>
              <a:rPr lang="ru-RU" dirty="0"/>
              <a:t>Строка</a:t>
            </a:r>
          </a:p>
          <a:p>
            <a:r>
              <a:rPr lang="ru-RU" dirty="0"/>
              <a:t>Дата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864096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Программная работа с данными примитивного типа</a:t>
            </a:r>
          </a:p>
        </p:txBody>
      </p:sp>
    </p:spTree>
    <p:extLst>
      <p:ext uri="{BB962C8B-B14F-4D97-AF65-F5344CB8AC3E}">
        <p14:creationId xmlns:p14="http://schemas.microsoft.com/office/powerpoint/2010/main" val="864714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9" name="Rectangle 3"/>
          <p:cNvSpPr>
            <a:spLocks noGrp="1" noChangeArrowheads="1"/>
          </p:cNvSpPr>
          <p:nvPr>
            <p:ph idx="1"/>
          </p:nvPr>
        </p:nvSpPr>
        <p:spPr>
          <a:xfrm>
            <a:off x="181721" y="1628800"/>
            <a:ext cx="8839200" cy="4525962"/>
          </a:xfrm>
        </p:spPr>
        <p:txBody>
          <a:bodyPr/>
          <a:lstStyle/>
          <a:p>
            <a:pPr>
              <a:lnSpc>
                <a:spcPct val="90000"/>
              </a:lnSpc>
              <a:buFontTx/>
              <a:buNone/>
            </a:pPr>
            <a:r>
              <a:rPr lang="ru-RU" sz="22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Использование в логических выражениях: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КолТиповЦен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&gt;</a:t>
            </a:r>
            <a:r>
              <a:rPr lang="ru-RU" sz="1400" dirty="0">
                <a:latin typeface="Courier New" pitchFamily="49" charset="0"/>
              </a:rPr>
              <a:t> 0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И</a:t>
            </a:r>
            <a:r>
              <a:rPr lang="ru-RU" sz="1400" dirty="0">
                <a:latin typeface="Courier New" pitchFamily="49" charset="0"/>
              </a:rPr>
              <a:t> (</a:t>
            </a:r>
            <a:r>
              <a:rPr lang="ru-RU" sz="1400" dirty="0" err="1">
                <a:latin typeface="Courier New" pitchFamily="49" charset="0"/>
              </a:rPr>
              <a:t>ВариантВывода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3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ИЛИ НЕ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ФормироватьЦены</a:t>
            </a:r>
            <a:r>
              <a:rPr lang="ru-RU" sz="1400" dirty="0">
                <a:latin typeface="Courier New" pitchFamily="49" charset="0"/>
              </a:rPr>
              <a:t>)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1800" dirty="0">
                <a:latin typeface="Courier New" pitchFamily="49" charset="0"/>
              </a:rPr>
              <a:t>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Проведен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Истина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Проведен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 err="1">
                <a:latin typeface="Courier New" pitchFamily="49" charset="0"/>
              </a:rPr>
              <a:t>ПараметрыОтчетаКорректны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Ложь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90000"/>
              </a:lnSpc>
              <a:buFontTx/>
              <a:buNone/>
            </a:pP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НЕ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 err="1">
                <a:latin typeface="Courier New" pitchFamily="49" charset="0"/>
              </a:rPr>
              <a:t>ПараметрыОтчетаКорректны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2000" dirty="0">
                <a:latin typeface="Courier New" pitchFamily="49" charset="0"/>
              </a:rPr>
              <a:t> ... </a:t>
            </a:r>
          </a:p>
        </p:txBody>
      </p:sp>
      <p:sp>
        <p:nvSpPr>
          <p:cNvPr id="19458" name="Rectangle 2"/>
          <p:cNvSpPr>
            <a:spLocks noGrp="1" noChangeArrowheads="1"/>
          </p:cNvSpPr>
          <p:nvPr>
            <p:ph type="title"/>
          </p:nvPr>
        </p:nvSpPr>
        <p:spPr>
          <a:xfrm>
            <a:off x="251520" y="548680"/>
            <a:ext cx="8784000" cy="72000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Булево</a:t>
            </a:r>
          </a:p>
        </p:txBody>
      </p:sp>
    </p:spTree>
    <p:extLst>
      <p:ext uri="{BB962C8B-B14F-4D97-AF65-F5344CB8AC3E}">
        <p14:creationId xmlns:p14="http://schemas.microsoft.com/office/powerpoint/2010/main" val="2449256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4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45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45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45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45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45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59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3"/>
          <p:cNvSpPr>
            <a:spLocks noGrp="1" noChangeArrowheads="1"/>
          </p:cNvSpPr>
          <p:nvPr>
            <p:ph idx="1"/>
          </p:nvPr>
        </p:nvSpPr>
        <p:spPr>
          <a:xfrm>
            <a:off x="381000" y="2484438"/>
            <a:ext cx="8382000" cy="2087562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  <a:buFontTx/>
              <a:buNone/>
            </a:pPr>
            <a:r>
              <a:rPr lang="ru-RU" sz="22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Пример использования в арифметических вычислениях:</a:t>
            </a:r>
          </a:p>
          <a:p>
            <a:pPr>
              <a:lnSpc>
                <a:spcPct val="90000"/>
              </a:lnSpc>
              <a:buFontTx/>
              <a:buNone/>
            </a:pPr>
            <a:endParaRPr lang="ru-RU" dirty="0"/>
          </a:p>
          <a:p>
            <a:pPr>
              <a:lnSpc>
                <a:spcPct val="90000"/>
              </a:lnSpc>
              <a:buFontTx/>
              <a:buNone/>
            </a:pPr>
            <a:r>
              <a:rPr lang="ru-RU" b="1" dirty="0">
                <a:latin typeface="Courier New" pitchFamily="49" charset="0"/>
              </a:rPr>
              <a:t>А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b="1" dirty="0">
                <a:latin typeface="Courier New" pitchFamily="49" charset="0"/>
              </a:rPr>
              <a:t> 10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b="1" dirty="0">
                <a:latin typeface="Courier New" pitchFamily="49" charset="0"/>
              </a:rPr>
              <a:t> 7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b="1" dirty="0">
                <a:latin typeface="Courier New" pitchFamily="49" charset="0"/>
              </a:rPr>
              <a:t> 1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90000"/>
              </a:lnSpc>
              <a:buFontTx/>
              <a:buNone/>
            </a:pPr>
            <a:r>
              <a:rPr lang="ru-RU" b="1" dirty="0">
                <a:latin typeface="Courier New" pitchFamily="49" charset="0"/>
              </a:rPr>
              <a:t>Б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b="1" dirty="0">
                <a:latin typeface="Courier New" pitchFamily="49" charset="0"/>
              </a:rPr>
              <a:t> А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%</a:t>
            </a:r>
            <a:r>
              <a:rPr lang="ru-RU" b="1" dirty="0">
                <a:latin typeface="Courier New" pitchFamily="49" charset="0"/>
              </a:rPr>
              <a:t> 6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dirty="0"/>
              <a:t> </a:t>
            </a:r>
          </a:p>
        </p:txBody>
      </p:sp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72000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Число</a:t>
            </a:r>
          </a:p>
        </p:txBody>
      </p:sp>
    </p:spTree>
    <p:extLst>
      <p:ext uri="{BB962C8B-B14F-4D97-AF65-F5344CB8AC3E}">
        <p14:creationId xmlns:p14="http://schemas.microsoft.com/office/powerpoint/2010/main" val="47244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4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48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052736"/>
            <a:ext cx="8610600" cy="522156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Определение строк: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Строка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Пример обычной строки</a:t>
            </a: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Конкатенация строк: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8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ОбъединеннаяСтрока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"Строка №1"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"Строка №2"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Многострочные строки (2 способа):</a:t>
            </a:r>
          </a:p>
          <a:p>
            <a:pPr>
              <a:lnSpc>
                <a:spcPct val="80000"/>
              </a:lnSpc>
              <a:buNone/>
            </a:pPr>
            <a:endParaRPr lang="ru-RU" sz="2000" b="1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Предупреждение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"Перед блокированием документ необходимо записать."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			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 err="1">
                <a:latin typeface="Courier New" pitchFamily="49" charset="0"/>
              </a:rPr>
              <a:t>Символы</a:t>
            </a:r>
            <a:r>
              <a:rPr lang="ru-RU" sz="1600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b="1" dirty="0" err="1">
                <a:latin typeface="Courier New" pitchFamily="49" charset="0"/>
              </a:rPr>
              <a:t>ПС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"Сделать это сейчас?"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Запрос.Текст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"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ВЫБРАТЬ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МаксимальныйКредитКонтрагенту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,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	Приоритет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ИЗ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	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Справочник.Контрагенты</a:t>
            </a:r>
            <a:endParaRPr lang="ru-RU" sz="1600" dirty="0">
              <a:solidFill>
                <a:schemeClr val="tx1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b="1" dirty="0">
                <a:solidFill>
                  <a:schemeClr val="tx1"/>
                </a:solidFill>
                <a:latin typeface="Courier New" pitchFamily="49" charset="0"/>
              </a:rPr>
              <a:t>|"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000" cy="576064"/>
          </a:xfrm>
        </p:spPr>
        <p:txBody>
          <a:bodyPr>
            <a:normAutofit fontScale="90000"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Строка</a:t>
            </a:r>
          </a:p>
        </p:txBody>
      </p:sp>
    </p:spTree>
    <p:extLst>
      <p:ext uri="{BB962C8B-B14F-4D97-AF65-F5344CB8AC3E}">
        <p14:creationId xmlns:p14="http://schemas.microsoft.com/office/powerpoint/2010/main" val="714361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5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15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5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50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150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50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50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507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507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3"/>
          <p:cNvSpPr>
            <a:spLocks noGrp="1" noChangeArrowheads="1"/>
          </p:cNvSpPr>
          <p:nvPr>
            <p:ph idx="1"/>
          </p:nvPr>
        </p:nvSpPr>
        <p:spPr>
          <a:xfrm>
            <a:off x="266212" y="1340768"/>
            <a:ext cx="8610600" cy="45720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Способы определения дат: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7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ДатаНачалаКурса_1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'</a:t>
            </a:r>
            <a:r>
              <a:rPr lang="ru-RU" sz="1400" dirty="0">
                <a:solidFill>
                  <a:schemeClr val="tx1"/>
                </a:solidFill>
                <a:latin typeface="Courier New" pitchFamily="49" charset="0"/>
              </a:rPr>
              <a:t>20</a:t>
            </a:r>
            <a:r>
              <a:rPr lang="en-US" sz="1400" dirty="0">
                <a:solidFill>
                  <a:schemeClr val="tx1"/>
                </a:solidFill>
                <a:latin typeface="Courier New" pitchFamily="49" charset="0"/>
              </a:rPr>
              <a:t>1</a:t>
            </a:r>
            <a:r>
              <a:rPr lang="ru-RU" sz="1400" dirty="0">
                <a:solidFill>
                  <a:schemeClr val="tx1"/>
                </a:solidFill>
                <a:latin typeface="Courier New" pitchFamily="49" charset="0"/>
              </a:rPr>
              <a:t>6011418</a:t>
            </a:r>
            <a:r>
              <a:rPr lang="en-US" sz="14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1400" dirty="0">
                <a:solidFill>
                  <a:schemeClr val="tx1"/>
                </a:solidFill>
                <a:latin typeface="Courier New" pitchFamily="49" charset="0"/>
              </a:rPr>
              <a:t>000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'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ДатаНачалаКурса_2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Дата(</a:t>
            </a:r>
            <a:r>
              <a:rPr lang="ru-RU" sz="1400" dirty="0">
                <a:latin typeface="Courier New" pitchFamily="49" charset="0"/>
              </a:rPr>
              <a:t>20</a:t>
            </a:r>
            <a:r>
              <a:rPr lang="en-US" sz="1400" dirty="0">
                <a:latin typeface="Courier New" pitchFamily="49" charset="0"/>
              </a:rPr>
              <a:t>1</a:t>
            </a:r>
            <a:r>
              <a:rPr lang="ru-RU" sz="1400" dirty="0">
                <a:latin typeface="Courier New" pitchFamily="49" charset="0"/>
              </a:rPr>
              <a:t>6, 01, 14,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</a:rPr>
              <a:t> 18, 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</a:rPr>
              <a:t>0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Courier New" pitchFamily="49" charset="0"/>
              </a:rPr>
              <a:t>0, 00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           Сейчас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ТекущаяДата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Операции с датами: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7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latin typeface="Courier New" pitchFamily="49" charset="0"/>
              </a:rPr>
              <a:t>Перерыв                    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ДатаНачалаКурса_1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+ </a:t>
            </a:r>
            <a:r>
              <a:rPr lang="ru-RU" sz="1400" dirty="0">
                <a:latin typeface="Courier New" pitchFamily="49" charset="0"/>
              </a:rPr>
              <a:t>5400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 err="1">
                <a:latin typeface="Courier New" pitchFamily="49" charset="0"/>
              </a:rPr>
              <a:t>НачалоВторогоДня</a:t>
            </a:r>
            <a:r>
              <a:rPr lang="ru-RU" sz="1400" dirty="0">
                <a:latin typeface="Courier New" pitchFamily="49" charset="0"/>
              </a:rPr>
              <a:t>           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ДатаНачалаКурса_2 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+ </a:t>
            </a:r>
            <a:r>
              <a:rPr lang="ru-RU" sz="1400" dirty="0">
                <a:latin typeface="Courier New" pitchFamily="49" charset="0"/>
              </a:rPr>
              <a:t>2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400" dirty="0">
                <a:latin typeface="Courier New" pitchFamily="49" charset="0"/>
              </a:rPr>
              <a:t>24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400" dirty="0">
                <a:latin typeface="Courier New" pitchFamily="49" charset="0"/>
              </a:rPr>
              <a:t>60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400" dirty="0">
                <a:latin typeface="Courier New" pitchFamily="49" charset="0"/>
              </a:rPr>
              <a:t>60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 err="1">
                <a:latin typeface="Courier New" pitchFamily="49" charset="0"/>
              </a:rPr>
              <a:t>ДлительностьПервогоДня</a:t>
            </a:r>
            <a:r>
              <a:rPr lang="ru-RU" sz="1000" dirty="0">
                <a:latin typeface="Courier New" pitchFamily="49" charset="0"/>
              </a:rPr>
              <a:t>     </a:t>
            </a:r>
            <a:r>
              <a:rPr lang="ru-RU" sz="900" dirty="0">
                <a:latin typeface="Courier New" pitchFamily="49" charset="0"/>
              </a:rPr>
              <a:t>  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Дата(20</a:t>
            </a:r>
            <a:r>
              <a:rPr lang="en-US" sz="1400" dirty="0">
                <a:latin typeface="Courier New" pitchFamily="49" charset="0"/>
              </a:rPr>
              <a:t>1</a:t>
            </a:r>
            <a:r>
              <a:rPr lang="ru-RU" sz="1400" dirty="0">
                <a:latin typeface="Courier New" pitchFamily="49" charset="0"/>
              </a:rPr>
              <a:t>6, 01, 14, 21, </a:t>
            </a:r>
            <a:r>
              <a:rPr lang="en-US" sz="1400" dirty="0">
                <a:latin typeface="Courier New" pitchFamily="49" charset="0"/>
              </a:rPr>
              <a:t>0</a:t>
            </a:r>
            <a:r>
              <a:rPr lang="ru-RU" sz="1400" dirty="0">
                <a:latin typeface="Courier New" pitchFamily="49" charset="0"/>
              </a:rPr>
              <a:t>0,00)</a:t>
            </a:r>
            <a:r>
              <a:rPr lang="ru-RU" sz="1400" b="1" dirty="0">
                <a:solidFill>
                  <a:srgbClr val="FF0000"/>
                </a:solidFill>
                <a:latin typeface="Courier New" pitchFamily="49" charset="0"/>
              </a:rPr>
              <a:t>-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'20</a:t>
            </a:r>
            <a:r>
              <a:rPr lang="en-US" sz="1400" b="1" dirty="0">
                <a:solidFill>
                  <a:schemeClr val="tx1"/>
                </a:solidFill>
                <a:latin typeface="Courier New" pitchFamily="49" charset="0"/>
              </a:rPr>
              <a:t>16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011418</a:t>
            </a:r>
            <a:r>
              <a:rPr lang="en-US" sz="1400" b="1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000'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Проверка на «пустую» дату: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7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 err="1">
                <a:latin typeface="Courier New" pitchFamily="49" charset="0"/>
              </a:rPr>
              <a:t>ДатаОтчета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b="1" dirty="0">
                <a:solidFill>
                  <a:schemeClr val="tx1"/>
                </a:solidFill>
                <a:latin typeface="Courier New" pitchFamily="49" charset="0"/>
              </a:rPr>
              <a:t>'00010101'</a:t>
            </a:r>
            <a:r>
              <a:rPr lang="ru-RU" sz="1400" dirty="0">
                <a:latin typeface="Courier New" pitchFamily="49" charset="0"/>
              </a:rPr>
              <a:t> </a:t>
            </a:r>
            <a:r>
              <a:rPr lang="ru-RU" sz="14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  <a:r>
              <a:rPr lang="ru-RU" sz="1400" dirty="0">
                <a:latin typeface="Courier New" pitchFamily="49" charset="0"/>
              </a:rPr>
              <a:t> ...</a:t>
            </a:r>
          </a:p>
        </p:txBody>
      </p:sp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000" cy="720000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Примитивные типы: Дата</a:t>
            </a:r>
          </a:p>
        </p:txBody>
      </p:sp>
    </p:spTree>
    <p:extLst>
      <p:ext uri="{BB962C8B-B14F-4D97-AF65-F5344CB8AC3E}">
        <p14:creationId xmlns:p14="http://schemas.microsoft.com/office/powerpoint/2010/main" val="1998302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5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5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5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25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25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53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53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531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 nodeType="afterGroup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531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3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2531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Неявное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"АБВ"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777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"АБВ777"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777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"АБВ"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Ошибка!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""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777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"АБВ"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"777АБВ"</a:t>
            </a:r>
          </a:p>
          <a:p>
            <a:r>
              <a:rPr lang="ru-RU" dirty="0"/>
              <a:t>Явное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Строка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000" dirty="0">
                <a:latin typeface="Courier New" pitchFamily="49" charset="0"/>
              </a:rPr>
              <a:t>777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"АБВ"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//"777АБВ"</a:t>
            </a:r>
          </a:p>
          <a:p>
            <a:pPr marL="800100" lvl="2" indent="0">
              <a:buNone/>
            </a:pPr>
            <a:r>
              <a:rPr lang="ru-RU" sz="2000" dirty="0" err="1">
                <a:solidFill>
                  <a:srgbClr val="0070C0"/>
                </a:solidFill>
                <a:latin typeface="Courier New" pitchFamily="49" charset="0"/>
              </a:rPr>
              <a:t>МояПеременная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Число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000" dirty="0">
                <a:latin typeface="Courier New" pitchFamily="49" charset="0"/>
              </a:rPr>
              <a:t>"23,5000"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)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70C0"/>
                </a:solidFill>
                <a:latin typeface="Courier New" pitchFamily="49" charset="0"/>
              </a:rPr>
              <a:t>10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00B050"/>
                </a:solidFill>
                <a:latin typeface="Courier New" pitchFamily="49" charset="0"/>
              </a:rPr>
              <a:t>// 33.5</a:t>
            </a:r>
          </a:p>
          <a:p>
            <a:pPr marL="800100" lvl="2" indent="0">
              <a:buNone/>
            </a:pPr>
            <a:endParaRPr lang="ru-RU" sz="2000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Преобразование типов</a:t>
            </a:r>
          </a:p>
        </p:txBody>
      </p:sp>
    </p:spTree>
    <p:extLst>
      <p:ext uri="{BB962C8B-B14F-4D97-AF65-F5344CB8AC3E}">
        <p14:creationId xmlns:p14="http://schemas.microsoft.com/office/powerpoint/2010/main" val="2643249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3" y="1052736"/>
            <a:ext cx="8077032" cy="51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188119" y="571976"/>
            <a:ext cx="8784000" cy="7200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Работа с программными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525206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1052736"/>
            <a:ext cx="8077034" cy="514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8119" y="571975"/>
            <a:ext cx="8784000" cy="720000"/>
          </a:xfrm>
          <a:prstGeom prst="rect">
            <a:avLst/>
          </a:prstGeo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sz="3200" b="1" kern="120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9pPr>
          </a:lstStyle>
          <a:p>
            <a:r>
              <a:rPr lang="ru-RU" dirty="0">
                <a:solidFill>
                  <a:srgbClr val="FF0000"/>
                </a:solidFill>
              </a:rPr>
              <a:t>Работа с программными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922428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1026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000"/>
                            </p:stCondLst>
                            <p:childTnLst>
                              <p:par>
                                <p:cTn id="8" presetID="43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72222E-6 -3.7037E-6 L 0.14323 -3.7037E-6 C 0.20747 -3.7037E-6 0.28664 -0.0493 0.28664 -0.08912 L 0.28664 -0.17801 " pathEditMode="relative" rAng="0" ptsTypes="AAAA">
                                      <p:cBhvr>
                                        <p:cTn id="9" dur="2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323" y="-891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0032" y="1124744"/>
            <a:ext cx="4056856" cy="25856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5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304800" y="3284538"/>
            <a:ext cx="8839200" cy="307022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>
              <a:buFontTx/>
              <a:buNone/>
            </a:pPr>
            <a:r>
              <a:rPr lang="ru-RU" sz="2200" b="1" dirty="0">
                <a:latin typeface="Courier New" pitchFamily="49" charset="0"/>
              </a:rPr>
              <a:t>Свойства и реквизиты:</a:t>
            </a:r>
          </a:p>
          <a:p>
            <a:pPr>
              <a:buFontTx/>
              <a:buNone/>
            </a:pPr>
            <a:endParaRPr lang="ru-RU" sz="2000" b="1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000" dirty="0" err="1">
                <a:latin typeface="Courier New" pitchFamily="49" charset="0"/>
              </a:rPr>
              <a:t>Форма</a:t>
            </a:r>
            <a:r>
              <a:rPr lang="ru-RU" sz="2000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000" dirty="0" err="1">
                <a:latin typeface="Courier New" pitchFamily="49" charset="0"/>
              </a:rPr>
              <a:t>Заголовок</a:t>
            </a:r>
            <a:r>
              <a:rPr lang="ru-RU" sz="2000" dirty="0">
                <a:latin typeface="Courier New" pitchFamily="49" charset="0"/>
              </a:rPr>
              <a:t>   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chemeClr val="tx1"/>
                </a:solidFill>
                <a:latin typeface="Courier New" pitchFamily="49" charset="0"/>
              </a:rPr>
              <a:t>"ООО Север"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000" dirty="0">
                <a:latin typeface="Courier New" pitchFamily="49" charset="0"/>
              </a:rPr>
              <a:t>Форма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000" dirty="0">
                <a:solidFill>
                  <a:schemeClr val="tx1"/>
                </a:solidFill>
                <a:latin typeface="Courier New" pitchFamily="49" charset="0"/>
              </a:rPr>
              <a:t>"Директор"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000" dirty="0">
                <a:latin typeface="Courier New" pitchFamily="49" charset="0"/>
              </a:rPr>
              <a:t> </a:t>
            </a:r>
            <a:r>
              <a:rPr lang="ru-RU" sz="2000" dirty="0">
                <a:solidFill>
                  <a:schemeClr val="tx1"/>
                </a:solidFill>
                <a:latin typeface="Courier New" pitchFamily="49" charset="0"/>
              </a:rPr>
              <a:t>"Иванов И.А."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endParaRPr lang="ru-RU" sz="2000" i="1" u="sng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buFontTx/>
              <a:buNone/>
            </a:pPr>
            <a:endParaRPr lang="ru-RU" sz="2000" i="1" u="sng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200" b="1" dirty="0">
                <a:latin typeface="Courier New" pitchFamily="49" charset="0"/>
              </a:rPr>
              <a:t>Методы:</a:t>
            </a:r>
          </a:p>
          <a:p>
            <a:pPr>
              <a:buFontTx/>
              <a:buNone/>
            </a:pPr>
            <a:endParaRPr lang="ru-RU" sz="2000" dirty="0">
              <a:latin typeface="Courier New" pitchFamily="49" charset="0"/>
            </a:endParaRPr>
          </a:p>
          <a:p>
            <a:pPr>
              <a:buFontTx/>
              <a:buNone/>
            </a:pPr>
            <a:r>
              <a:rPr lang="ru-RU" sz="2000" dirty="0" err="1">
                <a:latin typeface="Courier New" pitchFamily="49" charset="0"/>
              </a:rPr>
              <a:t>Форма</a:t>
            </a:r>
            <a:r>
              <a:rPr lang="ru-RU" sz="2000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000" dirty="0" err="1">
                <a:latin typeface="Courier New" pitchFamily="49" charset="0"/>
              </a:rPr>
              <a:t>Открыть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</a:rPr>
              <a:t>()</a:t>
            </a:r>
            <a:r>
              <a:rPr lang="ru-RU" sz="20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2000" dirty="0">
                <a:latin typeface="Courier New" pitchFamily="49" charset="0"/>
              </a:rPr>
              <a:t>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07904" y="2132856"/>
            <a:ext cx="28083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>
                <a:solidFill>
                  <a:srgbClr val="0070C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Форма </a:t>
            </a:r>
            <a:r>
              <a:rPr lang="ru-RU" sz="2000" b="1" dirty="0">
                <a:solidFill>
                  <a:srgbClr val="FF0000"/>
                </a:solidFill>
                <a:latin typeface="Courier New" pitchFamily="49" charset="0"/>
                <a:ea typeface="Tahoma" pitchFamily="34" charset="0"/>
                <a:cs typeface="Tahoma" pitchFamily="34" charset="0"/>
              </a:rPr>
              <a:t>=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 bwMode="auto">
          <a:xfrm>
            <a:off x="188119" y="571976"/>
            <a:ext cx="8784000" cy="6967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 sz="3200" b="1" kern="120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defRPr>
            </a:lvl1pPr>
            <a:lvl2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2pPr>
            <a:lvl3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3pPr>
            <a:lvl4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4pPr>
            <a:lvl5pPr algn="ctr" rtl="0" eaLnBrk="1" fontAlgn="base" hangingPunct="1"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1"/>
                </a:solidFill>
                <a:latin typeface="Arial Black" pitchFamily="34" charset="0"/>
                <a:ea typeface="Verdana" pitchFamily="34" charset="0"/>
                <a:cs typeface="Verdana" pitchFamily="34" charset="0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sz="2800" b="1">
                <a:solidFill>
                  <a:srgbClr val="C00000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9pPr>
          </a:lstStyle>
          <a:p>
            <a:r>
              <a:rPr lang="ru-RU" dirty="0">
                <a:solidFill>
                  <a:srgbClr val="FF0000"/>
                </a:solidFill>
              </a:rPr>
              <a:t>Работа с программными объектами</a:t>
            </a:r>
          </a:p>
        </p:txBody>
      </p:sp>
    </p:spTree>
    <p:extLst>
      <p:ext uri="{BB962C8B-B14F-4D97-AF65-F5344CB8AC3E}">
        <p14:creationId xmlns:p14="http://schemas.microsoft.com/office/powerpoint/2010/main" val="16672052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Ветвление</a:t>
            </a:r>
          </a:p>
          <a:p>
            <a:r>
              <a:rPr lang="ru-RU" dirty="0"/>
              <a:t>Циклы</a:t>
            </a:r>
          </a:p>
        </p:txBody>
      </p:sp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Синтаксические конструкции</a:t>
            </a:r>
          </a:p>
        </p:txBody>
      </p:sp>
    </p:spTree>
    <p:extLst>
      <p:ext uri="{BB962C8B-B14F-4D97-AF65-F5344CB8AC3E}">
        <p14:creationId xmlns:p14="http://schemas.microsoft.com/office/powerpoint/2010/main" val="1579250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1676400"/>
            <a:ext cx="8532440" cy="4419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ОпределитьВыборПользователя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"Ок"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ИначеЕсли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"Отмена"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ИначеЕсли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"Не понял…"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Иначе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КонецЕсли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Ветвление</a:t>
            </a:r>
          </a:p>
        </p:txBody>
      </p:sp>
    </p:spTree>
    <p:extLst>
      <p:ext uri="{BB962C8B-B14F-4D97-AF65-F5344CB8AC3E}">
        <p14:creationId xmlns:p14="http://schemas.microsoft.com/office/powerpoint/2010/main" val="3582612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56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56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6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56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1676400"/>
            <a:ext cx="8532440" cy="4419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ОпределитьВыборПользователя</a:t>
            </a:r>
            <a:r>
              <a:rPr lang="ru-RU" sz="2400" dirty="0">
                <a:latin typeface="Courier New" pitchFamily="49" charset="0"/>
              </a:rPr>
              <a:t>()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 err="1">
                <a:latin typeface="Courier New" pitchFamily="49" charset="0"/>
              </a:rPr>
              <a:t>ТекстСообщения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 = ?(</a:t>
            </a:r>
            <a:r>
              <a:rPr lang="ru-RU" sz="2400" dirty="0">
                <a:latin typeface="Courier New" pitchFamily="49" charset="0"/>
              </a:rPr>
              <a:t>А =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"Ок"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chemeClr val="tx1"/>
                </a:solidFill>
                <a:latin typeface="Courier New" pitchFamily="49" charset="0"/>
              </a:rPr>
              <a:t>Да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chemeClr val="tx1"/>
                </a:solidFill>
                <a:latin typeface="Courier New" pitchFamily="49" charset="0"/>
              </a:rPr>
              <a:t>Нет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Ветвление</a:t>
            </a:r>
          </a:p>
        </p:txBody>
      </p:sp>
    </p:spTree>
    <p:extLst>
      <p:ext uri="{BB962C8B-B14F-4D97-AF65-F5344CB8AC3E}">
        <p14:creationId xmlns:p14="http://schemas.microsoft.com/office/powerpoint/2010/main" val="4046850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 nodeType="afterGroup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3"/>
          <p:cNvSpPr>
            <a:spLocks noGrp="1" noChangeArrowheads="1"/>
          </p:cNvSpPr>
          <p:nvPr>
            <p:ph idx="1"/>
          </p:nvPr>
        </p:nvSpPr>
        <p:spPr>
          <a:xfrm>
            <a:off x="611560" y="1676400"/>
            <a:ext cx="8064896" cy="44196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Попытка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2400" dirty="0" err="1">
                <a:latin typeface="Courier New" pitchFamily="49" charset="0"/>
              </a:rPr>
              <a:t>НашаФункция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Исключение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	Сообщить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 err="1">
                <a:latin typeface="Courier New" pitchFamily="49" charset="0"/>
              </a:rPr>
              <a:t>ОписаниеОшибки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КонецПопытки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86409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Ветвление</a:t>
            </a:r>
          </a:p>
        </p:txBody>
      </p:sp>
    </p:spTree>
    <p:extLst>
      <p:ext uri="{BB962C8B-B14F-4D97-AF65-F5344CB8AC3E}">
        <p14:creationId xmlns:p14="http://schemas.microsoft.com/office/powerpoint/2010/main" val="3146200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56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56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60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341784" y="1700808"/>
            <a:ext cx="8460432" cy="4184104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Для</a:t>
            </a:r>
            <a:r>
              <a:rPr lang="ru-RU" sz="2400" dirty="0">
                <a:latin typeface="Courier New" pitchFamily="49" charset="0"/>
              </a:rPr>
              <a:t> Счетчик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1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По</a:t>
            </a:r>
            <a:r>
              <a:rPr lang="ru-RU" sz="2400" dirty="0">
                <a:latin typeface="Courier New" pitchFamily="49" charset="0"/>
              </a:rPr>
              <a:t> 10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Цикл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8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Если</a:t>
            </a:r>
            <a:r>
              <a:rPr lang="ru-RU" sz="2400" dirty="0">
                <a:latin typeface="Courier New" pitchFamily="49" charset="0"/>
              </a:rPr>
              <a:t> Счетчик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&lt;</a:t>
            </a:r>
            <a:r>
              <a:rPr lang="ru-RU" sz="2400" dirty="0">
                <a:latin typeface="Courier New" pitchFamily="49" charset="0"/>
              </a:rPr>
              <a:t> 3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	Продолжить; </a:t>
            </a: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//Цикл не прерывается! //Управление передаются в начало цикла.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</a:t>
            </a:r>
            <a:r>
              <a:rPr lang="ru-RU" sz="2400" dirty="0" err="1">
                <a:solidFill>
                  <a:srgbClr val="FF0000"/>
                </a:solidFill>
                <a:latin typeface="Courier New" pitchFamily="49" charset="0"/>
              </a:rPr>
              <a:t>ИначеЕсли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НЕ</a:t>
            </a:r>
            <a:r>
              <a:rPr lang="ru-RU" sz="2400" dirty="0">
                <a:latin typeface="Courier New" pitchFamily="49" charset="0"/>
              </a:rPr>
              <a:t> Счетчик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&lt;=</a:t>
            </a:r>
            <a:r>
              <a:rPr lang="ru-RU" sz="2400" dirty="0">
                <a:latin typeface="Courier New" pitchFamily="49" charset="0"/>
              </a:rPr>
              <a:t> 7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Тогда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	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	Прервать; </a:t>
            </a: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//Цикл прерывается!</a:t>
            </a: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2400" dirty="0" err="1">
                <a:solidFill>
                  <a:srgbClr val="FF0000"/>
                </a:solidFill>
                <a:latin typeface="Courier New" pitchFamily="49" charset="0"/>
              </a:rPr>
              <a:t>КонецЕсли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Сообщить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"Счетчик цикла = "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+</a:t>
            </a:r>
            <a:r>
              <a:rPr lang="ru-RU" sz="2400" dirty="0">
                <a:latin typeface="Courier New" pitchFamily="49" charset="0"/>
              </a:rPr>
              <a:t> Счетчик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КонецЦикла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936104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Цикл со счетчиком</a:t>
            </a:r>
          </a:p>
        </p:txBody>
      </p:sp>
    </p:spTree>
    <p:extLst>
      <p:ext uri="{BB962C8B-B14F-4D97-AF65-F5344CB8AC3E}">
        <p14:creationId xmlns:p14="http://schemas.microsoft.com/office/powerpoint/2010/main" val="3820772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6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6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6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66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6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66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66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66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62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662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62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662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627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3"/>
          <p:cNvSpPr>
            <a:spLocks noGrp="1" noChangeArrowheads="1"/>
          </p:cNvSpPr>
          <p:nvPr>
            <p:ph idx="1"/>
          </p:nvPr>
        </p:nvSpPr>
        <p:spPr>
          <a:xfrm>
            <a:off x="539552" y="2209800"/>
            <a:ext cx="8223448" cy="2895600"/>
          </a:xfrm>
        </p:spPr>
        <p:txBody>
          <a:bodyPr>
            <a:normAutofit lnSpcReduction="10000"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Пока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&lt;</a:t>
            </a:r>
            <a:r>
              <a:rPr lang="ru-RU" sz="2400" dirty="0">
                <a:latin typeface="Courier New" pitchFamily="49" charset="0"/>
              </a:rPr>
              <a:t> 10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Цикл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b="1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...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А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+ </a:t>
            </a:r>
            <a:r>
              <a:rPr lang="ru-RU" sz="2400" dirty="0">
                <a:latin typeface="Courier New" pitchFamily="49" charset="0"/>
              </a:rPr>
              <a:t>3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8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КонецЦикла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936104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Цикл с предусловием</a:t>
            </a:r>
          </a:p>
        </p:txBody>
      </p:sp>
    </p:spTree>
    <p:extLst>
      <p:ext uri="{BB962C8B-B14F-4D97-AF65-F5344CB8AC3E}">
        <p14:creationId xmlns:p14="http://schemas.microsoft.com/office/powerpoint/2010/main" val="3463642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6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765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65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65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1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3" y="1268681"/>
            <a:ext cx="4022560" cy="2755454"/>
          </a:xfrm>
        </p:spPr>
      </p:pic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Коллекции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016" y="1273306"/>
            <a:ext cx="3946038" cy="2367623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92" y="4024135"/>
            <a:ext cx="2057410" cy="24928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5804" y="3789040"/>
            <a:ext cx="3526618" cy="2349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320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0958516"/>
              </p:ext>
            </p:extLst>
          </p:nvPr>
        </p:nvGraphicFramePr>
        <p:xfrm>
          <a:off x="329752" y="1268680"/>
          <a:ext cx="4458272" cy="1584525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114568">
                  <a:extLst>
                    <a:ext uri="{9D8B030D-6E8A-4147-A177-3AD203B41FA5}">
                      <a16:colId xmlns:a16="http://schemas.microsoft.com/office/drawing/2014/main" val="3275268676"/>
                    </a:ext>
                  </a:extLst>
                </a:gridCol>
                <a:gridCol w="1114568">
                  <a:extLst>
                    <a:ext uri="{9D8B030D-6E8A-4147-A177-3AD203B41FA5}">
                      <a16:colId xmlns:a16="http://schemas.microsoft.com/office/drawing/2014/main" val="1120284479"/>
                    </a:ext>
                  </a:extLst>
                </a:gridCol>
                <a:gridCol w="1114568">
                  <a:extLst>
                    <a:ext uri="{9D8B030D-6E8A-4147-A177-3AD203B41FA5}">
                      <a16:colId xmlns:a16="http://schemas.microsoft.com/office/drawing/2014/main" val="2172378305"/>
                    </a:ext>
                  </a:extLst>
                </a:gridCol>
                <a:gridCol w="1114568">
                  <a:extLst>
                    <a:ext uri="{9D8B030D-6E8A-4147-A177-3AD203B41FA5}">
                      <a16:colId xmlns:a16="http://schemas.microsoft.com/office/drawing/2014/main" val="4052972464"/>
                    </a:ext>
                  </a:extLst>
                </a:gridCol>
              </a:tblGrid>
              <a:tr h="528175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231081"/>
                  </a:ext>
                </a:extLst>
              </a:tr>
              <a:tr h="528175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2077456"/>
                  </a:ext>
                </a:extLst>
              </a:tr>
              <a:tr h="528175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7543241"/>
                  </a:ext>
                </a:extLst>
              </a:tr>
            </a:tbl>
          </a:graphicData>
        </a:graphic>
      </p:graphicFrame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Коллекции - таблицы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5493822"/>
              </p:ext>
            </p:extLst>
          </p:nvPr>
        </p:nvGraphicFramePr>
        <p:xfrm>
          <a:off x="3707904" y="3504870"/>
          <a:ext cx="4032448" cy="401794"/>
        </p:xfrm>
        <a:graphic>
          <a:graphicData uri="http://schemas.openxmlformats.org/drawingml/2006/table">
            <a:tbl>
              <a:tblPr firstRow="1" bandRow="1">
                <a:tableStyleId>{8799B23B-EC83-4686-B30A-512413B5E67A}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19435036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1828096469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2864300904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141151276"/>
                    </a:ext>
                  </a:extLst>
                </a:gridCol>
              </a:tblGrid>
              <a:tr h="4017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835572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0078188"/>
              </p:ext>
            </p:extLst>
          </p:nvPr>
        </p:nvGraphicFramePr>
        <p:xfrm>
          <a:off x="1259632" y="3886541"/>
          <a:ext cx="1175792" cy="1463040"/>
        </p:xfrm>
        <a:graphic>
          <a:graphicData uri="http://schemas.openxmlformats.org/drawingml/2006/table">
            <a:tbl>
              <a:tblPr firstRow="1" bandRow="1">
                <a:tableStyleId>{5DA37D80-6434-44D0-A028-1B22A696006F}</a:tableStyleId>
              </a:tblPr>
              <a:tblGrid>
                <a:gridCol w="1175792">
                  <a:extLst>
                    <a:ext uri="{9D8B030D-6E8A-4147-A177-3AD203B41FA5}">
                      <a16:colId xmlns:a16="http://schemas.microsoft.com/office/drawing/2014/main" val="3510416778"/>
                    </a:ext>
                  </a:extLst>
                </a:gridCol>
              </a:tblGrid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962003"/>
                  </a:ext>
                </a:extLst>
              </a:tr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1586916"/>
                  </a:ext>
                </a:extLst>
              </a:tr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2595429"/>
                  </a:ext>
                </a:extLst>
              </a:tr>
              <a:tr h="36398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477833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994216"/>
              </p:ext>
            </p:extLst>
          </p:nvPr>
        </p:nvGraphicFramePr>
        <p:xfrm>
          <a:off x="3609031" y="4960394"/>
          <a:ext cx="1178993" cy="401794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1178993">
                  <a:extLst>
                    <a:ext uri="{9D8B030D-6E8A-4147-A177-3AD203B41FA5}">
                      <a16:colId xmlns:a16="http://schemas.microsoft.com/office/drawing/2014/main" val="4128136899"/>
                    </a:ext>
                  </a:extLst>
                </a:gridCol>
              </a:tblGrid>
              <a:tr h="40179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404618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31914" y="1700809"/>
            <a:ext cx="38885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n>
                  <a:solidFill>
                    <a:schemeClr val="bg1"/>
                  </a:solidFill>
                </a:ln>
                <a:gradFill>
                  <a:gsLst>
                    <a:gs pos="55000">
                      <a:srgbClr val="F50516"/>
                    </a:gs>
                    <a:gs pos="86000">
                      <a:srgbClr val="C00000"/>
                    </a:gs>
                  </a:gsLst>
                  <a:lin ang="5400000" scaled="0"/>
                </a:gra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rPr>
              <a:t>Элемент коллекции </a:t>
            </a:r>
            <a:r>
              <a:rPr lang="ru-RU" sz="2400" b="1" dirty="0">
                <a:ln>
                  <a:solidFill>
                    <a:schemeClr val="bg1"/>
                  </a:solidFill>
                </a:ln>
                <a:solidFill>
                  <a:srgbClr val="0070C0"/>
                </a:solidFill>
                <a:effectLst>
                  <a:outerShdw blurRad="38100" dist="38100" dir="5400000" algn="ctr" rotWithShape="0">
                    <a:schemeClr val="bg1">
                      <a:lumMod val="50000"/>
                    </a:schemeClr>
                  </a:outerShdw>
                </a:effectLst>
                <a:latin typeface="Arial Black" pitchFamily="34" charset="0"/>
                <a:ea typeface="Verdana" pitchFamily="34" charset="0"/>
                <a:cs typeface="Verdana" pitchFamily="34" charset="0"/>
              </a:rPr>
              <a:t>– строка таблицы</a:t>
            </a:r>
          </a:p>
        </p:txBody>
      </p:sp>
    </p:spTree>
    <p:extLst>
      <p:ext uri="{BB962C8B-B14F-4D97-AF65-F5344CB8AC3E}">
        <p14:creationId xmlns:p14="http://schemas.microsoft.com/office/powerpoint/2010/main" val="257089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коллекции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9965734"/>
              </p:ext>
            </p:extLst>
          </p:nvPr>
        </p:nvGraphicFramePr>
        <p:xfrm>
          <a:off x="755575" y="1397000"/>
          <a:ext cx="7632850" cy="1482858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75816">
                <a:tc>
                  <a:txBody>
                    <a:bodyPr/>
                    <a:lstStyle/>
                    <a:p>
                      <a:r>
                        <a:rPr lang="ru-RU" dirty="0"/>
                        <a:t>№ Строки/ № колонки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227093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675211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5772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908389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481609"/>
              </p:ext>
            </p:extLst>
          </p:nvPr>
        </p:nvGraphicFramePr>
        <p:xfrm>
          <a:off x="770032" y="4149080"/>
          <a:ext cx="7632850" cy="1482858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75816">
                <a:tc>
                  <a:txBody>
                    <a:bodyPr/>
                    <a:lstStyle/>
                    <a:p>
                      <a:r>
                        <a:rPr lang="ru-RU" dirty="0"/>
                        <a:t>№ Строки/ № колонки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227093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675211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5772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908389"/>
                  </a:ext>
                </a:extLst>
              </a:tr>
            </a:tbl>
          </a:graphicData>
        </a:graphic>
      </p:graphicFrame>
      <p:sp>
        <p:nvSpPr>
          <p:cNvPr id="6" name="Овал 5"/>
          <p:cNvSpPr/>
          <p:nvPr/>
        </p:nvSpPr>
        <p:spPr>
          <a:xfrm>
            <a:off x="539552" y="1268680"/>
            <a:ext cx="288032" cy="288112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/>
          <p:cNvSpPr/>
          <p:nvPr/>
        </p:nvSpPr>
        <p:spPr>
          <a:xfrm>
            <a:off x="8258866" y="5487882"/>
            <a:ext cx="288032" cy="288112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549365"/>
              </p:ext>
            </p:extLst>
          </p:nvPr>
        </p:nvGraphicFramePr>
        <p:xfrm>
          <a:off x="3194238" y="1772816"/>
          <a:ext cx="5184577" cy="1107042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368152">
                  <a:extLst>
                    <a:ext uri="{9D8B030D-6E8A-4147-A177-3AD203B41FA5}">
                      <a16:colId xmlns:a16="http://schemas.microsoft.com/office/drawing/2014/main" val="740275257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77955149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77309381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4056309209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441344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7130975"/>
                  </a:ext>
                </a:extLst>
              </a:tr>
              <a:tr h="369014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13617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115616" y="2987436"/>
            <a:ext cx="42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Адрес ячейки: 	строка 1 колонка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616" y="3329803"/>
            <a:ext cx="42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		колонка 3 строка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616" y="3672170"/>
            <a:ext cx="428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		строка </a:t>
            </a:r>
            <a:r>
              <a:rPr lang="en-US" dirty="0"/>
              <a:t>3</a:t>
            </a:r>
            <a:r>
              <a:rPr lang="ru-RU" dirty="0"/>
              <a:t> колонка 2</a:t>
            </a:r>
          </a:p>
        </p:txBody>
      </p:sp>
    </p:spTree>
    <p:extLst>
      <p:ext uri="{BB962C8B-B14F-4D97-AF65-F5344CB8AC3E}">
        <p14:creationId xmlns:p14="http://schemas.microsoft.com/office/powerpoint/2010/main" val="908266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/>
      <p:bldP spid="11" grpId="0"/>
      <p:bldP spid="12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Данные в коллекции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38558"/>
              </p:ext>
            </p:extLst>
          </p:nvPr>
        </p:nvGraphicFramePr>
        <p:xfrm>
          <a:off x="755575" y="1397000"/>
          <a:ext cx="7632850" cy="375816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75816">
                <a:tc>
                  <a:txBody>
                    <a:bodyPr/>
                    <a:lstStyle/>
                    <a:p>
                      <a:r>
                        <a:rPr lang="ru-RU" dirty="0"/>
                        <a:t>№ Строки/ № колонки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0227093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4010835"/>
              </p:ext>
            </p:extLst>
          </p:nvPr>
        </p:nvGraphicFramePr>
        <p:xfrm>
          <a:off x="755575" y="1988840"/>
          <a:ext cx="7632850" cy="3690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******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7675211"/>
                  </a:ext>
                </a:extLst>
              </a:tr>
            </a:tbl>
          </a:graphicData>
        </a:graphic>
      </p:graphicFrame>
      <p:graphicFrame>
        <p:nvGraphicFramePr>
          <p:cNvPr id="9" name="Таблица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7003685"/>
              </p:ext>
            </p:extLst>
          </p:nvPr>
        </p:nvGraphicFramePr>
        <p:xfrm>
          <a:off x="749420" y="2721709"/>
          <a:ext cx="7632850" cy="3690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5772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917466"/>
              </p:ext>
            </p:extLst>
          </p:nvPr>
        </p:nvGraphicFramePr>
        <p:xfrm>
          <a:off x="749420" y="3454577"/>
          <a:ext cx="7632850" cy="369014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2448273">
                  <a:extLst>
                    <a:ext uri="{9D8B030D-6E8A-4147-A177-3AD203B41FA5}">
                      <a16:colId xmlns:a16="http://schemas.microsoft.com/office/drawing/2014/main" val="1274083590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151673433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84614997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1526421280"/>
                    </a:ext>
                  </a:extLst>
                </a:gridCol>
                <a:gridCol w="1224137">
                  <a:extLst>
                    <a:ext uri="{9D8B030D-6E8A-4147-A177-3AD203B41FA5}">
                      <a16:colId xmlns:a16="http://schemas.microsoft.com/office/drawing/2014/main" val="1340921378"/>
                    </a:ext>
                  </a:extLst>
                </a:gridCol>
              </a:tblGrid>
              <a:tr h="369014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8908389"/>
                  </a:ext>
                </a:extLst>
              </a:tr>
            </a:tbl>
          </a:graphicData>
        </a:graphic>
      </p:graphicFrame>
      <p:sp>
        <p:nvSpPr>
          <p:cNvPr id="13" name="Скругленный прямоугольник 12"/>
          <p:cNvSpPr/>
          <p:nvPr/>
        </p:nvSpPr>
        <p:spPr>
          <a:xfrm>
            <a:off x="206356" y="1908194"/>
            <a:ext cx="8460000" cy="540000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206356" y="2628511"/>
            <a:ext cx="8460000" cy="540000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179512" y="3352257"/>
            <a:ext cx="8460000" cy="540000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6" name="Скругленный прямоугольник 15"/>
          <p:cNvSpPr/>
          <p:nvPr/>
        </p:nvSpPr>
        <p:spPr>
          <a:xfrm>
            <a:off x="3203848" y="1196751"/>
            <a:ext cx="1368152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17" name="Скругленный прямоугольник 16"/>
          <p:cNvSpPr/>
          <p:nvPr/>
        </p:nvSpPr>
        <p:spPr>
          <a:xfrm>
            <a:off x="4531673" y="1189250"/>
            <a:ext cx="1368000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Скругленный прямоугольник 18"/>
          <p:cNvSpPr/>
          <p:nvPr/>
        </p:nvSpPr>
        <p:spPr>
          <a:xfrm>
            <a:off x="5859346" y="1196751"/>
            <a:ext cx="1368000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0" name="Скругленный прямоугольник 19"/>
          <p:cNvSpPr/>
          <p:nvPr/>
        </p:nvSpPr>
        <p:spPr>
          <a:xfrm>
            <a:off x="7167297" y="1173152"/>
            <a:ext cx="1368000" cy="3420000"/>
          </a:xfrm>
          <a:prstGeom prst="roundRect">
            <a:avLst/>
          </a:prstGeom>
          <a:solidFill>
            <a:schemeClr val="accent5">
              <a:lumMod val="50000"/>
              <a:alpha val="1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ru-RU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536" y="5013176"/>
            <a:ext cx="84249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Данные нужной ячейки: 	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СтрокаКоллекцииОдин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ИмяКоллекции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</a:t>
            </a:r>
            <a:r>
              <a:rPr lang="ru-RU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Данные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СтрокаКоллекцииОдин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ru-RU" dirty="0"/>
              <a:t>Или			</a:t>
            </a:r>
            <a:r>
              <a:rPr lang="ru-RU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Данные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ru-RU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ИмяКоллекции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][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2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149054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 idx="4294967295"/>
          </p:nvPr>
        </p:nvSpPr>
        <p:spPr>
          <a:xfrm>
            <a:off x="360363" y="549275"/>
            <a:ext cx="8783637" cy="1008063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Цикл для обхода коллекций значений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type="body" idx="4294967295"/>
          </p:nvPr>
        </p:nvSpPr>
        <p:spPr>
          <a:xfrm>
            <a:off x="360363" y="1557338"/>
            <a:ext cx="8229600" cy="1905000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Для каждого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СтрокаТЧ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Из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ТЧТовары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Цикл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b="1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	</a:t>
            </a:r>
            <a:r>
              <a:rPr lang="ru-RU" sz="1800" dirty="0" err="1">
                <a:latin typeface="Courier New" pitchFamily="49" charset="0"/>
              </a:rPr>
              <a:t>СтрокаТЧ.Сумма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СтрокаТЧ.Цена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*</a:t>
            </a:r>
            <a:r>
              <a:rPr lang="ru-RU" sz="1800" dirty="0">
                <a:latin typeface="Courier New" pitchFamily="49" charset="0"/>
              </a:rPr>
              <a:t> </a:t>
            </a:r>
            <a:r>
              <a:rPr lang="ru-RU" sz="1800" dirty="0" err="1">
                <a:latin typeface="Courier New" pitchFamily="49" charset="0"/>
              </a:rPr>
              <a:t>СтрокаТЧ.Количество</a:t>
            </a:r>
            <a:r>
              <a:rPr lang="ru-RU" sz="18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b="1" dirty="0" err="1">
                <a:solidFill>
                  <a:srgbClr val="FF0000"/>
                </a:solidFill>
                <a:latin typeface="Courier New" pitchFamily="49" charset="0"/>
              </a:rPr>
              <a:t>КонецЦикла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607178"/>
              </p:ext>
            </p:extLst>
          </p:nvPr>
        </p:nvGraphicFramePr>
        <p:xfrm>
          <a:off x="2267743" y="3789039"/>
          <a:ext cx="6336705" cy="20162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6185">
                  <a:extLst>
                    <a:ext uri="{9D8B030D-6E8A-4147-A177-3AD203B41FA5}">
                      <a16:colId xmlns:a16="http://schemas.microsoft.com/office/drawing/2014/main" val="731844639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420056446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1282073890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3860790244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573663885"/>
                    </a:ext>
                  </a:extLst>
                </a:gridCol>
              </a:tblGrid>
              <a:tr h="73636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Номер строки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Товар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Количество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Цена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Сумма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8794046"/>
                  </a:ext>
                </a:extLst>
              </a:tr>
              <a:tr h="426622">
                <a:tc>
                  <a:txBody>
                    <a:bodyPr/>
                    <a:lstStyle/>
                    <a:p>
                      <a:r>
                        <a:rPr lang="ru-RU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Яблоки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2381108"/>
                  </a:ext>
                </a:extLst>
              </a:tr>
              <a:tr h="426622">
                <a:tc>
                  <a:txBody>
                    <a:bodyPr/>
                    <a:lstStyle/>
                    <a:p>
                      <a:r>
                        <a:rPr lang="ru-RU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Груши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9076153"/>
                  </a:ext>
                </a:extLst>
              </a:tr>
              <a:tr h="426622">
                <a:tc>
                  <a:txBody>
                    <a:bodyPr/>
                    <a:lstStyle/>
                    <a:p>
                      <a:r>
                        <a:rPr lang="ru-RU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Апельсины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5304344"/>
                  </a:ext>
                </a:extLst>
              </a:tr>
            </a:tbl>
          </a:graphicData>
        </a:graphic>
      </p:graphicFrame>
      <p:sp>
        <p:nvSpPr>
          <p:cNvPr id="4" name="Скругленный прямоугольник 3"/>
          <p:cNvSpPr/>
          <p:nvPr/>
        </p:nvSpPr>
        <p:spPr>
          <a:xfrm>
            <a:off x="2098230" y="3284984"/>
            <a:ext cx="6768752" cy="2736304"/>
          </a:xfrm>
          <a:prstGeom prst="roundRect">
            <a:avLst/>
          </a:prstGeom>
          <a:solidFill>
            <a:schemeClr val="accent1">
              <a:alpha val="9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 err="1">
                <a:solidFill>
                  <a:schemeClr val="tx1"/>
                </a:solidFill>
              </a:rPr>
              <a:t>ТЧТовары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360363" y="4522590"/>
            <a:ext cx="8388102" cy="435215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err="1">
                <a:solidFill>
                  <a:schemeClr val="tx1"/>
                </a:solidFill>
              </a:rPr>
              <a:t>СтрокаТЧ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347806" y="4972376"/>
            <a:ext cx="8388102" cy="435215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err="1">
                <a:solidFill>
                  <a:schemeClr val="tx1"/>
                </a:solidFill>
              </a:rPr>
              <a:t>СтрокаТЧ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347806" y="5409668"/>
            <a:ext cx="8388102" cy="435215"/>
          </a:xfrm>
          <a:prstGeom prst="roundRect">
            <a:avLst/>
          </a:prstGeom>
          <a:solidFill>
            <a:srgbClr val="C00000">
              <a:alpha val="9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err="1">
                <a:solidFill>
                  <a:schemeClr val="tx1"/>
                </a:solidFill>
              </a:rPr>
              <a:t>СтрокаТЧ</a:t>
            </a:r>
            <a:endParaRPr lang="ru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674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5" grpId="0" build="p"/>
      <p:bldP spid="4" grpId="0" animBg="1"/>
      <p:bldP spid="4" grpId="1" animBg="1"/>
      <p:bldP spid="8" grpId="0" animBg="1"/>
      <p:bldP spid="8" grpId="1" animBg="1"/>
      <p:bldP spid="9" grpId="0" animBg="1"/>
      <p:bldP spid="9" grpId="1" animBg="1"/>
      <p:bldP spid="10" grpId="0" animBg="1"/>
      <p:bldP spid="10" grpId="1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92758" y="1480405"/>
            <a:ext cx="3826768" cy="4525963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200000"/>
              </a:lnSpc>
            </a:pPr>
            <a:r>
              <a:rPr lang="ru-RU" sz="2800" dirty="0">
                <a:solidFill>
                  <a:srgbClr val="0070C0"/>
                </a:solidFill>
              </a:rPr>
              <a:t>Массив</a:t>
            </a:r>
          </a:p>
          <a:p>
            <a:pPr>
              <a:lnSpc>
                <a:spcPct val="200000"/>
              </a:lnSpc>
            </a:pPr>
            <a:r>
              <a:rPr lang="ru-RU" sz="2800" dirty="0">
                <a:solidFill>
                  <a:schemeClr val="accent3">
                    <a:lumMod val="50000"/>
                  </a:schemeClr>
                </a:solidFill>
              </a:rPr>
              <a:t>Структура</a:t>
            </a:r>
          </a:p>
          <a:p>
            <a:r>
              <a:rPr lang="ru-RU" sz="2800" dirty="0">
                <a:solidFill>
                  <a:schemeClr val="accent3">
                    <a:lumMod val="50000"/>
                  </a:schemeClr>
                </a:solidFill>
              </a:rPr>
              <a:t>Соответствие</a:t>
            </a:r>
          </a:p>
          <a:p>
            <a:pPr>
              <a:lnSpc>
                <a:spcPct val="150000"/>
              </a:lnSpc>
            </a:pPr>
            <a:r>
              <a:rPr lang="ru-RU" sz="2800" dirty="0">
                <a:solidFill>
                  <a:schemeClr val="accent6">
                    <a:lumMod val="75000"/>
                  </a:schemeClr>
                </a:solidFill>
              </a:rPr>
              <a:t>Список значений</a:t>
            </a:r>
          </a:p>
          <a:p>
            <a:pPr>
              <a:lnSpc>
                <a:spcPct val="260000"/>
              </a:lnSpc>
            </a:pPr>
            <a:r>
              <a:rPr lang="ru-RU" sz="2800" dirty="0">
                <a:solidFill>
                  <a:schemeClr val="accent4">
                    <a:lumMod val="75000"/>
                  </a:schemeClr>
                </a:solidFill>
              </a:rPr>
              <a:t>Таблица значений</a:t>
            </a:r>
          </a:p>
          <a:p>
            <a:pPr>
              <a:lnSpc>
                <a:spcPct val="260000"/>
              </a:lnSpc>
            </a:pPr>
            <a:r>
              <a:rPr lang="ru-RU" sz="2800" dirty="0">
                <a:solidFill>
                  <a:srgbClr val="C00000"/>
                </a:solidFill>
              </a:rPr>
              <a:t>Дерево значений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936104"/>
          </a:xfrm>
        </p:spPr>
        <p:txBody>
          <a:bodyPr>
            <a:noAutofit/>
          </a:bodyPr>
          <a:lstStyle/>
          <a:p>
            <a:r>
              <a:rPr lang="ru-RU" dirty="0">
                <a:solidFill>
                  <a:srgbClr val="FF0000"/>
                </a:solidFill>
              </a:rPr>
              <a:t>Универсальные коллекции значений</a:t>
            </a: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408557"/>
              </p:ext>
            </p:extLst>
          </p:nvPr>
        </p:nvGraphicFramePr>
        <p:xfrm>
          <a:off x="3707904" y="1556792"/>
          <a:ext cx="95976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82932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932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145184"/>
              </p:ext>
            </p:extLst>
          </p:nvPr>
        </p:nvGraphicFramePr>
        <p:xfrm>
          <a:off x="3707904" y="2459331"/>
          <a:ext cx="2135560" cy="86409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34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ru-RU" dirty="0"/>
                        <a:t>Ключ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415693"/>
              </p:ext>
            </p:extLst>
          </p:nvPr>
        </p:nvGraphicFramePr>
        <p:xfrm>
          <a:off x="3707904" y="3452495"/>
          <a:ext cx="5352256" cy="7416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3198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Представление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Пометка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Картинка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1553905"/>
              </p:ext>
            </p:extLst>
          </p:nvPr>
        </p:nvGraphicFramePr>
        <p:xfrm>
          <a:off x="3707904" y="4341138"/>
          <a:ext cx="4416152" cy="735856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296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77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7928">
                <a:tc>
                  <a:txBody>
                    <a:bodyPr/>
                    <a:lstStyle/>
                    <a:p>
                      <a:r>
                        <a:rPr lang="ru-RU" dirty="0"/>
                        <a:t>Колонка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</a:t>
                      </a:r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928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Таблица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429742"/>
              </p:ext>
            </p:extLst>
          </p:nvPr>
        </p:nvGraphicFramePr>
        <p:xfrm>
          <a:off x="3684053" y="5222638"/>
          <a:ext cx="5184574" cy="1008112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521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1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40146">
                <a:tc>
                  <a:txBody>
                    <a:bodyPr/>
                    <a:lstStyle/>
                    <a:p>
                      <a:r>
                        <a:rPr lang="ru-RU" dirty="0"/>
                        <a:t>Родитель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Колонка </a:t>
                      </a:r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966"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Правая фигурная скобка 8"/>
          <p:cNvSpPr/>
          <p:nvPr/>
        </p:nvSpPr>
        <p:spPr>
          <a:xfrm>
            <a:off x="3203848" y="2459331"/>
            <a:ext cx="360040" cy="936104"/>
          </a:xfrm>
          <a:prstGeom prst="rightBrac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729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Массив(</a:t>
            </a:r>
            <a:r>
              <a:rPr lang="ru-RU" sz="2400" dirty="0"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6034305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 err="1"/>
                        <a:t>Неопределено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 err="1"/>
                        <a:t>Неопределено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1467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699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Массив(</a:t>
            </a:r>
            <a:r>
              <a:rPr lang="ru-RU" sz="2400" dirty="0"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373995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 err="1"/>
                        <a:t>Неопределено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46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Массив(</a:t>
            </a:r>
            <a:r>
              <a:rPr lang="ru-RU" sz="2400" dirty="0"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495184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2020.02.14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28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Массив(</a:t>
            </a:r>
            <a:r>
              <a:rPr lang="ru-RU" sz="2400" dirty="0"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>
                <a:latin typeface="Courier New" pitchFamily="49" charset="0"/>
              </a:rPr>
              <a:t>Добавить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"Опт"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036191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2020.02.14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6776947" y="2695479"/>
          <a:ext cx="1827499" cy="40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"Опт"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1390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1196752"/>
            <a:ext cx="8534400" cy="5105400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"Обычный" массив: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2400" dirty="0">
                <a:latin typeface="Courier New" pitchFamily="49" charset="0"/>
              </a:rPr>
              <a:t>Массив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2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Истина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2400" dirty="0">
                <a:latin typeface="Courier New" pitchFamily="49" charset="0"/>
              </a:rPr>
              <a:t>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2400" dirty="0">
                <a:latin typeface="Courier New" pitchFamily="49" charset="0"/>
              </a:rPr>
              <a:t>Добавить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"Опт"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endParaRPr lang="ru-RU" sz="2400" dirty="0">
              <a:solidFill>
                <a:srgbClr val="00B05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00B050"/>
                </a:solidFill>
                <a:latin typeface="Courier New" pitchFamily="49" charset="0"/>
              </a:rPr>
              <a:t>//Чтение данных массива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Если </a:t>
            </a:r>
            <a:r>
              <a:rPr lang="ru-RU" sz="2400" dirty="0" err="1">
                <a:latin typeface="Courier New" pitchFamily="49" charset="0"/>
              </a:rPr>
              <a:t>ТекущаяДата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() &gt; </a:t>
            </a: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 Тогда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	</a:t>
            </a:r>
            <a:r>
              <a:rPr lang="ru-RU" sz="2400" dirty="0">
                <a:latin typeface="Courier New" pitchFamily="49" charset="0"/>
              </a:rPr>
              <a:t>Отказ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 = </a:t>
            </a:r>
            <a:r>
              <a:rPr lang="ru-RU" sz="2400" dirty="0">
                <a:latin typeface="Courier New" pitchFamily="49" charset="0"/>
              </a:rPr>
              <a:t>М1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sz="2400" dirty="0">
                <a:solidFill>
                  <a:schemeClr val="tx1"/>
                </a:solidFill>
                <a:latin typeface="Courier New" pitchFamily="49" charset="0"/>
              </a:rPr>
              <a:t>0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];</a:t>
            </a:r>
          </a:p>
          <a:p>
            <a:pPr>
              <a:lnSpc>
                <a:spcPct val="80000"/>
              </a:lnSpc>
              <a:buNone/>
            </a:pPr>
            <a:r>
              <a:rPr lang="ru-RU" sz="2400" dirty="0" err="1">
                <a:solidFill>
                  <a:srgbClr val="FF0000"/>
                </a:solidFill>
                <a:latin typeface="Courier New" pitchFamily="49" charset="0"/>
              </a:rPr>
              <a:t>КонецЕсли</a:t>
            </a:r>
            <a:r>
              <a:rPr lang="ru-RU" sz="24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2400" dirty="0">
              <a:latin typeface="Courier New" pitchFamily="49" charset="0"/>
            </a:endParaRPr>
          </a:p>
        </p:txBody>
      </p: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84194"/>
            <a:ext cx="8784976" cy="863606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Массив</a:t>
            </a:r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363861"/>
              </p:ext>
            </p:extLst>
          </p:nvPr>
        </p:nvGraphicFramePr>
        <p:xfrm>
          <a:off x="6776948" y="1898583"/>
          <a:ext cx="1827499" cy="8103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168">
                <a:tc>
                  <a:txBody>
                    <a:bodyPr/>
                    <a:lstStyle/>
                    <a:p>
                      <a:r>
                        <a:rPr lang="ru-RU" dirty="0"/>
                        <a:t>2020.02.14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Таблица 9"/>
          <p:cNvGraphicFramePr>
            <a:graphicFrameLocks noGrp="1"/>
          </p:cNvGraphicFramePr>
          <p:nvPr/>
        </p:nvGraphicFramePr>
        <p:xfrm>
          <a:off x="6776947" y="2695479"/>
          <a:ext cx="1827499" cy="40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7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05168">
                <a:tc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tx1"/>
                          </a:solidFill>
                          <a:latin typeface="Courier New" pitchFamily="49" charset="0"/>
                        </a:rPr>
                        <a:t>"Опт"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1645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5525398"/>
              </p:ext>
            </p:extLst>
          </p:nvPr>
        </p:nvGraphicFramePr>
        <p:xfrm>
          <a:off x="1979712" y="1215173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2314456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2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104"/>
          <p:cNvGraphicFramePr>
            <a:graphicFrameLocks noGrp="1"/>
          </p:cNvGraphicFramePr>
          <p:nvPr/>
        </p:nvGraphicFramePr>
        <p:xfrm>
          <a:off x="1979712" y="1215173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  <p:graphicFrame>
        <p:nvGraphicFramePr>
          <p:cNvPr id="5" name="Group 104"/>
          <p:cNvGraphicFramePr>
            <a:graphicFrameLocks noGrp="1"/>
          </p:cNvGraphicFramePr>
          <p:nvPr/>
        </p:nvGraphicFramePr>
        <p:xfrm>
          <a:off x="1979712" y="1647221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4337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Group 104"/>
          <p:cNvGraphicFramePr>
            <a:graphicFrameLocks noGrp="1"/>
          </p:cNvGraphicFramePr>
          <p:nvPr/>
        </p:nvGraphicFramePr>
        <p:xfrm>
          <a:off x="1979712" y="1215173"/>
          <a:ext cx="4733925" cy="4318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  <p:graphicFrame>
        <p:nvGraphicFramePr>
          <p:cNvPr id="6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5676631"/>
              </p:ext>
            </p:extLst>
          </p:nvPr>
        </p:nvGraphicFramePr>
        <p:xfrm>
          <a:off x="1979711" y="1646973"/>
          <a:ext cx="4733925" cy="863600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.06.20</a:t>
                      </a:r>
                      <a:r>
                        <a:rPr kumimoji="0" 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8818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4187150"/>
              </p:ext>
            </p:extLst>
          </p:nvPr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0199340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836294"/>
              </p:ext>
            </p:extLst>
          </p:nvPr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Ложь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Ложь); 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//Повтор ключа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1853873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8077006"/>
              </p:ext>
            </p:extLst>
          </p:nvPr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2004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Ложь); 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//Повтор ключа</a:t>
            </a: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4009562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824" name="Group 104"/>
          <p:cNvGraphicFramePr>
            <a:graphicFrameLocks noGrp="1"/>
          </p:cNvGraphicFramePr>
          <p:nvPr/>
        </p:nvGraphicFramePr>
        <p:xfrm>
          <a:off x="1979711" y="1215173"/>
          <a:ext cx="4733925" cy="1710411"/>
        </p:xfrm>
        <a:graphic>
          <a:graphicData uri="http://schemas.openxmlformats.org/drawingml/2006/table">
            <a:tbl>
              <a:tblPr/>
              <a:tblGrid>
                <a:gridCol w="2366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69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Ключ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Значение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ВыводитьНомераСтраниц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Истина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ДатаОтчета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31.10.2015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011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ЗаголовокОтчета</a:t>
                      </a: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"Анализ продаж"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2996952"/>
            <a:ext cx="8534400" cy="3528392"/>
          </a:xfrm>
        </p:spPr>
        <p:txBody>
          <a:bodyPr>
            <a:norm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2000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структуры: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200" b="1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Параметры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Структура;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"Анализ продаж"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ДатаОтчета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Дата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latin typeface="Courier New" pitchFamily="49" charset="0"/>
              </a:rPr>
              <a:t>20</a:t>
            </a:r>
            <a:r>
              <a:rPr lang="en-US" sz="1600" dirty="0">
                <a:latin typeface="Courier New" pitchFamily="49" charset="0"/>
              </a:rPr>
              <a:t>1</a:t>
            </a:r>
            <a:r>
              <a:rPr lang="ru-RU" sz="1600" dirty="0">
                <a:latin typeface="Courier New" pitchFamily="49" charset="0"/>
              </a:rPr>
              <a:t>8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6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2</a:t>
            </a:r>
            <a:r>
              <a:rPr lang="en-US" sz="1600" dirty="0">
                <a:latin typeface="Courier New" pitchFamily="49" charset="0"/>
              </a:rPr>
              <a:t>3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Вставить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Ложь);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Истина;</a:t>
            </a:r>
          </a:p>
          <a:p>
            <a:pPr>
              <a:lnSpc>
                <a:spcPct val="80000"/>
              </a:lnSpc>
              <a:buNone/>
            </a:pPr>
            <a:endParaRPr lang="ru-RU" sz="2000" u="sng" dirty="0">
              <a:solidFill>
                <a:schemeClr val="tx1">
                  <a:lumMod val="75000"/>
                  <a:lumOff val="25000"/>
                </a:schemeClr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2000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Чтение данных из структуры:</a:t>
            </a:r>
          </a:p>
          <a:p>
            <a:pPr>
              <a:lnSpc>
                <a:spcPct val="80000"/>
              </a:lnSpc>
              <a:buNone/>
            </a:pPr>
            <a:endParaRPr lang="ru-RU" sz="1200" i="1" u="sng" dirty="0">
              <a:solidFill>
                <a:schemeClr val="accent2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None/>
            </a:pPr>
            <a:r>
              <a:rPr lang="ru-RU" sz="1600" dirty="0">
                <a:latin typeface="Courier New" pitchFamily="49" charset="0"/>
              </a:rPr>
              <a:t>Заголовок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ЗаголовокОтчета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 " Анализ продаж"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ДатаАктуальности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Параметры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ВыводитьНомераСтраниц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  <a:r>
              <a:rPr lang="ru-RU" sz="1600" dirty="0">
                <a:solidFill>
                  <a:srgbClr val="00B050"/>
                </a:solidFill>
                <a:latin typeface="Courier New" pitchFamily="49" charset="0"/>
              </a:rPr>
              <a:t>//Истина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>
                <a:latin typeface="Courier New" pitchFamily="49" charset="0"/>
              </a:rPr>
              <a:t>...</a:t>
            </a:r>
          </a:p>
          <a:p>
            <a:pPr>
              <a:lnSpc>
                <a:spcPct val="80000"/>
              </a:lnSpc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179512" y="548680"/>
            <a:ext cx="8784976" cy="67052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Структура</a:t>
            </a:r>
          </a:p>
        </p:txBody>
      </p:sp>
    </p:spTree>
    <p:extLst>
      <p:ext uri="{BB962C8B-B14F-4D97-AF65-F5344CB8AC3E}">
        <p14:creationId xmlns:p14="http://schemas.microsoft.com/office/powerpoint/2010/main" val="35105596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</p:spTree>
    <p:extLst>
      <p:ext uri="{BB962C8B-B14F-4D97-AF65-F5344CB8AC3E}">
        <p14:creationId xmlns:p14="http://schemas.microsoft.com/office/powerpoint/2010/main" val="93816373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395536" y="3789040"/>
            <a:ext cx="5147563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921122"/>
              </p:ext>
            </p:extLst>
          </p:nvPr>
        </p:nvGraphicFramePr>
        <p:xfrm>
          <a:off x="1187624" y="1484784"/>
          <a:ext cx="6365138" cy="31496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</a:tbl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3666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8525667"/>
              </p:ext>
            </p:extLst>
          </p:nvPr>
        </p:nvGraphicFramePr>
        <p:xfrm>
          <a:off x="1187624" y="1484784"/>
          <a:ext cx="6365138" cy="62992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err="1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</a:tbl>
          </a:graphicData>
        </a:graphic>
      </p:graphicFrame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673867"/>
              </p:ext>
            </p:extLst>
          </p:nvPr>
        </p:nvGraphicFramePr>
        <p:xfrm>
          <a:off x="1187624" y="1484784"/>
          <a:ext cx="6365138" cy="31496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</a:tbl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395536" y="3789040"/>
            <a:ext cx="8042586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395536" y="3789040"/>
            <a:ext cx="5147563" cy="3139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21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3446384"/>
              </p:ext>
            </p:extLst>
          </p:nvPr>
        </p:nvGraphicFramePr>
        <p:xfrm>
          <a:off x="1187624" y="1484784"/>
          <a:ext cx="6365138" cy="62992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</a:tbl>
          </a:graphicData>
        </a:graphic>
      </p:graphicFrame>
      <p:sp>
        <p:nvSpPr>
          <p:cNvPr id="8" name="Прямоугольник 7"/>
          <p:cNvSpPr/>
          <p:nvPr/>
        </p:nvSpPr>
        <p:spPr>
          <a:xfrm>
            <a:off x="395536" y="3789040"/>
            <a:ext cx="8262198" cy="164352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Подразделение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Структурная</a:t>
            </a:r>
            <a:r>
              <a:rPr lang="ru-RU" dirty="0">
                <a:latin typeface="Verdana" panose="020B0604030504040204" pitchFamily="34" charset="0"/>
              </a:rPr>
              <a:t>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единица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395536" y="3789040"/>
            <a:ext cx="8042586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3386152"/>
              </p:ext>
            </p:extLst>
          </p:nvPr>
        </p:nvGraphicFramePr>
        <p:xfrm>
          <a:off x="1187624" y="1484784"/>
          <a:ext cx="6365138" cy="94488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</a:tbl>
          </a:graphicData>
        </a:graphic>
      </p:graphicFrame>
      <p:sp>
        <p:nvSpPr>
          <p:cNvPr id="11" name="Прямоугольник 10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6314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395536" y="3789040"/>
            <a:ext cx="8343951" cy="186512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Подразделение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Структурная</a:t>
            </a:r>
            <a:r>
              <a:rPr lang="ru-RU" dirty="0">
                <a:latin typeface="Verdana" panose="020B0604030504040204" pitchFamily="34" charset="0"/>
              </a:rPr>
              <a:t>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единица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Должность","Должность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395536" y="3789040"/>
            <a:ext cx="8262198" cy="164352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dirty="0">
                <a:latin typeface="Courier New" pitchFamily="49" charset="0"/>
              </a:rPr>
              <a:t> 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СписокЗначений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"Физическое лицо"</a:t>
            </a:r>
            <a:r>
              <a:rPr lang="ru-RU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Добавить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Подразделение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solidFill>
                  <a:srgbClr val="FF0000"/>
                </a:solidFill>
                <a:latin typeface="Courier New" pitchFamily="49" charset="0"/>
              </a:rPr>
              <a:t>,</a:t>
            </a:r>
            <a:r>
              <a:rPr lang="ru-RU" dirty="0" err="1">
                <a:latin typeface="Courier New" pitchFamily="49" charset="0"/>
              </a:rPr>
              <a:t>"</a:t>
            </a:r>
            <a:r>
              <a:rPr lang="ru-RU" dirty="0" err="1">
                <a:latin typeface="Courier New" panose="02070309020205020404" pitchFamily="49" charset="0"/>
                <a:cs typeface="Courier New" panose="02070309020205020404" pitchFamily="49" charset="0"/>
              </a:rPr>
              <a:t>Структурная</a:t>
            </a:r>
            <a:r>
              <a:rPr lang="ru-RU" dirty="0">
                <a:latin typeface="Verdana" panose="020B0604030504040204" pitchFamily="34" charset="0"/>
              </a:rPr>
              <a:t>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единица</a:t>
            </a:r>
            <a:r>
              <a:rPr lang="ru-RU" dirty="0">
                <a:latin typeface="Courier New" pitchFamily="49" charset="0"/>
              </a:rPr>
              <a:t>"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rgbClr val="FF0000"/>
              </a:solidFill>
              <a:latin typeface="Courier New" pitchFamily="49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2713140"/>
              </p:ext>
            </p:extLst>
          </p:nvPr>
        </p:nvGraphicFramePr>
        <p:xfrm>
          <a:off x="1187624" y="1484784"/>
          <a:ext cx="6365138" cy="94488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 err="1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  <a:endParaRPr lang="ru-RU" sz="1400" dirty="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021776"/>
              </p:ext>
            </p:extLst>
          </p:nvPr>
        </p:nvGraphicFramePr>
        <p:xfrm>
          <a:off x="1187624" y="1484784"/>
          <a:ext cx="6365138" cy="125984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32796"/>
                  </a:ext>
                </a:extLst>
              </a:tr>
            </a:tbl>
          </a:graphicData>
        </a:graphic>
      </p:graphicFrame>
      <p:sp>
        <p:nvSpPr>
          <p:cNvPr id="2" name="Прямоугольник 1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Создание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14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Список значений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77668" y="3645024"/>
            <a:ext cx="6939720" cy="14219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80000"/>
              </a:lnSpc>
              <a:buFontTx/>
              <a:buNone/>
            </a:pPr>
            <a:endParaRPr lang="ru-RU" dirty="0">
              <a:solidFill>
                <a:schemeClr val="tx1">
                  <a:lumMod val="50000"/>
                  <a:lumOff val="50000"/>
                </a:schemeClr>
              </a:solidFill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ИмяПоляФильтра</a:t>
            </a:r>
            <a:r>
              <a:rPr lang="ru-RU" dirty="0">
                <a:solidFill>
                  <a:srgbClr val="FF0000"/>
                </a:solidFill>
                <a:latin typeface="Courier New" pitchFamily="49" charset="0"/>
              </a:rPr>
              <a:t> = </a:t>
            </a:r>
            <a:r>
              <a:rPr lang="ru-RU" b="1" dirty="0" err="1">
                <a:solidFill>
                  <a:schemeClr val="tx2"/>
                </a:solidFill>
                <a:latin typeface="Courier New" pitchFamily="49" charset="0"/>
              </a:rPr>
              <a:t>ИменаПолей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[</a:t>
            </a:r>
            <a:r>
              <a:rPr lang="ru-RU" b="1" dirty="0">
                <a:solidFill>
                  <a:schemeClr val="tx2"/>
                </a:solidFill>
                <a:latin typeface="Courier New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].</a:t>
            </a:r>
            <a:r>
              <a:rPr lang="ru-RU" b="1" dirty="0">
                <a:solidFill>
                  <a:schemeClr val="tx2"/>
                </a:solidFill>
                <a:latin typeface="Courier New" pitchFamily="49" charset="0"/>
              </a:rPr>
              <a:t>Значение</a:t>
            </a: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b="1" dirty="0">
                <a:solidFill>
                  <a:srgbClr val="FF0000"/>
                </a:solidFill>
                <a:latin typeface="Courier New" pitchFamily="49" charset="0"/>
              </a:rPr>
              <a:t>				 </a:t>
            </a:r>
            <a:r>
              <a:rPr lang="ru-RU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//"</a:t>
            </a:r>
            <a:r>
              <a:rPr lang="ru-RU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ФизическоеЛицо</a:t>
            </a:r>
            <a:r>
              <a:rPr lang="ru-RU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80000"/>
              </a:lnSpc>
            </a:pPr>
            <a:r>
              <a:rPr lang="ru-RU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СинонимПоляФильтра</a:t>
            </a:r>
            <a:r>
              <a:rPr lang="ru-RU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ru-RU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ИменаПолей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ru-RU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].</a:t>
            </a:r>
            <a:r>
              <a:rPr lang="ru-RU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Представление</a:t>
            </a: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pPr>
              <a:lnSpc>
                <a:spcPct val="80000"/>
              </a:lnSpc>
            </a:pPr>
            <a:r>
              <a:rPr lang="ru-RU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	</a:t>
            </a:r>
            <a:r>
              <a:rPr lang="ru-RU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//"Физическое лицо"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7946143"/>
              </p:ext>
            </p:extLst>
          </p:nvPr>
        </p:nvGraphicFramePr>
        <p:xfrm>
          <a:off x="1187624" y="1484784"/>
          <a:ext cx="6365138" cy="1259840"/>
        </p:xfrm>
        <a:graphic>
          <a:graphicData uri="http://schemas.openxmlformats.org/drawingml/2006/table">
            <a:tbl>
              <a:tblPr/>
              <a:tblGrid>
                <a:gridCol w="1778508">
                  <a:extLst>
                    <a:ext uri="{9D8B030D-6E8A-4147-A177-3AD203B41FA5}">
                      <a16:colId xmlns:a16="http://schemas.microsoft.com/office/drawing/2014/main" val="1871565350"/>
                    </a:ext>
                  </a:extLst>
                </a:gridCol>
                <a:gridCol w="2387498">
                  <a:extLst>
                    <a:ext uri="{9D8B030D-6E8A-4147-A177-3AD203B41FA5}">
                      <a16:colId xmlns:a16="http://schemas.microsoft.com/office/drawing/2014/main" val="3042495300"/>
                    </a:ext>
                  </a:extLst>
                </a:gridCol>
                <a:gridCol w="1088136">
                  <a:extLst>
                    <a:ext uri="{9D8B030D-6E8A-4147-A177-3AD203B41FA5}">
                      <a16:colId xmlns:a16="http://schemas.microsoft.com/office/drawing/2014/main" val="1159063103"/>
                    </a:ext>
                  </a:extLst>
                </a:gridCol>
                <a:gridCol w="1110996">
                  <a:extLst>
                    <a:ext uri="{9D8B030D-6E8A-4147-A177-3AD203B41FA5}">
                      <a16:colId xmlns:a16="http://schemas.microsoft.com/office/drawing/2014/main" val="29699342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Значение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Представление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Пометка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Verdana" panose="020B0604030504040204" pitchFamily="34" charset="0"/>
                        </a:rPr>
                        <a:t>Картинка</a:t>
                      </a:r>
                      <a:endParaRPr lang="ru-RU" sz="1400">
                        <a:effectLst/>
                        <a:latin typeface="Verdana" panose="020B060403050404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146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ФизическоеЛицо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Физическое лицо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7372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Подразделение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Структурная единица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90997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Должность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Verdana" panose="020B0604030504040204" pitchFamily="34" charset="0"/>
                        </a:rPr>
                        <a:t>Ложь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Verdana" panose="020B060403050404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32796"/>
                  </a:ext>
                </a:extLst>
              </a:tr>
            </a:tbl>
          </a:graphicData>
        </a:graphic>
      </p:graphicFrame>
      <p:sp>
        <p:nvSpPr>
          <p:cNvPr id="9" name="Прямоугольник 8"/>
          <p:cNvSpPr/>
          <p:nvPr/>
        </p:nvSpPr>
        <p:spPr>
          <a:xfrm>
            <a:off x="395536" y="3108049"/>
            <a:ext cx="4572000" cy="535531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80000"/>
              </a:lnSpc>
            </a:pPr>
            <a:r>
              <a:rPr lang="ru-RU" b="1" u="sng" dirty="0">
                <a:solidFill>
                  <a:schemeClr val="tx1">
                    <a:lumMod val="75000"/>
                    <a:lumOff val="25000"/>
                  </a:schemeClr>
                </a:solidFill>
                <a:latin typeface="Courier New" pitchFamily="49" charset="0"/>
              </a:rPr>
              <a:t>Чтение из списка значений: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b="1" dirty="0">
              <a:solidFill>
                <a:schemeClr val="tx2"/>
              </a:solidFill>
              <a:latin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91964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</p:spTree>
    <p:extLst>
      <p:ext uri="{BB962C8B-B14F-4D97-AF65-F5344CB8AC3E}">
        <p14:creationId xmlns:p14="http://schemas.microsoft.com/office/powerpoint/2010/main" val="3144866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27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3138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61799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5650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9724620"/>
              </p:ext>
            </p:extLst>
          </p:nvPr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6661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4938194"/>
              </p:ext>
            </p:extLst>
          </p:nvPr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0582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КоличествоСтрок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500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4443702"/>
              </p:ext>
            </p:extLst>
          </p:nvPr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500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6897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КоличествоСтрок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500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ГруппаТоваров</a:t>
            </a:r>
            <a:r>
              <a:rPr lang="ru-RU" sz="1600" dirty="0">
                <a:latin typeface="Courier New" pitchFamily="49" charset="0"/>
              </a:rPr>
              <a:t>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000" dirty="0" err="1">
                <a:latin typeface="Courier New" pitchFamily="49" charset="0"/>
              </a:rPr>
              <a:t>Справочники.Номенклатура.НайтиПоНаименованию</a:t>
            </a:r>
            <a:r>
              <a:rPr lang="ru-RU" sz="1000" dirty="0">
                <a:latin typeface="Courier New" pitchFamily="49" charset="0"/>
              </a:rPr>
              <a:t>(</a:t>
            </a:r>
            <a:r>
              <a:rPr lang="ru-RU" sz="1000" dirty="0">
                <a:solidFill>
                  <a:schemeClr val="tx1"/>
                </a:solidFill>
                <a:latin typeface="Courier New" pitchFamily="49" charset="0"/>
              </a:rPr>
              <a:t>"Лето"</a:t>
            </a:r>
            <a:r>
              <a:rPr lang="ru-RU" sz="1000" dirty="0">
                <a:latin typeface="Courier New" pitchFamily="49" charset="0"/>
              </a:rPr>
              <a:t>)</a:t>
            </a:r>
            <a:r>
              <a:rPr lang="ru-RU" sz="10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1" name="Group 282"/>
          <p:cNvGraphicFramePr>
            <a:graphicFrameLocks noGrp="1"/>
          </p:cNvGraphicFramePr>
          <p:nvPr/>
        </p:nvGraphicFramePr>
        <p:xfrm>
          <a:off x="783158" y="1124310"/>
          <a:ext cx="7461250" cy="863848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500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Лето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50205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304800" y="3140968"/>
            <a:ext cx="8534400" cy="2971800"/>
          </a:xfrm>
        </p:spPr>
        <p:txBody>
          <a:bodyPr/>
          <a:lstStyle/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b="1" dirty="0">
                <a:solidFill>
                  <a:srgbClr val="FF0000"/>
                </a:solidFill>
                <a:latin typeface="Courier New" pitchFamily="49" charset="0"/>
              </a:rPr>
              <a:t>Новый 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ТаблицаЗначений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ИмяФайла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КоличествоСтрок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ТЗЦены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Колонки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ГруппаТоваров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);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6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 err="1">
                <a:latin typeface="Courier New" pitchFamily="49" charset="0"/>
              </a:rPr>
              <a:t>ТЗЦены.Добавить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();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ИмяФайла</a:t>
            </a:r>
            <a:r>
              <a:rPr lang="ru-RU" sz="1600" dirty="0">
                <a:latin typeface="Courier New" pitchFamily="49" charset="0"/>
              </a:rPr>
              <a:t>     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"Прайс ОАО "Лето"".</a:t>
            </a:r>
            <a:r>
              <a:rPr lang="ru-RU" sz="1600" dirty="0" err="1">
                <a:solidFill>
                  <a:schemeClr val="tx1"/>
                </a:solidFill>
                <a:latin typeface="Courier New" pitchFamily="49" charset="0"/>
              </a:rPr>
              <a:t>xls</a:t>
            </a:r>
            <a:r>
              <a:rPr lang="ru-RU" sz="1600" dirty="0">
                <a:solidFill>
                  <a:schemeClr val="tx1"/>
                </a:solidFill>
                <a:latin typeface="Courier New" pitchFamily="49" charset="0"/>
              </a:rPr>
              <a:t>"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КоличествоСтрок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500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None/>
            </a:pPr>
            <a:r>
              <a:rPr lang="ru-RU" sz="1600" dirty="0" err="1">
                <a:latin typeface="Courier New" pitchFamily="49" charset="0"/>
              </a:rPr>
              <a:t>ПерваяСтрока</a:t>
            </a:r>
            <a:r>
              <a:rPr lang="ru-RU" sz="1600" dirty="0" err="1">
                <a:solidFill>
                  <a:srgbClr val="FF0000"/>
                </a:solidFill>
                <a:latin typeface="Courier New" pitchFamily="49" charset="0"/>
              </a:rPr>
              <a:t>.</a:t>
            </a:r>
            <a:r>
              <a:rPr lang="ru-RU" sz="1600" dirty="0" err="1">
                <a:latin typeface="Courier New" pitchFamily="49" charset="0"/>
              </a:rPr>
              <a:t>ГруппаТоваров</a:t>
            </a:r>
            <a:r>
              <a:rPr lang="ru-RU" sz="1600" dirty="0">
                <a:latin typeface="Courier New" pitchFamily="49" charset="0"/>
              </a:rPr>
              <a:t>   </a:t>
            </a:r>
            <a:r>
              <a:rPr lang="ru-RU" sz="1600" dirty="0">
                <a:solidFill>
                  <a:srgbClr val="FF0000"/>
                </a:solidFill>
                <a:latin typeface="Courier New" pitchFamily="49" charset="0"/>
              </a:rPr>
              <a:t>=</a:t>
            </a:r>
            <a:r>
              <a:rPr lang="ru-RU" sz="1600" dirty="0">
                <a:latin typeface="Courier New" pitchFamily="49" charset="0"/>
              </a:rPr>
              <a:t> </a:t>
            </a:r>
            <a:r>
              <a:rPr lang="ru-RU" sz="1000" dirty="0" err="1">
                <a:latin typeface="Courier New" pitchFamily="49" charset="0"/>
              </a:rPr>
              <a:t>Справочники.Номенклатура.НайтиПоНаименованию</a:t>
            </a:r>
            <a:r>
              <a:rPr lang="ru-RU" sz="1000" dirty="0">
                <a:latin typeface="Courier New" pitchFamily="49" charset="0"/>
              </a:rPr>
              <a:t>(</a:t>
            </a:r>
            <a:r>
              <a:rPr lang="ru-RU" sz="1000" dirty="0">
                <a:solidFill>
                  <a:schemeClr val="tx1"/>
                </a:solidFill>
                <a:latin typeface="Courier New" pitchFamily="49" charset="0"/>
              </a:rPr>
              <a:t>"Лето"</a:t>
            </a:r>
            <a:r>
              <a:rPr lang="ru-RU" sz="1000" dirty="0">
                <a:latin typeface="Courier New" pitchFamily="49" charset="0"/>
              </a:rPr>
              <a:t>)</a:t>
            </a:r>
            <a:r>
              <a:rPr lang="ru-RU" sz="1000" dirty="0">
                <a:solidFill>
                  <a:srgbClr val="FF0000"/>
                </a:solidFill>
                <a:latin typeface="Courier New" pitchFamily="49" charset="0"/>
              </a:rPr>
              <a:t>;</a:t>
            </a:r>
          </a:p>
          <a:p>
            <a:pPr>
              <a:lnSpc>
                <a:spcPct val="80000"/>
              </a:lnSpc>
              <a:buFontTx/>
              <a:buNone/>
            </a:pPr>
            <a:endParaRPr lang="ru-RU" sz="1000" dirty="0">
              <a:latin typeface="Courier New" pitchFamily="49" charset="0"/>
            </a:endParaRPr>
          </a:p>
          <a:p>
            <a:pPr>
              <a:lnSpc>
                <a:spcPct val="80000"/>
              </a:lnSpc>
              <a:buFontTx/>
              <a:buNone/>
            </a:pPr>
            <a:r>
              <a:rPr lang="ru-RU" sz="1600" dirty="0">
                <a:latin typeface="Courier New" pitchFamily="49" charset="0"/>
              </a:rPr>
              <a:t>...</a:t>
            </a:r>
          </a:p>
        </p:txBody>
      </p:sp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28600"/>
            <a:ext cx="8229600" cy="990600"/>
          </a:xfrm>
        </p:spPr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Таблица значений</a:t>
            </a:r>
          </a:p>
        </p:txBody>
      </p:sp>
      <p:graphicFrame>
        <p:nvGraphicFramePr>
          <p:cNvPr id="6" name="Group 282"/>
          <p:cNvGraphicFramePr>
            <a:graphicFrameLocks noGrp="1"/>
          </p:cNvGraphicFramePr>
          <p:nvPr/>
        </p:nvGraphicFramePr>
        <p:xfrm>
          <a:off x="783158" y="1124744"/>
          <a:ext cx="29257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7" name="Group 282"/>
          <p:cNvGraphicFramePr>
            <a:graphicFrameLocks noGrp="1"/>
          </p:cNvGraphicFramePr>
          <p:nvPr/>
        </p:nvGraphicFramePr>
        <p:xfrm>
          <a:off x="783158" y="1124744"/>
          <a:ext cx="4868862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Group 282"/>
          <p:cNvGraphicFramePr>
            <a:graphicFrameLocks noGrp="1"/>
          </p:cNvGraphicFramePr>
          <p:nvPr/>
        </p:nvGraphicFramePr>
        <p:xfrm>
          <a:off x="783158" y="1124744"/>
          <a:ext cx="7461250" cy="4318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" name="Group 28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008444"/>
              </p:ext>
            </p:extLst>
          </p:nvPr>
        </p:nvGraphicFramePr>
        <p:xfrm>
          <a:off x="783158" y="1115616"/>
          <a:ext cx="7461250" cy="1727200"/>
        </p:xfrm>
        <a:graphic>
          <a:graphicData uri="http://schemas.openxmlformats.org/drawingml/2006/table">
            <a:tbl>
              <a:tblPr/>
              <a:tblGrid>
                <a:gridCol w="29257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23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ИмяФайла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КоличествоСтрок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ГруппаТоваров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0C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Прайс ОАО "Лето".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500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Лето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Список товаров ЗАО "Юг".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357</a:t>
                      </a:r>
                      <a:endParaRPr kumimoji="0" lang="ru-RU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Юг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8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Цены ООО "Лукойл".</a:t>
                      </a:r>
                      <a:r>
                        <a:rPr kumimoji="0" lang="ru-RU" sz="14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xls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70 611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0" marR="360000" marT="0" marB="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ru-RU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Лукойл</a:t>
                      </a:r>
                      <a:endParaRPr kumimoji="0" lang="ru-RU" sz="1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charset="0"/>
                      </a:endParaRPr>
                    </a:p>
                  </a:txBody>
                  <a:tcPr marL="360000" marR="90000" marT="46800" marB="468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6189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1680" y="1628800"/>
            <a:ext cx="3162951" cy="40324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Общая форма</a:t>
            </a:r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1818909" y="4941168"/>
            <a:ext cx="3057550" cy="504056"/>
          </a:xfrm>
          <a:prstGeom prst="roundRect">
            <a:avLst/>
          </a:prstGeom>
          <a:noFill/>
          <a:ln w="381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4873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6" presetClass="emph" presetSubtype="0" repeatCount="3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" dur="10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5" dur="5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5" grpId="1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открытии формы сообщить текущую дату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Задача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2150" y="2780928"/>
            <a:ext cx="5219700" cy="315277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025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7" y="1628800"/>
            <a:ext cx="8277225" cy="2143125"/>
          </a:xfrm>
          <a:prstGeom prst="rect">
            <a:avLst/>
          </a:prstGeom>
        </p:spPr>
      </p:pic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solidFill>
                  <a:srgbClr val="FF0000"/>
                </a:solidFill>
              </a:rPr>
              <a:t>Разбор ФИО</a:t>
            </a:r>
          </a:p>
        </p:txBody>
      </p:sp>
      <p:sp>
        <p:nvSpPr>
          <p:cNvPr id="5" name="Правая фигурная скобка 4"/>
          <p:cNvSpPr/>
          <p:nvPr/>
        </p:nvSpPr>
        <p:spPr>
          <a:xfrm>
            <a:off x="3566756" y="2832230"/>
            <a:ext cx="288032" cy="864096"/>
          </a:xfrm>
          <a:prstGeom prst="rightBrace">
            <a:avLst/>
          </a:prstGeom>
          <a:ln w="3810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углом 5"/>
          <p:cNvSpPr/>
          <p:nvPr/>
        </p:nvSpPr>
        <p:spPr>
          <a:xfrm rot="5400000" flipH="1">
            <a:off x="3840141" y="2856158"/>
            <a:ext cx="720080" cy="552506"/>
          </a:xfrm>
          <a:prstGeom prst="ben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Стрелка углом 8"/>
          <p:cNvSpPr/>
          <p:nvPr/>
        </p:nvSpPr>
        <p:spPr>
          <a:xfrm rot="10800000">
            <a:off x="4936000" y="2772371"/>
            <a:ext cx="1004152" cy="864096"/>
          </a:xfrm>
          <a:prstGeom prst="bentArrow">
            <a:avLst>
              <a:gd name="adj1" fmla="val 13972"/>
              <a:gd name="adj2" fmla="val 13972"/>
              <a:gd name="adj3" fmla="val 16729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978290" y="2947745"/>
            <a:ext cx="55117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ru-RU" dirty="0"/>
              <a:t>ДЗ</a:t>
            </a:r>
          </a:p>
        </p:txBody>
      </p:sp>
    </p:spTree>
    <p:extLst>
      <p:ext uri="{BB962C8B-B14F-4D97-AF65-F5344CB8AC3E}">
        <p14:creationId xmlns:p14="http://schemas.microsoft.com/office/powerpoint/2010/main" val="489549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7" grpId="0" animBg="1"/>
    </p:bldLst>
  </p:timing>
</p:sld>
</file>

<file path=ppt/theme/theme1.xml><?xml version="1.0" encoding="utf-8"?>
<a:theme xmlns:a="http://schemas.openxmlformats.org/drawingml/2006/main" name="СофтБаланс1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1" id="{544E1D70-FC81-461C-8A2C-95A7C0C1033B}" vid="{EC467584-E60C-463F-AF8D-1AD37B3FD37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</Template>
  <TotalTime>6631</TotalTime>
  <Words>3196</Words>
  <Application>Microsoft Office PowerPoint</Application>
  <PresentationFormat>Экран (4:3)</PresentationFormat>
  <Paragraphs>1016</Paragraphs>
  <Slides>81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81</vt:i4>
      </vt:variant>
    </vt:vector>
  </HeadingPairs>
  <TitlesOfParts>
    <vt:vector size="90" baseType="lpstr">
      <vt:lpstr>Arial</vt:lpstr>
      <vt:lpstr>Arial Black</vt:lpstr>
      <vt:lpstr>Calibri</vt:lpstr>
      <vt:lpstr>Courier New</vt:lpstr>
      <vt:lpstr>Tahoma</vt:lpstr>
      <vt:lpstr>Times New Roman</vt:lpstr>
      <vt:lpstr>Verdana</vt:lpstr>
      <vt:lpstr>Wingdings</vt:lpstr>
      <vt:lpstr>СофтБаланс1</vt:lpstr>
      <vt:lpstr>Занятие 3</vt:lpstr>
      <vt:lpstr>Презентация PowerPoint</vt:lpstr>
      <vt:lpstr>Презентация PowerPoint</vt:lpstr>
      <vt:lpstr>Презентация PowerPoint</vt:lpstr>
      <vt:lpstr>Презентация PowerPoint</vt:lpstr>
      <vt:lpstr>Встроенный программный язык</vt:lpstr>
      <vt:lpstr>Модуль</vt:lpstr>
      <vt:lpstr>Виды программных модулей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Особенность встроенного программного языка</vt:lpstr>
      <vt:lpstr>Что располагается в модуле</vt:lpstr>
      <vt:lpstr>Операторы</vt:lpstr>
      <vt:lpstr>Операторы - синтаксис</vt:lpstr>
      <vt:lpstr>Объявление переменных</vt:lpstr>
      <vt:lpstr>Hello, World !</vt:lpstr>
      <vt:lpstr>Презентация PowerPoint</vt:lpstr>
      <vt:lpstr>Процедуры и функции</vt:lpstr>
      <vt:lpstr>Описание процедур и функций</vt:lpstr>
      <vt:lpstr>Структура модуля</vt:lpstr>
      <vt:lpstr>Структура модуля</vt:lpstr>
      <vt:lpstr>Структура модуля</vt:lpstr>
      <vt:lpstr>Не все процедуры одинаковы</vt:lpstr>
      <vt:lpstr>Событийно-зависимая ориентация встроенного языка</vt:lpstr>
      <vt:lpstr>Программная работа с данными примитивного типа</vt:lpstr>
      <vt:lpstr>Примитивные типы: Булево</vt:lpstr>
      <vt:lpstr>Примитивные типы: Число</vt:lpstr>
      <vt:lpstr>Примитивные типы: Строка</vt:lpstr>
      <vt:lpstr>Примитивные типы: Дата</vt:lpstr>
      <vt:lpstr>Преобразование типов</vt:lpstr>
      <vt:lpstr>Работа с программными объектами</vt:lpstr>
      <vt:lpstr>Презентация PowerPoint</vt:lpstr>
      <vt:lpstr>Презентация PowerPoint</vt:lpstr>
      <vt:lpstr>Синтаксические конструкции</vt:lpstr>
      <vt:lpstr>Ветвление</vt:lpstr>
      <vt:lpstr>Ветвление</vt:lpstr>
      <vt:lpstr>Ветвление</vt:lpstr>
      <vt:lpstr>Цикл со счетчиком</vt:lpstr>
      <vt:lpstr>Цикл с предусловием</vt:lpstr>
      <vt:lpstr>Коллекции</vt:lpstr>
      <vt:lpstr>Коллекции - таблицы</vt:lpstr>
      <vt:lpstr>Данные в коллекции</vt:lpstr>
      <vt:lpstr>Данные в коллекции</vt:lpstr>
      <vt:lpstr>Цикл для обхода коллекций значений</vt:lpstr>
      <vt:lpstr>Универсальные коллекции значений</vt:lpstr>
      <vt:lpstr>Массив</vt:lpstr>
      <vt:lpstr>Массив</vt:lpstr>
      <vt:lpstr>Массив</vt:lpstr>
      <vt:lpstr>Массив</vt:lpstr>
      <vt:lpstr>Массив</vt:lpstr>
      <vt:lpstr>Структура</vt:lpstr>
      <vt:lpstr>Структура</vt:lpstr>
      <vt:lpstr>Структура</vt:lpstr>
      <vt:lpstr>Структура</vt:lpstr>
      <vt:lpstr>Структура</vt:lpstr>
      <vt:lpstr>Структура</vt:lpstr>
      <vt:lpstr>Структура</vt:lpstr>
      <vt:lpstr>Список значений</vt:lpstr>
      <vt:lpstr>Список значений</vt:lpstr>
      <vt:lpstr>Список значений</vt:lpstr>
      <vt:lpstr>Список значений</vt:lpstr>
      <vt:lpstr>Список значений</vt:lpstr>
      <vt:lpstr>Список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Таблица значений</vt:lpstr>
      <vt:lpstr>Общая форма</vt:lpstr>
      <vt:lpstr>Задача</vt:lpstr>
      <vt:lpstr>Разбор ФИО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 занятие</dc:title>
  <dc:creator>Сергей</dc:creator>
  <cp:lastModifiedBy>eugeniy sizov</cp:lastModifiedBy>
  <cp:revision>178</cp:revision>
  <dcterms:created xsi:type="dcterms:W3CDTF">2011-02-01T12:09:32Z</dcterms:created>
  <dcterms:modified xsi:type="dcterms:W3CDTF">2020-03-17T11:32:24Z</dcterms:modified>
</cp:coreProperties>
</file>