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  <p:sldMasterId id="2147483690" r:id="rId2"/>
  </p:sldMasterIdLst>
  <p:sldIdLst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59" r:id="rId23"/>
    <p:sldId id="264" r:id="rId24"/>
    <p:sldId id="265" r:id="rId25"/>
    <p:sldId id="257" r:id="rId26"/>
    <p:sldId id="262" r:id="rId27"/>
    <p:sldId id="260" r:id="rId28"/>
    <p:sldId id="261" r:id="rId29"/>
    <p:sldId id="271" r:id="rId30"/>
    <p:sldId id="272" r:id="rId31"/>
    <p:sldId id="273" r:id="rId32"/>
    <p:sldId id="267" r:id="rId33"/>
    <p:sldId id="275" r:id="rId34"/>
    <p:sldId id="268" r:id="rId3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ABD7CE27-B6A3-4E46-84BE-FC9CEB8D7355}"/>
    <pc:docChg chg="modSld">
      <pc:chgData name="eugeniy sizov" userId="f166da1dfb7bc990" providerId="LiveId" clId="{ABD7CE27-B6A3-4E46-84BE-FC9CEB8D7355}" dt="2019-07-17T11:06:31.823" v="1" actId="14100"/>
      <pc:docMkLst>
        <pc:docMk/>
      </pc:docMkLst>
      <pc:sldChg chg="modSp">
        <pc:chgData name="eugeniy sizov" userId="f166da1dfb7bc990" providerId="LiveId" clId="{ABD7CE27-B6A3-4E46-84BE-FC9CEB8D7355}" dt="2019-07-17T11:06:31.823" v="1" actId="14100"/>
        <pc:sldMkLst>
          <pc:docMk/>
          <pc:sldMk cId="645180348" sldId="260"/>
        </pc:sldMkLst>
        <pc:spChg chg="mod">
          <ac:chgData name="eugeniy sizov" userId="f166da1dfb7bc990" providerId="LiveId" clId="{ABD7CE27-B6A3-4E46-84BE-FC9CEB8D7355}" dt="2019-07-17T11:06:31.823" v="1" actId="14100"/>
          <ac:spMkLst>
            <pc:docMk/>
            <pc:sldMk cId="645180348" sldId="260"/>
            <ac:spMk id="4" creationId="{00000000-0000-0000-0000-000000000000}"/>
          </ac:spMkLst>
        </pc:spChg>
      </pc:sldChg>
      <pc:sldChg chg="modSp">
        <pc:chgData name="eugeniy sizov" userId="f166da1dfb7bc990" providerId="LiveId" clId="{ABD7CE27-B6A3-4E46-84BE-FC9CEB8D7355}" dt="2019-07-17T11:06:23.728" v="0" actId="14100"/>
        <pc:sldMkLst>
          <pc:docMk/>
          <pc:sldMk cId="3267956895" sldId="261"/>
        </pc:sldMkLst>
        <pc:spChg chg="mod">
          <ac:chgData name="eugeniy sizov" userId="f166da1dfb7bc990" providerId="LiveId" clId="{ABD7CE27-B6A3-4E46-84BE-FC9CEB8D7355}" dt="2019-07-17T11:06:23.728" v="0" actId="14100"/>
          <ac:spMkLst>
            <pc:docMk/>
            <pc:sldMk cId="3267956895" sldId="261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Дата семинара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908719"/>
            <a:ext cx="8735864" cy="720081"/>
          </a:xfrm>
        </p:spPr>
        <p:txBody>
          <a:bodyPr/>
          <a:lstStyle>
            <a:lvl1pPr algn="ctr">
              <a:defRPr sz="36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1777106"/>
            <a:ext cx="8735864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775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980853"/>
            <a:ext cx="8778626" cy="39684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912465"/>
            <a:ext cx="8778626" cy="85725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059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980853"/>
            <a:ext cx="3954090" cy="39684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836712"/>
            <a:ext cx="8778626" cy="93300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980853"/>
            <a:ext cx="4629150" cy="3968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8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86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980853"/>
            <a:ext cx="8778626" cy="39684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912465"/>
            <a:ext cx="8778626" cy="85725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62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5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908720"/>
            <a:ext cx="8789700" cy="85725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8196" y="1911571"/>
            <a:ext cx="7643813" cy="39687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72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003255167"/>
      </p:ext>
    </p:extLst>
  </p:cSld>
  <p:clrMapOvr>
    <a:masterClrMapping/>
  </p:clrMapOvr>
  <p:transition spd="slow"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110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926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49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7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024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460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229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67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068C-0419-4D9C-B87D-F240F8C4AA4B}" type="datetimeFigureOut">
              <a:rPr lang="ru-RU" smtClean="0"/>
              <a:t>31.10.2020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4808-3FC6-430B-A884-6E5D407A4C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172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068C-0419-4D9C-B87D-F240F8C4AA4B}" type="datetimeFigureOut">
              <a:rPr lang="ru-RU" smtClean="0"/>
              <a:t>31.10.2020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4808-3FC6-430B-A884-6E5D407A4C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123542"/>
      </p:ext>
    </p:extLst>
  </p:cSld>
  <p:clrMapOvr>
    <a:masterClrMapping/>
  </p:clrMapOvr>
  <p:transition spd="slow">
    <p:cu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757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00025" y="1052513"/>
            <a:ext cx="8770938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/25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 userDrawn="1"/>
        </p:nvSpPr>
        <p:spPr bwMode="auto">
          <a:xfrm>
            <a:off x="179388" y="115888"/>
            <a:ext cx="6430962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 в системе</a:t>
            </a:r>
            <a:r>
              <a:rPr kumimoji="0" lang="ru-RU" sz="1800" b="0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«1С:Предприятие 8»</a:t>
            </a:r>
            <a:endParaRPr kumimoji="0" lang="ru-RU" sz="1800" b="0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33</a:t>
            </a:r>
            <a:endParaRPr lang="ru-RU" sz="16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 задачи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12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Валютный учет</a:t>
            </a:r>
          </a:p>
          <a:p>
            <a:r>
              <a:rPr lang="ru-RU" dirty="0" err="1"/>
              <a:t>Трехвалютный</a:t>
            </a:r>
            <a:r>
              <a:rPr lang="ru-RU" dirty="0"/>
              <a:t> учет</a:t>
            </a:r>
          </a:p>
          <a:p>
            <a:r>
              <a:rPr lang="ru-RU" dirty="0"/>
              <a:t>Признаки учета субконто</a:t>
            </a:r>
          </a:p>
          <a:p>
            <a:r>
              <a:rPr lang="ru-RU" dirty="0"/>
              <a:t>Признак учета субконто «Только обороты»</a:t>
            </a:r>
          </a:p>
          <a:p>
            <a:r>
              <a:rPr lang="ru-RU" dirty="0"/>
              <a:t>Пользовательские субконто</a:t>
            </a:r>
          </a:p>
          <a:p>
            <a:r>
              <a:rPr lang="ru-RU" dirty="0"/>
              <a:t>Программная работа с полями составного типа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Занятие 15</a:t>
            </a:r>
          </a:p>
        </p:txBody>
      </p:sp>
    </p:spTree>
    <p:extLst>
      <p:ext uri="{BB962C8B-B14F-4D97-AF65-F5344CB8AC3E}">
        <p14:creationId xmlns:p14="http://schemas.microsoft.com/office/powerpoint/2010/main" val="344566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валютный учет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Небалансовый вид учета</a:t>
            </a:r>
          </a:p>
        </p:txBody>
      </p:sp>
    </p:spTree>
    <p:extLst>
      <p:ext uri="{BB962C8B-B14F-4D97-AF65-F5344CB8AC3E}">
        <p14:creationId xmlns:p14="http://schemas.microsoft.com/office/powerpoint/2010/main" val="322523020"/>
      </p:ext>
    </p:extLst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Валютный учет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88119" y="1397000"/>
          <a:ext cx="87839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705">
                  <a:extLst>
                    <a:ext uri="{9D8B030D-6E8A-4147-A177-3AD203B41FA5}">
                      <a16:colId xmlns:a16="http://schemas.microsoft.com/office/drawing/2014/main" val="394991951"/>
                    </a:ext>
                  </a:extLst>
                </a:gridCol>
                <a:gridCol w="1114478">
                  <a:extLst>
                    <a:ext uri="{9D8B030D-6E8A-4147-A177-3AD203B41FA5}">
                      <a16:colId xmlns:a16="http://schemas.microsoft.com/office/drawing/2014/main" val="824950313"/>
                    </a:ext>
                  </a:extLst>
                </a:gridCol>
                <a:gridCol w="1042576">
                  <a:extLst>
                    <a:ext uri="{9D8B030D-6E8A-4147-A177-3AD203B41FA5}">
                      <a16:colId xmlns:a16="http://schemas.microsoft.com/office/drawing/2014/main" val="2567320178"/>
                    </a:ext>
                  </a:extLst>
                </a:gridCol>
                <a:gridCol w="1737626">
                  <a:extLst>
                    <a:ext uri="{9D8B030D-6E8A-4147-A177-3AD203B41FA5}">
                      <a16:colId xmlns:a16="http://schemas.microsoft.com/office/drawing/2014/main" val="2130443275"/>
                    </a:ext>
                  </a:extLst>
                </a:gridCol>
                <a:gridCol w="1091988">
                  <a:extLst>
                    <a:ext uri="{9D8B030D-6E8A-4147-A177-3AD203B41FA5}">
                      <a16:colId xmlns:a16="http://schemas.microsoft.com/office/drawing/2014/main" val="278535266"/>
                    </a:ext>
                  </a:extLst>
                </a:gridCol>
                <a:gridCol w="1145754">
                  <a:extLst>
                    <a:ext uri="{9D8B030D-6E8A-4147-A177-3AD203B41FA5}">
                      <a16:colId xmlns:a16="http://schemas.microsoft.com/office/drawing/2014/main" val="4242727120"/>
                    </a:ext>
                  </a:extLst>
                </a:gridCol>
                <a:gridCol w="973872">
                  <a:extLst>
                    <a:ext uri="{9D8B030D-6E8A-4147-A177-3AD203B41FA5}">
                      <a16:colId xmlns:a16="http://schemas.microsoft.com/office/drawing/2014/main" val="1190528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Счет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∑</a:t>
                      </a:r>
                      <a:r>
                        <a:rPr lang="ru-RU" baseline="0" dirty="0"/>
                        <a:t> валюты </a:t>
                      </a:r>
                      <a:r>
                        <a:rPr lang="ru-RU" dirty="0"/>
                        <a:t>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Валюта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Счет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∑</a:t>
                      </a:r>
                      <a:r>
                        <a:rPr lang="ru-RU" baseline="0" dirty="0"/>
                        <a:t> валюты К</a:t>
                      </a:r>
                      <a:r>
                        <a:rPr lang="ru-RU" dirty="0"/>
                        <a:t>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Валюта Кт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Сумма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179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&lt;41.1</a:t>
                      </a:r>
                      <a:r>
                        <a:rPr lang="ru-RU" baseline="0" dirty="0"/>
                        <a:t> Товары&gt;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&lt;60 Поставщики&gt;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0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&lt;10 Материалы&gt;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&lt;41.1</a:t>
                      </a:r>
                      <a:r>
                        <a:rPr lang="ru-RU" baseline="0" dirty="0"/>
                        <a:t> Товары&gt;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19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&lt;60 Поставщики&gt;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$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&lt;50 Касса&gt;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803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Признак учета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29" y="1120775"/>
            <a:ext cx="4634219" cy="4900751"/>
          </a:xfrm>
          <a:prstGeom prst="rect">
            <a:avLst/>
          </a:prstGeom>
        </p:spPr>
      </p:pic>
      <p:sp>
        <p:nvSpPr>
          <p:cNvPr id="6" name="Rounded Rectangle 3"/>
          <p:cNvSpPr/>
          <p:nvPr/>
        </p:nvSpPr>
        <p:spPr>
          <a:xfrm>
            <a:off x="3791120" y="3845207"/>
            <a:ext cx="2715709" cy="26237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62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Специальный реквизит типа булево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88120" y="1476259"/>
          <a:ext cx="870249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338">
                  <a:extLst>
                    <a:ext uri="{9D8B030D-6E8A-4147-A177-3AD203B41FA5}">
                      <a16:colId xmlns:a16="http://schemas.microsoft.com/office/drawing/2014/main" val="932871703"/>
                    </a:ext>
                  </a:extLst>
                </a:gridCol>
                <a:gridCol w="672029">
                  <a:extLst>
                    <a:ext uri="{9D8B030D-6E8A-4147-A177-3AD203B41FA5}">
                      <a16:colId xmlns:a16="http://schemas.microsoft.com/office/drawing/2014/main" val="631033224"/>
                    </a:ext>
                  </a:extLst>
                </a:gridCol>
                <a:gridCol w="1762699">
                  <a:extLst>
                    <a:ext uri="{9D8B030D-6E8A-4147-A177-3AD203B41FA5}">
                      <a16:colId xmlns:a16="http://schemas.microsoft.com/office/drawing/2014/main" val="1495469993"/>
                    </a:ext>
                  </a:extLst>
                </a:gridCol>
                <a:gridCol w="385590">
                  <a:extLst>
                    <a:ext uri="{9D8B030D-6E8A-4147-A177-3AD203B41FA5}">
                      <a16:colId xmlns:a16="http://schemas.microsoft.com/office/drawing/2014/main" val="3850903515"/>
                    </a:ext>
                  </a:extLst>
                </a:gridCol>
                <a:gridCol w="1333041">
                  <a:extLst>
                    <a:ext uri="{9D8B030D-6E8A-4147-A177-3AD203B41FA5}">
                      <a16:colId xmlns:a16="http://schemas.microsoft.com/office/drawing/2014/main" val="727339630"/>
                    </a:ext>
                  </a:extLst>
                </a:gridCol>
                <a:gridCol w="2478794">
                  <a:extLst>
                    <a:ext uri="{9D8B030D-6E8A-4147-A177-3AD203B41FA5}">
                      <a16:colId xmlns:a16="http://schemas.microsoft.com/office/drawing/2014/main" val="3682772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Валютный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Количественный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2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&lt;41.1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35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&lt;60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Поставщики&gt;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Поставщики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1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&lt;50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Касса&gt;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Касса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901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10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74" y="1233071"/>
            <a:ext cx="4724400" cy="45339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831" y="4943983"/>
            <a:ext cx="3943350" cy="123825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в регистре бухгалтерии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58122" y="3138951"/>
            <a:ext cx="2715709" cy="26237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431316" y="1233071"/>
            <a:ext cx="33575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  <a:latin typeface="Arial Black" panose="020B0A04020102020204" pitchFamily="34" charset="0"/>
              </a:rPr>
              <a:t>Валюта и сумма валюты по счету будет заполняться, если у счета включен признак учета «Валютный»</a:t>
            </a:r>
          </a:p>
        </p:txBody>
      </p:sp>
      <p:sp>
        <p:nvSpPr>
          <p:cNvPr id="11" name="Rounded Rectangle 3"/>
          <p:cNvSpPr/>
          <p:nvPr/>
        </p:nvSpPr>
        <p:spPr>
          <a:xfrm>
            <a:off x="2258122" y="2387565"/>
            <a:ext cx="2715709" cy="26237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831" y="3052127"/>
            <a:ext cx="3924300" cy="1924050"/>
          </a:xfrm>
          <a:prstGeom prst="rect">
            <a:avLst/>
          </a:prstGeom>
        </p:spPr>
      </p:pic>
      <p:sp>
        <p:nvSpPr>
          <p:cNvPr id="7" name="Rounded Rectangle 3"/>
          <p:cNvSpPr/>
          <p:nvPr/>
        </p:nvSpPr>
        <p:spPr>
          <a:xfrm>
            <a:off x="4973831" y="4961917"/>
            <a:ext cx="3815062" cy="444584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7238082" y="2710399"/>
            <a:ext cx="77118" cy="24738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03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250"/>
                            </p:stCondLst>
                            <p:childTnLst>
                              <p:par>
                                <p:cTn id="3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750"/>
                            </p:stCondLst>
                            <p:childTnLst>
                              <p:par>
                                <p:cTn id="4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8" grpId="0"/>
      <p:bldP spid="11" grpId="0" animBg="1"/>
      <p:bldP spid="11" grpId="1" animBg="1"/>
      <p:bldP spid="11" grpId="2" animBg="1"/>
      <p:bldP spid="7" grpId="0" animBg="1"/>
      <p:bldP spid="7" grpId="1" animBg="1"/>
      <p:bldP spid="7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79846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движений по счетам до изменения.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632114" y="1954643"/>
          <a:ext cx="1039801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Регистратор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618735" y="1954643"/>
          <a:ext cx="65054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 строки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2272777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3201839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4126925" y="1954643"/>
          <a:ext cx="340201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632114" y="2418771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1&gt;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1618735" y="2418771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272777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3201839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4126925" y="2418771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628651" y="2706253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2&gt;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1615272" y="2706253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/>
        </p:nvGraphicFramePr>
        <p:xfrm>
          <a:off x="2269314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/>
        </p:nvGraphicFramePr>
        <p:xfrm>
          <a:off x="3198376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4126925" y="2706253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628650" y="2997199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3&gt;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1615271" y="2997199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2269313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/>
        </p:nvGraphicFramePr>
        <p:xfrm>
          <a:off x="3198375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/>
        </p:nvGraphicFramePr>
        <p:xfrm>
          <a:off x="4126925" y="2997199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/>
        </p:nvGraphicFramePr>
        <p:xfrm>
          <a:off x="628650" y="3290976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4&gt;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1615271" y="3290976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/>
        </p:nvGraphicFramePr>
        <p:xfrm>
          <a:off x="2269313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3198375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/>
        </p:nvGraphicFramePr>
        <p:xfrm>
          <a:off x="4126925" y="3290976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28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7173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движений по счетам после изменений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507422" y="1954643"/>
          <a:ext cx="1039801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Регистратор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978472" y="1954643"/>
          <a:ext cx="65054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 строки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1369868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1802821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507422" y="2418771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1&gt;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978472" y="2418771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1369868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1802821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503959" y="2706253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2&gt;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975009" y="2706253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/>
        </p:nvGraphicFramePr>
        <p:xfrm>
          <a:off x="1366405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/>
        </p:nvGraphicFramePr>
        <p:xfrm>
          <a:off x="1799358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503958" y="2997199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3&gt;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975008" y="2997199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1366404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/>
        </p:nvGraphicFramePr>
        <p:xfrm>
          <a:off x="1799357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/>
        </p:nvGraphicFramePr>
        <p:xfrm>
          <a:off x="503958" y="3290976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&lt;ПТУ</a:t>
                      </a:r>
                      <a:r>
                        <a:rPr lang="ru-RU" sz="1200" baseline="0" dirty="0"/>
                        <a:t> № 4&gt;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975008" y="3290976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/>
        </p:nvGraphicFramePr>
        <p:xfrm>
          <a:off x="1366404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19.04.2015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1799357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Таблица 36"/>
          <p:cNvGraphicFramePr>
            <a:graphicFrameLocks noGrp="1"/>
          </p:cNvGraphicFramePr>
          <p:nvPr/>
        </p:nvGraphicFramePr>
        <p:xfrm>
          <a:off x="2150386" y="1951179"/>
          <a:ext cx="1260000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Валюта</a:t>
                      </a:r>
                      <a:r>
                        <a:rPr lang="ru-RU" sz="1200" b="1" baseline="0" dirty="0"/>
                        <a:t> Дт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/>
        </p:nvGraphicFramePr>
        <p:xfrm>
          <a:off x="2150388" y="2423512"/>
          <a:ext cx="1260000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/>
        </p:nvGraphicFramePr>
        <p:xfrm>
          <a:off x="3161691" y="1947715"/>
          <a:ext cx="1260000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Валюта</a:t>
                      </a:r>
                      <a:r>
                        <a:rPr lang="ru-RU" sz="1200" b="1" baseline="0" dirty="0"/>
                        <a:t> Кт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Таблица 39"/>
          <p:cNvGraphicFramePr>
            <a:graphicFrameLocks noGrp="1"/>
          </p:cNvGraphicFramePr>
          <p:nvPr/>
        </p:nvGraphicFramePr>
        <p:xfrm>
          <a:off x="3161693" y="2420048"/>
          <a:ext cx="1260000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Рубли РФ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Доллары</a:t>
                      </a:r>
                      <a:r>
                        <a:rPr lang="ru-RU" sz="1200" baseline="0" dirty="0"/>
                        <a:t> США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ЕВРО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Рубли РФ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4082931" y="1954643"/>
          <a:ext cx="340201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4082931" y="2418771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4082931" y="2706253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/>
        </p:nvGraphicFramePr>
        <p:xfrm>
          <a:off x="4082931" y="2997199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/>
        </p:nvGraphicFramePr>
        <p:xfrm>
          <a:off x="4082931" y="3290976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/>
        </p:nvGraphicFramePr>
        <p:xfrm>
          <a:off x="7220964" y="1954643"/>
          <a:ext cx="9365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Сумма валюты</a:t>
                      </a:r>
                      <a:r>
                        <a:rPr lang="ru-RU" sz="1200" b="1" baseline="0" dirty="0"/>
                        <a:t> Дт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/>
        </p:nvGraphicFramePr>
        <p:xfrm>
          <a:off x="7220966" y="2426976"/>
          <a:ext cx="936522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/>
        </p:nvGraphicFramePr>
        <p:xfrm>
          <a:off x="8036119" y="1954643"/>
          <a:ext cx="936000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Сумма валюты</a:t>
                      </a:r>
                      <a:r>
                        <a:rPr lang="ru-RU" sz="1200" b="1" baseline="0" dirty="0"/>
                        <a:t> Кт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/>
        </p:nvGraphicFramePr>
        <p:xfrm>
          <a:off x="8036121" y="2426976"/>
          <a:ext cx="936000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5000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180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8000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29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08258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остатков и оборотов по счетам до изменения.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534569" y="1925217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34569" y="3044705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34569" y="2497559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3983221" y="1925217"/>
          <a:ext cx="4393210" cy="5686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711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31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Дт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Кт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2717596" y="192521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3983222" y="3044705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-18000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3983223" y="2497559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12000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-12000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2717596" y="3044705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2717596" y="2496889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2717596" y="386092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/>
        </p:nvGraphicFramePr>
        <p:xfrm>
          <a:off x="534569" y="3860921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" name="Таблица 36"/>
          <p:cNvGraphicFramePr>
            <a:graphicFrameLocks noGrp="1"/>
          </p:cNvGraphicFramePr>
          <p:nvPr/>
        </p:nvGraphicFramePr>
        <p:xfrm>
          <a:off x="3983222" y="3860921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/>
        </p:nvGraphicFramePr>
        <p:xfrm>
          <a:off x="538688" y="4408067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/>
        </p:nvGraphicFramePr>
        <p:xfrm>
          <a:off x="3987342" y="4408067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800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1000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1800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/>
        </p:nvGraphicFramePr>
        <p:xfrm>
          <a:off x="2721715" y="4408067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/>
        </p:nvGraphicFramePr>
        <p:xfrm>
          <a:off x="2721715" y="5224283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/>
        </p:nvGraphicFramePr>
        <p:xfrm>
          <a:off x="538688" y="5224283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/>
        </p:nvGraphicFramePr>
        <p:xfrm>
          <a:off x="3987342" y="5224283"/>
          <a:ext cx="4392001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48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906627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остатков и оборотов по счетам после изменения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534569" y="1925217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34569" y="3044705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34569" y="2497559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2717596" y="192521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3464960" y="192521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Валюта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2717596" y="3044705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3464960" y="3044705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Рубли РФ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2717596" y="2496889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/>
        </p:nvGraphicFramePr>
        <p:xfrm>
          <a:off x="3464960" y="2496889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Рубли РФ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2717596" y="386092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/>
        </p:nvGraphicFramePr>
        <p:xfrm>
          <a:off x="3464960" y="386092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Доллары США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/>
        </p:nvGraphicFramePr>
        <p:xfrm>
          <a:off x="534569" y="3860921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01.05.2015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/>
        </p:nvGraphicFramePr>
        <p:xfrm>
          <a:off x="538688" y="4408067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/>
        </p:nvGraphicFramePr>
        <p:xfrm>
          <a:off x="2721715" y="4408067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Таблица 39"/>
          <p:cNvGraphicFramePr>
            <a:graphicFrameLocks noGrp="1"/>
          </p:cNvGraphicFramePr>
          <p:nvPr/>
        </p:nvGraphicFramePr>
        <p:xfrm>
          <a:off x="3469079" y="4408067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Рубли РФ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/>
        </p:nvGraphicFramePr>
        <p:xfrm>
          <a:off x="2721715" y="5224283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/>
        </p:nvGraphicFramePr>
        <p:xfrm>
          <a:off x="3469079" y="5224283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Доллары США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/>
        </p:nvGraphicFramePr>
        <p:xfrm>
          <a:off x="538688" y="5224283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</a:t>
                      </a:r>
                      <a:r>
                        <a:rPr lang="en-US" sz="1200" dirty="0"/>
                        <a:t>11</a:t>
                      </a:r>
                      <a:r>
                        <a:rPr lang="ru-RU" sz="1200" dirty="0"/>
                        <a:t>.</a:t>
                      </a:r>
                      <a:r>
                        <a:rPr lang="en-US" sz="1200" dirty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4399456" y="1925217"/>
          <a:ext cx="4176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Дт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Кт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4399456" y="3044705"/>
          <a:ext cx="4176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-18000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4399456" y="2497559"/>
          <a:ext cx="4176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12000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-12000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" name="Таблица 36"/>
          <p:cNvGraphicFramePr>
            <a:graphicFrameLocks noGrp="1"/>
          </p:cNvGraphicFramePr>
          <p:nvPr/>
        </p:nvGraphicFramePr>
        <p:xfrm>
          <a:off x="4399456" y="3860921"/>
          <a:ext cx="4176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/>
        </p:nvGraphicFramePr>
        <p:xfrm>
          <a:off x="4399456" y="4408067"/>
          <a:ext cx="4176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800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1000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/>
                        <a:t>1800</a:t>
                      </a:r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/>
        </p:nvGraphicFramePr>
        <p:xfrm>
          <a:off x="4399456" y="5224283"/>
          <a:ext cx="4176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Таблица 46"/>
          <p:cNvGraphicFramePr>
            <a:graphicFrameLocks noGrp="1"/>
          </p:cNvGraphicFramePr>
          <p:nvPr/>
        </p:nvGraphicFramePr>
        <p:xfrm>
          <a:off x="4575997" y="1925217"/>
          <a:ext cx="4393210" cy="5686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711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/>
                        <a:t>Сумма валюты остаток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Обороты сумма валюты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31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Дебет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Кредит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Оборот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/>
        </p:nvGraphicFramePr>
        <p:xfrm>
          <a:off x="4575999" y="2497559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12000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-12000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/>
        </p:nvGraphicFramePr>
        <p:xfrm>
          <a:off x="4575998" y="3860921"/>
          <a:ext cx="4392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-100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67124"/>
                  </a:ext>
                </a:extLst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/>
        </p:nvGraphicFramePr>
        <p:xfrm>
          <a:off x="4580118" y="4408067"/>
          <a:ext cx="439200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-30000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15909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/>
        </p:nvGraphicFramePr>
        <p:xfrm>
          <a:off x="4580118" y="5224283"/>
          <a:ext cx="4392001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-100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/>
        </p:nvGraphicFramePr>
        <p:xfrm>
          <a:off x="4575998" y="3044705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/>
                        <a:t>-12000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18000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-30000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19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оборотов между счетами до изменения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00050" y="2103582"/>
          <a:ext cx="4788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оборот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400050" y="2598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01.04.2015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41 (товары)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00050" y="2886363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01.05.2015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41 (товары)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00050" y="3174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01.05.2015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 (материалы)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181804" y="2103582"/>
          <a:ext cx="285141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5181804" y="2598882"/>
          <a:ext cx="285141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94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354477"/>
          </a:xfrm>
        </p:spPr>
        <p:txBody>
          <a:bodyPr>
            <a:normAutofit/>
          </a:bodyPr>
          <a:lstStyle/>
          <a:p>
            <a:r>
              <a:rPr lang="ru-RU" dirty="0"/>
              <a:t>Таблица оборотов между счетами после изменения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00050" y="2103582"/>
          <a:ext cx="4788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Счет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оборот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400050" y="2598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01.04.2015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41 (товары)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00050" y="2886363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01.05.2015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41 (товары)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00050" y="3174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01.05.2015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10 (материалы)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60 (поставщики)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8000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033082" y="2103579"/>
          <a:ext cx="31518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/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5033082" y="2598882"/>
          <a:ext cx="31518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220006" y="2103579"/>
          <a:ext cx="1044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Валюта</a:t>
                      </a:r>
                      <a:r>
                        <a:rPr lang="ru-RU" sz="1200" b="1" baseline="0" dirty="0"/>
                        <a:t> Дт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5220008" y="2598882"/>
          <a:ext cx="1044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6103207" y="2103579"/>
          <a:ext cx="1044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Валюта</a:t>
                      </a:r>
                      <a:r>
                        <a:rPr lang="ru-RU" sz="1200" b="1" baseline="0" dirty="0"/>
                        <a:t> Кт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6103209" y="2598882"/>
          <a:ext cx="1044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Рубль РФ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Рубль РФ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Доллары США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7009750" y="2103579"/>
          <a:ext cx="1044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/>
                        <a:t>Сумма Валюты оборот </a:t>
                      </a:r>
                      <a:r>
                        <a:rPr lang="ru-RU" sz="900" b="1" baseline="0" dirty="0"/>
                        <a:t> Дт</a:t>
                      </a:r>
                      <a:endParaRPr lang="ru-RU" sz="9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7009752" y="2598882"/>
          <a:ext cx="1044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7928117" y="2103579"/>
          <a:ext cx="1044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/>
                        <a:t>Сумма </a:t>
                      </a:r>
                      <a:r>
                        <a:rPr lang="ru-RU" sz="900" b="1" dirty="0" err="1"/>
                        <a:t>Валютаы</a:t>
                      </a:r>
                      <a:r>
                        <a:rPr lang="ru-RU" sz="900" b="1" dirty="0"/>
                        <a:t> оборот </a:t>
                      </a:r>
                      <a:r>
                        <a:rPr lang="ru-RU" sz="900" b="1" baseline="0" dirty="0"/>
                        <a:t>Кт</a:t>
                      </a:r>
                      <a:endParaRPr lang="ru-RU" sz="9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7928119" y="2598882"/>
          <a:ext cx="1044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12000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110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71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Отчет «Курсовые разницы»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7886"/>
            <a:ext cx="8500837" cy="359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34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Трехвалютный</a:t>
            </a:r>
            <a:r>
              <a:rPr lang="ru-RU" dirty="0"/>
              <a:t> учет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Баланс в разных валютах</a:t>
            </a:r>
          </a:p>
        </p:txBody>
      </p:sp>
    </p:spTree>
    <p:extLst>
      <p:ext uri="{BB962C8B-B14F-4D97-AF65-F5344CB8AC3E}">
        <p14:creationId xmlns:p14="http://schemas.microsoft.com/office/powerpoint/2010/main" val="2023776243"/>
      </p:ext>
    </p:extLst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214922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Валюта 1 – рубли РФ</a:t>
            </a:r>
          </a:p>
          <a:p>
            <a:r>
              <a:rPr lang="ru-RU" dirty="0"/>
              <a:t>Валюта 2 – Доллары США</a:t>
            </a:r>
          </a:p>
          <a:p>
            <a:r>
              <a:rPr lang="ru-RU" dirty="0"/>
              <a:t>Курс на дату начала деятельности 50 рублей за 1 доллар США</a:t>
            </a:r>
          </a:p>
          <a:p>
            <a:r>
              <a:rPr lang="ru-RU" dirty="0"/>
              <a:t>Учредители внесли в кассу организации 10000 рублей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Вступительный баланс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27355" y="4353263"/>
          <a:ext cx="3838114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19057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1919057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Актив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Касса = 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</a:t>
                      </a:r>
                      <a:r>
                        <a:rPr lang="ru-RU" baseline="0" dirty="0"/>
                        <a:t> = 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Итого = 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Итого = 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712515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774706" y="4353263"/>
          <a:ext cx="3838114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9057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1919057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Актив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Касса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</a:t>
                      </a:r>
                      <a:r>
                        <a:rPr lang="ru-RU" baseline="0" dirty="0"/>
                        <a:t> = 200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Итого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Итого =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3837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9091" y="3923930"/>
            <a:ext cx="3471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Баланс в рублях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4706" y="3861786"/>
            <a:ext cx="319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Баланс в долларах</a:t>
            </a:r>
          </a:p>
        </p:txBody>
      </p:sp>
    </p:spTree>
    <p:extLst>
      <p:ext uri="{BB962C8B-B14F-4D97-AF65-F5344CB8AC3E}">
        <p14:creationId xmlns:p14="http://schemas.microsoft.com/office/powerpoint/2010/main" val="2275826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Операции за период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34347" y="1574553"/>
          <a:ext cx="7027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649">
                  <a:extLst>
                    <a:ext uri="{9D8B030D-6E8A-4147-A177-3AD203B41FA5}">
                      <a16:colId xmlns:a16="http://schemas.microsoft.com/office/drawing/2014/main" val="857384080"/>
                    </a:ext>
                  </a:extLst>
                </a:gridCol>
                <a:gridCol w="2317072">
                  <a:extLst>
                    <a:ext uri="{9D8B030D-6E8A-4147-A177-3AD203B41FA5}">
                      <a16:colId xmlns:a16="http://schemas.microsoft.com/office/drawing/2014/main" val="470191285"/>
                    </a:ext>
                  </a:extLst>
                </a:gridCol>
                <a:gridCol w="2253679">
                  <a:extLst>
                    <a:ext uri="{9D8B030D-6E8A-4147-A177-3AD203B41FA5}">
                      <a16:colId xmlns:a16="http://schemas.microsoft.com/office/drawing/2014/main" val="1664369948"/>
                    </a:ext>
                  </a:extLst>
                </a:gridCol>
                <a:gridCol w="1756800">
                  <a:extLst>
                    <a:ext uri="{9D8B030D-6E8A-4147-A177-3AD203B41FA5}">
                      <a16:colId xmlns:a16="http://schemas.microsoft.com/office/drawing/2014/main" val="3340554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Дебет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Кредит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 1 (руб.)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6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 (Товары)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  <a:r>
                        <a:rPr lang="ru-RU" baseline="0" dirty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434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  <a:r>
                        <a:rPr lang="ru-RU" baseline="0" dirty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 (Касса)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54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 (Товары)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  <a:r>
                        <a:rPr lang="ru-RU" baseline="0" dirty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635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521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2149223"/>
          </a:xfrm>
        </p:spPr>
        <p:txBody>
          <a:bodyPr>
            <a:normAutofit/>
          </a:bodyPr>
          <a:lstStyle/>
          <a:p>
            <a:r>
              <a:rPr lang="ru-RU" dirty="0"/>
              <a:t>Курс на дату окончания периода 100 рублей за 1 доллар США</a:t>
            </a:r>
          </a:p>
          <a:p>
            <a:r>
              <a:rPr lang="ru-RU" dirty="0"/>
              <a:t>Составляем баланс в рублях и пересчитываем его в доллары по курсу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Баланс после окончания периода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27353" y="4353263"/>
          <a:ext cx="4042300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73804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2068496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Актив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Касса = 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</a:t>
                      </a:r>
                      <a:r>
                        <a:rPr lang="ru-RU" baseline="0" dirty="0"/>
                        <a:t> = 10000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Товары = 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Поставщики = 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02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Итого = 16000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Итого = 16000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72962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774706" y="4353263"/>
          <a:ext cx="3838114" cy="14833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9057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1919057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Актив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Касса =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</a:t>
                      </a:r>
                      <a:r>
                        <a:rPr lang="ru-RU" baseline="0" dirty="0"/>
                        <a:t> = 100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Товары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Поставщики = 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24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Итого =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Итого = 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17358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9091" y="3923930"/>
            <a:ext cx="3471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Баланс в рублях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4706" y="3861786"/>
            <a:ext cx="319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Баланс в долларах</a:t>
            </a:r>
          </a:p>
        </p:txBody>
      </p:sp>
    </p:spTree>
    <p:extLst>
      <p:ext uri="{BB962C8B-B14F-4D97-AF65-F5344CB8AC3E}">
        <p14:creationId xmlns:p14="http://schemas.microsoft.com/office/powerpoint/2010/main" val="1195864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2149223"/>
          </a:xfrm>
        </p:spPr>
        <p:txBody>
          <a:bodyPr>
            <a:normAutofit/>
          </a:bodyPr>
          <a:lstStyle/>
          <a:p>
            <a:r>
              <a:rPr lang="ru-RU" dirty="0"/>
              <a:t>Курс на дату окончания периода 100 рублей за 1 доллар США</a:t>
            </a:r>
          </a:p>
          <a:p>
            <a:r>
              <a:rPr lang="ru-RU" dirty="0"/>
              <a:t>Составляем баланс в рублях и пересчитываем его в доллары по курсу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Баланс после окончания периода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27353" y="4353263"/>
          <a:ext cx="4042300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73804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2068496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Актив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Касса = 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</a:t>
                      </a:r>
                      <a:r>
                        <a:rPr lang="ru-RU" baseline="0" dirty="0"/>
                        <a:t> = 10000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Товары = 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Поставщики = 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02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Итого = 16000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Итого = 16000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72962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774706" y="4353263"/>
          <a:ext cx="3838114" cy="14833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9057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1919057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Актив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Касса =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</a:t>
                      </a:r>
                      <a:r>
                        <a:rPr lang="ru-RU" baseline="0" dirty="0"/>
                        <a:t> = 100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Товары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Поставщики = 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24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Итого =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Итого = 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17358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9091" y="3923930"/>
            <a:ext cx="3471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Баланс в рублях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4706" y="3861786"/>
            <a:ext cx="319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Баланс в долларах</a:t>
            </a: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4669653" y="3746377"/>
            <a:ext cx="4119240" cy="218390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H="1">
            <a:off x="4774706" y="3646025"/>
            <a:ext cx="3838114" cy="228425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60386" y="3600653"/>
            <a:ext cx="166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Не правильно</a:t>
            </a:r>
          </a:p>
        </p:txBody>
      </p:sp>
    </p:spTree>
    <p:extLst>
      <p:ext uri="{BB962C8B-B14F-4D97-AF65-F5344CB8AC3E}">
        <p14:creationId xmlns:p14="http://schemas.microsoft.com/office/powerpoint/2010/main" val="247663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16985"/>
          </a:xfrm>
        </p:spPr>
        <p:txBody>
          <a:bodyPr>
            <a:normAutofit fontScale="90000"/>
          </a:bodyPr>
          <a:lstStyle/>
          <a:p>
            <a:r>
              <a:rPr lang="ru-RU" dirty="0"/>
              <a:t>Оценка фактов сразу в двух валютах по курсу на дату операции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79704" y="1968092"/>
          <a:ext cx="576228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872">
                  <a:extLst>
                    <a:ext uri="{9D8B030D-6E8A-4147-A177-3AD203B41FA5}">
                      <a16:colId xmlns:a16="http://schemas.microsoft.com/office/drawing/2014/main" val="857384080"/>
                    </a:ext>
                  </a:extLst>
                </a:gridCol>
                <a:gridCol w="1844226">
                  <a:extLst>
                    <a:ext uri="{9D8B030D-6E8A-4147-A177-3AD203B41FA5}">
                      <a16:colId xmlns:a16="http://schemas.microsoft.com/office/drawing/2014/main" val="470191285"/>
                    </a:ext>
                  </a:extLst>
                </a:gridCol>
                <a:gridCol w="2076393">
                  <a:extLst>
                    <a:ext uri="{9D8B030D-6E8A-4147-A177-3AD203B41FA5}">
                      <a16:colId xmlns:a16="http://schemas.microsoft.com/office/drawing/2014/main" val="1664369948"/>
                    </a:ext>
                  </a:extLst>
                </a:gridCol>
                <a:gridCol w="1284790">
                  <a:extLst>
                    <a:ext uri="{9D8B030D-6E8A-4147-A177-3AD203B41FA5}">
                      <a16:colId xmlns:a16="http://schemas.microsoft.com/office/drawing/2014/main" val="3340554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Дебет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Кредит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 1 (руб.)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6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 (Товары)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  <a:r>
                        <a:rPr lang="ru-RU" baseline="0" dirty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434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  <a:r>
                        <a:rPr lang="ru-RU" baseline="0" dirty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 (Касса)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54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 (Товары)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  <a:r>
                        <a:rPr lang="ru-RU" baseline="0" dirty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635454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6041985" y="1968093"/>
          <a:ext cx="2796578" cy="17566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98289">
                  <a:extLst>
                    <a:ext uri="{9D8B030D-6E8A-4147-A177-3AD203B41FA5}">
                      <a16:colId xmlns:a16="http://schemas.microsoft.com/office/drawing/2014/main" val="3537511183"/>
                    </a:ext>
                  </a:extLst>
                </a:gridCol>
                <a:gridCol w="1398289">
                  <a:extLst>
                    <a:ext uri="{9D8B030D-6E8A-4147-A177-3AD203B41FA5}">
                      <a16:colId xmlns:a16="http://schemas.microsoft.com/office/drawing/2014/main" val="2318952084"/>
                    </a:ext>
                  </a:extLst>
                </a:gridCol>
              </a:tblGrid>
              <a:tr h="636043">
                <a:tc>
                  <a:txBody>
                    <a:bodyPr/>
                    <a:lstStyle/>
                    <a:p>
                      <a:r>
                        <a:rPr lang="ru-RU" dirty="0"/>
                        <a:t>Курс</a:t>
                      </a:r>
                    </a:p>
                    <a:p>
                      <a:r>
                        <a:rPr lang="en-US" dirty="0"/>
                        <a:t>$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 2 (</a:t>
                      </a:r>
                      <a:r>
                        <a:rPr lang="en-US" dirty="0"/>
                        <a:t>$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67004"/>
                  </a:ext>
                </a:extLst>
              </a:tr>
              <a:tr h="379556"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434785"/>
                  </a:ext>
                </a:extLst>
              </a:tr>
              <a:tr h="368501">
                <a:tc>
                  <a:txBody>
                    <a:bodyPr/>
                    <a:lstStyle/>
                    <a:p>
                      <a:r>
                        <a:rPr lang="ru-RU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54653"/>
                  </a:ext>
                </a:extLst>
              </a:tr>
              <a:tr h="368501"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635454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774706" y="4353263"/>
          <a:ext cx="3838114" cy="14833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9057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1919057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Актив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Касса = 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</a:t>
                      </a:r>
                      <a:r>
                        <a:rPr lang="ru-RU" baseline="0" dirty="0"/>
                        <a:t> = 200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Товары = 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Поставщики = 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24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Итого = 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Итого = 267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17358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74706" y="3861786"/>
            <a:ext cx="383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Правильный баланс в долларах</a:t>
            </a:r>
          </a:p>
        </p:txBody>
      </p:sp>
    </p:spTree>
    <p:extLst>
      <p:ext uri="{BB962C8B-B14F-4D97-AF65-F5344CB8AC3E}">
        <p14:creationId xmlns:p14="http://schemas.microsoft.com/office/powerpoint/2010/main" val="77342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Признаки учета субконто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634799"/>
      </p:ext>
    </p:extLst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14" y="1409883"/>
            <a:ext cx="5523547" cy="515214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28223"/>
          </a:xfrm>
        </p:spPr>
        <p:txBody>
          <a:bodyPr/>
          <a:lstStyle/>
          <a:p>
            <a:r>
              <a:rPr lang="ru-RU" dirty="0"/>
              <a:t>Признак учета субконто «Только обороты»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96653" y="4374441"/>
            <a:ext cx="1395339" cy="721954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33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38003" y="522007"/>
            <a:ext cx="8770938" cy="857250"/>
          </a:xfrm>
        </p:spPr>
        <p:txBody>
          <a:bodyPr/>
          <a:lstStyle/>
          <a:p>
            <a:r>
              <a:rPr lang="ru-RU" sz="2400" dirty="0"/>
              <a:t>Таблица остатков и оборотов по счетам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ru-RU" sz="2400" dirty="0"/>
              <a:t>Добавили субконто</a:t>
            </a:r>
            <a:r>
              <a:rPr lang="en-US" sz="2400" dirty="0"/>
              <a:t> </a:t>
            </a:r>
            <a:r>
              <a:rPr lang="ru-RU" sz="2400" dirty="0"/>
              <a:t>«</a:t>
            </a:r>
            <a:r>
              <a:rPr lang="ru-RU" dirty="0"/>
              <a:t>ДДС</a:t>
            </a:r>
            <a:r>
              <a:rPr lang="ru-RU" sz="2400" dirty="0"/>
              <a:t>» к счету </a:t>
            </a:r>
            <a:r>
              <a:rPr lang="en-US" sz="2400" dirty="0"/>
              <a:t>5</a:t>
            </a:r>
            <a:r>
              <a:rPr lang="ru-RU" sz="2400" dirty="0"/>
              <a:t>0 </a:t>
            </a:r>
          </a:p>
        </p:txBody>
      </p:sp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116484"/>
              </p:ext>
            </p:extLst>
          </p:nvPr>
        </p:nvGraphicFramePr>
        <p:xfrm>
          <a:off x="238003" y="1853118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Счет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667957"/>
              </p:ext>
            </p:extLst>
          </p:nvPr>
        </p:nvGraphicFramePr>
        <p:xfrm>
          <a:off x="238003" y="2425460"/>
          <a:ext cx="2179595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5</a:t>
                      </a:r>
                      <a:r>
                        <a:rPr lang="ru-RU" sz="1200" dirty="0"/>
                        <a:t>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5</a:t>
                      </a:r>
                      <a:r>
                        <a:rPr lang="ru-RU" sz="1200" dirty="0"/>
                        <a:t>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01.11.3999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5</a:t>
                      </a:r>
                      <a:r>
                        <a:rPr lang="ru-RU" sz="1200" dirty="0"/>
                        <a:t>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46658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01.11.3999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5</a:t>
                      </a:r>
                      <a:r>
                        <a:rPr lang="ru-RU" sz="1200" dirty="0"/>
                        <a:t>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20478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295210"/>
              </p:ext>
            </p:extLst>
          </p:nvPr>
        </p:nvGraphicFramePr>
        <p:xfrm>
          <a:off x="1834085" y="185311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Организация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849955"/>
              </p:ext>
            </p:extLst>
          </p:nvPr>
        </p:nvGraphicFramePr>
        <p:xfrm>
          <a:off x="2796108" y="1853118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463155"/>
              </p:ext>
            </p:extLst>
          </p:nvPr>
        </p:nvGraphicFramePr>
        <p:xfrm>
          <a:off x="1834085" y="2424791"/>
          <a:ext cx="126000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96156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640738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860751"/>
              </p:ext>
            </p:extLst>
          </p:nvPr>
        </p:nvGraphicFramePr>
        <p:xfrm>
          <a:off x="2796108" y="2424790"/>
          <a:ext cx="126000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3730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023179"/>
                  </a:ext>
                </a:extLst>
              </a:tr>
            </a:tbl>
          </a:graphicData>
        </a:graphic>
      </p:graphicFrame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932477"/>
              </p:ext>
            </p:extLst>
          </p:nvPr>
        </p:nvGraphicFramePr>
        <p:xfrm>
          <a:off x="4055467" y="184899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</a:t>
                      </a: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847167"/>
              </p:ext>
            </p:extLst>
          </p:nvPr>
        </p:nvGraphicFramePr>
        <p:xfrm>
          <a:off x="4055467" y="2420671"/>
          <a:ext cx="126000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Поставщикам</a:t>
                      </a:r>
                      <a:r>
                        <a:rPr lang="ru-RU" sz="1200" baseline="0" dirty="0"/>
                        <a:t> в.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От</a:t>
                      </a:r>
                      <a:r>
                        <a:rPr lang="ru-RU" sz="1200" baseline="0" dirty="0"/>
                        <a:t> покупателей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Поставщикам</a:t>
                      </a:r>
                      <a:r>
                        <a:rPr lang="ru-RU" sz="1200" baseline="0" dirty="0"/>
                        <a:t> в.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54186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От</a:t>
                      </a:r>
                      <a:r>
                        <a:rPr lang="ru-RU" sz="1200" baseline="0" dirty="0"/>
                        <a:t> покупателей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356001"/>
                  </a:ext>
                </a:extLst>
              </a:tr>
            </a:tbl>
          </a:graphicData>
        </a:graphic>
      </p:graphicFrame>
      <p:graphicFrame>
        <p:nvGraphicFramePr>
          <p:cNvPr id="69" name="Таблица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222620"/>
              </p:ext>
            </p:extLst>
          </p:nvPr>
        </p:nvGraphicFramePr>
        <p:xfrm>
          <a:off x="5319981" y="1849977"/>
          <a:ext cx="3433493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360599816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 Сумма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Дебет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Кредит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352971"/>
              </p:ext>
            </p:extLst>
          </p:nvPr>
        </p:nvGraphicFramePr>
        <p:xfrm>
          <a:off x="5319980" y="2422319"/>
          <a:ext cx="343349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421993278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1500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-1500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1800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-1500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3457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1800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956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39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38003" y="522007"/>
            <a:ext cx="8770938" cy="857250"/>
          </a:xfrm>
        </p:spPr>
        <p:txBody>
          <a:bodyPr/>
          <a:lstStyle/>
          <a:p>
            <a:r>
              <a:rPr lang="ru-RU" sz="2400" dirty="0"/>
              <a:t>Таблица остатков и оборотов по счетам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ru-RU" sz="2400" dirty="0"/>
              <a:t>Включили признак только обороты</a:t>
            </a:r>
          </a:p>
        </p:txBody>
      </p:sp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944974"/>
              </p:ext>
            </p:extLst>
          </p:nvPr>
        </p:nvGraphicFramePr>
        <p:xfrm>
          <a:off x="238003" y="1853118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Счет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Таблица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14583"/>
              </p:ext>
            </p:extLst>
          </p:nvPr>
        </p:nvGraphicFramePr>
        <p:xfrm>
          <a:off x="238003" y="2425460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50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50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687289"/>
              </p:ext>
            </p:extLst>
          </p:nvPr>
        </p:nvGraphicFramePr>
        <p:xfrm>
          <a:off x="1834085" y="185311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Организация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235149"/>
              </p:ext>
            </p:extLst>
          </p:nvPr>
        </p:nvGraphicFramePr>
        <p:xfrm>
          <a:off x="2796108" y="1853118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400357"/>
              </p:ext>
            </p:extLst>
          </p:nvPr>
        </p:nvGraphicFramePr>
        <p:xfrm>
          <a:off x="1834085" y="242479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883980"/>
              </p:ext>
            </p:extLst>
          </p:nvPr>
        </p:nvGraphicFramePr>
        <p:xfrm>
          <a:off x="2796108" y="2424790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" name="Таблица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238538"/>
              </p:ext>
            </p:extLst>
          </p:nvPr>
        </p:nvGraphicFramePr>
        <p:xfrm>
          <a:off x="4055467" y="184899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</a:t>
                      </a: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Таблица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816443"/>
              </p:ext>
            </p:extLst>
          </p:nvPr>
        </p:nvGraphicFramePr>
        <p:xfrm>
          <a:off x="4055467" y="242067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Поставщикам</a:t>
                      </a:r>
                      <a:r>
                        <a:rPr lang="ru-RU" sz="1200" baseline="0" dirty="0"/>
                        <a:t> в.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От</a:t>
                      </a:r>
                      <a:r>
                        <a:rPr lang="ru-RU" sz="1200" baseline="0" dirty="0"/>
                        <a:t> покупателей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114397"/>
              </p:ext>
            </p:extLst>
          </p:nvPr>
        </p:nvGraphicFramePr>
        <p:xfrm>
          <a:off x="5319981" y="1849977"/>
          <a:ext cx="3433493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360599816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 Сумма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Дебет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Кредит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" name="Таблица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902716"/>
              </p:ext>
            </p:extLst>
          </p:nvPr>
        </p:nvGraphicFramePr>
        <p:xfrm>
          <a:off x="5319980" y="2422319"/>
          <a:ext cx="3433494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421993278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1500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-1500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1800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" name="Таблица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091606"/>
              </p:ext>
            </p:extLst>
          </p:nvPr>
        </p:nvGraphicFramePr>
        <p:xfrm>
          <a:off x="238003" y="3320656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Счет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Таблица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309037"/>
              </p:ext>
            </p:extLst>
          </p:nvPr>
        </p:nvGraphicFramePr>
        <p:xfrm>
          <a:off x="238003" y="3892998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50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01.11.3999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50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466582"/>
                  </a:ext>
                </a:extLst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555709"/>
              </p:ext>
            </p:extLst>
          </p:nvPr>
        </p:nvGraphicFramePr>
        <p:xfrm>
          <a:off x="1834085" y="3320657"/>
          <a:ext cx="1543047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Организация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Таблица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784670"/>
              </p:ext>
            </p:extLst>
          </p:nvPr>
        </p:nvGraphicFramePr>
        <p:xfrm>
          <a:off x="2796108" y="3320656"/>
          <a:ext cx="1357309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7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Таблица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719179"/>
              </p:ext>
            </p:extLst>
          </p:nvPr>
        </p:nvGraphicFramePr>
        <p:xfrm>
          <a:off x="1834085" y="3892329"/>
          <a:ext cx="1543047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Таблица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397627"/>
              </p:ext>
            </p:extLst>
          </p:nvPr>
        </p:nvGraphicFramePr>
        <p:xfrm>
          <a:off x="2796108" y="3892328"/>
          <a:ext cx="1357309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7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5" name="Таблица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710370"/>
              </p:ext>
            </p:extLst>
          </p:nvPr>
        </p:nvGraphicFramePr>
        <p:xfrm>
          <a:off x="4153418" y="3324314"/>
          <a:ext cx="3433493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360599816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 Сумма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Дебет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Кредит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6" name="Таблица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025515"/>
              </p:ext>
            </p:extLst>
          </p:nvPr>
        </p:nvGraphicFramePr>
        <p:xfrm>
          <a:off x="4153417" y="3896656"/>
          <a:ext cx="3433494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421993278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300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345736"/>
                  </a:ext>
                </a:extLst>
              </a:tr>
            </a:tbl>
          </a:graphicData>
        </a:graphic>
      </p:graphicFrame>
      <p:sp>
        <p:nvSpPr>
          <p:cNvPr id="27" name="Rounded Rectangle 3"/>
          <p:cNvSpPr/>
          <p:nvPr/>
        </p:nvSpPr>
        <p:spPr>
          <a:xfrm>
            <a:off x="5193505" y="2338226"/>
            <a:ext cx="3686444" cy="721052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ounded Rectangle 3"/>
          <p:cNvSpPr/>
          <p:nvPr/>
        </p:nvSpPr>
        <p:spPr>
          <a:xfrm>
            <a:off x="4026942" y="3778186"/>
            <a:ext cx="3686444" cy="785579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85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idx="4294967295"/>
          </p:nvPr>
        </p:nvSpPr>
        <p:spPr>
          <a:xfrm>
            <a:off x="365125" y="569913"/>
            <a:ext cx="8778875" cy="857250"/>
          </a:xfrm>
        </p:spPr>
        <p:txBody>
          <a:bodyPr/>
          <a:lstStyle/>
          <a:p>
            <a:r>
              <a:rPr lang="ru-RU" sz="2800" dirty="0"/>
              <a:t>Отчет «Анализ движения денежных средств»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709" y="1511098"/>
            <a:ext cx="62198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2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98" y="1325880"/>
            <a:ext cx="5587538" cy="525456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876300"/>
          </a:xfrm>
        </p:spPr>
        <p:txBody>
          <a:bodyPr/>
          <a:lstStyle/>
          <a:p>
            <a:r>
              <a:rPr lang="ru-RU" dirty="0"/>
              <a:t>Произвольный признак учета субконто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2791" y="4345843"/>
            <a:ext cx="2146743" cy="90468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66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200379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остатков и оборотов по счетам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для счетов с двумя субконто до отключения</a:t>
            </a:r>
          </a:p>
        </p:txBody>
      </p:sp>
      <p:graphicFrame>
        <p:nvGraphicFramePr>
          <p:cNvPr id="55" name="Таблица 54"/>
          <p:cNvGraphicFramePr>
            <a:graphicFrameLocks noGrp="1"/>
          </p:cNvGraphicFramePr>
          <p:nvPr/>
        </p:nvGraphicFramePr>
        <p:xfrm>
          <a:off x="6577506" y="2179147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Кол-во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Кол-во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Кол-во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" name="Таблица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084898"/>
              </p:ext>
            </p:extLst>
          </p:nvPr>
        </p:nvGraphicFramePr>
        <p:xfrm>
          <a:off x="6577506" y="2751489"/>
          <a:ext cx="2448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</a:t>
                      </a:r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/>
        </p:nvGraphicFramePr>
        <p:xfrm>
          <a:off x="193179" y="2182287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Счет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Таблица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38093"/>
              </p:ext>
            </p:extLst>
          </p:nvPr>
        </p:nvGraphicFramePr>
        <p:xfrm>
          <a:off x="193179" y="2754629"/>
          <a:ext cx="2179595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1" name="Таблица 60"/>
          <p:cNvGraphicFramePr>
            <a:graphicFrameLocks noGrp="1"/>
          </p:cNvGraphicFramePr>
          <p:nvPr/>
        </p:nvGraphicFramePr>
        <p:xfrm>
          <a:off x="1560661" y="2182288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Организация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Таблица 61"/>
          <p:cNvGraphicFramePr>
            <a:graphicFrameLocks noGrp="1"/>
          </p:cNvGraphicFramePr>
          <p:nvPr/>
        </p:nvGraphicFramePr>
        <p:xfrm>
          <a:off x="2017859" y="218228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Таблица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593257"/>
              </p:ext>
            </p:extLst>
          </p:nvPr>
        </p:nvGraphicFramePr>
        <p:xfrm>
          <a:off x="1560661" y="2753960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4" name="Таблица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41647"/>
              </p:ext>
            </p:extLst>
          </p:nvPr>
        </p:nvGraphicFramePr>
        <p:xfrm>
          <a:off x="2017859" y="2753959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5" name="Таблица 64"/>
          <p:cNvGraphicFramePr>
            <a:graphicFrameLocks noGrp="1"/>
          </p:cNvGraphicFramePr>
          <p:nvPr/>
        </p:nvGraphicFramePr>
        <p:xfrm>
          <a:off x="2400918" y="2178168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 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Таблица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399676"/>
              </p:ext>
            </p:extLst>
          </p:nvPr>
        </p:nvGraphicFramePr>
        <p:xfrm>
          <a:off x="2400918" y="2749840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Груши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Груши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7" name="Таблица 66"/>
          <p:cNvGraphicFramePr>
            <a:graphicFrameLocks noGrp="1"/>
          </p:cNvGraphicFramePr>
          <p:nvPr/>
        </p:nvGraphicFramePr>
        <p:xfrm>
          <a:off x="3237059" y="218228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</a:t>
                      </a: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/>
        </p:nvGraphicFramePr>
        <p:xfrm>
          <a:off x="4126751" y="2179147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Таблица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34740"/>
              </p:ext>
            </p:extLst>
          </p:nvPr>
        </p:nvGraphicFramePr>
        <p:xfrm>
          <a:off x="3237059" y="2753959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Холодильник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Холодильник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4" name="Таблица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96045"/>
              </p:ext>
            </p:extLst>
          </p:nvPr>
        </p:nvGraphicFramePr>
        <p:xfrm>
          <a:off x="4126751" y="2751489"/>
          <a:ext cx="2448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1</a:t>
                      </a:r>
                      <a:r>
                        <a:rPr lang="en-US" sz="1200" dirty="0"/>
                        <a:t>0</a:t>
                      </a:r>
                      <a:r>
                        <a:rPr lang="ru-RU" sz="1200" dirty="0"/>
                        <a:t>000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7500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</a:t>
                      </a:r>
                      <a:r>
                        <a:rPr lang="ru-RU" sz="1200" dirty="0"/>
                        <a:t>000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75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2500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-2500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18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1249548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остатков и оборотов по счетам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для счетов с двумя субконто после отключения</a:t>
            </a:r>
          </a:p>
        </p:txBody>
      </p:sp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452303"/>
              </p:ext>
            </p:extLst>
          </p:nvPr>
        </p:nvGraphicFramePr>
        <p:xfrm>
          <a:off x="6577506" y="3873449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Кол-во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Кол-во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Кол-во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479882"/>
              </p:ext>
            </p:extLst>
          </p:nvPr>
        </p:nvGraphicFramePr>
        <p:xfrm>
          <a:off x="6577506" y="4445791"/>
          <a:ext cx="2448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/>
                        <a:t>1</a:t>
                      </a:r>
                      <a:r>
                        <a:rPr lang="en-US" sz="1200" b="1" dirty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/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11921"/>
              </p:ext>
            </p:extLst>
          </p:nvPr>
        </p:nvGraphicFramePr>
        <p:xfrm>
          <a:off x="193179" y="3876589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Счет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48266"/>
              </p:ext>
            </p:extLst>
          </p:nvPr>
        </p:nvGraphicFramePr>
        <p:xfrm>
          <a:off x="193179" y="4448931"/>
          <a:ext cx="2179595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501737"/>
              </p:ext>
            </p:extLst>
          </p:nvPr>
        </p:nvGraphicFramePr>
        <p:xfrm>
          <a:off x="1560661" y="3876590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Организация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575049"/>
              </p:ext>
            </p:extLst>
          </p:nvPr>
        </p:nvGraphicFramePr>
        <p:xfrm>
          <a:off x="2017859" y="387658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Таблица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917938"/>
              </p:ext>
            </p:extLst>
          </p:nvPr>
        </p:nvGraphicFramePr>
        <p:xfrm>
          <a:off x="1560661" y="4448262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48020"/>
              </p:ext>
            </p:extLst>
          </p:nvPr>
        </p:nvGraphicFramePr>
        <p:xfrm>
          <a:off x="2017859" y="4448261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087290"/>
              </p:ext>
            </p:extLst>
          </p:nvPr>
        </p:nvGraphicFramePr>
        <p:xfrm>
          <a:off x="2400918" y="3872470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 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Таблица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51101"/>
              </p:ext>
            </p:extLst>
          </p:nvPr>
        </p:nvGraphicFramePr>
        <p:xfrm>
          <a:off x="2400918" y="4444142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Груши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Груши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613526"/>
              </p:ext>
            </p:extLst>
          </p:nvPr>
        </p:nvGraphicFramePr>
        <p:xfrm>
          <a:off x="3237059" y="387658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</a:t>
                      </a: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692737"/>
              </p:ext>
            </p:extLst>
          </p:nvPr>
        </p:nvGraphicFramePr>
        <p:xfrm>
          <a:off x="4126751" y="3873449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493250"/>
              </p:ext>
            </p:extLst>
          </p:nvPr>
        </p:nvGraphicFramePr>
        <p:xfrm>
          <a:off x="3237059" y="4448261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Холодильник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Холодильник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873568"/>
              </p:ext>
            </p:extLst>
          </p:nvPr>
        </p:nvGraphicFramePr>
        <p:xfrm>
          <a:off x="4126751" y="4445791"/>
          <a:ext cx="2448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12000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5" name="Таблица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227190"/>
              </p:ext>
            </p:extLst>
          </p:nvPr>
        </p:nvGraphicFramePr>
        <p:xfrm>
          <a:off x="6117546" y="1928288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Кол-во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Кол-во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Кол-во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" name="Таблица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542167"/>
              </p:ext>
            </p:extLst>
          </p:nvPr>
        </p:nvGraphicFramePr>
        <p:xfrm>
          <a:off x="6117546" y="2500630"/>
          <a:ext cx="2448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952976"/>
              </p:ext>
            </p:extLst>
          </p:nvPr>
        </p:nvGraphicFramePr>
        <p:xfrm>
          <a:off x="190424" y="1931428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Счет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380612"/>
              </p:ext>
            </p:extLst>
          </p:nvPr>
        </p:nvGraphicFramePr>
        <p:xfrm>
          <a:off x="190424" y="2503770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/>
                        <a:t>01.04.2015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807218"/>
              </p:ext>
            </p:extLst>
          </p:nvPr>
        </p:nvGraphicFramePr>
        <p:xfrm>
          <a:off x="1557906" y="193142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Организация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321746"/>
              </p:ext>
            </p:extLst>
          </p:nvPr>
        </p:nvGraphicFramePr>
        <p:xfrm>
          <a:off x="2015104" y="1931428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355128"/>
              </p:ext>
            </p:extLst>
          </p:nvPr>
        </p:nvGraphicFramePr>
        <p:xfrm>
          <a:off x="1557906" y="250310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2486"/>
              </p:ext>
            </p:extLst>
          </p:nvPr>
        </p:nvGraphicFramePr>
        <p:xfrm>
          <a:off x="2015104" y="2503100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366826"/>
              </p:ext>
            </p:extLst>
          </p:nvPr>
        </p:nvGraphicFramePr>
        <p:xfrm>
          <a:off x="2400918" y="192730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 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527959"/>
              </p:ext>
            </p:extLst>
          </p:nvPr>
        </p:nvGraphicFramePr>
        <p:xfrm>
          <a:off x="2400918" y="249898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8" name="Таблица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443633"/>
              </p:ext>
            </p:extLst>
          </p:nvPr>
        </p:nvGraphicFramePr>
        <p:xfrm>
          <a:off x="3666791" y="1928288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остаток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Обороты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</a:t>
                      </a:r>
                      <a:r>
                        <a:rPr lang="ru-RU" sz="1200" dirty="0" err="1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Сумма </a:t>
                      </a:r>
                      <a:r>
                        <a:rPr lang="ru-RU" sz="1200" dirty="0" err="1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686522"/>
              </p:ext>
            </p:extLst>
          </p:nvPr>
        </p:nvGraphicFramePr>
        <p:xfrm>
          <a:off x="3666791" y="2500630"/>
          <a:ext cx="2448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/>
                        <a:t>1</a:t>
                      </a:r>
                      <a:r>
                        <a:rPr lang="en-US" sz="1200" b="1" dirty="0"/>
                        <a:t>5</a:t>
                      </a:r>
                      <a:r>
                        <a:rPr lang="ru-RU" sz="1200" b="1" dirty="0"/>
                        <a:t>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15000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" name="Rounded Rectangle 3"/>
          <p:cNvSpPr/>
          <p:nvPr/>
        </p:nvSpPr>
        <p:spPr>
          <a:xfrm>
            <a:off x="4077316" y="4716662"/>
            <a:ext cx="2580659" cy="603977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Rounded Rectangle 3"/>
          <p:cNvSpPr/>
          <p:nvPr/>
        </p:nvSpPr>
        <p:spPr>
          <a:xfrm>
            <a:off x="4060421" y="5488969"/>
            <a:ext cx="2580659" cy="603977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Rounded Rectangle 3"/>
          <p:cNvSpPr/>
          <p:nvPr/>
        </p:nvSpPr>
        <p:spPr>
          <a:xfrm>
            <a:off x="3600461" y="1827931"/>
            <a:ext cx="2580660" cy="1325474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95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750"/>
                            </p:stCondLst>
                            <p:childTnLst>
                              <p:par>
                                <p:cTn id="30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250"/>
                            </p:stCondLst>
                            <p:childTnLst>
                              <p:par>
                                <p:cTn id="3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1" grpId="1" animBg="1"/>
      <p:bldP spid="71" grpId="2" animBg="1"/>
      <p:bldP spid="72" grpId="0" animBg="1"/>
      <p:bldP spid="72" grpId="1" animBg="1"/>
      <p:bldP spid="72" grpId="2" animBg="1"/>
      <p:bldP spid="73" grpId="0" animBg="1"/>
      <p:bldP spid="73" grpId="1" animBg="1"/>
      <p:bldP spid="73" grpId="2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Пользовательские субконто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Сводные отчеты без существенной детализации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129984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520498"/>
          </a:xfrm>
        </p:spPr>
        <p:txBody>
          <a:bodyPr/>
          <a:lstStyle/>
          <a:p>
            <a:r>
              <a:rPr lang="ru-RU" dirty="0"/>
              <a:t>Субконто «Образование»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82" y="1351511"/>
            <a:ext cx="6257925" cy="42100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703" y="2763549"/>
            <a:ext cx="4219575" cy="3076575"/>
          </a:xfrm>
          <a:prstGeom prst="rect">
            <a:avLst/>
          </a:prstGeom>
        </p:spPr>
      </p:pic>
      <p:sp>
        <p:nvSpPr>
          <p:cNvPr id="7" name="Выноска 2 6"/>
          <p:cNvSpPr/>
          <p:nvPr/>
        </p:nvSpPr>
        <p:spPr>
          <a:xfrm>
            <a:off x="1384067" y="1953491"/>
            <a:ext cx="2315097" cy="336796"/>
          </a:xfrm>
          <a:prstGeom prst="borderCallout2">
            <a:avLst>
              <a:gd name="adj1" fmla="val 47321"/>
              <a:gd name="adj2" fmla="val 100259"/>
              <a:gd name="adj3" fmla="val -66522"/>
              <a:gd name="adj4" fmla="val 202852"/>
              <a:gd name="adj5" fmla="val 366471"/>
              <a:gd name="adj6" fmla="val 255149"/>
            </a:avLst>
          </a:prstGeom>
          <a:noFill/>
          <a:ln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84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578081"/>
          </a:xfrm>
        </p:spPr>
        <p:txBody>
          <a:bodyPr/>
          <a:lstStyle/>
          <a:p>
            <a:r>
              <a:rPr lang="ru-RU" dirty="0"/>
              <a:t>Добавление пользовательского субконто к счету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03" y="1565393"/>
            <a:ext cx="4987983" cy="476708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38596" y="4862945"/>
            <a:ext cx="5170517" cy="290946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13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578081"/>
          </a:xfrm>
        </p:spPr>
        <p:txBody>
          <a:bodyPr/>
          <a:lstStyle/>
          <a:p>
            <a:r>
              <a:rPr lang="ru-RU" dirty="0"/>
              <a:t>Приведение к нужному типу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56" y="1130531"/>
            <a:ext cx="7219950" cy="4800600"/>
          </a:xfrm>
          <a:prstGeom prst="rect">
            <a:avLst/>
          </a:prstGeom>
        </p:spPr>
      </p:pic>
      <p:sp>
        <p:nvSpPr>
          <p:cNvPr id="6" name="Выноска 2 5"/>
          <p:cNvSpPr/>
          <p:nvPr/>
        </p:nvSpPr>
        <p:spPr>
          <a:xfrm>
            <a:off x="1263534" y="4123113"/>
            <a:ext cx="4214553" cy="465513"/>
          </a:xfrm>
          <a:prstGeom prst="borderCallout2">
            <a:avLst>
              <a:gd name="adj1" fmla="val 47321"/>
              <a:gd name="adj2" fmla="val 100259"/>
              <a:gd name="adj3" fmla="val 111608"/>
              <a:gd name="adj4" fmla="val 107087"/>
              <a:gd name="adj5" fmla="val 137500"/>
              <a:gd name="adj6" fmla="val 95886"/>
            </a:avLst>
          </a:prstGeom>
          <a:noFill/>
          <a:ln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Выноска 2 6"/>
          <p:cNvSpPr/>
          <p:nvPr/>
        </p:nvSpPr>
        <p:spPr>
          <a:xfrm>
            <a:off x="1263533" y="4123113"/>
            <a:ext cx="4214553" cy="465513"/>
          </a:xfrm>
          <a:prstGeom prst="borderCallout2">
            <a:avLst>
              <a:gd name="adj1" fmla="val 47321"/>
              <a:gd name="adj2" fmla="val 100259"/>
              <a:gd name="adj3" fmla="val 106251"/>
              <a:gd name="adj4" fmla="val 119908"/>
              <a:gd name="adj5" fmla="val 203571"/>
              <a:gd name="adj6" fmla="val 96083"/>
            </a:avLst>
          </a:prstGeom>
          <a:noFill/>
          <a:ln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6287077" y="4123113"/>
            <a:ext cx="2527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Приведение полей составного типа к нужному типу</a:t>
            </a:r>
          </a:p>
        </p:txBody>
      </p:sp>
    </p:spTree>
    <p:extLst>
      <p:ext uri="{BB962C8B-B14F-4D97-AF65-F5344CB8AC3E}">
        <p14:creationId xmlns:p14="http://schemas.microsoft.com/office/powerpoint/2010/main" val="1629628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578081"/>
          </a:xfrm>
        </p:spPr>
        <p:txBody>
          <a:bodyPr/>
          <a:lstStyle/>
          <a:p>
            <a:r>
              <a:rPr lang="ru-RU" dirty="0"/>
              <a:t>Настройка фильтров при выборе значения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56" y="1502006"/>
            <a:ext cx="7219950" cy="48006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889" y="1676054"/>
            <a:ext cx="4219575" cy="2438400"/>
          </a:xfrm>
          <a:prstGeom prst="rect">
            <a:avLst/>
          </a:prstGeom>
        </p:spPr>
      </p:pic>
      <p:sp>
        <p:nvSpPr>
          <p:cNvPr id="6" name="Выноска 2 5"/>
          <p:cNvSpPr/>
          <p:nvPr/>
        </p:nvSpPr>
        <p:spPr>
          <a:xfrm>
            <a:off x="1330036" y="4846320"/>
            <a:ext cx="4214553" cy="465513"/>
          </a:xfrm>
          <a:prstGeom prst="borderCallout2">
            <a:avLst>
              <a:gd name="adj1" fmla="val -893"/>
              <a:gd name="adj2" fmla="val 95328"/>
              <a:gd name="adj3" fmla="val -66964"/>
              <a:gd name="adj4" fmla="val 113005"/>
              <a:gd name="adj5" fmla="val -217857"/>
              <a:gd name="adj6" fmla="val 122119"/>
            </a:avLst>
          </a:prstGeom>
          <a:noFill/>
          <a:ln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094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695862"/>
          </a:xfrm>
        </p:spPr>
        <p:txBody>
          <a:bodyPr/>
          <a:lstStyle/>
          <a:p>
            <a:r>
              <a:rPr lang="ru-RU" dirty="0"/>
              <a:t>Параметры выбора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14" y="1163782"/>
            <a:ext cx="4269105" cy="442341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319" y="1248312"/>
            <a:ext cx="4207820" cy="457174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95" y="3734232"/>
            <a:ext cx="3381375" cy="2714625"/>
          </a:xfrm>
          <a:prstGeom prst="rect">
            <a:avLst/>
          </a:prstGeom>
        </p:spPr>
      </p:pic>
      <p:sp>
        <p:nvSpPr>
          <p:cNvPr id="9" name="Выноска 2 8"/>
          <p:cNvSpPr/>
          <p:nvPr/>
        </p:nvSpPr>
        <p:spPr>
          <a:xfrm>
            <a:off x="4582319" y="4451985"/>
            <a:ext cx="4279048" cy="280978"/>
          </a:xfrm>
          <a:prstGeom prst="borderCallout2">
            <a:avLst>
              <a:gd name="adj1" fmla="val 97321"/>
              <a:gd name="adj2" fmla="val 44138"/>
              <a:gd name="adj3" fmla="val 516733"/>
              <a:gd name="adj4" fmla="val 24059"/>
              <a:gd name="adj5" fmla="val 414132"/>
              <a:gd name="adj6" fmla="val -24102"/>
            </a:avLst>
          </a:prstGeom>
          <a:noFill/>
          <a:ln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00893"/>
      </p:ext>
    </p:extLst>
  </p:cSld>
  <p:clrMapOvr>
    <a:masterClrMapping/>
  </p:clrMapOvr>
</p:sld>
</file>

<file path=ppt/theme/theme1.xml><?xml version="1.0" encoding="utf-8"?>
<a:theme xmlns:a="http://schemas.openxmlformats.org/drawingml/2006/main" name="1_СофтБаланс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" id="{E28DB206-F0E9-4087-AA1C-9CD0FACF118C}" vid="{B6255B0A-2715-4781-AD83-3C8532471FFD}"/>
    </a:ext>
  </a:extLst>
</a:theme>
</file>

<file path=ppt/theme/theme2.xml><?xml version="1.0" encoding="utf-8"?>
<a:theme xmlns:a="http://schemas.openxmlformats.org/drawingml/2006/main" name="СофтБаланс_БухгалтерскийУчет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БухгалтерскийУчет" id="{7F72F8D9-2713-4673-8BBB-8953CDFC47FD}" vid="{7D13FDD6-802B-4F23-A255-BEF0D1C062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1186</TotalTime>
  <Words>1628</Words>
  <Application>Microsoft Office PowerPoint</Application>
  <PresentationFormat>Экран (4:3)</PresentationFormat>
  <Paragraphs>777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33</vt:i4>
      </vt:variant>
    </vt:vector>
  </HeadingPairs>
  <TitlesOfParts>
    <vt:vector size="41" baseType="lpstr">
      <vt:lpstr>Arial</vt:lpstr>
      <vt:lpstr>Arial Black</vt:lpstr>
      <vt:lpstr>Calibri</vt:lpstr>
      <vt:lpstr>Tahoma</vt:lpstr>
      <vt:lpstr>Verdana</vt:lpstr>
      <vt:lpstr>Wingdings</vt:lpstr>
      <vt:lpstr>1_СофтБаланс</vt:lpstr>
      <vt:lpstr>СофтБаланс_БухгалтерскийУчет</vt:lpstr>
      <vt:lpstr>Занятие 15</vt:lpstr>
      <vt:lpstr>валютный учет</vt:lpstr>
      <vt:lpstr>Валютный учет</vt:lpstr>
      <vt:lpstr>Признак учета</vt:lpstr>
      <vt:lpstr>Специальный реквизит типа булево</vt:lpstr>
      <vt:lpstr>Настройка в регистре бухгалтерии</vt:lpstr>
      <vt:lpstr>Таблица движений по счетам до изменения.</vt:lpstr>
      <vt:lpstr>Таблица движений по счетам после изменений</vt:lpstr>
      <vt:lpstr>Таблица остатков и оборотов по счетам до изменения.</vt:lpstr>
      <vt:lpstr>Таблица остатков и оборотов по счетам после изменения</vt:lpstr>
      <vt:lpstr>Таблица оборотов между счетами до изменения</vt:lpstr>
      <vt:lpstr>Таблица оборотов между счетами после изменения</vt:lpstr>
      <vt:lpstr>Отчет «Курсовые разницы»</vt:lpstr>
      <vt:lpstr>Трехвалютный учет</vt:lpstr>
      <vt:lpstr>Вступительный баланс</vt:lpstr>
      <vt:lpstr>Операции за период</vt:lpstr>
      <vt:lpstr>Баланс после окончания периода</vt:lpstr>
      <vt:lpstr>Баланс после окончания периода</vt:lpstr>
      <vt:lpstr>Оценка фактов сразу в двух валютах по курсу на дату операции</vt:lpstr>
      <vt:lpstr>Признаки учета субконто</vt:lpstr>
      <vt:lpstr>Признак учета субконто «Только обороты»</vt:lpstr>
      <vt:lpstr>Таблица остатков и оборотов по счетам Добавили субконто «ДДС» к счету 50 </vt:lpstr>
      <vt:lpstr>Таблица остатков и оборотов по счетам Включили признак только обороты</vt:lpstr>
      <vt:lpstr>Отчет «Анализ движения денежных средств»</vt:lpstr>
      <vt:lpstr>Произвольный признак учета субконто</vt:lpstr>
      <vt:lpstr>Таблица остатков и оборотов по счетам для счетов с двумя субконто до отключения</vt:lpstr>
      <vt:lpstr>Таблица остатков и оборотов по счетам для счетов с двумя субконто после отключения</vt:lpstr>
      <vt:lpstr>Пользовательские субконто</vt:lpstr>
      <vt:lpstr>Субконто «Образование»</vt:lpstr>
      <vt:lpstr>Добавление пользовательского субконто к счету</vt:lpstr>
      <vt:lpstr>Приведение к нужному типу</vt:lpstr>
      <vt:lpstr>Настройка фильтров при выборе значения</vt:lpstr>
      <vt:lpstr>Параметры выбора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5</dc:title>
  <dc:creator>eugeniy sizov</dc:creator>
  <cp:lastModifiedBy>eugeniy sizov</cp:lastModifiedBy>
  <cp:revision>39</cp:revision>
  <dcterms:created xsi:type="dcterms:W3CDTF">2016-03-14T11:54:56Z</dcterms:created>
  <dcterms:modified xsi:type="dcterms:W3CDTF">2020-10-31T09:26:58Z</dcterms:modified>
</cp:coreProperties>
</file>