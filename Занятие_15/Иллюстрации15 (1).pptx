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1" r:id="rId1"/>
    <p:sldMasterId id="2147483690" r:id="rId2"/>
  </p:sldMasterIdLst>
  <p:sldIdLst>
    <p:sldId id="276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89" r:id="rId16"/>
    <p:sldId id="290" r:id="rId17"/>
    <p:sldId id="291" r:id="rId18"/>
    <p:sldId id="292" r:id="rId19"/>
    <p:sldId id="293" r:id="rId20"/>
    <p:sldId id="294" r:id="rId21"/>
    <p:sldId id="262" r:id="rId22"/>
    <p:sldId id="260" r:id="rId23"/>
    <p:sldId id="261" r:id="rId24"/>
    <p:sldId id="259" r:id="rId25"/>
    <p:sldId id="264" r:id="rId26"/>
    <p:sldId id="265" r:id="rId27"/>
    <p:sldId id="271" r:id="rId28"/>
    <p:sldId id="272" r:id="rId29"/>
    <p:sldId id="273" r:id="rId30"/>
    <p:sldId id="267" r:id="rId31"/>
    <p:sldId id="275" r:id="rId32"/>
    <p:sldId id="268" r:id="rId33"/>
    <p:sldId id="257" r:id="rId3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24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45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4"/>
          <p:cNvSpPr txBox="1">
            <a:spLocks noChangeArrowheads="1"/>
          </p:cNvSpPr>
          <p:nvPr/>
        </p:nvSpPr>
        <p:spPr bwMode="auto">
          <a:xfrm>
            <a:off x="5435600" y="138113"/>
            <a:ext cx="35258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>
              <a:defRPr/>
            </a:pPr>
            <a:r>
              <a:rPr lang="ru-RU" sz="1600" dirty="0" smtClean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Дата семинара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79512" y="908719"/>
            <a:ext cx="8735864" cy="720081"/>
          </a:xfrm>
        </p:spPr>
        <p:txBody>
          <a:bodyPr/>
          <a:lstStyle>
            <a:lvl1pPr algn="ctr">
              <a:defRPr sz="3600" baseline="0"/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79512" y="1777106"/>
            <a:ext cx="8735864" cy="222339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rgbClr val="0070C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9775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85862" y="1980853"/>
            <a:ext cx="8778626" cy="3968427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buClr>
                <a:srgbClr val="C00000"/>
              </a:buClr>
              <a:buFontTx/>
              <a:buBlip>
                <a:blip r:embed="rId2"/>
              </a:buBlip>
              <a:defRPr/>
            </a:lvl1pPr>
            <a:lvl2pPr>
              <a:buClr>
                <a:srgbClr val="FF0000"/>
              </a:buClr>
              <a:buFont typeface="Verdana" pitchFamily="34" charset="0"/>
              <a:buChar char="•"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Clr>
                <a:srgbClr val="FF0000"/>
              </a:buClr>
              <a:buFont typeface="Wingdings" pitchFamily="2" charset="2"/>
              <a:buChar char="§"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b="0"/>
            </a:lvl4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74651" y="912465"/>
            <a:ext cx="8778626" cy="857250"/>
          </a:xfrm>
        </p:spPr>
        <p:txBody>
          <a:bodyPr/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5" name="TextBox 14"/>
          <p:cNvSpPr txBox="1">
            <a:spLocks noChangeArrowheads="1"/>
          </p:cNvSpPr>
          <p:nvPr userDrawn="1"/>
        </p:nvSpPr>
        <p:spPr bwMode="auto">
          <a:xfrm>
            <a:off x="5435600" y="138113"/>
            <a:ext cx="35258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>
              <a:defRPr/>
            </a:pPr>
            <a:r>
              <a:rPr lang="ru-RU" sz="1600" u="sng" dirty="0" smtClean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Бухгалтерские</a:t>
            </a:r>
            <a:r>
              <a:rPr lang="ru-RU" sz="1600" u="sng" baseline="0" dirty="0" smtClean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 задачи</a:t>
            </a:r>
            <a:endParaRPr lang="ru-RU" sz="1600" u="sng" dirty="0" smtClean="0">
              <a:solidFill>
                <a:srgbClr val="0070C0"/>
              </a:solidFill>
              <a:latin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4059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85862" y="1980853"/>
            <a:ext cx="3954090" cy="3968427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buClr>
                <a:srgbClr val="C00000"/>
              </a:buClr>
              <a:buFontTx/>
              <a:buBlip>
                <a:blip r:embed="rId2"/>
              </a:buBlip>
              <a:defRPr/>
            </a:lvl1pPr>
            <a:lvl2pPr>
              <a:buClr>
                <a:srgbClr val="FF0000"/>
              </a:buClr>
              <a:buFont typeface="Verdana" pitchFamily="34" charset="0"/>
              <a:buChar char="•"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Clr>
                <a:srgbClr val="FF0000"/>
              </a:buClr>
              <a:buFont typeface="Wingdings" pitchFamily="2" charset="2"/>
              <a:buChar char="§"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b="0"/>
            </a:lvl4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74651" y="836712"/>
            <a:ext cx="8778626" cy="933003"/>
          </a:xfrm>
        </p:spPr>
        <p:txBody>
          <a:bodyPr/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5" name="Рисунок 2"/>
          <p:cNvSpPr>
            <a:spLocks noGrp="1"/>
          </p:cNvSpPr>
          <p:nvPr>
            <p:ph type="pic" idx="10"/>
          </p:nvPr>
        </p:nvSpPr>
        <p:spPr>
          <a:xfrm>
            <a:off x="4314207" y="1980853"/>
            <a:ext cx="4629150" cy="39684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 smtClean="0"/>
              <a:t>Вставка рисунка</a:t>
            </a:r>
            <a:endParaRPr lang="ru-RU" noProof="0" dirty="0"/>
          </a:p>
        </p:txBody>
      </p:sp>
      <p:sp>
        <p:nvSpPr>
          <p:cNvPr id="8" name="TextBox 14"/>
          <p:cNvSpPr txBox="1">
            <a:spLocks noChangeArrowheads="1"/>
          </p:cNvSpPr>
          <p:nvPr userDrawn="1"/>
        </p:nvSpPr>
        <p:spPr bwMode="auto">
          <a:xfrm>
            <a:off x="5435600" y="138113"/>
            <a:ext cx="35258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>
              <a:defRPr/>
            </a:pPr>
            <a:r>
              <a:rPr lang="ru-RU" sz="1600" u="sng" dirty="0" smtClean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Бухгалтерские</a:t>
            </a:r>
            <a:r>
              <a:rPr lang="ru-RU" sz="1600" u="sng" baseline="0" dirty="0" smtClean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 задачи</a:t>
            </a:r>
            <a:endParaRPr lang="ru-RU" sz="1600" u="sng" dirty="0" smtClean="0">
              <a:solidFill>
                <a:srgbClr val="0070C0"/>
              </a:solidFill>
              <a:latin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3868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85862" y="1980853"/>
            <a:ext cx="8778626" cy="3968427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buClr>
                <a:srgbClr val="C00000"/>
              </a:buClr>
              <a:buFontTx/>
              <a:buBlip>
                <a:blip r:embed="rId2"/>
              </a:buBlip>
              <a:defRPr/>
            </a:lvl1pPr>
            <a:lvl2pPr>
              <a:buClr>
                <a:srgbClr val="FF0000"/>
              </a:buClr>
              <a:buFont typeface="Verdana" pitchFamily="34" charset="0"/>
              <a:buChar char="•"/>
              <a:defRPr sz="2400">
                <a:solidFill>
                  <a:srgbClr val="FF0000"/>
                </a:solidFill>
              </a:defRPr>
            </a:lvl2pPr>
            <a:lvl3pPr>
              <a:buClr>
                <a:srgbClr val="FF0000"/>
              </a:buClr>
              <a:buFont typeface="Wingdings" pitchFamily="2" charset="2"/>
              <a:buChar char="§"/>
              <a:defRPr b="1">
                <a:solidFill>
                  <a:srgbClr val="0070C0"/>
                </a:solidFill>
              </a:defRPr>
            </a:lvl3pPr>
            <a:lvl4pPr>
              <a:defRPr b="0"/>
            </a:lvl4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74651" y="912465"/>
            <a:ext cx="8778626" cy="857250"/>
          </a:xfrm>
        </p:spPr>
        <p:txBody>
          <a:bodyPr/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5" name="TextBox 14"/>
          <p:cNvSpPr txBox="1">
            <a:spLocks noChangeArrowheads="1"/>
          </p:cNvSpPr>
          <p:nvPr userDrawn="1"/>
        </p:nvSpPr>
        <p:spPr bwMode="auto">
          <a:xfrm>
            <a:off x="5435600" y="138113"/>
            <a:ext cx="35258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>
              <a:defRPr/>
            </a:pPr>
            <a:r>
              <a:rPr lang="ru-RU" sz="1600" u="sng" dirty="0" smtClean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Бухгалтерские</a:t>
            </a:r>
            <a:r>
              <a:rPr lang="ru-RU" sz="1600" u="sng" baseline="0" dirty="0" smtClean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 задачи</a:t>
            </a:r>
            <a:endParaRPr lang="ru-RU" sz="1600" u="sng" dirty="0" smtClean="0">
              <a:solidFill>
                <a:srgbClr val="0070C0"/>
              </a:solidFill>
              <a:latin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9621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4"/>
          <p:cNvSpPr txBox="1">
            <a:spLocks noChangeArrowheads="1"/>
          </p:cNvSpPr>
          <p:nvPr userDrawn="1"/>
        </p:nvSpPr>
        <p:spPr bwMode="auto">
          <a:xfrm>
            <a:off x="5435600" y="138113"/>
            <a:ext cx="35258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>
              <a:defRPr/>
            </a:pPr>
            <a:r>
              <a:rPr lang="ru-RU" sz="1600" u="sng" dirty="0" smtClean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Бухгалтерские</a:t>
            </a:r>
            <a:r>
              <a:rPr lang="ru-RU" sz="1600" u="sng" baseline="0" dirty="0" smtClean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 задачи</a:t>
            </a:r>
            <a:endParaRPr lang="ru-RU" sz="1600" u="sng" dirty="0" smtClean="0">
              <a:solidFill>
                <a:srgbClr val="0070C0"/>
              </a:solidFill>
              <a:latin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050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4788" y="908720"/>
            <a:ext cx="8789700" cy="857250"/>
          </a:xfrm>
        </p:spPr>
        <p:txBody>
          <a:bodyPr/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38196" y="1911571"/>
            <a:ext cx="7643813" cy="396875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  <p:sp>
        <p:nvSpPr>
          <p:cNvPr id="5" name="TextBox 14"/>
          <p:cNvSpPr txBox="1">
            <a:spLocks noChangeArrowheads="1"/>
          </p:cNvSpPr>
          <p:nvPr userDrawn="1"/>
        </p:nvSpPr>
        <p:spPr bwMode="auto">
          <a:xfrm>
            <a:off x="5435600" y="138113"/>
            <a:ext cx="35258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>
              <a:defRPr/>
            </a:pPr>
            <a:r>
              <a:rPr lang="ru-RU" sz="1600" u="sng" dirty="0" smtClean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Бухгалтерские</a:t>
            </a:r>
            <a:r>
              <a:rPr lang="ru-RU" sz="1600" u="sng" baseline="0" dirty="0" smtClean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 задачи</a:t>
            </a:r>
            <a:endParaRPr lang="ru-RU" sz="1600" u="sng" dirty="0" smtClean="0">
              <a:solidFill>
                <a:srgbClr val="0070C0"/>
              </a:solidFill>
              <a:latin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072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3255167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10679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одзаголовок 2"/>
          <p:cNvSpPr txBox="1">
            <a:spLocks/>
          </p:cNvSpPr>
          <p:nvPr/>
        </p:nvSpPr>
        <p:spPr bwMode="auto">
          <a:xfrm>
            <a:off x="179388" y="115888"/>
            <a:ext cx="6768876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Clr>
                <a:srgbClr val="C00000"/>
              </a:buClr>
              <a:defRPr/>
            </a:pPr>
            <a:r>
              <a:rPr kumimoji="0" lang="ru-RU" sz="1800" b="1" dirty="0" smtClean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Конфигурирование</a:t>
            </a:r>
            <a:r>
              <a:rPr kumimoji="0" lang="ru-RU" sz="1800" b="1" baseline="0" dirty="0" smtClean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в системе 1С: Предприятие 8</a:t>
            </a:r>
            <a:endParaRPr kumimoji="0" lang="ru-RU" sz="1800" b="1" dirty="0" smtClean="0">
              <a:solidFill>
                <a:srgbClr val="0070C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79388" y="548679"/>
            <a:ext cx="8784000" cy="720081"/>
          </a:xfrm>
        </p:spPr>
        <p:txBody>
          <a:bodyPr/>
          <a:lstStyle>
            <a:lvl1pPr algn="ctr">
              <a:defRPr sz="3200" baseline="0"/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79388" y="1293839"/>
            <a:ext cx="8782050" cy="222339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rgbClr val="0070C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09267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85862" y="1268680"/>
            <a:ext cx="8784000" cy="4968631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buClr>
                <a:srgbClr val="C00000"/>
              </a:buClr>
              <a:buFontTx/>
              <a:buBlip>
                <a:blip r:embed="rId2"/>
              </a:buBlip>
              <a:defRPr/>
            </a:lvl1pPr>
            <a:lvl2pPr>
              <a:buClr>
                <a:srgbClr val="FF0000"/>
              </a:buClr>
              <a:buFont typeface="Verdana" pitchFamily="34" charset="0"/>
              <a:buChar char="•"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Clr>
                <a:srgbClr val="FF0000"/>
              </a:buClr>
              <a:buFont typeface="Wingdings" pitchFamily="2" charset="2"/>
              <a:buChar char="§"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b="0"/>
            </a:lvl4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85862" y="548680"/>
            <a:ext cx="8784000" cy="72000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4" name="TextBox 14"/>
          <p:cNvSpPr txBox="1">
            <a:spLocks noChangeArrowheads="1"/>
          </p:cNvSpPr>
          <p:nvPr userDrawn="1"/>
        </p:nvSpPr>
        <p:spPr bwMode="auto">
          <a:xfrm>
            <a:off x="5435600" y="138113"/>
            <a:ext cx="35258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>
              <a:defRPr/>
            </a:pPr>
            <a:r>
              <a:rPr lang="ru-RU" sz="1600" u="sng" dirty="0" smtClean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Бухгалтерские</a:t>
            </a:r>
            <a:r>
              <a:rPr lang="ru-RU" sz="1600" u="sng" baseline="0" dirty="0" smtClean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 задачи</a:t>
            </a:r>
            <a:endParaRPr lang="ru-RU" sz="1600" u="sng" dirty="0" smtClean="0">
              <a:solidFill>
                <a:srgbClr val="0070C0"/>
              </a:solidFill>
              <a:latin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9499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85862" y="1340768"/>
            <a:ext cx="3954090" cy="4896543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buClr>
                <a:srgbClr val="C00000"/>
              </a:buClr>
              <a:buFontTx/>
              <a:buBlip>
                <a:blip r:embed="rId2"/>
              </a:buBlip>
              <a:defRPr/>
            </a:lvl1pPr>
            <a:lvl2pPr>
              <a:buClr>
                <a:srgbClr val="FF0000"/>
              </a:buClr>
              <a:buFont typeface="Verdana" pitchFamily="34" charset="0"/>
              <a:buChar char="•"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Clr>
                <a:srgbClr val="FF0000"/>
              </a:buClr>
              <a:buFont typeface="Wingdings" pitchFamily="2" charset="2"/>
              <a:buChar char="§"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b="0"/>
            </a:lvl4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85862" y="548680"/>
            <a:ext cx="8784000" cy="72008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5" name="Рисунок 2"/>
          <p:cNvSpPr>
            <a:spLocks noGrp="1"/>
          </p:cNvSpPr>
          <p:nvPr>
            <p:ph type="pic" idx="10"/>
          </p:nvPr>
        </p:nvSpPr>
        <p:spPr>
          <a:xfrm>
            <a:off x="4314207" y="1340768"/>
            <a:ext cx="4629150" cy="48965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 smtClean="0"/>
              <a:t>Вставка рисунка</a:t>
            </a:r>
            <a:endParaRPr lang="ru-RU" noProof="0" dirty="0"/>
          </a:p>
        </p:txBody>
      </p:sp>
      <p:sp>
        <p:nvSpPr>
          <p:cNvPr id="7" name="TextBox 14"/>
          <p:cNvSpPr txBox="1">
            <a:spLocks noChangeArrowheads="1"/>
          </p:cNvSpPr>
          <p:nvPr userDrawn="1"/>
        </p:nvSpPr>
        <p:spPr bwMode="auto">
          <a:xfrm>
            <a:off x="5435600" y="138113"/>
            <a:ext cx="35258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>
              <a:defRPr/>
            </a:pPr>
            <a:r>
              <a:rPr lang="ru-RU" sz="1600" u="sng" dirty="0" smtClean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Бухгалтерские</a:t>
            </a:r>
            <a:r>
              <a:rPr lang="ru-RU" sz="1600" u="sng" baseline="0" dirty="0" smtClean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 задачи</a:t>
            </a:r>
            <a:endParaRPr lang="ru-RU" sz="1600" u="sng" dirty="0" smtClean="0">
              <a:solidFill>
                <a:srgbClr val="0070C0"/>
              </a:solidFill>
              <a:latin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60248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85862" y="1268680"/>
            <a:ext cx="8784000" cy="4968631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buClr>
                <a:srgbClr val="C00000"/>
              </a:buClr>
              <a:buFontTx/>
              <a:buBlip>
                <a:blip r:embed="rId2"/>
              </a:buBlip>
              <a:defRPr/>
            </a:lvl1pPr>
            <a:lvl2pPr>
              <a:buClr>
                <a:srgbClr val="FF0000"/>
              </a:buClr>
              <a:buFont typeface="Verdana" pitchFamily="34" charset="0"/>
              <a:buChar char="•"/>
              <a:defRPr sz="2400">
                <a:solidFill>
                  <a:srgbClr val="FF0000"/>
                </a:solidFill>
              </a:defRPr>
            </a:lvl2pPr>
            <a:lvl3pPr>
              <a:buClr>
                <a:srgbClr val="FF0000"/>
              </a:buClr>
              <a:buFont typeface="Wingdings" pitchFamily="2" charset="2"/>
              <a:buChar char="§"/>
              <a:defRPr b="1">
                <a:solidFill>
                  <a:srgbClr val="0070C0"/>
                </a:solidFill>
              </a:defRPr>
            </a:lvl3pPr>
            <a:lvl4pPr>
              <a:defRPr b="0"/>
            </a:lvl4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74651" y="548680"/>
            <a:ext cx="8784000" cy="72000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4" name="TextBox 14"/>
          <p:cNvSpPr txBox="1">
            <a:spLocks noChangeArrowheads="1"/>
          </p:cNvSpPr>
          <p:nvPr userDrawn="1"/>
        </p:nvSpPr>
        <p:spPr bwMode="auto">
          <a:xfrm>
            <a:off x="5435600" y="138113"/>
            <a:ext cx="35258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>
              <a:defRPr/>
            </a:pPr>
            <a:r>
              <a:rPr lang="ru-RU" sz="1600" u="sng" dirty="0" smtClean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Бухгалтерские</a:t>
            </a:r>
            <a:r>
              <a:rPr lang="ru-RU" sz="1600" u="sng" baseline="0" dirty="0" smtClean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 задачи</a:t>
            </a:r>
            <a:endParaRPr lang="ru-RU" sz="1600" u="sng" dirty="0" smtClean="0">
              <a:solidFill>
                <a:srgbClr val="0070C0"/>
              </a:solidFill>
              <a:latin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54605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4"/>
          <p:cNvSpPr txBox="1">
            <a:spLocks noChangeArrowheads="1"/>
          </p:cNvSpPr>
          <p:nvPr userDrawn="1"/>
        </p:nvSpPr>
        <p:spPr bwMode="auto">
          <a:xfrm>
            <a:off x="5435600" y="138113"/>
            <a:ext cx="35258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>
              <a:defRPr/>
            </a:pPr>
            <a:r>
              <a:rPr lang="ru-RU" sz="1600" u="sng" dirty="0" smtClean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Бухгалтерские</a:t>
            </a:r>
            <a:r>
              <a:rPr lang="ru-RU" sz="1600" u="sng" baseline="0" dirty="0" smtClean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 задачи</a:t>
            </a:r>
            <a:endParaRPr lang="ru-RU" sz="1600" u="sng" dirty="0" smtClean="0">
              <a:solidFill>
                <a:srgbClr val="0070C0"/>
              </a:solidFill>
              <a:latin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32299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4788" y="548680"/>
            <a:ext cx="8784000" cy="72000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74788" y="1268680"/>
            <a:ext cx="8784000" cy="4968632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  <p:sp>
        <p:nvSpPr>
          <p:cNvPr id="4" name="TextBox 14"/>
          <p:cNvSpPr txBox="1">
            <a:spLocks noChangeArrowheads="1"/>
          </p:cNvSpPr>
          <p:nvPr userDrawn="1"/>
        </p:nvSpPr>
        <p:spPr bwMode="auto">
          <a:xfrm>
            <a:off x="5435600" y="138113"/>
            <a:ext cx="35258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>
              <a:defRPr/>
            </a:pPr>
            <a:r>
              <a:rPr lang="ru-RU" sz="1600" u="sng" dirty="0" smtClean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Бухгалтерские</a:t>
            </a:r>
            <a:r>
              <a:rPr lang="ru-RU" sz="1600" u="sng" baseline="0" dirty="0" smtClean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 задачи</a:t>
            </a:r>
            <a:endParaRPr lang="ru-RU" sz="1600" u="sng" dirty="0" smtClean="0">
              <a:solidFill>
                <a:srgbClr val="0070C0"/>
              </a:solidFill>
              <a:latin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8677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F068C-0419-4D9C-B87D-F240F8C4AA4B}" type="datetimeFigureOut">
              <a:rPr lang="ru-RU" smtClean="0"/>
              <a:t>23.04.2019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4808-3FC6-430B-A884-6E5D407A4C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81722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F068C-0419-4D9C-B87D-F240F8C4AA4B}" type="datetimeFigureOut">
              <a:rPr lang="ru-RU" smtClean="0"/>
              <a:t>23.04.2019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54808-3FC6-430B-A884-6E5D407A4C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4123542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13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12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Группа 3"/>
          <p:cNvGrpSpPr>
            <a:grpSpLocks/>
          </p:cNvGrpSpPr>
          <p:nvPr/>
        </p:nvGrpSpPr>
        <p:grpSpPr bwMode="auto">
          <a:xfrm>
            <a:off x="185738" y="549275"/>
            <a:ext cx="8775700" cy="0"/>
            <a:chOff x="185862" y="620688"/>
            <a:chExt cx="8775700" cy="0"/>
          </a:xfrm>
        </p:grpSpPr>
        <p:cxnSp>
          <p:nvCxnSpPr>
            <p:cNvPr id="16" name="Прямая соединительная линия 15"/>
            <p:cNvCxnSpPr/>
            <p:nvPr/>
          </p:nvCxnSpPr>
          <p:spPr>
            <a:xfrm>
              <a:off x="185862" y="620688"/>
              <a:ext cx="87757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единительная линия 16"/>
            <p:cNvCxnSpPr/>
            <p:nvPr/>
          </p:nvCxnSpPr>
          <p:spPr>
            <a:xfrm>
              <a:off x="185862" y="620688"/>
              <a:ext cx="2522537" cy="0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200025" y="1052513"/>
            <a:ext cx="8770938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Заголовок</a:t>
            </a:r>
          </a:p>
        </p:txBody>
      </p:sp>
      <p:sp>
        <p:nvSpPr>
          <p:cNvPr id="8" name="Номер слайда 5"/>
          <p:cNvSpPr txBox="1">
            <a:spLocks/>
          </p:cNvSpPr>
          <p:nvPr/>
        </p:nvSpPr>
        <p:spPr>
          <a:xfrm>
            <a:off x="-93663" y="6310313"/>
            <a:ext cx="949326" cy="293687"/>
          </a:xfrm>
          <a:prstGeom prst="rect">
            <a:avLst/>
          </a:prstGeom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defRPr/>
            </a:pPr>
            <a:fld id="{84FD9DA7-1D53-4DDE-8D05-49E2417E29ED}" type="slidenum">
              <a:rPr lang="ru-RU" sz="1600" smtClean="0">
                <a:solidFill>
                  <a:srgbClr val="0066CC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pPr algn="r">
                <a:defRPr/>
              </a:pPr>
              <a:t>‹#›</a:t>
            </a:fld>
            <a:r>
              <a:rPr lang="ru-RU" sz="1600" dirty="0" smtClean="0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/25</a:t>
            </a:r>
          </a:p>
        </p:txBody>
      </p:sp>
      <p:grpSp>
        <p:nvGrpSpPr>
          <p:cNvPr id="1029" name="Группа 17"/>
          <p:cNvGrpSpPr>
            <a:grpSpLocks/>
          </p:cNvGrpSpPr>
          <p:nvPr/>
        </p:nvGrpSpPr>
        <p:grpSpPr bwMode="auto">
          <a:xfrm>
            <a:off x="185738" y="6604000"/>
            <a:ext cx="6402387" cy="180975"/>
            <a:chOff x="185862" y="620688"/>
            <a:chExt cx="8775700" cy="0"/>
          </a:xfrm>
        </p:grpSpPr>
        <p:cxnSp>
          <p:nvCxnSpPr>
            <p:cNvPr id="19" name="Прямая соединительная линия 18"/>
            <p:cNvCxnSpPr/>
            <p:nvPr/>
          </p:nvCxnSpPr>
          <p:spPr>
            <a:xfrm>
              <a:off x="185862" y="620688"/>
              <a:ext cx="87757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единительная линия 19"/>
            <p:cNvCxnSpPr/>
            <p:nvPr/>
          </p:nvCxnSpPr>
          <p:spPr>
            <a:xfrm>
              <a:off x="185862" y="620688"/>
              <a:ext cx="2521952" cy="0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30" name="Рисунок 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588" y="6310313"/>
            <a:ext cx="2224087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Подзаголовок 2"/>
          <p:cNvSpPr txBox="1">
            <a:spLocks/>
          </p:cNvSpPr>
          <p:nvPr userDrawn="1"/>
        </p:nvSpPr>
        <p:spPr bwMode="auto">
          <a:xfrm>
            <a:off x="179388" y="115888"/>
            <a:ext cx="6430962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Clr>
                <a:srgbClr val="C00000"/>
              </a:buClr>
              <a:defRPr/>
            </a:pPr>
            <a:r>
              <a:rPr kumimoji="0" lang="ru-RU" sz="1800" b="0" dirty="0" smtClean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Конфигурирование в системе</a:t>
            </a:r>
            <a:r>
              <a:rPr kumimoji="0" lang="ru-RU" sz="1800" b="0" baseline="0" dirty="0" smtClean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«1С:Предприятие 8»</a:t>
            </a:r>
            <a:endParaRPr kumimoji="0" lang="ru-RU" sz="1800" b="0" dirty="0" smtClean="0">
              <a:solidFill>
                <a:srgbClr val="0070C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TextBox 14"/>
          <p:cNvSpPr txBox="1">
            <a:spLocks noChangeArrowheads="1"/>
          </p:cNvSpPr>
          <p:nvPr userDrawn="1"/>
        </p:nvSpPr>
        <p:spPr bwMode="auto">
          <a:xfrm>
            <a:off x="5435600" y="138113"/>
            <a:ext cx="35258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>
              <a:defRPr/>
            </a:pPr>
            <a:r>
              <a:rPr lang="ru-RU" sz="1600" u="sng" dirty="0" smtClean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Бухгалтерские</a:t>
            </a:r>
            <a:r>
              <a:rPr lang="ru-RU" sz="1600" u="sng" baseline="0" dirty="0" smtClean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 задачи</a:t>
            </a:r>
            <a:endParaRPr lang="ru-RU" sz="1600" u="sng" dirty="0" smtClean="0">
              <a:solidFill>
                <a:srgbClr val="0070C0"/>
              </a:solidFill>
              <a:latin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34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b="1" kern="1200">
          <a:ln>
            <a:solidFill>
              <a:schemeClr val="bg1"/>
            </a:solidFill>
          </a:ln>
          <a:gradFill>
            <a:gsLst>
              <a:gs pos="55000">
                <a:srgbClr val="F50516"/>
              </a:gs>
              <a:gs pos="86000">
                <a:srgbClr val="C00000"/>
              </a:gs>
            </a:gsLst>
            <a:lin ang="5400000" scaled="0"/>
          </a:gradFill>
          <a:effectLst>
            <a:outerShdw blurRad="38100" dist="38100" dir="5400000" algn="ctr" rotWithShape="0">
              <a:schemeClr val="bg1">
                <a:lumMod val="50000"/>
              </a:schemeClr>
            </a:outerShdw>
          </a:effectLst>
          <a:latin typeface="Arial Black" pitchFamily="34" charset="0"/>
          <a:ea typeface="Verdana" pitchFamily="34" charset="0"/>
          <a:cs typeface="Verdana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C00000"/>
        </a:buClr>
        <a:defRPr sz="2800" b="1" kern="1200">
          <a:solidFill>
            <a:srgbClr val="0070C0"/>
          </a:solidFill>
          <a:latin typeface="Tahoma" pitchFamily="34" charset="0"/>
          <a:ea typeface="Tahoma" pitchFamily="34" charset="0"/>
          <a:cs typeface="Tahoma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Blip>
          <a:blip r:embed="rId11"/>
        </a:buBlip>
        <a:defRPr sz="2800" b="1" kern="1200">
          <a:solidFill>
            <a:srgbClr val="FF0000"/>
          </a:solidFill>
          <a:latin typeface="Tahoma" pitchFamily="34" charset="0"/>
          <a:ea typeface="Tahoma" pitchFamily="34" charset="0"/>
          <a:cs typeface="Tahoma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Blip>
          <a:blip r:embed="rId12"/>
        </a:buBlip>
        <a:defRPr sz="2000" b="1" kern="1200">
          <a:solidFill>
            <a:srgbClr val="0070C0"/>
          </a:solidFill>
          <a:latin typeface="Tahoma" pitchFamily="34" charset="0"/>
          <a:ea typeface="Tahoma" pitchFamily="34" charset="0"/>
          <a:cs typeface="Tahoma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§"/>
        <a:defRPr b="1" kern="1200">
          <a:solidFill>
            <a:srgbClr val="404040"/>
          </a:solidFill>
          <a:latin typeface="Tahoma" pitchFamily="34" charset="0"/>
          <a:ea typeface="Tahoma" pitchFamily="34" charset="0"/>
          <a:cs typeface="Tahoma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Arial" panose="020B0604020202020204" pitchFamily="34" charset="0"/>
        <a:buChar char="•"/>
        <a:defRPr sz="1600" kern="1200">
          <a:solidFill>
            <a:srgbClr val="404040"/>
          </a:solidFill>
          <a:latin typeface="Tahoma" pitchFamily="34" charset="0"/>
          <a:ea typeface="Tahoma" pitchFamily="34" charset="0"/>
          <a:cs typeface="Tahom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Группа 3"/>
          <p:cNvGrpSpPr>
            <a:grpSpLocks/>
          </p:cNvGrpSpPr>
          <p:nvPr/>
        </p:nvGrpSpPr>
        <p:grpSpPr bwMode="auto">
          <a:xfrm>
            <a:off x="185738" y="549275"/>
            <a:ext cx="8784000" cy="0"/>
            <a:chOff x="185862" y="620688"/>
            <a:chExt cx="8775700" cy="0"/>
          </a:xfrm>
        </p:grpSpPr>
        <p:cxnSp>
          <p:nvCxnSpPr>
            <p:cNvPr id="16" name="Прямая соединительная линия 15"/>
            <p:cNvCxnSpPr/>
            <p:nvPr/>
          </p:nvCxnSpPr>
          <p:spPr>
            <a:xfrm>
              <a:off x="185862" y="620688"/>
              <a:ext cx="87757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единительная линия 16"/>
            <p:cNvCxnSpPr/>
            <p:nvPr/>
          </p:nvCxnSpPr>
          <p:spPr>
            <a:xfrm>
              <a:off x="185862" y="620688"/>
              <a:ext cx="2522537" cy="0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88119" y="571977"/>
            <a:ext cx="8784000" cy="548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dirty="0" smtClean="0"/>
              <a:t>Заголовок</a:t>
            </a:r>
          </a:p>
        </p:txBody>
      </p:sp>
      <p:sp>
        <p:nvSpPr>
          <p:cNvPr id="8" name="Номер слайда 5"/>
          <p:cNvSpPr txBox="1">
            <a:spLocks/>
          </p:cNvSpPr>
          <p:nvPr/>
        </p:nvSpPr>
        <p:spPr>
          <a:xfrm>
            <a:off x="-1" y="6310313"/>
            <a:ext cx="855663" cy="293687"/>
          </a:xfrm>
          <a:prstGeom prst="rect">
            <a:avLst/>
          </a:prstGeom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defRPr/>
            </a:pPr>
            <a:fld id="{84FD9DA7-1D53-4DDE-8D05-49E2417E29ED}" type="slidenum">
              <a:rPr lang="ru-RU" sz="1600" smtClean="0">
                <a:solidFill>
                  <a:srgbClr val="0066CC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pPr algn="r">
                <a:defRPr/>
              </a:pPr>
              <a:t>‹#›</a:t>
            </a:fld>
            <a:r>
              <a:rPr lang="ru-RU" sz="1600" smtClean="0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/32</a:t>
            </a:r>
            <a:endParaRPr lang="ru-RU" sz="1600" dirty="0" smtClean="0">
              <a:solidFill>
                <a:srgbClr val="FF000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29" name="Группа 17"/>
          <p:cNvGrpSpPr>
            <a:grpSpLocks/>
          </p:cNvGrpSpPr>
          <p:nvPr/>
        </p:nvGrpSpPr>
        <p:grpSpPr bwMode="auto">
          <a:xfrm>
            <a:off x="185738" y="6604000"/>
            <a:ext cx="6402387" cy="180975"/>
            <a:chOff x="185862" y="620688"/>
            <a:chExt cx="8775700" cy="0"/>
          </a:xfrm>
        </p:grpSpPr>
        <p:cxnSp>
          <p:nvCxnSpPr>
            <p:cNvPr id="19" name="Прямая соединительная линия 18"/>
            <p:cNvCxnSpPr/>
            <p:nvPr/>
          </p:nvCxnSpPr>
          <p:spPr>
            <a:xfrm>
              <a:off x="185862" y="620688"/>
              <a:ext cx="87757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единительная линия 19"/>
            <p:cNvCxnSpPr/>
            <p:nvPr/>
          </p:nvCxnSpPr>
          <p:spPr>
            <a:xfrm>
              <a:off x="185862" y="620688"/>
              <a:ext cx="2521952" cy="0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30" name="Рисунок 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588" y="6310313"/>
            <a:ext cx="2224087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Подзаголовок 2"/>
          <p:cNvSpPr txBox="1">
            <a:spLocks/>
          </p:cNvSpPr>
          <p:nvPr/>
        </p:nvSpPr>
        <p:spPr bwMode="auto">
          <a:xfrm>
            <a:off x="179388" y="115888"/>
            <a:ext cx="6768876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Clr>
                <a:srgbClr val="C00000"/>
              </a:buClr>
              <a:defRPr/>
            </a:pPr>
            <a:r>
              <a:rPr kumimoji="0" lang="ru-RU" sz="1800" b="1" dirty="0" smtClean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Конфигурирование</a:t>
            </a:r>
            <a:r>
              <a:rPr kumimoji="0" lang="ru-RU" sz="1800" b="1" baseline="0" dirty="0" smtClean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в системе 1С: Предприятие 8</a:t>
            </a:r>
            <a:endParaRPr kumimoji="0" lang="ru-RU" sz="1800" b="1" dirty="0" smtClean="0">
              <a:solidFill>
                <a:srgbClr val="0070C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TextBox 14"/>
          <p:cNvSpPr txBox="1">
            <a:spLocks noChangeArrowheads="1"/>
          </p:cNvSpPr>
          <p:nvPr/>
        </p:nvSpPr>
        <p:spPr bwMode="auto">
          <a:xfrm>
            <a:off x="5435600" y="138113"/>
            <a:ext cx="35258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>
              <a:defRPr/>
            </a:pPr>
            <a:r>
              <a:rPr lang="ru-RU" sz="1600" dirty="0" smtClean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Бухгалтерские задачи</a:t>
            </a:r>
          </a:p>
        </p:txBody>
      </p:sp>
      <p:sp>
        <p:nvSpPr>
          <p:cNvPr id="14" name="TextBox 14"/>
          <p:cNvSpPr txBox="1">
            <a:spLocks noChangeArrowheads="1"/>
          </p:cNvSpPr>
          <p:nvPr userDrawn="1"/>
        </p:nvSpPr>
        <p:spPr bwMode="auto">
          <a:xfrm>
            <a:off x="5435600" y="138113"/>
            <a:ext cx="35258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>
              <a:defRPr/>
            </a:pPr>
            <a:r>
              <a:rPr lang="ru-RU" sz="1600" u="sng" dirty="0" smtClean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Бухгалтерские</a:t>
            </a:r>
            <a:r>
              <a:rPr lang="ru-RU" sz="1600" u="sng" baseline="0" dirty="0" smtClean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 задачи</a:t>
            </a:r>
            <a:endParaRPr lang="ru-RU" sz="1600" u="sng" dirty="0" smtClean="0">
              <a:solidFill>
                <a:srgbClr val="0070C0"/>
              </a:solidFill>
              <a:latin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3124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3200" b="1" kern="1200">
          <a:ln>
            <a:solidFill>
              <a:schemeClr val="bg1"/>
            </a:solidFill>
          </a:ln>
          <a:gradFill>
            <a:gsLst>
              <a:gs pos="55000">
                <a:srgbClr val="F50516"/>
              </a:gs>
              <a:gs pos="86000">
                <a:srgbClr val="C00000"/>
              </a:gs>
            </a:gsLst>
            <a:lin ang="5400000" scaled="0"/>
          </a:gradFill>
          <a:effectLst>
            <a:outerShdw blurRad="38100" dist="38100" dir="5400000" algn="ctr" rotWithShape="0">
              <a:schemeClr val="bg1">
                <a:lumMod val="50000"/>
              </a:schemeClr>
            </a:outerShdw>
          </a:effectLst>
          <a:latin typeface="Arial Black" pitchFamily="34" charset="0"/>
          <a:ea typeface="Verdana" pitchFamily="34" charset="0"/>
          <a:cs typeface="Verdana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C00000"/>
        </a:buClr>
        <a:defRPr sz="2800" b="1" kern="1200">
          <a:solidFill>
            <a:srgbClr val="0070C0"/>
          </a:solidFill>
          <a:latin typeface="Tahoma" pitchFamily="34" charset="0"/>
          <a:ea typeface="Tahoma" pitchFamily="34" charset="0"/>
          <a:cs typeface="Tahoma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Blip>
          <a:blip r:embed="rId11"/>
        </a:buBlip>
        <a:defRPr sz="2800" b="1" kern="1200">
          <a:solidFill>
            <a:srgbClr val="FF0000"/>
          </a:solidFill>
          <a:latin typeface="Tahoma" pitchFamily="34" charset="0"/>
          <a:ea typeface="Tahoma" pitchFamily="34" charset="0"/>
          <a:cs typeface="Tahoma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Blip>
          <a:blip r:embed="rId12"/>
        </a:buBlip>
        <a:defRPr sz="2000" b="1" kern="1200">
          <a:solidFill>
            <a:srgbClr val="0070C0"/>
          </a:solidFill>
          <a:latin typeface="Tahoma" pitchFamily="34" charset="0"/>
          <a:ea typeface="Tahoma" pitchFamily="34" charset="0"/>
          <a:cs typeface="Tahoma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§"/>
        <a:defRPr b="1" kern="1200">
          <a:solidFill>
            <a:srgbClr val="404040"/>
          </a:solidFill>
          <a:latin typeface="Tahoma" pitchFamily="34" charset="0"/>
          <a:ea typeface="Tahoma" pitchFamily="34" charset="0"/>
          <a:cs typeface="Tahoma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Arial" panose="020B0604020202020204" pitchFamily="34" charset="0"/>
        <a:buChar char="•"/>
        <a:defRPr sz="1600" kern="1200">
          <a:solidFill>
            <a:srgbClr val="404040"/>
          </a:solidFill>
          <a:latin typeface="Tahoma" pitchFamily="34" charset="0"/>
          <a:ea typeface="Tahoma" pitchFamily="34" charset="0"/>
          <a:cs typeface="Tahom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8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Объект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Валютный учет</a:t>
            </a:r>
          </a:p>
          <a:p>
            <a:r>
              <a:rPr lang="ru-RU" dirty="0" err="1" smtClean="0"/>
              <a:t>Трехвалютный</a:t>
            </a:r>
            <a:r>
              <a:rPr lang="ru-RU" dirty="0" smtClean="0"/>
              <a:t> учет</a:t>
            </a:r>
          </a:p>
          <a:p>
            <a:r>
              <a:rPr lang="ru-RU" dirty="0" smtClean="0"/>
              <a:t>Признаки учета субконто</a:t>
            </a:r>
          </a:p>
          <a:p>
            <a:r>
              <a:rPr lang="ru-RU" dirty="0" smtClean="0"/>
              <a:t>Признак учета субконто «Только обороты»</a:t>
            </a:r>
          </a:p>
          <a:p>
            <a:r>
              <a:rPr lang="ru-RU" dirty="0" smtClean="0"/>
              <a:t>Пользовательские субконто</a:t>
            </a:r>
          </a:p>
          <a:p>
            <a:r>
              <a:rPr lang="ru-RU" dirty="0" smtClean="0"/>
              <a:t>Программная работа с полями составного типа</a:t>
            </a: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dirty="0" smtClean="0"/>
              <a:t>Занятие 15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445660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валютный учет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Небалансовый вид учета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2523020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</a:t>
            </a:r>
            <a:r>
              <a:rPr lang="ru-RU" dirty="0" smtClean="0"/>
              <a:t>алютный учет</a:t>
            </a:r>
            <a:endParaRPr lang="ru-RU" dirty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/>
          </p:nvPr>
        </p:nvGraphicFramePr>
        <p:xfrm>
          <a:off x="188119" y="1397000"/>
          <a:ext cx="8783999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7705">
                  <a:extLst>
                    <a:ext uri="{9D8B030D-6E8A-4147-A177-3AD203B41FA5}">
                      <a16:colId xmlns:a16="http://schemas.microsoft.com/office/drawing/2014/main" val="394991951"/>
                    </a:ext>
                  </a:extLst>
                </a:gridCol>
                <a:gridCol w="1114478">
                  <a:extLst>
                    <a:ext uri="{9D8B030D-6E8A-4147-A177-3AD203B41FA5}">
                      <a16:colId xmlns:a16="http://schemas.microsoft.com/office/drawing/2014/main" val="824950313"/>
                    </a:ext>
                  </a:extLst>
                </a:gridCol>
                <a:gridCol w="1042576">
                  <a:extLst>
                    <a:ext uri="{9D8B030D-6E8A-4147-A177-3AD203B41FA5}">
                      <a16:colId xmlns:a16="http://schemas.microsoft.com/office/drawing/2014/main" val="2567320178"/>
                    </a:ext>
                  </a:extLst>
                </a:gridCol>
                <a:gridCol w="1737626">
                  <a:extLst>
                    <a:ext uri="{9D8B030D-6E8A-4147-A177-3AD203B41FA5}">
                      <a16:colId xmlns:a16="http://schemas.microsoft.com/office/drawing/2014/main" val="2130443275"/>
                    </a:ext>
                  </a:extLst>
                </a:gridCol>
                <a:gridCol w="1091988">
                  <a:extLst>
                    <a:ext uri="{9D8B030D-6E8A-4147-A177-3AD203B41FA5}">
                      <a16:colId xmlns:a16="http://schemas.microsoft.com/office/drawing/2014/main" val="278535266"/>
                    </a:ext>
                  </a:extLst>
                </a:gridCol>
                <a:gridCol w="1145754">
                  <a:extLst>
                    <a:ext uri="{9D8B030D-6E8A-4147-A177-3AD203B41FA5}">
                      <a16:colId xmlns:a16="http://schemas.microsoft.com/office/drawing/2014/main" val="4242727120"/>
                    </a:ext>
                  </a:extLst>
                </a:gridCol>
                <a:gridCol w="973872">
                  <a:extLst>
                    <a:ext uri="{9D8B030D-6E8A-4147-A177-3AD203B41FA5}">
                      <a16:colId xmlns:a16="http://schemas.microsoft.com/office/drawing/2014/main" val="11905289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Счет Дт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∑</a:t>
                      </a:r>
                      <a:r>
                        <a:rPr lang="ru-RU" baseline="0" dirty="0" smtClean="0"/>
                        <a:t> валюты </a:t>
                      </a:r>
                      <a:r>
                        <a:rPr lang="ru-RU" dirty="0" smtClean="0"/>
                        <a:t>Дт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Валюта Дт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Счет Кт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∑</a:t>
                      </a:r>
                      <a:r>
                        <a:rPr lang="ru-RU" baseline="0" dirty="0" smtClean="0"/>
                        <a:t> валюты К</a:t>
                      </a:r>
                      <a:r>
                        <a:rPr lang="ru-RU" dirty="0" smtClean="0"/>
                        <a:t>т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mtClean="0"/>
                        <a:t>Валюта Кт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Сумма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2179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&lt;41.1</a:t>
                      </a:r>
                      <a:r>
                        <a:rPr lang="ru-RU" baseline="0" dirty="0" smtClean="0"/>
                        <a:t> Товары&gt;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&lt;60 Поставщики&gt;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100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$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7000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0508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&lt;10 Материалы&gt;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&lt;41.1</a:t>
                      </a:r>
                      <a:r>
                        <a:rPr lang="ru-RU" baseline="0" dirty="0" smtClean="0"/>
                        <a:t> Товары&gt;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0319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&lt;60 Поставщики&gt;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100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$</a:t>
                      </a:r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&lt;50 Касса&gt;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95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€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7000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5740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9803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Признак учета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029" y="1120775"/>
            <a:ext cx="4634219" cy="4900751"/>
          </a:xfrm>
          <a:prstGeom prst="rect">
            <a:avLst/>
          </a:prstGeom>
        </p:spPr>
      </p:pic>
      <p:sp>
        <p:nvSpPr>
          <p:cNvPr id="6" name="Rounded Rectangle 3"/>
          <p:cNvSpPr/>
          <p:nvPr/>
        </p:nvSpPr>
        <p:spPr>
          <a:xfrm>
            <a:off x="3791120" y="3845207"/>
            <a:ext cx="2715709" cy="262373"/>
          </a:xfrm>
          <a:prstGeom prst="roundRect">
            <a:avLst/>
          </a:prstGeom>
          <a:solidFill>
            <a:srgbClr val="C00000">
              <a:alpha val="10000"/>
            </a:srgbClr>
          </a:solidFill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2627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250"/>
                            </p:stCondLst>
                            <p:childTnLst>
                              <p:par>
                                <p:cTn id="13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6" grpId="2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Специальный реквизит типа булево</a:t>
            </a:r>
            <a:endParaRPr lang="ru-RU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/>
          </p:nvPr>
        </p:nvGraphicFramePr>
        <p:xfrm>
          <a:off x="188120" y="1476259"/>
          <a:ext cx="870249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0338">
                  <a:extLst>
                    <a:ext uri="{9D8B030D-6E8A-4147-A177-3AD203B41FA5}">
                      <a16:colId xmlns:a16="http://schemas.microsoft.com/office/drawing/2014/main" val="932871703"/>
                    </a:ext>
                  </a:extLst>
                </a:gridCol>
                <a:gridCol w="672029">
                  <a:extLst>
                    <a:ext uri="{9D8B030D-6E8A-4147-A177-3AD203B41FA5}">
                      <a16:colId xmlns:a16="http://schemas.microsoft.com/office/drawing/2014/main" val="631033224"/>
                    </a:ext>
                  </a:extLst>
                </a:gridCol>
                <a:gridCol w="1762699">
                  <a:extLst>
                    <a:ext uri="{9D8B030D-6E8A-4147-A177-3AD203B41FA5}">
                      <a16:colId xmlns:a16="http://schemas.microsoft.com/office/drawing/2014/main" val="1495469993"/>
                    </a:ext>
                  </a:extLst>
                </a:gridCol>
                <a:gridCol w="385590">
                  <a:extLst>
                    <a:ext uri="{9D8B030D-6E8A-4147-A177-3AD203B41FA5}">
                      <a16:colId xmlns:a16="http://schemas.microsoft.com/office/drawing/2014/main" val="3850903515"/>
                    </a:ext>
                  </a:extLst>
                </a:gridCol>
                <a:gridCol w="1333041">
                  <a:extLst>
                    <a:ext uri="{9D8B030D-6E8A-4147-A177-3AD203B41FA5}">
                      <a16:colId xmlns:a16="http://schemas.microsoft.com/office/drawing/2014/main" val="727339630"/>
                    </a:ext>
                  </a:extLst>
                </a:gridCol>
                <a:gridCol w="2478794">
                  <a:extLst>
                    <a:ext uri="{9D8B030D-6E8A-4147-A177-3AD203B41FA5}">
                      <a16:colId xmlns:a16="http://schemas.microsoft.com/office/drawing/2014/main" val="36827720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Ссылка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Код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Наименование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…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Валютный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Количественный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4929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>
                          <a:solidFill>
                            <a:schemeClr val="tx1"/>
                          </a:solidFill>
                        </a:rPr>
                        <a:t>&lt;41.1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 Товары&gt;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41.1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Товары опт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…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Ложь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Истина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2357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>
                          <a:solidFill>
                            <a:schemeClr val="tx1"/>
                          </a:solidFill>
                        </a:rPr>
                        <a:t>&lt;60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 Поставщики&gt;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60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Поставщики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…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Истина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Ложь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0215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>
                          <a:solidFill>
                            <a:schemeClr val="tx1"/>
                          </a:solidFill>
                        </a:rPr>
                        <a:t>&lt;50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 Касса&gt;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Касса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…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Истина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Ложь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29014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4109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174" y="1233071"/>
            <a:ext cx="4724400" cy="453390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3831" y="4943983"/>
            <a:ext cx="3943350" cy="123825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Настройка в регистре бухгалтерии</a:t>
            </a:r>
            <a:endParaRPr lang="ru-RU" dirty="0"/>
          </a:p>
        </p:txBody>
      </p:sp>
      <p:sp>
        <p:nvSpPr>
          <p:cNvPr id="4" name="Rounded Rectangle 3"/>
          <p:cNvSpPr/>
          <p:nvPr/>
        </p:nvSpPr>
        <p:spPr>
          <a:xfrm>
            <a:off x="2258122" y="3138951"/>
            <a:ext cx="2715709" cy="262373"/>
          </a:xfrm>
          <a:prstGeom prst="roundRect">
            <a:avLst/>
          </a:prstGeom>
          <a:solidFill>
            <a:srgbClr val="C00000">
              <a:alpha val="10000"/>
            </a:srgbClr>
          </a:solidFill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5431316" y="1233071"/>
            <a:ext cx="335757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0070C0"/>
                </a:solidFill>
                <a:latin typeface="Arial Black" panose="020B0A04020102020204" pitchFamily="34" charset="0"/>
              </a:rPr>
              <a:t>Валюта и сумма валюты по счету будет заполняться, если у счета включен признак учета «Валютный»</a:t>
            </a:r>
            <a:endParaRPr lang="ru-RU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11" name="Rounded Rectangle 3"/>
          <p:cNvSpPr/>
          <p:nvPr/>
        </p:nvSpPr>
        <p:spPr>
          <a:xfrm>
            <a:off x="2258122" y="2387565"/>
            <a:ext cx="2715709" cy="262373"/>
          </a:xfrm>
          <a:prstGeom prst="roundRect">
            <a:avLst/>
          </a:prstGeom>
          <a:solidFill>
            <a:srgbClr val="C00000">
              <a:alpha val="10000"/>
            </a:srgbClr>
          </a:solidFill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3831" y="3052127"/>
            <a:ext cx="3924300" cy="1924050"/>
          </a:xfrm>
          <a:prstGeom prst="rect">
            <a:avLst/>
          </a:prstGeom>
        </p:spPr>
      </p:pic>
      <p:sp>
        <p:nvSpPr>
          <p:cNvPr id="7" name="Rounded Rectangle 3"/>
          <p:cNvSpPr/>
          <p:nvPr/>
        </p:nvSpPr>
        <p:spPr>
          <a:xfrm>
            <a:off x="4973831" y="4961917"/>
            <a:ext cx="3815062" cy="444584"/>
          </a:xfrm>
          <a:prstGeom prst="roundRect">
            <a:avLst/>
          </a:prstGeom>
          <a:solidFill>
            <a:srgbClr val="C00000">
              <a:alpha val="10000"/>
            </a:srgbClr>
          </a:solidFill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0" name="Прямая со стрелкой 9"/>
          <p:cNvCxnSpPr/>
          <p:nvPr/>
        </p:nvCxnSpPr>
        <p:spPr>
          <a:xfrm flipH="1">
            <a:off x="7238082" y="2710399"/>
            <a:ext cx="77118" cy="24738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0038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250"/>
                            </p:stCondLst>
                            <p:childTnLst>
                              <p:par>
                                <p:cTn id="19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2" presetID="26" presetClass="emph" presetSubtype="0" repeatCount="3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750"/>
                            </p:stCondLst>
                            <p:childTnLst>
                              <p:par>
                                <p:cTn id="26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250"/>
                            </p:stCondLst>
                            <p:childTnLst>
                              <p:par>
                                <p:cTn id="37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750"/>
                            </p:stCondLst>
                            <p:childTnLst>
                              <p:par>
                                <p:cTn id="41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6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725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4" grpId="2" animBg="1"/>
      <p:bldP spid="8" grpId="0"/>
      <p:bldP spid="11" grpId="0" animBg="1"/>
      <p:bldP spid="11" grpId="1" animBg="1"/>
      <p:bldP spid="11" grpId="2" animBg="1"/>
      <p:bldP spid="7" grpId="0" animBg="1"/>
      <p:bldP spid="7" grpId="1" animBg="1"/>
      <p:bldP spid="7" grpId="2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798461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Таблица движений по счетам до изменения.</a:t>
            </a:r>
            <a:endParaRPr lang="ru-RU" dirty="0"/>
          </a:p>
        </p:txBody>
      </p:sp>
      <p:graphicFrame>
        <p:nvGraphicFramePr>
          <p:cNvPr id="10" name="Таблица 9"/>
          <p:cNvGraphicFramePr>
            <a:graphicFrameLocks noGrp="1"/>
          </p:cNvGraphicFramePr>
          <p:nvPr>
            <p:extLst/>
          </p:nvPr>
        </p:nvGraphicFramePr>
        <p:xfrm>
          <a:off x="632114" y="1954643"/>
          <a:ext cx="1039801" cy="46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98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Регистратор</a:t>
                      </a:r>
                      <a:endParaRPr lang="ru-RU" sz="1200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Таблица 10"/>
          <p:cNvGraphicFramePr>
            <a:graphicFrameLocks noGrp="1"/>
          </p:cNvGraphicFramePr>
          <p:nvPr>
            <p:extLst/>
          </p:nvPr>
        </p:nvGraphicFramePr>
        <p:xfrm>
          <a:off x="1618735" y="1954643"/>
          <a:ext cx="650542" cy="46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05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Номер строки</a:t>
                      </a:r>
                      <a:endParaRPr lang="ru-RU" sz="12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Таблица 11"/>
          <p:cNvGraphicFramePr>
            <a:graphicFrameLocks noGrp="1"/>
          </p:cNvGraphicFramePr>
          <p:nvPr>
            <p:extLst/>
          </p:nvPr>
        </p:nvGraphicFramePr>
        <p:xfrm>
          <a:off x="2272777" y="1954643"/>
          <a:ext cx="927822" cy="46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7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Период</a:t>
                      </a:r>
                      <a:endParaRPr lang="ru-RU" sz="1200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Таблица 12"/>
          <p:cNvGraphicFramePr>
            <a:graphicFrameLocks noGrp="1"/>
          </p:cNvGraphicFramePr>
          <p:nvPr>
            <p:extLst/>
          </p:nvPr>
        </p:nvGraphicFramePr>
        <p:xfrm>
          <a:off x="3201839" y="1954643"/>
          <a:ext cx="927822" cy="46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7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…</a:t>
                      </a:r>
                      <a:endParaRPr lang="ru-RU" sz="1200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Таблица 13"/>
          <p:cNvGraphicFramePr>
            <a:graphicFrameLocks noGrp="1"/>
          </p:cNvGraphicFramePr>
          <p:nvPr>
            <p:extLst/>
          </p:nvPr>
        </p:nvGraphicFramePr>
        <p:xfrm>
          <a:off x="4126925" y="1954643"/>
          <a:ext cx="3402012" cy="46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3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3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5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Счет </a:t>
                      </a:r>
                      <a:r>
                        <a:rPr lang="ru-RU" sz="1200" dirty="0" err="1" smtClean="0"/>
                        <a:t>Дт</a:t>
                      </a:r>
                      <a:endParaRPr lang="ru-RU" sz="1200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Счет </a:t>
                      </a:r>
                      <a:r>
                        <a:rPr lang="ru-RU" sz="1200" dirty="0" err="1" smtClean="0"/>
                        <a:t>Кт</a:t>
                      </a:r>
                      <a:endParaRPr lang="ru-RU" sz="1200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Сумма</a:t>
                      </a:r>
                      <a:endParaRPr lang="ru-RU" sz="1200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Таблица 14"/>
          <p:cNvGraphicFramePr>
            <a:graphicFrameLocks noGrp="1"/>
          </p:cNvGraphicFramePr>
          <p:nvPr>
            <p:extLst/>
          </p:nvPr>
        </p:nvGraphicFramePr>
        <p:xfrm>
          <a:off x="632114" y="2418771"/>
          <a:ext cx="1039801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98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&lt;ПТУ</a:t>
                      </a:r>
                      <a:r>
                        <a:rPr lang="ru-RU" sz="1200" baseline="0" dirty="0" smtClean="0"/>
                        <a:t> № 1&gt;</a:t>
                      </a:r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Таблица 15"/>
          <p:cNvGraphicFramePr>
            <a:graphicFrameLocks noGrp="1"/>
          </p:cNvGraphicFramePr>
          <p:nvPr>
            <p:extLst/>
          </p:nvPr>
        </p:nvGraphicFramePr>
        <p:xfrm>
          <a:off x="1618735" y="2418771"/>
          <a:ext cx="65054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05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1</a:t>
                      </a:r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Таблица 16"/>
          <p:cNvGraphicFramePr>
            <a:graphicFrameLocks noGrp="1"/>
          </p:cNvGraphicFramePr>
          <p:nvPr>
            <p:extLst/>
          </p:nvPr>
        </p:nvGraphicFramePr>
        <p:xfrm>
          <a:off x="2272777" y="2418771"/>
          <a:ext cx="92782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7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12.04.2015</a:t>
                      </a:r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" name="Таблица 17"/>
          <p:cNvGraphicFramePr>
            <a:graphicFrameLocks noGrp="1"/>
          </p:cNvGraphicFramePr>
          <p:nvPr>
            <p:extLst/>
          </p:nvPr>
        </p:nvGraphicFramePr>
        <p:xfrm>
          <a:off x="3201839" y="2418771"/>
          <a:ext cx="92782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7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…</a:t>
                      </a:r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Таблица 18"/>
          <p:cNvGraphicFramePr>
            <a:graphicFrameLocks noGrp="1"/>
          </p:cNvGraphicFramePr>
          <p:nvPr>
            <p:extLst/>
          </p:nvPr>
        </p:nvGraphicFramePr>
        <p:xfrm>
          <a:off x="4126925" y="2418771"/>
          <a:ext cx="340201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3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3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5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41 (товары)</a:t>
                      </a:r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60 (поставщики)</a:t>
                      </a:r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5000</a:t>
                      </a:r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" name="Таблица 19"/>
          <p:cNvGraphicFramePr>
            <a:graphicFrameLocks noGrp="1"/>
          </p:cNvGraphicFramePr>
          <p:nvPr>
            <p:extLst/>
          </p:nvPr>
        </p:nvGraphicFramePr>
        <p:xfrm>
          <a:off x="628651" y="2706253"/>
          <a:ext cx="1039801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98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&lt;ПТУ</a:t>
                      </a:r>
                      <a:r>
                        <a:rPr lang="ru-RU" sz="1200" baseline="0" dirty="0" smtClean="0"/>
                        <a:t> № 2&gt;</a:t>
                      </a:r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" name="Таблица 20"/>
          <p:cNvGraphicFramePr>
            <a:graphicFrameLocks noGrp="1"/>
          </p:cNvGraphicFramePr>
          <p:nvPr>
            <p:extLst/>
          </p:nvPr>
        </p:nvGraphicFramePr>
        <p:xfrm>
          <a:off x="1615272" y="2706253"/>
          <a:ext cx="65054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05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1</a:t>
                      </a:r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" name="Таблица 21"/>
          <p:cNvGraphicFramePr>
            <a:graphicFrameLocks noGrp="1"/>
          </p:cNvGraphicFramePr>
          <p:nvPr>
            <p:extLst/>
          </p:nvPr>
        </p:nvGraphicFramePr>
        <p:xfrm>
          <a:off x="2269314" y="2706253"/>
          <a:ext cx="92782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7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22.04.2015</a:t>
                      </a:r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Таблица 22"/>
          <p:cNvGraphicFramePr>
            <a:graphicFrameLocks noGrp="1"/>
          </p:cNvGraphicFramePr>
          <p:nvPr>
            <p:extLst/>
          </p:nvPr>
        </p:nvGraphicFramePr>
        <p:xfrm>
          <a:off x="3198376" y="2706253"/>
          <a:ext cx="92782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7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…</a:t>
                      </a:r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Таблица 23"/>
          <p:cNvGraphicFramePr>
            <a:graphicFrameLocks noGrp="1"/>
          </p:cNvGraphicFramePr>
          <p:nvPr>
            <p:extLst/>
          </p:nvPr>
        </p:nvGraphicFramePr>
        <p:xfrm>
          <a:off x="4126925" y="2706253"/>
          <a:ext cx="340201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3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3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5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41 (товары)</a:t>
                      </a:r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60 (поставщики)</a:t>
                      </a:r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70000</a:t>
                      </a:r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" name="Таблица 24"/>
          <p:cNvGraphicFramePr>
            <a:graphicFrameLocks noGrp="1"/>
          </p:cNvGraphicFramePr>
          <p:nvPr>
            <p:extLst/>
          </p:nvPr>
        </p:nvGraphicFramePr>
        <p:xfrm>
          <a:off x="628650" y="2997199"/>
          <a:ext cx="1039801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98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&lt;ПТУ</a:t>
                      </a:r>
                      <a:r>
                        <a:rPr lang="ru-RU" sz="1200" baseline="0" dirty="0" smtClean="0"/>
                        <a:t> № 3&gt;</a:t>
                      </a:r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" name="Таблица 25"/>
          <p:cNvGraphicFramePr>
            <a:graphicFrameLocks noGrp="1"/>
          </p:cNvGraphicFramePr>
          <p:nvPr>
            <p:extLst/>
          </p:nvPr>
        </p:nvGraphicFramePr>
        <p:xfrm>
          <a:off x="1615271" y="2997199"/>
          <a:ext cx="65054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05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1</a:t>
                      </a:r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" name="Таблица 26"/>
          <p:cNvGraphicFramePr>
            <a:graphicFrameLocks noGrp="1"/>
          </p:cNvGraphicFramePr>
          <p:nvPr>
            <p:extLst/>
          </p:nvPr>
        </p:nvGraphicFramePr>
        <p:xfrm>
          <a:off x="2269313" y="2997199"/>
          <a:ext cx="92782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7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19.04.2015</a:t>
                      </a:r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Таблица 27"/>
          <p:cNvGraphicFramePr>
            <a:graphicFrameLocks noGrp="1"/>
          </p:cNvGraphicFramePr>
          <p:nvPr>
            <p:extLst/>
          </p:nvPr>
        </p:nvGraphicFramePr>
        <p:xfrm>
          <a:off x="3198375" y="2997199"/>
          <a:ext cx="92782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7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…</a:t>
                      </a:r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" name="Таблица 28"/>
          <p:cNvGraphicFramePr>
            <a:graphicFrameLocks noGrp="1"/>
          </p:cNvGraphicFramePr>
          <p:nvPr>
            <p:extLst/>
          </p:nvPr>
        </p:nvGraphicFramePr>
        <p:xfrm>
          <a:off x="4126925" y="2997199"/>
          <a:ext cx="340201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3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3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5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41 (товары)</a:t>
                      </a:r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60 (поставщики)</a:t>
                      </a:r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10000</a:t>
                      </a:r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" name="Таблица 29"/>
          <p:cNvGraphicFramePr>
            <a:graphicFrameLocks noGrp="1"/>
          </p:cNvGraphicFramePr>
          <p:nvPr>
            <p:extLst/>
          </p:nvPr>
        </p:nvGraphicFramePr>
        <p:xfrm>
          <a:off x="628650" y="3290976"/>
          <a:ext cx="1039801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98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&lt;ПТУ</a:t>
                      </a:r>
                      <a:r>
                        <a:rPr lang="ru-RU" sz="1200" baseline="0" dirty="0" smtClean="0"/>
                        <a:t> № 4&gt;</a:t>
                      </a:r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Таблица 30"/>
          <p:cNvGraphicFramePr>
            <a:graphicFrameLocks noGrp="1"/>
          </p:cNvGraphicFramePr>
          <p:nvPr>
            <p:extLst/>
          </p:nvPr>
        </p:nvGraphicFramePr>
        <p:xfrm>
          <a:off x="1615271" y="3290976"/>
          <a:ext cx="65054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05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1</a:t>
                      </a:r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" name="Таблица 31"/>
          <p:cNvGraphicFramePr>
            <a:graphicFrameLocks noGrp="1"/>
          </p:cNvGraphicFramePr>
          <p:nvPr>
            <p:extLst/>
          </p:nvPr>
        </p:nvGraphicFramePr>
        <p:xfrm>
          <a:off x="2269313" y="3290976"/>
          <a:ext cx="92782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7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19.04.2015</a:t>
                      </a:r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3" name="Таблица 32"/>
          <p:cNvGraphicFramePr>
            <a:graphicFrameLocks noGrp="1"/>
          </p:cNvGraphicFramePr>
          <p:nvPr>
            <p:extLst/>
          </p:nvPr>
        </p:nvGraphicFramePr>
        <p:xfrm>
          <a:off x="3198375" y="3290976"/>
          <a:ext cx="92782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7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…</a:t>
                      </a:r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" name="Таблица 33"/>
          <p:cNvGraphicFramePr>
            <a:graphicFrameLocks noGrp="1"/>
          </p:cNvGraphicFramePr>
          <p:nvPr>
            <p:extLst/>
          </p:nvPr>
        </p:nvGraphicFramePr>
        <p:xfrm>
          <a:off x="4126925" y="3290976"/>
          <a:ext cx="340201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3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3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5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10 (материалы)</a:t>
                      </a:r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60 (поставщики)</a:t>
                      </a:r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8000</a:t>
                      </a:r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2281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88717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Таблица движений по счетам после изменений</a:t>
            </a:r>
            <a:endParaRPr lang="ru-RU" dirty="0"/>
          </a:p>
        </p:txBody>
      </p:sp>
      <p:graphicFrame>
        <p:nvGraphicFramePr>
          <p:cNvPr id="10" name="Таблица 9"/>
          <p:cNvGraphicFramePr>
            <a:graphicFrameLocks noGrp="1"/>
          </p:cNvGraphicFramePr>
          <p:nvPr>
            <p:extLst/>
          </p:nvPr>
        </p:nvGraphicFramePr>
        <p:xfrm>
          <a:off x="507422" y="1954643"/>
          <a:ext cx="1039801" cy="46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98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Регистратор</a:t>
                      </a:r>
                      <a:endParaRPr lang="ru-RU" sz="12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Таблица 10"/>
          <p:cNvGraphicFramePr>
            <a:graphicFrameLocks noGrp="1"/>
          </p:cNvGraphicFramePr>
          <p:nvPr>
            <p:extLst/>
          </p:nvPr>
        </p:nvGraphicFramePr>
        <p:xfrm>
          <a:off x="978472" y="1954643"/>
          <a:ext cx="650542" cy="46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05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Номер строки</a:t>
                      </a:r>
                      <a:endParaRPr lang="ru-RU" sz="12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Таблица 11"/>
          <p:cNvGraphicFramePr>
            <a:graphicFrameLocks noGrp="1"/>
          </p:cNvGraphicFramePr>
          <p:nvPr>
            <p:extLst/>
          </p:nvPr>
        </p:nvGraphicFramePr>
        <p:xfrm>
          <a:off x="1369868" y="1954643"/>
          <a:ext cx="927822" cy="46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7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Период</a:t>
                      </a:r>
                      <a:endParaRPr lang="ru-RU" sz="12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Таблица 12"/>
          <p:cNvGraphicFramePr>
            <a:graphicFrameLocks noGrp="1"/>
          </p:cNvGraphicFramePr>
          <p:nvPr>
            <p:extLst/>
          </p:nvPr>
        </p:nvGraphicFramePr>
        <p:xfrm>
          <a:off x="1802821" y="1954643"/>
          <a:ext cx="927822" cy="46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7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/>
                        <a:t>…</a:t>
                      </a:r>
                      <a:endParaRPr lang="ru-RU" sz="12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Таблица 14"/>
          <p:cNvGraphicFramePr>
            <a:graphicFrameLocks noGrp="1"/>
          </p:cNvGraphicFramePr>
          <p:nvPr>
            <p:extLst/>
          </p:nvPr>
        </p:nvGraphicFramePr>
        <p:xfrm>
          <a:off x="507422" y="2418771"/>
          <a:ext cx="1039801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98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&lt;ПТУ</a:t>
                      </a:r>
                      <a:r>
                        <a:rPr lang="ru-RU" sz="1200" baseline="0" dirty="0" smtClean="0"/>
                        <a:t> № 1&gt;</a:t>
                      </a:r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Таблица 15"/>
          <p:cNvGraphicFramePr>
            <a:graphicFrameLocks noGrp="1"/>
          </p:cNvGraphicFramePr>
          <p:nvPr>
            <p:extLst/>
          </p:nvPr>
        </p:nvGraphicFramePr>
        <p:xfrm>
          <a:off x="978472" y="2418771"/>
          <a:ext cx="65054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05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1</a:t>
                      </a:r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Таблица 16"/>
          <p:cNvGraphicFramePr>
            <a:graphicFrameLocks noGrp="1"/>
          </p:cNvGraphicFramePr>
          <p:nvPr>
            <p:extLst/>
          </p:nvPr>
        </p:nvGraphicFramePr>
        <p:xfrm>
          <a:off x="1369868" y="2418771"/>
          <a:ext cx="92782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7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12.04.2015</a:t>
                      </a:r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" name="Таблица 17"/>
          <p:cNvGraphicFramePr>
            <a:graphicFrameLocks noGrp="1"/>
          </p:cNvGraphicFramePr>
          <p:nvPr>
            <p:extLst/>
          </p:nvPr>
        </p:nvGraphicFramePr>
        <p:xfrm>
          <a:off x="1802821" y="2418771"/>
          <a:ext cx="92782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7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/>
                        <a:t>…</a:t>
                      </a:r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" name="Таблица 19"/>
          <p:cNvGraphicFramePr>
            <a:graphicFrameLocks noGrp="1"/>
          </p:cNvGraphicFramePr>
          <p:nvPr>
            <p:extLst/>
          </p:nvPr>
        </p:nvGraphicFramePr>
        <p:xfrm>
          <a:off x="503959" y="2706253"/>
          <a:ext cx="1039801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98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&lt;ПТУ</a:t>
                      </a:r>
                      <a:r>
                        <a:rPr lang="ru-RU" sz="1200" baseline="0" dirty="0" smtClean="0"/>
                        <a:t> № 2&gt;</a:t>
                      </a:r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" name="Таблица 20"/>
          <p:cNvGraphicFramePr>
            <a:graphicFrameLocks noGrp="1"/>
          </p:cNvGraphicFramePr>
          <p:nvPr>
            <p:extLst/>
          </p:nvPr>
        </p:nvGraphicFramePr>
        <p:xfrm>
          <a:off x="975009" y="2706253"/>
          <a:ext cx="65054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05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1</a:t>
                      </a:r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" name="Таблица 21"/>
          <p:cNvGraphicFramePr>
            <a:graphicFrameLocks noGrp="1"/>
          </p:cNvGraphicFramePr>
          <p:nvPr>
            <p:extLst/>
          </p:nvPr>
        </p:nvGraphicFramePr>
        <p:xfrm>
          <a:off x="1366405" y="2706253"/>
          <a:ext cx="92782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7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22.04.2015</a:t>
                      </a:r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Таблица 22"/>
          <p:cNvGraphicFramePr>
            <a:graphicFrameLocks noGrp="1"/>
          </p:cNvGraphicFramePr>
          <p:nvPr>
            <p:extLst/>
          </p:nvPr>
        </p:nvGraphicFramePr>
        <p:xfrm>
          <a:off x="1799358" y="2706253"/>
          <a:ext cx="92782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7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/>
                        <a:t>…</a:t>
                      </a:r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" name="Таблица 24"/>
          <p:cNvGraphicFramePr>
            <a:graphicFrameLocks noGrp="1"/>
          </p:cNvGraphicFramePr>
          <p:nvPr>
            <p:extLst/>
          </p:nvPr>
        </p:nvGraphicFramePr>
        <p:xfrm>
          <a:off x="503958" y="2997199"/>
          <a:ext cx="1039801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98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&lt;ПТУ</a:t>
                      </a:r>
                      <a:r>
                        <a:rPr lang="ru-RU" sz="1200" baseline="0" dirty="0" smtClean="0"/>
                        <a:t> № 3&gt;</a:t>
                      </a:r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" name="Таблица 25"/>
          <p:cNvGraphicFramePr>
            <a:graphicFrameLocks noGrp="1"/>
          </p:cNvGraphicFramePr>
          <p:nvPr>
            <p:extLst/>
          </p:nvPr>
        </p:nvGraphicFramePr>
        <p:xfrm>
          <a:off x="975008" y="2997199"/>
          <a:ext cx="65054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05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1</a:t>
                      </a:r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" name="Таблица 26"/>
          <p:cNvGraphicFramePr>
            <a:graphicFrameLocks noGrp="1"/>
          </p:cNvGraphicFramePr>
          <p:nvPr>
            <p:extLst/>
          </p:nvPr>
        </p:nvGraphicFramePr>
        <p:xfrm>
          <a:off x="1366404" y="2997199"/>
          <a:ext cx="92782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7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19.04.2015</a:t>
                      </a:r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Таблица 27"/>
          <p:cNvGraphicFramePr>
            <a:graphicFrameLocks noGrp="1"/>
          </p:cNvGraphicFramePr>
          <p:nvPr>
            <p:extLst/>
          </p:nvPr>
        </p:nvGraphicFramePr>
        <p:xfrm>
          <a:off x="1799357" y="2997199"/>
          <a:ext cx="92782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7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/>
                        <a:t>…</a:t>
                      </a:r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" name="Таблица 29"/>
          <p:cNvGraphicFramePr>
            <a:graphicFrameLocks noGrp="1"/>
          </p:cNvGraphicFramePr>
          <p:nvPr>
            <p:extLst/>
          </p:nvPr>
        </p:nvGraphicFramePr>
        <p:xfrm>
          <a:off x="503958" y="3290976"/>
          <a:ext cx="1039801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98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&lt;ПТУ</a:t>
                      </a:r>
                      <a:r>
                        <a:rPr lang="ru-RU" sz="1200" baseline="0" dirty="0" smtClean="0"/>
                        <a:t> № 4&gt;</a:t>
                      </a:r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Таблица 30"/>
          <p:cNvGraphicFramePr>
            <a:graphicFrameLocks noGrp="1"/>
          </p:cNvGraphicFramePr>
          <p:nvPr>
            <p:extLst/>
          </p:nvPr>
        </p:nvGraphicFramePr>
        <p:xfrm>
          <a:off x="975008" y="3290976"/>
          <a:ext cx="65054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05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1</a:t>
                      </a:r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" name="Таблица 31"/>
          <p:cNvGraphicFramePr>
            <a:graphicFrameLocks noGrp="1"/>
          </p:cNvGraphicFramePr>
          <p:nvPr>
            <p:extLst/>
          </p:nvPr>
        </p:nvGraphicFramePr>
        <p:xfrm>
          <a:off x="1366404" y="3290976"/>
          <a:ext cx="92782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7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19.04.2015</a:t>
                      </a:r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3" name="Таблица 32"/>
          <p:cNvGraphicFramePr>
            <a:graphicFrameLocks noGrp="1"/>
          </p:cNvGraphicFramePr>
          <p:nvPr>
            <p:extLst/>
          </p:nvPr>
        </p:nvGraphicFramePr>
        <p:xfrm>
          <a:off x="1799357" y="3290976"/>
          <a:ext cx="92782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7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/>
                        <a:t>…</a:t>
                      </a:r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7" name="Таблица 36"/>
          <p:cNvGraphicFramePr>
            <a:graphicFrameLocks noGrp="1"/>
          </p:cNvGraphicFramePr>
          <p:nvPr>
            <p:extLst/>
          </p:nvPr>
        </p:nvGraphicFramePr>
        <p:xfrm>
          <a:off x="2150386" y="1951179"/>
          <a:ext cx="1260000" cy="46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/>
                        <a:t>Валюта</a:t>
                      </a:r>
                      <a:r>
                        <a:rPr lang="ru-RU" sz="1200" b="1" baseline="0" dirty="0" smtClean="0"/>
                        <a:t> Дт</a:t>
                      </a:r>
                      <a:endParaRPr lang="ru-RU" sz="1200" b="1" dirty="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" name="Таблица 37"/>
          <p:cNvGraphicFramePr>
            <a:graphicFrameLocks noGrp="1"/>
          </p:cNvGraphicFramePr>
          <p:nvPr>
            <p:extLst/>
          </p:nvPr>
        </p:nvGraphicFramePr>
        <p:xfrm>
          <a:off x="2150388" y="2423512"/>
          <a:ext cx="1260000" cy="1152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-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-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-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-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9" name="Таблица 38"/>
          <p:cNvGraphicFramePr>
            <a:graphicFrameLocks noGrp="1"/>
          </p:cNvGraphicFramePr>
          <p:nvPr>
            <p:extLst/>
          </p:nvPr>
        </p:nvGraphicFramePr>
        <p:xfrm>
          <a:off x="3161691" y="1947715"/>
          <a:ext cx="1260000" cy="46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/>
                        <a:t>Валюта</a:t>
                      </a:r>
                      <a:r>
                        <a:rPr lang="ru-RU" sz="1200" b="1" baseline="0" dirty="0" smtClean="0"/>
                        <a:t> Кт</a:t>
                      </a:r>
                      <a:endParaRPr lang="ru-RU" sz="1200" b="1" dirty="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0" name="Таблица 39"/>
          <p:cNvGraphicFramePr>
            <a:graphicFrameLocks noGrp="1"/>
          </p:cNvGraphicFramePr>
          <p:nvPr>
            <p:extLst/>
          </p:nvPr>
        </p:nvGraphicFramePr>
        <p:xfrm>
          <a:off x="3161693" y="2420048"/>
          <a:ext cx="1260000" cy="1152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Рубли РФ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Доллары</a:t>
                      </a:r>
                      <a:r>
                        <a:rPr lang="ru-RU" sz="1200" baseline="0" dirty="0" smtClean="0"/>
                        <a:t> США</a:t>
                      </a:r>
                      <a:endParaRPr lang="ru-RU" sz="1200" dirty="0" smtClean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ЕВРО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Рубли РФ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4" name="Таблица 13"/>
          <p:cNvGraphicFramePr>
            <a:graphicFrameLocks noGrp="1"/>
          </p:cNvGraphicFramePr>
          <p:nvPr>
            <p:extLst/>
          </p:nvPr>
        </p:nvGraphicFramePr>
        <p:xfrm>
          <a:off x="4082931" y="1954643"/>
          <a:ext cx="3402012" cy="46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3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3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5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Счет </a:t>
                      </a:r>
                      <a:r>
                        <a:rPr lang="ru-RU" sz="1200" dirty="0" err="1" smtClean="0"/>
                        <a:t>Дт</a:t>
                      </a:r>
                      <a:endParaRPr lang="ru-RU" sz="12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Счет </a:t>
                      </a:r>
                      <a:r>
                        <a:rPr lang="ru-RU" sz="1200" dirty="0" err="1" smtClean="0"/>
                        <a:t>Кт</a:t>
                      </a:r>
                      <a:endParaRPr lang="ru-RU" sz="12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Сумма</a:t>
                      </a:r>
                      <a:endParaRPr lang="ru-RU" sz="12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Таблица 18"/>
          <p:cNvGraphicFramePr>
            <a:graphicFrameLocks noGrp="1"/>
          </p:cNvGraphicFramePr>
          <p:nvPr>
            <p:extLst/>
          </p:nvPr>
        </p:nvGraphicFramePr>
        <p:xfrm>
          <a:off x="4082931" y="2418771"/>
          <a:ext cx="340201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3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3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5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41 (товары)</a:t>
                      </a:r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60 (поставщики)</a:t>
                      </a:r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5000</a:t>
                      </a:r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Таблица 23"/>
          <p:cNvGraphicFramePr>
            <a:graphicFrameLocks noGrp="1"/>
          </p:cNvGraphicFramePr>
          <p:nvPr>
            <p:extLst/>
          </p:nvPr>
        </p:nvGraphicFramePr>
        <p:xfrm>
          <a:off x="4082931" y="2706253"/>
          <a:ext cx="340201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3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3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5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41 (товары)</a:t>
                      </a:r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60 (поставщики)</a:t>
                      </a:r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70000</a:t>
                      </a:r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" name="Таблица 28"/>
          <p:cNvGraphicFramePr>
            <a:graphicFrameLocks noGrp="1"/>
          </p:cNvGraphicFramePr>
          <p:nvPr>
            <p:extLst/>
          </p:nvPr>
        </p:nvGraphicFramePr>
        <p:xfrm>
          <a:off x="4082931" y="2997199"/>
          <a:ext cx="340201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3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3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5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41 (товары)</a:t>
                      </a:r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60 (поставщики)</a:t>
                      </a:r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100000</a:t>
                      </a:r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" name="Таблица 33"/>
          <p:cNvGraphicFramePr>
            <a:graphicFrameLocks noGrp="1"/>
          </p:cNvGraphicFramePr>
          <p:nvPr>
            <p:extLst/>
          </p:nvPr>
        </p:nvGraphicFramePr>
        <p:xfrm>
          <a:off x="4082931" y="3290976"/>
          <a:ext cx="3402012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3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3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5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10 (материалы)</a:t>
                      </a:r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60 (поставщики)</a:t>
                      </a:r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8000</a:t>
                      </a:r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" name="Таблица 40"/>
          <p:cNvGraphicFramePr>
            <a:graphicFrameLocks noGrp="1"/>
          </p:cNvGraphicFramePr>
          <p:nvPr>
            <p:extLst/>
          </p:nvPr>
        </p:nvGraphicFramePr>
        <p:xfrm>
          <a:off x="7220964" y="1954643"/>
          <a:ext cx="936522" cy="46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65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/>
                        <a:t>Сумма валюты</a:t>
                      </a:r>
                      <a:r>
                        <a:rPr lang="ru-RU" sz="1200" b="1" baseline="0" dirty="0" smtClean="0"/>
                        <a:t> Дт</a:t>
                      </a:r>
                      <a:endParaRPr lang="ru-RU" sz="1200" b="1" dirty="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2" name="Таблица 41"/>
          <p:cNvGraphicFramePr>
            <a:graphicFrameLocks noGrp="1"/>
          </p:cNvGraphicFramePr>
          <p:nvPr>
            <p:extLst/>
          </p:nvPr>
        </p:nvGraphicFramePr>
        <p:xfrm>
          <a:off x="7220966" y="2426976"/>
          <a:ext cx="936522" cy="1152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65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-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-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-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-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3" name="Таблица 42"/>
          <p:cNvGraphicFramePr>
            <a:graphicFrameLocks noGrp="1"/>
          </p:cNvGraphicFramePr>
          <p:nvPr>
            <p:extLst/>
          </p:nvPr>
        </p:nvGraphicFramePr>
        <p:xfrm>
          <a:off x="8036119" y="1954643"/>
          <a:ext cx="936000" cy="46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/>
                        <a:t>Сумма валюты</a:t>
                      </a:r>
                      <a:r>
                        <a:rPr lang="ru-RU" sz="1200" b="1" baseline="0" dirty="0" smtClean="0"/>
                        <a:t> Кт</a:t>
                      </a:r>
                      <a:endParaRPr lang="ru-RU" sz="1200" b="1" dirty="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4" name="Таблица 43"/>
          <p:cNvGraphicFramePr>
            <a:graphicFrameLocks noGrp="1"/>
          </p:cNvGraphicFramePr>
          <p:nvPr>
            <p:extLst/>
          </p:nvPr>
        </p:nvGraphicFramePr>
        <p:xfrm>
          <a:off x="8036121" y="2426976"/>
          <a:ext cx="936000" cy="1152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5000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110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180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8000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3296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88119" y="571977"/>
            <a:ext cx="8784000" cy="808258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Таблица остатков и оборотов по счетам до изменения.</a:t>
            </a:r>
            <a:endParaRPr lang="ru-RU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/>
          </p:nvPr>
        </p:nvGraphicFramePr>
        <p:xfrm>
          <a:off x="534569" y="1925217"/>
          <a:ext cx="2179595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Период</a:t>
                      </a:r>
                      <a:endParaRPr lang="ru-RU" sz="12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Счет</a:t>
                      </a:r>
                      <a:endParaRPr lang="ru-RU" sz="12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>
            <p:extLst/>
          </p:nvPr>
        </p:nvGraphicFramePr>
        <p:xfrm>
          <a:off x="534569" y="3044705"/>
          <a:ext cx="2179595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01.05.2015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10 (материалы)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01.05.2015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41 (товары)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01.05.2015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60 (поставщики)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/>
          </p:nvPr>
        </p:nvGraphicFramePr>
        <p:xfrm>
          <a:off x="534569" y="2497559"/>
          <a:ext cx="2179595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01.04.2015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41 (товары)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01.04.2015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60 (поставщики)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Таблица 9"/>
          <p:cNvGraphicFramePr>
            <a:graphicFrameLocks noGrp="1"/>
          </p:cNvGraphicFramePr>
          <p:nvPr>
            <p:extLst/>
          </p:nvPr>
        </p:nvGraphicFramePr>
        <p:xfrm>
          <a:off x="3983221" y="1925217"/>
          <a:ext cx="4393210" cy="56865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3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711"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Сумма остаток</a:t>
                      </a:r>
                      <a:endParaRPr lang="ru-RU" sz="12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Обороты</a:t>
                      </a:r>
                      <a:endParaRPr lang="ru-RU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331">
                <a:tc vMerge="1">
                  <a:txBody>
                    <a:bodyPr/>
                    <a:lstStyle/>
                    <a:p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Сумма Дт</a:t>
                      </a:r>
                      <a:endParaRPr lang="ru-RU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Сумма Кт</a:t>
                      </a:r>
                      <a:endParaRPr lang="ru-RU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Оборот</a:t>
                      </a:r>
                      <a:endParaRPr lang="ru-RU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Таблица 10"/>
          <p:cNvGraphicFramePr>
            <a:graphicFrameLocks noGrp="1"/>
          </p:cNvGraphicFramePr>
          <p:nvPr>
            <p:extLst/>
          </p:nvPr>
        </p:nvGraphicFramePr>
        <p:xfrm>
          <a:off x="2717596" y="1925217"/>
          <a:ext cx="1260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…</a:t>
                      </a:r>
                      <a:endParaRPr lang="ru-RU" sz="12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Таблица 12"/>
          <p:cNvGraphicFramePr>
            <a:graphicFrameLocks noGrp="1"/>
          </p:cNvGraphicFramePr>
          <p:nvPr>
            <p:extLst/>
          </p:nvPr>
        </p:nvGraphicFramePr>
        <p:xfrm>
          <a:off x="3983222" y="3044705"/>
          <a:ext cx="4392001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80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3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31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b="0" dirty="0" smtClean="0"/>
                        <a:t>0</a:t>
                      </a:r>
                      <a:endParaRPr lang="ru-RU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 smtClean="0"/>
                        <a:t>8000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 smtClean="0"/>
                        <a:t>8000</a:t>
                      </a:r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b="0" dirty="0" smtClean="0"/>
                        <a:t>0</a:t>
                      </a:r>
                      <a:endParaRPr lang="ru-RU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 smtClean="0"/>
                        <a:t>10000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 smtClean="0"/>
                        <a:t>10000</a:t>
                      </a:r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b="0" dirty="0" smtClean="0"/>
                        <a:t>0</a:t>
                      </a:r>
                      <a:endParaRPr lang="ru-RU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 smtClean="0"/>
                        <a:t>18000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 smtClean="0"/>
                        <a:t>-18000</a:t>
                      </a:r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Таблица 13"/>
          <p:cNvGraphicFramePr>
            <a:graphicFrameLocks noGrp="1"/>
          </p:cNvGraphicFramePr>
          <p:nvPr>
            <p:extLst/>
          </p:nvPr>
        </p:nvGraphicFramePr>
        <p:xfrm>
          <a:off x="3983223" y="2497559"/>
          <a:ext cx="43920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8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7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1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46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dirty="0" smtClean="0"/>
                        <a:t>0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 smtClean="0">
                          <a:solidFill>
                            <a:schemeClr val="tx1"/>
                          </a:solidFill>
                        </a:rPr>
                        <a:t>12000</a:t>
                      </a:r>
                      <a:endParaRPr lang="ru-RU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 smtClean="0"/>
                        <a:t>12000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dirty="0" smtClean="0"/>
                        <a:t>0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 smtClean="0">
                          <a:solidFill>
                            <a:schemeClr val="tx1"/>
                          </a:solidFill>
                        </a:rPr>
                        <a:t>12000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 smtClean="0">
                          <a:solidFill>
                            <a:schemeClr val="tx1"/>
                          </a:solidFill>
                        </a:rPr>
                        <a:t>-12000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5" name="Таблица 24"/>
          <p:cNvGraphicFramePr>
            <a:graphicFrameLocks noGrp="1"/>
          </p:cNvGraphicFramePr>
          <p:nvPr>
            <p:extLst/>
          </p:nvPr>
        </p:nvGraphicFramePr>
        <p:xfrm>
          <a:off x="2717596" y="3044705"/>
          <a:ext cx="1260000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1" name="Таблица 30"/>
          <p:cNvGraphicFramePr>
            <a:graphicFrameLocks noGrp="1"/>
          </p:cNvGraphicFramePr>
          <p:nvPr>
            <p:extLst/>
          </p:nvPr>
        </p:nvGraphicFramePr>
        <p:xfrm>
          <a:off x="2717596" y="2496889"/>
          <a:ext cx="12600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3" name="Таблица 32"/>
          <p:cNvGraphicFramePr>
            <a:graphicFrameLocks noGrp="1"/>
          </p:cNvGraphicFramePr>
          <p:nvPr>
            <p:extLst/>
          </p:nvPr>
        </p:nvGraphicFramePr>
        <p:xfrm>
          <a:off x="2717596" y="3860921"/>
          <a:ext cx="12600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5" name="Таблица 34"/>
          <p:cNvGraphicFramePr>
            <a:graphicFrameLocks noGrp="1"/>
          </p:cNvGraphicFramePr>
          <p:nvPr>
            <p:extLst/>
          </p:nvPr>
        </p:nvGraphicFramePr>
        <p:xfrm>
          <a:off x="534569" y="3860921"/>
          <a:ext cx="2179595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01.05.2015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41 (товары)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01.05.2015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60 (поставщики)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7" name="Таблица 36"/>
          <p:cNvGraphicFramePr>
            <a:graphicFrameLocks noGrp="1"/>
          </p:cNvGraphicFramePr>
          <p:nvPr>
            <p:extLst/>
          </p:nvPr>
        </p:nvGraphicFramePr>
        <p:xfrm>
          <a:off x="3983222" y="3860921"/>
          <a:ext cx="43920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80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5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31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31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b="0" dirty="0" smtClean="0"/>
                        <a:t>12000</a:t>
                      </a:r>
                      <a:endParaRPr lang="ru-RU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b="0" dirty="0" smtClean="0"/>
                        <a:t>-12000</a:t>
                      </a:r>
                      <a:endParaRPr lang="ru-RU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6" name="Таблица 35"/>
          <p:cNvGraphicFramePr>
            <a:graphicFrameLocks noGrp="1"/>
          </p:cNvGraphicFramePr>
          <p:nvPr>
            <p:extLst/>
          </p:nvPr>
        </p:nvGraphicFramePr>
        <p:xfrm>
          <a:off x="538688" y="4408067"/>
          <a:ext cx="2179595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01.</a:t>
                      </a:r>
                      <a:r>
                        <a:rPr lang="en-US" sz="1200" dirty="0" smtClean="0"/>
                        <a:t>11</a:t>
                      </a:r>
                      <a:r>
                        <a:rPr lang="ru-RU" sz="1200" dirty="0" smtClean="0"/>
                        <a:t>.</a:t>
                      </a:r>
                      <a:r>
                        <a:rPr lang="en-US" sz="1200" dirty="0" smtClean="0"/>
                        <a:t>3999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10 (материалы)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01.</a:t>
                      </a:r>
                      <a:r>
                        <a:rPr lang="en-US" sz="1200" dirty="0" smtClean="0"/>
                        <a:t>11</a:t>
                      </a:r>
                      <a:r>
                        <a:rPr lang="ru-RU" sz="1200" dirty="0" smtClean="0"/>
                        <a:t>.</a:t>
                      </a:r>
                      <a:r>
                        <a:rPr lang="en-US" sz="1200" dirty="0" smtClean="0"/>
                        <a:t>3999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41 (товары)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01.</a:t>
                      </a:r>
                      <a:r>
                        <a:rPr lang="en-US" sz="1200" dirty="0" smtClean="0"/>
                        <a:t>11</a:t>
                      </a:r>
                      <a:r>
                        <a:rPr lang="ru-RU" sz="1200" dirty="0" smtClean="0"/>
                        <a:t>.</a:t>
                      </a:r>
                      <a:r>
                        <a:rPr lang="en-US" sz="1200" dirty="0" smtClean="0"/>
                        <a:t>3999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60 (поставщики)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8" name="Таблица 37"/>
          <p:cNvGraphicFramePr>
            <a:graphicFrameLocks noGrp="1"/>
          </p:cNvGraphicFramePr>
          <p:nvPr>
            <p:extLst/>
          </p:nvPr>
        </p:nvGraphicFramePr>
        <p:xfrm>
          <a:off x="3987342" y="4408067"/>
          <a:ext cx="4392001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350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05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31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3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en-US" sz="1200" b="0" dirty="0" smtClean="0"/>
                        <a:t>800</a:t>
                      </a:r>
                      <a:r>
                        <a:rPr lang="ru-RU" sz="1200" b="0" dirty="0" smtClean="0"/>
                        <a:t>0</a:t>
                      </a:r>
                      <a:endParaRPr lang="ru-RU" sz="1200" b="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en-US" sz="1200" b="0" dirty="0" smtClean="0"/>
                        <a:t>1000</a:t>
                      </a:r>
                      <a:r>
                        <a:rPr lang="ru-RU" sz="1200" b="0" dirty="0" smtClean="0"/>
                        <a:t>0</a:t>
                      </a:r>
                      <a:endParaRPr lang="ru-RU" sz="1200" b="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en-US" sz="1200" b="0" dirty="0" smtClean="0"/>
                        <a:t>1800</a:t>
                      </a:r>
                      <a:r>
                        <a:rPr lang="ru-RU" sz="1200" b="0" dirty="0" smtClean="0"/>
                        <a:t>0</a:t>
                      </a:r>
                      <a:endParaRPr lang="ru-RU" sz="1200" b="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9" name="Таблица 38"/>
          <p:cNvGraphicFramePr>
            <a:graphicFrameLocks noGrp="1"/>
          </p:cNvGraphicFramePr>
          <p:nvPr>
            <p:extLst/>
          </p:nvPr>
        </p:nvGraphicFramePr>
        <p:xfrm>
          <a:off x="2721715" y="4408067"/>
          <a:ext cx="1260000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1" name="Таблица 40"/>
          <p:cNvGraphicFramePr>
            <a:graphicFrameLocks noGrp="1"/>
          </p:cNvGraphicFramePr>
          <p:nvPr>
            <p:extLst/>
          </p:nvPr>
        </p:nvGraphicFramePr>
        <p:xfrm>
          <a:off x="2721715" y="5224283"/>
          <a:ext cx="12600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3" name="Таблица 42"/>
          <p:cNvGraphicFramePr>
            <a:graphicFrameLocks noGrp="1"/>
          </p:cNvGraphicFramePr>
          <p:nvPr>
            <p:extLst/>
          </p:nvPr>
        </p:nvGraphicFramePr>
        <p:xfrm>
          <a:off x="538688" y="5224283"/>
          <a:ext cx="2179595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01.</a:t>
                      </a:r>
                      <a:r>
                        <a:rPr lang="en-US" sz="1200" dirty="0" smtClean="0"/>
                        <a:t>11</a:t>
                      </a:r>
                      <a:r>
                        <a:rPr lang="ru-RU" sz="1200" dirty="0" smtClean="0"/>
                        <a:t>.</a:t>
                      </a:r>
                      <a:r>
                        <a:rPr lang="en-US" sz="1200" dirty="0" smtClean="0"/>
                        <a:t>3999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41 (товары)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01.</a:t>
                      </a:r>
                      <a:r>
                        <a:rPr lang="en-US" sz="1200" dirty="0" smtClean="0"/>
                        <a:t>11</a:t>
                      </a:r>
                      <a:r>
                        <a:rPr lang="ru-RU" sz="1200" dirty="0" smtClean="0"/>
                        <a:t>.</a:t>
                      </a:r>
                      <a:r>
                        <a:rPr lang="en-US" sz="1200" dirty="0" smtClean="0"/>
                        <a:t>3999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60 (поставщики)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4" name="Таблица 43"/>
          <p:cNvGraphicFramePr>
            <a:graphicFrameLocks noGrp="1"/>
          </p:cNvGraphicFramePr>
          <p:nvPr>
            <p:extLst/>
          </p:nvPr>
        </p:nvGraphicFramePr>
        <p:xfrm>
          <a:off x="3987342" y="5224283"/>
          <a:ext cx="4392001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39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1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31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3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b="0" dirty="0" smtClean="0"/>
                        <a:t>12000</a:t>
                      </a:r>
                      <a:endParaRPr lang="ru-RU" sz="1200" b="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b="0" dirty="0" smtClean="0"/>
                        <a:t>-12000</a:t>
                      </a:r>
                      <a:endParaRPr lang="ru-RU" sz="1200" b="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7487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88119" y="571977"/>
            <a:ext cx="8784000" cy="906627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Таблица остатков и оборотов по счетам после изменения</a:t>
            </a:r>
            <a:endParaRPr lang="ru-RU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/>
          </p:nvPr>
        </p:nvGraphicFramePr>
        <p:xfrm>
          <a:off x="534569" y="1925217"/>
          <a:ext cx="2179595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Период</a:t>
                      </a:r>
                      <a:endParaRPr lang="ru-RU" sz="12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Счет</a:t>
                      </a:r>
                      <a:endParaRPr lang="ru-RU" sz="12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>
            <p:extLst/>
          </p:nvPr>
        </p:nvGraphicFramePr>
        <p:xfrm>
          <a:off x="534569" y="3044705"/>
          <a:ext cx="2179595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01.05.2015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10 (материалы)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01.05.2015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41 (товары)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01.05.2015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60 (поставщики)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/>
          </p:nvPr>
        </p:nvGraphicFramePr>
        <p:xfrm>
          <a:off x="534569" y="2497559"/>
          <a:ext cx="2179595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01.04.2015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41 (товары)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01.04.2015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60 (поставщики)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Таблица 10"/>
          <p:cNvGraphicFramePr>
            <a:graphicFrameLocks noGrp="1"/>
          </p:cNvGraphicFramePr>
          <p:nvPr>
            <p:extLst/>
          </p:nvPr>
        </p:nvGraphicFramePr>
        <p:xfrm>
          <a:off x="2717596" y="1925217"/>
          <a:ext cx="1260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…</a:t>
                      </a:r>
                      <a:endParaRPr lang="ru-RU" sz="12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Таблица 11"/>
          <p:cNvGraphicFramePr>
            <a:graphicFrameLocks noGrp="1"/>
          </p:cNvGraphicFramePr>
          <p:nvPr>
            <p:extLst/>
          </p:nvPr>
        </p:nvGraphicFramePr>
        <p:xfrm>
          <a:off x="3464960" y="1925217"/>
          <a:ext cx="1260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/>
                        <a:t>Валюта</a:t>
                      </a:r>
                      <a:endParaRPr lang="ru-RU" sz="1200" b="1" dirty="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" name="Таблица 24"/>
          <p:cNvGraphicFramePr>
            <a:graphicFrameLocks noGrp="1"/>
          </p:cNvGraphicFramePr>
          <p:nvPr>
            <p:extLst/>
          </p:nvPr>
        </p:nvGraphicFramePr>
        <p:xfrm>
          <a:off x="2717596" y="3044705"/>
          <a:ext cx="1260000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6" name="Таблица 25"/>
          <p:cNvGraphicFramePr>
            <a:graphicFrameLocks noGrp="1"/>
          </p:cNvGraphicFramePr>
          <p:nvPr>
            <p:extLst/>
          </p:nvPr>
        </p:nvGraphicFramePr>
        <p:xfrm>
          <a:off x="3464960" y="3044705"/>
          <a:ext cx="1260000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-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-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Рубли РФ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1" name="Таблица 30"/>
          <p:cNvGraphicFramePr>
            <a:graphicFrameLocks noGrp="1"/>
          </p:cNvGraphicFramePr>
          <p:nvPr>
            <p:extLst/>
          </p:nvPr>
        </p:nvGraphicFramePr>
        <p:xfrm>
          <a:off x="2717596" y="2496889"/>
          <a:ext cx="12600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2" name="Таблица 31"/>
          <p:cNvGraphicFramePr>
            <a:graphicFrameLocks noGrp="1"/>
          </p:cNvGraphicFramePr>
          <p:nvPr>
            <p:extLst/>
          </p:nvPr>
        </p:nvGraphicFramePr>
        <p:xfrm>
          <a:off x="3464960" y="2496889"/>
          <a:ext cx="12600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-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Рубли РФ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3" name="Таблица 32"/>
          <p:cNvGraphicFramePr>
            <a:graphicFrameLocks noGrp="1"/>
          </p:cNvGraphicFramePr>
          <p:nvPr>
            <p:extLst/>
          </p:nvPr>
        </p:nvGraphicFramePr>
        <p:xfrm>
          <a:off x="2717596" y="3860921"/>
          <a:ext cx="12600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4" name="Таблица 33"/>
          <p:cNvGraphicFramePr>
            <a:graphicFrameLocks noGrp="1"/>
          </p:cNvGraphicFramePr>
          <p:nvPr>
            <p:extLst/>
          </p:nvPr>
        </p:nvGraphicFramePr>
        <p:xfrm>
          <a:off x="3464960" y="3860921"/>
          <a:ext cx="12600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-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Доллары США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5" name="Таблица 34"/>
          <p:cNvGraphicFramePr>
            <a:graphicFrameLocks noGrp="1"/>
          </p:cNvGraphicFramePr>
          <p:nvPr>
            <p:extLst/>
          </p:nvPr>
        </p:nvGraphicFramePr>
        <p:xfrm>
          <a:off x="534569" y="3860921"/>
          <a:ext cx="2179595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01.05.2015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41 (товары)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01.05.2015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60 (поставщики)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6" name="Таблица 35"/>
          <p:cNvGraphicFramePr>
            <a:graphicFrameLocks noGrp="1"/>
          </p:cNvGraphicFramePr>
          <p:nvPr>
            <p:extLst/>
          </p:nvPr>
        </p:nvGraphicFramePr>
        <p:xfrm>
          <a:off x="538688" y="4408067"/>
          <a:ext cx="2179595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01.</a:t>
                      </a:r>
                      <a:r>
                        <a:rPr lang="en-US" sz="1200" dirty="0" smtClean="0"/>
                        <a:t>11</a:t>
                      </a:r>
                      <a:r>
                        <a:rPr lang="ru-RU" sz="1200" dirty="0" smtClean="0"/>
                        <a:t>.</a:t>
                      </a:r>
                      <a:r>
                        <a:rPr lang="en-US" sz="1200" dirty="0" smtClean="0"/>
                        <a:t>3999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10 (материалы)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01.</a:t>
                      </a:r>
                      <a:r>
                        <a:rPr lang="en-US" sz="1200" dirty="0" smtClean="0"/>
                        <a:t>11</a:t>
                      </a:r>
                      <a:r>
                        <a:rPr lang="ru-RU" sz="1200" dirty="0" smtClean="0"/>
                        <a:t>.</a:t>
                      </a:r>
                      <a:r>
                        <a:rPr lang="en-US" sz="1200" dirty="0" smtClean="0"/>
                        <a:t>3999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41 (товары)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01.</a:t>
                      </a:r>
                      <a:r>
                        <a:rPr lang="en-US" sz="1200" dirty="0" smtClean="0"/>
                        <a:t>11</a:t>
                      </a:r>
                      <a:r>
                        <a:rPr lang="ru-RU" sz="1200" dirty="0" smtClean="0"/>
                        <a:t>.</a:t>
                      </a:r>
                      <a:r>
                        <a:rPr lang="en-US" sz="1200" dirty="0" smtClean="0"/>
                        <a:t>3999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60 (поставщики)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9" name="Таблица 38"/>
          <p:cNvGraphicFramePr>
            <a:graphicFrameLocks noGrp="1"/>
          </p:cNvGraphicFramePr>
          <p:nvPr>
            <p:extLst/>
          </p:nvPr>
        </p:nvGraphicFramePr>
        <p:xfrm>
          <a:off x="2721715" y="4408067"/>
          <a:ext cx="1260000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0" name="Таблица 39"/>
          <p:cNvGraphicFramePr>
            <a:graphicFrameLocks noGrp="1"/>
          </p:cNvGraphicFramePr>
          <p:nvPr>
            <p:extLst/>
          </p:nvPr>
        </p:nvGraphicFramePr>
        <p:xfrm>
          <a:off x="3469079" y="4408067"/>
          <a:ext cx="1260000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-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-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Рубли РФ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1" name="Таблица 40"/>
          <p:cNvGraphicFramePr>
            <a:graphicFrameLocks noGrp="1"/>
          </p:cNvGraphicFramePr>
          <p:nvPr>
            <p:extLst/>
          </p:nvPr>
        </p:nvGraphicFramePr>
        <p:xfrm>
          <a:off x="2721715" y="5224283"/>
          <a:ext cx="12600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2" name="Таблица 41"/>
          <p:cNvGraphicFramePr>
            <a:graphicFrameLocks noGrp="1"/>
          </p:cNvGraphicFramePr>
          <p:nvPr>
            <p:extLst/>
          </p:nvPr>
        </p:nvGraphicFramePr>
        <p:xfrm>
          <a:off x="3469079" y="5224283"/>
          <a:ext cx="12600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-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Доллары США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3" name="Таблица 42"/>
          <p:cNvGraphicFramePr>
            <a:graphicFrameLocks noGrp="1"/>
          </p:cNvGraphicFramePr>
          <p:nvPr>
            <p:extLst/>
          </p:nvPr>
        </p:nvGraphicFramePr>
        <p:xfrm>
          <a:off x="538688" y="5224283"/>
          <a:ext cx="2179595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01.</a:t>
                      </a:r>
                      <a:r>
                        <a:rPr lang="en-US" sz="1200" dirty="0" smtClean="0"/>
                        <a:t>11</a:t>
                      </a:r>
                      <a:r>
                        <a:rPr lang="ru-RU" sz="1200" dirty="0" smtClean="0"/>
                        <a:t>.</a:t>
                      </a:r>
                      <a:r>
                        <a:rPr lang="en-US" sz="1200" dirty="0" smtClean="0"/>
                        <a:t>3999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41 (товары)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01.</a:t>
                      </a:r>
                      <a:r>
                        <a:rPr lang="en-US" sz="1200" dirty="0" smtClean="0"/>
                        <a:t>11</a:t>
                      </a:r>
                      <a:r>
                        <a:rPr lang="ru-RU" sz="1200" dirty="0" smtClean="0"/>
                        <a:t>.</a:t>
                      </a:r>
                      <a:r>
                        <a:rPr lang="en-US" sz="1200" dirty="0" smtClean="0"/>
                        <a:t>3999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60 (поставщики)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Таблица 9"/>
          <p:cNvGraphicFramePr>
            <a:graphicFrameLocks noGrp="1"/>
          </p:cNvGraphicFramePr>
          <p:nvPr>
            <p:extLst/>
          </p:nvPr>
        </p:nvGraphicFramePr>
        <p:xfrm>
          <a:off x="4399456" y="1925217"/>
          <a:ext cx="4176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113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20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98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28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000"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Сумма остаток</a:t>
                      </a:r>
                      <a:endParaRPr lang="ru-RU" sz="12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Обороты</a:t>
                      </a:r>
                      <a:endParaRPr lang="ru-RU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Сумма Дт</a:t>
                      </a:r>
                      <a:endParaRPr lang="ru-RU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Сумма Кт</a:t>
                      </a:r>
                      <a:endParaRPr lang="ru-RU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Оборот</a:t>
                      </a:r>
                      <a:endParaRPr lang="ru-RU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Таблица 12"/>
          <p:cNvGraphicFramePr>
            <a:graphicFrameLocks noGrp="1"/>
          </p:cNvGraphicFramePr>
          <p:nvPr>
            <p:extLst/>
          </p:nvPr>
        </p:nvGraphicFramePr>
        <p:xfrm>
          <a:off x="4399456" y="3044705"/>
          <a:ext cx="4176000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14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0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4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04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b="0" dirty="0" smtClean="0"/>
                        <a:t>0</a:t>
                      </a:r>
                      <a:endParaRPr lang="ru-RU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 smtClean="0"/>
                        <a:t>8000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 smtClean="0"/>
                        <a:t>8000</a:t>
                      </a:r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b="0" dirty="0" smtClean="0"/>
                        <a:t>0</a:t>
                      </a:r>
                      <a:endParaRPr lang="ru-RU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 smtClean="0"/>
                        <a:t>10000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 smtClean="0"/>
                        <a:t>10000</a:t>
                      </a:r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b="0" dirty="0" smtClean="0"/>
                        <a:t>0</a:t>
                      </a:r>
                      <a:endParaRPr lang="ru-RU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 smtClean="0"/>
                        <a:t>18000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 smtClean="0"/>
                        <a:t>-18000</a:t>
                      </a:r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Таблица 13"/>
          <p:cNvGraphicFramePr>
            <a:graphicFrameLocks noGrp="1"/>
          </p:cNvGraphicFramePr>
          <p:nvPr>
            <p:extLst/>
          </p:nvPr>
        </p:nvGraphicFramePr>
        <p:xfrm>
          <a:off x="4399456" y="2497559"/>
          <a:ext cx="41760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14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0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4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04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dirty="0" smtClean="0"/>
                        <a:t>0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 smtClean="0">
                          <a:solidFill>
                            <a:schemeClr val="tx1"/>
                          </a:solidFill>
                        </a:rPr>
                        <a:t>12000</a:t>
                      </a:r>
                      <a:endParaRPr lang="ru-RU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 smtClean="0"/>
                        <a:t>12000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dirty="0" smtClean="0"/>
                        <a:t>0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 smtClean="0">
                          <a:solidFill>
                            <a:schemeClr val="tx1"/>
                          </a:solidFill>
                        </a:rPr>
                        <a:t>12000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 smtClean="0">
                          <a:solidFill>
                            <a:schemeClr val="tx1"/>
                          </a:solidFill>
                        </a:rPr>
                        <a:t>-12000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7" name="Таблица 36"/>
          <p:cNvGraphicFramePr>
            <a:graphicFrameLocks noGrp="1"/>
          </p:cNvGraphicFramePr>
          <p:nvPr>
            <p:extLst/>
          </p:nvPr>
        </p:nvGraphicFramePr>
        <p:xfrm>
          <a:off x="4399456" y="3860921"/>
          <a:ext cx="41760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14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0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4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04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b="0" dirty="0" smtClean="0"/>
                        <a:t>12000</a:t>
                      </a:r>
                      <a:endParaRPr lang="ru-RU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b="0" dirty="0" smtClean="0"/>
                        <a:t>-12000</a:t>
                      </a:r>
                      <a:endParaRPr lang="ru-RU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8" name="Таблица 37"/>
          <p:cNvGraphicFramePr>
            <a:graphicFrameLocks noGrp="1"/>
          </p:cNvGraphicFramePr>
          <p:nvPr>
            <p:extLst/>
          </p:nvPr>
        </p:nvGraphicFramePr>
        <p:xfrm>
          <a:off x="4399456" y="4408067"/>
          <a:ext cx="4176000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14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0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4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04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en-US" sz="1200" b="0" dirty="0" smtClean="0"/>
                        <a:t>800</a:t>
                      </a:r>
                      <a:r>
                        <a:rPr lang="ru-RU" sz="1200" b="0" dirty="0" smtClean="0"/>
                        <a:t>0</a:t>
                      </a:r>
                      <a:endParaRPr lang="ru-RU" sz="1200" b="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en-US" sz="1200" b="0" dirty="0" smtClean="0"/>
                        <a:t>1000</a:t>
                      </a:r>
                      <a:r>
                        <a:rPr lang="ru-RU" sz="1200" b="0" dirty="0" smtClean="0"/>
                        <a:t>0</a:t>
                      </a:r>
                      <a:endParaRPr lang="ru-RU" sz="1200" b="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en-US" sz="1200" b="0" dirty="0" smtClean="0"/>
                        <a:t>1800</a:t>
                      </a:r>
                      <a:r>
                        <a:rPr lang="ru-RU" sz="1200" b="0" dirty="0" smtClean="0"/>
                        <a:t>0</a:t>
                      </a:r>
                      <a:endParaRPr lang="ru-RU" sz="1200" b="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4" name="Таблица 43"/>
          <p:cNvGraphicFramePr>
            <a:graphicFrameLocks noGrp="1"/>
          </p:cNvGraphicFramePr>
          <p:nvPr>
            <p:extLst/>
          </p:nvPr>
        </p:nvGraphicFramePr>
        <p:xfrm>
          <a:off x="4399456" y="5224283"/>
          <a:ext cx="41760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14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0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4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04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b="0" dirty="0" smtClean="0"/>
                        <a:t>12000</a:t>
                      </a:r>
                      <a:endParaRPr lang="ru-RU" sz="1200" b="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b="0" dirty="0" smtClean="0"/>
                        <a:t>-12000</a:t>
                      </a:r>
                      <a:endParaRPr lang="ru-RU" sz="1200" b="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7" name="Таблица 46"/>
          <p:cNvGraphicFramePr>
            <a:graphicFrameLocks noGrp="1"/>
          </p:cNvGraphicFramePr>
          <p:nvPr>
            <p:extLst/>
          </p:nvPr>
        </p:nvGraphicFramePr>
        <p:xfrm>
          <a:off x="4575997" y="1925217"/>
          <a:ext cx="4393210" cy="56865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3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711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 smtClean="0"/>
                        <a:t>Сумма валюты остаток</a:t>
                      </a:r>
                      <a:endParaRPr lang="ru-RU" sz="1100" b="1" dirty="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 smtClean="0"/>
                        <a:t>Обороты сумма валюты</a:t>
                      </a:r>
                      <a:endParaRPr lang="ru-RU" sz="1200" b="1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331">
                <a:tc vMerge="1">
                  <a:txBody>
                    <a:bodyPr/>
                    <a:lstStyle/>
                    <a:p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/>
                        <a:t>Дебет</a:t>
                      </a:r>
                      <a:endParaRPr lang="ru-RU" sz="1200" b="1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/>
                        <a:t>Кредит</a:t>
                      </a:r>
                      <a:endParaRPr lang="ru-RU" sz="1200" b="1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/>
                        <a:t>Оборот</a:t>
                      </a:r>
                      <a:endParaRPr lang="ru-RU" sz="1200" b="1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8" name="Таблица 47"/>
          <p:cNvGraphicFramePr>
            <a:graphicFrameLocks noGrp="1"/>
          </p:cNvGraphicFramePr>
          <p:nvPr>
            <p:extLst/>
          </p:nvPr>
        </p:nvGraphicFramePr>
        <p:xfrm>
          <a:off x="4575999" y="2497559"/>
          <a:ext cx="43920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8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7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1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46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dirty="0" smtClean="0"/>
                        <a:t>-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ru-RU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 smtClean="0"/>
                        <a:t>-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 smtClean="0"/>
                        <a:t>-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dirty="0" smtClean="0"/>
                        <a:t>0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 smtClean="0"/>
                        <a:t>-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 smtClean="0">
                          <a:solidFill>
                            <a:schemeClr val="tx1"/>
                          </a:solidFill>
                        </a:rPr>
                        <a:t>12000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 smtClean="0">
                          <a:solidFill>
                            <a:schemeClr val="tx1"/>
                          </a:solidFill>
                        </a:rPr>
                        <a:t>-12000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9" name="Таблица 48"/>
          <p:cNvGraphicFramePr>
            <a:graphicFrameLocks noGrp="1"/>
          </p:cNvGraphicFramePr>
          <p:nvPr>
            <p:extLst/>
          </p:nvPr>
        </p:nvGraphicFramePr>
        <p:xfrm>
          <a:off x="4575998" y="3860921"/>
          <a:ext cx="4392000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80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5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31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31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b="0" dirty="0" smtClean="0"/>
                        <a:t>-</a:t>
                      </a:r>
                      <a:endParaRPr lang="ru-RU" sz="1200" b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 smtClean="0"/>
                        <a:t>-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 smtClean="0"/>
                        <a:t>-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 smtClean="0"/>
                        <a:t>-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b="0" dirty="0" smtClean="0"/>
                        <a:t>0</a:t>
                      </a:r>
                      <a:endParaRPr lang="ru-RU" sz="1200" b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 smtClean="0"/>
                        <a:t>0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 smtClean="0"/>
                        <a:t>100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 smtClean="0"/>
                        <a:t>-100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endParaRPr lang="ru-RU" sz="12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8767124"/>
                  </a:ext>
                </a:extLst>
              </a:tr>
            </a:tbl>
          </a:graphicData>
        </a:graphic>
      </p:graphicFrame>
      <p:graphicFrame>
        <p:nvGraphicFramePr>
          <p:cNvPr id="50" name="Таблица 49"/>
          <p:cNvGraphicFramePr>
            <a:graphicFrameLocks noGrp="1"/>
          </p:cNvGraphicFramePr>
          <p:nvPr>
            <p:extLst/>
          </p:nvPr>
        </p:nvGraphicFramePr>
        <p:xfrm>
          <a:off x="4580118" y="4408067"/>
          <a:ext cx="4392001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350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05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31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3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b="0" dirty="0" smtClean="0"/>
                        <a:t>-</a:t>
                      </a:r>
                      <a:endParaRPr lang="ru-RU" sz="1200" b="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 smtClean="0"/>
                        <a:t>-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 smtClean="0"/>
                        <a:t>-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 smtClean="0"/>
                        <a:t>-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b="0" dirty="0" smtClean="0"/>
                        <a:t>-</a:t>
                      </a:r>
                      <a:endParaRPr lang="ru-RU" sz="1200" b="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 smtClean="0"/>
                        <a:t>-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 smtClean="0"/>
                        <a:t>-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 smtClean="0"/>
                        <a:t>-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b="0" dirty="0" smtClean="0"/>
                        <a:t>-30000</a:t>
                      </a:r>
                      <a:endParaRPr lang="ru-RU" sz="1200" b="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endParaRPr lang="ru-RU" sz="1200" b="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8915909"/>
                  </a:ext>
                </a:extLst>
              </a:tr>
            </a:tbl>
          </a:graphicData>
        </a:graphic>
      </p:graphicFrame>
      <p:graphicFrame>
        <p:nvGraphicFramePr>
          <p:cNvPr id="51" name="Таблица 50"/>
          <p:cNvGraphicFramePr>
            <a:graphicFrameLocks noGrp="1"/>
          </p:cNvGraphicFramePr>
          <p:nvPr>
            <p:extLst/>
          </p:nvPr>
        </p:nvGraphicFramePr>
        <p:xfrm>
          <a:off x="4580118" y="5224283"/>
          <a:ext cx="4392001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39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1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31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3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b="0" dirty="0" smtClean="0"/>
                        <a:t>-</a:t>
                      </a:r>
                      <a:endParaRPr lang="ru-RU" sz="1200" b="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b="0" dirty="0" smtClean="0"/>
                        <a:t>-100</a:t>
                      </a:r>
                      <a:endParaRPr lang="ru-RU" sz="1200" b="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2" name="Таблица 51"/>
          <p:cNvGraphicFramePr>
            <a:graphicFrameLocks noGrp="1"/>
          </p:cNvGraphicFramePr>
          <p:nvPr>
            <p:extLst/>
          </p:nvPr>
        </p:nvGraphicFramePr>
        <p:xfrm>
          <a:off x="4575998" y="3044705"/>
          <a:ext cx="4392001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80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3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31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r"/>
                      <a:endParaRPr lang="ru-RU" sz="1200" b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 smtClean="0"/>
                        <a:t>-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 smtClean="0"/>
                        <a:t>-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 smtClean="0"/>
                        <a:t>-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b="0" dirty="0" smtClean="0"/>
                        <a:t>-</a:t>
                      </a:r>
                      <a:endParaRPr lang="ru-RU" sz="1200" b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 smtClean="0"/>
                        <a:t>-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 smtClean="0"/>
                        <a:t>-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 smtClean="0"/>
                        <a:t>-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b="0" dirty="0" smtClean="0"/>
                        <a:t>-12000</a:t>
                      </a:r>
                      <a:endParaRPr lang="ru-RU" sz="1200" b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 smtClean="0"/>
                        <a:t>0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 smtClean="0"/>
                        <a:t>18000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 smtClean="0"/>
                        <a:t>-30000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9192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883961"/>
          </a:xfrm>
        </p:spPr>
        <p:txBody>
          <a:bodyPr>
            <a:normAutofit fontScale="90000"/>
          </a:bodyPr>
          <a:lstStyle/>
          <a:p>
            <a:r>
              <a:rPr lang="ru-RU" dirty="0"/>
              <a:t>Таблица оборотов между </a:t>
            </a:r>
            <a:r>
              <a:rPr lang="ru-RU" dirty="0" smtClean="0"/>
              <a:t>счетами до изменения</a:t>
            </a:r>
            <a:endParaRPr lang="ru-RU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/>
          </p:nvPr>
        </p:nvGraphicFramePr>
        <p:xfrm>
          <a:off x="400050" y="2103582"/>
          <a:ext cx="4788000" cy="50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Период</a:t>
                      </a:r>
                      <a:endParaRPr lang="ru-RU" sz="12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Счет </a:t>
                      </a:r>
                      <a:r>
                        <a:rPr lang="ru-RU" sz="1200" dirty="0" err="1" smtClean="0"/>
                        <a:t>Дт</a:t>
                      </a:r>
                      <a:endParaRPr lang="ru-RU" sz="12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Счет </a:t>
                      </a:r>
                      <a:r>
                        <a:rPr lang="ru-RU" sz="1200" dirty="0" err="1" smtClean="0"/>
                        <a:t>Кт</a:t>
                      </a:r>
                      <a:endParaRPr lang="ru-RU" sz="12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Сумма оборот</a:t>
                      </a:r>
                      <a:endParaRPr lang="ru-RU" sz="12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Таблица 3"/>
          <p:cNvGraphicFramePr>
            <a:graphicFrameLocks noGrp="1"/>
          </p:cNvGraphicFramePr>
          <p:nvPr>
            <p:extLst/>
          </p:nvPr>
        </p:nvGraphicFramePr>
        <p:xfrm>
          <a:off x="400050" y="2598882"/>
          <a:ext cx="4788000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01.04.2015</a:t>
                      </a:r>
                      <a:endParaRPr lang="ru-RU" sz="12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41 (товары)</a:t>
                      </a:r>
                      <a:endParaRPr lang="ru-RU" sz="12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60 (поставщики)</a:t>
                      </a:r>
                      <a:endParaRPr lang="ru-RU" sz="12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12000</a:t>
                      </a:r>
                      <a:endParaRPr lang="ru-RU" sz="12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>
            <p:extLst/>
          </p:nvPr>
        </p:nvGraphicFramePr>
        <p:xfrm>
          <a:off x="400050" y="2886363"/>
          <a:ext cx="4788000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01.05.2015</a:t>
                      </a:r>
                      <a:endParaRPr lang="ru-RU" sz="12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41 (товары)</a:t>
                      </a:r>
                      <a:endParaRPr lang="ru-RU" sz="12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60 (поставщики)</a:t>
                      </a:r>
                      <a:endParaRPr lang="ru-RU" sz="12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10000</a:t>
                      </a:r>
                      <a:endParaRPr lang="ru-RU" sz="12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>
            <p:extLst/>
          </p:nvPr>
        </p:nvGraphicFramePr>
        <p:xfrm>
          <a:off x="400050" y="3174882"/>
          <a:ext cx="4788000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01.05.2015</a:t>
                      </a:r>
                      <a:endParaRPr lang="ru-RU" sz="12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10 (материалы)</a:t>
                      </a:r>
                      <a:endParaRPr lang="ru-RU" sz="12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60 (поставщики)</a:t>
                      </a:r>
                      <a:endParaRPr lang="ru-RU" sz="12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8000</a:t>
                      </a:r>
                      <a:endParaRPr lang="ru-RU" sz="12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/>
          </p:nvPr>
        </p:nvGraphicFramePr>
        <p:xfrm>
          <a:off x="5181804" y="2103582"/>
          <a:ext cx="285141" cy="50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1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ru-RU" sz="1200" b="0" dirty="0" smtClean="0"/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>
            <p:extLst/>
          </p:nvPr>
        </p:nvGraphicFramePr>
        <p:xfrm>
          <a:off x="5181804" y="2598882"/>
          <a:ext cx="285141" cy="86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1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…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…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…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7943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1354477"/>
          </a:xfrm>
        </p:spPr>
        <p:txBody>
          <a:bodyPr>
            <a:normAutofit/>
          </a:bodyPr>
          <a:lstStyle/>
          <a:p>
            <a:r>
              <a:rPr lang="ru-RU" dirty="0"/>
              <a:t>Таблица оборотов между </a:t>
            </a:r>
            <a:r>
              <a:rPr lang="ru-RU" dirty="0" smtClean="0"/>
              <a:t>счетами после изменения</a:t>
            </a:r>
            <a:endParaRPr lang="ru-RU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/>
          </p:nvPr>
        </p:nvGraphicFramePr>
        <p:xfrm>
          <a:off x="400050" y="2103582"/>
          <a:ext cx="4788000" cy="50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Период</a:t>
                      </a:r>
                      <a:endParaRPr lang="ru-RU" sz="12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Счет </a:t>
                      </a:r>
                      <a:r>
                        <a:rPr lang="ru-RU" sz="1200" dirty="0" err="1" smtClean="0"/>
                        <a:t>Дт</a:t>
                      </a:r>
                      <a:endParaRPr lang="ru-RU" sz="12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Счет </a:t>
                      </a:r>
                      <a:r>
                        <a:rPr lang="ru-RU" sz="1200" dirty="0" err="1" smtClean="0"/>
                        <a:t>Кт</a:t>
                      </a:r>
                      <a:endParaRPr lang="ru-RU" sz="12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Сумма оборот</a:t>
                      </a:r>
                      <a:endParaRPr lang="ru-RU" sz="12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Таблица 3"/>
          <p:cNvGraphicFramePr>
            <a:graphicFrameLocks noGrp="1"/>
          </p:cNvGraphicFramePr>
          <p:nvPr>
            <p:extLst/>
          </p:nvPr>
        </p:nvGraphicFramePr>
        <p:xfrm>
          <a:off x="400050" y="2598882"/>
          <a:ext cx="4788000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01.04.2015</a:t>
                      </a:r>
                      <a:endParaRPr lang="ru-RU" sz="12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41 (товары)</a:t>
                      </a:r>
                      <a:endParaRPr lang="ru-RU" sz="12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60 (поставщики)</a:t>
                      </a:r>
                      <a:endParaRPr lang="ru-RU" sz="12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12000</a:t>
                      </a:r>
                      <a:endParaRPr lang="ru-RU" sz="12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>
            <p:extLst/>
          </p:nvPr>
        </p:nvGraphicFramePr>
        <p:xfrm>
          <a:off x="400050" y="2886363"/>
          <a:ext cx="4788000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01.05.2015</a:t>
                      </a:r>
                      <a:endParaRPr lang="ru-RU" sz="12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41 (товары)</a:t>
                      </a:r>
                      <a:endParaRPr lang="ru-RU" sz="12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60 (поставщики)</a:t>
                      </a:r>
                      <a:endParaRPr lang="ru-RU" sz="12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10000</a:t>
                      </a:r>
                      <a:endParaRPr lang="ru-RU" sz="12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>
            <p:extLst/>
          </p:nvPr>
        </p:nvGraphicFramePr>
        <p:xfrm>
          <a:off x="400050" y="3174882"/>
          <a:ext cx="4788000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01.05.2015</a:t>
                      </a:r>
                      <a:endParaRPr lang="ru-RU" sz="12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10 (материалы)</a:t>
                      </a:r>
                      <a:endParaRPr lang="ru-RU" sz="12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60 (поставщики)</a:t>
                      </a:r>
                      <a:endParaRPr lang="ru-RU" sz="12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8000</a:t>
                      </a:r>
                      <a:endParaRPr lang="ru-RU" sz="12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/>
          </p:nvPr>
        </p:nvGraphicFramePr>
        <p:xfrm>
          <a:off x="5033082" y="2103579"/>
          <a:ext cx="315180" cy="50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5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ru-RU" sz="1200" b="0" dirty="0" smtClean="0"/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>
            <p:extLst/>
          </p:nvPr>
        </p:nvGraphicFramePr>
        <p:xfrm>
          <a:off x="5033082" y="2598882"/>
          <a:ext cx="315180" cy="86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5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…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…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…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Таблица 8"/>
          <p:cNvGraphicFramePr>
            <a:graphicFrameLocks noGrp="1"/>
          </p:cNvGraphicFramePr>
          <p:nvPr>
            <p:extLst/>
          </p:nvPr>
        </p:nvGraphicFramePr>
        <p:xfrm>
          <a:off x="5220006" y="2103579"/>
          <a:ext cx="1044000" cy="50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/>
                        <a:t>Валюта</a:t>
                      </a:r>
                      <a:r>
                        <a:rPr lang="ru-RU" sz="1200" b="1" baseline="0" dirty="0" smtClean="0"/>
                        <a:t> Дт</a:t>
                      </a:r>
                      <a:endParaRPr lang="ru-RU" sz="1200" b="1" dirty="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Таблица 9"/>
          <p:cNvGraphicFramePr>
            <a:graphicFrameLocks noGrp="1"/>
          </p:cNvGraphicFramePr>
          <p:nvPr>
            <p:extLst/>
          </p:nvPr>
        </p:nvGraphicFramePr>
        <p:xfrm>
          <a:off x="5220008" y="2598882"/>
          <a:ext cx="1044000" cy="86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-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-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-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Таблица 10"/>
          <p:cNvGraphicFramePr>
            <a:graphicFrameLocks noGrp="1"/>
          </p:cNvGraphicFramePr>
          <p:nvPr>
            <p:extLst/>
          </p:nvPr>
        </p:nvGraphicFramePr>
        <p:xfrm>
          <a:off x="6103207" y="2103579"/>
          <a:ext cx="1044000" cy="50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/>
                        <a:t>Валюта</a:t>
                      </a:r>
                      <a:r>
                        <a:rPr lang="ru-RU" sz="1200" b="1" baseline="0" dirty="0" smtClean="0"/>
                        <a:t> Кт</a:t>
                      </a:r>
                      <a:endParaRPr lang="ru-RU" sz="1200" b="1" dirty="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Таблица 11"/>
          <p:cNvGraphicFramePr>
            <a:graphicFrameLocks noGrp="1"/>
          </p:cNvGraphicFramePr>
          <p:nvPr>
            <p:extLst/>
          </p:nvPr>
        </p:nvGraphicFramePr>
        <p:xfrm>
          <a:off x="6103209" y="2598882"/>
          <a:ext cx="1044000" cy="86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Рубль РФ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Рубль РФ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dirty="0" smtClean="0"/>
                        <a:t>Доллары США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" name="Таблица 12"/>
          <p:cNvGraphicFramePr>
            <a:graphicFrameLocks noGrp="1"/>
          </p:cNvGraphicFramePr>
          <p:nvPr>
            <p:extLst/>
          </p:nvPr>
        </p:nvGraphicFramePr>
        <p:xfrm>
          <a:off x="7009750" y="2103579"/>
          <a:ext cx="1044000" cy="50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 smtClean="0"/>
                        <a:t>Сумма Валюты оборот </a:t>
                      </a:r>
                      <a:r>
                        <a:rPr lang="ru-RU" sz="900" b="1" baseline="0" dirty="0" smtClean="0"/>
                        <a:t> Дт</a:t>
                      </a:r>
                      <a:endParaRPr lang="ru-RU" sz="900" b="1" dirty="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Таблица 13"/>
          <p:cNvGraphicFramePr>
            <a:graphicFrameLocks noGrp="1"/>
          </p:cNvGraphicFramePr>
          <p:nvPr>
            <p:extLst/>
          </p:nvPr>
        </p:nvGraphicFramePr>
        <p:xfrm>
          <a:off x="7009752" y="2598882"/>
          <a:ext cx="1044000" cy="86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-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-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-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" name="Таблица 14"/>
          <p:cNvGraphicFramePr>
            <a:graphicFrameLocks noGrp="1"/>
          </p:cNvGraphicFramePr>
          <p:nvPr>
            <p:extLst/>
          </p:nvPr>
        </p:nvGraphicFramePr>
        <p:xfrm>
          <a:off x="7928117" y="2103579"/>
          <a:ext cx="1044000" cy="50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 smtClean="0"/>
                        <a:t>Сумма </a:t>
                      </a:r>
                      <a:r>
                        <a:rPr lang="ru-RU" sz="900" b="1" dirty="0" err="1" smtClean="0"/>
                        <a:t>Валютаы</a:t>
                      </a:r>
                      <a:r>
                        <a:rPr lang="ru-RU" sz="900" b="1" dirty="0" smtClean="0"/>
                        <a:t> оборот </a:t>
                      </a:r>
                      <a:r>
                        <a:rPr lang="ru-RU" sz="900" b="1" baseline="0" dirty="0" smtClean="0"/>
                        <a:t>Кт</a:t>
                      </a:r>
                      <a:endParaRPr lang="ru-RU" sz="900" b="1" dirty="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Таблица 15"/>
          <p:cNvGraphicFramePr>
            <a:graphicFrameLocks noGrp="1"/>
          </p:cNvGraphicFramePr>
          <p:nvPr>
            <p:extLst/>
          </p:nvPr>
        </p:nvGraphicFramePr>
        <p:xfrm>
          <a:off x="7928119" y="2598882"/>
          <a:ext cx="1044000" cy="86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12000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10000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dirty="0" smtClean="0"/>
                        <a:t>110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9715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Отчет «Курсовые разницы»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7886"/>
            <a:ext cx="8500837" cy="3596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6347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Трехвалютный</a:t>
            </a:r>
            <a:r>
              <a:rPr lang="ru-RU" dirty="0" smtClean="0"/>
              <a:t> учет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Баланс в разных валютах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23776243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85862" y="1268680"/>
            <a:ext cx="8784000" cy="2149223"/>
          </a:xfrm>
        </p:spPr>
        <p:txBody>
          <a:bodyPr>
            <a:normAutofit fontScale="85000" lnSpcReduction="20000"/>
          </a:bodyPr>
          <a:lstStyle/>
          <a:p>
            <a:r>
              <a:rPr lang="ru-RU" dirty="0" smtClean="0"/>
              <a:t>Валюта 1 – рубли РФ</a:t>
            </a:r>
          </a:p>
          <a:p>
            <a:r>
              <a:rPr lang="ru-RU" dirty="0" smtClean="0"/>
              <a:t>Валюта 2 – Доллары США</a:t>
            </a:r>
          </a:p>
          <a:p>
            <a:r>
              <a:rPr lang="ru-RU" dirty="0" smtClean="0"/>
              <a:t>Курс на дату начала деятельности 50 рублей за 1 доллар США</a:t>
            </a:r>
          </a:p>
          <a:p>
            <a:r>
              <a:rPr lang="ru-RU" dirty="0" smtClean="0"/>
              <a:t>Учредители внесли в кассу организации 10000 рублей</a:t>
            </a:r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Вступительный баланс</a:t>
            </a:r>
            <a:endParaRPr lang="ru-RU" dirty="0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/>
          </p:nvPr>
        </p:nvGraphicFramePr>
        <p:xfrm>
          <a:off x="627355" y="4353263"/>
          <a:ext cx="3838114" cy="11125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919057">
                  <a:extLst>
                    <a:ext uri="{9D8B030D-6E8A-4147-A177-3AD203B41FA5}">
                      <a16:colId xmlns:a16="http://schemas.microsoft.com/office/drawing/2014/main" val="3781379019"/>
                    </a:ext>
                  </a:extLst>
                </a:gridCol>
                <a:gridCol w="1919057">
                  <a:extLst>
                    <a:ext uri="{9D8B030D-6E8A-4147-A177-3AD203B41FA5}">
                      <a16:colId xmlns:a16="http://schemas.microsoft.com/office/drawing/2014/main" val="16444117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Актив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Пассив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4002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Касса = 10000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УК</a:t>
                      </a:r>
                      <a:r>
                        <a:rPr lang="ru-RU" baseline="0" dirty="0" smtClean="0"/>
                        <a:t> = 10000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0872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1" dirty="0" smtClean="0"/>
                        <a:t>Итого = 10000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dirty="0" smtClean="0"/>
                        <a:t>Итого = 10000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8712515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/>
          </p:nvPr>
        </p:nvGraphicFramePr>
        <p:xfrm>
          <a:off x="4774706" y="4353263"/>
          <a:ext cx="3838114" cy="111252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919057">
                  <a:extLst>
                    <a:ext uri="{9D8B030D-6E8A-4147-A177-3AD203B41FA5}">
                      <a16:colId xmlns:a16="http://schemas.microsoft.com/office/drawing/2014/main" val="3781379019"/>
                    </a:ext>
                  </a:extLst>
                </a:gridCol>
                <a:gridCol w="1919057">
                  <a:extLst>
                    <a:ext uri="{9D8B030D-6E8A-4147-A177-3AD203B41FA5}">
                      <a16:colId xmlns:a16="http://schemas.microsoft.com/office/drawing/2014/main" val="16444117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Актив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Пассив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4002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Касса = 200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УК</a:t>
                      </a:r>
                      <a:r>
                        <a:rPr lang="ru-RU" baseline="0" dirty="0" smtClean="0"/>
                        <a:t> = 200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0872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dirty="0" smtClean="0"/>
                        <a:t>Итого = 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dirty="0" smtClean="0"/>
                        <a:t>Итого = 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03837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19091" y="3923930"/>
            <a:ext cx="3471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Баланс в рублях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4774706" y="3861786"/>
            <a:ext cx="3197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Баланс в долларах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75826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Операции за период</a:t>
            </a:r>
            <a:endParaRPr lang="ru-RU" dirty="0"/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/>
          </p:nvPr>
        </p:nvGraphicFramePr>
        <p:xfrm>
          <a:off x="534347" y="1574553"/>
          <a:ext cx="70272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9649">
                  <a:extLst>
                    <a:ext uri="{9D8B030D-6E8A-4147-A177-3AD203B41FA5}">
                      <a16:colId xmlns:a16="http://schemas.microsoft.com/office/drawing/2014/main" val="857384080"/>
                    </a:ext>
                  </a:extLst>
                </a:gridCol>
                <a:gridCol w="2317072">
                  <a:extLst>
                    <a:ext uri="{9D8B030D-6E8A-4147-A177-3AD203B41FA5}">
                      <a16:colId xmlns:a16="http://schemas.microsoft.com/office/drawing/2014/main" val="470191285"/>
                    </a:ext>
                  </a:extLst>
                </a:gridCol>
                <a:gridCol w="2253679">
                  <a:extLst>
                    <a:ext uri="{9D8B030D-6E8A-4147-A177-3AD203B41FA5}">
                      <a16:colId xmlns:a16="http://schemas.microsoft.com/office/drawing/2014/main" val="1664369948"/>
                    </a:ext>
                  </a:extLst>
                </a:gridCol>
                <a:gridCol w="1756800">
                  <a:extLst>
                    <a:ext uri="{9D8B030D-6E8A-4147-A177-3AD203B41FA5}">
                      <a16:colId xmlns:a16="http://schemas.microsoft.com/office/drawing/2014/main" val="33405547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№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Дебет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Кредит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Сумма 1 (руб.)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867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41.1 (Товары)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60</a:t>
                      </a:r>
                      <a:r>
                        <a:rPr lang="ru-RU" baseline="0" dirty="0" smtClean="0"/>
                        <a:t> (Поставщики)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5000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94347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60</a:t>
                      </a:r>
                      <a:r>
                        <a:rPr lang="ru-RU" baseline="0" dirty="0" smtClean="0"/>
                        <a:t> (Поставщики)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50 (Касса)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4000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54546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41.1 (Товары)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60</a:t>
                      </a:r>
                      <a:r>
                        <a:rPr lang="ru-RU" baseline="0" dirty="0" smtClean="0"/>
                        <a:t> (Поставщики)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5000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76354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0521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85862" y="1268680"/>
            <a:ext cx="8784000" cy="2149223"/>
          </a:xfrm>
        </p:spPr>
        <p:txBody>
          <a:bodyPr>
            <a:normAutofit/>
          </a:bodyPr>
          <a:lstStyle/>
          <a:p>
            <a:r>
              <a:rPr lang="ru-RU" dirty="0" smtClean="0"/>
              <a:t>Курс на дату окончания периода 100 рублей за 1 доллар США</a:t>
            </a:r>
          </a:p>
          <a:p>
            <a:r>
              <a:rPr lang="ru-RU" dirty="0" smtClean="0"/>
              <a:t>Составляем баланс в рублях и пересчитываем его в доллары по курсу</a:t>
            </a: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Баланс после окончания периода</a:t>
            </a: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/>
          </p:nvPr>
        </p:nvGraphicFramePr>
        <p:xfrm>
          <a:off x="627353" y="4353263"/>
          <a:ext cx="4042300" cy="14833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973804">
                  <a:extLst>
                    <a:ext uri="{9D8B030D-6E8A-4147-A177-3AD203B41FA5}">
                      <a16:colId xmlns:a16="http://schemas.microsoft.com/office/drawing/2014/main" val="3781379019"/>
                    </a:ext>
                  </a:extLst>
                </a:gridCol>
                <a:gridCol w="2068496">
                  <a:extLst>
                    <a:ext uri="{9D8B030D-6E8A-4147-A177-3AD203B41FA5}">
                      <a16:colId xmlns:a16="http://schemas.microsoft.com/office/drawing/2014/main" val="16444117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Актив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Пассив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4002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Касса = 6000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УК</a:t>
                      </a:r>
                      <a:r>
                        <a:rPr lang="ru-RU" baseline="0" dirty="0" smtClean="0"/>
                        <a:t> = 10000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0872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Товары = 10000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Поставщики = 6000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4802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1" dirty="0" smtClean="0"/>
                        <a:t>Итого = 16000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 smtClean="0"/>
                        <a:t>Итого = 16000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729620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/>
          </p:nvPr>
        </p:nvGraphicFramePr>
        <p:xfrm>
          <a:off x="4774706" y="4353263"/>
          <a:ext cx="3838114" cy="148336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919057">
                  <a:extLst>
                    <a:ext uri="{9D8B030D-6E8A-4147-A177-3AD203B41FA5}">
                      <a16:colId xmlns:a16="http://schemas.microsoft.com/office/drawing/2014/main" val="3781379019"/>
                    </a:ext>
                  </a:extLst>
                </a:gridCol>
                <a:gridCol w="1919057">
                  <a:extLst>
                    <a:ext uri="{9D8B030D-6E8A-4147-A177-3AD203B41FA5}">
                      <a16:colId xmlns:a16="http://schemas.microsoft.com/office/drawing/2014/main" val="16444117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Актив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Пассив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4002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Касса = 60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УК</a:t>
                      </a:r>
                      <a:r>
                        <a:rPr lang="ru-RU" baseline="0" dirty="0" smtClean="0"/>
                        <a:t> = 100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0872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Товары = 100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Поставщики = 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244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1" dirty="0" smtClean="0"/>
                        <a:t>Итого = 160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 smtClean="0"/>
                        <a:t>Итого = 160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3173588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19091" y="3923930"/>
            <a:ext cx="3471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Баланс в рублях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4774706" y="3861786"/>
            <a:ext cx="3197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Баланс в долларах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95864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85862" y="1268680"/>
            <a:ext cx="8784000" cy="2149223"/>
          </a:xfrm>
        </p:spPr>
        <p:txBody>
          <a:bodyPr>
            <a:normAutofit/>
          </a:bodyPr>
          <a:lstStyle/>
          <a:p>
            <a:r>
              <a:rPr lang="ru-RU" dirty="0" smtClean="0"/>
              <a:t>Курс на дату окончания периода 100 рублей за 1 доллар США</a:t>
            </a:r>
          </a:p>
          <a:p>
            <a:r>
              <a:rPr lang="ru-RU" dirty="0" smtClean="0"/>
              <a:t>Составляем баланс в рублях и пересчитываем его в доллары по курсу</a:t>
            </a: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Баланс после окончания периода</a:t>
            </a:r>
            <a:endParaRPr lang="ru-RU" dirty="0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627353" y="4353263"/>
          <a:ext cx="4042300" cy="14833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973804">
                  <a:extLst>
                    <a:ext uri="{9D8B030D-6E8A-4147-A177-3AD203B41FA5}">
                      <a16:colId xmlns:a16="http://schemas.microsoft.com/office/drawing/2014/main" val="3781379019"/>
                    </a:ext>
                  </a:extLst>
                </a:gridCol>
                <a:gridCol w="2068496">
                  <a:extLst>
                    <a:ext uri="{9D8B030D-6E8A-4147-A177-3AD203B41FA5}">
                      <a16:colId xmlns:a16="http://schemas.microsoft.com/office/drawing/2014/main" val="16444117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Актив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Пассив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4002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Касса = 6000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УК</a:t>
                      </a:r>
                      <a:r>
                        <a:rPr lang="ru-RU" baseline="0" dirty="0" smtClean="0"/>
                        <a:t> = 10000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0872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Товары = 10000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Поставщики = 6000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4802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1" dirty="0" smtClean="0"/>
                        <a:t>Итого = 16000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 smtClean="0"/>
                        <a:t>Итого = 16000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729620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4774706" y="4353263"/>
          <a:ext cx="3838114" cy="148336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919057">
                  <a:extLst>
                    <a:ext uri="{9D8B030D-6E8A-4147-A177-3AD203B41FA5}">
                      <a16:colId xmlns:a16="http://schemas.microsoft.com/office/drawing/2014/main" val="3781379019"/>
                    </a:ext>
                  </a:extLst>
                </a:gridCol>
                <a:gridCol w="1919057">
                  <a:extLst>
                    <a:ext uri="{9D8B030D-6E8A-4147-A177-3AD203B41FA5}">
                      <a16:colId xmlns:a16="http://schemas.microsoft.com/office/drawing/2014/main" val="16444117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Актив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Пассив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4002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Касса = 60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УК</a:t>
                      </a:r>
                      <a:r>
                        <a:rPr lang="ru-RU" baseline="0" dirty="0" smtClean="0"/>
                        <a:t> = 100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0872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Товары = 100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Поставщики = 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244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1" dirty="0" smtClean="0"/>
                        <a:t>Итого = 160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 smtClean="0"/>
                        <a:t>Итого = 160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3173588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19091" y="3923930"/>
            <a:ext cx="3471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Баланс в рублях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4774706" y="3861786"/>
            <a:ext cx="3197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Баланс в долларах</a:t>
            </a:r>
            <a:endParaRPr lang="ru-RU" dirty="0"/>
          </a:p>
        </p:txBody>
      </p:sp>
      <p:cxnSp>
        <p:nvCxnSpPr>
          <p:cNvPr id="3" name="Прямая соединительная линия 2"/>
          <p:cNvCxnSpPr/>
          <p:nvPr/>
        </p:nvCxnSpPr>
        <p:spPr>
          <a:xfrm>
            <a:off x="4669653" y="3746377"/>
            <a:ext cx="4119240" cy="2183906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 flipH="1">
            <a:off x="4774706" y="3646025"/>
            <a:ext cx="3838114" cy="2284258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860386" y="3600653"/>
            <a:ext cx="1666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>
                <a:solidFill>
                  <a:srgbClr val="FF0000"/>
                </a:solidFill>
              </a:rPr>
              <a:t>Не правильно</a:t>
            </a:r>
            <a:endParaRPr lang="ru-RU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6636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816985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Оценка фактов сразу в двух валютах по курсу на дату операции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/>
          </p:nvPr>
        </p:nvGraphicFramePr>
        <p:xfrm>
          <a:off x="279704" y="1968092"/>
          <a:ext cx="5762281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872">
                  <a:extLst>
                    <a:ext uri="{9D8B030D-6E8A-4147-A177-3AD203B41FA5}">
                      <a16:colId xmlns:a16="http://schemas.microsoft.com/office/drawing/2014/main" val="857384080"/>
                    </a:ext>
                  </a:extLst>
                </a:gridCol>
                <a:gridCol w="1844226">
                  <a:extLst>
                    <a:ext uri="{9D8B030D-6E8A-4147-A177-3AD203B41FA5}">
                      <a16:colId xmlns:a16="http://schemas.microsoft.com/office/drawing/2014/main" val="470191285"/>
                    </a:ext>
                  </a:extLst>
                </a:gridCol>
                <a:gridCol w="2076393">
                  <a:extLst>
                    <a:ext uri="{9D8B030D-6E8A-4147-A177-3AD203B41FA5}">
                      <a16:colId xmlns:a16="http://schemas.microsoft.com/office/drawing/2014/main" val="1664369948"/>
                    </a:ext>
                  </a:extLst>
                </a:gridCol>
                <a:gridCol w="1284790">
                  <a:extLst>
                    <a:ext uri="{9D8B030D-6E8A-4147-A177-3AD203B41FA5}">
                      <a16:colId xmlns:a16="http://schemas.microsoft.com/office/drawing/2014/main" val="33405547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№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Дебет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Кредит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Сумма 1 (руб.)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867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41.1 (Товары)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60</a:t>
                      </a:r>
                      <a:r>
                        <a:rPr lang="ru-RU" baseline="0" dirty="0" smtClean="0"/>
                        <a:t> (Поставщики)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5000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94347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60</a:t>
                      </a:r>
                      <a:r>
                        <a:rPr lang="ru-RU" baseline="0" dirty="0" smtClean="0"/>
                        <a:t> (Поставщики)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50 (Касса)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4000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54546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41.1 (Товары)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60</a:t>
                      </a:r>
                      <a:r>
                        <a:rPr lang="ru-RU" baseline="0" dirty="0" smtClean="0"/>
                        <a:t> (Поставщики)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5000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7635454"/>
                  </a:ext>
                </a:extLst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>
            <p:extLst/>
          </p:nvPr>
        </p:nvGraphicFramePr>
        <p:xfrm>
          <a:off x="6041985" y="1968093"/>
          <a:ext cx="2796578" cy="175663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98289">
                  <a:extLst>
                    <a:ext uri="{9D8B030D-6E8A-4147-A177-3AD203B41FA5}">
                      <a16:colId xmlns:a16="http://schemas.microsoft.com/office/drawing/2014/main" val="3537511183"/>
                    </a:ext>
                  </a:extLst>
                </a:gridCol>
                <a:gridCol w="1398289">
                  <a:extLst>
                    <a:ext uri="{9D8B030D-6E8A-4147-A177-3AD203B41FA5}">
                      <a16:colId xmlns:a16="http://schemas.microsoft.com/office/drawing/2014/main" val="2318952084"/>
                    </a:ext>
                  </a:extLst>
                </a:gridCol>
              </a:tblGrid>
              <a:tr h="636043">
                <a:tc>
                  <a:txBody>
                    <a:bodyPr/>
                    <a:lstStyle/>
                    <a:p>
                      <a:r>
                        <a:rPr lang="ru-RU" dirty="0" smtClean="0"/>
                        <a:t>Курс</a:t>
                      </a:r>
                    </a:p>
                    <a:p>
                      <a:r>
                        <a:rPr lang="en-US" dirty="0" smtClean="0"/>
                        <a:t>$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Сумма 2 (</a:t>
                      </a:r>
                      <a:r>
                        <a:rPr lang="en-US" dirty="0" smtClean="0"/>
                        <a:t>$</a:t>
                      </a:r>
                      <a:r>
                        <a:rPr lang="ru-RU" dirty="0" smtClean="0"/>
                        <a:t>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867004"/>
                  </a:ext>
                </a:extLst>
              </a:tr>
              <a:tr h="379556">
                <a:tc>
                  <a:txBody>
                    <a:bodyPr/>
                    <a:lstStyle/>
                    <a:p>
                      <a:r>
                        <a:rPr lang="ru-RU" dirty="0" smtClean="0"/>
                        <a:t>80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62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9434785"/>
                  </a:ext>
                </a:extLst>
              </a:tr>
              <a:tr h="368501">
                <a:tc>
                  <a:txBody>
                    <a:bodyPr/>
                    <a:lstStyle/>
                    <a:p>
                      <a:r>
                        <a:rPr lang="ru-RU" dirty="0" smtClean="0"/>
                        <a:t>90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45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5454653"/>
                  </a:ext>
                </a:extLst>
              </a:tr>
              <a:tr h="368501">
                <a:tc>
                  <a:txBody>
                    <a:bodyPr/>
                    <a:lstStyle/>
                    <a:p>
                      <a:r>
                        <a:rPr lang="ru-RU" dirty="0" smtClean="0"/>
                        <a:t>100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7635454"/>
                  </a:ext>
                </a:extLst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>
            <p:extLst/>
          </p:nvPr>
        </p:nvGraphicFramePr>
        <p:xfrm>
          <a:off x="4774706" y="4353263"/>
          <a:ext cx="3838114" cy="148336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919057">
                  <a:extLst>
                    <a:ext uri="{9D8B030D-6E8A-4147-A177-3AD203B41FA5}">
                      <a16:colId xmlns:a16="http://schemas.microsoft.com/office/drawing/2014/main" val="3781379019"/>
                    </a:ext>
                  </a:extLst>
                </a:gridCol>
                <a:gridCol w="1919057">
                  <a:extLst>
                    <a:ext uri="{9D8B030D-6E8A-4147-A177-3AD203B41FA5}">
                      <a16:colId xmlns:a16="http://schemas.microsoft.com/office/drawing/2014/main" val="16444117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Актив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Пассив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4002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Касса = 115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УК</a:t>
                      </a:r>
                      <a:r>
                        <a:rPr lang="ru-RU" baseline="0" dirty="0" smtClean="0"/>
                        <a:t> = 200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0872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Товары = 112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Поставщики = 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244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1" dirty="0" smtClean="0"/>
                        <a:t>Итого = 267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 smtClean="0"/>
                        <a:t>Итого = 267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3173588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774706" y="3861786"/>
            <a:ext cx="3838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Правильный баланс в долларах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73422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698" y="1325880"/>
            <a:ext cx="5587538" cy="525456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6850" y="552450"/>
            <a:ext cx="8770938" cy="876300"/>
          </a:xfrm>
        </p:spPr>
        <p:txBody>
          <a:bodyPr/>
          <a:lstStyle/>
          <a:p>
            <a:r>
              <a:rPr lang="ru-RU" dirty="0" smtClean="0"/>
              <a:t>Произвольный признак учета субконто</a:t>
            </a:r>
            <a:endParaRPr lang="ru-RU" dirty="0"/>
          </a:p>
        </p:txBody>
      </p:sp>
      <p:sp>
        <p:nvSpPr>
          <p:cNvPr id="4" name="Rounded Rectangle 3"/>
          <p:cNvSpPr/>
          <p:nvPr/>
        </p:nvSpPr>
        <p:spPr>
          <a:xfrm>
            <a:off x="4162791" y="4345843"/>
            <a:ext cx="2146743" cy="904683"/>
          </a:xfrm>
          <a:prstGeom prst="roundRect">
            <a:avLst/>
          </a:prstGeom>
          <a:solidFill>
            <a:srgbClr val="C00000">
              <a:alpha val="10000"/>
            </a:srgbClr>
          </a:solidFill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0661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250"/>
                            </p:stCondLst>
                            <p:childTnLst>
                              <p:par>
                                <p:cTn id="13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4" grpId="2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Таблица остатков и оборотов по счетам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ru-RU" dirty="0" smtClean="0"/>
              <a:t>для счетов с двумя субконто до отключения</a:t>
            </a:r>
            <a:endParaRPr lang="ru-RU" dirty="0"/>
          </a:p>
        </p:txBody>
      </p:sp>
      <p:graphicFrame>
        <p:nvGraphicFramePr>
          <p:cNvPr id="55" name="Таблица 54"/>
          <p:cNvGraphicFramePr>
            <a:graphicFrameLocks noGrp="1"/>
          </p:cNvGraphicFramePr>
          <p:nvPr>
            <p:extLst/>
          </p:nvPr>
        </p:nvGraphicFramePr>
        <p:xfrm>
          <a:off x="6577506" y="2179147"/>
          <a:ext cx="2448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Кол-во остаток</a:t>
                      </a:r>
                      <a:endParaRPr lang="ru-RU" sz="12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Обороты</a:t>
                      </a:r>
                      <a:endParaRPr lang="ru-RU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Кол-во </a:t>
                      </a:r>
                      <a:r>
                        <a:rPr lang="ru-RU" sz="1200" dirty="0" err="1" smtClean="0"/>
                        <a:t>Дт</a:t>
                      </a:r>
                      <a:endParaRPr lang="ru-RU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Кол-во </a:t>
                      </a:r>
                      <a:r>
                        <a:rPr lang="ru-RU" sz="1200" dirty="0" err="1" smtClean="0"/>
                        <a:t>Кт</a:t>
                      </a:r>
                      <a:endParaRPr lang="ru-RU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6" name="Таблица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3084898"/>
              </p:ext>
            </p:extLst>
          </p:nvPr>
        </p:nvGraphicFramePr>
        <p:xfrm>
          <a:off x="6577506" y="2751489"/>
          <a:ext cx="2448000" cy="1645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dirty="0" smtClean="0"/>
                        <a:t>0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ru-RU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dirty="0" smtClean="0"/>
                        <a:t>0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 smtClean="0"/>
                        <a:t>1</a:t>
                      </a:r>
                      <a:r>
                        <a:rPr lang="en-US" sz="1200" dirty="0" smtClean="0"/>
                        <a:t>0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sz="12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dirty="0" smtClean="0"/>
                        <a:t>0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 smtClean="0"/>
                        <a:t>10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ru-RU" sz="12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en-US" sz="1200" dirty="0" smtClean="0"/>
                        <a:t>10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en-US" sz="1200" dirty="0" smtClean="0"/>
                        <a:t>0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en-US" sz="1200" dirty="0" smtClean="0"/>
                        <a:t>0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9" name="Таблица 58"/>
          <p:cNvGraphicFramePr>
            <a:graphicFrameLocks noGrp="1"/>
          </p:cNvGraphicFramePr>
          <p:nvPr>
            <p:extLst/>
          </p:nvPr>
        </p:nvGraphicFramePr>
        <p:xfrm>
          <a:off x="193179" y="2182287"/>
          <a:ext cx="2179595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Период</a:t>
                      </a:r>
                      <a:endParaRPr lang="ru-RU" sz="12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/>
                        <a:t>Счет</a:t>
                      </a:r>
                      <a:endParaRPr lang="ru-RU" sz="12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0" name="Таблица 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8838093"/>
              </p:ext>
            </p:extLst>
          </p:nvPr>
        </p:nvGraphicFramePr>
        <p:xfrm>
          <a:off x="193179" y="2754629"/>
          <a:ext cx="2179595" cy="1645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01.04.2015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10 (материалы)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01.04.2015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41 (товары)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01.04.2015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41 (товары)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01.11.3999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10 (материалы)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01.11.3999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41 (товары)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01.11.3999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41 (товары)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1" name="Таблица 60"/>
          <p:cNvGraphicFramePr>
            <a:graphicFrameLocks noGrp="1"/>
          </p:cNvGraphicFramePr>
          <p:nvPr>
            <p:extLst/>
          </p:nvPr>
        </p:nvGraphicFramePr>
        <p:xfrm>
          <a:off x="1560661" y="2182288"/>
          <a:ext cx="1260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/>
                        <a:t>Организация</a:t>
                      </a:r>
                      <a:endParaRPr lang="ru-RU" sz="12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2" name="Таблица 61"/>
          <p:cNvGraphicFramePr>
            <a:graphicFrameLocks noGrp="1"/>
          </p:cNvGraphicFramePr>
          <p:nvPr>
            <p:extLst/>
          </p:nvPr>
        </p:nvGraphicFramePr>
        <p:xfrm>
          <a:off x="2017859" y="2182287"/>
          <a:ext cx="1260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l"/>
                      <a:r>
                        <a:rPr lang="ru-RU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Подразделение</a:t>
                      </a:r>
                      <a:endParaRPr lang="ru-RU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3" name="Таблица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0593257"/>
              </p:ext>
            </p:extLst>
          </p:nvPr>
        </p:nvGraphicFramePr>
        <p:xfrm>
          <a:off x="1560661" y="2753960"/>
          <a:ext cx="1260000" cy="1645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Юг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Юг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Юг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Юг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Юг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Юг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4" name="Таблица 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441647"/>
              </p:ext>
            </p:extLst>
          </p:nvPr>
        </p:nvGraphicFramePr>
        <p:xfrm>
          <a:off x="2017859" y="2753959"/>
          <a:ext cx="1260000" cy="1645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Основное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Основное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Основное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Основное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Основное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Основное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5" name="Таблица 64"/>
          <p:cNvGraphicFramePr>
            <a:graphicFrameLocks noGrp="1"/>
          </p:cNvGraphicFramePr>
          <p:nvPr>
            <p:extLst/>
          </p:nvPr>
        </p:nvGraphicFramePr>
        <p:xfrm>
          <a:off x="2400918" y="2178168"/>
          <a:ext cx="1260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l"/>
                      <a:r>
                        <a:rPr lang="ru-RU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Субконто 1</a:t>
                      </a:r>
                      <a:endParaRPr lang="ru-RU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6" name="Таблица 6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3399676"/>
              </p:ext>
            </p:extLst>
          </p:nvPr>
        </p:nvGraphicFramePr>
        <p:xfrm>
          <a:off x="2400918" y="2749840"/>
          <a:ext cx="1260000" cy="1645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Груши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Яблоки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Яблоки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Груши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Яблоки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Яблоки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7" name="Таблица 66"/>
          <p:cNvGraphicFramePr>
            <a:graphicFrameLocks noGrp="1"/>
          </p:cNvGraphicFramePr>
          <p:nvPr>
            <p:extLst/>
          </p:nvPr>
        </p:nvGraphicFramePr>
        <p:xfrm>
          <a:off x="3237059" y="2182287"/>
          <a:ext cx="1260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l"/>
                      <a:r>
                        <a:rPr lang="ru-RU" sz="1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Субконто</a:t>
                      </a:r>
                      <a:r>
                        <a:rPr lang="ru-RU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2</a:t>
                      </a:r>
                      <a:endParaRPr lang="ru-RU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3" name="Таблица 52"/>
          <p:cNvGraphicFramePr>
            <a:graphicFrameLocks noGrp="1"/>
          </p:cNvGraphicFramePr>
          <p:nvPr>
            <p:extLst/>
          </p:nvPr>
        </p:nvGraphicFramePr>
        <p:xfrm>
          <a:off x="4126751" y="2179147"/>
          <a:ext cx="2448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Сумма остаток</a:t>
                      </a:r>
                      <a:endParaRPr lang="ru-RU" sz="12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Обороты</a:t>
                      </a:r>
                      <a:endParaRPr lang="ru-RU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Сумма </a:t>
                      </a:r>
                      <a:r>
                        <a:rPr lang="ru-RU" sz="1200" dirty="0" err="1" smtClean="0"/>
                        <a:t>Дт</a:t>
                      </a:r>
                      <a:endParaRPr lang="ru-RU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Сумма </a:t>
                      </a:r>
                      <a:r>
                        <a:rPr lang="ru-RU" sz="1200" dirty="0" err="1" smtClean="0"/>
                        <a:t>Кт</a:t>
                      </a:r>
                      <a:endParaRPr lang="ru-RU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8" name="Таблица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634740"/>
              </p:ext>
            </p:extLst>
          </p:nvPr>
        </p:nvGraphicFramePr>
        <p:xfrm>
          <a:off x="3237059" y="2753959"/>
          <a:ext cx="1260000" cy="1645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Главный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Холодильник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Главный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Главный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Холодильник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Главный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4" name="Таблица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296045"/>
              </p:ext>
            </p:extLst>
          </p:nvPr>
        </p:nvGraphicFramePr>
        <p:xfrm>
          <a:off x="4126751" y="2751489"/>
          <a:ext cx="2448000" cy="1645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en-US" sz="1200" dirty="0" smtClean="0"/>
                        <a:t>0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12000</a:t>
                      </a:r>
                      <a:endParaRPr lang="ru-RU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dirty="0" smtClean="0"/>
                        <a:t>0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 smtClean="0"/>
                        <a:t>1</a:t>
                      </a:r>
                      <a:r>
                        <a:rPr lang="en-US" sz="1200" dirty="0" smtClean="0"/>
                        <a:t>0</a:t>
                      </a:r>
                      <a:r>
                        <a:rPr lang="ru-RU" sz="1200" dirty="0" smtClean="0"/>
                        <a:t>000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7500</a:t>
                      </a:r>
                      <a:endParaRPr lang="ru-RU" sz="12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dirty="0" smtClean="0"/>
                        <a:t>0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 smtClean="0"/>
                        <a:t>5</a:t>
                      </a:r>
                      <a:r>
                        <a:rPr lang="ru-RU" sz="1200" dirty="0" smtClean="0"/>
                        <a:t>000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75</a:t>
                      </a:r>
                      <a:r>
                        <a:rPr lang="ru-RU" sz="120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en-US" sz="1200" dirty="0" smtClean="0"/>
                        <a:t>12000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en-US" sz="1200" dirty="0" smtClean="0"/>
                        <a:t>2500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en-US" sz="1200" dirty="0" smtClean="0"/>
                        <a:t>-2500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5180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Таблица остатков и оборотов по счетам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ru-RU" dirty="0" smtClean="0"/>
              <a:t>для счетов с двумя субконто после отключения</a:t>
            </a:r>
            <a:endParaRPr lang="ru-RU" dirty="0"/>
          </a:p>
        </p:txBody>
      </p:sp>
      <p:graphicFrame>
        <p:nvGraphicFramePr>
          <p:cNvPr id="31" name="Таблица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3452303"/>
              </p:ext>
            </p:extLst>
          </p:nvPr>
        </p:nvGraphicFramePr>
        <p:xfrm>
          <a:off x="6577506" y="3873449"/>
          <a:ext cx="2448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Кол-во остаток</a:t>
                      </a:r>
                      <a:endParaRPr lang="ru-RU" sz="12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Обороты</a:t>
                      </a:r>
                      <a:endParaRPr lang="ru-RU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Кол-во </a:t>
                      </a:r>
                      <a:r>
                        <a:rPr lang="ru-RU" sz="1200" dirty="0" err="1" smtClean="0"/>
                        <a:t>Дт</a:t>
                      </a:r>
                      <a:endParaRPr lang="ru-RU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Кол-во </a:t>
                      </a:r>
                      <a:r>
                        <a:rPr lang="ru-RU" sz="1200" dirty="0" err="1" smtClean="0"/>
                        <a:t>Кт</a:t>
                      </a:r>
                      <a:endParaRPr lang="ru-RU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2" name="Таблица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6479882"/>
              </p:ext>
            </p:extLst>
          </p:nvPr>
        </p:nvGraphicFramePr>
        <p:xfrm>
          <a:off x="6577506" y="4445791"/>
          <a:ext cx="2448000" cy="1645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dirty="0" smtClean="0"/>
                        <a:t>0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ru-RU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b="1" dirty="0" smtClean="0"/>
                        <a:t>0</a:t>
                      </a:r>
                      <a:endParaRPr lang="ru-RU" sz="1200" b="1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1" dirty="0" smtClean="0"/>
                        <a:t>1</a:t>
                      </a:r>
                      <a:r>
                        <a:rPr lang="en-US" sz="1200" b="1" dirty="0" smtClean="0"/>
                        <a:t>0</a:t>
                      </a:r>
                      <a:endParaRPr lang="ru-RU" sz="1200" b="1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sz="12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b="1" dirty="0" smtClean="0"/>
                        <a:t>0</a:t>
                      </a:r>
                      <a:endParaRPr lang="ru-RU" sz="1200" b="1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1" dirty="0" smtClean="0"/>
                        <a:t>10</a:t>
                      </a:r>
                      <a:endParaRPr lang="ru-RU" sz="1200" b="1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ru-RU" sz="12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en-US" sz="1200" dirty="0" smtClean="0"/>
                        <a:t>10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 smtClean="0"/>
                        <a:t>0</a:t>
                      </a:r>
                      <a:endParaRPr lang="ru-RU" sz="1200" b="1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b="1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 smtClean="0"/>
                        <a:t>0</a:t>
                      </a:r>
                      <a:endParaRPr lang="ru-RU" sz="1200" b="1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b="1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3" name="Таблица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211921"/>
              </p:ext>
            </p:extLst>
          </p:nvPr>
        </p:nvGraphicFramePr>
        <p:xfrm>
          <a:off x="193179" y="3876589"/>
          <a:ext cx="2179595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Период</a:t>
                      </a:r>
                      <a:endParaRPr lang="ru-RU" sz="12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/>
                        <a:t>Счет</a:t>
                      </a:r>
                      <a:endParaRPr lang="ru-RU" sz="12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" name="Таблица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8848266"/>
              </p:ext>
            </p:extLst>
          </p:nvPr>
        </p:nvGraphicFramePr>
        <p:xfrm>
          <a:off x="193179" y="4448931"/>
          <a:ext cx="2179595" cy="1645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01.04.2015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10 (материалы)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01.04.2015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41 (товары)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01.04.2015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41 (товары)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01.11.3999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10 (материалы)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01.11.3999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41 (товары)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01.11.3999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41 (товары)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5" name="Таблица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9501737"/>
              </p:ext>
            </p:extLst>
          </p:nvPr>
        </p:nvGraphicFramePr>
        <p:xfrm>
          <a:off x="1560661" y="3876590"/>
          <a:ext cx="1260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/>
                        <a:t>Организация</a:t>
                      </a:r>
                      <a:endParaRPr lang="ru-RU" sz="12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6" name="Таблица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3575049"/>
              </p:ext>
            </p:extLst>
          </p:nvPr>
        </p:nvGraphicFramePr>
        <p:xfrm>
          <a:off x="2017859" y="3876589"/>
          <a:ext cx="1260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l"/>
                      <a:r>
                        <a:rPr lang="ru-RU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Подразделение</a:t>
                      </a:r>
                      <a:endParaRPr lang="ru-RU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7" name="Таблица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1917938"/>
              </p:ext>
            </p:extLst>
          </p:nvPr>
        </p:nvGraphicFramePr>
        <p:xfrm>
          <a:off x="1560661" y="4448262"/>
          <a:ext cx="1260000" cy="1645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Юг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Юг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Юг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Юг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Юг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Юг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8" name="Таблица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548020"/>
              </p:ext>
            </p:extLst>
          </p:nvPr>
        </p:nvGraphicFramePr>
        <p:xfrm>
          <a:off x="2017859" y="4448261"/>
          <a:ext cx="1260000" cy="1645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Основное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Основное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Основное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Основное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Основное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Основное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9" name="Таблица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7087290"/>
              </p:ext>
            </p:extLst>
          </p:nvPr>
        </p:nvGraphicFramePr>
        <p:xfrm>
          <a:off x="2400918" y="3872470"/>
          <a:ext cx="1260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l"/>
                      <a:r>
                        <a:rPr lang="ru-RU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Субконто 1</a:t>
                      </a:r>
                      <a:endParaRPr lang="ru-RU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0" name="Таблица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9351101"/>
              </p:ext>
            </p:extLst>
          </p:nvPr>
        </p:nvGraphicFramePr>
        <p:xfrm>
          <a:off x="2400918" y="4444142"/>
          <a:ext cx="1260000" cy="1645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Груши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Яблоки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Яблоки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Груши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Яблоки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Яблоки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1" name="Таблица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8613526"/>
              </p:ext>
            </p:extLst>
          </p:nvPr>
        </p:nvGraphicFramePr>
        <p:xfrm>
          <a:off x="3237059" y="3876589"/>
          <a:ext cx="1260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l"/>
                      <a:r>
                        <a:rPr lang="ru-RU" sz="1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Субконто</a:t>
                      </a:r>
                      <a:r>
                        <a:rPr lang="ru-RU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2</a:t>
                      </a:r>
                      <a:endParaRPr lang="ru-RU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2" name="Таблица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9692737"/>
              </p:ext>
            </p:extLst>
          </p:nvPr>
        </p:nvGraphicFramePr>
        <p:xfrm>
          <a:off x="4126751" y="3873449"/>
          <a:ext cx="2448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Сумма остаток</a:t>
                      </a:r>
                      <a:endParaRPr lang="ru-RU" sz="12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Обороты</a:t>
                      </a:r>
                      <a:endParaRPr lang="ru-RU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Сумма </a:t>
                      </a:r>
                      <a:r>
                        <a:rPr lang="ru-RU" sz="1200" dirty="0" err="1" smtClean="0"/>
                        <a:t>Дт</a:t>
                      </a:r>
                      <a:endParaRPr lang="ru-RU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Сумма </a:t>
                      </a:r>
                      <a:r>
                        <a:rPr lang="ru-RU" sz="1200" dirty="0" err="1" smtClean="0"/>
                        <a:t>Кт</a:t>
                      </a:r>
                      <a:endParaRPr lang="ru-RU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3" name="Таблица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493250"/>
              </p:ext>
            </p:extLst>
          </p:nvPr>
        </p:nvGraphicFramePr>
        <p:xfrm>
          <a:off x="3237059" y="4448261"/>
          <a:ext cx="1260000" cy="1645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Главный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Холодильник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Главный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Главный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Холодильник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Главный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4" name="Таблица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8873568"/>
              </p:ext>
            </p:extLst>
          </p:nvPr>
        </p:nvGraphicFramePr>
        <p:xfrm>
          <a:off x="4126751" y="4445791"/>
          <a:ext cx="2448000" cy="1645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en-US" sz="1200" dirty="0" smtClean="0"/>
                        <a:t>0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12000</a:t>
                      </a:r>
                      <a:endParaRPr lang="ru-RU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en-US" sz="1200" dirty="0" smtClean="0"/>
                        <a:t>12000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5" name="Таблица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1227190"/>
              </p:ext>
            </p:extLst>
          </p:nvPr>
        </p:nvGraphicFramePr>
        <p:xfrm>
          <a:off x="6117546" y="1928288"/>
          <a:ext cx="2448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Кол-во остаток</a:t>
                      </a:r>
                      <a:endParaRPr lang="ru-RU" sz="12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Обороты</a:t>
                      </a:r>
                      <a:endParaRPr lang="ru-RU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Кол-во </a:t>
                      </a:r>
                      <a:r>
                        <a:rPr lang="ru-RU" sz="1200" dirty="0" err="1" smtClean="0"/>
                        <a:t>Дт</a:t>
                      </a:r>
                      <a:endParaRPr lang="ru-RU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Кол-во </a:t>
                      </a:r>
                      <a:r>
                        <a:rPr lang="ru-RU" sz="1200" dirty="0" err="1" smtClean="0"/>
                        <a:t>Кт</a:t>
                      </a:r>
                      <a:endParaRPr lang="ru-RU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6" name="Таблица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0542167"/>
              </p:ext>
            </p:extLst>
          </p:nvPr>
        </p:nvGraphicFramePr>
        <p:xfrm>
          <a:off x="6117546" y="2500630"/>
          <a:ext cx="24480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7" name="Таблица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6952976"/>
              </p:ext>
            </p:extLst>
          </p:nvPr>
        </p:nvGraphicFramePr>
        <p:xfrm>
          <a:off x="190424" y="1931428"/>
          <a:ext cx="2179595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Период</a:t>
                      </a:r>
                      <a:endParaRPr lang="ru-RU" sz="12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/>
                        <a:t>Счет</a:t>
                      </a:r>
                      <a:endParaRPr lang="ru-RU" sz="12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8" name="Таблица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8380612"/>
              </p:ext>
            </p:extLst>
          </p:nvPr>
        </p:nvGraphicFramePr>
        <p:xfrm>
          <a:off x="190424" y="2503770"/>
          <a:ext cx="2179595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01.04.2015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41 (товары)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01.11.3999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41 (товары)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9" name="Таблица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7807218"/>
              </p:ext>
            </p:extLst>
          </p:nvPr>
        </p:nvGraphicFramePr>
        <p:xfrm>
          <a:off x="1557906" y="1931429"/>
          <a:ext cx="1260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/>
                        <a:t>Организация</a:t>
                      </a:r>
                      <a:endParaRPr lang="ru-RU" sz="12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0" name="Таблица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9321746"/>
              </p:ext>
            </p:extLst>
          </p:nvPr>
        </p:nvGraphicFramePr>
        <p:xfrm>
          <a:off x="2015104" y="1931428"/>
          <a:ext cx="1260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l"/>
                      <a:r>
                        <a:rPr lang="ru-RU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Подразделение</a:t>
                      </a:r>
                      <a:endParaRPr lang="ru-RU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" name="Таблица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3355128"/>
              </p:ext>
            </p:extLst>
          </p:nvPr>
        </p:nvGraphicFramePr>
        <p:xfrm>
          <a:off x="1557906" y="2503101"/>
          <a:ext cx="12600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Юг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Юг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2" name="Таблица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392486"/>
              </p:ext>
            </p:extLst>
          </p:nvPr>
        </p:nvGraphicFramePr>
        <p:xfrm>
          <a:off x="2015104" y="2503100"/>
          <a:ext cx="12600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Основное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Основное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7" name="Таблица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8366826"/>
              </p:ext>
            </p:extLst>
          </p:nvPr>
        </p:nvGraphicFramePr>
        <p:xfrm>
          <a:off x="2400918" y="1927309"/>
          <a:ext cx="1260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l"/>
                      <a:r>
                        <a:rPr lang="ru-RU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Субконто 1</a:t>
                      </a:r>
                      <a:endParaRPr lang="ru-RU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8" name="Таблица 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5527959"/>
              </p:ext>
            </p:extLst>
          </p:nvPr>
        </p:nvGraphicFramePr>
        <p:xfrm>
          <a:off x="2400918" y="2498981"/>
          <a:ext cx="12600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Яблоки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Яблоки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8" name="Таблица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2443633"/>
              </p:ext>
            </p:extLst>
          </p:nvPr>
        </p:nvGraphicFramePr>
        <p:xfrm>
          <a:off x="3666791" y="1928288"/>
          <a:ext cx="2448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Сумма остаток</a:t>
                      </a:r>
                      <a:endParaRPr lang="ru-RU" sz="12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Обороты</a:t>
                      </a:r>
                      <a:endParaRPr lang="ru-RU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Сумма </a:t>
                      </a:r>
                      <a:r>
                        <a:rPr lang="ru-RU" sz="1200" dirty="0" err="1" smtClean="0"/>
                        <a:t>Дт</a:t>
                      </a:r>
                      <a:endParaRPr lang="ru-RU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Сумма </a:t>
                      </a:r>
                      <a:r>
                        <a:rPr lang="ru-RU" sz="1200" dirty="0" err="1" smtClean="0"/>
                        <a:t>Кт</a:t>
                      </a:r>
                      <a:endParaRPr lang="ru-RU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0" name="Таблица 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0686522"/>
              </p:ext>
            </p:extLst>
          </p:nvPr>
        </p:nvGraphicFramePr>
        <p:xfrm>
          <a:off x="3666791" y="2500630"/>
          <a:ext cx="24480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b="1" dirty="0" smtClean="0"/>
                        <a:t>0</a:t>
                      </a:r>
                      <a:endParaRPr lang="ru-RU" sz="1200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1" dirty="0" smtClean="0"/>
                        <a:t>1</a:t>
                      </a:r>
                      <a:r>
                        <a:rPr lang="en-US" sz="1200" b="1" dirty="0" smtClean="0"/>
                        <a:t>5</a:t>
                      </a:r>
                      <a:r>
                        <a:rPr lang="ru-RU" sz="1200" b="1" dirty="0" smtClean="0"/>
                        <a:t>000</a:t>
                      </a:r>
                      <a:endParaRPr lang="ru-RU" sz="1200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 smtClean="0">
                          <a:solidFill>
                            <a:schemeClr val="tx1"/>
                          </a:solidFill>
                        </a:rPr>
                        <a:t>15000</a:t>
                      </a:r>
                      <a:endParaRPr lang="ru-RU" sz="12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 smtClean="0"/>
                        <a:t>0</a:t>
                      </a:r>
                      <a:endParaRPr lang="ru-RU" sz="1200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1" name="Rounded Rectangle 3"/>
          <p:cNvSpPr/>
          <p:nvPr/>
        </p:nvSpPr>
        <p:spPr>
          <a:xfrm>
            <a:off x="4077316" y="4716662"/>
            <a:ext cx="2580659" cy="603977"/>
          </a:xfrm>
          <a:prstGeom prst="roundRect">
            <a:avLst/>
          </a:prstGeom>
          <a:solidFill>
            <a:srgbClr val="C00000">
              <a:alpha val="10000"/>
            </a:srgbClr>
          </a:solidFill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2" name="Rounded Rectangle 3"/>
          <p:cNvSpPr/>
          <p:nvPr/>
        </p:nvSpPr>
        <p:spPr>
          <a:xfrm>
            <a:off x="4060421" y="5488969"/>
            <a:ext cx="2580659" cy="603977"/>
          </a:xfrm>
          <a:prstGeom prst="roundRect">
            <a:avLst/>
          </a:prstGeom>
          <a:solidFill>
            <a:srgbClr val="C00000">
              <a:alpha val="10000"/>
            </a:srgbClr>
          </a:solidFill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3" name="Rounded Rectangle 3"/>
          <p:cNvSpPr/>
          <p:nvPr/>
        </p:nvSpPr>
        <p:spPr>
          <a:xfrm>
            <a:off x="3600461" y="1827931"/>
            <a:ext cx="2580660" cy="1325474"/>
          </a:xfrm>
          <a:prstGeom prst="roundRect">
            <a:avLst/>
          </a:prstGeom>
          <a:solidFill>
            <a:srgbClr val="C00000">
              <a:alpha val="10000"/>
            </a:srgbClr>
          </a:solidFill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7956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 tmFilter="0, 0; .2, .5; .8, .5; 1, 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250" autoRev="1" fill="hold"/>
                                        <p:tgtEl>
                                          <p:spTgt spid="7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26" presetClass="emph" presetSubtype="0" repeatCount="3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7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250"/>
                            </p:stCondLst>
                            <p:childTnLst>
                              <p:par>
                                <p:cTn id="19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7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7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750"/>
                            </p:stCondLst>
                            <p:childTnLst>
                              <p:par>
                                <p:cTn id="30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 tmFilter="0, 0; .2, .5; .8, .5; 1, 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250" autoRev="1" fill="hold"/>
                                        <p:tgtEl>
                                          <p:spTgt spid="7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250"/>
                            </p:stCondLst>
                            <p:childTnLst>
                              <p:par>
                                <p:cTn id="34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7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  <p:bldP spid="71" grpId="1" animBg="1"/>
      <p:bldP spid="71" grpId="2" animBg="1"/>
      <p:bldP spid="72" grpId="0" animBg="1"/>
      <p:bldP spid="72" grpId="1" animBg="1"/>
      <p:bldP spid="72" grpId="2" animBg="1"/>
      <p:bldP spid="73" grpId="0" animBg="1"/>
      <p:bldP spid="73" grpId="1" animBg="1"/>
      <p:bldP spid="73" grpId="2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214" y="1409883"/>
            <a:ext cx="5523547" cy="5152149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1028223"/>
          </a:xfrm>
        </p:spPr>
        <p:txBody>
          <a:bodyPr/>
          <a:lstStyle/>
          <a:p>
            <a:r>
              <a:rPr lang="ru-RU" dirty="0" smtClean="0"/>
              <a:t>Признак учета субконто «Только обороты»</a:t>
            </a:r>
            <a:endParaRPr lang="ru-RU" dirty="0"/>
          </a:p>
        </p:txBody>
      </p:sp>
      <p:sp>
        <p:nvSpPr>
          <p:cNvPr id="4" name="Rounded Rectangle 3"/>
          <p:cNvSpPr/>
          <p:nvPr/>
        </p:nvSpPr>
        <p:spPr>
          <a:xfrm>
            <a:off x="5196653" y="4374441"/>
            <a:ext cx="1395339" cy="721954"/>
          </a:xfrm>
          <a:prstGeom prst="roundRect">
            <a:avLst/>
          </a:prstGeom>
          <a:solidFill>
            <a:srgbClr val="C00000">
              <a:alpha val="10000"/>
            </a:srgbClr>
          </a:solidFill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2332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250"/>
                            </p:stCondLst>
                            <p:childTnLst>
                              <p:par>
                                <p:cTn id="13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4" grpId="2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238003" y="522007"/>
            <a:ext cx="8770938" cy="857250"/>
          </a:xfrm>
        </p:spPr>
        <p:txBody>
          <a:bodyPr/>
          <a:lstStyle/>
          <a:p>
            <a:r>
              <a:rPr lang="ru-RU" sz="2400" dirty="0" smtClean="0"/>
              <a:t>Таблица остатков и оборотов по счетам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ru-RU" sz="2400" dirty="0" smtClean="0"/>
              <a:t>Добавили субконто</a:t>
            </a:r>
            <a:r>
              <a:rPr lang="en-US" sz="2400" dirty="0" smtClean="0"/>
              <a:t> </a:t>
            </a:r>
            <a:r>
              <a:rPr lang="ru-RU" sz="2400" dirty="0" smtClean="0"/>
              <a:t>«</a:t>
            </a:r>
            <a:r>
              <a:rPr lang="ru-RU" dirty="0" smtClean="0"/>
              <a:t>ДДС</a:t>
            </a:r>
            <a:r>
              <a:rPr lang="ru-RU" sz="2400" dirty="0" smtClean="0"/>
              <a:t>» к счету </a:t>
            </a:r>
            <a:r>
              <a:rPr lang="en-US" sz="2400" dirty="0" smtClean="0"/>
              <a:t>5</a:t>
            </a:r>
            <a:r>
              <a:rPr lang="ru-RU" sz="2400" dirty="0" smtClean="0"/>
              <a:t>0 </a:t>
            </a:r>
            <a:endParaRPr lang="ru-RU" sz="2400" dirty="0"/>
          </a:p>
        </p:txBody>
      </p:sp>
      <p:graphicFrame>
        <p:nvGraphicFramePr>
          <p:cNvPr id="47" name="Таблица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8116484"/>
              </p:ext>
            </p:extLst>
          </p:nvPr>
        </p:nvGraphicFramePr>
        <p:xfrm>
          <a:off x="238003" y="1853118"/>
          <a:ext cx="2179595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Период</a:t>
                      </a:r>
                      <a:endParaRPr lang="ru-RU" sz="12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/>
                        <a:t>Счет</a:t>
                      </a:r>
                      <a:endParaRPr lang="ru-RU" sz="12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8" name="Таблица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5667957"/>
              </p:ext>
            </p:extLst>
          </p:nvPr>
        </p:nvGraphicFramePr>
        <p:xfrm>
          <a:off x="238003" y="2425460"/>
          <a:ext cx="2179595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01.04.2017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/>
                        <a:t>5</a:t>
                      </a:r>
                      <a:r>
                        <a:rPr lang="ru-RU" sz="1200" dirty="0" smtClean="0"/>
                        <a:t>0 (касса)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01.04.2017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/>
                        <a:t>5</a:t>
                      </a:r>
                      <a:r>
                        <a:rPr lang="ru-RU" sz="1200" dirty="0" smtClean="0"/>
                        <a:t>0 (касса)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01.11.3999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/>
                        <a:t>5</a:t>
                      </a:r>
                      <a:r>
                        <a:rPr lang="ru-RU" sz="1200" dirty="0" smtClean="0"/>
                        <a:t>0 (касса)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446658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01.11.3999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/>
                        <a:t>5</a:t>
                      </a:r>
                      <a:r>
                        <a:rPr lang="ru-RU" sz="1200" dirty="0" smtClean="0"/>
                        <a:t>0 (касса)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2420478"/>
                  </a:ext>
                </a:extLst>
              </a:tr>
            </a:tbl>
          </a:graphicData>
        </a:graphic>
      </p:graphicFrame>
      <p:graphicFrame>
        <p:nvGraphicFramePr>
          <p:cNvPr id="49" name="Таблица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9295210"/>
              </p:ext>
            </p:extLst>
          </p:nvPr>
        </p:nvGraphicFramePr>
        <p:xfrm>
          <a:off x="1834085" y="1853119"/>
          <a:ext cx="1260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/>
                        <a:t>Организация</a:t>
                      </a:r>
                      <a:endParaRPr lang="ru-RU" sz="12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0" name="Таблица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1849955"/>
              </p:ext>
            </p:extLst>
          </p:nvPr>
        </p:nvGraphicFramePr>
        <p:xfrm>
          <a:off x="2796108" y="1853118"/>
          <a:ext cx="1260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l"/>
                      <a:r>
                        <a:rPr lang="ru-RU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Подразделение</a:t>
                      </a:r>
                      <a:endParaRPr lang="ru-RU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" name="Таблица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8463155"/>
              </p:ext>
            </p:extLst>
          </p:nvPr>
        </p:nvGraphicFramePr>
        <p:xfrm>
          <a:off x="1834085" y="2424791"/>
          <a:ext cx="1260000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Юг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Юг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Юг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396156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Юг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640738"/>
                  </a:ext>
                </a:extLst>
              </a:tr>
            </a:tbl>
          </a:graphicData>
        </a:graphic>
      </p:graphicFrame>
      <p:graphicFrame>
        <p:nvGraphicFramePr>
          <p:cNvPr id="52" name="Таблица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1860751"/>
              </p:ext>
            </p:extLst>
          </p:nvPr>
        </p:nvGraphicFramePr>
        <p:xfrm>
          <a:off x="2796108" y="2424790"/>
          <a:ext cx="1260000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Основное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Основное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Основное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837306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Основное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1023179"/>
                  </a:ext>
                </a:extLst>
              </a:tr>
            </a:tbl>
          </a:graphicData>
        </a:graphic>
      </p:graphicFrame>
      <p:graphicFrame>
        <p:nvGraphicFramePr>
          <p:cNvPr id="57" name="Таблица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3932477"/>
              </p:ext>
            </p:extLst>
          </p:nvPr>
        </p:nvGraphicFramePr>
        <p:xfrm>
          <a:off x="4055467" y="1848999"/>
          <a:ext cx="1260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l"/>
                      <a:r>
                        <a:rPr lang="ru-RU" sz="1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Субконто</a:t>
                      </a:r>
                      <a:r>
                        <a:rPr lang="ru-RU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1</a:t>
                      </a:r>
                      <a:endParaRPr lang="ru-RU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8" name="Таблица 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3847167"/>
              </p:ext>
            </p:extLst>
          </p:nvPr>
        </p:nvGraphicFramePr>
        <p:xfrm>
          <a:off x="4055467" y="2420671"/>
          <a:ext cx="1260000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Поставщикам</a:t>
                      </a:r>
                      <a:r>
                        <a:rPr lang="ru-RU" sz="1200" baseline="0" dirty="0" smtClean="0"/>
                        <a:t> в.</a:t>
                      </a:r>
                      <a:endParaRPr lang="ru-RU" sz="1200" dirty="0" smtClean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От</a:t>
                      </a:r>
                      <a:r>
                        <a:rPr lang="ru-RU" sz="1200" baseline="0" dirty="0" smtClean="0"/>
                        <a:t> покупателей</a:t>
                      </a:r>
                      <a:endParaRPr lang="ru-RU" sz="1200" dirty="0" smtClean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Поставщикам</a:t>
                      </a:r>
                      <a:r>
                        <a:rPr lang="ru-RU" sz="1200" baseline="0" dirty="0" smtClean="0"/>
                        <a:t> в.</a:t>
                      </a:r>
                      <a:endParaRPr lang="ru-RU" sz="1200" dirty="0" smtClean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154186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От</a:t>
                      </a:r>
                      <a:r>
                        <a:rPr lang="ru-RU" sz="1200" baseline="0" dirty="0" smtClean="0"/>
                        <a:t> покупателей</a:t>
                      </a:r>
                      <a:endParaRPr lang="ru-RU" sz="1200" dirty="0" smtClean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7356001"/>
                  </a:ext>
                </a:extLst>
              </a:tr>
            </a:tbl>
          </a:graphicData>
        </a:graphic>
      </p:graphicFrame>
      <p:graphicFrame>
        <p:nvGraphicFramePr>
          <p:cNvPr id="69" name="Таблица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0222620"/>
              </p:ext>
            </p:extLst>
          </p:nvPr>
        </p:nvGraphicFramePr>
        <p:xfrm>
          <a:off x="5319981" y="1849977"/>
          <a:ext cx="3433493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464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56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5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5694">
                  <a:extLst>
                    <a:ext uri="{9D8B030D-6E8A-4147-A177-3AD203B41FA5}">
                      <a16:colId xmlns:a16="http://schemas.microsoft.com/office/drawing/2014/main" val="360599816"/>
                    </a:ext>
                  </a:extLst>
                </a:gridCol>
              </a:tblGrid>
              <a:tr h="288000"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Сумма остаток</a:t>
                      </a:r>
                      <a:endParaRPr lang="ru-RU" sz="12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Обороты Сумма</a:t>
                      </a:r>
                      <a:endParaRPr lang="ru-RU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Дебет</a:t>
                      </a:r>
                      <a:endParaRPr lang="ru-RU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Кредит</a:t>
                      </a:r>
                      <a:endParaRPr lang="ru-RU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Оборот</a:t>
                      </a:r>
                      <a:endParaRPr lang="ru-RU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0" name="Таблица 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1352971"/>
              </p:ext>
            </p:extLst>
          </p:nvPr>
        </p:nvGraphicFramePr>
        <p:xfrm>
          <a:off x="5319980" y="2422319"/>
          <a:ext cx="3433494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464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56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5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5694">
                  <a:extLst>
                    <a:ext uri="{9D8B030D-6E8A-4147-A177-3AD203B41FA5}">
                      <a16:colId xmlns:a16="http://schemas.microsoft.com/office/drawing/2014/main" val="421993278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dirty="0" smtClean="0"/>
                        <a:t>0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 smtClean="0"/>
                        <a:t>1500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 smtClean="0"/>
                        <a:t>-1500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dirty="0" smtClean="0"/>
                        <a:t>0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1800</a:t>
                      </a:r>
                      <a:endParaRPr lang="ru-RU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 smtClean="0"/>
                        <a:t>1800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dirty="0" smtClean="0"/>
                        <a:t>-1500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34573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dirty="0" smtClean="0"/>
                        <a:t>1800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9563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8396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238003" y="522007"/>
            <a:ext cx="8770938" cy="857250"/>
          </a:xfrm>
        </p:spPr>
        <p:txBody>
          <a:bodyPr/>
          <a:lstStyle/>
          <a:p>
            <a:r>
              <a:rPr lang="ru-RU" sz="2400" dirty="0" smtClean="0"/>
              <a:t>Таблица остатков и оборотов по счетам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ru-RU" sz="2400" dirty="0" smtClean="0"/>
              <a:t>Включили признак только обороты</a:t>
            </a:r>
            <a:endParaRPr lang="ru-RU" sz="2400" dirty="0"/>
          </a:p>
        </p:txBody>
      </p:sp>
      <p:graphicFrame>
        <p:nvGraphicFramePr>
          <p:cNvPr id="39" name="Таблица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9944974"/>
              </p:ext>
            </p:extLst>
          </p:nvPr>
        </p:nvGraphicFramePr>
        <p:xfrm>
          <a:off x="238003" y="1853118"/>
          <a:ext cx="2179595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Период</a:t>
                      </a:r>
                      <a:endParaRPr lang="ru-RU" sz="12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/>
                        <a:t>Счет</a:t>
                      </a:r>
                      <a:endParaRPr lang="ru-RU" sz="12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0" name="Таблица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2714583"/>
              </p:ext>
            </p:extLst>
          </p:nvPr>
        </p:nvGraphicFramePr>
        <p:xfrm>
          <a:off x="238003" y="2425460"/>
          <a:ext cx="2179595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01.04.2017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50 (касса)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01.04.2017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50 (касса)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1" name="Таблица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5687289"/>
              </p:ext>
            </p:extLst>
          </p:nvPr>
        </p:nvGraphicFramePr>
        <p:xfrm>
          <a:off x="1834085" y="1853119"/>
          <a:ext cx="1260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/>
                        <a:t>Организация</a:t>
                      </a:r>
                      <a:endParaRPr lang="ru-RU" sz="12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2" name="Таблица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5235149"/>
              </p:ext>
            </p:extLst>
          </p:nvPr>
        </p:nvGraphicFramePr>
        <p:xfrm>
          <a:off x="2796108" y="1853118"/>
          <a:ext cx="1260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l"/>
                      <a:r>
                        <a:rPr lang="ru-RU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Подразделение</a:t>
                      </a:r>
                      <a:endParaRPr lang="ru-RU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3" name="Таблица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9400357"/>
              </p:ext>
            </p:extLst>
          </p:nvPr>
        </p:nvGraphicFramePr>
        <p:xfrm>
          <a:off x="1834085" y="2424791"/>
          <a:ext cx="12600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Юг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Юг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4" name="Таблица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2883980"/>
              </p:ext>
            </p:extLst>
          </p:nvPr>
        </p:nvGraphicFramePr>
        <p:xfrm>
          <a:off x="2796108" y="2424790"/>
          <a:ext cx="12600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Основное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Основное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5" name="Таблица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7238538"/>
              </p:ext>
            </p:extLst>
          </p:nvPr>
        </p:nvGraphicFramePr>
        <p:xfrm>
          <a:off x="4055467" y="1848999"/>
          <a:ext cx="126000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l"/>
                      <a:r>
                        <a:rPr lang="ru-RU" sz="1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Субконто</a:t>
                      </a:r>
                      <a:r>
                        <a:rPr lang="ru-RU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1</a:t>
                      </a:r>
                      <a:endParaRPr lang="ru-RU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6" name="Таблица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5816443"/>
              </p:ext>
            </p:extLst>
          </p:nvPr>
        </p:nvGraphicFramePr>
        <p:xfrm>
          <a:off x="4055467" y="2420671"/>
          <a:ext cx="12600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Поставщикам</a:t>
                      </a:r>
                      <a:r>
                        <a:rPr lang="ru-RU" sz="1200" baseline="0" dirty="0" smtClean="0"/>
                        <a:t> в.</a:t>
                      </a:r>
                      <a:endParaRPr lang="ru-RU" sz="1200" dirty="0" smtClean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От</a:t>
                      </a:r>
                      <a:r>
                        <a:rPr lang="ru-RU" sz="1200" baseline="0" dirty="0" smtClean="0"/>
                        <a:t> покупателей</a:t>
                      </a:r>
                      <a:endParaRPr lang="ru-RU" sz="1200" dirty="0" smtClean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3" name="Таблица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7114397"/>
              </p:ext>
            </p:extLst>
          </p:nvPr>
        </p:nvGraphicFramePr>
        <p:xfrm>
          <a:off x="5319981" y="1849977"/>
          <a:ext cx="3433493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464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56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5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5694">
                  <a:extLst>
                    <a:ext uri="{9D8B030D-6E8A-4147-A177-3AD203B41FA5}">
                      <a16:colId xmlns:a16="http://schemas.microsoft.com/office/drawing/2014/main" val="360599816"/>
                    </a:ext>
                  </a:extLst>
                </a:gridCol>
              </a:tblGrid>
              <a:tr h="288000"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Сумма остаток</a:t>
                      </a:r>
                      <a:endParaRPr lang="ru-RU" sz="12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Обороты Сумма</a:t>
                      </a:r>
                      <a:endParaRPr lang="ru-RU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Дебет</a:t>
                      </a:r>
                      <a:endParaRPr lang="ru-RU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Кредит</a:t>
                      </a:r>
                      <a:endParaRPr lang="ru-RU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Оборот</a:t>
                      </a:r>
                      <a:endParaRPr lang="ru-RU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4" name="Таблица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8902716"/>
              </p:ext>
            </p:extLst>
          </p:nvPr>
        </p:nvGraphicFramePr>
        <p:xfrm>
          <a:off x="5319980" y="2422319"/>
          <a:ext cx="3433494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464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56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5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5694">
                  <a:extLst>
                    <a:ext uri="{9D8B030D-6E8A-4147-A177-3AD203B41FA5}">
                      <a16:colId xmlns:a16="http://schemas.microsoft.com/office/drawing/2014/main" val="421993278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 smtClean="0"/>
                        <a:t>1500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 smtClean="0"/>
                        <a:t>-1500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1800</a:t>
                      </a:r>
                      <a:endParaRPr lang="ru-RU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 smtClean="0"/>
                        <a:t>1800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5" name="Таблица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2091606"/>
              </p:ext>
            </p:extLst>
          </p:nvPr>
        </p:nvGraphicFramePr>
        <p:xfrm>
          <a:off x="238003" y="3320656"/>
          <a:ext cx="2179595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Период</a:t>
                      </a:r>
                      <a:endParaRPr lang="ru-RU" sz="12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/>
                        <a:t>Счет</a:t>
                      </a:r>
                      <a:endParaRPr lang="ru-RU" sz="12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6" name="Таблица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0309037"/>
              </p:ext>
            </p:extLst>
          </p:nvPr>
        </p:nvGraphicFramePr>
        <p:xfrm>
          <a:off x="238003" y="3892998"/>
          <a:ext cx="2179595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01.04.2017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50 (касса)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01.11.3999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50 (касса)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4466582"/>
                  </a:ext>
                </a:extLst>
              </a:tr>
            </a:tbl>
          </a:graphicData>
        </a:graphic>
      </p:graphicFrame>
      <p:graphicFrame>
        <p:nvGraphicFramePr>
          <p:cNvPr id="59" name="Таблица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6555709"/>
              </p:ext>
            </p:extLst>
          </p:nvPr>
        </p:nvGraphicFramePr>
        <p:xfrm>
          <a:off x="1834085" y="3320657"/>
          <a:ext cx="1543047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30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/>
                        <a:t>Организация</a:t>
                      </a:r>
                      <a:endParaRPr lang="ru-RU" sz="12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0" name="Таблица 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5784670"/>
              </p:ext>
            </p:extLst>
          </p:nvPr>
        </p:nvGraphicFramePr>
        <p:xfrm>
          <a:off x="2796108" y="3320656"/>
          <a:ext cx="1357309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73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l"/>
                      <a:r>
                        <a:rPr lang="ru-RU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Подразделение</a:t>
                      </a:r>
                      <a:endParaRPr lang="ru-RU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1" name="Таблица 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3719179"/>
              </p:ext>
            </p:extLst>
          </p:nvPr>
        </p:nvGraphicFramePr>
        <p:xfrm>
          <a:off x="1834085" y="3892329"/>
          <a:ext cx="1543047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30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Юг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Юг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2" name="Таблица 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7397627"/>
              </p:ext>
            </p:extLst>
          </p:nvPr>
        </p:nvGraphicFramePr>
        <p:xfrm>
          <a:off x="2796108" y="3892328"/>
          <a:ext cx="1357309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73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Основное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Основное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5" name="Таблица 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8710370"/>
              </p:ext>
            </p:extLst>
          </p:nvPr>
        </p:nvGraphicFramePr>
        <p:xfrm>
          <a:off x="4153418" y="3324314"/>
          <a:ext cx="3433493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464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56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5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5694">
                  <a:extLst>
                    <a:ext uri="{9D8B030D-6E8A-4147-A177-3AD203B41FA5}">
                      <a16:colId xmlns:a16="http://schemas.microsoft.com/office/drawing/2014/main" val="360599816"/>
                    </a:ext>
                  </a:extLst>
                </a:gridCol>
              </a:tblGrid>
              <a:tr h="288000"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Сумма остаток</a:t>
                      </a:r>
                      <a:endParaRPr lang="ru-RU" sz="12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Обороты Сумма</a:t>
                      </a:r>
                      <a:endParaRPr lang="ru-RU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Дебет</a:t>
                      </a:r>
                      <a:endParaRPr lang="ru-RU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Кредит</a:t>
                      </a:r>
                      <a:endParaRPr lang="ru-RU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Оборот</a:t>
                      </a:r>
                      <a:endParaRPr lang="ru-RU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6" name="Таблица 6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5025515"/>
              </p:ext>
            </p:extLst>
          </p:nvPr>
        </p:nvGraphicFramePr>
        <p:xfrm>
          <a:off x="4153417" y="3896656"/>
          <a:ext cx="3433494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464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56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5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5694">
                  <a:extLst>
                    <a:ext uri="{9D8B030D-6E8A-4147-A177-3AD203B41FA5}">
                      <a16:colId xmlns:a16="http://schemas.microsoft.com/office/drawing/2014/main" val="421993278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dirty="0" smtClean="0"/>
                        <a:t>0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/>
                      <a:r>
                        <a:rPr lang="ru-RU" sz="1200" dirty="0" smtClean="0"/>
                        <a:t>300</a:t>
                      </a:r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345736"/>
                  </a:ext>
                </a:extLst>
              </a:tr>
            </a:tbl>
          </a:graphicData>
        </a:graphic>
      </p:graphicFrame>
      <p:sp>
        <p:nvSpPr>
          <p:cNvPr id="27" name="Rounded Rectangle 3"/>
          <p:cNvSpPr/>
          <p:nvPr/>
        </p:nvSpPr>
        <p:spPr>
          <a:xfrm>
            <a:off x="5193505" y="2338226"/>
            <a:ext cx="3686444" cy="721052"/>
          </a:xfrm>
          <a:prstGeom prst="roundRect">
            <a:avLst/>
          </a:prstGeom>
          <a:solidFill>
            <a:srgbClr val="C00000">
              <a:alpha val="10000"/>
            </a:srgbClr>
          </a:solidFill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Rounded Rectangle 3"/>
          <p:cNvSpPr/>
          <p:nvPr/>
        </p:nvSpPr>
        <p:spPr>
          <a:xfrm>
            <a:off x="4026942" y="3778186"/>
            <a:ext cx="3686444" cy="785579"/>
          </a:xfrm>
          <a:prstGeom prst="roundRect">
            <a:avLst/>
          </a:prstGeom>
          <a:solidFill>
            <a:srgbClr val="C00000">
              <a:alpha val="10000"/>
            </a:srgbClr>
          </a:solidFill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5859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00" tmFilter="0, 0; .2, .5; .8, .5; 1, 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500" autoRev="1" fill="hold"/>
                                        <p:tgtEl>
                                          <p:spTgt spid="2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26" presetClass="emph" presetSubtype="0" repeatCount="3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1000" tmFilter="0, 0; .2, .5; .8, .5; 1, 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500" autoRev="1" fill="hold"/>
                                        <p:tgtEl>
                                          <p:spTgt spid="2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000"/>
                            </p:stCondLst>
                            <p:childTnLst>
                              <p:par>
                                <p:cTn id="19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7" grpId="1" animBg="1"/>
      <p:bldP spid="27" grpId="2" animBg="1"/>
      <p:bldP spid="28" grpId="0" animBg="1"/>
      <p:bldP spid="28" grpId="1" animBg="1"/>
      <p:bldP spid="28" grpId="2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Пользовательские субконто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Сводные отчеты без существенной детализации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99842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96850" y="552450"/>
            <a:ext cx="8770938" cy="520498"/>
          </a:xfrm>
        </p:spPr>
        <p:txBody>
          <a:bodyPr/>
          <a:lstStyle/>
          <a:p>
            <a:r>
              <a:rPr lang="ru-RU" dirty="0" smtClean="0"/>
              <a:t>Субконто «Образование»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382" y="1351511"/>
            <a:ext cx="6257925" cy="421005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5703" y="2763549"/>
            <a:ext cx="4219575" cy="3076575"/>
          </a:xfrm>
          <a:prstGeom prst="rect">
            <a:avLst/>
          </a:prstGeom>
        </p:spPr>
      </p:pic>
      <p:sp>
        <p:nvSpPr>
          <p:cNvPr id="7" name="Выноска 2 6"/>
          <p:cNvSpPr/>
          <p:nvPr/>
        </p:nvSpPr>
        <p:spPr>
          <a:xfrm>
            <a:off x="1384067" y="1953491"/>
            <a:ext cx="2315097" cy="336796"/>
          </a:xfrm>
          <a:prstGeom prst="borderCallout2">
            <a:avLst>
              <a:gd name="adj1" fmla="val 47321"/>
              <a:gd name="adj2" fmla="val 100259"/>
              <a:gd name="adj3" fmla="val -66522"/>
              <a:gd name="adj4" fmla="val 202852"/>
              <a:gd name="adj5" fmla="val 366471"/>
              <a:gd name="adj6" fmla="val 255149"/>
            </a:avLst>
          </a:prstGeom>
          <a:noFill/>
          <a:ln>
            <a:solidFill>
              <a:srgbClr val="C00000"/>
            </a:solidFill>
            <a:prstDash val="solid"/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7848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6850" y="552450"/>
            <a:ext cx="8770938" cy="578081"/>
          </a:xfrm>
        </p:spPr>
        <p:txBody>
          <a:bodyPr/>
          <a:lstStyle/>
          <a:p>
            <a:r>
              <a:rPr lang="ru-RU" dirty="0" smtClean="0"/>
              <a:t>Добавление пользовательского субконто к счету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003" y="1565393"/>
            <a:ext cx="4987983" cy="4767087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238596" y="4862945"/>
            <a:ext cx="5170517" cy="290946"/>
          </a:xfrm>
          <a:prstGeom prst="roundRect">
            <a:avLst/>
          </a:prstGeom>
          <a:solidFill>
            <a:srgbClr val="C00000">
              <a:alpha val="10000"/>
            </a:srgbClr>
          </a:solidFill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8137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50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4" grpId="2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96850" y="552450"/>
            <a:ext cx="8770938" cy="578081"/>
          </a:xfrm>
        </p:spPr>
        <p:txBody>
          <a:bodyPr/>
          <a:lstStyle/>
          <a:p>
            <a:r>
              <a:rPr lang="ru-RU" dirty="0" smtClean="0"/>
              <a:t>Приведение к нужному типу</a:t>
            </a:r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756" y="1130531"/>
            <a:ext cx="7219950" cy="4800600"/>
          </a:xfrm>
          <a:prstGeom prst="rect">
            <a:avLst/>
          </a:prstGeom>
        </p:spPr>
      </p:pic>
      <p:sp>
        <p:nvSpPr>
          <p:cNvPr id="6" name="Выноска 2 5"/>
          <p:cNvSpPr/>
          <p:nvPr/>
        </p:nvSpPr>
        <p:spPr>
          <a:xfrm>
            <a:off x="1263534" y="4123113"/>
            <a:ext cx="4214553" cy="465513"/>
          </a:xfrm>
          <a:prstGeom prst="borderCallout2">
            <a:avLst>
              <a:gd name="adj1" fmla="val 47321"/>
              <a:gd name="adj2" fmla="val 100259"/>
              <a:gd name="adj3" fmla="val 111608"/>
              <a:gd name="adj4" fmla="val 107087"/>
              <a:gd name="adj5" fmla="val 137500"/>
              <a:gd name="adj6" fmla="val 95886"/>
            </a:avLst>
          </a:prstGeom>
          <a:noFill/>
          <a:ln>
            <a:solidFill>
              <a:srgbClr val="C00000"/>
            </a:solidFill>
            <a:prstDash val="solid"/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Выноска 2 6"/>
          <p:cNvSpPr/>
          <p:nvPr/>
        </p:nvSpPr>
        <p:spPr>
          <a:xfrm>
            <a:off x="1263533" y="4123113"/>
            <a:ext cx="4214553" cy="465513"/>
          </a:xfrm>
          <a:prstGeom prst="borderCallout2">
            <a:avLst>
              <a:gd name="adj1" fmla="val 47321"/>
              <a:gd name="adj2" fmla="val 100259"/>
              <a:gd name="adj3" fmla="val 106251"/>
              <a:gd name="adj4" fmla="val 119908"/>
              <a:gd name="adj5" fmla="val 203571"/>
              <a:gd name="adj6" fmla="val 96083"/>
            </a:avLst>
          </a:prstGeom>
          <a:noFill/>
          <a:ln>
            <a:solidFill>
              <a:srgbClr val="C00000"/>
            </a:solidFill>
            <a:prstDash val="solid"/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6287077" y="4123113"/>
            <a:ext cx="25270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solidFill>
                  <a:srgbClr val="C00000"/>
                </a:solidFill>
              </a:rPr>
              <a:t>Приведение полей составного типа к нужному типу</a:t>
            </a:r>
            <a:endParaRPr lang="ru-RU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9628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96850" y="552450"/>
            <a:ext cx="8770938" cy="578081"/>
          </a:xfrm>
        </p:spPr>
        <p:txBody>
          <a:bodyPr/>
          <a:lstStyle/>
          <a:p>
            <a:r>
              <a:rPr lang="ru-RU" dirty="0" smtClean="0"/>
              <a:t>Настройка фильтров при выборе значения</a:t>
            </a:r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756" y="1502006"/>
            <a:ext cx="7219950" cy="480060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0889" y="1676054"/>
            <a:ext cx="4219575" cy="2438400"/>
          </a:xfrm>
          <a:prstGeom prst="rect">
            <a:avLst/>
          </a:prstGeom>
        </p:spPr>
      </p:pic>
      <p:sp>
        <p:nvSpPr>
          <p:cNvPr id="6" name="Выноска 2 5"/>
          <p:cNvSpPr/>
          <p:nvPr/>
        </p:nvSpPr>
        <p:spPr>
          <a:xfrm>
            <a:off x="1330036" y="4846320"/>
            <a:ext cx="4214553" cy="465513"/>
          </a:xfrm>
          <a:prstGeom prst="borderCallout2">
            <a:avLst>
              <a:gd name="adj1" fmla="val -893"/>
              <a:gd name="adj2" fmla="val 95328"/>
              <a:gd name="adj3" fmla="val -66964"/>
              <a:gd name="adj4" fmla="val 113005"/>
              <a:gd name="adj5" fmla="val -217857"/>
              <a:gd name="adj6" fmla="val 122119"/>
            </a:avLst>
          </a:prstGeom>
          <a:noFill/>
          <a:ln>
            <a:solidFill>
              <a:srgbClr val="C00000"/>
            </a:solidFill>
            <a:prstDash val="solid"/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8094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6850" y="552450"/>
            <a:ext cx="8770938" cy="695862"/>
          </a:xfrm>
        </p:spPr>
        <p:txBody>
          <a:bodyPr/>
          <a:lstStyle/>
          <a:p>
            <a:r>
              <a:rPr lang="ru-RU" dirty="0" smtClean="0"/>
              <a:t>Параметры выбора</a:t>
            </a: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214" y="1163782"/>
            <a:ext cx="4269105" cy="442341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2319" y="1248312"/>
            <a:ext cx="4207820" cy="457174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295" y="3734232"/>
            <a:ext cx="3381375" cy="2714625"/>
          </a:xfrm>
          <a:prstGeom prst="rect">
            <a:avLst/>
          </a:prstGeom>
        </p:spPr>
      </p:pic>
      <p:sp>
        <p:nvSpPr>
          <p:cNvPr id="9" name="Выноска 2 8"/>
          <p:cNvSpPr/>
          <p:nvPr/>
        </p:nvSpPr>
        <p:spPr>
          <a:xfrm>
            <a:off x="4582319" y="4451985"/>
            <a:ext cx="4279048" cy="280978"/>
          </a:xfrm>
          <a:prstGeom prst="borderCallout2">
            <a:avLst>
              <a:gd name="adj1" fmla="val 97321"/>
              <a:gd name="adj2" fmla="val 44138"/>
              <a:gd name="adj3" fmla="val 516733"/>
              <a:gd name="adj4" fmla="val 24059"/>
              <a:gd name="adj5" fmla="val 414132"/>
              <a:gd name="adj6" fmla="val -24102"/>
            </a:avLst>
          </a:prstGeom>
          <a:noFill/>
          <a:ln>
            <a:solidFill>
              <a:srgbClr val="C00000"/>
            </a:solidFill>
            <a:prstDash val="solid"/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000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 idx="4294967295"/>
          </p:nvPr>
        </p:nvSpPr>
        <p:spPr>
          <a:xfrm>
            <a:off x="365125" y="569913"/>
            <a:ext cx="8778875" cy="857250"/>
          </a:xfrm>
        </p:spPr>
        <p:txBody>
          <a:bodyPr/>
          <a:lstStyle/>
          <a:p>
            <a:r>
              <a:rPr lang="ru-RU" sz="2800" dirty="0" smtClean="0"/>
              <a:t>Отчет «Анализ движения денежных средств»</a:t>
            </a:r>
            <a:endParaRPr lang="ru-RU" sz="28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709" y="1511098"/>
            <a:ext cx="6219825" cy="460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628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СофтБаланс">
  <a:themeElements>
    <a:clrScheme name="Главная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СофтБаланс" id="{E28DB206-F0E9-4087-AA1C-9CD0FACF118C}" vid="{B6255B0A-2715-4781-AD83-3C8532471FFD}"/>
    </a:ext>
  </a:extLst>
</a:theme>
</file>

<file path=ppt/theme/theme2.xml><?xml version="1.0" encoding="utf-8"?>
<a:theme xmlns:a="http://schemas.openxmlformats.org/drawingml/2006/main" name="СофтБаланс_БухгалтерскийУчет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СофтБаланс_БухгалтерскийУчет" id="{7F72F8D9-2713-4673-8BBB-8953CDFC47FD}" vid="{7D13FDD6-802B-4F23-A255-BEF0D1C062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959</TotalTime>
  <Words>1594</Words>
  <Application>Microsoft Office PowerPoint</Application>
  <PresentationFormat>Экран (4:3)</PresentationFormat>
  <Paragraphs>776</Paragraphs>
  <Slides>32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32</vt:i4>
      </vt:variant>
    </vt:vector>
  </HeadingPairs>
  <TitlesOfParts>
    <vt:vector size="40" baseType="lpstr">
      <vt:lpstr>Arial</vt:lpstr>
      <vt:lpstr>Arial Black</vt:lpstr>
      <vt:lpstr>Calibri</vt:lpstr>
      <vt:lpstr>Tahoma</vt:lpstr>
      <vt:lpstr>Verdana</vt:lpstr>
      <vt:lpstr>Wingdings</vt:lpstr>
      <vt:lpstr>1_СофтБаланс</vt:lpstr>
      <vt:lpstr>СофтБаланс_БухгалтерскийУчет</vt:lpstr>
      <vt:lpstr>Занятие 15</vt:lpstr>
      <vt:lpstr>валютный учет</vt:lpstr>
      <vt:lpstr>Валютный учет</vt:lpstr>
      <vt:lpstr>Признак учета</vt:lpstr>
      <vt:lpstr>Специальный реквизит типа булево</vt:lpstr>
      <vt:lpstr>Настройка в регистре бухгалтерии</vt:lpstr>
      <vt:lpstr>Таблица движений по счетам до изменения.</vt:lpstr>
      <vt:lpstr>Таблица движений по счетам после изменений</vt:lpstr>
      <vt:lpstr>Таблица остатков и оборотов по счетам до изменения.</vt:lpstr>
      <vt:lpstr>Таблица остатков и оборотов по счетам после изменения</vt:lpstr>
      <vt:lpstr>Таблица оборотов между счетами до изменения</vt:lpstr>
      <vt:lpstr>Таблица оборотов между счетами после изменения</vt:lpstr>
      <vt:lpstr>Отчет «Курсовые разницы»</vt:lpstr>
      <vt:lpstr>Трехвалютный учет</vt:lpstr>
      <vt:lpstr>Вступительный баланс</vt:lpstr>
      <vt:lpstr>Операции за период</vt:lpstr>
      <vt:lpstr>Баланс после окончания периода</vt:lpstr>
      <vt:lpstr>Баланс после окончания периода</vt:lpstr>
      <vt:lpstr>Оценка фактов сразу в двух валютах по курсу на дату операции</vt:lpstr>
      <vt:lpstr>Произвольный признак учета субконто</vt:lpstr>
      <vt:lpstr>Таблица остатков и оборотов по счетам для счетов с двумя субконто до отключения</vt:lpstr>
      <vt:lpstr>Таблица остатков и оборотов по счетам для счетов с двумя субконто после отключения</vt:lpstr>
      <vt:lpstr>Признак учета субконто «Только обороты»</vt:lpstr>
      <vt:lpstr>Таблица остатков и оборотов по счетам Добавили субконто «ДДС» к счету 50 </vt:lpstr>
      <vt:lpstr>Таблица остатков и оборотов по счетам Включили признак только обороты</vt:lpstr>
      <vt:lpstr>Пользовательские субконто</vt:lpstr>
      <vt:lpstr>Субконто «Образование»</vt:lpstr>
      <vt:lpstr>Добавление пользовательского субконто к счету</vt:lpstr>
      <vt:lpstr>Приведение к нужному типу</vt:lpstr>
      <vt:lpstr>Настройка фильтров при выборе значения</vt:lpstr>
      <vt:lpstr>Параметры выбора</vt:lpstr>
      <vt:lpstr>Отчет «Анализ движения денежных средств»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Занятие 5</dc:title>
  <dc:creator>eugeniy sizov</dc:creator>
  <cp:lastModifiedBy>eugeniy sizov</cp:lastModifiedBy>
  <cp:revision>37</cp:revision>
  <dcterms:created xsi:type="dcterms:W3CDTF">2016-03-14T11:54:56Z</dcterms:created>
  <dcterms:modified xsi:type="dcterms:W3CDTF">2019-04-23T11:01:34Z</dcterms:modified>
</cp:coreProperties>
</file>