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8445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009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14069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7309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3868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9878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B141-D71D-49CD-8DBB-CC73789E8CC8}" type="datetimeFigureOut">
              <a:rPr lang="ru-RU" smtClean="0"/>
              <a:t>27.04.2018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086B-B63E-494D-AE88-480471E32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919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B141-D71D-49CD-8DBB-CC73789E8CC8}" type="datetimeFigureOut">
              <a:rPr lang="ru-RU" smtClean="0"/>
              <a:t>27.04.2018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086B-B63E-494D-AE88-480471E321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804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1" y="6310313"/>
            <a:ext cx="855663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/6</a:t>
            </a: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Расчётные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13743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Получение данных графика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083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Механизмы платформы позволяют собрать данные графика, приходящиеся на четыре периода каждой записи регистра расчета:</a:t>
            </a:r>
          </a:p>
          <a:p>
            <a:pPr lvl="1"/>
            <a:r>
              <a:rPr lang="ru-RU" dirty="0" smtClean="0"/>
              <a:t>Период регистрации</a:t>
            </a:r>
          </a:p>
          <a:p>
            <a:pPr lvl="1"/>
            <a:r>
              <a:rPr lang="ru-RU" dirty="0" smtClean="0"/>
              <a:t>Период действия</a:t>
            </a:r>
          </a:p>
          <a:p>
            <a:pPr lvl="1"/>
            <a:r>
              <a:rPr lang="ru-RU" dirty="0" smtClean="0"/>
              <a:t>Базовый период</a:t>
            </a:r>
          </a:p>
          <a:p>
            <a:pPr lvl="1"/>
            <a:r>
              <a:rPr lang="ru-RU" dirty="0" smtClean="0"/>
              <a:t>Фактический период действия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Периоды сбора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359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978443"/>
              </p:ext>
            </p:extLst>
          </p:nvPr>
        </p:nvGraphicFramePr>
        <p:xfrm>
          <a:off x="6057901" y="571487"/>
          <a:ext cx="2868168" cy="5727573"/>
        </p:xfrm>
        <a:graphic>
          <a:graphicData uri="http://schemas.openxmlformats.org/drawingml/2006/table">
            <a:tbl>
              <a:tblPr/>
              <a:tblGrid>
                <a:gridCol w="830670">
                  <a:extLst>
                    <a:ext uri="{9D8B030D-6E8A-4147-A177-3AD203B41FA5}">
                      <a16:colId xmlns:a16="http://schemas.microsoft.com/office/drawing/2014/main" val="1083291636"/>
                    </a:ext>
                  </a:extLst>
                </a:gridCol>
                <a:gridCol w="865103">
                  <a:extLst>
                    <a:ext uri="{9D8B030D-6E8A-4147-A177-3AD203B41FA5}">
                      <a16:colId xmlns:a16="http://schemas.microsoft.com/office/drawing/2014/main" val="118996540"/>
                    </a:ext>
                  </a:extLst>
                </a:gridCol>
                <a:gridCol w="542601">
                  <a:extLst>
                    <a:ext uri="{9D8B030D-6E8A-4147-A177-3AD203B41FA5}">
                      <a16:colId xmlns:a16="http://schemas.microsoft.com/office/drawing/2014/main" val="2512718883"/>
                    </a:ext>
                  </a:extLst>
                </a:gridCol>
                <a:gridCol w="538464">
                  <a:extLst>
                    <a:ext uri="{9D8B030D-6E8A-4147-A177-3AD203B41FA5}">
                      <a16:colId xmlns:a16="http://schemas.microsoft.com/office/drawing/2014/main" val="1843715857"/>
                    </a:ext>
                  </a:extLst>
                </a:gridCol>
                <a:gridCol w="91330">
                  <a:extLst>
                    <a:ext uri="{9D8B030D-6E8A-4147-A177-3AD203B41FA5}">
                      <a16:colId xmlns:a16="http://schemas.microsoft.com/office/drawing/2014/main" val="2244018632"/>
                    </a:ext>
                  </a:extLst>
                </a:gridCol>
              </a:tblGrid>
              <a:tr h="146445"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32965" marR="32965" marT="16482" marB="16482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38694049"/>
                  </a:ext>
                </a:extLst>
              </a:tr>
              <a:tr h="282864"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Дата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График работы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Значение дни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Значение часы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57013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83990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02.01.2018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575347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03.01.2018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9062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04.01.2018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6811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05.01.2018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588098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06.01.2018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41925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07.01.2018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4786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08.01.2018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463495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09.01.2018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71584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10.01.2018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647418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136573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12.01.2018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476073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13.01.2018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984555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14.01.2018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40751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15.01.2018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461876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16.01.2018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2658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17.01.2018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943395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18.01.2018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53016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19.01.2018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69644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20.01.2018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29329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38991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22.01.2018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861498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23.01.2018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39706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24.01.2018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37406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25.01.2018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74671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26.01.2018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24864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27.01.2018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44151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28.01.2018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59989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29.01.2018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1765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30.01.2018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4916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31.01.2018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661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240476"/>
              </p:ext>
            </p:extLst>
          </p:nvPr>
        </p:nvGraphicFramePr>
        <p:xfrm>
          <a:off x="161925" y="739576"/>
          <a:ext cx="5829300" cy="584400"/>
        </p:xfrm>
        <a:graphic>
          <a:graphicData uri="http://schemas.openxmlformats.org/drawingml/2006/table">
            <a:tbl>
              <a:tblPr/>
              <a:tblGrid>
                <a:gridCol w="542925">
                  <a:extLst>
                    <a:ext uri="{9D8B030D-6E8A-4147-A177-3AD203B41FA5}">
                      <a16:colId xmlns:a16="http://schemas.microsoft.com/office/drawing/2014/main" val="319485541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346334508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295122754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92137286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4278177501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363960787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17128221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4125563088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628802606"/>
                    </a:ext>
                  </a:extLst>
                </a:gridCol>
              </a:tblGrid>
              <a:tr h="29746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 smtClean="0">
                          <a:effectLst/>
                          <a:latin typeface="Arial" panose="020B0604020202020204" pitchFamily="34" charset="0"/>
                        </a:rPr>
                        <a:t>ПД</a:t>
                      </a:r>
                      <a:endParaRPr lang="ru-RU" sz="7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 smtClean="0">
                          <a:effectLst/>
                          <a:latin typeface="Arial" panose="020B0604020202020204" pitchFamily="34" charset="0"/>
                        </a:rPr>
                        <a:t>ПР</a:t>
                      </a:r>
                      <a:endParaRPr lang="ru-RU" sz="7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624015"/>
                  </a:ext>
                </a:extLst>
              </a:tr>
              <a:tr h="286939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15.01.2018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31.01.2018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328945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455829"/>
              </p:ext>
            </p:extLst>
          </p:nvPr>
        </p:nvGraphicFramePr>
        <p:xfrm>
          <a:off x="161925" y="2080419"/>
          <a:ext cx="1821180" cy="602840"/>
        </p:xfrm>
        <a:graphic>
          <a:graphicData uri="http://schemas.openxmlformats.org/drawingml/2006/table">
            <a:tbl>
              <a:tblPr/>
              <a:tblGrid>
                <a:gridCol w="955843">
                  <a:extLst>
                    <a:ext uri="{9D8B030D-6E8A-4147-A177-3AD203B41FA5}">
                      <a16:colId xmlns:a16="http://schemas.microsoft.com/office/drawing/2014/main" val="4145032905"/>
                    </a:ext>
                  </a:extLst>
                </a:gridCol>
                <a:gridCol w="865337">
                  <a:extLst>
                    <a:ext uri="{9D8B030D-6E8A-4147-A177-3AD203B41FA5}">
                      <a16:colId xmlns:a16="http://schemas.microsoft.com/office/drawing/2014/main" val="2818602966"/>
                    </a:ext>
                  </a:extLst>
                </a:gridCol>
              </a:tblGrid>
              <a:tr h="23774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b="1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 b="1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81072"/>
                  </a:ext>
                </a:extLst>
              </a:tr>
              <a:tr h="34884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  <a:endParaRPr lang="ru-RU" sz="1000" dirty="0">
                        <a:solidFill>
                          <a:srgbClr val="7F7F7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21.01.2018</a:t>
                      </a:r>
                      <a:endParaRPr lang="ru-RU" sz="1000" dirty="0">
                        <a:solidFill>
                          <a:srgbClr val="7F7F7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189039"/>
                  </a:ext>
                </a:extLst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5296135" y="951337"/>
            <a:ext cx="672413" cy="372639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6035224" y="989144"/>
            <a:ext cx="2795625" cy="5309916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61925" y="3645074"/>
            <a:ext cx="5274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 интервал периода регистрации приходится:</a:t>
            </a:r>
          </a:p>
          <a:p>
            <a:r>
              <a:rPr lang="ru-RU" dirty="0" smtClean="0"/>
              <a:t>Дней – </a:t>
            </a:r>
            <a:r>
              <a:rPr lang="ru-RU" b="1" dirty="0" smtClean="0"/>
              <a:t>23</a:t>
            </a:r>
          </a:p>
          <a:p>
            <a:r>
              <a:rPr lang="ru-RU" dirty="0" smtClean="0"/>
              <a:t>Часов - </a:t>
            </a:r>
            <a:r>
              <a:rPr lang="ru-RU" b="1" dirty="0" smtClean="0"/>
              <a:t>184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09691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6057901" y="571487"/>
          <a:ext cx="2868168" cy="5727573"/>
        </p:xfrm>
        <a:graphic>
          <a:graphicData uri="http://schemas.openxmlformats.org/drawingml/2006/table">
            <a:tbl>
              <a:tblPr/>
              <a:tblGrid>
                <a:gridCol w="830670">
                  <a:extLst>
                    <a:ext uri="{9D8B030D-6E8A-4147-A177-3AD203B41FA5}">
                      <a16:colId xmlns:a16="http://schemas.microsoft.com/office/drawing/2014/main" val="1083291636"/>
                    </a:ext>
                  </a:extLst>
                </a:gridCol>
                <a:gridCol w="865103">
                  <a:extLst>
                    <a:ext uri="{9D8B030D-6E8A-4147-A177-3AD203B41FA5}">
                      <a16:colId xmlns:a16="http://schemas.microsoft.com/office/drawing/2014/main" val="118996540"/>
                    </a:ext>
                  </a:extLst>
                </a:gridCol>
                <a:gridCol w="542601">
                  <a:extLst>
                    <a:ext uri="{9D8B030D-6E8A-4147-A177-3AD203B41FA5}">
                      <a16:colId xmlns:a16="http://schemas.microsoft.com/office/drawing/2014/main" val="2512718883"/>
                    </a:ext>
                  </a:extLst>
                </a:gridCol>
                <a:gridCol w="538464">
                  <a:extLst>
                    <a:ext uri="{9D8B030D-6E8A-4147-A177-3AD203B41FA5}">
                      <a16:colId xmlns:a16="http://schemas.microsoft.com/office/drawing/2014/main" val="1843715857"/>
                    </a:ext>
                  </a:extLst>
                </a:gridCol>
                <a:gridCol w="91330">
                  <a:extLst>
                    <a:ext uri="{9D8B030D-6E8A-4147-A177-3AD203B41FA5}">
                      <a16:colId xmlns:a16="http://schemas.microsoft.com/office/drawing/2014/main" val="2244018632"/>
                    </a:ext>
                  </a:extLst>
                </a:gridCol>
              </a:tblGrid>
              <a:tr h="146445"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32965" marR="32965" marT="16482" marB="16482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38694049"/>
                  </a:ext>
                </a:extLst>
              </a:tr>
              <a:tr h="282864"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Дата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График работы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Значение дни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Значение часы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57013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83990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02.01.2018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575347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03.01.2018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9062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04.01.2018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6811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05.01.2018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588098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06.01.2018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41925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07.01.2018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4786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08.01.2018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463495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09.01.2018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71584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10.01.2018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647418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136573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12.01.2018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476073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13.01.2018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984555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14.01.2018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40751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15.01.2018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461876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16.01.2018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2658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17.01.2018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943395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18.01.2018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53016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19.01.2018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69644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20.01.2018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29329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38991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22.01.2018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861498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23.01.2018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39706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24.01.2018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37406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25.01.2018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74671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26.01.2018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24864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27.01.2018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44151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28.01.2018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59989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29.01.2018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1765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30.01.2018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4916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31.01.2018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661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61925" y="739576"/>
          <a:ext cx="5829300" cy="584400"/>
        </p:xfrm>
        <a:graphic>
          <a:graphicData uri="http://schemas.openxmlformats.org/drawingml/2006/table">
            <a:tbl>
              <a:tblPr/>
              <a:tblGrid>
                <a:gridCol w="542925">
                  <a:extLst>
                    <a:ext uri="{9D8B030D-6E8A-4147-A177-3AD203B41FA5}">
                      <a16:colId xmlns:a16="http://schemas.microsoft.com/office/drawing/2014/main" val="319485541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346334508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295122754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92137286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4278177501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363960787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17128221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4125563088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628802606"/>
                    </a:ext>
                  </a:extLst>
                </a:gridCol>
              </a:tblGrid>
              <a:tr h="29746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 smtClean="0">
                          <a:effectLst/>
                          <a:latin typeface="Arial" panose="020B0604020202020204" pitchFamily="34" charset="0"/>
                        </a:rPr>
                        <a:t>ПД</a:t>
                      </a:r>
                      <a:endParaRPr lang="ru-RU" sz="7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 smtClean="0">
                          <a:effectLst/>
                          <a:latin typeface="Arial" panose="020B0604020202020204" pitchFamily="34" charset="0"/>
                        </a:rPr>
                        <a:t>ПР</a:t>
                      </a:r>
                      <a:endParaRPr lang="ru-RU" sz="7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624015"/>
                  </a:ext>
                </a:extLst>
              </a:tr>
              <a:tr h="286939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15.01.2018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31.01.2018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328945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1925" y="2080419"/>
          <a:ext cx="1821180" cy="602840"/>
        </p:xfrm>
        <a:graphic>
          <a:graphicData uri="http://schemas.openxmlformats.org/drawingml/2006/table">
            <a:tbl>
              <a:tblPr/>
              <a:tblGrid>
                <a:gridCol w="955843">
                  <a:extLst>
                    <a:ext uri="{9D8B030D-6E8A-4147-A177-3AD203B41FA5}">
                      <a16:colId xmlns:a16="http://schemas.microsoft.com/office/drawing/2014/main" val="4145032905"/>
                    </a:ext>
                  </a:extLst>
                </a:gridCol>
                <a:gridCol w="865337">
                  <a:extLst>
                    <a:ext uri="{9D8B030D-6E8A-4147-A177-3AD203B41FA5}">
                      <a16:colId xmlns:a16="http://schemas.microsoft.com/office/drawing/2014/main" val="2818602966"/>
                    </a:ext>
                  </a:extLst>
                </a:gridCol>
              </a:tblGrid>
              <a:tr h="23774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b="1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 b="1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81072"/>
                  </a:ext>
                </a:extLst>
              </a:tr>
              <a:tr h="34884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  <a:endParaRPr lang="ru-RU" sz="1000" dirty="0">
                        <a:solidFill>
                          <a:srgbClr val="7F7F7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21.01.2018</a:t>
                      </a:r>
                      <a:endParaRPr lang="ru-RU" sz="1000" dirty="0">
                        <a:solidFill>
                          <a:srgbClr val="7F7F7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189039"/>
                  </a:ext>
                </a:extLst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1983105" y="951337"/>
            <a:ext cx="672413" cy="372639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6035224" y="989144"/>
            <a:ext cx="2795625" cy="5309916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61925" y="3645074"/>
            <a:ext cx="5274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 интервал периода действия приходится:</a:t>
            </a:r>
          </a:p>
          <a:p>
            <a:r>
              <a:rPr lang="ru-RU" dirty="0" smtClean="0"/>
              <a:t>Дней – </a:t>
            </a:r>
            <a:r>
              <a:rPr lang="ru-RU" b="1" dirty="0" smtClean="0"/>
              <a:t>23</a:t>
            </a:r>
          </a:p>
          <a:p>
            <a:r>
              <a:rPr lang="ru-RU" dirty="0" smtClean="0"/>
              <a:t>Часов - </a:t>
            </a:r>
            <a:r>
              <a:rPr lang="ru-RU" b="1" dirty="0" smtClean="0"/>
              <a:t>184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74972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6057901" y="571487"/>
          <a:ext cx="2868168" cy="5727573"/>
        </p:xfrm>
        <a:graphic>
          <a:graphicData uri="http://schemas.openxmlformats.org/drawingml/2006/table">
            <a:tbl>
              <a:tblPr/>
              <a:tblGrid>
                <a:gridCol w="830670">
                  <a:extLst>
                    <a:ext uri="{9D8B030D-6E8A-4147-A177-3AD203B41FA5}">
                      <a16:colId xmlns:a16="http://schemas.microsoft.com/office/drawing/2014/main" val="1083291636"/>
                    </a:ext>
                  </a:extLst>
                </a:gridCol>
                <a:gridCol w="865103">
                  <a:extLst>
                    <a:ext uri="{9D8B030D-6E8A-4147-A177-3AD203B41FA5}">
                      <a16:colId xmlns:a16="http://schemas.microsoft.com/office/drawing/2014/main" val="118996540"/>
                    </a:ext>
                  </a:extLst>
                </a:gridCol>
                <a:gridCol w="542601">
                  <a:extLst>
                    <a:ext uri="{9D8B030D-6E8A-4147-A177-3AD203B41FA5}">
                      <a16:colId xmlns:a16="http://schemas.microsoft.com/office/drawing/2014/main" val="2512718883"/>
                    </a:ext>
                  </a:extLst>
                </a:gridCol>
                <a:gridCol w="538464">
                  <a:extLst>
                    <a:ext uri="{9D8B030D-6E8A-4147-A177-3AD203B41FA5}">
                      <a16:colId xmlns:a16="http://schemas.microsoft.com/office/drawing/2014/main" val="1843715857"/>
                    </a:ext>
                  </a:extLst>
                </a:gridCol>
                <a:gridCol w="91330">
                  <a:extLst>
                    <a:ext uri="{9D8B030D-6E8A-4147-A177-3AD203B41FA5}">
                      <a16:colId xmlns:a16="http://schemas.microsoft.com/office/drawing/2014/main" val="2244018632"/>
                    </a:ext>
                  </a:extLst>
                </a:gridCol>
              </a:tblGrid>
              <a:tr h="146445"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32965" marR="32965" marT="16482" marB="16482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38694049"/>
                  </a:ext>
                </a:extLst>
              </a:tr>
              <a:tr h="282864"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Дата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График работы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Значение дни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Значение часы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57013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83990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02.01.2018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575347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03.01.2018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9062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04.01.2018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6811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05.01.2018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588098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06.01.2018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41925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07.01.2018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4786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08.01.2018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463495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09.01.2018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71584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10.01.2018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647418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136573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12.01.2018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476073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13.01.2018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984555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14.01.2018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40751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15.01.2018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461876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16.01.2018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2658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17.01.2018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943395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18.01.2018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53016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19.01.2018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69644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20.01.2018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29329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38991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22.01.2018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861498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23.01.2018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39706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24.01.2018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37406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25.01.2018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74671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26.01.2018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24864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27.01.2018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44151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28.01.2018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59989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29.01.2018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1765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30.01.2018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4916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31.01.2018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661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61925" y="739576"/>
          <a:ext cx="5829300" cy="584400"/>
        </p:xfrm>
        <a:graphic>
          <a:graphicData uri="http://schemas.openxmlformats.org/drawingml/2006/table">
            <a:tbl>
              <a:tblPr/>
              <a:tblGrid>
                <a:gridCol w="542925">
                  <a:extLst>
                    <a:ext uri="{9D8B030D-6E8A-4147-A177-3AD203B41FA5}">
                      <a16:colId xmlns:a16="http://schemas.microsoft.com/office/drawing/2014/main" val="319485541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346334508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295122754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92137286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4278177501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363960787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17128221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4125563088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628802606"/>
                    </a:ext>
                  </a:extLst>
                </a:gridCol>
              </a:tblGrid>
              <a:tr h="29746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 smtClean="0">
                          <a:effectLst/>
                          <a:latin typeface="Arial" panose="020B0604020202020204" pitchFamily="34" charset="0"/>
                        </a:rPr>
                        <a:t>ПД</a:t>
                      </a:r>
                      <a:endParaRPr lang="ru-RU" sz="7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 smtClean="0">
                          <a:effectLst/>
                          <a:latin typeface="Arial" panose="020B0604020202020204" pitchFamily="34" charset="0"/>
                        </a:rPr>
                        <a:t>ПР</a:t>
                      </a:r>
                      <a:endParaRPr lang="ru-RU" sz="7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624015"/>
                  </a:ext>
                </a:extLst>
              </a:tr>
              <a:tr h="286939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15.01.2018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31.01.2018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328945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1925" y="2080419"/>
          <a:ext cx="1821180" cy="602840"/>
        </p:xfrm>
        <a:graphic>
          <a:graphicData uri="http://schemas.openxmlformats.org/drawingml/2006/table">
            <a:tbl>
              <a:tblPr/>
              <a:tblGrid>
                <a:gridCol w="955843">
                  <a:extLst>
                    <a:ext uri="{9D8B030D-6E8A-4147-A177-3AD203B41FA5}">
                      <a16:colId xmlns:a16="http://schemas.microsoft.com/office/drawing/2014/main" val="4145032905"/>
                    </a:ext>
                  </a:extLst>
                </a:gridCol>
                <a:gridCol w="865337">
                  <a:extLst>
                    <a:ext uri="{9D8B030D-6E8A-4147-A177-3AD203B41FA5}">
                      <a16:colId xmlns:a16="http://schemas.microsoft.com/office/drawing/2014/main" val="2818602966"/>
                    </a:ext>
                  </a:extLst>
                </a:gridCol>
              </a:tblGrid>
              <a:tr h="23774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b="1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 b="1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81072"/>
                  </a:ext>
                </a:extLst>
              </a:tr>
              <a:tr h="34884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  <a:endParaRPr lang="ru-RU" sz="1000" dirty="0">
                        <a:solidFill>
                          <a:srgbClr val="7F7F7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21.01.2018</a:t>
                      </a:r>
                      <a:endParaRPr lang="ru-RU" sz="1000" dirty="0">
                        <a:solidFill>
                          <a:srgbClr val="7F7F7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189039"/>
                  </a:ext>
                </a:extLst>
              </a:tr>
            </a:tbl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3920647" y="951337"/>
            <a:ext cx="1352811" cy="372639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6035224" y="3382026"/>
            <a:ext cx="2795625" cy="2917033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61925" y="3645074"/>
            <a:ext cx="5274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 интервал базовый периода приходится:</a:t>
            </a:r>
          </a:p>
          <a:p>
            <a:r>
              <a:rPr lang="ru-RU" dirty="0" smtClean="0"/>
              <a:t>Дней – </a:t>
            </a:r>
            <a:r>
              <a:rPr lang="ru-RU" b="1" dirty="0"/>
              <a:t>1</a:t>
            </a:r>
            <a:r>
              <a:rPr lang="ru-RU" b="1" dirty="0" smtClean="0"/>
              <a:t>3</a:t>
            </a:r>
          </a:p>
          <a:p>
            <a:r>
              <a:rPr lang="ru-RU" dirty="0" smtClean="0"/>
              <a:t>Часов - </a:t>
            </a:r>
            <a:r>
              <a:rPr lang="ru-RU" b="1" dirty="0" smtClean="0"/>
              <a:t>104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60502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6057901" y="571487"/>
          <a:ext cx="2868168" cy="5727573"/>
        </p:xfrm>
        <a:graphic>
          <a:graphicData uri="http://schemas.openxmlformats.org/drawingml/2006/table">
            <a:tbl>
              <a:tblPr/>
              <a:tblGrid>
                <a:gridCol w="830670">
                  <a:extLst>
                    <a:ext uri="{9D8B030D-6E8A-4147-A177-3AD203B41FA5}">
                      <a16:colId xmlns:a16="http://schemas.microsoft.com/office/drawing/2014/main" val="1083291636"/>
                    </a:ext>
                  </a:extLst>
                </a:gridCol>
                <a:gridCol w="865103">
                  <a:extLst>
                    <a:ext uri="{9D8B030D-6E8A-4147-A177-3AD203B41FA5}">
                      <a16:colId xmlns:a16="http://schemas.microsoft.com/office/drawing/2014/main" val="118996540"/>
                    </a:ext>
                  </a:extLst>
                </a:gridCol>
                <a:gridCol w="542601">
                  <a:extLst>
                    <a:ext uri="{9D8B030D-6E8A-4147-A177-3AD203B41FA5}">
                      <a16:colId xmlns:a16="http://schemas.microsoft.com/office/drawing/2014/main" val="2512718883"/>
                    </a:ext>
                  </a:extLst>
                </a:gridCol>
                <a:gridCol w="538464">
                  <a:extLst>
                    <a:ext uri="{9D8B030D-6E8A-4147-A177-3AD203B41FA5}">
                      <a16:colId xmlns:a16="http://schemas.microsoft.com/office/drawing/2014/main" val="1843715857"/>
                    </a:ext>
                  </a:extLst>
                </a:gridCol>
                <a:gridCol w="91330">
                  <a:extLst>
                    <a:ext uri="{9D8B030D-6E8A-4147-A177-3AD203B41FA5}">
                      <a16:colId xmlns:a16="http://schemas.microsoft.com/office/drawing/2014/main" val="2244018632"/>
                    </a:ext>
                  </a:extLst>
                </a:gridCol>
              </a:tblGrid>
              <a:tr h="146445"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6868" marR="32965" marT="16482" marB="1648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 marL="32965" marR="32965" marT="16482" marB="16482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38694049"/>
                  </a:ext>
                </a:extLst>
              </a:tr>
              <a:tr h="282864"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Дата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График работы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Значение дни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9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Значение часы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57013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83990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02.01.2018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575347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03.01.2018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9062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04.01.2018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6811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05.01.2018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588098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06.01.2018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41925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07.01.2018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4786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08.01.2018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463495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09.01.2018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71584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10.01.2018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647418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136573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12.01.2018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476073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13.01.2018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984555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14.01.2018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40751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15.01.2018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461876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16.01.2018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2658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17.01.2018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943395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18.01.2018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53016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19.01.2018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696442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20.01.2018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29329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38991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22.01.2018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861498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23.01.2018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39706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24.01.2018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37406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25.01.2018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74671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26.01.2018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24864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27.01.2018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44151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28.01.2018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599899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29.01.2018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17651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30.01.2018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49160"/>
                  </a:ext>
                </a:extLst>
              </a:tr>
              <a:tr h="158275"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31.01.2018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Пятидневка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>
                          <a:solidFill>
                            <a:srgbClr val="333333"/>
                          </a:solidFill>
                          <a:effectLst/>
                        </a:rPr>
                        <a:t>1,00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900" dirty="0">
                          <a:solidFill>
                            <a:srgbClr val="333333"/>
                          </a:solidFill>
                          <a:effectLst/>
                        </a:rPr>
                        <a:t>8,00</a:t>
                      </a:r>
                    </a:p>
                  </a:txBody>
                  <a:tcPr marL="6868" marR="32965" marT="16482" marB="16482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6868" marR="32965" marT="16482" marB="16482" anchor="b">
                    <a:lnL w="9525" cap="flat" cmpd="sng" algn="ctr">
                      <a:solidFill>
                        <a:srgbClr val="A0A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661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61925" y="739576"/>
          <a:ext cx="5829300" cy="584400"/>
        </p:xfrm>
        <a:graphic>
          <a:graphicData uri="http://schemas.openxmlformats.org/drawingml/2006/table">
            <a:tbl>
              <a:tblPr/>
              <a:tblGrid>
                <a:gridCol w="542925">
                  <a:extLst>
                    <a:ext uri="{9D8B030D-6E8A-4147-A177-3AD203B41FA5}">
                      <a16:colId xmlns:a16="http://schemas.microsoft.com/office/drawing/2014/main" val="319485541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3463345083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295122754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921372868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4278177501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3639607879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17128221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4125563088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628802606"/>
                    </a:ext>
                  </a:extLst>
                </a:gridCol>
              </a:tblGrid>
              <a:tr h="29746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ВР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Физическое Лицо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График Работы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 smtClean="0">
                          <a:effectLst/>
                          <a:latin typeface="Arial" panose="020B0604020202020204" pitchFamily="34" charset="0"/>
                        </a:rPr>
                        <a:t>ПД</a:t>
                      </a:r>
                      <a:endParaRPr lang="ru-RU" sz="7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ПДН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ПДК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БПН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>
                          <a:effectLst/>
                          <a:latin typeface="Arial" panose="020B0604020202020204" pitchFamily="34" charset="0"/>
                        </a:rPr>
                        <a:t>БПК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700" b="1" dirty="0" smtClean="0">
                          <a:effectLst/>
                          <a:latin typeface="Arial" panose="020B0604020202020204" pitchFamily="34" charset="0"/>
                        </a:rPr>
                        <a:t>ПР</a:t>
                      </a:r>
                      <a:endParaRPr lang="ru-RU" sz="7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624015"/>
                  </a:ext>
                </a:extLst>
              </a:tr>
              <a:tr h="286939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Доплата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Иванцева 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Пятидневка</a:t>
                      </a: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01.01.2018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31.01.2018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Arial" panose="020B0604020202020204" pitchFamily="34" charset="0"/>
                        </a:rPr>
                        <a:t>15.01.2018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31.01.2018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800" dirty="0" smtClean="0">
                          <a:solidFill>
                            <a:srgbClr val="1E4E79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  <a:endParaRPr lang="ru-RU" sz="800" dirty="0">
                        <a:solidFill>
                          <a:srgbClr val="1E4E7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41468" marR="41468" marT="41468" marB="41468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328945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61925" y="2080419"/>
          <a:ext cx="1821180" cy="602840"/>
        </p:xfrm>
        <a:graphic>
          <a:graphicData uri="http://schemas.openxmlformats.org/drawingml/2006/table">
            <a:tbl>
              <a:tblPr/>
              <a:tblGrid>
                <a:gridCol w="955843">
                  <a:extLst>
                    <a:ext uri="{9D8B030D-6E8A-4147-A177-3AD203B41FA5}">
                      <a16:colId xmlns:a16="http://schemas.microsoft.com/office/drawing/2014/main" val="4145032905"/>
                    </a:ext>
                  </a:extLst>
                </a:gridCol>
                <a:gridCol w="865337">
                  <a:extLst>
                    <a:ext uri="{9D8B030D-6E8A-4147-A177-3AD203B41FA5}">
                      <a16:colId xmlns:a16="http://schemas.microsoft.com/office/drawing/2014/main" val="2818602966"/>
                    </a:ext>
                  </a:extLst>
                </a:gridCol>
              </a:tblGrid>
              <a:tr h="23774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ФПДН</a:t>
                      </a:r>
                      <a:endParaRPr lang="ru-RU" sz="1000" b="1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b="1" i="1" dirty="0">
                          <a:effectLst/>
                          <a:latin typeface="Verdana" panose="020B0604030504040204" pitchFamily="34" charset="0"/>
                        </a:rPr>
                        <a:t>ФПДК</a:t>
                      </a:r>
                      <a:endParaRPr lang="ru-RU" sz="1000" b="1" dirty="0"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81072"/>
                  </a:ext>
                </a:extLst>
              </a:tr>
              <a:tr h="34884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01.01.2018</a:t>
                      </a:r>
                      <a:endParaRPr lang="ru-RU" sz="1000" dirty="0">
                        <a:solidFill>
                          <a:srgbClr val="7F7F7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7F7F7F"/>
                          </a:solidFill>
                          <a:effectLst/>
                          <a:latin typeface="Verdana" panose="020B0604030504040204" pitchFamily="34" charset="0"/>
                        </a:rPr>
                        <a:t>21.01.2018</a:t>
                      </a:r>
                      <a:endParaRPr lang="ru-RU" sz="1000" dirty="0">
                        <a:solidFill>
                          <a:srgbClr val="7F7F7F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189039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161925" y="2310620"/>
            <a:ext cx="1821180" cy="372639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6035224" y="989144"/>
            <a:ext cx="2795625" cy="3620434"/>
          </a:xfrm>
          <a:prstGeom prst="rect">
            <a:avLst/>
          </a:prstGeom>
          <a:noFill/>
          <a:ln w="317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61925" y="3645074"/>
            <a:ext cx="5873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 интервал фактического периода действия приходится:</a:t>
            </a:r>
          </a:p>
          <a:p>
            <a:r>
              <a:rPr lang="ru-RU" dirty="0" smtClean="0"/>
              <a:t>Дней – </a:t>
            </a:r>
            <a:r>
              <a:rPr lang="ru-RU" b="1" dirty="0" smtClean="0"/>
              <a:t>15</a:t>
            </a:r>
          </a:p>
          <a:p>
            <a:r>
              <a:rPr lang="ru-RU" dirty="0" smtClean="0"/>
              <a:t>Часов - </a:t>
            </a:r>
            <a:r>
              <a:rPr lang="ru-RU" b="1" dirty="0" smtClean="0"/>
              <a:t>120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2968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/>
    </p:bldLst>
  </p:timing>
</p:sld>
</file>

<file path=ppt/theme/theme1.xml><?xml version="1.0" encoding="utf-8"?>
<a:theme xmlns:a="http://schemas.openxmlformats.org/drawingml/2006/main" name="СофтБаланс_РасчетныеЗадачи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РасчетныеЗадачи" id="{D7705B6D-EFB0-49BE-8D35-BAC51EF4E54D}" vid="{0E3E934E-86D3-42B5-AA94-C445C4FE358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СофтБаланс_РасчетныеЗадачи</Template>
  <TotalTime>22</TotalTime>
  <Words>684</Words>
  <Application>Microsoft Office PowerPoint</Application>
  <PresentationFormat>Экран (4:3)</PresentationFormat>
  <Paragraphs>619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Tahoma</vt:lpstr>
      <vt:lpstr>Verdana</vt:lpstr>
      <vt:lpstr>Wingdings</vt:lpstr>
      <vt:lpstr>СофтБаланс_РасчетныеЗадачи</vt:lpstr>
      <vt:lpstr>Получение данных графика</vt:lpstr>
      <vt:lpstr>Периоды сбора данных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Получение данных графика</dc:title>
  <dc:creator>eugeniy sizov</dc:creator>
  <cp:lastModifiedBy>eugeniy sizov</cp:lastModifiedBy>
  <cp:revision>4</cp:revision>
  <dcterms:created xsi:type="dcterms:W3CDTF">2018-04-15T15:55:18Z</dcterms:created>
  <dcterms:modified xsi:type="dcterms:W3CDTF">2018-04-27T13:46:23Z</dcterms:modified>
</cp:coreProperties>
</file>