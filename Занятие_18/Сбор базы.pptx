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733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36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5367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71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371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350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216B-50DA-4293-9449-6751F48D0CF9}" type="datetimeFigureOut">
              <a:rPr lang="ru-RU" smtClean="0"/>
              <a:t>27.04.2018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B346-2FC7-4C52-91D7-9DCCD81DA5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678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216B-50DA-4293-9449-6751F48D0CF9}" type="datetimeFigureOut">
              <a:rPr lang="ru-RU" smtClean="0"/>
              <a:t>27.04.2018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B346-2FC7-4C52-91D7-9DCCD81DA5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32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/9</a:t>
            </a:r>
            <a:endParaRPr lang="ru-RU" sz="1600" dirty="0" smtClean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Расчётные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346620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Сбор базы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91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989212"/>
              </p:ext>
            </p:extLst>
          </p:nvPr>
        </p:nvGraphicFramePr>
        <p:xfrm>
          <a:off x="209048" y="787397"/>
          <a:ext cx="8496801" cy="5413379"/>
        </p:xfrm>
        <a:graphic>
          <a:graphicData uri="http://schemas.openxmlformats.org/drawingml/2006/table">
            <a:tbl>
              <a:tblPr/>
              <a:tblGrid>
                <a:gridCol w="564355">
                  <a:extLst>
                    <a:ext uri="{9D8B030D-6E8A-4147-A177-3AD203B41FA5}">
                      <a16:colId xmlns:a16="http://schemas.microsoft.com/office/drawing/2014/main" val="3883466449"/>
                    </a:ext>
                  </a:extLst>
                </a:gridCol>
                <a:gridCol w="1179948">
                  <a:extLst>
                    <a:ext uri="{9D8B030D-6E8A-4147-A177-3AD203B41FA5}">
                      <a16:colId xmlns:a16="http://schemas.microsoft.com/office/drawing/2014/main" val="1151838212"/>
                    </a:ext>
                  </a:extLst>
                </a:gridCol>
                <a:gridCol w="609737">
                  <a:extLst>
                    <a:ext uri="{9D8B030D-6E8A-4147-A177-3AD203B41FA5}">
                      <a16:colId xmlns:a16="http://schemas.microsoft.com/office/drawing/2014/main" val="427599870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2623377440"/>
                    </a:ext>
                  </a:extLst>
                </a:gridCol>
                <a:gridCol w="540932">
                  <a:extLst>
                    <a:ext uri="{9D8B030D-6E8A-4147-A177-3AD203B41FA5}">
                      <a16:colId xmlns:a16="http://schemas.microsoft.com/office/drawing/2014/main" val="2640597913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521255834"/>
                    </a:ext>
                  </a:extLst>
                </a:gridCol>
                <a:gridCol w="564355">
                  <a:extLst>
                    <a:ext uri="{9D8B030D-6E8A-4147-A177-3AD203B41FA5}">
                      <a16:colId xmlns:a16="http://schemas.microsoft.com/office/drawing/2014/main" val="2150835195"/>
                    </a:ext>
                  </a:extLst>
                </a:gridCol>
                <a:gridCol w="795661">
                  <a:extLst>
                    <a:ext uri="{9D8B030D-6E8A-4147-A177-3AD203B41FA5}">
                      <a16:colId xmlns:a16="http://schemas.microsoft.com/office/drawing/2014/main" val="50442984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29729937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707844075"/>
                    </a:ext>
                  </a:extLst>
                </a:gridCol>
                <a:gridCol w="763453">
                  <a:extLst>
                    <a:ext uri="{9D8B030D-6E8A-4147-A177-3AD203B41FA5}">
                      <a16:colId xmlns:a16="http://schemas.microsoft.com/office/drawing/2014/main" val="2684227341"/>
                    </a:ext>
                  </a:extLst>
                </a:gridCol>
                <a:gridCol w="669028">
                  <a:extLst>
                    <a:ext uri="{9D8B030D-6E8A-4147-A177-3AD203B41FA5}">
                      <a16:colId xmlns:a16="http://schemas.microsoft.com/office/drawing/2014/main" val="3610825256"/>
                    </a:ext>
                  </a:extLst>
                </a:gridCol>
              </a:tblGrid>
              <a:tr h="27307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500">
                        <a:effectLst/>
                      </a:endParaRP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0465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4392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8756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687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3663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7188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6931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8741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3202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80373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1951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2914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6372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2443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2004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297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5397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74402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193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7345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5241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7590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0721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3028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960260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Нач. премии 1 от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15.04.2018 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Премия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за 1 Кв.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691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03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089184"/>
              </p:ext>
            </p:extLst>
          </p:nvPr>
        </p:nvGraphicFramePr>
        <p:xfrm>
          <a:off x="209048" y="787397"/>
          <a:ext cx="8496801" cy="5413379"/>
        </p:xfrm>
        <a:graphic>
          <a:graphicData uri="http://schemas.openxmlformats.org/drawingml/2006/table">
            <a:tbl>
              <a:tblPr/>
              <a:tblGrid>
                <a:gridCol w="564355">
                  <a:extLst>
                    <a:ext uri="{9D8B030D-6E8A-4147-A177-3AD203B41FA5}">
                      <a16:colId xmlns:a16="http://schemas.microsoft.com/office/drawing/2014/main" val="3883466449"/>
                    </a:ext>
                  </a:extLst>
                </a:gridCol>
                <a:gridCol w="1179948">
                  <a:extLst>
                    <a:ext uri="{9D8B030D-6E8A-4147-A177-3AD203B41FA5}">
                      <a16:colId xmlns:a16="http://schemas.microsoft.com/office/drawing/2014/main" val="1151838212"/>
                    </a:ext>
                  </a:extLst>
                </a:gridCol>
                <a:gridCol w="609737">
                  <a:extLst>
                    <a:ext uri="{9D8B030D-6E8A-4147-A177-3AD203B41FA5}">
                      <a16:colId xmlns:a16="http://schemas.microsoft.com/office/drawing/2014/main" val="427599870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2623377440"/>
                    </a:ext>
                  </a:extLst>
                </a:gridCol>
                <a:gridCol w="540932">
                  <a:extLst>
                    <a:ext uri="{9D8B030D-6E8A-4147-A177-3AD203B41FA5}">
                      <a16:colId xmlns:a16="http://schemas.microsoft.com/office/drawing/2014/main" val="2640597913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521255834"/>
                    </a:ext>
                  </a:extLst>
                </a:gridCol>
                <a:gridCol w="564355">
                  <a:extLst>
                    <a:ext uri="{9D8B030D-6E8A-4147-A177-3AD203B41FA5}">
                      <a16:colId xmlns:a16="http://schemas.microsoft.com/office/drawing/2014/main" val="2150835195"/>
                    </a:ext>
                  </a:extLst>
                </a:gridCol>
                <a:gridCol w="795661">
                  <a:extLst>
                    <a:ext uri="{9D8B030D-6E8A-4147-A177-3AD203B41FA5}">
                      <a16:colId xmlns:a16="http://schemas.microsoft.com/office/drawing/2014/main" val="50442984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29729937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707844075"/>
                    </a:ext>
                  </a:extLst>
                </a:gridCol>
                <a:gridCol w="763453">
                  <a:extLst>
                    <a:ext uri="{9D8B030D-6E8A-4147-A177-3AD203B41FA5}">
                      <a16:colId xmlns:a16="http://schemas.microsoft.com/office/drawing/2014/main" val="2684227341"/>
                    </a:ext>
                  </a:extLst>
                </a:gridCol>
                <a:gridCol w="669028">
                  <a:extLst>
                    <a:ext uri="{9D8B030D-6E8A-4147-A177-3AD203B41FA5}">
                      <a16:colId xmlns:a16="http://schemas.microsoft.com/office/drawing/2014/main" val="3610825256"/>
                    </a:ext>
                  </a:extLst>
                </a:gridCol>
              </a:tblGrid>
              <a:tr h="27307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500">
                        <a:effectLst/>
                      </a:endParaRP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0465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4392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8756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687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3663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7188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6931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8741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3202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80373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1951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2914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6372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2443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2004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297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5397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74402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193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7345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5241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7590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0721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3028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960260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Нач. премии 1 от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15.04.2018 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Премия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за 1 Кв.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691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38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9487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Настройка вида расчета</a:t>
            </a:r>
            <a:br>
              <a:rPr lang="ru-RU" dirty="0" smtClean="0"/>
            </a:br>
            <a:r>
              <a:rPr lang="ru-RU" dirty="0" smtClean="0"/>
              <a:t> «Премия за 1 квартал»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1785"/>
              </p:ext>
            </p:extLst>
          </p:nvPr>
        </p:nvGraphicFramePr>
        <p:xfrm>
          <a:off x="2454478" y="2034699"/>
          <a:ext cx="3949294" cy="690880"/>
        </p:xfrm>
        <a:graphic>
          <a:graphicData uri="http://schemas.openxmlformats.org/drawingml/2006/table">
            <a:tbl>
              <a:tblPr/>
              <a:tblGrid>
                <a:gridCol w="1688897">
                  <a:extLst>
                    <a:ext uri="{9D8B030D-6E8A-4147-A177-3AD203B41FA5}">
                      <a16:colId xmlns:a16="http://schemas.microsoft.com/office/drawing/2014/main" val="984185428"/>
                    </a:ext>
                  </a:extLst>
                </a:gridCol>
                <a:gridCol w="2260397">
                  <a:extLst>
                    <a:ext uri="{9D8B030D-6E8A-4147-A177-3AD203B41FA5}">
                      <a16:colId xmlns:a16="http://schemas.microsoft.com/office/drawing/2014/main" val="1088962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Базовые виды расчета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36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Премия за 1 кв.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653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47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699823"/>
              </p:ext>
            </p:extLst>
          </p:nvPr>
        </p:nvGraphicFramePr>
        <p:xfrm>
          <a:off x="209048" y="787397"/>
          <a:ext cx="8496801" cy="5413379"/>
        </p:xfrm>
        <a:graphic>
          <a:graphicData uri="http://schemas.openxmlformats.org/drawingml/2006/table">
            <a:tbl>
              <a:tblPr/>
              <a:tblGrid>
                <a:gridCol w="564355">
                  <a:extLst>
                    <a:ext uri="{9D8B030D-6E8A-4147-A177-3AD203B41FA5}">
                      <a16:colId xmlns:a16="http://schemas.microsoft.com/office/drawing/2014/main" val="3883466449"/>
                    </a:ext>
                  </a:extLst>
                </a:gridCol>
                <a:gridCol w="1179948">
                  <a:extLst>
                    <a:ext uri="{9D8B030D-6E8A-4147-A177-3AD203B41FA5}">
                      <a16:colId xmlns:a16="http://schemas.microsoft.com/office/drawing/2014/main" val="1151838212"/>
                    </a:ext>
                  </a:extLst>
                </a:gridCol>
                <a:gridCol w="609737">
                  <a:extLst>
                    <a:ext uri="{9D8B030D-6E8A-4147-A177-3AD203B41FA5}">
                      <a16:colId xmlns:a16="http://schemas.microsoft.com/office/drawing/2014/main" val="427599870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2623377440"/>
                    </a:ext>
                  </a:extLst>
                </a:gridCol>
                <a:gridCol w="540932">
                  <a:extLst>
                    <a:ext uri="{9D8B030D-6E8A-4147-A177-3AD203B41FA5}">
                      <a16:colId xmlns:a16="http://schemas.microsoft.com/office/drawing/2014/main" val="2640597913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521255834"/>
                    </a:ext>
                  </a:extLst>
                </a:gridCol>
                <a:gridCol w="564355">
                  <a:extLst>
                    <a:ext uri="{9D8B030D-6E8A-4147-A177-3AD203B41FA5}">
                      <a16:colId xmlns:a16="http://schemas.microsoft.com/office/drawing/2014/main" val="2150835195"/>
                    </a:ext>
                  </a:extLst>
                </a:gridCol>
                <a:gridCol w="795661">
                  <a:extLst>
                    <a:ext uri="{9D8B030D-6E8A-4147-A177-3AD203B41FA5}">
                      <a16:colId xmlns:a16="http://schemas.microsoft.com/office/drawing/2014/main" val="50442984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29729937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707844075"/>
                    </a:ext>
                  </a:extLst>
                </a:gridCol>
                <a:gridCol w="763453">
                  <a:extLst>
                    <a:ext uri="{9D8B030D-6E8A-4147-A177-3AD203B41FA5}">
                      <a16:colId xmlns:a16="http://schemas.microsoft.com/office/drawing/2014/main" val="2684227341"/>
                    </a:ext>
                  </a:extLst>
                </a:gridCol>
                <a:gridCol w="669028">
                  <a:extLst>
                    <a:ext uri="{9D8B030D-6E8A-4147-A177-3AD203B41FA5}">
                      <a16:colId xmlns:a16="http://schemas.microsoft.com/office/drawing/2014/main" val="3610825256"/>
                    </a:ext>
                  </a:extLst>
                </a:gridCol>
              </a:tblGrid>
              <a:tr h="27307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500">
                        <a:effectLst/>
                      </a:endParaRP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0465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4392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8756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687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3663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7188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6931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8741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3202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80373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1951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2914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6372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2443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2004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297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5397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74402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193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7345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5241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7590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0721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3028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960260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Нач. премии 1 от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15.04.2018 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Премия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за 1 Кв.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691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966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1966912"/>
            <a:ext cx="4829175" cy="29241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011680" y="2227811"/>
            <a:ext cx="5120640" cy="573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Синхронизация измерений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11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021598"/>
              </p:ext>
            </p:extLst>
          </p:nvPr>
        </p:nvGraphicFramePr>
        <p:xfrm>
          <a:off x="209048" y="787397"/>
          <a:ext cx="8496801" cy="5413379"/>
        </p:xfrm>
        <a:graphic>
          <a:graphicData uri="http://schemas.openxmlformats.org/drawingml/2006/table">
            <a:tbl>
              <a:tblPr/>
              <a:tblGrid>
                <a:gridCol w="564355">
                  <a:extLst>
                    <a:ext uri="{9D8B030D-6E8A-4147-A177-3AD203B41FA5}">
                      <a16:colId xmlns:a16="http://schemas.microsoft.com/office/drawing/2014/main" val="3883466449"/>
                    </a:ext>
                  </a:extLst>
                </a:gridCol>
                <a:gridCol w="1179948">
                  <a:extLst>
                    <a:ext uri="{9D8B030D-6E8A-4147-A177-3AD203B41FA5}">
                      <a16:colId xmlns:a16="http://schemas.microsoft.com/office/drawing/2014/main" val="1151838212"/>
                    </a:ext>
                  </a:extLst>
                </a:gridCol>
                <a:gridCol w="609737">
                  <a:extLst>
                    <a:ext uri="{9D8B030D-6E8A-4147-A177-3AD203B41FA5}">
                      <a16:colId xmlns:a16="http://schemas.microsoft.com/office/drawing/2014/main" val="427599870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2623377440"/>
                    </a:ext>
                  </a:extLst>
                </a:gridCol>
                <a:gridCol w="540932">
                  <a:extLst>
                    <a:ext uri="{9D8B030D-6E8A-4147-A177-3AD203B41FA5}">
                      <a16:colId xmlns:a16="http://schemas.microsoft.com/office/drawing/2014/main" val="2640597913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521255834"/>
                    </a:ext>
                  </a:extLst>
                </a:gridCol>
                <a:gridCol w="564355">
                  <a:extLst>
                    <a:ext uri="{9D8B030D-6E8A-4147-A177-3AD203B41FA5}">
                      <a16:colId xmlns:a16="http://schemas.microsoft.com/office/drawing/2014/main" val="2150835195"/>
                    </a:ext>
                  </a:extLst>
                </a:gridCol>
                <a:gridCol w="795661">
                  <a:extLst>
                    <a:ext uri="{9D8B030D-6E8A-4147-A177-3AD203B41FA5}">
                      <a16:colId xmlns:a16="http://schemas.microsoft.com/office/drawing/2014/main" val="50442984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29729937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707844075"/>
                    </a:ext>
                  </a:extLst>
                </a:gridCol>
                <a:gridCol w="763453">
                  <a:extLst>
                    <a:ext uri="{9D8B030D-6E8A-4147-A177-3AD203B41FA5}">
                      <a16:colId xmlns:a16="http://schemas.microsoft.com/office/drawing/2014/main" val="2684227341"/>
                    </a:ext>
                  </a:extLst>
                </a:gridCol>
                <a:gridCol w="669028">
                  <a:extLst>
                    <a:ext uri="{9D8B030D-6E8A-4147-A177-3AD203B41FA5}">
                      <a16:colId xmlns:a16="http://schemas.microsoft.com/office/drawing/2014/main" val="3610825256"/>
                    </a:ext>
                  </a:extLst>
                </a:gridCol>
              </a:tblGrid>
              <a:tr h="27307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500">
                        <a:effectLst/>
                      </a:endParaRP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0465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4392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8756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687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3663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7188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6931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8741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3202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80373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1951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2914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6372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2443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2004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297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5397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74402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193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7345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5241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7590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0721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3028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960260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Нач. премии 1 от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15.04.2018 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Премия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за 1 Кв.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691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13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07515"/>
              </p:ext>
            </p:extLst>
          </p:nvPr>
        </p:nvGraphicFramePr>
        <p:xfrm>
          <a:off x="209048" y="787397"/>
          <a:ext cx="8496801" cy="5413379"/>
        </p:xfrm>
        <a:graphic>
          <a:graphicData uri="http://schemas.openxmlformats.org/drawingml/2006/table">
            <a:tbl>
              <a:tblPr/>
              <a:tblGrid>
                <a:gridCol w="564355">
                  <a:extLst>
                    <a:ext uri="{9D8B030D-6E8A-4147-A177-3AD203B41FA5}">
                      <a16:colId xmlns:a16="http://schemas.microsoft.com/office/drawing/2014/main" val="3883466449"/>
                    </a:ext>
                  </a:extLst>
                </a:gridCol>
                <a:gridCol w="1179948">
                  <a:extLst>
                    <a:ext uri="{9D8B030D-6E8A-4147-A177-3AD203B41FA5}">
                      <a16:colId xmlns:a16="http://schemas.microsoft.com/office/drawing/2014/main" val="1151838212"/>
                    </a:ext>
                  </a:extLst>
                </a:gridCol>
                <a:gridCol w="609737">
                  <a:extLst>
                    <a:ext uri="{9D8B030D-6E8A-4147-A177-3AD203B41FA5}">
                      <a16:colId xmlns:a16="http://schemas.microsoft.com/office/drawing/2014/main" val="427599870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2623377440"/>
                    </a:ext>
                  </a:extLst>
                </a:gridCol>
                <a:gridCol w="540932">
                  <a:extLst>
                    <a:ext uri="{9D8B030D-6E8A-4147-A177-3AD203B41FA5}">
                      <a16:colId xmlns:a16="http://schemas.microsoft.com/office/drawing/2014/main" val="2640597913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521255834"/>
                    </a:ext>
                  </a:extLst>
                </a:gridCol>
                <a:gridCol w="564355">
                  <a:extLst>
                    <a:ext uri="{9D8B030D-6E8A-4147-A177-3AD203B41FA5}">
                      <a16:colId xmlns:a16="http://schemas.microsoft.com/office/drawing/2014/main" val="2150835195"/>
                    </a:ext>
                  </a:extLst>
                </a:gridCol>
                <a:gridCol w="795661">
                  <a:extLst>
                    <a:ext uri="{9D8B030D-6E8A-4147-A177-3AD203B41FA5}">
                      <a16:colId xmlns:a16="http://schemas.microsoft.com/office/drawing/2014/main" val="50442984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29729937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707844075"/>
                    </a:ext>
                  </a:extLst>
                </a:gridCol>
                <a:gridCol w="763453">
                  <a:extLst>
                    <a:ext uri="{9D8B030D-6E8A-4147-A177-3AD203B41FA5}">
                      <a16:colId xmlns:a16="http://schemas.microsoft.com/office/drawing/2014/main" val="2684227341"/>
                    </a:ext>
                  </a:extLst>
                </a:gridCol>
                <a:gridCol w="669028">
                  <a:extLst>
                    <a:ext uri="{9D8B030D-6E8A-4147-A177-3AD203B41FA5}">
                      <a16:colId xmlns:a16="http://schemas.microsoft.com/office/drawing/2014/main" val="3610825256"/>
                    </a:ext>
                  </a:extLst>
                </a:gridCol>
              </a:tblGrid>
              <a:tr h="27307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500">
                        <a:effectLst/>
                      </a:endParaRP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0465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4392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8756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687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3663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7188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01.12.2017 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31.12.2017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6931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8741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3202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80373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1951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29144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31.01.2018  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6372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2443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20045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297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5397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744023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19389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1500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7345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1150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52411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7590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1200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07217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920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3028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960260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Нач. премии 1 от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15.04.2018 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Премия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за 1 Кв.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691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92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015513"/>
              </p:ext>
            </p:extLst>
          </p:nvPr>
        </p:nvGraphicFramePr>
        <p:xfrm>
          <a:off x="209048" y="787397"/>
          <a:ext cx="8496801" cy="1196726"/>
        </p:xfrm>
        <a:graphic>
          <a:graphicData uri="http://schemas.openxmlformats.org/drawingml/2006/table">
            <a:tbl>
              <a:tblPr/>
              <a:tblGrid>
                <a:gridCol w="564355">
                  <a:extLst>
                    <a:ext uri="{9D8B030D-6E8A-4147-A177-3AD203B41FA5}">
                      <a16:colId xmlns:a16="http://schemas.microsoft.com/office/drawing/2014/main" val="3883466449"/>
                    </a:ext>
                  </a:extLst>
                </a:gridCol>
                <a:gridCol w="1179948">
                  <a:extLst>
                    <a:ext uri="{9D8B030D-6E8A-4147-A177-3AD203B41FA5}">
                      <a16:colId xmlns:a16="http://schemas.microsoft.com/office/drawing/2014/main" val="1151838212"/>
                    </a:ext>
                  </a:extLst>
                </a:gridCol>
                <a:gridCol w="609737">
                  <a:extLst>
                    <a:ext uri="{9D8B030D-6E8A-4147-A177-3AD203B41FA5}">
                      <a16:colId xmlns:a16="http://schemas.microsoft.com/office/drawing/2014/main" val="427599870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2623377440"/>
                    </a:ext>
                  </a:extLst>
                </a:gridCol>
                <a:gridCol w="540932">
                  <a:extLst>
                    <a:ext uri="{9D8B030D-6E8A-4147-A177-3AD203B41FA5}">
                      <a16:colId xmlns:a16="http://schemas.microsoft.com/office/drawing/2014/main" val="2640597913"/>
                    </a:ext>
                  </a:extLst>
                </a:gridCol>
                <a:gridCol w="593634">
                  <a:extLst>
                    <a:ext uri="{9D8B030D-6E8A-4147-A177-3AD203B41FA5}">
                      <a16:colId xmlns:a16="http://schemas.microsoft.com/office/drawing/2014/main" val="3521255834"/>
                    </a:ext>
                  </a:extLst>
                </a:gridCol>
                <a:gridCol w="564355">
                  <a:extLst>
                    <a:ext uri="{9D8B030D-6E8A-4147-A177-3AD203B41FA5}">
                      <a16:colId xmlns:a16="http://schemas.microsoft.com/office/drawing/2014/main" val="2150835195"/>
                    </a:ext>
                  </a:extLst>
                </a:gridCol>
                <a:gridCol w="795661">
                  <a:extLst>
                    <a:ext uri="{9D8B030D-6E8A-4147-A177-3AD203B41FA5}">
                      <a16:colId xmlns:a16="http://schemas.microsoft.com/office/drawing/2014/main" val="50442984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297299377"/>
                    </a:ext>
                  </a:extLst>
                </a:gridCol>
                <a:gridCol w="701967">
                  <a:extLst>
                    <a:ext uri="{9D8B030D-6E8A-4147-A177-3AD203B41FA5}">
                      <a16:colId xmlns:a16="http://schemas.microsoft.com/office/drawing/2014/main" val="1707844075"/>
                    </a:ext>
                  </a:extLst>
                </a:gridCol>
                <a:gridCol w="763453">
                  <a:extLst>
                    <a:ext uri="{9D8B030D-6E8A-4147-A177-3AD203B41FA5}">
                      <a16:colId xmlns:a16="http://schemas.microsoft.com/office/drawing/2014/main" val="2684227341"/>
                    </a:ext>
                  </a:extLst>
                </a:gridCol>
                <a:gridCol w="669028">
                  <a:extLst>
                    <a:ext uri="{9D8B030D-6E8A-4147-A177-3AD203B41FA5}">
                      <a16:colId xmlns:a16="http://schemas.microsoft.com/office/drawing/2014/main" val="3610825256"/>
                    </a:ext>
                  </a:extLst>
                </a:gridCol>
              </a:tblGrid>
              <a:tr h="27307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500">
                        <a:effectLst/>
                      </a:endParaRP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0465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5 от 06.02.2018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31.01.2018 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87412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6 от 06.03.2018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24436"/>
                  </a:ext>
                </a:extLst>
              </a:tr>
              <a:tr h="200793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7 от 06.04.2018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31.03.2018 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75907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Нач. премии 1 от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15.04.2018 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Премия</a:t>
                      </a:r>
                      <a:b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за 1 Кв.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31.03.2018</a:t>
                      </a:r>
                    </a:p>
                  </a:txBody>
                  <a:tcPr marL="32280" marR="32280" marT="32280" marB="322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691297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971675" y="2257425"/>
            <a:ext cx="39644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Расчетная база для  записи: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 ресурсу результат – 30000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 ресурсу «Отработано дней» - 59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4889182"/>
      </p:ext>
    </p:extLst>
  </p:cSld>
  <p:clrMapOvr>
    <a:masterClrMapping/>
  </p:clrMapOvr>
</p:sld>
</file>

<file path=ppt/theme/theme1.xml><?xml version="1.0" encoding="utf-8"?>
<a:theme xmlns:a="http://schemas.openxmlformats.org/drawingml/2006/main" name="СофтБаланс_РасчетныеЗадач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РасчетныеЗадачи" id="{D7705B6D-EFB0-49BE-8D35-BAC51EF4E54D}" vid="{0E3E934E-86D3-42B5-AA94-C445C4FE35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СофтБаланс_РасчетныеЗадачи</Template>
  <TotalTime>175</TotalTime>
  <Words>1519</Words>
  <Application>Microsoft Office PowerPoint</Application>
  <PresentationFormat>Экран (4:3)</PresentationFormat>
  <Paragraphs>1630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Calibri</vt:lpstr>
      <vt:lpstr>Segoe UI Symbol</vt:lpstr>
      <vt:lpstr>Tahoma</vt:lpstr>
      <vt:lpstr>Verdana</vt:lpstr>
      <vt:lpstr>Wingdings</vt:lpstr>
      <vt:lpstr>СофтБаланс_РасчетныеЗадачи</vt:lpstr>
      <vt:lpstr>Сбор базы</vt:lpstr>
      <vt:lpstr>Презентация PowerPoint</vt:lpstr>
      <vt:lpstr>Презентация PowerPoint</vt:lpstr>
      <vt:lpstr>Настройка вида расчета  «Премия за 1 квартал»</vt:lpstr>
      <vt:lpstr>Презентация PowerPoint</vt:lpstr>
      <vt:lpstr>Синхронизация измерений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Сбор базы</dc:title>
  <dc:creator>eugeniy sizov</dc:creator>
  <cp:lastModifiedBy>eugeniy sizov</cp:lastModifiedBy>
  <cp:revision>9</cp:revision>
  <dcterms:created xsi:type="dcterms:W3CDTF">2018-04-15T13:25:38Z</dcterms:created>
  <dcterms:modified xsi:type="dcterms:W3CDTF">2018-04-27T13:45:39Z</dcterms:modified>
</cp:coreProperties>
</file>