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notesMasterIdLst>
    <p:notesMasterId r:id="rId37"/>
  </p:notesMasterIdLst>
  <p:handoutMasterIdLst>
    <p:handoutMasterId r:id="rId38"/>
  </p:handoutMasterIdLst>
  <p:sldIdLst>
    <p:sldId id="256" r:id="rId2"/>
    <p:sldId id="290" r:id="rId3"/>
    <p:sldId id="259" r:id="rId4"/>
    <p:sldId id="258" r:id="rId5"/>
    <p:sldId id="322" r:id="rId6"/>
    <p:sldId id="288" r:id="rId7"/>
    <p:sldId id="324" r:id="rId8"/>
    <p:sldId id="309" r:id="rId9"/>
    <p:sldId id="310" r:id="rId10"/>
    <p:sldId id="302" r:id="rId11"/>
    <p:sldId id="289" r:id="rId12"/>
    <p:sldId id="267" r:id="rId13"/>
    <p:sldId id="268" r:id="rId14"/>
    <p:sldId id="323" r:id="rId15"/>
    <p:sldId id="325" r:id="rId16"/>
    <p:sldId id="269" r:id="rId17"/>
    <p:sldId id="312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20" r:id="rId26"/>
    <p:sldId id="326" r:id="rId27"/>
    <p:sldId id="291" r:id="rId28"/>
    <p:sldId id="306" r:id="rId29"/>
    <p:sldId id="292" r:id="rId30"/>
    <p:sldId id="307" r:id="rId31"/>
    <p:sldId id="293" r:id="rId32"/>
    <p:sldId id="297" r:id="rId33"/>
    <p:sldId id="321" r:id="rId34"/>
    <p:sldId id="308" r:id="rId35"/>
    <p:sldId id="311" r:id="rId3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FF80"/>
    <a:srgbClr val="66FF66"/>
    <a:srgbClr val="C1CCE1"/>
    <a:srgbClr val="D0D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Средний стиль 2 -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1" autoAdjust="0"/>
    <p:restoredTop sz="99030" autoAdjust="0"/>
  </p:normalViewPr>
  <p:slideViewPr>
    <p:cSldViewPr>
      <p:cViewPr varScale="1">
        <p:scale>
          <a:sx n="108" d="100"/>
          <a:sy n="108" d="100"/>
        </p:scale>
        <p:origin x="13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y sizov" userId="f166da1dfb7bc990" providerId="LiveId" clId="{3748B197-7676-4E72-9A38-FF33BE8E5C6B}"/>
    <pc:docChg chg="modSld">
      <pc:chgData name="eugeniy sizov" userId="f166da1dfb7bc990" providerId="LiveId" clId="{3748B197-7676-4E72-9A38-FF33BE8E5C6B}" dt="2019-03-11T14:53:40.512" v="0" actId="255"/>
      <pc:docMkLst>
        <pc:docMk/>
      </pc:docMkLst>
      <pc:sldChg chg="modSp">
        <pc:chgData name="eugeniy sizov" userId="f166da1dfb7bc990" providerId="LiveId" clId="{3748B197-7676-4E72-9A38-FF33BE8E5C6B}" dt="2019-03-11T14:53:40.512" v="0" actId="255"/>
        <pc:sldMkLst>
          <pc:docMk/>
          <pc:sldMk cId="2401487650" sldId="256"/>
        </pc:sldMkLst>
        <pc:spChg chg="mod">
          <ac:chgData name="eugeniy sizov" userId="f166da1dfb7bc990" providerId="LiveId" clId="{3748B197-7676-4E72-9A38-FF33BE8E5C6B}" dt="2019-03-11T14:53:40.512" v="0" actId="255"/>
          <ac:spMkLst>
            <pc:docMk/>
            <pc:sldMk cId="2401487650" sldId="256"/>
            <ac:spMk id="5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5BA26C-5161-42DF-B6D3-3D80F7136A94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F4ECCE9-1865-4F74-8801-D7DDBD4B4DCF}">
      <dgm:prSet phldrT="[Текст]"/>
      <dgm:spPr/>
      <dgm:t>
        <a:bodyPr/>
        <a:lstStyle/>
        <a:p>
          <a:r>
            <a:rPr lang="ru-RU" dirty="0"/>
            <a:t>1</a:t>
          </a:r>
        </a:p>
      </dgm:t>
    </dgm:pt>
    <dgm:pt modelId="{FAADA1A8-5D0C-4E56-8396-1D700C06718A}" type="parTrans" cxnId="{D156BE45-995A-4ECC-BE4E-AEF387C5A0CF}">
      <dgm:prSet/>
      <dgm:spPr/>
      <dgm:t>
        <a:bodyPr/>
        <a:lstStyle/>
        <a:p>
          <a:endParaRPr lang="ru-RU"/>
        </a:p>
      </dgm:t>
    </dgm:pt>
    <dgm:pt modelId="{049BA372-F936-4744-9775-A5D81E180520}" type="sibTrans" cxnId="{D156BE45-995A-4ECC-BE4E-AEF387C5A0CF}">
      <dgm:prSet/>
      <dgm:spPr/>
      <dgm:t>
        <a:bodyPr/>
        <a:lstStyle/>
        <a:p>
          <a:endParaRPr lang="ru-RU"/>
        </a:p>
      </dgm:t>
    </dgm:pt>
    <dgm:pt modelId="{BDC60AB8-E1A4-48F8-A13C-BBD33E4C25AA}">
      <dgm:prSet phldrT="[Текст]" custT="1"/>
      <dgm:spPr/>
      <dgm:t>
        <a:bodyPr/>
        <a:lstStyle/>
        <a:p>
          <a:r>
            <a:rPr lang="ru-RU" sz="2400" dirty="0"/>
            <a:t>Основные объекты</a:t>
          </a:r>
        </a:p>
      </dgm:t>
    </dgm:pt>
    <dgm:pt modelId="{D2B28482-640D-4D33-9925-9952571B5817}" type="parTrans" cxnId="{AF7674D8-98F6-49E5-BCFD-63DAFFA391F9}">
      <dgm:prSet/>
      <dgm:spPr/>
      <dgm:t>
        <a:bodyPr/>
        <a:lstStyle/>
        <a:p>
          <a:endParaRPr lang="ru-RU"/>
        </a:p>
      </dgm:t>
    </dgm:pt>
    <dgm:pt modelId="{785789E8-2AD2-49D5-8BAF-3EA3B3ED716F}" type="sibTrans" cxnId="{AF7674D8-98F6-49E5-BCFD-63DAFFA391F9}">
      <dgm:prSet/>
      <dgm:spPr/>
      <dgm:t>
        <a:bodyPr/>
        <a:lstStyle/>
        <a:p>
          <a:endParaRPr lang="ru-RU"/>
        </a:p>
      </dgm:t>
    </dgm:pt>
    <dgm:pt modelId="{C60457F7-CAE1-459A-B125-1D5D18D3BA8D}">
      <dgm:prSet phldrT="[Текст]" custT="1"/>
      <dgm:spPr/>
      <dgm:t>
        <a:bodyPr/>
        <a:lstStyle/>
        <a:p>
          <a:r>
            <a:rPr lang="ru-RU" sz="2400" dirty="0"/>
            <a:t>24 часа (6 занятий)</a:t>
          </a:r>
        </a:p>
      </dgm:t>
    </dgm:pt>
    <dgm:pt modelId="{803396AF-856F-4DB3-9F75-DCE220A12CF0}" type="parTrans" cxnId="{5B5C0BEB-1042-4A27-BD45-00362FDDFA4C}">
      <dgm:prSet/>
      <dgm:spPr/>
      <dgm:t>
        <a:bodyPr/>
        <a:lstStyle/>
        <a:p>
          <a:endParaRPr lang="ru-RU"/>
        </a:p>
      </dgm:t>
    </dgm:pt>
    <dgm:pt modelId="{E545DCFF-25A6-42A3-BA03-59FA95BD7EE1}" type="sibTrans" cxnId="{5B5C0BEB-1042-4A27-BD45-00362FDDFA4C}">
      <dgm:prSet/>
      <dgm:spPr/>
      <dgm:t>
        <a:bodyPr/>
        <a:lstStyle/>
        <a:p>
          <a:endParaRPr lang="ru-RU"/>
        </a:p>
      </dgm:t>
    </dgm:pt>
    <dgm:pt modelId="{257D4BDA-E839-4C47-9676-C67F28A8BFBC}">
      <dgm:prSet phldrT="[Текст]"/>
      <dgm:spPr>
        <a:solidFill>
          <a:srgbClr val="00B050"/>
        </a:solidFill>
      </dgm:spPr>
      <dgm:t>
        <a:bodyPr/>
        <a:lstStyle/>
        <a:p>
          <a:r>
            <a:rPr lang="ru-RU" dirty="0"/>
            <a:t>2</a:t>
          </a:r>
        </a:p>
      </dgm:t>
    </dgm:pt>
    <dgm:pt modelId="{2EA8E5EC-7CCF-4008-963B-B1D372BBA23E}" type="parTrans" cxnId="{619F54C8-16C6-40EE-8AD2-30FCCCD253E7}">
      <dgm:prSet/>
      <dgm:spPr/>
      <dgm:t>
        <a:bodyPr/>
        <a:lstStyle/>
        <a:p>
          <a:endParaRPr lang="ru-RU"/>
        </a:p>
      </dgm:t>
    </dgm:pt>
    <dgm:pt modelId="{DF4B2D82-6D11-4583-9B9A-1E86D0DFB65F}" type="sibTrans" cxnId="{619F54C8-16C6-40EE-8AD2-30FCCCD253E7}">
      <dgm:prSet/>
      <dgm:spPr/>
      <dgm:t>
        <a:bodyPr/>
        <a:lstStyle/>
        <a:p>
          <a:endParaRPr lang="ru-RU"/>
        </a:p>
      </dgm:t>
    </dgm:pt>
    <dgm:pt modelId="{58E8B8AC-40AE-41A5-8F78-BEC32B390F3C}">
      <dgm:prSet phldrT="[Текст]" custT="1"/>
      <dgm:spPr/>
      <dgm:t>
        <a:bodyPr/>
        <a:lstStyle/>
        <a:p>
          <a:r>
            <a:rPr lang="ru-RU" sz="2400" dirty="0"/>
            <a:t>Оперативные задачи</a:t>
          </a:r>
        </a:p>
      </dgm:t>
    </dgm:pt>
    <dgm:pt modelId="{33AF1757-B1F0-4480-AF63-DCE95608E29D}" type="parTrans" cxnId="{5E88FB9F-99CF-4A4B-8DD1-60816312B44A}">
      <dgm:prSet/>
      <dgm:spPr/>
      <dgm:t>
        <a:bodyPr/>
        <a:lstStyle/>
        <a:p>
          <a:endParaRPr lang="ru-RU"/>
        </a:p>
      </dgm:t>
    </dgm:pt>
    <dgm:pt modelId="{0BFCEFEE-66BC-46B0-9850-E7D6E8DD03F1}" type="sibTrans" cxnId="{5E88FB9F-99CF-4A4B-8DD1-60816312B44A}">
      <dgm:prSet/>
      <dgm:spPr/>
      <dgm:t>
        <a:bodyPr/>
        <a:lstStyle/>
        <a:p>
          <a:endParaRPr lang="ru-RU"/>
        </a:p>
      </dgm:t>
    </dgm:pt>
    <dgm:pt modelId="{99D34705-7D47-4F6C-BD09-97B7205EB2C3}">
      <dgm:prSet phldrT="[Текст]" custT="1"/>
      <dgm:spPr/>
      <dgm:t>
        <a:bodyPr/>
        <a:lstStyle/>
        <a:p>
          <a:r>
            <a:rPr lang="ru-RU" sz="2400" dirty="0"/>
            <a:t>16 часов (4 занятия)</a:t>
          </a:r>
        </a:p>
      </dgm:t>
    </dgm:pt>
    <dgm:pt modelId="{966E0B1C-3371-400B-98AD-6C45658FBAC5}" type="parTrans" cxnId="{02498F11-B000-4436-BCF5-63F4377B6744}">
      <dgm:prSet/>
      <dgm:spPr/>
      <dgm:t>
        <a:bodyPr/>
        <a:lstStyle/>
        <a:p>
          <a:endParaRPr lang="ru-RU"/>
        </a:p>
      </dgm:t>
    </dgm:pt>
    <dgm:pt modelId="{EE97CA3F-E53F-402F-B871-22B7ADAF03C4}" type="sibTrans" cxnId="{02498F11-B000-4436-BCF5-63F4377B6744}">
      <dgm:prSet/>
      <dgm:spPr/>
      <dgm:t>
        <a:bodyPr/>
        <a:lstStyle/>
        <a:p>
          <a:endParaRPr lang="ru-RU"/>
        </a:p>
      </dgm:t>
    </dgm:pt>
    <dgm:pt modelId="{5D00DC91-EABE-480D-AE21-A37535654084}">
      <dgm:prSet phldrT="[Текст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ru-RU" dirty="0"/>
            <a:t>3</a:t>
          </a:r>
        </a:p>
      </dgm:t>
    </dgm:pt>
    <dgm:pt modelId="{8F63A51B-23FC-4D2A-A802-2229804759C7}" type="parTrans" cxnId="{9D568B95-E9FF-4D5B-8F1C-9312EF272FF5}">
      <dgm:prSet/>
      <dgm:spPr/>
      <dgm:t>
        <a:bodyPr/>
        <a:lstStyle/>
        <a:p>
          <a:endParaRPr lang="ru-RU"/>
        </a:p>
      </dgm:t>
    </dgm:pt>
    <dgm:pt modelId="{1E7E3388-E5CF-46A0-85BA-5533E46D356C}" type="sibTrans" cxnId="{9D568B95-E9FF-4D5B-8F1C-9312EF272FF5}">
      <dgm:prSet/>
      <dgm:spPr/>
      <dgm:t>
        <a:bodyPr/>
        <a:lstStyle/>
        <a:p>
          <a:endParaRPr lang="ru-RU"/>
        </a:p>
      </dgm:t>
    </dgm:pt>
    <dgm:pt modelId="{5F1D3C91-492D-4594-AA5D-D33C00E8FB15}">
      <dgm:prSet phldrT="[Текст]" custT="1"/>
      <dgm:spPr/>
      <dgm:t>
        <a:bodyPr/>
        <a:lstStyle/>
        <a:p>
          <a:r>
            <a:rPr lang="ru-RU" sz="2400" dirty="0"/>
            <a:t>Бухгалтерские задачи</a:t>
          </a:r>
        </a:p>
      </dgm:t>
    </dgm:pt>
    <dgm:pt modelId="{E4ED14B6-E9C5-4CE8-8FE6-BD464E3B64BA}" type="parTrans" cxnId="{6251B5F5-A496-4EA8-995C-BE673CBFF365}">
      <dgm:prSet/>
      <dgm:spPr/>
      <dgm:t>
        <a:bodyPr/>
        <a:lstStyle/>
        <a:p>
          <a:endParaRPr lang="ru-RU"/>
        </a:p>
      </dgm:t>
    </dgm:pt>
    <dgm:pt modelId="{97BACB69-369D-4FF6-80CB-FEC21C98DDEB}" type="sibTrans" cxnId="{6251B5F5-A496-4EA8-995C-BE673CBFF365}">
      <dgm:prSet/>
      <dgm:spPr/>
      <dgm:t>
        <a:bodyPr/>
        <a:lstStyle/>
        <a:p>
          <a:endParaRPr lang="ru-RU"/>
        </a:p>
      </dgm:t>
    </dgm:pt>
    <dgm:pt modelId="{447DEF84-9AC3-4A61-9036-95F9BF17F8C4}">
      <dgm:prSet phldrT="[Текст]" custT="1"/>
      <dgm:spPr/>
      <dgm:t>
        <a:bodyPr/>
        <a:lstStyle/>
        <a:p>
          <a:r>
            <a:rPr lang="ru-RU" sz="2400" dirty="0"/>
            <a:t>20 часов (5 занятий)</a:t>
          </a:r>
        </a:p>
      </dgm:t>
    </dgm:pt>
    <dgm:pt modelId="{4CD96742-29BB-4409-9A78-61294DA0F40E}" type="parTrans" cxnId="{C4CA2851-E065-44F2-A220-E72CE3544464}">
      <dgm:prSet/>
      <dgm:spPr/>
      <dgm:t>
        <a:bodyPr/>
        <a:lstStyle/>
        <a:p>
          <a:endParaRPr lang="ru-RU"/>
        </a:p>
      </dgm:t>
    </dgm:pt>
    <dgm:pt modelId="{7215E895-FEE1-4FA5-A6D9-E754EA1E182C}" type="sibTrans" cxnId="{C4CA2851-E065-44F2-A220-E72CE3544464}">
      <dgm:prSet/>
      <dgm:spPr/>
      <dgm:t>
        <a:bodyPr/>
        <a:lstStyle/>
        <a:p>
          <a:endParaRPr lang="ru-RU"/>
        </a:p>
      </dgm:t>
    </dgm:pt>
    <dgm:pt modelId="{DC913F57-42B8-46A8-A08C-5E7BAA4456A0}">
      <dgm:prSet phldrT="[Текст]"/>
      <dgm:spPr>
        <a:solidFill>
          <a:srgbClr val="7030A0"/>
        </a:solidFill>
      </dgm:spPr>
      <dgm:t>
        <a:bodyPr/>
        <a:lstStyle/>
        <a:p>
          <a:r>
            <a:rPr lang="ru-RU" dirty="0"/>
            <a:t>4</a:t>
          </a:r>
        </a:p>
      </dgm:t>
    </dgm:pt>
    <dgm:pt modelId="{087BD4CE-0A63-4659-A56C-40C5E1E9A35B}" type="parTrans" cxnId="{1946C556-966D-447D-9E22-2E469F9C0DAB}">
      <dgm:prSet/>
      <dgm:spPr/>
      <dgm:t>
        <a:bodyPr/>
        <a:lstStyle/>
        <a:p>
          <a:endParaRPr lang="ru-RU"/>
        </a:p>
      </dgm:t>
    </dgm:pt>
    <dgm:pt modelId="{C1E09865-3BF1-43F0-9086-8D09D6705252}" type="sibTrans" cxnId="{1946C556-966D-447D-9E22-2E469F9C0DAB}">
      <dgm:prSet/>
      <dgm:spPr/>
      <dgm:t>
        <a:bodyPr/>
        <a:lstStyle/>
        <a:p>
          <a:endParaRPr lang="ru-RU"/>
        </a:p>
      </dgm:t>
    </dgm:pt>
    <dgm:pt modelId="{1D437864-B470-4B40-AE9E-DD1D89E4FCAE}">
      <dgm:prSet phldrT="[Текст]" custT="1"/>
      <dgm:spPr/>
      <dgm:t>
        <a:bodyPr/>
        <a:lstStyle/>
        <a:p>
          <a:r>
            <a:rPr lang="ru-RU" sz="2400" dirty="0"/>
            <a:t>Расчетные задачи</a:t>
          </a:r>
        </a:p>
      </dgm:t>
    </dgm:pt>
    <dgm:pt modelId="{3642DB20-1682-4D5B-A02E-6C2468AC6E45}" type="parTrans" cxnId="{B0FB99FA-6034-444B-9440-9FB3098C9600}">
      <dgm:prSet/>
      <dgm:spPr/>
      <dgm:t>
        <a:bodyPr/>
        <a:lstStyle/>
        <a:p>
          <a:endParaRPr lang="ru-RU"/>
        </a:p>
      </dgm:t>
    </dgm:pt>
    <dgm:pt modelId="{A48B8622-727B-4761-923E-3A89BA425EB3}" type="sibTrans" cxnId="{B0FB99FA-6034-444B-9440-9FB3098C9600}">
      <dgm:prSet/>
      <dgm:spPr/>
      <dgm:t>
        <a:bodyPr/>
        <a:lstStyle/>
        <a:p>
          <a:endParaRPr lang="ru-RU"/>
        </a:p>
      </dgm:t>
    </dgm:pt>
    <dgm:pt modelId="{A947E420-5366-4A66-9E7B-E5D89B4ED3FA}">
      <dgm:prSet phldrT="[Текст]" custT="1"/>
      <dgm:spPr/>
      <dgm:t>
        <a:bodyPr/>
        <a:lstStyle/>
        <a:p>
          <a:r>
            <a:rPr lang="ru-RU" sz="2400" dirty="0"/>
            <a:t>20 часов (5 занятий)</a:t>
          </a:r>
        </a:p>
      </dgm:t>
    </dgm:pt>
    <dgm:pt modelId="{852819E8-E063-4A25-B2B9-85998ACC5865}" type="parTrans" cxnId="{ECC79F71-2B06-4E3D-BA30-62192EA144CE}">
      <dgm:prSet/>
      <dgm:spPr/>
      <dgm:t>
        <a:bodyPr/>
        <a:lstStyle/>
        <a:p>
          <a:endParaRPr lang="ru-RU"/>
        </a:p>
      </dgm:t>
    </dgm:pt>
    <dgm:pt modelId="{DA7E24DF-5696-4684-AB37-48D74870E844}" type="sibTrans" cxnId="{ECC79F71-2B06-4E3D-BA30-62192EA144CE}">
      <dgm:prSet/>
      <dgm:spPr/>
      <dgm:t>
        <a:bodyPr/>
        <a:lstStyle/>
        <a:p>
          <a:endParaRPr lang="ru-RU"/>
        </a:p>
      </dgm:t>
    </dgm:pt>
    <dgm:pt modelId="{30F9D91C-2D8C-4575-852D-882CF727B3B1}" type="pres">
      <dgm:prSet presAssocID="{2A5BA26C-5161-42DF-B6D3-3D80F7136A94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054B9DD-5323-44F6-99D5-0BACD57A3819}" type="pres">
      <dgm:prSet presAssocID="{9F4ECCE9-1865-4F74-8801-D7DDBD4B4DCF}" presName="composite" presStyleCnt="0"/>
      <dgm:spPr/>
    </dgm:pt>
    <dgm:pt modelId="{92E7FF70-7BD8-46B1-B288-A4DDE79A375D}" type="pres">
      <dgm:prSet presAssocID="{9F4ECCE9-1865-4F74-8801-D7DDBD4B4DCF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36789EE-4E16-48A6-A87C-D399CDA99045}" type="pres">
      <dgm:prSet presAssocID="{9F4ECCE9-1865-4F74-8801-D7DDBD4B4DCF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B838BC5-766B-4EBE-B054-22BCD0908D45}" type="pres">
      <dgm:prSet presAssocID="{049BA372-F936-4744-9775-A5D81E180520}" presName="sp" presStyleCnt="0"/>
      <dgm:spPr/>
    </dgm:pt>
    <dgm:pt modelId="{DF7C7C94-C05B-48F6-8067-FC02E4F3B21C}" type="pres">
      <dgm:prSet presAssocID="{257D4BDA-E839-4C47-9676-C67F28A8BFBC}" presName="composite" presStyleCnt="0"/>
      <dgm:spPr/>
    </dgm:pt>
    <dgm:pt modelId="{5AFAA384-8B0F-4B3C-B6A9-B982B9AC37AD}" type="pres">
      <dgm:prSet presAssocID="{257D4BDA-E839-4C47-9676-C67F28A8BFBC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06F5EBF-4FFC-482E-905A-606619BC55C5}" type="pres">
      <dgm:prSet presAssocID="{257D4BDA-E839-4C47-9676-C67F28A8BFBC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D4736DD-225B-4E66-9CA5-0A7DE50F5FAC}" type="pres">
      <dgm:prSet presAssocID="{DF4B2D82-6D11-4583-9B9A-1E86D0DFB65F}" presName="sp" presStyleCnt="0"/>
      <dgm:spPr/>
    </dgm:pt>
    <dgm:pt modelId="{A2C1B5DA-5DB5-4A9B-8BB3-3FDEB4940A55}" type="pres">
      <dgm:prSet presAssocID="{5D00DC91-EABE-480D-AE21-A37535654084}" presName="composite" presStyleCnt="0"/>
      <dgm:spPr/>
    </dgm:pt>
    <dgm:pt modelId="{85293336-CD30-4D81-8D02-F52A386FA155}" type="pres">
      <dgm:prSet presAssocID="{5D00DC91-EABE-480D-AE21-A37535654084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809B371-2B0C-4014-972B-5927B77A4236}" type="pres">
      <dgm:prSet presAssocID="{5D00DC91-EABE-480D-AE21-A37535654084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F83FB80-DE50-4460-B1E5-DADB0D0F7C5F}" type="pres">
      <dgm:prSet presAssocID="{1E7E3388-E5CF-46A0-85BA-5533E46D356C}" presName="sp" presStyleCnt="0"/>
      <dgm:spPr/>
    </dgm:pt>
    <dgm:pt modelId="{6C3D0FE5-0B16-482F-91D8-0A8586AA6AD5}" type="pres">
      <dgm:prSet presAssocID="{DC913F57-42B8-46A8-A08C-5E7BAA4456A0}" presName="composite" presStyleCnt="0"/>
      <dgm:spPr/>
    </dgm:pt>
    <dgm:pt modelId="{A9E23A6F-129C-4FA9-AC9B-00BBBD8E57A0}" type="pres">
      <dgm:prSet presAssocID="{DC913F57-42B8-46A8-A08C-5E7BAA4456A0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97495CF-EDD3-4DE8-B006-EF22F7D77756}" type="pres">
      <dgm:prSet presAssocID="{DC913F57-42B8-46A8-A08C-5E7BAA4456A0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F7674D8-98F6-49E5-BCFD-63DAFFA391F9}" srcId="{9F4ECCE9-1865-4F74-8801-D7DDBD4B4DCF}" destId="{BDC60AB8-E1A4-48F8-A13C-BBD33E4C25AA}" srcOrd="0" destOrd="0" parTransId="{D2B28482-640D-4D33-9925-9952571B5817}" sibTransId="{785789E8-2AD2-49D5-8BAF-3EA3B3ED716F}"/>
    <dgm:cxn modelId="{02498F11-B000-4436-BCF5-63F4377B6744}" srcId="{257D4BDA-E839-4C47-9676-C67F28A8BFBC}" destId="{99D34705-7D47-4F6C-BD09-97B7205EB2C3}" srcOrd="1" destOrd="0" parTransId="{966E0B1C-3371-400B-98AD-6C45658FBAC5}" sibTransId="{EE97CA3F-E53F-402F-B871-22B7ADAF03C4}"/>
    <dgm:cxn modelId="{5E88FB9F-99CF-4A4B-8DD1-60816312B44A}" srcId="{257D4BDA-E839-4C47-9676-C67F28A8BFBC}" destId="{58E8B8AC-40AE-41A5-8F78-BEC32B390F3C}" srcOrd="0" destOrd="0" parTransId="{33AF1757-B1F0-4480-AF63-DCE95608E29D}" sibTransId="{0BFCEFEE-66BC-46B0-9850-E7D6E8DD03F1}"/>
    <dgm:cxn modelId="{821BF4E0-3AA8-42CA-8AD0-4266F63155D5}" type="presOf" srcId="{257D4BDA-E839-4C47-9676-C67F28A8BFBC}" destId="{5AFAA384-8B0F-4B3C-B6A9-B982B9AC37AD}" srcOrd="0" destOrd="0" presId="urn:microsoft.com/office/officeart/2005/8/layout/chevron2"/>
    <dgm:cxn modelId="{7171378F-B33B-4322-8AE7-90230E3DEBA7}" type="presOf" srcId="{A947E420-5366-4A66-9E7B-E5D89B4ED3FA}" destId="{C97495CF-EDD3-4DE8-B006-EF22F7D77756}" srcOrd="0" destOrd="1" presId="urn:microsoft.com/office/officeart/2005/8/layout/chevron2"/>
    <dgm:cxn modelId="{B0FB99FA-6034-444B-9440-9FB3098C9600}" srcId="{DC913F57-42B8-46A8-A08C-5E7BAA4456A0}" destId="{1D437864-B470-4B40-AE9E-DD1D89E4FCAE}" srcOrd="0" destOrd="0" parTransId="{3642DB20-1682-4D5B-A02E-6C2468AC6E45}" sibTransId="{A48B8622-727B-4761-923E-3A89BA425EB3}"/>
    <dgm:cxn modelId="{C4CA2851-E065-44F2-A220-E72CE3544464}" srcId="{5D00DC91-EABE-480D-AE21-A37535654084}" destId="{447DEF84-9AC3-4A61-9036-95F9BF17F8C4}" srcOrd="1" destOrd="0" parTransId="{4CD96742-29BB-4409-9A78-61294DA0F40E}" sibTransId="{7215E895-FEE1-4FA5-A6D9-E754EA1E182C}"/>
    <dgm:cxn modelId="{A6665E87-11AA-46F8-A9C4-378DB07CC1F4}" type="presOf" srcId="{2A5BA26C-5161-42DF-B6D3-3D80F7136A94}" destId="{30F9D91C-2D8C-4575-852D-882CF727B3B1}" srcOrd="0" destOrd="0" presId="urn:microsoft.com/office/officeart/2005/8/layout/chevron2"/>
    <dgm:cxn modelId="{04C6B2D9-B1A7-4063-A85B-E5EA1E4D9C3F}" type="presOf" srcId="{447DEF84-9AC3-4A61-9036-95F9BF17F8C4}" destId="{3809B371-2B0C-4014-972B-5927B77A4236}" srcOrd="0" destOrd="1" presId="urn:microsoft.com/office/officeart/2005/8/layout/chevron2"/>
    <dgm:cxn modelId="{0EECE3C9-129D-420D-8C84-EBDCCAE08A40}" type="presOf" srcId="{C60457F7-CAE1-459A-B125-1D5D18D3BA8D}" destId="{C36789EE-4E16-48A6-A87C-D399CDA99045}" srcOrd="0" destOrd="1" presId="urn:microsoft.com/office/officeart/2005/8/layout/chevron2"/>
    <dgm:cxn modelId="{619F54C8-16C6-40EE-8AD2-30FCCCD253E7}" srcId="{2A5BA26C-5161-42DF-B6D3-3D80F7136A94}" destId="{257D4BDA-E839-4C47-9676-C67F28A8BFBC}" srcOrd="1" destOrd="0" parTransId="{2EA8E5EC-7CCF-4008-963B-B1D372BBA23E}" sibTransId="{DF4B2D82-6D11-4583-9B9A-1E86D0DFB65F}"/>
    <dgm:cxn modelId="{5B5C0BEB-1042-4A27-BD45-00362FDDFA4C}" srcId="{9F4ECCE9-1865-4F74-8801-D7DDBD4B4DCF}" destId="{C60457F7-CAE1-459A-B125-1D5D18D3BA8D}" srcOrd="1" destOrd="0" parTransId="{803396AF-856F-4DB3-9F75-DCE220A12CF0}" sibTransId="{E545DCFF-25A6-42A3-BA03-59FA95BD7EE1}"/>
    <dgm:cxn modelId="{6251B5F5-A496-4EA8-995C-BE673CBFF365}" srcId="{5D00DC91-EABE-480D-AE21-A37535654084}" destId="{5F1D3C91-492D-4594-AA5D-D33C00E8FB15}" srcOrd="0" destOrd="0" parTransId="{E4ED14B6-E9C5-4CE8-8FE6-BD464E3B64BA}" sibTransId="{97BACB69-369D-4FF6-80CB-FEC21C98DDEB}"/>
    <dgm:cxn modelId="{4FB4A02B-788E-4291-A0DC-66481BDF4666}" type="presOf" srcId="{5F1D3C91-492D-4594-AA5D-D33C00E8FB15}" destId="{3809B371-2B0C-4014-972B-5927B77A4236}" srcOrd="0" destOrd="0" presId="urn:microsoft.com/office/officeart/2005/8/layout/chevron2"/>
    <dgm:cxn modelId="{30DD868D-88CA-4290-8461-F82D9BDC13D4}" type="presOf" srcId="{9F4ECCE9-1865-4F74-8801-D7DDBD4B4DCF}" destId="{92E7FF70-7BD8-46B1-B288-A4DDE79A375D}" srcOrd="0" destOrd="0" presId="urn:microsoft.com/office/officeart/2005/8/layout/chevron2"/>
    <dgm:cxn modelId="{1946C556-966D-447D-9E22-2E469F9C0DAB}" srcId="{2A5BA26C-5161-42DF-B6D3-3D80F7136A94}" destId="{DC913F57-42B8-46A8-A08C-5E7BAA4456A0}" srcOrd="3" destOrd="0" parTransId="{087BD4CE-0A63-4659-A56C-40C5E1E9A35B}" sibTransId="{C1E09865-3BF1-43F0-9086-8D09D6705252}"/>
    <dgm:cxn modelId="{C1ED2692-824D-4CC3-AC34-58822BCB38EB}" type="presOf" srcId="{BDC60AB8-E1A4-48F8-A13C-BBD33E4C25AA}" destId="{C36789EE-4E16-48A6-A87C-D399CDA99045}" srcOrd="0" destOrd="0" presId="urn:microsoft.com/office/officeart/2005/8/layout/chevron2"/>
    <dgm:cxn modelId="{9D568B95-E9FF-4D5B-8F1C-9312EF272FF5}" srcId="{2A5BA26C-5161-42DF-B6D3-3D80F7136A94}" destId="{5D00DC91-EABE-480D-AE21-A37535654084}" srcOrd="2" destOrd="0" parTransId="{8F63A51B-23FC-4D2A-A802-2229804759C7}" sibTransId="{1E7E3388-E5CF-46A0-85BA-5533E46D356C}"/>
    <dgm:cxn modelId="{8E89A65E-336E-4BA7-BE08-CFF30E27C94A}" type="presOf" srcId="{5D00DC91-EABE-480D-AE21-A37535654084}" destId="{85293336-CD30-4D81-8D02-F52A386FA155}" srcOrd="0" destOrd="0" presId="urn:microsoft.com/office/officeart/2005/8/layout/chevron2"/>
    <dgm:cxn modelId="{ECC79F71-2B06-4E3D-BA30-62192EA144CE}" srcId="{DC913F57-42B8-46A8-A08C-5E7BAA4456A0}" destId="{A947E420-5366-4A66-9E7B-E5D89B4ED3FA}" srcOrd="1" destOrd="0" parTransId="{852819E8-E063-4A25-B2B9-85998ACC5865}" sibTransId="{DA7E24DF-5696-4684-AB37-48D74870E844}"/>
    <dgm:cxn modelId="{A4692FF8-D763-4D64-BF24-4FCE7101A2F7}" type="presOf" srcId="{1D437864-B470-4B40-AE9E-DD1D89E4FCAE}" destId="{C97495CF-EDD3-4DE8-B006-EF22F7D77756}" srcOrd="0" destOrd="0" presId="urn:microsoft.com/office/officeart/2005/8/layout/chevron2"/>
    <dgm:cxn modelId="{D40FF7E7-36A3-46C6-85B3-9FF5C2DB48C3}" type="presOf" srcId="{DC913F57-42B8-46A8-A08C-5E7BAA4456A0}" destId="{A9E23A6F-129C-4FA9-AC9B-00BBBD8E57A0}" srcOrd="0" destOrd="0" presId="urn:microsoft.com/office/officeart/2005/8/layout/chevron2"/>
    <dgm:cxn modelId="{D156BE45-995A-4ECC-BE4E-AEF387C5A0CF}" srcId="{2A5BA26C-5161-42DF-B6D3-3D80F7136A94}" destId="{9F4ECCE9-1865-4F74-8801-D7DDBD4B4DCF}" srcOrd="0" destOrd="0" parTransId="{FAADA1A8-5D0C-4E56-8396-1D700C06718A}" sibTransId="{049BA372-F936-4744-9775-A5D81E180520}"/>
    <dgm:cxn modelId="{F38F3F76-7FD4-463B-94BF-D1A75794FDA9}" type="presOf" srcId="{58E8B8AC-40AE-41A5-8F78-BEC32B390F3C}" destId="{D06F5EBF-4FFC-482E-905A-606619BC55C5}" srcOrd="0" destOrd="0" presId="urn:microsoft.com/office/officeart/2005/8/layout/chevron2"/>
    <dgm:cxn modelId="{B65AC8F7-84C3-40FE-B5A1-B82C83875417}" type="presOf" srcId="{99D34705-7D47-4F6C-BD09-97B7205EB2C3}" destId="{D06F5EBF-4FFC-482E-905A-606619BC55C5}" srcOrd="0" destOrd="1" presId="urn:microsoft.com/office/officeart/2005/8/layout/chevron2"/>
    <dgm:cxn modelId="{80794787-6C22-4CAB-BDB9-76B6A789ED22}" type="presParOf" srcId="{30F9D91C-2D8C-4575-852D-882CF727B3B1}" destId="{B054B9DD-5323-44F6-99D5-0BACD57A3819}" srcOrd="0" destOrd="0" presId="urn:microsoft.com/office/officeart/2005/8/layout/chevron2"/>
    <dgm:cxn modelId="{4B2AA905-4F52-4E1C-92F2-158462BAC727}" type="presParOf" srcId="{B054B9DD-5323-44F6-99D5-0BACD57A3819}" destId="{92E7FF70-7BD8-46B1-B288-A4DDE79A375D}" srcOrd="0" destOrd="0" presId="urn:microsoft.com/office/officeart/2005/8/layout/chevron2"/>
    <dgm:cxn modelId="{BD8036EE-CE9C-47EA-A673-106CB71C2304}" type="presParOf" srcId="{B054B9DD-5323-44F6-99D5-0BACD57A3819}" destId="{C36789EE-4E16-48A6-A87C-D399CDA99045}" srcOrd="1" destOrd="0" presId="urn:microsoft.com/office/officeart/2005/8/layout/chevron2"/>
    <dgm:cxn modelId="{B946DB52-6C03-46DC-B024-A02BB8A8B2AF}" type="presParOf" srcId="{30F9D91C-2D8C-4575-852D-882CF727B3B1}" destId="{4B838BC5-766B-4EBE-B054-22BCD0908D45}" srcOrd="1" destOrd="0" presId="urn:microsoft.com/office/officeart/2005/8/layout/chevron2"/>
    <dgm:cxn modelId="{55DC7D18-7343-4504-95C6-BC66C4A17F4F}" type="presParOf" srcId="{30F9D91C-2D8C-4575-852D-882CF727B3B1}" destId="{DF7C7C94-C05B-48F6-8067-FC02E4F3B21C}" srcOrd="2" destOrd="0" presId="urn:microsoft.com/office/officeart/2005/8/layout/chevron2"/>
    <dgm:cxn modelId="{5C4F3A1A-7E2C-4704-ADEA-4B0878B15205}" type="presParOf" srcId="{DF7C7C94-C05B-48F6-8067-FC02E4F3B21C}" destId="{5AFAA384-8B0F-4B3C-B6A9-B982B9AC37AD}" srcOrd="0" destOrd="0" presId="urn:microsoft.com/office/officeart/2005/8/layout/chevron2"/>
    <dgm:cxn modelId="{D1E044A0-252B-4D00-9BEC-756AF1DD6A10}" type="presParOf" srcId="{DF7C7C94-C05B-48F6-8067-FC02E4F3B21C}" destId="{D06F5EBF-4FFC-482E-905A-606619BC55C5}" srcOrd="1" destOrd="0" presId="urn:microsoft.com/office/officeart/2005/8/layout/chevron2"/>
    <dgm:cxn modelId="{B8F89694-163A-4BC5-932F-4D8091B0AC82}" type="presParOf" srcId="{30F9D91C-2D8C-4575-852D-882CF727B3B1}" destId="{FD4736DD-225B-4E66-9CA5-0A7DE50F5FAC}" srcOrd="3" destOrd="0" presId="urn:microsoft.com/office/officeart/2005/8/layout/chevron2"/>
    <dgm:cxn modelId="{749C91F1-383F-4D41-B108-4E34E8A22BA1}" type="presParOf" srcId="{30F9D91C-2D8C-4575-852D-882CF727B3B1}" destId="{A2C1B5DA-5DB5-4A9B-8BB3-3FDEB4940A55}" srcOrd="4" destOrd="0" presId="urn:microsoft.com/office/officeart/2005/8/layout/chevron2"/>
    <dgm:cxn modelId="{CD81DA0E-94F3-4CF0-9331-97709AB42F45}" type="presParOf" srcId="{A2C1B5DA-5DB5-4A9B-8BB3-3FDEB4940A55}" destId="{85293336-CD30-4D81-8D02-F52A386FA155}" srcOrd="0" destOrd="0" presId="urn:microsoft.com/office/officeart/2005/8/layout/chevron2"/>
    <dgm:cxn modelId="{0627AB5C-B3A8-4282-BE8A-30B8BB83D1F6}" type="presParOf" srcId="{A2C1B5DA-5DB5-4A9B-8BB3-3FDEB4940A55}" destId="{3809B371-2B0C-4014-972B-5927B77A4236}" srcOrd="1" destOrd="0" presId="urn:microsoft.com/office/officeart/2005/8/layout/chevron2"/>
    <dgm:cxn modelId="{3D3F2C00-0690-4E50-99D7-746D26D850B3}" type="presParOf" srcId="{30F9D91C-2D8C-4575-852D-882CF727B3B1}" destId="{CF83FB80-DE50-4460-B1E5-DADB0D0F7C5F}" srcOrd="5" destOrd="0" presId="urn:microsoft.com/office/officeart/2005/8/layout/chevron2"/>
    <dgm:cxn modelId="{EFE553C5-AE4C-4BC9-8FA6-1BB5E0BA98B3}" type="presParOf" srcId="{30F9D91C-2D8C-4575-852D-882CF727B3B1}" destId="{6C3D0FE5-0B16-482F-91D8-0A8586AA6AD5}" srcOrd="6" destOrd="0" presId="urn:microsoft.com/office/officeart/2005/8/layout/chevron2"/>
    <dgm:cxn modelId="{B339758A-0A5B-4E05-A86D-CA397E3F0B22}" type="presParOf" srcId="{6C3D0FE5-0B16-482F-91D8-0A8586AA6AD5}" destId="{A9E23A6F-129C-4FA9-AC9B-00BBBD8E57A0}" srcOrd="0" destOrd="0" presId="urn:microsoft.com/office/officeart/2005/8/layout/chevron2"/>
    <dgm:cxn modelId="{E8223F09-9D92-4910-9325-02BD81C63D45}" type="presParOf" srcId="{6C3D0FE5-0B16-482F-91D8-0A8586AA6AD5}" destId="{C97495CF-EDD3-4DE8-B006-EF22F7D7775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E4B1E9-CDD4-42E2-876B-8DC2E3759C73}" type="doc">
      <dgm:prSet loTypeId="urn:microsoft.com/office/officeart/2005/8/layout/bList2" loCatId="list" qsTypeId="urn:microsoft.com/office/officeart/2005/8/quickstyle/simple3" qsCatId="simple" csTypeId="urn:microsoft.com/office/officeart/2005/8/colors/accent1_2" csCatId="accent1" phldr="1"/>
      <dgm:spPr/>
    </dgm:pt>
    <dgm:pt modelId="{BA6BDA2B-3809-46B9-906C-E76C622D7663}">
      <dgm:prSet phldrT="[Текст]"/>
      <dgm:spPr/>
      <dgm:t>
        <a:bodyPr/>
        <a:lstStyle/>
        <a:p>
          <a:r>
            <a:rPr lang="ru-RU" dirty="0"/>
            <a:t>Толстый клиент</a:t>
          </a:r>
        </a:p>
      </dgm:t>
    </dgm:pt>
    <dgm:pt modelId="{A8C7BBEB-8F75-40D9-AD94-8C797EB00FAC}" type="parTrans" cxnId="{73B2E487-D435-439B-8CC3-0AA66B244614}">
      <dgm:prSet/>
      <dgm:spPr/>
      <dgm:t>
        <a:bodyPr/>
        <a:lstStyle/>
        <a:p>
          <a:endParaRPr lang="ru-RU"/>
        </a:p>
      </dgm:t>
    </dgm:pt>
    <dgm:pt modelId="{D1076CB6-B1D3-43F6-89A4-016259E2C169}" type="sibTrans" cxnId="{73B2E487-D435-439B-8CC3-0AA66B244614}">
      <dgm:prSet/>
      <dgm:spPr/>
      <dgm:t>
        <a:bodyPr/>
        <a:lstStyle/>
        <a:p>
          <a:endParaRPr lang="ru-RU"/>
        </a:p>
      </dgm:t>
    </dgm:pt>
    <dgm:pt modelId="{147E80F7-9097-4857-A998-383B2BA94671}">
      <dgm:prSet phldrT="[Текст]"/>
      <dgm:spPr/>
      <dgm:t>
        <a:bodyPr/>
        <a:lstStyle/>
        <a:p>
          <a:r>
            <a:rPr lang="ru-RU" dirty="0"/>
            <a:t>Тонкий клиент</a:t>
          </a:r>
        </a:p>
      </dgm:t>
    </dgm:pt>
    <dgm:pt modelId="{625E6DDB-893D-45B6-8022-582BE21769FA}" type="parTrans" cxnId="{A6293D55-B8F9-4750-9A5D-BD83B2E18F8C}">
      <dgm:prSet/>
      <dgm:spPr/>
      <dgm:t>
        <a:bodyPr/>
        <a:lstStyle/>
        <a:p>
          <a:endParaRPr lang="ru-RU"/>
        </a:p>
      </dgm:t>
    </dgm:pt>
    <dgm:pt modelId="{A99A34EB-624E-4A00-84C3-BD754E02639F}" type="sibTrans" cxnId="{A6293D55-B8F9-4750-9A5D-BD83B2E18F8C}">
      <dgm:prSet/>
      <dgm:spPr/>
      <dgm:t>
        <a:bodyPr/>
        <a:lstStyle/>
        <a:p>
          <a:endParaRPr lang="ru-RU"/>
        </a:p>
      </dgm:t>
    </dgm:pt>
    <dgm:pt modelId="{3AE4516D-D647-4E91-9801-5657E77DB0F7}">
      <dgm:prSet phldrT="[Текст]"/>
      <dgm:spPr/>
      <dgm:t>
        <a:bodyPr/>
        <a:lstStyle/>
        <a:p>
          <a:r>
            <a:rPr lang="en-US" dirty="0"/>
            <a:t>Web </a:t>
          </a:r>
          <a:r>
            <a:rPr lang="ru-RU" dirty="0"/>
            <a:t>клиент</a:t>
          </a:r>
        </a:p>
      </dgm:t>
    </dgm:pt>
    <dgm:pt modelId="{A1E467E5-651E-4AC6-B47F-6D9672E31842}" type="parTrans" cxnId="{AA348272-DA77-4C35-98D8-8014980166C3}">
      <dgm:prSet/>
      <dgm:spPr/>
      <dgm:t>
        <a:bodyPr/>
        <a:lstStyle/>
        <a:p>
          <a:endParaRPr lang="ru-RU"/>
        </a:p>
      </dgm:t>
    </dgm:pt>
    <dgm:pt modelId="{DBDFB307-82A6-43F1-8BD6-3BD52CA3B8D6}" type="sibTrans" cxnId="{AA348272-DA77-4C35-98D8-8014980166C3}">
      <dgm:prSet/>
      <dgm:spPr/>
      <dgm:t>
        <a:bodyPr/>
        <a:lstStyle/>
        <a:p>
          <a:endParaRPr lang="ru-RU"/>
        </a:p>
      </dgm:t>
    </dgm:pt>
    <dgm:pt modelId="{9FEF6FD3-10C4-4BB2-8602-0ACBD53F9968}">
      <dgm:prSet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Двухзвенная архитектура</a:t>
          </a:r>
        </a:p>
      </dgm:t>
    </dgm:pt>
    <dgm:pt modelId="{F829B828-659E-47E5-BBF8-0D3A247B2F5D}" type="parTrans" cxnId="{C4122E4B-4F11-462D-8631-24CA9302DA8D}">
      <dgm:prSet/>
      <dgm:spPr/>
      <dgm:t>
        <a:bodyPr/>
        <a:lstStyle/>
        <a:p>
          <a:endParaRPr lang="ru-RU"/>
        </a:p>
      </dgm:t>
    </dgm:pt>
    <dgm:pt modelId="{1391504E-E7BF-409F-9E07-1A31086A6DE0}" type="sibTrans" cxnId="{C4122E4B-4F11-462D-8631-24CA9302DA8D}">
      <dgm:prSet/>
      <dgm:spPr/>
      <dgm:t>
        <a:bodyPr/>
        <a:lstStyle/>
        <a:p>
          <a:endParaRPr lang="ru-RU"/>
        </a:p>
      </dgm:t>
    </dgm:pt>
    <dgm:pt modelId="{476017E9-63AB-4329-A006-DB591F05F860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Трехзвенная архитектура</a:t>
          </a:r>
        </a:p>
      </dgm:t>
    </dgm:pt>
    <dgm:pt modelId="{42EA8CF8-75B8-4F6B-98F5-536645059618}" type="parTrans" cxnId="{AC6DB940-8A9D-4AB3-8C01-51C218FC02A1}">
      <dgm:prSet/>
      <dgm:spPr/>
      <dgm:t>
        <a:bodyPr/>
        <a:lstStyle/>
        <a:p>
          <a:endParaRPr lang="ru-RU"/>
        </a:p>
      </dgm:t>
    </dgm:pt>
    <dgm:pt modelId="{4CC0543A-D9B2-47BC-9E35-05636F705D27}" type="sibTrans" cxnId="{AC6DB940-8A9D-4AB3-8C01-51C218FC02A1}">
      <dgm:prSet/>
      <dgm:spPr/>
      <dgm:t>
        <a:bodyPr/>
        <a:lstStyle/>
        <a:p>
          <a:endParaRPr lang="ru-RU"/>
        </a:p>
      </dgm:t>
    </dgm:pt>
    <dgm:pt modelId="{87E24A76-B311-4385-ADC8-5B44E73033F8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Трехзвенная архитектура</a:t>
          </a:r>
        </a:p>
      </dgm:t>
    </dgm:pt>
    <dgm:pt modelId="{6998F4A6-BAE1-4797-B275-F39664B99FC2}" type="parTrans" cxnId="{A8D2BCFD-6E8D-4757-93AD-A8067DF9ABEE}">
      <dgm:prSet/>
      <dgm:spPr/>
      <dgm:t>
        <a:bodyPr/>
        <a:lstStyle/>
        <a:p>
          <a:endParaRPr lang="ru-RU"/>
        </a:p>
      </dgm:t>
    </dgm:pt>
    <dgm:pt modelId="{639AB5F0-CE25-4632-8F9D-DA4B9D1BDACF}" type="sibTrans" cxnId="{A8D2BCFD-6E8D-4757-93AD-A8067DF9ABEE}">
      <dgm:prSet/>
      <dgm:spPr/>
      <dgm:t>
        <a:bodyPr/>
        <a:lstStyle/>
        <a:p>
          <a:endParaRPr lang="ru-RU"/>
        </a:p>
      </dgm:t>
    </dgm:pt>
    <dgm:pt modelId="{4DCB6290-70F8-4486-A9A5-ACD0FC7D3AB1}" type="pres">
      <dgm:prSet presAssocID="{6BE4B1E9-CDD4-42E2-876B-8DC2E3759C73}" presName="diagram" presStyleCnt="0">
        <dgm:presLayoutVars>
          <dgm:dir/>
          <dgm:animLvl val="lvl"/>
          <dgm:resizeHandles val="exact"/>
        </dgm:presLayoutVars>
      </dgm:prSet>
      <dgm:spPr/>
    </dgm:pt>
    <dgm:pt modelId="{6DBAB53B-E2AD-4AA4-85AC-64301CE28B3F}" type="pres">
      <dgm:prSet presAssocID="{BA6BDA2B-3809-46B9-906C-E76C622D7663}" presName="compNode" presStyleCnt="0"/>
      <dgm:spPr/>
    </dgm:pt>
    <dgm:pt modelId="{50E1E88C-A256-422E-9EBD-F8F94146236E}" type="pres">
      <dgm:prSet presAssocID="{BA6BDA2B-3809-46B9-906C-E76C622D7663}" presName="childRect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498FB4-05F0-4F5F-9860-E5780C0A119A}" type="pres">
      <dgm:prSet presAssocID="{BA6BDA2B-3809-46B9-906C-E76C622D7663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02CFCD8-AA9C-48C3-A75F-F60F507229AD}" type="pres">
      <dgm:prSet presAssocID="{BA6BDA2B-3809-46B9-906C-E76C622D7663}" presName="parentRect" presStyleLbl="alignNode1" presStyleIdx="0" presStyleCnt="3"/>
      <dgm:spPr/>
      <dgm:t>
        <a:bodyPr/>
        <a:lstStyle/>
        <a:p>
          <a:endParaRPr lang="ru-RU"/>
        </a:p>
      </dgm:t>
    </dgm:pt>
    <dgm:pt modelId="{BD6D4334-5BFC-4673-89F2-70458D2F0A1B}" type="pres">
      <dgm:prSet presAssocID="{BA6BDA2B-3809-46B9-906C-E76C622D7663}" presName="adorn" presStyleLbl="fgAccFollowNode1" presStyleIdx="0" presStyleCnt="3" custLinFactX="-20158" custLinFactY="1949" custLinFactNeighborX="-100000" custLinFactNeighborY="100000"/>
      <dgm:spPr/>
    </dgm:pt>
    <dgm:pt modelId="{FA7061E5-6B9F-4763-9C2C-FFA4D208F28F}" type="pres">
      <dgm:prSet presAssocID="{D1076CB6-B1D3-43F6-89A4-016259E2C169}" presName="sibTrans" presStyleLbl="sibTrans2D1" presStyleIdx="0" presStyleCnt="0"/>
      <dgm:spPr/>
      <dgm:t>
        <a:bodyPr/>
        <a:lstStyle/>
        <a:p>
          <a:endParaRPr lang="ru-RU"/>
        </a:p>
      </dgm:t>
    </dgm:pt>
    <dgm:pt modelId="{425206DF-DF8A-4ACE-A965-9B9995822542}" type="pres">
      <dgm:prSet presAssocID="{147E80F7-9097-4857-A998-383B2BA94671}" presName="compNode" presStyleCnt="0"/>
      <dgm:spPr/>
    </dgm:pt>
    <dgm:pt modelId="{7C7B2B67-A09A-47B8-9BB0-DF10101B32B9}" type="pres">
      <dgm:prSet presAssocID="{147E80F7-9097-4857-A998-383B2BA94671}" presName="childRect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6C26B9A-6043-4DDD-832B-53F3E7B56CF5}" type="pres">
      <dgm:prSet presAssocID="{147E80F7-9097-4857-A998-383B2BA94671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62659E5-A6CE-4120-9778-F2B29AB0AD01}" type="pres">
      <dgm:prSet presAssocID="{147E80F7-9097-4857-A998-383B2BA94671}" presName="parentRect" presStyleLbl="alignNode1" presStyleIdx="1" presStyleCnt="3"/>
      <dgm:spPr/>
      <dgm:t>
        <a:bodyPr/>
        <a:lstStyle/>
        <a:p>
          <a:endParaRPr lang="ru-RU"/>
        </a:p>
      </dgm:t>
    </dgm:pt>
    <dgm:pt modelId="{45F56922-E1CA-4DE3-A51A-CEA915922C10}" type="pres">
      <dgm:prSet presAssocID="{147E80F7-9097-4857-A998-383B2BA94671}" presName="adorn" presStyleLbl="fgAccFollowNode1" presStyleIdx="1" presStyleCnt="3" custLinFactX="-21989" custLinFactY="1949" custLinFactNeighborX="-100000" custLinFactNeighborY="100000"/>
      <dgm:spPr/>
    </dgm:pt>
    <dgm:pt modelId="{3E51D16A-0E46-4EC3-9211-17642B2F1BA0}" type="pres">
      <dgm:prSet presAssocID="{A99A34EB-624E-4A00-84C3-BD754E02639F}" presName="sibTrans" presStyleLbl="sibTrans2D1" presStyleIdx="0" presStyleCnt="0"/>
      <dgm:spPr/>
      <dgm:t>
        <a:bodyPr/>
        <a:lstStyle/>
        <a:p>
          <a:endParaRPr lang="ru-RU"/>
        </a:p>
      </dgm:t>
    </dgm:pt>
    <dgm:pt modelId="{D0A62ADC-BFFC-4DB3-8BDF-59D24088BFD8}" type="pres">
      <dgm:prSet presAssocID="{3AE4516D-D647-4E91-9801-5657E77DB0F7}" presName="compNode" presStyleCnt="0"/>
      <dgm:spPr/>
    </dgm:pt>
    <dgm:pt modelId="{7007F0F2-F5F8-4EC0-A041-D1E19BCA05B1}" type="pres">
      <dgm:prSet presAssocID="{3AE4516D-D647-4E91-9801-5657E77DB0F7}" presName="childRect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2AC2421-5405-4BEA-B795-B0E2133A3749}" type="pres">
      <dgm:prSet presAssocID="{3AE4516D-D647-4E91-9801-5657E77DB0F7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0049D3-3265-46CC-A671-991318EF0BA8}" type="pres">
      <dgm:prSet presAssocID="{3AE4516D-D647-4E91-9801-5657E77DB0F7}" presName="parentRect" presStyleLbl="alignNode1" presStyleIdx="2" presStyleCnt="3"/>
      <dgm:spPr/>
      <dgm:t>
        <a:bodyPr/>
        <a:lstStyle/>
        <a:p>
          <a:endParaRPr lang="ru-RU"/>
        </a:p>
      </dgm:t>
    </dgm:pt>
    <dgm:pt modelId="{54E5F5DF-46B8-4AAF-B1E8-004D01368152}" type="pres">
      <dgm:prSet presAssocID="{3AE4516D-D647-4E91-9801-5657E77DB0F7}" presName="adorn" presStyleLbl="fgAccFollowNode1" presStyleIdx="2" presStyleCnt="3" custLinFactX="-5862" custLinFactNeighborX="-100000" custLinFactNeighborY="94197"/>
      <dgm:spPr/>
    </dgm:pt>
  </dgm:ptLst>
  <dgm:cxnLst>
    <dgm:cxn modelId="{AC6DB940-8A9D-4AB3-8C01-51C218FC02A1}" srcId="{147E80F7-9097-4857-A998-383B2BA94671}" destId="{476017E9-63AB-4329-A006-DB591F05F860}" srcOrd="0" destOrd="0" parTransId="{42EA8CF8-75B8-4F6B-98F5-536645059618}" sibTransId="{4CC0543A-D9B2-47BC-9E35-05636F705D27}"/>
    <dgm:cxn modelId="{E48EF777-D50C-45D0-9E52-3E88190D1798}" type="presOf" srcId="{BA6BDA2B-3809-46B9-906C-E76C622D7663}" destId="{E02CFCD8-AA9C-48C3-A75F-F60F507229AD}" srcOrd="1" destOrd="0" presId="urn:microsoft.com/office/officeart/2005/8/layout/bList2"/>
    <dgm:cxn modelId="{A6293D55-B8F9-4750-9A5D-BD83B2E18F8C}" srcId="{6BE4B1E9-CDD4-42E2-876B-8DC2E3759C73}" destId="{147E80F7-9097-4857-A998-383B2BA94671}" srcOrd="1" destOrd="0" parTransId="{625E6DDB-893D-45B6-8022-582BE21769FA}" sibTransId="{A99A34EB-624E-4A00-84C3-BD754E02639F}"/>
    <dgm:cxn modelId="{AFBD723C-C297-465E-978E-5CBD8B29A341}" type="presOf" srcId="{9FEF6FD3-10C4-4BB2-8602-0ACBD53F9968}" destId="{50E1E88C-A256-422E-9EBD-F8F94146236E}" srcOrd="0" destOrd="0" presId="urn:microsoft.com/office/officeart/2005/8/layout/bList2"/>
    <dgm:cxn modelId="{A8D2BCFD-6E8D-4757-93AD-A8067DF9ABEE}" srcId="{3AE4516D-D647-4E91-9801-5657E77DB0F7}" destId="{87E24A76-B311-4385-ADC8-5B44E73033F8}" srcOrd="0" destOrd="0" parTransId="{6998F4A6-BAE1-4797-B275-F39664B99FC2}" sibTransId="{639AB5F0-CE25-4632-8F9D-DA4B9D1BDACF}"/>
    <dgm:cxn modelId="{3120D4E9-4E15-4BED-A524-FFAD5E45A588}" type="presOf" srcId="{D1076CB6-B1D3-43F6-89A4-016259E2C169}" destId="{FA7061E5-6B9F-4763-9C2C-FFA4D208F28F}" srcOrd="0" destOrd="0" presId="urn:microsoft.com/office/officeart/2005/8/layout/bList2"/>
    <dgm:cxn modelId="{50101272-3B91-4005-8AB8-5A04D7C38A10}" type="presOf" srcId="{6BE4B1E9-CDD4-42E2-876B-8DC2E3759C73}" destId="{4DCB6290-70F8-4486-A9A5-ACD0FC7D3AB1}" srcOrd="0" destOrd="0" presId="urn:microsoft.com/office/officeart/2005/8/layout/bList2"/>
    <dgm:cxn modelId="{FE1B496E-B9C4-4F3D-BF97-F3061035ED3E}" type="presOf" srcId="{87E24A76-B311-4385-ADC8-5B44E73033F8}" destId="{7007F0F2-F5F8-4EC0-A041-D1E19BCA05B1}" srcOrd="0" destOrd="0" presId="urn:microsoft.com/office/officeart/2005/8/layout/bList2"/>
    <dgm:cxn modelId="{C3CAEB25-9F67-4D76-80B6-7E8125C79B0C}" type="presOf" srcId="{3AE4516D-D647-4E91-9801-5657E77DB0F7}" destId="{82AC2421-5405-4BEA-B795-B0E2133A3749}" srcOrd="0" destOrd="0" presId="urn:microsoft.com/office/officeart/2005/8/layout/bList2"/>
    <dgm:cxn modelId="{01E68C4F-058B-42CD-8668-90E1E5E04F11}" type="presOf" srcId="{A99A34EB-624E-4A00-84C3-BD754E02639F}" destId="{3E51D16A-0E46-4EC3-9211-17642B2F1BA0}" srcOrd="0" destOrd="0" presId="urn:microsoft.com/office/officeart/2005/8/layout/bList2"/>
    <dgm:cxn modelId="{22531F9A-E336-42AB-A592-6FC238182ED4}" type="presOf" srcId="{BA6BDA2B-3809-46B9-906C-E76C622D7663}" destId="{D9498FB4-05F0-4F5F-9860-E5780C0A119A}" srcOrd="0" destOrd="0" presId="urn:microsoft.com/office/officeart/2005/8/layout/bList2"/>
    <dgm:cxn modelId="{B38AE4C8-6E7A-42BC-AF19-D615C6B02BB6}" type="presOf" srcId="{476017E9-63AB-4329-A006-DB591F05F860}" destId="{7C7B2B67-A09A-47B8-9BB0-DF10101B32B9}" srcOrd="0" destOrd="0" presId="urn:microsoft.com/office/officeart/2005/8/layout/bList2"/>
    <dgm:cxn modelId="{73B2E487-D435-439B-8CC3-0AA66B244614}" srcId="{6BE4B1E9-CDD4-42E2-876B-8DC2E3759C73}" destId="{BA6BDA2B-3809-46B9-906C-E76C622D7663}" srcOrd="0" destOrd="0" parTransId="{A8C7BBEB-8F75-40D9-AD94-8C797EB00FAC}" sibTransId="{D1076CB6-B1D3-43F6-89A4-016259E2C169}"/>
    <dgm:cxn modelId="{886F87AB-4D58-4361-9261-7FBDFF5FCE26}" type="presOf" srcId="{3AE4516D-D647-4E91-9801-5657E77DB0F7}" destId="{570049D3-3265-46CC-A671-991318EF0BA8}" srcOrd="1" destOrd="0" presId="urn:microsoft.com/office/officeart/2005/8/layout/bList2"/>
    <dgm:cxn modelId="{C4122E4B-4F11-462D-8631-24CA9302DA8D}" srcId="{BA6BDA2B-3809-46B9-906C-E76C622D7663}" destId="{9FEF6FD3-10C4-4BB2-8602-0ACBD53F9968}" srcOrd="0" destOrd="0" parTransId="{F829B828-659E-47E5-BBF8-0D3A247B2F5D}" sibTransId="{1391504E-E7BF-409F-9E07-1A31086A6DE0}"/>
    <dgm:cxn modelId="{AA348272-DA77-4C35-98D8-8014980166C3}" srcId="{6BE4B1E9-CDD4-42E2-876B-8DC2E3759C73}" destId="{3AE4516D-D647-4E91-9801-5657E77DB0F7}" srcOrd="2" destOrd="0" parTransId="{A1E467E5-651E-4AC6-B47F-6D9672E31842}" sibTransId="{DBDFB307-82A6-43F1-8BD6-3BD52CA3B8D6}"/>
    <dgm:cxn modelId="{7E48F6AF-177F-44FE-8258-861145C29CA5}" type="presOf" srcId="{147E80F7-9097-4857-A998-383B2BA94671}" destId="{76C26B9A-6043-4DDD-832B-53F3E7B56CF5}" srcOrd="0" destOrd="0" presId="urn:microsoft.com/office/officeart/2005/8/layout/bList2"/>
    <dgm:cxn modelId="{8525E3F9-C8D6-49EE-A9A5-27014AFC0694}" type="presOf" srcId="{147E80F7-9097-4857-A998-383B2BA94671}" destId="{262659E5-A6CE-4120-9778-F2B29AB0AD01}" srcOrd="1" destOrd="0" presId="urn:microsoft.com/office/officeart/2005/8/layout/bList2"/>
    <dgm:cxn modelId="{CF64905B-C06F-47B9-8E16-3DDD0B015329}" type="presParOf" srcId="{4DCB6290-70F8-4486-A9A5-ACD0FC7D3AB1}" destId="{6DBAB53B-E2AD-4AA4-85AC-64301CE28B3F}" srcOrd="0" destOrd="0" presId="urn:microsoft.com/office/officeart/2005/8/layout/bList2"/>
    <dgm:cxn modelId="{461F264D-C7BC-4F0F-9FA4-ABF6C4236690}" type="presParOf" srcId="{6DBAB53B-E2AD-4AA4-85AC-64301CE28B3F}" destId="{50E1E88C-A256-422E-9EBD-F8F94146236E}" srcOrd="0" destOrd="0" presId="urn:microsoft.com/office/officeart/2005/8/layout/bList2"/>
    <dgm:cxn modelId="{990E69C0-D841-4AC0-91D6-75BDF53277E0}" type="presParOf" srcId="{6DBAB53B-E2AD-4AA4-85AC-64301CE28B3F}" destId="{D9498FB4-05F0-4F5F-9860-E5780C0A119A}" srcOrd="1" destOrd="0" presId="urn:microsoft.com/office/officeart/2005/8/layout/bList2"/>
    <dgm:cxn modelId="{0BFC6B88-C9F3-42F0-8F31-6B2DC2BD8D3D}" type="presParOf" srcId="{6DBAB53B-E2AD-4AA4-85AC-64301CE28B3F}" destId="{E02CFCD8-AA9C-48C3-A75F-F60F507229AD}" srcOrd="2" destOrd="0" presId="urn:microsoft.com/office/officeart/2005/8/layout/bList2"/>
    <dgm:cxn modelId="{347731AF-91E6-42C7-972C-0B1D0C3DBCA2}" type="presParOf" srcId="{6DBAB53B-E2AD-4AA4-85AC-64301CE28B3F}" destId="{BD6D4334-5BFC-4673-89F2-70458D2F0A1B}" srcOrd="3" destOrd="0" presId="urn:microsoft.com/office/officeart/2005/8/layout/bList2"/>
    <dgm:cxn modelId="{4AAAEDC6-4982-4483-A73D-58AC5178139E}" type="presParOf" srcId="{4DCB6290-70F8-4486-A9A5-ACD0FC7D3AB1}" destId="{FA7061E5-6B9F-4763-9C2C-FFA4D208F28F}" srcOrd="1" destOrd="0" presId="urn:microsoft.com/office/officeart/2005/8/layout/bList2"/>
    <dgm:cxn modelId="{E3F48BFE-DB0C-4882-B5A0-6B791F9EF084}" type="presParOf" srcId="{4DCB6290-70F8-4486-A9A5-ACD0FC7D3AB1}" destId="{425206DF-DF8A-4ACE-A965-9B9995822542}" srcOrd="2" destOrd="0" presId="urn:microsoft.com/office/officeart/2005/8/layout/bList2"/>
    <dgm:cxn modelId="{25689718-2A47-4733-8F70-D7D4AB79318B}" type="presParOf" srcId="{425206DF-DF8A-4ACE-A965-9B9995822542}" destId="{7C7B2B67-A09A-47B8-9BB0-DF10101B32B9}" srcOrd="0" destOrd="0" presId="urn:microsoft.com/office/officeart/2005/8/layout/bList2"/>
    <dgm:cxn modelId="{941307CF-4865-4F8A-B82C-985C84B56A38}" type="presParOf" srcId="{425206DF-DF8A-4ACE-A965-9B9995822542}" destId="{76C26B9A-6043-4DDD-832B-53F3E7B56CF5}" srcOrd="1" destOrd="0" presId="urn:microsoft.com/office/officeart/2005/8/layout/bList2"/>
    <dgm:cxn modelId="{BBA69874-5DF0-465C-968F-B6FF9E6F9E8C}" type="presParOf" srcId="{425206DF-DF8A-4ACE-A965-9B9995822542}" destId="{262659E5-A6CE-4120-9778-F2B29AB0AD01}" srcOrd="2" destOrd="0" presId="urn:microsoft.com/office/officeart/2005/8/layout/bList2"/>
    <dgm:cxn modelId="{4975D3C4-F894-46E2-AC26-053F8AE33741}" type="presParOf" srcId="{425206DF-DF8A-4ACE-A965-9B9995822542}" destId="{45F56922-E1CA-4DE3-A51A-CEA915922C10}" srcOrd="3" destOrd="0" presId="urn:microsoft.com/office/officeart/2005/8/layout/bList2"/>
    <dgm:cxn modelId="{ADAC3479-A33B-4C18-9B9B-603764DB079A}" type="presParOf" srcId="{4DCB6290-70F8-4486-A9A5-ACD0FC7D3AB1}" destId="{3E51D16A-0E46-4EC3-9211-17642B2F1BA0}" srcOrd="3" destOrd="0" presId="urn:microsoft.com/office/officeart/2005/8/layout/bList2"/>
    <dgm:cxn modelId="{6E4A04DC-DA25-4376-9330-7E2CF1730EDF}" type="presParOf" srcId="{4DCB6290-70F8-4486-A9A5-ACD0FC7D3AB1}" destId="{D0A62ADC-BFFC-4DB3-8BDF-59D24088BFD8}" srcOrd="4" destOrd="0" presId="urn:microsoft.com/office/officeart/2005/8/layout/bList2"/>
    <dgm:cxn modelId="{4CDAB336-AFAA-44BC-9698-99A997BE6F51}" type="presParOf" srcId="{D0A62ADC-BFFC-4DB3-8BDF-59D24088BFD8}" destId="{7007F0F2-F5F8-4EC0-A041-D1E19BCA05B1}" srcOrd="0" destOrd="0" presId="urn:microsoft.com/office/officeart/2005/8/layout/bList2"/>
    <dgm:cxn modelId="{5670F18C-E79A-4D30-B453-B3AB9D8A1063}" type="presParOf" srcId="{D0A62ADC-BFFC-4DB3-8BDF-59D24088BFD8}" destId="{82AC2421-5405-4BEA-B795-B0E2133A3749}" srcOrd="1" destOrd="0" presId="urn:microsoft.com/office/officeart/2005/8/layout/bList2"/>
    <dgm:cxn modelId="{55C8AE2E-D2AD-43FA-9737-34ED2FB6C660}" type="presParOf" srcId="{D0A62ADC-BFFC-4DB3-8BDF-59D24088BFD8}" destId="{570049D3-3265-46CC-A671-991318EF0BA8}" srcOrd="2" destOrd="0" presId="urn:microsoft.com/office/officeart/2005/8/layout/bList2"/>
    <dgm:cxn modelId="{C99B2230-8ABC-4F08-BC69-D6D7DFC9DC13}" type="presParOf" srcId="{D0A62ADC-BFFC-4DB3-8BDF-59D24088BFD8}" destId="{54E5F5DF-46B8-4AAF-B1E8-004D01368152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6FCD31-9CD7-46D7-A799-C7CDA4BD5040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C8AA887C-8420-4FEC-B310-2A5006E374B2}">
      <dgm:prSet phldrT="[Текст]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Толстый клиент</a:t>
          </a:r>
        </a:p>
      </dgm:t>
    </dgm:pt>
    <dgm:pt modelId="{9C79906A-F7E8-4134-9C1C-936806B8D79C}" type="parTrans" cxnId="{B301E3DF-1775-416E-8793-E889CDB70EF9}">
      <dgm:prSet/>
      <dgm:spPr/>
      <dgm:t>
        <a:bodyPr/>
        <a:lstStyle/>
        <a:p>
          <a:endParaRPr lang="ru-RU"/>
        </a:p>
      </dgm:t>
    </dgm:pt>
    <dgm:pt modelId="{3275B89E-C37C-4B52-8805-337DA880703E}" type="sibTrans" cxnId="{B301E3DF-1775-416E-8793-E889CDB70EF9}">
      <dgm:prSet/>
      <dgm:spPr/>
      <dgm:t>
        <a:bodyPr/>
        <a:lstStyle/>
        <a:p>
          <a:endParaRPr lang="ru-RU"/>
        </a:p>
      </dgm:t>
    </dgm:pt>
    <dgm:pt modelId="{5C1C04F5-C578-462B-A7CD-14D1377FD8F1}">
      <dgm:prSet phldrT="[Текст]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Тонкий клиент</a:t>
          </a:r>
        </a:p>
      </dgm:t>
    </dgm:pt>
    <dgm:pt modelId="{3BCDFFDA-12D0-43BD-BF46-BF7A8571BF6D}" type="parTrans" cxnId="{A3ACDE02-B8DC-4FB2-B66E-1F5A93EB961B}">
      <dgm:prSet/>
      <dgm:spPr/>
      <dgm:t>
        <a:bodyPr/>
        <a:lstStyle/>
        <a:p>
          <a:endParaRPr lang="ru-RU"/>
        </a:p>
      </dgm:t>
    </dgm:pt>
    <dgm:pt modelId="{2B483925-5DF3-440D-AA2D-109062DA1F9F}" type="sibTrans" cxnId="{A3ACDE02-B8DC-4FB2-B66E-1F5A93EB961B}">
      <dgm:prSet/>
      <dgm:spPr/>
      <dgm:t>
        <a:bodyPr/>
        <a:lstStyle/>
        <a:p>
          <a:endParaRPr lang="ru-RU"/>
        </a:p>
      </dgm:t>
    </dgm:pt>
    <dgm:pt modelId="{DA039EFD-83B7-46E6-BB4E-F3139C8B0EF9}">
      <dgm:prSet phldrT="[Текст]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Web </a:t>
          </a:r>
          <a:r>
            <a:rPr lang="ru-RU" dirty="0"/>
            <a:t>клиент</a:t>
          </a:r>
        </a:p>
      </dgm:t>
    </dgm:pt>
    <dgm:pt modelId="{045F906D-B3AF-41D9-AB25-BFFEC3D07FEF}" type="parTrans" cxnId="{8D6645D0-EB90-4A6E-B84B-0E2A3F9FA85C}">
      <dgm:prSet/>
      <dgm:spPr/>
      <dgm:t>
        <a:bodyPr/>
        <a:lstStyle/>
        <a:p>
          <a:endParaRPr lang="ru-RU"/>
        </a:p>
      </dgm:t>
    </dgm:pt>
    <dgm:pt modelId="{9217A7F2-014F-4875-B7A0-5472C79A2B34}" type="sibTrans" cxnId="{8D6645D0-EB90-4A6E-B84B-0E2A3F9FA85C}">
      <dgm:prSet/>
      <dgm:spPr/>
      <dgm:t>
        <a:bodyPr/>
        <a:lstStyle/>
        <a:p>
          <a:endParaRPr lang="ru-RU"/>
        </a:p>
      </dgm:t>
    </dgm:pt>
    <dgm:pt modelId="{7F2367A6-5CC9-4B3B-A709-E928C933B17C}" type="pres">
      <dgm:prSet presAssocID="{9E6FCD31-9CD7-46D7-A799-C7CDA4BD5040}" presName="diagram" presStyleCnt="0">
        <dgm:presLayoutVars>
          <dgm:dir/>
          <dgm:animLvl val="lvl"/>
          <dgm:resizeHandles val="exact"/>
        </dgm:presLayoutVars>
      </dgm:prSet>
      <dgm:spPr/>
    </dgm:pt>
    <dgm:pt modelId="{C1E7BFFF-7E99-4F70-8599-1E3D1A41DABC}" type="pres">
      <dgm:prSet presAssocID="{C8AA887C-8420-4FEC-B310-2A5006E374B2}" presName="compNode" presStyleCnt="0"/>
      <dgm:spPr/>
    </dgm:pt>
    <dgm:pt modelId="{C70B0CE0-2FDD-4A44-B0EB-D794A5BB2D04}" type="pres">
      <dgm:prSet presAssocID="{C8AA887C-8420-4FEC-B310-2A5006E374B2}" presName="childRect" presStyleLbl="bgAcc1" presStyleIdx="0" presStyleCnt="3" custLinFactNeighborX="-64252" custLinFactNeighborY="-1606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C1F2B482-6CB4-4332-A202-6F45327EA725}" type="pres">
      <dgm:prSet presAssocID="{C8AA887C-8420-4FEC-B310-2A5006E374B2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50427AC-AE6E-4C7F-8FEC-3C1389F7A49A}" type="pres">
      <dgm:prSet presAssocID="{C8AA887C-8420-4FEC-B310-2A5006E374B2}" presName="parentRect" presStyleLbl="alignNode1" presStyleIdx="0" presStyleCnt="3" custLinFactNeighborX="-64252" custLinFactNeighborY="-3734"/>
      <dgm:spPr/>
      <dgm:t>
        <a:bodyPr/>
        <a:lstStyle/>
        <a:p>
          <a:endParaRPr lang="ru-RU"/>
        </a:p>
      </dgm:t>
    </dgm:pt>
    <dgm:pt modelId="{42CE1762-AAA9-4B18-A6FB-62D4D2BA41AD}" type="pres">
      <dgm:prSet presAssocID="{C8AA887C-8420-4FEC-B310-2A5006E374B2}" presName="adorn" presStyleLbl="fgAccFollowNode1" presStyleIdx="0" presStyleCnt="3" custLinFactY="-36182" custLinFactNeighborX="-48242" custLinFactNeighborY="-100000"/>
      <dgm:spPr/>
    </dgm:pt>
    <dgm:pt modelId="{BB111848-AB7E-4FCC-A569-C9FF2DF6B198}" type="pres">
      <dgm:prSet presAssocID="{3275B89E-C37C-4B52-8805-337DA880703E}" presName="sibTrans" presStyleLbl="sibTrans2D1" presStyleIdx="0" presStyleCnt="0"/>
      <dgm:spPr/>
      <dgm:t>
        <a:bodyPr/>
        <a:lstStyle/>
        <a:p>
          <a:endParaRPr lang="ru-RU"/>
        </a:p>
      </dgm:t>
    </dgm:pt>
    <dgm:pt modelId="{BE6FBA9F-4BEC-4E97-8CA6-7789C7A13469}" type="pres">
      <dgm:prSet presAssocID="{5C1C04F5-C578-462B-A7CD-14D1377FD8F1}" presName="compNode" presStyleCnt="0"/>
      <dgm:spPr/>
    </dgm:pt>
    <dgm:pt modelId="{3E0F060A-85B4-44AE-BD02-BE6250382FE5}" type="pres">
      <dgm:prSet presAssocID="{5C1C04F5-C578-462B-A7CD-14D1377FD8F1}" presName="childRect" presStyleLbl="bgAcc1" presStyleIdx="1" presStyleCnt="3">
        <dgm:presLayoutVars>
          <dgm:bulletEnabled val="1"/>
        </dgm:presLayoutVars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</dgm:pt>
    <dgm:pt modelId="{5C2F96B8-6E04-4518-9106-9ECA11F8AB28}" type="pres">
      <dgm:prSet presAssocID="{5C1C04F5-C578-462B-A7CD-14D1377FD8F1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572DAA9-C897-43DA-BAAA-4B9D92C7E009}" type="pres">
      <dgm:prSet presAssocID="{5C1C04F5-C578-462B-A7CD-14D1377FD8F1}" presName="parentRect" presStyleLbl="alignNode1" presStyleIdx="1" presStyleCnt="3"/>
      <dgm:spPr/>
      <dgm:t>
        <a:bodyPr/>
        <a:lstStyle/>
        <a:p>
          <a:endParaRPr lang="ru-RU"/>
        </a:p>
      </dgm:t>
    </dgm:pt>
    <dgm:pt modelId="{4CC35271-695F-45DF-A878-351819ACFE76}" type="pres">
      <dgm:prSet presAssocID="{5C1C04F5-C578-462B-A7CD-14D1377FD8F1}" presName="adorn" presStyleLbl="fgAccFollowNode1" presStyleIdx="1" presStyleCnt="3" custLinFactX="37437" custLinFactY="-36182" custLinFactNeighborX="100000" custLinFactNeighborY="-100000"/>
      <dgm:spPr/>
    </dgm:pt>
    <dgm:pt modelId="{11D27FE4-25F1-4835-864E-C22570D8AA7A}" type="pres">
      <dgm:prSet presAssocID="{2B483925-5DF3-440D-AA2D-109062DA1F9F}" presName="sibTrans" presStyleLbl="sibTrans2D1" presStyleIdx="0" presStyleCnt="0"/>
      <dgm:spPr/>
      <dgm:t>
        <a:bodyPr/>
        <a:lstStyle/>
        <a:p>
          <a:endParaRPr lang="ru-RU"/>
        </a:p>
      </dgm:t>
    </dgm:pt>
    <dgm:pt modelId="{CDF18D47-B1B9-4BC3-B2F8-6A0DEBA4A652}" type="pres">
      <dgm:prSet presAssocID="{DA039EFD-83B7-46E6-BB4E-F3139C8B0EF9}" presName="compNode" presStyleCnt="0"/>
      <dgm:spPr/>
    </dgm:pt>
    <dgm:pt modelId="{4D528C04-8AF1-47E4-BD4C-46FC571C1DF0}" type="pres">
      <dgm:prSet presAssocID="{DA039EFD-83B7-46E6-BB4E-F3139C8B0EF9}" presName="childRect" presStyleLbl="bgAcc1" presStyleIdx="2" presStyleCnt="3" custLinFactNeighborX="61318" custLinFactNeighborY="1885">
        <dgm:presLayoutVars>
          <dgm:bulletEnabled val="1"/>
        </dgm:presLayoutVars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</dgm:pt>
    <dgm:pt modelId="{39EB7008-FD6B-47E1-930E-FC8D8F37254C}" type="pres">
      <dgm:prSet presAssocID="{DA039EFD-83B7-46E6-BB4E-F3139C8B0EF9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D0D20B-72E9-4AA8-8C3E-C33DED621785}" type="pres">
      <dgm:prSet presAssocID="{DA039EFD-83B7-46E6-BB4E-F3139C8B0EF9}" presName="parentRect" presStyleLbl="alignNode1" presStyleIdx="2" presStyleCnt="3" custLinFactNeighborX="61318" custLinFactNeighborY="4384"/>
      <dgm:spPr/>
      <dgm:t>
        <a:bodyPr/>
        <a:lstStyle/>
        <a:p>
          <a:endParaRPr lang="ru-RU"/>
        </a:p>
      </dgm:t>
    </dgm:pt>
    <dgm:pt modelId="{AD414195-14BE-4F49-A9FB-819997421529}" type="pres">
      <dgm:prSet presAssocID="{DA039EFD-83B7-46E6-BB4E-F3139C8B0EF9}" presName="adorn" presStyleLbl="fgAccFollowNode1" presStyleIdx="2" presStyleCnt="3" custLinFactX="-96627" custLinFactY="-36182" custLinFactNeighborX="-100000" custLinFactNeighborY="-100000"/>
      <dgm:spPr/>
    </dgm:pt>
  </dgm:ptLst>
  <dgm:cxnLst>
    <dgm:cxn modelId="{822BC034-1E4C-4CEB-B143-239774EB66BD}" type="presOf" srcId="{DA039EFD-83B7-46E6-BB4E-F3139C8B0EF9}" destId="{39EB7008-FD6B-47E1-930E-FC8D8F37254C}" srcOrd="0" destOrd="0" presId="urn:microsoft.com/office/officeart/2005/8/layout/bList2"/>
    <dgm:cxn modelId="{69BDA9D7-7743-4780-83C7-4C0D8E5E40BD}" type="presOf" srcId="{9E6FCD31-9CD7-46D7-A799-C7CDA4BD5040}" destId="{7F2367A6-5CC9-4B3B-A709-E928C933B17C}" srcOrd="0" destOrd="0" presId="urn:microsoft.com/office/officeart/2005/8/layout/bList2"/>
    <dgm:cxn modelId="{8FCCF335-B7A4-49C1-9752-91A31DF82902}" type="presOf" srcId="{C8AA887C-8420-4FEC-B310-2A5006E374B2}" destId="{350427AC-AE6E-4C7F-8FEC-3C1389F7A49A}" srcOrd="1" destOrd="0" presId="urn:microsoft.com/office/officeart/2005/8/layout/bList2"/>
    <dgm:cxn modelId="{CF415A55-8B6D-4EF4-941B-084072902B46}" type="presOf" srcId="{5C1C04F5-C578-462B-A7CD-14D1377FD8F1}" destId="{5C2F96B8-6E04-4518-9106-9ECA11F8AB28}" srcOrd="0" destOrd="0" presId="urn:microsoft.com/office/officeart/2005/8/layout/bList2"/>
    <dgm:cxn modelId="{A3ACDE02-B8DC-4FB2-B66E-1F5A93EB961B}" srcId="{9E6FCD31-9CD7-46D7-A799-C7CDA4BD5040}" destId="{5C1C04F5-C578-462B-A7CD-14D1377FD8F1}" srcOrd="1" destOrd="0" parTransId="{3BCDFFDA-12D0-43BD-BF46-BF7A8571BF6D}" sibTransId="{2B483925-5DF3-440D-AA2D-109062DA1F9F}"/>
    <dgm:cxn modelId="{B301E3DF-1775-416E-8793-E889CDB70EF9}" srcId="{9E6FCD31-9CD7-46D7-A799-C7CDA4BD5040}" destId="{C8AA887C-8420-4FEC-B310-2A5006E374B2}" srcOrd="0" destOrd="0" parTransId="{9C79906A-F7E8-4134-9C1C-936806B8D79C}" sibTransId="{3275B89E-C37C-4B52-8805-337DA880703E}"/>
    <dgm:cxn modelId="{09FB72AE-CA28-4E40-81EB-461120BA14C8}" type="presOf" srcId="{2B483925-5DF3-440D-AA2D-109062DA1F9F}" destId="{11D27FE4-25F1-4835-864E-C22570D8AA7A}" srcOrd="0" destOrd="0" presId="urn:microsoft.com/office/officeart/2005/8/layout/bList2"/>
    <dgm:cxn modelId="{CDD4A13C-28E6-4F70-AC33-22C1FCB31A3C}" type="presOf" srcId="{DA039EFD-83B7-46E6-BB4E-F3139C8B0EF9}" destId="{BED0D20B-72E9-4AA8-8C3E-C33DED621785}" srcOrd="1" destOrd="0" presId="urn:microsoft.com/office/officeart/2005/8/layout/bList2"/>
    <dgm:cxn modelId="{6D4C126E-76D6-4174-B159-C3C9B4EE1416}" type="presOf" srcId="{3275B89E-C37C-4B52-8805-337DA880703E}" destId="{BB111848-AB7E-4FCC-A569-C9FF2DF6B198}" srcOrd="0" destOrd="0" presId="urn:microsoft.com/office/officeart/2005/8/layout/bList2"/>
    <dgm:cxn modelId="{8D6645D0-EB90-4A6E-B84B-0E2A3F9FA85C}" srcId="{9E6FCD31-9CD7-46D7-A799-C7CDA4BD5040}" destId="{DA039EFD-83B7-46E6-BB4E-F3139C8B0EF9}" srcOrd="2" destOrd="0" parTransId="{045F906D-B3AF-41D9-AB25-BFFEC3D07FEF}" sibTransId="{9217A7F2-014F-4875-B7A0-5472C79A2B34}"/>
    <dgm:cxn modelId="{6E16891E-908F-406A-87D8-E2C742B43C8B}" type="presOf" srcId="{C8AA887C-8420-4FEC-B310-2A5006E374B2}" destId="{C1F2B482-6CB4-4332-A202-6F45327EA725}" srcOrd="0" destOrd="0" presId="urn:microsoft.com/office/officeart/2005/8/layout/bList2"/>
    <dgm:cxn modelId="{816B6AD5-78B2-4ED4-9ADB-625176E3C757}" type="presOf" srcId="{5C1C04F5-C578-462B-A7CD-14D1377FD8F1}" destId="{6572DAA9-C897-43DA-BAAA-4B9D92C7E009}" srcOrd="1" destOrd="0" presId="urn:microsoft.com/office/officeart/2005/8/layout/bList2"/>
    <dgm:cxn modelId="{C1958F8B-4835-454C-960A-885DAA716FFC}" type="presParOf" srcId="{7F2367A6-5CC9-4B3B-A709-E928C933B17C}" destId="{C1E7BFFF-7E99-4F70-8599-1E3D1A41DABC}" srcOrd="0" destOrd="0" presId="urn:microsoft.com/office/officeart/2005/8/layout/bList2"/>
    <dgm:cxn modelId="{7A06CB21-155E-447C-B9CF-E3DE08E37115}" type="presParOf" srcId="{C1E7BFFF-7E99-4F70-8599-1E3D1A41DABC}" destId="{C70B0CE0-2FDD-4A44-B0EB-D794A5BB2D04}" srcOrd="0" destOrd="0" presId="urn:microsoft.com/office/officeart/2005/8/layout/bList2"/>
    <dgm:cxn modelId="{086CB396-F64B-49C9-9DE3-9A74ADD1BEF9}" type="presParOf" srcId="{C1E7BFFF-7E99-4F70-8599-1E3D1A41DABC}" destId="{C1F2B482-6CB4-4332-A202-6F45327EA725}" srcOrd="1" destOrd="0" presId="urn:microsoft.com/office/officeart/2005/8/layout/bList2"/>
    <dgm:cxn modelId="{4D1C251D-FBB9-48D1-9B44-C076AF106556}" type="presParOf" srcId="{C1E7BFFF-7E99-4F70-8599-1E3D1A41DABC}" destId="{350427AC-AE6E-4C7F-8FEC-3C1389F7A49A}" srcOrd="2" destOrd="0" presId="urn:microsoft.com/office/officeart/2005/8/layout/bList2"/>
    <dgm:cxn modelId="{3B880B51-EE2C-419A-A45B-B68DE2FC016A}" type="presParOf" srcId="{C1E7BFFF-7E99-4F70-8599-1E3D1A41DABC}" destId="{42CE1762-AAA9-4B18-A6FB-62D4D2BA41AD}" srcOrd="3" destOrd="0" presId="urn:microsoft.com/office/officeart/2005/8/layout/bList2"/>
    <dgm:cxn modelId="{2134471B-C0E4-4EA7-9977-6885C83EE222}" type="presParOf" srcId="{7F2367A6-5CC9-4B3B-A709-E928C933B17C}" destId="{BB111848-AB7E-4FCC-A569-C9FF2DF6B198}" srcOrd="1" destOrd="0" presId="urn:microsoft.com/office/officeart/2005/8/layout/bList2"/>
    <dgm:cxn modelId="{F48957DE-0607-44D4-8276-0717DBB62000}" type="presParOf" srcId="{7F2367A6-5CC9-4B3B-A709-E928C933B17C}" destId="{BE6FBA9F-4BEC-4E97-8CA6-7789C7A13469}" srcOrd="2" destOrd="0" presId="urn:microsoft.com/office/officeart/2005/8/layout/bList2"/>
    <dgm:cxn modelId="{2CCB4B29-A244-4114-8ABE-9D05514E8009}" type="presParOf" srcId="{BE6FBA9F-4BEC-4E97-8CA6-7789C7A13469}" destId="{3E0F060A-85B4-44AE-BD02-BE6250382FE5}" srcOrd="0" destOrd="0" presId="urn:microsoft.com/office/officeart/2005/8/layout/bList2"/>
    <dgm:cxn modelId="{C7159788-BEAD-45A9-9B96-002B779D3514}" type="presParOf" srcId="{BE6FBA9F-4BEC-4E97-8CA6-7789C7A13469}" destId="{5C2F96B8-6E04-4518-9106-9ECA11F8AB28}" srcOrd="1" destOrd="0" presId="urn:microsoft.com/office/officeart/2005/8/layout/bList2"/>
    <dgm:cxn modelId="{7848B161-0EAC-4086-B033-F562A6CB480B}" type="presParOf" srcId="{BE6FBA9F-4BEC-4E97-8CA6-7789C7A13469}" destId="{6572DAA9-C897-43DA-BAAA-4B9D92C7E009}" srcOrd="2" destOrd="0" presId="urn:microsoft.com/office/officeart/2005/8/layout/bList2"/>
    <dgm:cxn modelId="{5AEA37AE-E3AE-4BCD-B5CC-5497B4C33F6C}" type="presParOf" srcId="{BE6FBA9F-4BEC-4E97-8CA6-7789C7A13469}" destId="{4CC35271-695F-45DF-A878-351819ACFE76}" srcOrd="3" destOrd="0" presId="urn:microsoft.com/office/officeart/2005/8/layout/bList2"/>
    <dgm:cxn modelId="{3703AA6C-56C0-4462-A92E-F6DA38DFC99E}" type="presParOf" srcId="{7F2367A6-5CC9-4B3B-A709-E928C933B17C}" destId="{11D27FE4-25F1-4835-864E-C22570D8AA7A}" srcOrd="3" destOrd="0" presId="urn:microsoft.com/office/officeart/2005/8/layout/bList2"/>
    <dgm:cxn modelId="{39113D7B-F5F1-4A7A-AEA6-D3924648E6C7}" type="presParOf" srcId="{7F2367A6-5CC9-4B3B-A709-E928C933B17C}" destId="{CDF18D47-B1B9-4BC3-B2F8-6A0DEBA4A652}" srcOrd="4" destOrd="0" presId="urn:microsoft.com/office/officeart/2005/8/layout/bList2"/>
    <dgm:cxn modelId="{58A38466-18FB-449E-9C9C-828FC0495C35}" type="presParOf" srcId="{CDF18D47-B1B9-4BC3-B2F8-6A0DEBA4A652}" destId="{4D528C04-8AF1-47E4-BD4C-46FC571C1DF0}" srcOrd="0" destOrd="0" presId="urn:microsoft.com/office/officeart/2005/8/layout/bList2"/>
    <dgm:cxn modelId="{28832282-F4E3-4836-B9F7-C8E173EBD0FD}" type="presParOf" srcId="{CDF18D47-B1B9-4BC3-B2F8-6A0DEBA4A652}" destId="{39EB7008-FD6B-47E1-930E-FC8D8F37254C}" srcOrd="1" destOrd="0" presId="urn:microsoft.com/office/officeart/2005/8/layout/bList2"/>
    <dgm:cxn modelId="{27B9C5AD-B79C-44EE-BF42-07898CDF532D}" type="presParOf" srcId="{CDF18D47-B1B9-4BC3-B2F8-6A0DEBA4A652}" destId="{BED0D20B-72E9-4AA8-8C3E-C33DED621785}" srcOrd="2" destOrd="0" presId="urn:microsoft.com/office/officeart/2005/8/layout/bList2"/>
    <dgm:cxn modelId="{C822CE70-92D4-4C03-A656-D9B9005EC4D9}" type="presParOf" srcId="{CDF18D47-B1B9-4BC3-B2F8-6A0DEBA4A652}" destId="{AD414195-14BE-4F49-A9FB-819997421529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E7FF70-7BD8-46B1-B288-A4DDE79A375D}">
      <dsp:nvSpPr>
        <dsp:cNvPr id="0" name=""/>
        <dsp:cNvSpPr/>
      </dsp:nvSpPr>
      <dsp:spPr>
        <a:xfrm rot="5400000">
          <a:off x="-168903" y="171488"/>
          <a:ext cx="1126024" cy="78821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/>
            <a:t>1</a:t>
          </a:r>
        </a:p>
      </dsp:txBody>
      <dsp:txXfrm rot="-5400000">
        <a:off x="1" y="396694"/>
        <a:ext cx="788217" cy="337807"/>
      </dsp:txXfrm>
    </dsp:sp>
    <dsp:sp modelId="{C36789EE-4E16-48A6-A87C-D399CDA99045}">
      <dsp:nvSpPr>
        <dsp:cNvPr id="0" name=""/>
        <dsp:cNvSpPr/>
      </dsp:nvSpPr>
      <dsp:spPr>
        <a:xfrm rot="5400000">
          <a:off x="3076150" y="-2285348"/>
          <a:ext cx="731915" cy="53077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kern="1200" dirty="0"/>
            <a:t>Основные объекты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kern="1200" dirty="0"/>
            <a:t>24 часа (6 занятий)</a:t>
          </a:r>
        </a:p>
      </dsp:txBody>
      <dsp:txXfrm rot="-5400000">
        <a:off x="788217" y="38314"/>
        <a:ext cx="5272053" cy="660457"/>
      </dsp:txXfrm>
    </dsp:sp>
    <dsp:sp modelId="{5AFAA384-8B0F-4B3C-B6A9-B982B9AC37AD}">
      <dsp:nvSpPr>
        <dsp:cNvPr id="0" name=""/>
        <dsp:cNvSpPr/>
      </dsp:nvSpPr>
      <dsp:spPr>
        <a:xfrm rot="5400000">
          <a:off x="-168903" y="1149090"/>
          <a:ext cx="1126024" cy="788217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/>
            <a:t>2</a:t>
          </a:r>
        </a:p>
      </dsp:txBody>
      <dsp:txXfrm rot="-5400000">
        <a:off x="1" y="1374296"/>
        <a:ext cx="788217" cy="337807"/>
      </dsp:txXfrm>
    </dsp:sp>
    <dsp:sp modelId="{D06F5EBF-4FFC-482E-905A-606619BC55C5}">
      <dsp:nvSpPr>
        <dsp:cNvPr id="0" name=""/>
        <dsp:cNvSpPr/>
      </dsp:nvSpPr>
      <dsp:spPr>
        <a:xfrm rot="5400000">
          <a:off x="3076150" y="-1307746"/>
          <a:ext cx="731915" cy="53077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kern="1200" dirty="0"/>
            <a:t>Оперативные задачи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kern="1200" dirty="0"/>
            <a:t>16 часов (4 занятия)</a:t>
          </a:r>
        </a:p>
      </dsp:txBody>
      <dsp:txXfrm rot="-5400000">
        <a:off x="788217" y="1015916"/>
        <a:ext cx="5272053" cy="660457"/>
      </dsp:txXfrm>
    </dsp:sp>
    <dsp:sp modelId="{85293336-CD30-4D81-8D02-F52A386FA155}">
      <dsp:nvSpPr>
        <dsp:cNvPr id="0" name=""/>
        <dsp:cNvSpPr/>
      </dsp:nvSpPr>
      <dsp:spPr>
        <a:xfrm rot="5400000">
          <a:off x="-168903" y="2126692"/>
          <a:ext cx="1126024" cy="788217"/>
        </a:xfrm>
        <a:prstGeom prst="chevron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/>
            <a:t>3</a:t>
          </a:r>
        </a:p>
      </dsp:txBody>
      <dsp:txXfrm rot="-5400000">
        <a:off x="1" y="2351898"/>
        <a:ext cx="788217" cy="337807"/>
      </dsp:txXfrm>
    </dsp:sp>
    <dsp:sp modelId="{3809B371-2B0C-4014-972B-5927B77A4236}">
      <dsp:nvSpPr>
        <dsp:cNvPr id="0" name=""/>
        <dsp:cNvSpPr/>
      </dsp:nvSpPr>
      <dsp:spPr>
        <a:xfrm rot="5400000">
          <a:off x="3076150" y="-330144"/>
          <a:ext cx="731915" cy="53077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kern="1200" dirty="0"/>
            <a:t>Бухгалтерские задачи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kern="1200" dirty="0"/>
            <a:t>20 часов (5 занятий)</a:t>
          </a:r>
        </a:p>
      </dsp:txBody>
      <dsp:txXfrm rot="-5400000">
        <a:off x="788217" y="1993518"/>
        <a:ext cx="5272053" cy="660457"/>
      </dsp:txXfrm>
    </dsp:sp>
    <dsp:sp modelId="{A9E23A6F-129C-4FA9-AC9B-00BBBD8E57A0}">
      <dsp:nvSpPr>
        <dsp:cNvPr id="0" name=""/>
        <dsp:cNvSpPr/>
      </dsp:nvSpPr>
      <dsp:spPr>
        <a:xfrm rot="5400000">
          <a:off x="-168903" y="3104294"/>
          <a:ext cx="1126024" cy="788217"/>
        </a:xfrm>
        <a:prstGeom prst="chevron">
          <a:avLst/>
        </a:prstGeom>
        <a:solidFill>
          <a:srgbClr val="7030A0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/>
            <a:t>4</a:t>
          </a:r>
        </a:p>
      </dsp:txBody>
      <dsp:txXfrm rot="-5400000">
        <a:off x="1" y="3329500"/>
        <a:ext cx="788217" cy="337807"/>
      </dsp:txXfrm>
    </dsp:sp>
    <dsp:sp modelId="{C97495CF-EDD3-4DE8-B006-EF22F7D77756}">
      <dsp:nvSpPr>
        <dsp:cNvPr id="0" name=""/>
        <dsp:cNvSpPr/>
      </dsp:nvSpPr>
      <dsp:spPr>
        <a:xfrm rot="5400000">
          <a:off x="3076150" y="647457"/>
          <a:ext cx="731915" cy="53077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kern="1200" dirty="0"/>
            <a:t>Расчетные задачи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400" kern="1200" dirty="0"/>
            <a:t>20 часов (5 занятий)</a:t>
          </a:r>
        </a:p>
      </dsp:txBody>
      <dsp:txXfrm rot="-5400000">
        <a:off x="788217" y="2971120"/>
        <a:ext cx="5272053" cy="6604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E1E88C-A256-422E-9EBD-F8F94146236E}">
      <dsp:nvSpPr>
        <dsp:cNvPr id="0" name=""/>
        <dsp:cNvSpPr/>
      </dsp:nvSpPr>
      <dsp:spPr>
        <a:xfrm>
          <a:off x="5304" y="889570"/>
          <a:ext cx="2291245" cy="1710366"/>
        </a:xfrm>
        <a:prstGeom prst="round2SameRect">
          <a:avLst>
            <a:gd name="adj1" fmla="val 8000"/>
            <a:gd name="adj2" fmla="val 0"/>
          </a:avLst>
        </a:prstGeom>
        <a:solidFill>
          <a:schemeClr val="accent1"/>
        </a:solidFill>
        <a:ln w="25400" cap="flat" cmpd="sng" algn="ctr">
          <a:solidFill>
            <a:schemeClr val="accent1">
              <a:shade val="50000"/>
            </a:schemeClr>
          </a:solidFill>
          <a:prstDash val="solid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34290" tIns="102870" rIns="34290" bIns="3429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700" kern="1200" dirty="0"/>
            <a:t>Двухзвенная архитектура</a:t>
          </a:r>
        </a:p>
      </dsp:txBody>
      <dsp:txXfrm>
        <a:off x="45380" y="929646"/>
        <a:ext cx="2211093" cy="1670290"/>
      </dsp:txXfrm>
    </dsp:sp>
    <dsp:sp modelId="{E02CFCD8-AA9C-48C3-A75F-F60F507229AD}">
      <dsp:nvSpPr>
        <dsp:cNvPr id="0" name=""/>
        <dsp:cNvSpPr/>
      </dsp:nvSpPr>
      <dsp:spPr>
        <a:xfrm>
          <a:off x="5304" y="2599936"/>
          <a:ext cx="2291245" cy="73545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0" rIns="33020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/>
            <a:t>Толстый клиент</a:t>
          </a:r>
        </a:p>
      </dsp:txBody>
      <dsp:txXfrm>
        <a:off x="5304" y="2599936"/>
        <a:ext cx="1613552" cy="735457"/>
      </dsp:txXfrm>
    </dsp:sp>
    <dsp:sp modelId="{BD6D4334-5BFC-4673-89F2-70458D2F0A1B}">
      <dsp:nvSpPr>
        <dsp:cNvPr id="0" name=""/>
        <dsp:cNvSpPr/>
      </dsp:nvSpPr>
      <dsp:spPr>
        <a:xfrm>
          <a:off x="720083" y="3534323"/>
          <a:ext cx="801935" cy="80193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B2B67-A09A-47B8-9BB0-DF10101B32B9}">
      <dsp:nvSpPr>
        <dsp:cNvPr id="0" name=""/>
        <dsp:cNvSpPr/>
      </dsp:nvSpPr>
      <dsp:spPr>
        <a:xfrm>
          <a:off x="2684283" y="889570"/>
          <a:ext cx="2291245" cy="1710366"/>
        </a:xfrm>
        <a:prstGeom prst="round2SameRect">
          <a:avLst>
            <a:gd name="adj1" fmla="val 8000"/>
            <a:gd name="adj2" fmla="val 0"/>
          </a:avLst>
        </a:prstGeom>
        <a:solidFill>
          <a:schemeClr val="accent2"/>
        </a:solidFill>
        <a:ln w="254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34290" tIns="102870" rIns="34290" bIns="3429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700" kern="1200" dirty="0"/>
            <a:t>Трехзвенная архитектура</a:t>
          </a:r>
        </a:p>
      </dsp:txBody>
      <dsp:txXfrm>
        <a:off x="2724359" y="929646"/>
        <a:ext cx="2211093" cy="1670290"/>
      </dsp:txXfrm>
    </dsp:sp>
    <dsp:sp modelId="{262659E5-A6CE-4120-9778-F2B29AB0AD01}">
      <dsp:nvSpPr>
        <dsp:cNvPr id="0" name=""/>
        <dsp:cNvSpPr/>
      </dsp:nvSpPr>
      <dsp:spPr>
        <a:xfrm>
          <a:off x="2684283" y="2599936"/>
          <a:ext cx="2291245" cy="73545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0" rIns="33020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/>
            <a:t>Тонкий клиент</a:t>
          </a:r>
        </a:p>
      </dsp:txBody>
      <dsp:txXfrm>
        <a:off x="2684283" y="2599936"/>
        <a:ext cx="1613552" cy="735457"/>
      </dsp:txXfrm>
    </dsp:sp>
    <dsp:sp modelId="{45F56922-E1CA-4DE3-A51A-CEA915922C10}">
      <dsp:nvSpPr>
        <dsp:cNvPr id="0" name=""/>
        <dsp:cNvSpPr/>
      </dsp:nvSpPr>
      <dsp:spPr>
        <a:xfrm>
          <a:off x="3384378" y="3534323"/>
          <a:ext cx="801935" cy="80193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7F0F2-F5F8-4EC0-A041-D1E19BCA05B1}">
      <dsp:nvSpPr>
        <dsp:cNvPr id="0" name=""/>
        <dsp:cNvSpPr/>
      </dsp:nvSpPr>
      <dsp:spPr>
        <a:xfrm>
          <a:off x="5363262" y="889570"/>
          <a:ext cx="2291245" cy="1710366"/>
        </a:xfrm>
        <a:prstGeom prst="round2SameRect">
          <a:avLst>
            <a:gd name="adj1" fmla="val 8000"/>
            <a:gd name="adj2" fmla="val 0"/>
          </a:avLst>
        </a:prstGeom>
        <a:solidFill>
          <a:schemeClr val="accent2"/>
        </a:solidFill>
        <a:ln w="254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34290" tIns="102870" rIns="34290" bIns="3429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700" kern="1200" dirty="0"/>
            <a:t>Трехзвенная архитектура</a:t>
          </a:r>
        </a:p>
      </dsp:txBody>
      <dsp:txXfrm>
        <a:off x="5403338" y="929646"/>
        <a:ext cx="2211093" cy="1670290"/>
      </dsp:txXfrm>
    </dsp:sp>
    <dsp:sp modelId="{570049D3-3265-46CC-A671-991318EF0BA8}">
      <dsp:nvSpPr>
        <dsp:cNvPr id="0" name=""/>
        <dsp:cNvSpPr/>
      </dsp:nvSpPr>
      <dsp:spPr>
        <a:xfrm>
          <a:off x="5363262" y="2599936"/>
          <a:ext cx="2291245" cy="73545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0" rIns="33020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Web </a:t>
          </a:r>
          <a:r>
            <a:rPr lang="ru-RU" sz="2600" kern="1200" dirty="0"/>
            <a:t>клиент</a:t>
          </a:r>
        </a:p>
      </dsp:txBody>
      <dsp:txXfrm>
        <a:off x="5363262" y="2599936"/>
        <a:ext cx="1613552" cy="735457"/>
      </dsp:txXfrm>
    </dsp:sp>
    <dsp:sp modelId="{54E5F5DF-46B8-4AAF-B1E8-004D01368152}">
      <dsp:nvSpPr>
        <dsp:cNvPr id="0" name=""/>
        <dsp:cNvSpPr/>
      </dsp:nvSpPr>
      <dsp:spPr>
        <a:xfrm>
          <a:off x="6192686" y="3472156"/>
          <a:ext cx="801935" cy="80193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B0CE0-2FDD-4A44-B0EB-D794A5BB2D04}">
      <dsp:nvSpPr>
        <dsp:cNvPr id="0" name=""/>
        <dsp:cNvSpPr/>
      </dsp:nvSpPr>
      <dsp:spPr>
        <a:xfrm>
          <a:off x="252026" y="0"/>
          <a:ext cx="1392419" cy="1039412"/>
        </a:xfrm>
        <a:prstGeom prst="round2SameRect">
          <a:avLst>
            <a:gd name="adj1" fmla="val 8000"/>
            <a:gd name="adj2" fmla="val 0"/>
          </a:avLst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350427AC-AE6E-4C7F-8FEC-3C1389F7A49A}">
      <dsp:nvSpPr>
        <dsp:cNvPr id="0" name=""/>
        <dsp:cNvSpPr/>
      </dsp:nvSpPr>
      <dsp:spPr>
        <a:xfrm>
          <a:off x="252026" y="1023822"/>
          <a:ext cx="1392419" cy="446947"/>
        </a:xfrm>
        <a:prstGeom prst="rect">
          <a:avLst/>
        </a:prstGeom>
        <a:solidFill>
          <a:schemeClr val="accent1"/>
        </a:solidFill>
        <a:ln w="25400" cap="flat" cmpd="sng" algn="ctr">
          <a:solidFill>
            <a:schemeClr val="accent1">
              <a:shade val="50000"/>
            </a:schemeClr>
          </a:solidFill>
          <a:prstDash val="solid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/>
            <a:t>Толстый клиент</a:t>
          </a:r>
        </a:p>
      </dsp:txBody>
      <dsp:txXfrm>
        <a:off x="252026" y="1023822"/>
        <a:ext cx="980577" cy="446947"/>
      </dsp:txXfrm>
    </dsp:sp>
    <dsp:sp modelId="{42CE1762-AAA9-4B18-A6FB-62D4D2BA41AD}">
      <dsp:nvSpPr>
        <dsp:cNvPr id="0" name=""/>
        <dsp:cNvSpPr/>
      </dsp:nvSpPr>
      <dsp:spPr>
        <a:xfrm>
          <a:off x="1931545" y="447826"/>
          <a:ext cx="487346" cy="487346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F060A-85B4-44AE-BD02-BE6250382FE5}">
      <dsp:nvSpPr>
        <dsp:cNvPr id="0" name=""/>
        <dsp:cNvSpPr/>
      </dsp:nvSpPr>
      <dsp:spPr>
        <a:xfrm>
          <a:off x="2774735" y="1099"/>
          <a:ext cx="1392419" cy="1039412"/>
        </a:xfrm>
        <a:prstGeom prst="round2SameRect">
          <a:avLst>
            <a:gd name="adj1" fmla="val 8000"/>
            <a:gd name="adj2" fmla="val 0"/>
          </a:avLst>
        </a:prstGeom>
        <a:solidFill>
          <a:schemeClr val="lt1"/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6572DAA9-C897-43DA-BAAA-4B9D92C7E009}">
      <dsp:nvSpPr>
        <dsp:cNvPr id="0" name=""/>
        <dsp:cNvSpPr/>
      </dsp:nvSpPr>
      <dsp:spPr>
        <a:xfrm>
          <a:off x="2774735" y="1040511"/>
          <a:ext cx="1392419" cy="446947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/>
            <a:t>Тонкий клиент</a:t>
          </a:r>
        </a:p>
      </dsp:txBody>
      <dsp:txXfrm>
        <a:off x="2774735" y="1040511"/>
        <a:ext cx="980577" cy="446947"/>
      </dsp:txXfrm>
    </dsp:sp>
    <dsp:sp modelId="{4CC35271-695F-45DF-A878-351819ACFE76}">
      <dsp:nvSpPr>
        <dsp:cNvPr id="0" name=""/>
        <dsp:cNvSpPr/>
      </dsp:nvSpPr>
      <dsp:spPr>
        <a:xfrm>
          <a:off x="4464496" y="447826"/>
          <a:ext cx="487346" cy="487346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28C04-8AF1-47E4-BD4C-46FC571C1DF0}">
      <dsp:nvSpPr>
        <dsp:cNvPr id="0" name=""/>
        <dsp:cNvSpPr/>
      </dsp:nvSpPr>
      <dsp:spPr>
        <a:xfrm>
          <a:off x="5256590" y="20692"/>
          <a:ext cx="1392419" cy="1039412"/>
        </a:xfrm>
        <a:prstGeom prst="round2SameRect">
          <a:avLst>
            <a:gd name="adj1" fmla="val 8000"/>
            <a:gd name="adj2" fmla="val 0"/>
          </a:avLst>
        </a:prstGeom>
        <a:solidFill>
          <a:schemeClr val="lt1"/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BED0D20B-72E9-4AA8-8C3E-C33DED621785}">
      <dsp:nvSpPr>
        <dsp:cNvPr id="0" name=""/>
        <dsp:cNvSpPr/>
      </dsp:nvSpPr>
      <dsp:spPr>
        <a:xfrm>
          <a:off x="5256590" y="1060105"/>
          <a:ext cx="1392419" cy="446947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Web </a:t>
          </a:r>
          <a:r>
            <a:rPr lang="ru-RU" sz="1600" kern="1200" dirty="0"/>
            <a:t>клиент</a:t>
          </a:r>
        </a:p>
      </dsp:txBody>
      <dsp:txXfrm>
        <a:off x="5256590" y="1060105"/>
        <a:ext cx="980577" cy="446947"/>
      </dsp:txXfrm>
    </dsp:sp>
    <dsp:sp modelId="{AD414195-14BE-4F49-A9FB-819997421529}">
      <dsp:nvSpPr>
        <dsp:cNvPr id="0" name=""/>
        <dsp:cNvSpPr/>
      </dsp:nvSpPr>
      <dsp:spPr>
        <a:xfrm>
          <a:off x="4464497" y="447826"/>
          <a:ext cx="487346" cy="487346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A1CEF-34E0-4A7B-8680-86A294893838}" type="datetimeFigureOut">
              <a:rPr lang="ru-RU" smtClean="0"/>
              <a:t>14.12.2019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347BA-2C08-45CE-BE62-C2964BD9DD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51249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55B89-64B0-47DD-AC6B-D0E9D2BA3796}" type="datetimeFigureOut">
              <a:rPr lang="ru-RU" smtClean="0"/>
              <a:pPr/>
              <a:t>14.12.2019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32438-FC45-4926-B349-50F383F7178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45837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0622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6935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3651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Основные объекты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01420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9591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022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877512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93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9711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КУ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9115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3ED7-CC3A-4DC7-BBB8-B1E15885FA80}" type="datetimeFigureOut">
              <a:rPr lang="ru-RU" smtClean="0"/>
              <a:t>14.12.2019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510C-9D3D-4530-A20C-39119351C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76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93663" y="6310313"/>
            <a:ext cx="949326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35</a:t>
            </a:r>
            <a:endParaRPr lang="ru-RU" sz="1600" dirty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 userDrawn="1"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Основные объекты</a:t>
            </a:r>
          </a:p>
        </p:txBody>
      </p:sp>
    </p:spTree>
    <p:extLst>
      <p:ext uri="{BB962C8B-B14F-4D97-AF65-F5344CB8AC3E}">
        <p14:creationId xmlns:p14="http://schemas.microsoft.com/office/powerpoint/2010/main" val="12762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v8.1c.ru/podderzhka-i-obuchenie/uchebnye-versii/distributiv-1s-predpriyatie-8-3-versiya-dlya-obucheniya-programmirovaniyu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hyperlink" Target="http://online.1c.ru/catalog/programs/program/18610155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v8.1c.ru/metod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hyperlink" Target="https://v8.1c.ru/metod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v8.1c.ru/programmy/otraslevye-resheniya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v8.1c.ru/programmy/otraslevye-resheniya/" TargetMode="Externa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v8.1c.ru/platforma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4742" y="2209287"/>
            <a:ext cx="6460207" cy="288255"/>
          </a:xfrm>
        </p:spPr>
        <p:txBody>
          <a:bodyPr>
            <a:noAutofit/>
          </a:bodyPr>
          <a:lstStyle/>
          <a:p>
            <a:pPr algn="ctr"/>
            <a:r>
              <a:rPr lang="ru-RU" sz="3600" b="1" spc="200" dirty="0">
                <a:solidFill>
                  <a:srgbClr val="0070C0"/>
                </a:solidFill>
                <a:effectLst/>
              </a:rPr>
              <a:t>Конфигурирование в системе 1С:Предприятие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3688" y="3140968"/>
            <a:ext cx="5422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Комплексный сертифицированный курс фирмы «1С»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063887"/>
              </p:ext>
            </p:extLst>
          </p:nvPr>
        </p:nvGraphicFramePr>
        <p:xfrm>
          <a:off x="1187624" y="3571876"/>
          <a:ext cx="6696744" cy="14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8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indent="324000">
                        <a:buFont typeface="Wingdings" pitchFamily="2" charset="2"/>
                        <a:buChar char="§"/>
                      </a:pPr>
                      <a:r>
                        <a:rPr lang="ru-RU" sz="2400" dirty="0">
                          <a:solidFill>
                            <a:srgbClr val="FF0000"/>
                          </a:solidFill>
                        </a:rPr>
                        <a:t>Преподаватель: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Сизов</a:t>
                      </a:r>
                      <a:r>
                        <a:rPr kumimoji="0" lang="ru-RU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Евгений</a:t>
                      </a:r>
                      <a:endParaRPr kumimoji="0" lang="ru-RU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endParaRPr lang="ru-RU" sz="24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2373630" y="4797152"/>
            <a:ext cx="420243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sizov@</a:t>
            </a:r>
            <a:r>
              <a:rPr lang="en-US" sz="3600" dirty="0">
                <a:solidFill>
                  <a:srgbClr val="0070C0"/>
                </a:solidFill>
              </a:rPr>
              <a:t>softbalance.ru</a:t>
            </a:r>
          </a:p>
        </p:txBody>
      </p:sp>
    </p:spTree>
    <p:extLst>
      <p:ext uri="{BB962C8B-B14F-4D97-AF65-F5344CB8AC3E}">
        <p14:creationId xmlns:p14="http://schemas.microsoft.com/office/powerpoint/2010/main" val="2401487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Структура курса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552929129"/>
              </p:ext>
            </p:extLst>
          </p:nvPr>
        </p:nvGraphicFramePr>
        <p:xfrm>
          <a:off x="1403648" y="1628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8704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2E7FF70-7BD8-46B1-B288-A4DDE79A37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92E7FF70-7BD8-46B1-B288-A4DDE79A37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36789EE-4E16-48A6-A87C-D399CDA990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dgm id="{C36789EE-4E16-48A6-A87C-D399CDA990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AFAA384-8B0F-4B3C-B6A9-B982B9AC37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5AFAA384-8B0F-4B3C-B6A9-B982B9AC37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06F5EBF-4FFC-482E-905A-606619BC55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graphicEl>
                                              <a:dgm id="{D06F5EBF-4FFC-482E-905A-606619BC55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5293336-CD30-4D81-8D02-F52A386FA1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85293336-CD30-4D81-8D02-F52A386FA1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809B371-2B0C-4014-972B-5927B77A42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dgm id="{3809B371-2B0C-4014-972B-5927B77A42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9E23A6F-129C-4FA9-AC9B-00BBBD8E57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graphicEl>
                                              <a:dgm id="{A9E23A6F-129C-4FA9-AC9B-00BBBD8E57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97495CF-EDD3-4DE8-B006-EF22F7D777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graphicEl>
                                              <a:dgm id="{C97495CF-EDD3-4DE8-B006-EF22F7D777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Лицензионная платформа</a:t>
            </a:r>
          </a:p>
        </p:txBody>
      </p:sp>
      <p:grpSp>
        <p:nvGrpSpPr>
          <p:cNvPr id="13" name="Группа 12"/>
          <p:cNvGrpSpPr/>
          <p:nvPr/>
        </p:nvGrpSpPr>
        <p:grpSpPr>
          <a:xfrm>
            <a:off x="3191201" y="1070929"/>
            <a:ext cx="5196711" cy="3924177"/>
            <a:chOff x="3191201" y="1070929"/>
            <a:chExt cx="5196711" cy="3924177"/>
          </a:xfrm>
        </p:grpSpPr>
        <p:grpSp>
          <p:nvGrpSpPr>
            <p:cNvPr id="4" name="Группа 3"/>
            <p:cNvGrpSpPr/>
            <p:nvPr/>
          </p:nvGrpSpPr>
          <p:grpSpPr>
            <a:xfrm>
              <a:off x="3779912" y="1503594"/>
              <a:ext cx="4608000" cy="3491512"/>
              <a:chOff x="4139952" y="2457384"/>
              <a:chExt cx="4608000" cy="3491512"/>
            </a:xfrm>
          </p:grpSpPr>
          <p:pic>
            <p:nvPicPr>
              <p:cNvPr id="6" name="Picture 2" descr="http://www.appp.ru/corp_licensing/img/1c_predpr-8-box.jp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4139952" y="2492896"/>
                <a:ext cx="4608000" cy="3456000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3" name="TextBox 2"/>
              <p:cNvSpPr txBox="1"/>
              <p:nvPr/>
            </p:nvSpPr>
            <p:spPr>
              <a:xfrm>
                <a:off x="4550261" y="2457384"/>
                <a:ext cx="37873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ru-RU" sz="1200" dirty="0">
                    <a:solidFill>
                      <a:schemeClr val="bg1"/>
                    </a:solidFill>
                  </a:rPr>
                  <a:t>Комплект специалиста по разработке и внедрению 8.</a:t>
                </a:r>
                <a:r>
                  <a:rPr lang="en-US" sz="1200" dirty="0">
                    <a:solidFill>
                      <a:schemeClr val="bg1"/>
                    </a:solidFill>
                  </a:rPr>
                  <a:t>3</a:t>
                </a:r>
                <a:endParaRPr lang="ru-RU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" name="Овал 10"/>
            <p:cNvSpPr/>
            <p:nvPr/>
          </p:nvSpPr>
          <p:spPr>
            <a:xfrm>
              <a:off x="3191201" y="1070929"/>
              <a:ext cx="621666" cy="576064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rgbClr val="002060"/>
                  </a:solidFill>
                </a:rPr>
                <a:t>2</a:t>
              </a:r>
            </a:p>
          </p:txBody>
        </p:sp>
      </p:grpSp>
      <p:grpSp>
        <p:nvGrpSpPr>
          <p:cNvPr id="14" name="Группа 13"/>
          <p:cNvGrpSpPr/>
          <p:nvPr/>
        </p:nvGrpSpPr>
        <p:grpSpPr>
          <a:xfrm>
            <a:off x="430203" y="5039748"/>
            <a:ext cx="7812004" cy="1208694"/>
            <a:chOff x="432404" y="5314909"/>
            <a:chExt cx="7812004" cy="1208694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432404" y="5877272"/>
              <a:ext cx="781200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hlinkClick r:id="rId3"/>
                </a:rPr>
                <a:t>https://v8.1c.ru/podderzhka-i-obuchenie/uchebnye-versii/distributiv-1s-predpriyatie-8-3-versiya-dlya-obucheniya-programmirovaniyu/</a:t>
              </a:r>
              <a:r>
                <a:rPr lang="en-US" dirty="0" smtClean="0">
                  <a:hlinkClick r:id="rId4"/>
                </a:rPr>
                <a:t>/</a:t>
              </a:r>
              <a:endParaRPr lang="ru-RU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39013" y="5507940"/>
              <a:ext cx="51477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Бесплатная версия платформы 8.</a:t>
              </a:r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2" name="Овал 11"/>
            <p:cNvSpPr/>
            <p:nvPr/>
          </p:nvSpPr>
          <p:spPr>
            <a:xfrm>
              <a:off x="465722" y="5314909"/>
              <a:ext cx="621666" cy="576064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rgbClr val="002060"/>
                  </a:solidFill>
                </a:rPr>
                <a:t>3</a:t>
              </a:r>
            </a:p>
          </p:txBody>
        </p:sp>
      </p:grpSp>
      <p:grpSp>
        <p:nvGrpSpPr>
          <p:cNvPr id="15" name="Группа 14"/>
          <p:cNvGrpSpPr/>
          <p:nvPr/>
        </p:nvGrpSpPr>
        <p:grpSpPr>
          <a:xfrm>
            <a:off x="430203" y="1086497"/>
            <a:ext cx="2277208" cy="2921668"/>
            <a:chOff x="364100" y="1202075"/>
            <a:chExt cx="2277208" cy="2921668"/>
          </a:xfrm>
        </p:grpSpPr>
        <p:sp>
          <p:nvSpPr>
            <p:cNvPr id="9" name="Овал 8"/>
            <p:cNvSpPr/>
            <p:nvPr/>
          </p:nvSpPr>
          <p:spPr>
            <a:xfrm>
              <a:off x="364100" y="1202075"/>
              <a:ext cx="621666" cy="576064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rgbClr val="002060"/>
                  </a:solidFill>
                </a:rPr>
                <a:t>1</a:t>
              </a:r>
            </a:p>
          </p:txBody>
        </p:sp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4408" y="1780593"/>
              <a:ext cx="1866900" cy="2343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7619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40799"/>
          </a:xfrm>
        </p:spPr>
        <p:txBody>
          <a:bodyPr>
            <a:normAutofit fontScale="90000"/>
          </a:bodyPr>
          <a:lstStyle/>
          <a:p>
            <a:r>
              <a:rPr lang="ru-RU" dirty="0"/>
              <a:t>Дополнительная литература для начинающих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351449" y="1383104"/>
            <a:ext cx="2457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hlinkClick r:id="rId2"/>
              </a:rPr>
              <a:t>https://v8.1c.ru/metod/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02" y="2060848"/>
            <a:ext cx="3233773" cy="424116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598" y="2277900"/>
            <a:ext cx="2140678" cy="3168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216" y="2277900"/>
            <a:ext cx="2150400" cy="31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91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Дополнительн</a:t>
            </a:r>
            <a:r>
              <a:rPr lang="ru-RU" dirty="0" smtClean="0"/>
              <a:t>ые материалы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59832" y="1194767"/>
            <a:ext cx="2624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https://v8.1c.ru/metod/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5" y="1638092"/>
            <a:ext cx="1785000" cy="25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6374" y="1638092"/>
            <a:ext cx="1715422" cy="2520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14" y="1638092"/>
            <a:ext cx="1756363" cy="2520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5157" y="3645024"/>
            <a:ext cx="1715000" cy="2520000"/>
          </a:xfrm>
          <a:prstGeom prst="rect">
            <a:avLst/>
          </a:prstGeom>
        </p:spPr>
      </p:pic>
      <p:pic>
        <p:nvPicPr>
          <p:cNvPr id="5" name="Picture 2" descr="http://v8.1c.ru/metod/books/images/Prikl_B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094" y="3645024"/>
            <a:ext cx="1766870" cy="25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://v8.1c.ru/metod/books/images/RUP_360x520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636" y="3645024"/>
            <a:ext cx="1744610" cy="25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501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917406" y="1556792"/>
            <a:ext cx="311335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hlinkClick r:id="rId3"/>
              </a:rPr>
              <a:t>https://v8.1c.ru/programmy/otraslevye-resheniya/</a:t>
            </a:r>
            <a:endParaRPr lang="ru-RU" sz="11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48680"/>
            <a:ext cx="8715436" cy="720080"/>
          </a:xfrm>
        </p:spPr>
        <p:txBody>
          <a:bodyPr>
            <a:normAutofit fontScale="90000"/>
          </a:bodyPr>
          <a:lstStyle/>
          <a:p>
            <a:pPr algn="r">
              <a:lnSpc>
                <a:spcPct val="120000"/>
              </a:lnSpc>
            </a:pPr>
            <a:r>
              <a:rPr lang="ru-RU" sz="2200" b="0" dirty="0">
                <a:effectLst/>
              </a:rPr>
              <a:t>1С:Предприятие 8 </a:t>
            </a:r>
            <a:r>
              <a:rPr lang="ru-RU" sz="2400" b="0" dirty="0">
                <a:solidFill>
                  <a:prstClr val="black"/>
                </a:solidFill>
                <a:effectLst/>
                <a:ea typeface="+mn-ea"/>
                <a:cs typeface="+mn-cs"/>
              </a:rPr>
              <a:t>–</a:t>
            </a:r>
            <a:r>
              <a:rPr lang="ru-RU" sz="2400" dirty="0">
                <a:solidFill>
                  <a:prstClr val="black"/>
                </a:solidFill>
                <a:ea typeface="+mn-ea"/>
                <a:cs typeface="+mn-cs"/>
              </a:rPr>
              <a:t> </a:t>
            </a:r>
            <a:r>
              <a:rPr lang="ru-RU" sz="1800" b="0" dirty="0">
                <a:solidFill>
                  <a:srgbClr val="002060"/>
                </a:solidFill>
                <a:effectLst/>
                <a:ea typeface="+mn-ea"/>
                <a:cs typeface="+mn-cs"/>
              </a:rPr>
              <a:t>универсальная</a:t>
            </a:r>
            <a:r>
              <a:rPr lang="ru-RU" sz="1800" b="0" dirty="0">
                <a:solidFill>
                  <a:prstClr val="black"/>
                </a:solidFill>
                <a:effectLst/>
                <a:ea typeface="+mn-ea"/>
                <a:cs typeface="+mn-cs"/>
              </a:rPr>
              <a:t> система автоматизации учётной деятельности предприятия.</a:t>
            </a:r>
            <a:endParaRPr lang="ru-RU" sz="1800" b="0" dirty="0">
              <a:effectLst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14" y="980728"/>
            <a:ext cx="5439906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57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48680"/>
            <a:ext cx="8715436" cy="720080"/>
          </a:xfrm>
        </p:spPr>
        <p:txBody>
          <a:bodyPr>
            <a:normAutofit fontScale="90000"/>
          </a:bodyPr>
          <a:lstStyle/>
          <a:p>
            <a:pPr algn="r">
              <a:lnSpc>
                <a:spcPct val="120000"/>
              </a:lnSpc>
            </a:pPr>
            <a:r>
              <a:rPr lang="ru-RU" sz="2200" b="0" dirty="0">
                <a:effectLst/>
              </a:rPr>
              <a:t>1С:Предприятие 8 </a:t>
            </a:r>
            <a:r>
              <a:rPr lang="ru-RU" sz="2400" b="0" dirty="0">
                <a:solidFill>
                  <a:prstClr val="black"/>
                </a:solidFill>
                <a:effectLst/>
                <a:ea typeface="+mn-ea"/>
                <a:cs typeface="+mn-cs"/>
              </a:rPr>
              <a:t>–</a:t>
            </a:r>
            <a:r>
              <a:rPr lang="ru-RU" sz="2400" dirty="0">
                <a:solidFill>
                  <a:prstClr val="black"/>
                </a:solidFill>
                <a:ea typeface="+mn-ea"/>
                <a:cs typeface="+mn-cs"/>
              </a:rPr>
              <a:t> </a:t>
            </a:r>
            <a:r>
              <a:rPr lang="ru-RU" sz="1800" b="0" dirty="0">
                <a:solidFill>
                  <a:srgbClr val="002060"/>
                </a:solidFill>
                <a:effectLst/>
                <a:ea typeface="+mn-ea"/>
                <a:cs typeface="+mn-cs"/>
              </a:rPr>
              <a:t>универсальная</a:t>
            </a:r>
            <a:r>
              <a:rPr lang="ru-RU" sz="1800" b="0" dirty="0">
                <a:solidFill>
                  <a:prstClr val="black"/>
                </a:solidFill>
                <a:effectLst/>
                <a:ea typeface="+mn-ea"/>
                <a:cs typeface="+mn-cs"/>
              </a:rPr>
              <a:t> система автоматизации учётной деятельности предприятия.</a:t>
            </a:r>
            <a:endParaRPr lang="ru-RU" sz="1800" b="0" dirty="0">
              <a:effectLst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052737"/>
            <a:ext cx="4763007" cy="496855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344" y="2628939"/>
            <a:ext cx="4280656" cy="339235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917406" y="1556792"/>
            <a:ext cx="311335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hlinkClick r:id="rId5"/>
              </a:rPr>
              <a:t>https://v8.1c.ru/programmy/otraslevye-resheniya/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710291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Информационная база</a:t>
            </a:r>
          </a:p>
          <a:p>
            <a:r>
              <a:rPr lang="ru-RU" dirty="0"/>
              <a:t>База данных</a:t>
            </a:r>
          </a:p>
          <a:p>
            <a:r>
              <a:rPr lang="ru-RU" dirty="0"/>
              <a:t>Конфигурация</a:t>
            </a:r>
          </a:p>
          <a:p>
            <a:r>
              <a:rPr lang="ru-RU" dirty="0"/>
              <a:t>Платформа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Понятия, связанные с 1С:Предприятие 8</a:t>
            </a:r>
          </a:p>
        </p:txBody>
      </p:sp>
    </p:spTree>
    <p:extLst>
      <p:ext uri="{BB962C8B-B14F-4D97-AF65-F5344CB8AC3E}">
        <p14:creationId xmlns:p14="http://schemas.microsoft.com/office/powerpoint/2010/main" val="3666769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Информационная база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39552" y="1059464"/>
            <a:ext cx="7560840" cy="287335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sz="2400" b="1" dirty="0"/>
              <a:t>Оперативная </a:t>
            </a:r>
            <a:br>
              <a:rPr lang="ru-RU" sz="2400" b="1" dirty="0"/>
            </a:br>
            <a:r>
              <a:rPr lang="ru-RU" sz="2400" b="1" dirty="0"/>
              <a:t>память</a:t>
            </a:r>
          </a:p>
        </p:txBody>
      </p:sp>
      <p:sp>
        <p:nvSpPr>
          <p:cNvPr id="5" name="Цилиндр 4"/>
          <p:cNvSpPr/>
          <p:nvPr/>
        </p:nvSpPr>
        <p:spPr>
          <a:xfrm>
            <a:off x="539552" y="4076832"/>
            <a:ext cx="7560840" cy="2239216"/>
          </a:xfrm>
          <a:prstGeom prst="can">
            <a:avLst>
              <a:gd name="adj" fmla="val 1605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b="1" dirty="0"/>
              <a:t>HDD</a:t>
            </a:r>
            <a:endParaRPr lang="ru-RU" sz="2400" b="1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1763688" y="4476480"/>
            <a:ext cx="6120680" cy="1734920"/>
            <a:chOff x="2195736" y="4869160"/>
            <a:chExt cx="5544616" cy="1656184"/>
          </a:xfrm>
        </p:grpSpPr>
        <p:sp>
          <p:nvSpPr>
            <p:cNvPr id="3" name="Скругленный прямоугольник 2"/>
            <p:cNvSpPr/>
            <p:nvPr/>
          </p:nvSpPr>
          <p:spPr>
            <a:xfrm>
              <a:off x="2195736" y="4869160"/>
              <a:ext cx="5544616" cy="1656184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r"/>
              <a:r>
                <a:rPr lang="ru-RU" u="sng" dirty="0"/>
                <a:t>База Данных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627784" y="5351632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Таблица 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12096" y="5075892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Таблица </a:t>
              </a:r>
              <a:r>
                <a:rPr lang="en-US" dirty="0"/>
                <a:t>2 </a:t>
              </a:r>
              <a:r>
                <a:rPr lang="ru-RU" dirty="0"/>
                <a:t>…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21586" y="4931876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Таблица </a:t>
              </a:r>
              <a:r>
                <a:rPr lang="en-US" dirty="0"/>
                <a:t>n</a:t>
              </a:r>
              <a:endParaRPr lang="ru-RU" dirty="0"/>
            </a:p>
          </p:txBody>
        </p:sp>
      </p:grp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737998"/>
              </p:ext>
            </p:extLst>
          </p:nvPr>
        </p:nvGraphicFramePr>
        <p:xfrm>
          <a:off x="2199819" y="5343940"/>
          <a:ext cx="2111896" cy="731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55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5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ru-RU" dirty="0"/>
                        <a:t>Поле1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Поле2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342973"/>
              </p:ext>
            </p:extLst>
          </p:nvPr>
        </p:nvGraphicFramePr>
        <p:xfrm>
          <a:off x="3480048" y="5091912"/>
          <a:ext cx="2111896" cy="731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55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5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ru-RU" dirty="0"/>
                        <a:t>Поле1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Поле2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576663"/>
              </p:ext>
            </p:extLst>
          </p:nvPr>
        </p:nvGraphicFramePr>
        <p:xfrm>
          <a:off x="4989538" y="4929124"/>
          <a:ext cx="2111895" cy="731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6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ru-RU" dirty="0"/>
                        <a:t>Поле1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Поле</a:t>
                      </a:r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Скругленный прямоугольник 14"/>
          <p:cNvSpPr/>
          <p:nvPr/>
        </p:nvSpPr>
        <p:spPr>
          <a:xfrm>
            <a:off x="1763687" y="1608262"/>
            <a:ext cx="6120681" cy="16834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16" name="Облако 15"/>
          <p:cNvSpPr/>
          <p:nvPr/>
        </p:nvSpPr>
        <p:spPr>
          <a:xfrm>
            <a:off x="1838438" y="1805066"/>
            <a:ext cx="2736304" cy="648072"/>
          </a:xfrm>
          <a:prstGeom prst="cloud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Программный объект 1</a:t>
            </a:r>
          </a:p>
        </p:txBody>
      </p:sp>
      <p:sp>
        <p:nvSpPr>
          <p:cNvPr id="17" name="Облако 16"/>
          <p:cNvSpPr/>
          <p:nvPr/>
        </p:nvSpPr>
        <p:spPr>
          <a:xfrm>
            <a:off x="3059832" y="2265598"/>
            <a:ext cx="2736304" cy="648072"/>
          </a:xfrm>
          <a:prstGeom prst="clou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Программный объект 2</a:t>
            </a:r>
          </a:p>
        </p:txBody>
      </p:sp>
      <p:sp>
        <p:nvSpPr>
          <p:cNvPr id="18" name="Облако 17"/>
          <p:cNvSpPr/>
          <p:nvPr/>
        </p:nvSpPr>
        <p:spPr>
          <a:xfrm>
            <a:off x="4627097" y="2605573"/>
            <a:ext cx="2736304" cy="648072"/>
          </a:xfrm>
          <a:prstGeom prst="clou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Программный объект 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21" name="Стрелка вниз 20"/>
          <p:cNvSpPr/>
          <p:nvPr/>
        </p:nvSpPr>
        <p:spPr>
          <a:xfrm>
            <a:off x="2456806" y="1117754"/>
            <a:ext cx="432000" cy="773078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низ 22"/>
          <p:cNvSpPr/>
          <p:nvPr/>
        </p:nvSpPr>
        <p:spPr>
          <a:xfrm>
            <a:off x="5931768" y="1117754"/>
            <a:ext cx="432000" cy="148187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трелка вниз 21"/>
          <p:cNvSpPr/>
          <p:nvPr/>
        </p:nvSpPr>
        <p:spPr>
          <a:xfrm>
            <a:off x="4636425" y="1117754"/>
            <a:ext cx="432000" cy="1182578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6245288" y="1658378"/>
            <a:ext cx="1596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Программный интерфейс</a:t>
            </a:r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1763687" y="3352363"/>
            <a:ext cx="6120681" cy="52312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СУБД</a:t>
            </a:r>
          </a:p>
        </p:txBody>
      </p:sp>
      <p:sp>
        <p:nvSpPr>
          <p:cNvPr id="6" name="Двойная стрелка вверх/вниз 5"/>
          <p:cNvSpPr/>
          <p:nvPr/>
        </p:nvSpPr>
        <p:spPr>
          <a:xfrm>
            <a:off x="2279029" y="2468378"/>
            <a:ext cx="432000" cy="967350"/>
          </a:xfrm>
          <a:prstGeom prst="up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Двойная стрелка вверх/вниз 18"/>
          <p:cNvSpPr/>
          <p:nvPr/>
        </p:nvSpPr>
        <p:spPr>
          <a:xfrm>
            <a:off x="3195465" y="2878344"/>
            <a:ext cx="432000" cy="665395"/>
          </a:xfrm>
          <a:prstGeom prst="upDown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Двойная стрелка вверх/вниз 19"/>
          <p:cNvSpPr/>
          <p:nvPr/>
        </p:nvSpPr>
        <p:spPr>
          <a:xfrm>
            <a:off x="4914574" y="3849255"/>
            <a:ext cx="432000" cy="935853"/>
          </a:xfrm>
          <a:prstGeom prst="up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Двойная стрелка вверх/вниз 29"/>
          <p:cNvSpPr/>
          <p:nvPr/>
        </p:nvSpPr>
        <p:spPr>
          <a:xfrm>
            <a:off x="2301498" y="3809421"/>
            <a:ext cx="432000" cy="1133100"/>
          </a:xfrm>
          <a:prstGeom prst="up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Двойная стрелка вверх/вниз 30"/>
          <p:cNvSpPr/>
          <p:nvPr/>
        </p:nvSpPr>
        <p:spPr>
          <a:xfrm>
            <a:off x="3182505" y="3811130"/>
            <a:ext cx="432000" cy="1078570"/>
          </a:xfrm>
          <a:prstGeom prst="upDown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Двойная стрелка вверх/вниз 31"/>
          <p:cNvSpPr/>
          <p:nvPr/>
        </p:nvSpPr>
        <p:spPr>
          <a:xfrm>
            <a:off x="6669433" y="2785718"/>
            <a:ext cx="432000" cy="935853"/>
          </a:xfrm>
          <a:prstGeom prst="up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2095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3" grpId="0" animBg="1"/>
      <p:bldP spid="22" grpId="0" animBg="1"/>
      <p:bldP spid="24" grpId="0"/>
      <p:bldP spid="25" grpId="0" animBg="1"/>
      <p:bldP spid="6" grpId="0" animBg="1"/>
      <p:bldP spid="19" grpId="0" animBg="1"/>
      <p:bldP spid="20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Проект информационной базы</a:t>
            </a:r>
          </a:p>
          <a:p>
            <a:pPr lvl="1"/>
            <a:r>
              <a:rPr lang="ru-RU" dirty="0">
                <a:solidFill>
                  <a:srgbClr val="0070C0"/>
                </a:solidFill>
              </a:rPr>
              <a:t>Описание таблиц базы данных;</a:t>
            </a:r>
          </a:p>
          <a:p>
            <a:pPr lvl="1"/>
            <a:r>
              <a:rPr lang="ru-RU" dirty="0">
                <a:solidFill>
                  <a:srgbClr val="0070C0"/>
                </a:solidFill>
              </a:rPr>
              <a:t>Описание поведения программных объектов;</a:t>
            </a:r>
          </a:p>
          <a:p>
            <a:pPr lvl="1"/>
            <a:r>
              <a:rPr lang="ru-RU" dirty="0">
                <a:solidFill>
                  <a:srgbClr val="0070C0"/>
                </a:solidFill>
              </a:rPr>
              <a:t>Описание пользовательского (командного интерфейса);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…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Конфигурация</a:t>
            </a:r>
          </a:p>
        </p:txBody>
      </p:sp>
    </p:spTree>
    <p:extLst>
      <p:ext uri="{BB962C8B-B14F-4D97-AF65-F5344CB8AC3E}">
        <p14:creationId xmlns:p14="http://schemas.microsoft.com/office/powerpoint/2010/main" val="4181629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Понятия, связанные с 1С:Предприятие 8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44542" y="1556792"/>
            <a:ext cx="3706751" cy="223224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72000" rtlCol="0" anchor="ctr"/>
          <a:lstStyle/>
          <a:p>
            <a:pPr lvl="0" algn="ctr">
              <a:lnSpc>
                <a:spcPct val="130000"/>
              </a:lnSpc>
            </a:pPr>
            <a:r>
              <a:rPr lang="ru-RU" sz="2400" b="1" spc="100" dirty="0">
                <a:solidFill>
                  <a:prstClr val="white"/>
                </a:solidFill>
              </a:rPr>
              <a:t>Конфигурация</a:t>
            </a:r>
          </a:p>
          <a:p>
            <a:pPr lvl="0" algn="ctr">
              <a:lnSpc>
                <a:spcPct val="130000"/>
              </a:lnSpc>
            </a:pPr>
            <a:r>
              <a:rPr lang="ru-RU" sz="1600" spc="100" dirty="0">
                <a:solidFill>
                  <a:schemeClr val="bg1"/>
                </a:solidFill>
              </a:rPr>
              <a:t>Бухгалтерия предприятия 3.0</a:t>
            </a:r>
          </a:p>
        </p:txBody>
      </p:sp>
      <p:grpSp>
        <p:nvGrpSpPr>
          <p:cNvPr id="8" name="Группа 7"/>
          <p:cNvGrpSpPr/>
          <p:nvPr/>
        </p:nvGrpSpPr>
        <p:grpSpPr>
          <a:xfrm>
            <a:off x="467544" y="4077072"/>
            <a:ext cx="8208912" cy="2088232"/>
            <a:chOff x="467544" y="4077072"/>
            <a:chExt cx="8208912" cy="2088232"/>
          </a:xfrm>
        </p:grpSpPr>
        <p:sp>
          <p:nvSpPr>
            <p:cNvPr id="3" name="Прямоугольник 2"/>
            <p:cNvSpPr/>
            <p:nvPr/>
          </p:nvSpPr>
          <p:spPr>
            <a:xfrm>
              <a:off x="467544" y="4077072"/>
              <a:ext cx="8208912" cy="2088232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ru-RU" sz="2400" b="1" spc="100" dirty="0"/>
                <a:t>Технологическая </a:t>
              </a:r>
              <a:r>
                <a:rPr lang="ru-RU" sz="2400" b="1" spc="100" dirty="0" smtClean="0"/>
                <a:t>платформа</a:t>
              </a:r>
            </a:p>
            <a:p>
              <a:pPr algn="ctr"/>
              <a:r>
                <a:rPr lang="ru-RU" sz="2400" b="1" spc="100" dirty="0">
                  <a:solidFill>
                    <a:schemeClr val="tx1"/>
                  </a:solidFill>
                </a:rPr>
                <a:t>(</a:t>
              </a:r>
              <a:r>
                <a:rPr lang="en-US" sz="2400" b="1" spc="100" dirty="0">
                  <a:solidFill>
                    <a:schemeClr val="tx1"/>
                  </a:solidFill>
                </a:rPr>
                <a:t>Framework</a:t>
              </a:r>
              <a:r>
                <a:rPr lang="en-US" sz="2400" b="1" spc="100" dirty="0" smtClean="0">
                  <a:solidFill>
                    <a:schemeClr val="tx1"/>
                  </a:solidFill>
                </a:rPr>
                <a:t>)</a:t>
              </a:r>
              <a:endParaRPr lang="ru-RU" sz="2400" b="1" spc="100" dirty="0">
                <a:solidFill>
                  <a:schemeClr val="tx1"/>
                </a:solidFill>
              </a:endParaRPr>
            </a:p>
            <a:p>
              <a:pPr algn="ctr"/>
              <a:r>
                <a:rPr lang="ru-RU" sz="1600" spc="100" dirty="0">
                  <a:solidFill>
                    <a:schemeClr val="tx1"/>
                  </a:solidFill>
                </a:rPr>
                <a:t>1С:Предприятие </a:t>
              </a:r>
              <a:r>
                <a:rPr lang="ru-RU" sz="1600" spc="100" dirty="0" smtClean="0">
                  <a:solidFill>
                    <a:schemeClr val="tx1"/>
                  </a:solidFill>
                </a:rPr>
                <a:t>8.3.1</a:t>
              </a:r>
              <a:r>
                <a:rPr lang="en-US" sz="1600" spc="100" dirty="0" smtClean="0">
                  <a:solidFill>
                    <a:schemeClr val="tx1"/>
                  </a:solidFill>
                </a:rPr>
                <a:t>6</a:t>
              </a:r>
              <a:r>
                <a:rPr lang="ru-RU" sz="1600" spc="100" dirty="0" smtClean="0">
                  <a:solidFill>
                    <a:schemeClr val="tx1"/>
                  </a:solidFill>
                </a:rPr>
                <a:t>.1</a:t>
              </a:r>
              <a:r>
                <a:rPr lang="en-US" sz="1600" spc="100" dirty="0" smtClean="0">
                  <a:solidFill>
                    <a:schemeClr val="tx1"/>
                  </a:solidFill>
                </a:rPr>
                <a:t>063</a:t>
              </a:r>
              <a:endParaRPr lang="ru-RU" sz="1600" spc="100" dirty="0">
                <a:solidFill>
                  <a:schemeClr val="tx1"/>
                </a:solidFill>
              </a:endParaRPr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827584" y="5157192"/>
              <a:ext cx="2736304" cy="756084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b="1" spc="300" dirty="0"/>
                <a:t>Среда </a:t>
              </a:r>
              <a:r>
                <a:rPr lang="ru-RU" sz="1400" b="1" spc="300" dirty="0" smtClean="0"/>
                <a:t>быстрой </a:t>
              </a:r>
              <a:r>
                <a:rPr lang="ru-RU" sz="1400" b="1" spc="300" dirty="0" smtClean="0"/>
                <a:t>разработки</a:t>
              </a:r>
              <a:endParaRPr lang="ru-RU" sz="1400" b="1" spc="300" dirty="0"/>
            </a:p>
            <a:p>
              <a:pPr lvl="0" algn="ctr">
                <a:lnSpc>
                  <a:spcPct val="130000"/>
                </a:lnSpc>
              </a:pPr>
              <a:r>
                <a:rPr lang="ru-RU" sz="1200" b="1" spc="100" dirty="0">
                  <a:solidFill>
                    <a:schemeClr val="bg1"/>
                  </a:solidFill>
                </a:rPr>
                <a:t>Конфигуратор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5580112" y="5157192"/>
              <a:ext cx="2736304" cy="756084"/>
            </a:xfrm>
            <a:prstGeom prst="rect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b="1" spc="300" dirty="0"/>
                <a:t>Среда исполнения</a:t>
              </a:r>
            </a:p>
            <a:p>
              <a:pPr lvl="0" algn="ctr">
                <a:lnSpc>
                  <a:spcPct val="130000"/>
                </a:lnSpc>
              </a:pPr>
              <a:r>
                <a:rPr lang="ru-RU" sz="1200" b="1" spc="100" dirty="0" smtClean="0">
                  <a:solidFill>
                    <a:schemeClr val="bg1"/>
                  </a:solidFill>
                </a:rPr>
                <a:t>1С:Предприятие</a:t>
              </a:r>
            </a:p>
          </p:txBody>
        </p:sp>
      </p:grpSp>
      <p:sp>
        <p:nvSpPr>
          <p:cNvPr id="11" name="Стрелка вверх 10"/>
          <p:cNvSpPr/>
          <p:nvPr/>
        </p:nvSpPr>
        <p:spPr>
          <a:xfrm>
            <a:off x="2051720" y="3789040"/>
            <a:ext cx="288032" cy="1368152"/>
          </a:xfrm>
          <a:prstGeom prst="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верх 11"/>
          <p:cNvSpPr/>
          <p:nvPr/>
        </p:nvSpPr>
        <p:spPr>
          <a:xfrm flipV="1">
            <a:off x="6804248" y="3789040"/>
            <a:ext cx="288032" cy="1368152"/>
          </a:xfrm>
          <a:prstGeom prst="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4950872" y="1589449"/>
            <a:ext cx="3706751" cy="2232248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tIns="0" bIns="72000" rtlCol="0" anchor="ctr"/>
          <a:lstStyle/>
          <a:p>
            <a:pPr lvl="0" algn="ctr">
              <a:lnSpc>
                <a:spcPct val="130000"/>
              </a:lnSpc>
            </a:pPr>
            <a:r>
              <a:rPr lang="ru-RU" sz="2400" b="1" spc="100" dirty="0">
                <a:solidFill>
                  <a:prstClr val="white"/>
                </a:solidFill>
              </a:rPr>
              <a:t>Информационная база</a:t>
            </a:r>
          </a:p>
          <a:p>
            <a:pPr lvl="0" algn="ctr">
              <a:lnSpc>
                <a:spcPct val="130000"/>
              </a:lnSpc>
            </a:pPr>
            <a:r>
              <a:rPr lang="ru-RU" sz="1600" spc="100" dirty="0">
                <a:solidFill>
                  <a:schemeClr val="bg1"/>
                </a:solidFill>
              </a:rPr>
              <a:t>Бухгалтерия предприятия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528" y="1136814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2"/>
              </a:rPr>
              <a:t>https://v8.1c.ru/platforma/</a:t>
            </a:r>
            <a:endParaRPr lang="ru-RU" dirty="0"/>
          </a:p>
        </p:txBody>
      </p:sp>
      <p:sp>
        <p:nvSpPr>
          <p:cNvPr id="14" name="Стрелка вверх 13"/>
          <p:cNvSpPr/>
          <p:nvPr/>
        </p:nvSpPr>
        <p:spPr>
          <a:xfrm rot="5400000">
            <a:off x="4392024" y="2456936"/>
            <a:ext cx="288032" cy="792000"/>
          </a:xfrm>
          <a:prstGeom prst="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849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Конфигурация </a:t>
            </a:r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ru-RU" dirty="0"/>
              <a:t> Информационная база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2339752" y="1340768"/>
            <a:ext cx="4464496" cy="10801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lnSpc>
                <a:spcPct val="130000"/>
              </a:lnSpc>
            </a:pPr>
            <a:r>
              <a:rPr lang="ru-RU" sz="2400" spc="100" dirty="0">
                <a:solidFill>
                  <a:prstClr val="white"/>
                </a:solidFill>
              </a:rPr>
              <a:t>Конфигурация</a:t>
            </a:r>
          </a:p>
          <a:p>
            <a:pPr lvl="0" algn="ctr">
              <a:lnSpc>
                <a:spcPct val="130000"/>
              </a:lnSpc>
            </a:pPr>
            <a:r>
              <a:rPr lang="ru-RU" sz="1600" spc="100" dirty="0">
                <a:solidFill>
                  <a:schemeClr val="bg1"/>
                </a:solidFill>
              </a:rPr>
              <a:t>Бухгалтерия предприятия 3.0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492202" y="3717033"/>
            <a:ext cx="2243594" cy="2230507"/>
            <a:chOff x="611560" y="3933056"/>
            <a:chExt cx="2243594" cy="2230507"/>
          </a:xfrm>
        </p:grpSpPr>
        <p:sp>
          <p:nvSpPr>
            <p:cNvPr id="3" name="Цилиндр 2"/>
            <p:cNvSpPr/>
            <p:nvPr/>
          </p:nvSpPr>
          <p:spPr>
            <a:xfrm>
              <a:off x="611560" y="3933056"/>
              <a:ext cx="2243594" cy="2230507"/>
            </a:xfrm>
            <a:prstGeom prst="can">
              <a:avLst>
                <a:gd name="adj" fmla="val 19081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" name="Скругленный прямоугольник 6"/>
            <p:cNvSpPr/>
            <p:nvPr/>
          </p:nvSpPr>
          <p:spPr>
            <a:xfrm>
              <a:off x="770621" y="5267416"/>
              <a:ext cx="1925472" cy="46584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lnSpc>
                  <a:spcPct val="130000"/>
                </a:lnSpc>
              </a:pPr>
              <a:r>
                <a:rPr lang="ru-RU" sz="1050" spc="100" dirty="0">
                  <a:solidFill>
                    <a:prstClr val="white"/>
                  </a:solidFill>
                </a:rPr>
                <a:t>Данные ООО «Север»</a:t>
              </a:r>
              <a:endParaRPr lang="ru-RU" sz="800" spc="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0621" y="3933056"/>
              <a:ext cx="2013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perspectiveRelaxed"/>
                <a:lightRig rig="threePt" dir="t"/>
              </a:scene3d>
            </a:bodyPr>
            <a:lstStyle/>
            <a:p>
              <a:pPr algn="ctr"/>
              <a:r>
                <a:rPr lang="ru-RU" dirty="0">
                  <a:solidFill>
                    <a:srgbClr val="002060"/>
                  </a:solidFill>
                </a:rPr>
                <a:t>База ООО «Север»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65495" y="5517232"/>
              <a:ext cx="5357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3600" dirty="0">
                  <a:solidFill>
                    <a:schemeClr val="bg1">
                      <a:lumMod val="65000"/>
                    </a:schemeClr>
                  </a:solidFill>
                </a:rPr>
                <a:t>...</a:t>
              </a:r>
            </a:p>
          </p:txBody>
        </p:sp>
      </p:grpSp>
      <p:sp>
        <p:nvSpPr>
          <p:cNvPr id="6" name="Скругленный прямоугольник 5"/>
          <p:cNvSpPr/>
          <p:nvPr/>
        </p:nvSpPr>
        <p:spPr>
          <a:xfrm>
            <a:off x="651263" y="4403321"/>
            <a:ext cx="1925472" cy="46584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b"/>
          <a:lstStyle/>
          <a:p>
            <a:pPr lvl="0" algn="ctr">
              <a:lnSpc>
                <a:spcPct val="130000"/>
              </a:lnSpc>
            </a:pPr>
            <a:r>
              <a:rPr lang="ru-RU" sz="1050" spc="100" dirty="0">
                <a:solidFill>
                  <a:prstClr val="white"/>
                </a:solidFill>
              </a:rPr>
              <a:t>Конфигурация</a:t>
            </a:r>
          </a:p>
          <a:p>
            <a:pPr lvl="0" algn="ctr">
              <a:lnSpc>
                <a:spcPct val="130000"/>
              </a:lnSpc>
            </a:pPr>
            <a:r>
              <a:rPr lang="ru-RU" sz="800" spc="100" dirty="0">
                <a:solidFill>
                  <a:schemeClr val="bg1"/>
                </a:solidFill>
              </a:rPr>
              <a:t>Бухгалтерия предприятия 3.0</a:t>
            </a:r>
          </a:p>
        </p:txBody>
      </p:sp>
      <p:grpSp>
        <p:nvGrpSpPr>
          <p:cNvPr id="12" name="Группа 11"/>
          <p:cNvGrpSpPr/>
          <p:nvPr/>
        </p:nvGrpSpPr>
        <p:grpSpPr>
          <a:xfrm>
            <a:off x="3450203" y="3717033"/>
            <a:ext cx="2243594" cy="2230507"/>
            <a:chOff x="611560" y="3933056"/>
            <a:chExt cx="2243594" cy="2230507"/>
          </a:xfrm>
        </p:grpSpPr>
        <p:sp>
          <p:nvSpPr>
            <p:cNvPr id="13" name="Цилиндр 12"/>
            <p:cNvSpPr/>
            <p:nvPr/>
          </p:nvSpPr>
          <p:spPr>
            <a:xfrm>
              <a:off x="611560" y="3933056"/>
              <a:ext cx="2243594" cy="2230507"/>
            </a:xfrm>
            <a:prstGeom prst="can">
              <a:avLst>
                <a:gd name="adj" fmla="val 19081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4" name="Скругленный прямоугольник 13"/>
            <p:cNvSpPr/>
            <p:nvPr/>
          </p:nvSpPr>
          <p:spPr>
            <a:xfrm>
              <a:off x="770621" y="5267416"/>
              <a:ext cx="1925472" cy="46584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lnSpc>
                  <a:spcPct val="130000"/>
                </a:lnSpc>
              </a:pPr>
              <a:r>
                <a:rPr lang="ru-RU" sz="1050" spc="100" dirty="0">
                  <a:solidFill>
                    <a:prstClr val="white"/>
                  </a:solidFill>
                </a:rPr>
                <a:t>Данные ООО «Юг»</a:t>
              </a:r>
              <a:endParaRPr lang="ru-RU" sz="800" spc="100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22105" y="3933056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perspectiveRelaxed"/>
                <a:lightRig rig="threePt" dir="t"/>
              </a:scene3d>
            </a:bodyPr>
            <a:lstStyle/>
            <a:p>
              <a:pPr algn="ctr"/>
              <a:r>
                <a:rPr lang="ru-RU" dirty="0">
                  <a:solidFill>
                    <a:srgbClr val="002060"/>
                  </a:solidFill>
                </a:rPr>
                <a:t>База ООО «Юг»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65495" y="5517232"/>
              <a:ext cx="5357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3600" dirty="0">
                  <a:solidFill>
                    <a:schemeClr val="bg1">
                      <a:lumMod val="65000"/>
                    </a:schemeClr>
                  </a:solidFill>
                </a:rPr>
                <a:t>...</a:t>
              </a:r>
            </a:p>
          </p:txBody>
        </p:sp>
      </p:grpSp>
      <p:sp>
        <p:nvSpPr>
          <p:cNvPr id="17" name="Скругленный прямоугольник 16"/>
          <p:cNvSpPr/>
          <p:nvPr/>
        </p:nvSpPr>
        <p:spPr>
          <a:xfrm>
            <a:off x="3609264" y="4403321"/>
            <a:ext cx="1925472" cy="46584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b"/>
          <a:lstStyle/>
          <a:p>
            <a:pPr lvl="0" algn="ctr">
              <a:lnSpc>
                <a:spcPct val="130000"/>
              </a:lnSpc>
            </a:pPr>
            <a:r>
              <a:rPr lang="ru-RU" sz="1050" spc="100" dirty="0">
                <a:solidFill>
                  <a:prstClr val="white"/>
                </a:solidFill>
              </a:rPr>
              <a:t>Конфигурация</a:t>
            </a:r>
          </a:p>
          <a:p>
            <a:pPr lvl="0" algn="ctr">
              <a:lnSpc>
                <a:spcPct val="130000"/>
              </a:lnSpc>
            </a:pPr>
            <a:r>
              <a:rPr lang="ru-RU" sz="800" spc="100" dirty="0">
                <a:solidFill>
                  <a:schemeClr val="bg1"/>
                </a:solidFill>
              </a:rPr>
              <a:t>Бухгалтерия предприятия 3.0</a:t>
            </a:r>
          </a:p>
        </p:txBody>
      </p:sp>
      <p:grpSp>
        <p:nvGrpSpPr>
          <p:cNvPr id="37" name="Группа 36"/>
          <p:cNvGrpSpPr/>
          <p:nvPr/>
        </p:nvGrpSpPr>
        <p:grpSpPr>
          <a:xfrm>
            <a:off x="6408204" y="3717032"/>
            <a:ext cx="2243594" cy="2230507"/>
            <a:chOff x="6408204" y="4150820"/>
            <a:chExt cx="2243594" cy="2230507"/>
          </a:xfrm>
        </p:grpSpPr>
        <p:sp>
          <p:nvSpPr>
            <p:cNvPr id="22" name="Цилиндр 21"/>
            <p:cNvSpPr/>
            <p:nvPr/>
          </p:nvSpPr>
          <p:spPr>
            <a:xfrm>
              <a:off x="6408204" y="4150820"/>
              <a:ext cx="2243594" cy="2230507"/>
            </a:xfrm>
            <a:prstGeom prst="can">
              <a:avLst>
                <a:gd name="adj" fmla="val 19081"/>
              </a:avLst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133124" y="4534667"/>
              <a:ext cx="881973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7200" dirty="0">
                  <a:solidFill>
                    <a:schemeClr val="bg1">
                      <a:lumMod val="65000"/>
                    </a:schemeClr>
                  </a:solidFill>
                </a:rPr>
                <a:t>...</a:t>
              </a:r>
            </a:p>
          </p:txBody>
        </p:sp>
      </p:grpSp>
      <p:sp>
        <p:nvSpPr>
          <p:cNvPr id="33" name="Стрелка вниз 32"/>
          <p:cNvSpPr/>
          <p:nvPr/>
        </p:nvSpPr>
        <p:spPr>
          <a:xfrm>
            <a:off x="4477937" y="2636912"/>
            <a:ext cx="188126" cy="864096"/>
          </a:xfrm>
          <a:prstGeom prst="down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Стрелка вниз 33"/>
          <p:cNvSpPr/>
          <p:nvPr/>
        </p:nvSpPr>
        <p:spPr>
          <a:xfrm rot="2700000">
            <a:off x="2617705" y="2576880"/>
            <a:ext cx="188126" cy="864096"/>
          </a:xfrm>
          <a:prstGeom prst="down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Стрелка вниз 35"/>
          <p:cNvSpPr/>
          <p:nvPr/>
        </p:nvSpPr>
        <p:spPr>
          <a:xfrm rot="-2700000">
            <a:off x="6338168" y="2576881"/>
            <a:ext cx="188126" cy="864096"/>
          </a:xfrm>
          <a:prstGeom prst="down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836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50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17" grpId="0" animBg="1"/>
      <p:bldP spid="17" grpId="1" animBg="1"/>
      <p:bldP spid="33" grpId="0" animBg="1"/>
      <p:bldP spid="34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Развертывание базы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120" y="1228690"/>
            <a:ext cx="274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>
                <a:solidFill>
                  <a:srgbClr val="0070C0"/>
                </a:solidFill>
              </a:rPr>
              <a:t>На основе шаблона</a:t>
            </a:r>
          </a:p>
        </p:txBody>
      </p:sp>
      <p:grpSp>
        <p:nvGrpSpPr>
          <p:cNvPr id="25" name="Группа 24"/>
          <p:cNvGrpSpPr/>
          <p:nvPr/>
        </p:nvGrpSpPr>
        <p:grpSpPr>
          <a:xfrm>
            <a:off x="971600" y="2492896"/>
            <a:ext cx="7200800" cy="3969732"/>
            <a:chOff x="971600" y="2492896"/>
            <a:chExt cx="7200800" cy="3969732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971600" y="6093296"/>
              <a:ext cx="72008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ru-RU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3059832" y="2492896"/>
              <a:ext cx="3024336" cy="2664296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ru-RU" spc="3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Каталог шаблонов</a:t>
              </a:r>
            </a:p>
          </p:txBody>
        </p:sp>
        <p:sp>
          <p:nvSpPr>
            <p:cNvPr id="10" name="Скругленный прямоугольник 9"/>
            <p:cNvSpPr/>
            <p:nvPr/>
          </p:nvSpPr>
          <p:spPr>
            <a:xfrm>
              <a:off x="3347868" y="4005064"/>
              <a:ext cx="2448268" cy="64807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bg1">
                      <a:lumMod val="65000"/>
                    </a:schemeClr>
                  </a:solidFill>
                </a:rPr>
                <a:t>Шаблон</a:t>
              </a:r>
            </a:p>
            <a:p>
              <a:pPr algn="ctr"/>
              <a:r>
                <a:rPr lang="ru-RU" sz="1400" dirty="0">
                  <a:solidFill>
                    <a:srgbClr val="7030A0"/>
                  </a:solidFill>
                </a:rPr>
                <a:t>Управление торговлей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246430" y="4365104"/>
              <a:ext cx="65113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4800" dirty="0">
                  <a:solidFill>
                    <a:schemeClr val="bg1">
                      <a:lumMod val="65000"/>
                    </a:schemeClr>
                  </a:solidFill>
                </a:rPr>
                <a:t>...</a:t>
              </a:r>
            </a:p>
          </p:txBody>
        </p:sp>
      </p:grpSp>
      <p:sp>
        <p:nvSpPr>
          <p:cNvPr id="13" name="Цилиндр 12"/>
          <p:cNvSpPr/>
          <p:nvPr/>
        </p:nvSpPr>
        <p:spPr>
          <a:xfrm>
            <a:off x="6810386" y="3141004"/>
            <a:ext cx="785950" cy="648000"/>
          </a:xfrm>
          <a:prstGeom prst="can">
            <a:avLst>
              <a:gd name="adj" fmla="val 19081"/>
            </a:avLst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rgbClr val="0070C0"/>
                </a:solidFill>
              </a:rPr>
              <a:t>База </a:t>
            </a:r>
            <a:r>
              <a:rPr lang="en-US" sz="1200" dirty="0">
                <a:solidFill>
                  <a:srgbClr val="0070C0"/>
                </a:solidFill>
              </a:rPr>
              <a:t>#1</a:t>
            </a:r>
            <a:endParaRPr lang="ru-RU" sz="1200" dirty="0">
              <a:solidFill>
                <a:srgbClr val="0070C0"/>
              </a:solidFill>
            </a:endParaRPr>
          </a:p>
        </p:txBody>
      </p:sp>
      <p:sp>
        <p:nvSpPr>
          <p:cNvPr id="20" name="Цилиндр 19"/>
          <p:cNvSpPr/>
          <p:nvPr/>
        </p:nvSpPr>
        <p:spPr>
          <a:xfrm>
            <a:off x="7818498" y="3141004"/>
            <a:ext cx="785950" cy="648000"/>
          </a:xfrm>
          <a:prstGeom prst="can">
            <a:avLst>
              <a:gd name="adj" fmla="val 19081"/>
            </a:avLst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rgbClr val="0070C0"/>
                </a:solidFill>
              </a:rPr>
              <a:t>База </a:t>
            </a:r>
            <a:r>
              <a:rPr lang="en-US" sz="1200" dirty="0">
                <a:solidFill>
                  <a:srgbClr val="0070C0"/>
                </a:solidFill>
              </a:rPr>
              <a:t>#2</a:t>
            </a:r>
            <a:endParaRPr lang="ru-RU" sz="1200" dirty="0">
              <a:solidFill>
                <a:srgbClr val="0070C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78706" y="3271460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...</a:t>
            </a:r>
          </a:p>
        </p:txBody>
      </p:sp>
      <p:sp>
        <p:nvSpPr>
          <p:cNvPr id="26" name="Стрелка вниз 25"/>
          <p:cNvSpPr/>
          <p:nvPr/>
        </p:nvSpPr>
        <p:spPr>
          <a:xfrm rot="16200000">
            <a:off x="2569725" y="2780928"/>
            <a:ext cx="188126" cy="1368152"/>
          </a:xfrm>
          <a:prstGeom prst="downArrow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024078"/>
            <a:ext cx="864096" cy="864096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Стрелка вниз 26"/>
          <p:cNvSpPr/>
          <p:nvPr/>
        </p:nvSpPr>
        <p:spPr>
          <a:xfrm rot="16200000">
            <a:off x="6134121" y="3032956"/>
            <a:ext cx="188126" cy="864096"/>
          </a:xfrm>
          <a:prstGeom prst="downArrow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347864" y="3140968"/>
            <a:ext cx="2448272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bg1">
                    <a:lumMod val="65000"/>
                  </a:schemeClr>
                </a:solidFill>
              </a:rPr>
              <a:t>Шаблон</a:t>
            </a:r>
          </a:p>
          <a:p>
            <a:pPr algn="ctr"/>
            <a:r>
              <a:rPr lang="ru-RU" sz="1400" dirty="0">
                <a:solidFill>
                  <a:srgbClr val="0070C0"/>
                </a:solidFill>
              </a:rPr>
              <a:t>Бухгалтерия предприятия</a:t>
            </a:r>
          </a:p>
        </p:txBody>
      </p:sp>
    </p:spTree>
    <p:extLst>
      <p:ext uri="{BB962C8B-B14F-4D97-AF65-F5344CB8AC3E}">
        <p14:creationId xmlns:p14="http://schemas.microsoft.com/office/powerpoint/2010/main" val="1835712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  <p:bldP spid="24" grpId="0"/>
      <p:bldP spid="26" grpId="0" animBg="1"/>
      <p:bldP spid="27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12807"/>
          </a:xfrm>
        </p:spPr>
        <p:txBody>
          <a:bodyPr>
            <a:normAutofit fontScale="90000"/>
          </a:bodyPr>
          <a:lstStyle/>
          <a:p>
            <a:r>
              <a:rPr lang="ru-RU" dirty="0"/>
              <a:t>Загрузка конфигурационного файла в  Информационную базу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874453"/>
            <a:ext cx="1057275" cy="1181100"/>
          </a:xfrm>
          <a:prstGeom prst="rect">
            <a:avLst/>
          </a:prstGeom>
        </p:spPr>
      </p:pic>
      <p:sp>
        <p:nvSpPr>
          <p:cNvPr id="24" name="Стрелка вниз 23"/>
          <p:cNvSpPr/>
          <p:nvPr/>
        </p:nvSpPr>
        <p:spPr>
          <a:xfrm rot="16200000">
            <a:off x="3678874" y="2535874"/>
            <a:ext cx="202076" cy="1872208"/>
          </a:xfrm>
          <a:prstGeom prst="downArrow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6" name="Группа 25"/>
          <p:cNvGrpSpPr/>
          <p:nvPr/>
        </p:nvGrpSpPr>
        <p:grpSpPr>
          <a:xfrm>
            <a:off x="5400000" y="2520000"/>
            <a:ext cx="2592288" cy="2412760"/>
            <a:chOff x="539552" y="2564904"/>
            <a:chExt cx="2592288" cy="2412760"/>
          </a:xfrm>
        </p:grpSpPr>
        <p:sp>
          <p:nvSpPr>
            <p:cNvPr id="27" name="Цилиндр 26"/>
            <p:cNvSpPr/>
            <p:nvPr/>
          </p:nvSpPr>
          <p:spPr>
            <a:xfrm>
              <a:off x="539552" y="2601400"/>
              <a:ext cx="2592288" cy="2376264"/>
            </a:xfrm>
            <a:prstGeom prst="can">
              <a:avLst>
                <a:gd name="adj" fmla="val 13736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Скругленный прямоугольник 27"/>
            <p:cNvSpPr/>
            <p:nvPr/>
          </p:nvSpPr>
          <p:spPr>
            <a:xfrm>
              <a:off x="761327" y="3164205"/>
              <a:ext cx="2148738" cy="4320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Конфигурация 1</a:t>
              </a:r>
            </a:p>
          </p:txBody>
        </p:sp>
        <p:sp>
          <p:nvSpPr>
            <p:cNvPr id="29" name="Скругленный прямоугольник 28"/>
            <p:cNvSpPr/>
            <p:nvPr/>
          </p:nvSpPr>
          <p:spPr>
            <a:xfrm>
              <a:off x="761327" y="3674891"/>
              <a:ext cx="2148738" cy="4320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Данные</a:t>
              </a:r>
            </a:p>
          </p:txBody>
        </p:sp>
        <p:sp>
          <p:nvSpPr>
            <p:cNvPr id="30" name="Скругленный прямоугольник 29"/>
            <p:cNvSpPr/>
            <p:nvPr/>
          </p:nvSpPr>
          <p:spPr>
            <a:xfrm>
              <a:off x="764293" y="4185576"/>
              <a:ext cx="2142806" cy="4320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Пользователи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563024" y="2564904"/>
              <a:ext cx="545342" cy="4001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  <a:scene3d>
                <a:camera prst="perspectiveRelaxed"/>
                <a:lightRig rig="threePt" dir="t"/>
              </a:scene3d>
            </a:bodyPr>
            <a:lstStyle/>
            <a:p>
              <a:pPr algn="ctr"/>
              <a:r>
                <a:rPr lang="ru-RU" sz="2000" dirty="0">
                  <a:solidFill>
                    <a:srgbClr val="002060"/>
                  </a:solidFill>
                </a:rPr>
                <a:t>ИБ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7682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12807"/>
          </a:xfrm>
        </p:spPr>
        <p:txBody>
          <a:bodyPr>
            <a:normAutofit fontScale="90000"/>
          </a:bodyPr>
          <a:lstStyle/>
          <a:p>
            <a:r>
              <a:rPr lang="ru-RU" dirty="0"/>
              <a:t>Загрузка конфигурационного файла в  Информационную базу</a:t>
            </a:r>
          </a:p>
        </p:txBody>
      </p:sp>
      <p:grpSp>
        <p:nvGrpSpPr>
          <p:cNvPr id="32" name="Группа 31"/>
          <p:cNvGrpSpPr/>
          <p:nvPr/>
        </p:nvGrpSpPr>
        <p:grpSpPr>
          <a:xfrm>
            <a:off x="5400000" y="2520000"/>
            <a:ext cx="2592288" cy="2412760"/>
            <a:chOff x="539552" y="2564904"/>
            <a:chExt cx="2592288" cy="2412760"/>
          </a:xfrm>
        </p:grpSpPr>
        <p:sp>
          <p:nvSpPr>
            <p:cNvPr id="35" name="Цилиндр 34"/>
            <p:cNvSpPr/>
            <p:nvPr/>
          </p:nvSpPr>
          <p:spPr>
            <a:xfrm>
              <a:off x="539552" y="2601400"/>
              <a:ext cx="2592288" cy="2376264"/>
            </a:xfrm>
            <a:prstGeom prst="can">
              <a:avLst>
                <a:gd name="adj" fmla="val 13736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Скругленный прямоугольник 37"/>
            <p:cNvSpPr/>
            <p:nvPr/>
          </p:nvSpPr>
          <p:spPr>
            <a:xfrm>
              <a:off x="761327" y="3164205"/>
              <a:ext cx="2148738" cy="43200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Конфигурация 2</a:t>
              </a:r>
            </a:p>
          </p:txBody>
        </p:sp>
        <p:sp>
          <p:nvSpPr>
            <p:cNvPr id="39" name="Скругленный прямоугольник 38"/>
            <p:cNvSpPr/>
            <p:nvPr/>
          </p:nvSpPr>
          <p:spPr>
            <a:xfrm>
              <a:off x="761327" y="3674891"/>
              <a:ext cx="2148738" cy="4320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Данные</a:t>
              </a:r>
            </a:p>
          </p:txBody>
        </p:sp>
        <p:sp>
          <p:nvSpPr>
            <p:cNvPr id="40" name="Скругленный прямоугольник 39"/>
            <p:cNvSpPr/>
            <p:nvPr/>
          </p:nvSpPr>
          <p:spPr>
            <a:xfrm>
              <a:off x="764293" y="4185576"/>
              <a:ext cx="2142806" cy="4320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Пользователи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563024" y="2564904"/>
              <a:ext cx="545342" cy="40011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  <a:scene3d>
                <a:camera prst="perspectiveRelaxed"/>
                <a:lightRig rig="threePt" dir="t"/>
              </a:scene3d>
            </a:bodyPr>
            <a:lstStyle/>
            <a:p>
              <a:pPr algn="ctr"/>
              <a:r>
                <a:rPr lang="ru-RU" sz="2000" dirty="0">
                  <a:solidFill>
                    <a:srgbClr val="002060"/>
                  </a:solidFill>
                </a:rPr>
                <a:t>ИБ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0986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Группа 13"/>
          <p:cNvGrpSpPr/>
          <p:nvPr/>
        </p:nvGrpSpPr>
        <p:grpSpPr>
          <a:xfrm>
            <a:off x="6156176" y="2852936"/>
            <a:ext cx="2592288" cy="2412760"/>
            <a:chOff x="3131840" y="4617576"/>
            <a:chExt cx="2592288" cy="2412760"/>
          </a:xfrm>
        </p:grpSpPr>
        <p:sp>
          <p:nvSpPr>
            <p:cNvPr id="44" name="Цилиндр 43"/>
            <p:cNvSpPr/>
            <p:nvPr/>
          </p:nvSpPr>
          <p:spPr>
            <a:xfrm>
              <a:off x="3131840" y="4654072"/>
              <a:ext cx="2592288" cy="2376264"/>
            </a:xfrm>
            <a:prstGeom prst="can">
              <a:avLst>
                <a:gd name="adj" fmla="val 13736"/>
              </a:avLst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930893" y="4617576"/>
              <a:ext cx="9941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perspectiveRelaxed"/>
                <a:lightRig rig="threePt" dir="t"/>
              </a:scene3d>
            </a:bodyPr>
            <a:lstStyle/>
            <a:p>
              <a:pPr algn="ctr"/>
              <a:r>
                <a:rPr lang="ru-RU" sz="2000" dirty="0">
                  <a:solidFill>
                    <a:srgbClr val="002060"/>
                  </a:solidFill>
                </a:rPr>
                <a:t>База </a:t>
              </a:r>
              <a:r>
                <a:rPr lang="en-US" sz="2000" dirty="0">
                  <a:solidFill>
                    <a:srgbClr val="002060"/>
                  </a:solidFill>
                </a:rPr>
                <a:t>#</a:t>
              </a:r>
              <a:r>
                <a:rPr lang="ru-RU" sz="2000" dirty="0">
                  <a:solidFill>
                    <a:srgbClr val="002060"/>
                  </a:solidFill>
                </a:rPr>
                <a:t>2</a:t>
              </a:r>
            </a:p>
          </p:txBody>
        </p:sp>
      </p:grpSp>
      <p:sp>
        <p:nvSpPr>
          <p:cNvPr id="41" name="Стрелка вниз 40"/>
          <p:cNvSpPr/>
          <p:nvPr/>
        </p:nvSpPr>
        <p:spPr>
          <a:xfrm rot="16200000">
            <a:off x="3314669" y="3644096"/>
            <a:ext cx="418591" cy="1072284"/>
          </a:xfrm>
          <a:prstGeom prst="downArrow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ru-RU" sz="1050" dirty="0">
                <a:solidFill>
                  <a:srgbClr val="C00000"/>
                </a:solidFill>
              </a:rPr>
              <a:t>Выгрузить ИБ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Развертывание базы из архива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8074" y="1228690"/>
            <a:ext cx="2027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>
                <a:solidFill>
                  <a:srgbClr val="0070C0"/>
                </a:solidFill>
              </a:rPr>
              <a:t>Из файла </a:t>
            </a:r>
            <a:r>
              <a:rPr lang="en-US" sz="2400" b="1" dirty="0">
                <a:solidFill>
                  <a:srgbClr val="0070C0"/>
                </a:solidFill>
              </a:rPr>
              <a:t>*</a:t>
            </a:r>
            <a:r>
              <a:rPr lang="ru-RU" sz="2400" b="1" dirty="0">
                <a:solidFill>
                  <a:srgbClr val="0070C0"/>
                </a:solidFill>
              </a:rPr>
              <a:t>.</a:t>
            </a:r>
            <a:r>
              <a:rPr lang="en-US" sz="2400" b="1" dirty="0">
                <a:solidFill>
                  <a:srgbClr val="0070C0"/>
                </a:solidFill>
              </a:rPr>
              <a:t>DT</a:t>
            </a:r>
            <a:endParaRPr lang="ru-RU" sz="2400" b="1" dirty="0">
              <a:solidFill>
                <a:srgbClr val="0070C0"/>
              </a:solidFill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395536" y="2852936"/>
            <a:ext cx="2592288" cy="2412760"/>
            <a:chOff x="539552" y="2564904"/>
            <a:chExt cx="2592288" cy="2412760"/>
          </a:xfrm>
        </p:grpSpPr>
        <p:sp>
          <p:nvSpPr>
            <p:cNvPr id="16" name="Цилиндр 15"/>
            <p:cNvSpPr/>
            <p:nvPr/>
          </p:nvSpPr>
          <p:spPr>
            <a:xfrm>
              <a:off x="539552" y="2601400"/>
              <a:ext cx="2592288" cy="2376264"/>
            </a:xfrm>
            <a:prstGeom prst="can">
              <a:avLst>
                <a:gd name="adj" fmla="val 13736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Скругленный прямоугольник 17"/>
            <p:cNvSpPr/>
            <p:nvPr/>
          </p:nvSpPr>
          <p:spPr>
            <a:xfrm>
              <a:off x="761327" y="3164205"/>
              <a:ext cx="2148738" cy="4320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Конфигурация</a:t>
              </a:r>
            </a:p>
          </p:txBody>
        </p:sp>
        <p:sp>
          <p:nvSpPr>
            <p:cNvPr id="22" name="Скругленный прямоугольник 21"/>
            <p:cNvSpPr/>
            <p:nvPr/>
          </p:nvSpPr>
          <p:spPr>
            <a:xfrm>
              <a:off x="761327" y="3674891"/>
              <a:ext cx="2148738" cy="4320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Данные</a:t>
              </a:r>
            </a:p>
          </p:txBody>
        </p:sp>
        <p:sp>
          <p:nvSpPr>
            <p:cNvPr id="29" name="Скругленный прямоугольник 28"/>
            <p:cNvSpPr/>
            <p:nvPr/>
          </p:nvSpPr>
          <p:spPr>
            <a:xfrm>
              <a:off x="764293" y="4185576"/>
              <a:ext cx="2142806" cy="4320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Пользователи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38605" y="2564904"/>
              <a:ext cx="994183" cy="4001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rtlCol="0">
              <a:spAutoFit/>
              <a:scene3d>
                <a:camera prst="perspectiveRelaxed"/>
                <a:lightRig rig="threePt" dir="t"/>
              </a:scene3d>
            </a:bodyPr>
            <a:lstStyle/>
            <a:p>
              <a:pPr algn="ctr"/>
              <a:r>
                <a:rPr lang="ru-RU" sz="2000" dirty="0">
                  <a:solidFill>
                    <a:srgbClr val="002060"/>
                  </a:solidFill>
                </a:rPr>
                <a:t>База </a:t>
              </a:r>
              <a:r>
                <a:rPr lang="en-US" sz="2000" dirty="0">
                  <a:solidFill>
                    <a:srgbClr val="002060"/>
                  </a:solidFill>
                </a:rPr>
                <a:t>#1</a:t>
              </a:r>
              <a:endParaRPr lang="ru-RU" sz="20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33" name="Группа 32"/>
          <p:cNvGrpSpPr/>
          <p:nvPr/>
        </p:nvGrpSpPr>
        <p:grpSpPr>
          <a:xfrm>
            <a:off x="6156176" y="2852936"/>
            <a:ext cx="2592288" cy="2412760"/>
            <a:chOff x="539552" y="2564904"/>
            <a:chExt cx="2592288" cy="2412760"/>
          </a:xfrm>
        </p:grpSpPr>
        <p:sp>
          <p:nvSpPr>
            <p:cNvPr id="34" name="Цилиндр 33"/>
            <p:cNvSpPr/>
            <p:nvPr/>
          </p:nvSpPr>
          <p:spPr>
            <a:xfrm>
              <a:off x="539552" y="2601400"/>
              <a:ext cx="2592288" cy="2376264"/>
            </a:xfrm>
            <a:prstGeom prst="can">
              <a:avLst>
                <a:gd name="adj" fmla="val 13736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Скругленный прямоугольник 34"/>
            <p:cNvSpPr/>
            <p:nvPr/>
          </p:nvSpPr>
          <p:spPr>
            <a:xfrm>
              <a:off x="761327" y="3164205"/>
              <a:ext cx="2148738" cy="4320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Конфигурация</a:t>
              </a:r>
            </a:p>
          </p:txBody>
        </p:sp>
        <p:sp>
          <p:nvSpPr>
            <p:cNvPr id="36" name="Скругленный прямоугольник 35"/>
            <p:cNvSpPr/>
            <p:nvPr/>
          </p:nvSpPr>
          <p:spPr>
            <a:xfrm>
              <a:off x="761327" y="3674891"/>
              <a:ext cx="2148738" cy="4320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Данные</a:t>
              </a:r>
            </a:p>
          </p:txBody>
        </p:sp>
        <p:sp>
          <p:nvSpPr>
            <p:cNvPr id="37" name="Скругленный прямоугольник 36"/>
            <p:cNvSpPr/>
            <p:nvPr/>
          </p:nvSpPr>
          <p:spPr>
            <a:xfrm>
              <a:off x="764293" y="4185576"/>
              <a:ext cx="2142806" cy="4320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Пользователи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38605" y="2564904"/>
              <a:ext cx="994183" cy="4001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  <a:scene3d>
                <a:camera prst="perspectiveRelaxed"/>
                <a:lightRig rig="threePt" dir="t"/>
              </a:scene3d>
            </a:bodyPr>
            <a:lstStyle/>
            <a:p>
              <a:pPr algn="ctr"/>
              <a:r>
                <a:rPr lang="ru-RU" sz="2000" dirty="0">
                  <a:solidFill>
                    <a:srgbClr val="002060"/>
                  </a:solidFill>
                </a:rPr>
                <a:t>База </a:t>
              </a:r>
              <a:r>
                <a:rPr lang="en-US" sz="2000" dirty="0">
                  <a:solidFill>
                    <a:srgbClr val="002060"/>
                  </a:solidFill>
                </a:rPr>
                <a:t>#</a:t>
              </a:r>
              <a:r>
                <a:rPr lang="ru-RU" sz="2000" dirty="0">
                  <a:solidFill>
                    <a:srgbClr val="002060"/>
                  </a:solidFill>
                </a:rPr>
                <a:t>2</a:t>
              </a:r>
            </a:p>
          </p:txBody>
        </p:sp>
      </p:grpSp>
      <p:sp>
        <p:nvSpPr>
          <p:cNvPr id="42" name="Стрелка вниз 41"/>
          <p:cNvSpPr/>
          <p:nvPr/>
        </p:nvSpPr>
        <p:spPr>
          <a:xfrm rot="16200000">
            <a:off x="5410741" y="3644098"/>
            <a:ext cx="418591" cy="1072282"/>
          </a:xfrm>
          <a:prstGeom prst="downArrow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vert" rtlCol="0" anchor="ctr"/>
          <a:lstStyle/>
          <a:p>
            <a:pPr lvl="0" algn="ctr"/>
            <a:r>
              <a:rPr lang="ru-RU" sz="1050" dirty="0">
                <a:solidFill>
                  <a:srgbClr val="C00000"/>
                </a:solidFill>
              </a:rPr>
              <a:t>Загрузить ИБ</a:t>
            </a:r>
          </a:p>
        </p:txBody>
      </p:sp>
      <p:sp>
        <p:nvSpPr>
          <p:cNvPr id="40" name="Загнутый угол 39"/>
          <p:cNvSpPr/>
          <p:nvPr/>
        </p:nvSpPr>
        <p:spPr>
          <a:xfrm>
            <a:off x="4071934" y="3573016"/>
            <a:ext cx="1000132" cy="1214446"/>
          </a:xfrm>
          <a:prstGeom prst="foldedCorne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tIns="180000" rtlCol="0" anchor="ctr"/>
          <a:lstStyle/>
          <a:p>
            <a:pPr algn="ctr"/>
            <a:r>
              <a:rPr lang="ru-RU" b="1" dirty="0">
                <a:latin typeface="Courier New" pitchFamily="49" charset="0"/>
                <a:cs typeface="Courier New" pitchFamily="49" charset="0"/>
              </a:rPr>
              <a:t>*.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DT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61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Архитектура работы </a:t>
            </a:r>
            <a:r>
              <a:rPr lang="ru-RU" dirty="0"/>
              <a:t>1С:Предприятие 8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6453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Двухзвенная архитектура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Поддерживается в 8.0, 8.1, 8.2, 8.3</a:t>
            </a:r>
          </a:p>
        </p:txBody>
      </p:sp>
    </p:spTree>
    <p:extLst>
      <p:ext uri="{BB962C8B-B14F-4D97-AF65-F5344CB8AC3E}">
        <p14:creationId xmlns:p14="http://schemas.microsoft.com/office/powerpoint/2010/main" val="1829829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50091"/>
          </a:xfrm>
        </p:spPr>
        <p:txBody>
          <a:bodyPr>
            <a:normAutofit fontScale="90000"/>
          </a:bodyPr>
          <a:lstStyle/>
          <a:p>
            <a:r>
              <a:rPr lang="ru-RU" dirty="0"/>
              <a:t>Двухзвенная архитектура</a:t>
            </a:r>
            <a:br>
              <a:rPr lang="ru-RU" dirty="0"/>
            </a:br>
            <a:r>
              <a:rPr lang="ru-RU" sz="3100" dirty="0"/>
              <a:t>(Файловый вариант)</a:t>
            </a:r>
          </a:p>
        </p:txBody>
      </p:sp>
      <p:sp>
        <p:nvSpPr>
          <p:cNvPr id="6" name="Блок-схема: магнитный диск 5"/>
          <p:cNvSpPr/>
          <p:nvPr/>
        </p:nvSpPr>
        <p:spPr>
          <a:xfrm>
            <a:off x="2555776" y="4753016"/>
            <a:ext cx="4464496" cy="1512168"/>
          </a:xfrm>
          <a:prstGeom prst="flowChartMagneticDisk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СУБД</a:t>
            </a:r>
          </a:p>
        </p:txBody>
      </p:sp>
      <p:sp>
        <p:nvSpPr>
          <p:cNvPr id="7" name="Двойная стрелка вверх/вниз 6"/>
          <p:cNvSpPr/>
          <p:nvPr/>
        </p:nvSpPr>
        <p:spPr>
          <a:xfrm>
            <a:off x="4427984" y="2348880"/>
            <a:ext cx="648072" cy="2376264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" name="Группа 8"/>
          <p:cNvGrpSpPr/>
          <p:nvPr/>
        </p:nvGrpSpPr>
        <p:grpSpPr>
          <a:xfrm>
            <a:off x="899592" y="1556792"/>
            <a:ext cx="7704856" cy="792088"/>
            <a:chOff x="899592" y="1556792"/>
            <a:chExt cx="7704856" cy="792088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899592" y="1556792"/>
              <a:ext cx="7704856" cy="792088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Все программные объекты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71600" y="1700808"/>
              <a:ext cx="1008112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b="1" u="sng" dirty="0"/>
                <a:t>Клиент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4146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40799"/>
          </a:xfrm>
        </p:spPr>
        <p:txBody>
          <a:bodyPr>
            <a:normAutofit fontScale="90000"/>
          </a:bodyPr>
          <a:lstStyle/>
          <a:p>
            <a:r>
              <a:rPr lang="ru-RU" dirty="0"/>
              <a:t>Двухзвенная архитектура</a:t>
            </a:r>
            <a:br>
              <a:rPr lang="ru-RU" dirty="0"/>
            </a:br>
            <a:r>
              <a:rPr lang="ru-RU" sz="3100" dirty="0"/>
              <a:t>(Клиент-серверный вариант)</a:t>
            </a:r>
          </a:p>
        </p:txBody>
      </p:sp>
      <p:sp>
        <p:nvSpPr>
          <p:cNvPr id="6" name="Блок-схема: магнитный диск 5"/>
          <p:cNvSpPr/>
          <p:nvPr/>
        </p:nvSpPr>
        <p:spPr>
          <a:xfrm>
            <a:off x="2519772" y="5013176"/>
            <a:ext cx="4464496" cy="1512168"/>
          </a:xfrm>
          <a:prstGeom prst="flowChartMagneticDisk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СУБД</a:t>
            </a:r>
          </a:p>
        </p:txBody>
      </p:sp>
      <p:sp>
        <p:nvSpPr>
          <p:cNvPr id="7" name="Двойная стрелка вверх/вниз 6"/>
          <p:cNvSpPr/>
          <p:nvPr/>
        </p:nvSpPr>
        <p:spPr>
          <a:xfrm>
            <a:off x="4427984" y="2348880"/>
            <a:ext cx="648072" cy="936104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899592" y="1556792"/>
            <a:ext cx="7704856" cy="792088"/>
            <a:chOff x="899592" y="1556792"/>
            <a:chExt cx="7704856" cy="792088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899592" y="1556792"/>
              <a:ext cx="7704856" cy="792088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Все программные объекты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71600" y="1700808"/>
              <a:ext cx="1008112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b="1" u="sng" dirty="0"/>
                <a:t>Клиент</a:t>
              </a:r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899592" y="3284984"/>
            <a:ext cx="7704856" cy="792088"/>
            <a:chOff x="899592" y="3284984"/>
            <a:chExt cx="7704856" cy="792088"/>
          </a:xfrm>
        </p:grpSpPr>
        <p:sp>
          <p:nvSpPr>
            <p:cNvPr id="9" name="Скругленный прямоугольник 8"/>
            <p:cNvSpPr/>
            <p:nvPr/>
          </p:nvSpPr>
          <p:spPr>
            <a:xfrm>
              <a:off x="899592" y="3284984"/>
              <a:ext cx="7704856" cy="792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Помощь клиенту в обработке данных</a:t>
              </a:r>
            </a:p>
            <a:p>
              <a:pPr algn="ctr"/>
              <a:r>
                <a:rPr lang="ru-RU" dirty="0"/>
                <a:t>Перевод с языка 1с на язык СУБД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71600" y="3306191"/>
              <a:ext cx="17918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u="sng" dirty="0"/>
                <a:t>Сервер 1С: Предприятие</a:t>
              </a:r>
            </a:p>
          </p:txBody>
        </p:sp>
      </p:grpSp>
      <p:sp>
        <p:nvSpPr>
          <p:cNvPr id="11" name="Двойная стрелка вверх/вниз 10"/>
          <p:cNvSpPr/>
          <p:nvPr/>
        </p:nvSpPr>
        <p:spPr>
          <a:xfrm>
            <a:off x="4427984" y="4077072"/>
            <a:ext cx="648072" cy="934627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008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Трехзвенная архитектура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Поддерживается в 8.2, 8.3</a:t>
            </a:r>
          </a:p>
        </p:txBody>
      </p:sp>
    </p:spTree>
    <p:extLst>
      <p:ext uri="{BB962C8B-B14F-4D97-AF65-F5344CB8AC3E}">
        <p14:creationId xmlns:p14="http://schemas.microsoft.com/office/powerpoint/2010/main" val="1342134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40799"/>
          </a:xfrm>
        </p:spPr>
        <p:txBody>
          <a:bodyPr>
            <a:normAutofit fontScale="90000"/>
          </a:bodyPr>
          <a:lstStyle/>
          <a:p>
            <a:r>
              <a:rPr lang="ru-RU" dirty="0"/>
              <a:t>Трехзвенная архитектура</a:t>
            </a:r>
            <a:br>
              <a:rPr lang="ru-RU" dirty="0"/>
            </a:br>
            <a:r>
              <a:rPr lang="ru-RU" sz="3100" dirty="0"/>
              <a:t>(Клиент-серверный вариант)</a:t>
            </a:r>
          </a:p>
        </p:txBody>
      </p:sp>
      <p:sp>
        <p:nvSpPr>
          <p:cNvPr id="6" name="Блок-схема: магнитный диск 5"/>
          <p:cNvSpPr/>
          <p:nvPr/>
        </p:nvSpPr>
        <p:spPr>
          <a:xfrm>
            <a:off x="2519772" y="5013176"/>
            <a:ext cx="4464496" cy="1512168"/>
          </a:xfrm>
          <a:prstGeom prst="flowChartMagneticDisk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СУБД</a:t>
            </a:r>
          </a:p>
        </p:txBody>
      </p:sp>
      <p:sp>
        <p:nvSpPr>
          <p:cNvPr id="7" name="Двойная стрелка вверх/вниз 6"/>
          <p:cNvSpPr/>
          <p:nvPr/>
        </p:nvSpPr>
        <p:spPr>
          <a:xfrm>
            <a:off x="4427984" y="2348880"/>
            <a:ext cx="648072" cy="936104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899592" y="1556792"/>
            <a:ext cx="7704856" cy="792088"/>
            <a:chOff x="899592" y="1556792"/>
            <a:chExt cx="7704856" cy="792088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899592" y="1556792"/>
              <a:ext cx="7704856" cy="792088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dirty="0"/>
                <a:t>Программные объекты для отображения данных</a:t>
              </a:r>
            </a:p>
            <a:p>
              <a:pPr algn="r"/>
              <a:r>
                <a:rPr lang="ru-RU" dirty="0"/>
                <a:t>Программные объекты для передачи данных с клиента на сервер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71600" y="1700808"/>
              <a:ext cx="1008112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b="1" u="sng" dirty="0"/>
                <a:t>Клиент</a:t>
              </a:r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899592" y="3284984"/>
            <a:ext cx="7704856" cy="792088"/>
            <a:chOff x="899592" y="3284984"/>
            <a:chExt cx="7704856" cy="792088"/>
          </a:xfrm>
        </p:grpSpPr>
        <p:sp>
          <p:nvSpPr>
            <p:cNvPr id="9" name="Скругленный прямоугольник 8"/>
            <p:cNvSpPr/>
            <p:nvPr/>
          </p:nvSpPr>
          <p:spPr>
            <a:xfrm>
              <a:off x="899592" y="3284984"/>
              <a:ext cx="7704856" cy="792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dirty="0"/>
                <a:t>Все программные объекты (за редким исключением)</a:t>
              </a:r>
            </a:p>
            <a:p>
              <a:pPr algn="r"/>
              <a:r>
                <a:rPr lang="ru-RU" dirty="0"/>
                <a:t>Перевод с языка 1с на язык СУБД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71600" y="3306191"/>
              <a:ext cx="17918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u="sng" dirty="0"/>
                <a:t>Сервер 1С: Предприятие</a:t>
              </a:r>
            </a:p>
          </p:txBody>
        </p:sp>
      </p:grpSp>
      <p:sp>
        <p:nvSpPr>
          <p:cNvPr id="11" name="Двойная стрелка вверх/вниз 10"/>
          <p:cNvSpPr/>
          <p:nvPr/>
        </p:nvSpPr>
        <p:spPr>
          <a:xfrm>
            <a:off x="4427984" y="4077072"/>
            <a:ext cx="648072" cy="934627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891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50091"/>
          </a:xfrm>
        </p:spPr>
        <p:txBody>
          <a:bodyPr>
            <a:normAutofit fontScale="90000"/>
          </a:bodyPr>
          <a:lstStyle/>
          <a:p>
            <a:r>
              <a:rPr lang="ru-RU" dirty="0"/>
              <a:t>Трехзвенная архитектура</a:t>
            </a:r>
            <a:br>
              <a:rPr lang="ru-RU" dirty="0"/>
            </a:br>
            <a:r>
              <a:rPr lang="ru-RU" sz="3100" dirty="0"/>
              <a:t>(Файловый вариант)</a:t>
            </a:r>
          </a:p>
        </p:txBody>
      </p:sp>
      <p:sp>
        <p:nvSpPr>
          <p:cNvPr id="6" name="Блок-схема: магнитный диск 5"/>
          <p:cNvSpPr/>
          <p:nvPr/>
        </p:nvSpPr>
        <p:spPr>
          <a:xfrm>
            <a:off x="2519772" y="5013176"/>
            <a:ext cx="4464496" cy="1512168"/>
          </a:xfrm>
          <a:prstGeom prst="flowChartMagneticDisk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СУБД</a:t>
            </a:r>
          </a:p>
        </p:txBody>
      </p:sp>
      <p:grpSp>
        <p:nvGrpSpPr>
          <p:cNvPr id="2" name="Группа 1"/>
          <p:cNvGrpSpPr/>
          <p:nvPr/>
        </p:nvGrpSpPr>
        <p:grpSpPr>
          <a:xfrm>
            <a:off x="899592" y="1556792"/>
            <a:ext cx="7704856" cy="792088"/>
            <a:chOff x="899592" y="1556792"/>
            <a:chExt cx="7704856" cy="792088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899592" y="1556792"/>
              <a:ext cx="7704856" cy="792088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dirty="0"/>
                <a:t>Программные объекты для отображения данных</a:t>
              </a:r>
              <a:r>
                <a:rPr lang="en-US" dirty="0"/>
                <a:t/>
              </a:r>
              <a:br>
                <a:rPr lang="en-US" dirty="0"/>
              </a:br>
              <a:r>
                <a:rPr lang="ru-RU" dirty="0"/>
                <a:t>Программные объекты для передачи данных с клиента на сервер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71600" y="1700808"/>
              <a:ext cx="1008112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b="1" u="sng" dirty="0"/>
                <a:t>Клиент</a:t>
              </a:r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885576" y="2380774"/>
            <a:ext cx="7704856" cy="792088"/>
            <a:chOff x="899592" y="3284984"/>
            <a:chExt cx="7704856" cy="792088"/>
          </a:xfrm>
        </p:grpSpPr>
        <p:sp>
          <p:nvSpPr>
            <p:cNvPr id="9" name="Скругленный прямоугольник 8"/>
            <p:cNvSpPr/>
            <p:nvPr/>
          </p:nvSpPr>
          <p:spPr>
            <a:xfrm>
              <a:off x="899592" y="3284984"/>
              <a:ext cx="7704856" cy="792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dirty="0"/>
                <a:t>Все программные объекты (за редким исключением)</a:t>
              </a:r>
            </a:p>
            <a:p>
              <a:pPr algn="r"/>
              <a:r>
                <a:rPr lang="ru-RU" dirty="0"/>
                <a:t>Перевод с языка 1с на язык СУБД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71600" y="3306191"/>
              <a:ext cx="23042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u="sng" dirty="0"/>
                <a:t>Эмуляция Сервера 1С: Предприятие</a:t>
              </a:r>
            </a:p>
          </p:txBody>
        </p:sp>
      </p:grpSp>
      <p:sp>
        <p:nvSpPr>
          <p:cNvPr id="11" name="Двойная стрелка вверх/вниз 10"/>
          <p:cNvSpPr/>
          <p:nvPr/>
        </p:nvSpPr>
        <p:spPr>
          <a:xfrm>
            <a:off x="4427984" y="3172862"/>
            <a:ext cx="648072" cy="1838837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442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25023"/>
          </a:xfrm>
        </p:spPr>
        <p:txBody>
          <a:bodyPr>
            <a:normAutofit fontScale="90000"/>
          </a:bodyPr>
          <a:lstStyle/>
          <a:p>
            <a:r>
              <a:rPr lang="ru-RU" dirty="0"/>
              <a:t>Виды клиентов</a:t>
            </a:r>
            <a:br>
              <a:rPr lang="ru-RU" dirty="0"/>
            </a:br>
            <a:r>
              <a:rPr lang="ru-RU" sz="3100" dirty="0"/>
              <a:t>(только для 8.2, 8.3)</a:t>
            </a:r>
          </a:p>
        </p:txBody>
      </p:sp>
      <p:graphicFrame>
        <p:nvGraphicFramePr>
          <p:cNvPr id="3" name="Схема 2"/>
          <p:cNvGraphicFramePr/>
          <p:nvPr>
            <p:extLst/>
          </p:nvPr>
        </p:nvGraphicFramePr>
        <p:xfrm>
          <a:off x="611560" y="1397000"/>
          <a:ext cx="7848872" cy="4408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8368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подключения клиентов</a:t>
            </a:r>
          </a:p>
        </p:txBody>
      </p:sp>
      <p:graphicFrame>
        <p:nvGraphicFramePr>
          <p:cNvPr id="4" name="Схема 3"/>
          <p:cNvGraphicFramePr/>
          <p:nvPr>
            <p:extLst/>
          </p:nvPr>
        </p:nvGraphicFramePr>
        <p:xfrm>
          <a:off x="971600" y="1397000"/>
          <a:ext cx="7056784" cy="1599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Блок-схема: магнитный диск 4"/>
          <p:cNvSpPr/>
          <p:nvPr/>
        </p:nvSpPr>
        <p:spPr>
          <a:xfrm>
            <a:off x="4111665" y="5482670"/>
            <a:ext cx="2088232" cy="1080120"/>
          </a:xfrm>
          <a:prstGeom prst="flowChartMagneticDisk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СУБД</a:t>
            </a:r>
          </a:p>
        </p:txBody>
      </p:sp>
      <p:sp>
        <p:nvSpPr>
          <p:cNvPr id="6" name="Блок-схема: типовой процесс 5"/>
          <p:cNvSpPr/>
          <p:nvPr/>
        </p:nvSpPr>
        <p:spPr>
          <a:xfrm>
            <a:off x="737574" y="4355613"/>
            <a:ext cx="3330370" cy="900000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Сервер 1С: Предприятие</a:t>
            </a:r>
          </a:p>
        </p:txBody>
      </p:sp>
      <p:sp>
        <p:nvSpPr>
          <p:cNvPr id="7" name="Блок-схема: альтернативный процесс 6"/>
          <p:cNvSpPr/>
          <p:nvPr/>
        </p:nvSpPr>
        <p:spPr>
          <a:xfrm>
            <a:off x="4860032" y="4355613"/>
            <a:ext cx="3816424" cy="900000"/>
          </a:xfrm>
          <a:prstGeom prst="flowChartAlternate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</a:t>
            </a:r>
            <a:r>
              <a:rPr lang="ru-RU" dirty="0"/>
              <a:t>сервер</a:t>
            </a:r>
          </a:p>
        </p:txBody>
      </p:sp>
      <p:sp>
        <p:nvSpPr>
          <p:cNvPr id="8" name="Двойная стрелка вверх/вниз 7"/>
          <p:cNvSpPr/>
          <p:nvPr/>
        </p:nvSpPr>
        <p:spPr>
          <a:xfrm rot="5400000">
            <a:off x="4279957" y="4417484"/>
            <a:ext cx="396000" cy="802409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Двойная стрелка вверх/вниз 8"/>
          <p:cNvSpPr/>
          <p:nvPr/>
        </p:nvSpPr>
        <p:spPr>
          <a:xfrm>
            <a:off x="1763688" y="2890948"/>
            <a:ext cx="396000" cy="1464665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войная стрелка вверх/вниз 9"/>
          <p:cNvSpPr/>
          <p:nvPr/>
        </p:nvSpPr>
        <p:spPr>
          <a:xfrm>
            <a:off x="3779912" y="2890947"/>
            <a:ext cx="396000" cy="1464666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Двойная стрелка вверх/вниз 10"/>
          <p:cNvSpPr/>
          <p:nvPr/>
        </p:nvSpPr>
        <p:spPr>
          <a:xfrm>
            <a:off x="6444208" y="2890948"/>
            <a:ext cx="396000" cy="1464665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https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2" name="Двойная стрелка вверх/вниз 11"/>
          <p:cNvSpPr/>
          <p:nvPr/>
        </p:nvSpPr>
        <p:spPr>
          <a:xfrm>
            <a:off x="4860032" y="2890948"/>
            <a:ext cx="396000" cy="1464665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https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3" name="Двойная стрелка влево/вверх 12"/>
          <p:cNvSpPr/>
          <p:nvPr/>
        </p:nvSpPr>
        <p:spPr>
          <a:xfrm rot="5400000">
            <a:off x="2734859" y="4932515"/>
            <a:ext cx="1053707" cy="1699905"/>
          </a:xfrm>
          <a:prstGeom prst="leftUpArrow">
            <a:avLst>
              <a:gd name="adj1" fmla="val 12957"/>
              <a:gd name="adj2" fmla="val 17666"/>
              <a:gd name="adj3" fmla="val 25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654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Многоплатформенность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238" y="2105190"/>
            <a:ext cx="6809524" cy="2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81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Концепция системы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67544" y="1700808"/>
            <a:ext cx="1548000" cy="126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Объекты учета</a:t>
            </a:r>
          </a:p>
        </p:txBody>
      </p:sp>
      <p:sp>
        <p:nvSpPr>
          <p:cNvPr id="4" name="Блок-схема: карточка 3"/>
          <p:cNvSpPr/>
          <p:nvPr/>
        </p:nvSpPr>
        <p:spPr>
          <a:xfrm>
            <a:off x="2651787" y="1700808"/>
            <a:ext cx="1548000" cy="1260000"/>
          </a:xfrm>
          <a:prstGeom prst="flowChartPunchedCar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Регистрация событий</a:t>
            </a:r>
          </a:p>
        </p:txBody>
      </p:sp>
      <p:sp>
        <p:nvSpPr>
          <p:cNvPr id="5" name="Цилиндр 4"/>
          <p:cNvSpPr/>
          <p:nvPr/>
        </p:nvSpPr>
        <p:spPr>
          <a:xfrm>
            <a:off x="4836030" y="1700808"/>
            <a:ext cx="1548000" cy="12600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Обработка введенных данных</a:t>
            </a:r>
          </a:p>
        </p:txBody>
      </p:sp>
      <p:sp>
        <p:nvSpPr>
          <p:cNvPr id="6" name="Загнутый угол 5"/>
          <p:cNvSpPr/>
          <p:nvPr/>
        </p:nvSpPr>
        <p:spPr>
          <a:xfrm>
            <a:off x="7020272" y="1700808"/>
            <a:ext cx="1548000" cy="1260000"/>
          </a:xfrm>
          <a:prstGeom prst="folded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Отчетность</a:t>
            </a:r>
          </a:p>
        </p:txBody>
      </p:sp>
      <p:sp>
        <p:nvSpPr>
          <p:cNvPr id="7" name="Стрелка вправо 6"/>
          <p:cNvSpPr/>
          <p:nvPr/>
        </p:nvSpPr>
        <p:spPr>
          <a:xfrm>
            <a:off x="2015544" y="2204864"/>
            <a:ext cx="61200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право 7"/>
          <p:cNvSpPr/>
          <p:nvPr/>
        </p:nvSpPr>
        <p:spPr>
          <a:xfrm>
            <a:off x="4239003" y="2204864"/>
            <a:ext cx="61200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право 8"/>
          <p:cNvSpPr/>
          <p:nvPr/>
        </p:nvSpPr>
        <p:spPr>
          <a:xfrm>
            <a:off x="6408272" y="2204864"/>
            <a:ext cx="61200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305320" y="3717032"/>
            <a:ext cx="20162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chemeClr val="accent3">
                    <a:lumMod val="50000"/>
                  </a:schemeClr>
                </a:solidFill>
              </a:rPr>
              <a:t>Константы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chemeClr val="accent3">
                    <a:lumMod val="50000"/>
                  </a:schemeClr>
                </a:solidFill>
              </a:rPr>
              <a:t>Справочники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chemeClr val="accent3">
                    <a:lumMod val="50000"/>
                  </a:schemeClr>
                </a:solidFill>
              </a:rPr>
              <a:t>Перечисления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chemeClr val="accent3">
                    <a:lumMod val="50000"/>
                  </a:schemeClr>
                </a:solidFill>
              </a:rPr>
              <a:t>Планы видов характеристик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chemeClr val="accent3">
                    <a:lumMod val="50000"/>
                  </a:schemeClr>
                </a:solidFill>
              </a:rPr>
              <a:t>Планы счетов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chemeClr val="accent3">
                    <a:lumMod val="50000"/>
                  </a:schemeClr>
                </a:solidFill>
              </a:rPr>
              <a:t>Планы видов расчета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5600" y="3717032"/>
            <a:ext cx="201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rgbClr val="C00000"/>
                </a:solidFill>
              </a:rPr>
              <a:t>Документы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880" y="3717032"/>
            <a:ext cx="20162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rgbClr val="0070C0"/>
                </a:solidFill>
              </a:rPr>
              <a:t>Регистры сведений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rgbClr val="0070C0"/>
                </a:solidFill>
              </a:rPr>
              <a:t>Регистры накопления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rgbClr val="0070C0"/>
                </a:solidFill>
              </a:rPr>
              <a:t>Регистры бухгалтерии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rgbClr val="0070C0"/>
                </a:solidFill>
              </a:rPr>
              <a:t>Регистры расчета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6160" y="3717032"/>
            <a:ext cx="201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chemeClr val="accent6">
                    <a:lumMod val="75000"/>
                  </a:schemeClr>
                </a:solidFill>
              </a:rPr>
              <a:t>Отчеты</a:t>
            </a:r>
          </a:p>
        </p:txBody>
      </p:sp>
    </p:spTree>
    <p:extLst>
      <p:ext uri="{BB962C8B-B14F-4D97-AF65-F5344CB8AC3E}">
        <p14:creationId xmlns:p14="http://schemas.microsoft.com/office/powerpoint/2010/main" val="3239666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хранения постоянной информации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Константы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96952"/>
            <a:ext cx="32289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трелка вправо 3"/>
          <p:cNvSpPr/>
          <p:nvPr/>
        </p:nvSpPr>
        <p:spPr>
          <a:xfrm>
            <a:off x="3923928" y="3861048"/>
            <a:ext cx="864096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284984"/>
            <a:ext cx="3960440" cy="1336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5945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Система типов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3568" y="1556792"/>
            <a:ext cx="78488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3200" dirty="0">
                <a:solidFill>
                  <a:srgbClr val="0070C0"/>
                </a:solidFill>
              </a:rPr>
              <a:t>Тип значения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ru-RU" sz="2000" dirty="0"/>
              <a:t>Имеет смысл при программной работе с величинам, находящимися в переменных (свойствах или реквизитах программных объектов)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ru-RU" sz="2000" dirty="0"/>
              <a:t>Определяет возможные значения величины и набор определенных для неё операций.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3200" dirty="0">
                <a:solidFill>
                  <a:srgbClr val="0070C0"/>
                </a:solidFill>
              </a:rPr>
              <a:t>Тип данных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ru-RU" sz="2000" dirty="0"/>
              <a:t>Для описания типа значения поля таблицы базы данных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ru-RU" sz="2000" dirty="0"/>
              <a:t>Может содержать более детальное описание типа значения (например, для числа - количество знаков после запятой) или содержать несколько типов значений (составной тип)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ru-RU" sz="2000" dirty="0"/>
              <a:t>Используется , в основном, при работе с метаданными</a:t>
            </a:r>
          </a:p>
          <a:p>
            <a:pPr marL="800100" lvl="1" indent="-342900">
              <a:buFont typeface="Arial" pitchFamily="34" charset="0"/>
              <a:buChar char="•"/>
            </a:pPr>
            <a:endParaRPr lang="ru-RU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214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 данных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556792"/>
            <a:ext cx="62865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Скругленный прямоугольник 4"/>
          <p:cNvSpPr/>
          <p:nvPr/>
        </p:nvSpPr>
        <p:spPr>
          <a:xfrm>
            <a:off x="3491880" y="3861048"/>
            <a:ext cx="4320480" cy="936104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952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5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значений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7544" y="1556792"/>
            <a:ext cx="820891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Типы, предоставляемые платформой в т. ч.: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sz="3200" dirty="0">
                <a:solidFill>
                  <a:srgbClr val="0070C0"/>
                </a:solidFill>
              </a:rPr>
              <a:t>Примитивные типы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ru-RU" dirty="0"/>
              <a:t>Число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ru-RU" dirty="0"/>
              <a:t>Строка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ru-RU" dirty="0"/>
              <a:t>Дата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ru-RU" dirty="0"/>
              <a:t>Булево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ru-RU" dirty="0"/>
              <a:t>Тип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ru-RU" dirty="0"/>
              <a:t>Неопределено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dirty="0"/>
              <a:t>Null</a:t>
            </a:r>
            <a:endParaRPr lang="ru-RU" dirty="0"/>
          </a:p>
          <a:p>
            <a:pPr marL="285750" indent="-285750">
              <a:buFont typeface="Arial" pitchFamily="34" charset="0"/>
              <a:buChar char="•"/>
            </a:pPr>
            <a:r>
              <a:rPr lang="ru-RU" sz="3200" dirty="0">
                <a:solidFill>
                  <a:srgbClr val="00B050"/>
                </a:solidFill>
              </a:rPr>
              <a:t>Типы, зависимые от метаданных</a:t>
            </a:r>
          </a:p>
          <a:p>
            <a:pPr marL="285750" indent="-285750">
              <a:buFont typeface="Arial" pitchFamily="34" charset="0"/>
              <a:buChar char="•"/>
            </a:pPr>
            <a:endParaRPr lang="ru-RU" sz="32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763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307750" y="1115352"/>
            <a:ext cx="8476718" cy="3158896"/>
          </a:xfrm>
          <a:prstGeom prst="roundRect">
            <a:avLst/>
          </a:prstGeom>
          <a:solidFill>
            <a:schemeClr val="accent5">
              <a:lumMod val="40000"/>
              <a:lumOff val="60000"/>
              <a:alpha val="31000"/>
            </a:schemeClr>
          </a:solidFill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dirty="0">
                <a:solidFill>
                  <a:schemeClr val="accent5"/>
                </a:solidFill>
              </a:rPr>
              <a:t>Оперативная память</a:t>
            </a:r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287524" y="4490274"/>
            <a:ext cx="8496944" cy="1728192"/>
          </a:xfrm>
          <a:prstGeom prst="roundRect">
            <a:avLst/>
          </a:prstGeom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dirty="0">
                <a:solidFill>
                  <a:schemeClr val="bg1"/>
                </a:solidFill>
              </a:rPr>
              <a:t>База данных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768244" y="4850314"/>
            <a:ext cx="1656184" cy="7920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Конфигурация базы данных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91580" y="4922322"/>
            <a:ext cx="1800200" cy="7920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Таблицы с данными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079612" y="5066338"/>
            <a:ext cx="1800200" cy="7920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Таблицы с данными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439652" y="5210354"/>
            <a:ext cx="1800200" cy="7920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Таблицы с данными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799692" y="5354370"/>
            <a:ext cx="1800200" cy="7920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Таблицы с данными</a:t>
            </a: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1540" y="1620594"/>
            <a:ext cx="6129482" cy="259880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u="sng" dirty="0">
                <a:solidFill>
                  <a:srgbClr val="FF0000"/>
                </a:solidFill>
              </a:rPr>
              <a:t>1С: Предприятие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642489" y="1199829"/>
            <a:ext cx="1961959" cy="286778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u="sng" dirty="0">
                <a:solidFill>
                  <a:srgbClr val="0070C0"/>
                </a:solidFill>
              </a:rPr>
              <a:t>Конфигуратор</a:t>
            </a:r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825310"/>
              </p:ext>
            </p:extLst>
          </p:nvPr>
        </p:nvGraphicFramePr>
        <p:xfrm>
          <a:off x="3959932" y="4778306"/>
          <a:ext cx="2232248" cy="109728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116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75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758">
                <a:tc gridSpan="2">
                  <a:txBody>
                    <a:bodyPr/>
                    <a:lstStyle/>
                    <a:p>
                      <a:r>
                        <a:rPr lang="ru-RU" dirty="0"/>
                        <a:t>Объект базы данных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75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Двойная стрелка вверх/вниз 17"/>
          <p:cNvSpPr/>
          <p:nvPr/>
        </p:nvSpPr>
        <p:spPr>
          <a:xfrm>
            <a:off x="7359110" y="3969029"/>
            <a:ext cx="360040" cy="773242"/>
          </a:xfrm>
          <a:prstGeom prst="up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3904106" y="596986"/>
            <a:ext cx="2376264" cy="43204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пользователь</a:t>
            </a:r>
          </a:p>
        </p:txBody>
      </p:sp>
      <p:sp>
        <p:nvSpPr>
          <p:cNvPr id="21" name="Двойная стрелка вверх/вниз 20"/>
          <p:cNvSpPr/>
          <p:nvPr/>
        </p:nvSpPr>
        <p:spPr>
          <a:xfrm>
            <a:off x="4788024" y="993393"/>
            <a:ext cx="432048" cy="720080"/>
          </a:xfrm>
          <a:prstGeom prst="upDown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512338" y="612482"/>
            <a:ext cx="2880320" cy="576064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Другие системы, файловая система, </a:t>
            </a:r>
            <a:r>
              <a:rPr lang="en-US" dirty="0"/>
              <a:t>XML</a:t>
            </a:r>
            <a:r>
              <a:rPr lang="ru-RU" dirty="0"/>
              <a:t>…</a:t>
            </a: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7020272" y="2996952"/>
            <a:ext cx="1152128" cy="36004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7020272" y="3501008"/>
            <a:ext cx="1152128" cy="36004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 rot="5400000">
            <a:off x="6051547" y="3032956"/>
            <a:ext cx="1368152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/>
          <p:nvPr/>
        </p:nvCxnSpPr>
        <p:spPr>
          <a:xfrm>
            <a:off x="6732240" y="3212976"/>
            <a:ext cx="288032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/>
        </p:nvCxnSpPr>
        <p:spPr>
          <a:xfrm>
            <a:off x="6732240" y="3717032"/>
            <a:ext cx="288032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/>
        </p:nvCxnSpPr>
        <p:spPr>
          <a:xfrm>
            <a:off x="6732240" y="2708920"/>
            <a:ext cx="288032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876256" y="1556792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Дерево</a:t>
            </a:r>
          </a:p>
          <a:p>
            <a:r>
              <a:rPr lang="ru-RU" dirty="0"/>
              <a:t>метаданных</a:t>
            </a:r>
          </a:p>
        </p:txBody>
      </p:sp>
      <p:sp>
        <p:nvSpPr>
          <p:cNvPr id="58" name="Выгнутая вправо стрелка 57"/>
          <p:cNvSpPr/>
          <p:nvPr/>
        </p:nvSpPr>
        <p:spPr>
          <a:xfrm rot="5400000">
            <a:off x="5076056" y="3950214"/>
            <a:ext cx="504056" cy="3888432"/>
          </a:xfrm>
          <a:prstGeom prst="curvedLef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0" name="Облако 59"/>
          <p:cNvSpPr/>
          <p:nvPr/>
        </p:nvSpPr>
        <p:spPr>
          <a:xfrm>
            <a:off x="537991" y="2056814"/>
            <a:ext cx="2880320" cy="1008112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Программные объекты</a:t>
            </a:r>
          </a:p>
        </p:txBody>
      </p:sp>
      <p:sp>
        <p:nvSpPr>
          <p:cNvPr id="62" name="Облако 61"/>
          <p:cNvSpPr/>
          <p:nvPr/>
        </p:nvSpPr>
        <p:spPr>
          <a:xfrm>
            <a:off x="3580070" y="1715819"/>
            <a:ext cx="2952328" cy="1008112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Программные объекты</a:t>
            </a:r>
          </a:p>
        </p:txBody>
      </p:sp>
      <p:sp>
        <p:nvSpPr>
          <p:cNvPr id="63" name="Облако 62"/>
          <p:cNvSpPr/>
          <p:nvPr/>
        </p:nvSpPr>
        <p:spPr>
          <a:xfrm>
            <a:off x="2034960" y="3125241"/>
            <a:ext cx="2880320" cy="1080120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Программные объекты</a:t>
            </a:r>
          </a:p>
        </p:txBody>
      </p:sp>
      <p:sp>
        <p:nvSpPr>
          <p:cNvPr id="17" name="Облако 16"/>
          <p:cNvSpPr/>
          <p:nvPr/>
        </p:nvSpPr>
        <p:spPr>
          <a:xfrm>
            <a:off x="609999" y="2056814"/>
            <a:ext cx="2880320" cy="1008112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Другие программные объекты</a:t>
            </a:r>
          </a:p>
        </p:txBody>
      </p:sp>
      <p:sp>
        <p:nvSpPr>
          <p:cNvPr id="15" name="Облако 14"/>
          <p:cNvSpPr/>
          <p:nvPr/>
        </p:nvSpPr>
        <p:spPr>
          <a:xfrm>
            <a:off x="3652078" y="1715819"/>
            <a:ext cx="2880320" cy="1008112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Интерфейсные программные объекты</a:t>
            </a:r>
          </a:p>
        </p:txBody>
      </p:sp>
      <p:sp>
        <p:nvSpPr>
          <p:cNvPr id="16" name="Облако 15"/>
          <p:cNvSpPr/>
          <p:nvPr/>
        </p:nvSpPr>
        <p:spPr>
          <a:xfrm>
            <a:off x="2034960" y="3125241"/>
            <a:ext cx="2880320" cy="1008112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Прикладные программные объекты</a:t>
            </a:r>
          </a:p>
        </p:txBody>
      </p:sp>
      <p:sp>
        <p:nvSpPr>
          <p:cNvPr id="65" name="Двойная стрелка вверх/вниз 64"/>
          <p:cNvSpPr/>
          <p:nvPr/>
        </p:nvSpPr>
        <p:spPr>
          <a:xfrm>
            <a:off x="4241139" y="2477167"/>
            <a:ext cx="288032" cy="864096"/>
          </a:xfrm>
          <a:prstGeom prst="up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Скругленный прямоугольник 65"/>
          <p:cNvSpPr/>
          <p:nvPr/>
        </p:nvSpPr>
        <p:spPr>
          <a:xfrm>
            <a:off x="7020272" y="2492896"/>
            <a:ext cx="1152128" cy="36004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Двойная стрелка вверх/вниз 21"/>
          <p:cNvSpPr/>
          <p:nvPr/>
        </p:nvSpPr>
        <p:spPr>
          <a:xfrm rot="4732253">
            <a:off x="3492678" y="2052170"/>
            <a:ext cx="288032" cy="864096"/>
          </a:xfrm>
          <a:prstGeom prst="up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Двойная стрелка вверх/вниз 22"/>
          <p:cNvSpPr/>
          <p:nvPr/>
        </p:nvSpPr>
        <p:spPr>
          <a:xfrm rot="7331183">
            <a:off x="2938251" y="2549178"/>
            <a:ext cx="288032" cy="864096"/>
          </a:xfrm>
          <a:prstGeom prst="up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6948264" y="2276872"/>
            <a:ext cx="1512168" cy="57606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Объект метаданных</a:t>
            </a:r>
          </a:p>
        </p:txBody>
      </p:sp>
      <p:sp>
        <p:nvSpPr>
          <p:cNvPr id="24" name="Двойная стрелка вверх/вниз 23"/>
          <p:cNvSpPr/>
          <p:nvPr/>
        </p:nvSpPr>
        <p:spPr>
          <a:xfrm>
            <a:off x="2605689" y="1199829"/>
            <a:ext cx="288032" cy="1032540"/>
          </a:xfrm>
          <a:prstGeom prst="up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Двойная стрелка вверх/вниз 18"/>
          <p:cNvSpPr/>
          <p:nvPr/>
        </p:nvSpPr>
        <p:spPr>
          <a:xfrm>
            <a:off x="1882462" y="3914210"/>
            <a:ext cx="360040" cy="1080120"/>
          </a:xfrm>
          <a:prstGeom prst="up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998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80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50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000"/>
                            </p:stCondLst>
                            <p:childTnLst>
                              <p:par>
                                <p:cTn id="158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10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0" dur="5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000"/>
                            </p:stCondLst>
                            <p:childTnLst>
                              <p:par>
                                <p:cTn id="167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10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9" dur="50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 animBg="1"/>
      <p:bldP spid="5" grpId="0" animBg="1"/>
      <p:bldP spid="11" grpId="0" animBg="1"/>
      <p:bldP spid="12" grpId="0" animBg="1"/>
      <p:bldP spid="18" grpId="0" animBg="1"/>
      <p:bldP spid="20" grpId="0" animBg="1"/>
      <p:bldP spid="21" grpId="0" animBg="1"/>
      <p:bldP spid="25" grpId="0" animBg="1"/>
      <p:bldP spid="27" grpId="0" animBg="1"/>
      <p:bldP spid="28" grpId="0" animBg="1"/>
      <p:bldP spid="48" grpId="0"/>
      <p:bldP spid="58" grpId="0" animBg="1"/>
      <p:bldP spid="60" grpId="0" animBg="1"/>
      <p:bldP spid="60" grpId="1" animBg="1"/>
      <p:bldP spid="62" grpId="0" animBg="1"/>
      <p:bldP spid="62" grpId="1" animBg="1"/>
      <p:bldP spid="63" grpId="0" animBg="1"/>
      <p:bldP spid="63" grpId="1" animBg="1"/>
      <p:bldP spid="17" grpId="0" animBg="1"/>
      <p:bldP spid="15" grpId="0" animBg="1"/>
      <p:bldP spid="16" grpId="0" animBg="1"/>
      <p:bldP spid="16" grpId="1" animBg="1"/>
      <p:bldP spid="65" grpId="0" animBg="1"/>
      <p:bldP spid="66" grpId="0" animBg="1"/>
      <p:bldP spid="66" grpId="1" animBg="1"/>
      <p:bldP spid="66" grpId="2" animBg="1"/>
      <p:bldP spid="22" grpId="0" animBg="1"/>
      <p:bldP spid="23" grpId="0" animBg="1"/>
      <p:bldP spid="26" grpId="0" animBg="1"/>
      <p:bldP spid="26" grpId="1" animBg="1"/>
      <p:bldP spid="24" grpId="0" animBg="1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«Объект»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Программный объект</a:t>
            </a:r>
          </a:p>
          <a:p>
            <a:pPr lvl="1"/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Некий «черный ящик», обладающий определенной функциональностью. Программный объект характеризуется набором свойств, методов, реагирует на определенные события в системе</a:t>
            </a:r>
          </a:p>
          <a:p>
            <a:r>
              <a:rPr lang="ru-RU" dirty="0"/>
              <a:t>Объект базы данных</a:t>
            </a:r>
          </a:p>
          <a:p>
            <a:pPr lvl="1"/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Запись в таблице базы данных или группа записей в таблице базы данных, объединенные единой логикой появления</a:t>
            </a:r>
          </a:p>
          <a:p>
            <a:r>
              <a:rPr lang="ru-RU" dirty="0"/>
              <a:t>Объект конфигурации</a:t>
            </a:r>
          </a:p>
          <a:p>
            <a:pPr lvl="1"/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Описание метаданных, на основании которого будут созданы таблицы в базе данных и программные объекты для работы с этими данными </a:t>
            </a:r>
          </a:p>
        </p:txBody>
      </p:sp>
    </p:spTree>
    <p:extLst>
      <p:ext uri="{BB962C8B-B14F-4D97-AF65-F5344CB8AC3E}">
        <p14:creationId xmlns:p14="http://schemas.microsoft.com/office/powerpoint/2010/main" val="3481935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Облако 16"/>
          <p:cNvSpPr/>
          <p:nvPr/>
        </p:nvSpPr>
        <p:spPr>
          <a:xfrm>
            <a:off x="323528" y="1124744"/>
            <a:ext cx="8424936" cy="5400600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ru-RU" u="sng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592734"/>
            <a:ext cx="8964488" cy="735699"/>
          </a:xfrm>
        </p:spPr>
        <p:txBody>
          <a:bodyPr/>
          <a:lstStyle/>
          <a:p>
            <a:pPr algn="ctr"/>
            <a:r>
              <a:rPr lang="ru-RU" dirty="0"/>
              <a:t>Программный объект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338445"/>
              </p:ext>
            </p:extLst>
          </p:nvPr>
        </p:nvGraphicFramePr>
        <p:xfrm>
          <a:off x="2079089" y="1847781"/>
          <a:ext cx="3336032" cy="219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832">
                <a:tc>
                  <a:txBody>
                    <a:bodyPr/>
                    <a:lstStyle/>
                    <a:p>
                      <a:r>
                        <a:rPr lang="ru-RU" dirty="0"/>
                        <a:t>Имя</a:t>
                      </a:r>
                      <a:r>
                        <a:rPr lang="ru-RU" baseline="0" dirty="0"/>
                        <a:t> свойства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 свойства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832">
                <a:tc>
                  <a:txBody>
                    <a:bodyPr/>
                    <a:lstStyle/>
                    <a:p>
                      <a:r>
                        <a:rPr lang="ru-RU" dirty="0"/>
                        <a:t>Заголовок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«ООО Север»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832">
                <a:tc>
                  <a:txBody>
                    <a:bodyPr/>
                    <a:lstStyle/>
                    <a:p>
                      <a:r>
                        <a:rPr lang="ru-RU" dirty="0"/>
                        <a:t>Высота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832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097158"/>
              </p:ext>
            </p:extLst>
          </p:nvPr>
        </p:nvGraphicFramePr>
        <p:xfrm>
          <a:off x="2051720" y="4221088"/>
          <a:ext cx="3384376" cy="167974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92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832">
                <a:tc>
                  <a:txBody>
                    <a:bodyPr/>
                    <a:lstStyle/>
                    <a:p>
                      <a:r>
                        <a:rPr lang="ru-RU" dirty="0"/>
                        <a:t>Имя реквизита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 реквизита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832">
                <a:tc>
                  <a:txBody>
                    <a:bodyPr/>
                    <a:lstStyle/>
                    <a:p>
                      <a:r>
                        <a:rPr lang="ru-RU" dirty="0"/>
                        <a:t>Директор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Иванов И.А.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832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Крест 6"/>
          <p:cNvSpPr/>
          <p:nvPr/>
        </p:nvSpPr>
        <p:spPr>
          <a:xfrm>
            <a:off x="1509064" y="4005064"/>
            <a:ext cx="432048" cy="432048"/>
          </a:xfrm>
          <a:prstGeom prst="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716976" y="2438269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i="1" dirty="0"/>
              <a:t>Свойства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414" y="465313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i="1" dirty="0"/>
              <a:t>Реквизиты</a:t>
            </a:r>
          </a:p>
        </p:txBody>
      </p:sp>
      <p:sp>
        <p:nvSpPr>
          <p:cNvPr id="10" name="Блок-схема: типовой процесс 9"/>
          <p:cNvSpPr/>
          <p:nvPr/>
        </p:nvSpPr>
        <p:spPr>
          <a:xfrm>
            <a:off x="6325264" y="3457988"/>
            <a:ext cx="2376264" cy="864096"/>
          </a:xfrm>
          <a:prstGeom prst="flowChartPredefined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Метод1()</a:t>
            </a:r>
          </a:p>
        </p:txBody>
      </p:sp>
      <p:sp>
        <p:nvSpPr>
          <p:cNvPr id="11" name="Блок-схема: типовой процесс 10"/>
          <p:cNvSpPr/>
          <p:nvPr/>
        </p:nvSpPr>
        <p:spPr>
          <a:xfrm>
            <a:off x="6049279" y="3998048"/>
            <a:ext cx="2376264" cy="864096"/>
          </a:xfrm>
          <a:prstGeom prst="flowChartPredefined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Метод2()</a:t>
            </a:r>
          </a:p>
        </p:txBody>
      </p:sp>
      <p:sp>
        <p:nvSpPr>
          <p:cNvPr id="12" name="Блок-схема: типовой процесс 11"/>
          <p:cNvSpPr/>
          <p:nvPr/>
        </p:nvSpPr>
        <p:spPr>
          <a:xfrm>
            <a:off x="5581227" y="4590420"/>
            <a:ext cx="2376264" cy="864096"/>
          </a:xfrm>
          <a:prstGeom prst="flowChartPredefined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Метод</a:t>
            </a:r>
            <a:r>
              <a:rPr lang="en-US" dirty="0"/>
              <a:t>N</a:t>
            </a:r>
            <a:r>
              <a:rPr lang="ru-RU" dirty="0"/>
              <a:t>()</a:t>
            </a:r>
          </a:p>
        </p:txBody>
      </p:sp>
      <p:sp>
        <p:nvSpPr>
          <p:cNvPr id="14" name="Стрелка вверх 13"/>
          <p:cNvSpPr/>
          <p:nvPr/>
        </p:nvSpPr>
        <p:spPr>
          <a:xfrm rot="16200000">
            <a:off x="6173924" y="1106488"/>
            <a:ext cx="1548172" cy="2736812"/>
          </a:xfrm>
          <a:prstGeom prst="up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ru-RU" dirty="0"/>
              <a:t>Действия с:</a:t>
            </a:r>
            <a:br>
              <a:rPr lang="ru-RU" dirty="0"/>
            </a:br>
            <a:r>
              <a:rPr lang="ru-RU" dirty="0"/>
              <a:t> -данными объекта;</a:t>
            </a:r>
            <a:br>
              <a:rPr lang="ru-RU" dirty="0"/>
            </a:br>
            <a:r>
              <a:rPr lang="ru-RU" dirty="0"/>
              <a:t> - объектом в целом.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528" y="2609061"/>
            <a:ext cx="492443" cy="244077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ru-RU" sz="2000" b="1" dirty="0">
                <a:solidFill>
                  <a:srgbClr val="FF0000"/>
                </a:solidFill>
              </a:rPr>
              <a:t>Данные</a:t>
            </a: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1192563" y="1502164"/>
            <a:ext cx="4320480" cy="4591131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639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0"/>
                            </p:stCondLst>
                            <p:childTnLst>
                              <p:par>
                                <p:cTn id="33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4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7" grpId="0" animBg="1"/>
      <p:bldP spid="8" grpId="0"/>
      <p:bldP spid="9" grpId="0"/>
      <p:bldP spid="10" grpId="0" animBg="1"/>
      <p:bldP spid="11" grpId="0" animBg="1"/>
      <p:bldP spid="12" grpId="0" animBg="1"/>
      <p:bldP spid="14" grpId="0" animBg="1"/>
      <p:bldP spid="15" grpId="0"/>
      <p:bldP spid="18" grpId="0" animBg="1"/>
      <p:bldP spid="18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128831"/>
          </a:xfrm>
        </p:spPr>
        <p:txBody>
          <a:bodyPr>
            <a:normAutofit fontScale="90000"/>
          </a:bodyPr>
          <a:lstStyle/>
          <a:p>
            <a:r>
              <a:rPr lang="ru-RU" sz="3200" dirty="0">
                <a:solidFill>
                  <a:schemeClr val="tx2">
                    <a:lumMod val="75000"/>
                  </a:schemeClr>
                </a:solidFill>
              </a:rPr>
              <a:t>Объект метаданных </a:t>
            </a:r>
            <a:r>
              <a:rPr lang="ru-RU" sz="3200" dirty="0">
                <a:solidFill>
                  <a:srgbClr val="FF0000"/>
                </a:solidFill>
              </a:rPr>
              <a:t>=</a:t>
            </a:r>
            <a:r>
              <a:rPr lang="en-US" sz="3200" dirty="0">
                <a:solidFill>
                  <a:srgbClr val="FF0000"/>
                </a:solidFill>
              </a:rPr>
              <a:t>&gt;</a:t>
            </a:r>
            <a:r>
              <a:rPr lang="ru-RU" sz="3200" dirty="0">
                <a:solidFill>
                  <a:srgbClr val="FF0000"/>
                </a:solidFill>
              </a:rPr>
              <a:t> </a:t>
            </a:r>
            <a:r>
              <a:rPr lang="ru-RU" sz="2700" dirty="0">
                <a:solidFill>
                  <a:schemeClr val="accent3">
                    <a:lumMod val="50000"/>
                  </a:schemeClr>
                </a:solidFill>
              </a:rPr>
              <a:t>Таблица в базе данных + Набор программных объектов со стандартным поведением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085" y="1916832"/>
            <a:ext cx="3664915" cy="4243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4920208" y="1815033"/>
            <a:ext cx="3888432" cy="136815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5" name="Цилиндр 4"/>
          <p:cNvSpPr/>
          <p:nvPr/>
        </p:nvSpPr>
        <p:spPr>
          <a:xfrm>
            <a:off x="4932040" y="3861048"/>
            <a:ext cx="3888432" cy="230425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/>
              <a:t>База данных</a:t>
            </a:r>
          </a:p>
        </p:txBody>
      </p:sp>
      <p:sp>
        <p:nvSpPr>
          <p:cNvPr id="6" name="Двойная стрелка вверх/вниз 5"/>
          <p:cNvSpPr/>
          <p:nvPr/>
        </p:nvSpPr>
        <p:spPr>
          <a:xfrm>
            <a:off x="6642230" y="3217117"/>
            <a:ext cx="378042" cy="641945"/>
          </a:xfrm>
          <a:prstGeom prst="up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633086"/>
              </p:ext>
            </p:extLst>
          </p:nvPr>
        </p:nvGraphicFramePr>
        <p:xfrm>
          <a:off x="5268416" y="4869160"/>
          <a:ext cx="3192016" cy="644077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443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6307">
                <a:tc>
                  <a:txBody>
                    <a:bodyPr/>
                    <a:lstStyle/>
                    <a:p>
                      <a:r>
                        <a:rPr lang="ru-RU" sz="1200" dirty="0"/>
                        <a:t>Код</a:t>
                      </a:r>
                      <a:endParaRPr lang="ru-RU" sz="12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Наименование</a:t>
                      </a:r>
                      <a:endParaRPr lang="ru-RU" sz="12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Цена</a:t>
                      </a:r>
                      <a:endParaRPr lang="ru-RU" sz="12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err="1"/>
                        <a:t>СтавкаНДС</a:t>
                      </a:r>
                      <a:endParaRPr lang="ru-RU" sz="12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757">
                <a:tc>
                  <a:txBody>
                    <a:bodyPr/>
                    <a:lstStyle/>
                    <a:p>
                      <a:endParaRPr lang="ru-RU" sz="12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2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Скругленный прямоугольник 6"/>
          <p:cNvSpPr/>
          <p:nvPr/>
        </p:nvSpPr>
        <p:spPr>
          <a:xfrm>
            <a:off x="1043608" y="4149080"/>
            <a:ext cx="2448272" cy="1224136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право 7"/>
          <p:cNvSpPr/>
          <p:nvPr/>
        </p:nvSpPr>
        <p:spPr>
          <a:xfrm>
            <a:off x="3628402" y="4581128"/>
            <a:ext cx="1231629" cy="360040"/>
          </a:xfrm>
          <a:prstGeom prst="rightArrow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лако 8"/>
          <p:cNvSpPr/>
          <p:nvPr/>
        </p:nvSpPr>
        <p:spPr>
          <a:xfrm>
            <a:off x="5436096" y="2202879"/>
            <a:ext cx="3024336" cy="648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Программные объект</a:t>
            </a:r>
          </a:p>
        </p:txBody>
      </p:sp>
    </p:spTree>
    <p:extLst>
      <p:ext uri="{BB962C8B-B14F-4D97-AF65-F5344CB8AC3E}">
        <p14:creationId xmlns:p14="http://schemas.microsoft.com/office/powerpoint/2010/main" val="3279033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  <p:bldP spid="7" grpId="0" animBg="1"/>
      <p:bldP spid="7" grpId="1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СофтБаланс_Конфигурирование_часть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" id="{E28DB206-F0E9-4087-AA1C-9CD0FACF118C}" vid="{B6255B0A-2715-4781-AD83-3C8532471FF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</Template>
  <TotalTime>3930</TotalTime>
  <Words>813</Words>
  <Application>Microsoft Office PowerPoint</Application>
  <PresentationFormat>Экран (4:3)</PresentationFormat>
  <Paragraphs>270</Paragraphs>
  <Slides>35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3" baseType="lpstr">
      <vt:lpstr>Arial</vt:lpstr>
      <vt:lpstr>Arial Black</vt:lpstr>
      <vt:lpstr>Calibri</vt:lpstr>
      <vt:lpstr>Courier New</vt:lpstr>
      <vt:lpstr>Tahoma</vt:lpstr>
      <vt:lpstr>Verdana</vt:lpstr>
      <vt:lpstr>Wingdings</vt:lpstr>
      <vt:lpstr>СофтБаланс_Конфигурирование_часть1</vt:lpstr>
      <vt:lpstr>Конфигурирование в системе 1С:Предприятие 8</vt:lpstr>
      <vt:lpstr>Структура курса</vt:lpstr>
      <vt:lpstr>Лицензионная платформа</vt:lpstr>
      <vt:lpstr>Дополнительная литература для начинающих</vt:lpstr>
      <vt:lpstr>Дополнительные материалы</vt:lpstr>
      <vt:lpstr>1С:Предприятие 8 – универсальная система автоматизации учётной деятельности предприятия.</vt:lpstr>
      <vt:lpstr>1С:Предприятие 8 – универсальная система автоматизации учётной деятельности предприятия.</vt:lpstr>
      <vt:lpstr>Понятия, связанные с 1С:Предприятие 8</vt:lpstr>
      <vt:lpstr>Информационная база</vt:lpstr>
      <vt:lpstr>Конфигурация</vt:lpstr>
      <vt:lpstr>Понятия, связанные с 1С:Предприятие 8</vt:lpstr>
      <vt:lpstr>Конфигурация / Информационная база</vt:lpstr>
      <vt:lpstr>Развертывание базы</vt:lpstr>
      <vt:lpstr>Загрузка конфигурационного файла в  Информационную базу</vt:lpstr>
      <vt:lpstr>Загрузка конфигурационного файла в  Информационную базу</vt:lpstr>
      <vt:lpstr>Развертывание базы из архива</vt:lpstr>
      <vt:lpstr>Архитектура работы 1С:Предприятие 8</vt:lpstr>
      <vt:lpstr>Двухзвенная архитектура</vt:lpstr>
      <vt:lpstr>Двухзвенная архитектура (Файловый вариант)</vt:lpstr>
      <vt:lpstr>Двухзвенная архитектура (Клиент-серверный вариант)</vt:lpstr>
      <vt:lpstr>Трехзвенная архитектура</vt:lpstr>
      <vt:lpstr>Трехзвенная архитектура (Клиент-серверный вариант)</vt:lpstr>
      <vt:lpstr>Трехзвенная архитектура (Файловый вариант)</vt:lpstr>
      <vt:lpstr>Виды клиентов (только для 8.2, 8.3)</vt:lpstr>
      <vt:lpstr>Схема подключения клиентов</vt:lpstr>
      <vt:lpstr>Многоплатформенность</vt:lpstr>
      <vt:lpstr>Концепция системы</vt:lpstr>
      <vt:lpstr>Константы</vt:lpstr>
      <vt:lpstr>Система типов</vt:lpstr>
      <vt:lpstr>Тип данных</vt:lpstr>
      <vt:lpstr>Типы значений</vt:lpstr>
      <vt:lpstr>Презентация PowerPoint</vt:lpstr>
      <vt:lpstr>«Объект»</vt:lpstr>
      <vt:lpstr>Программный объект</vt:lpstr>
      <vt:lpstr>Объект метаданных =&gt; Таблица в базе данных + Набор программных объектов со стандартным поведением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Конфигурирование в системе 1С:Предприятие 8</dc:title>
  <dc:creator>Сергей</dc:creator>
  <cp:lastModifiedBy>eugeniy sizov</cp:lastModifiedBy>
  <cp:revision>184</cp:revision>
  <dcterms:created xsi:type="dcterms:W3CDTF">2011-01-26T08:12:58Z</dcterms:created>
  <dcterms:modified xsi:type="dcterms:W3CDTF">2019-12-14T15:43:57Z</dcterms:modified>
</cp:coreProperties>
</file>