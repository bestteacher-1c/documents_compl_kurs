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notesMasterIdLst>
    <p:notesMasterId r:id="rId69"/>
  </p:notesMasterIdLst>
  <p:sldIdLst>
    <p:sldId id="262" r:id="rId2"/>
    <p:sldId id="364" r:id="rId3"/>
    <p:sldId id="438" r:id="rId4"/>
    <p:sldId id="439" r:id="rId5"/>
    <p:sldId id="444" r:id="rId6"/>
    <p:sldId id="442" r:id="rId7"/>
    <p:sldId id="443" r:id="rId8"/>
    <p:sldId id="445" r:id="rId9"/>
    <p:sldId id="446" r:id="rId10"/>
    <p:sldId id="434" r:id="rId11"/>
    <p:sldId id="435" r:id="rId12"/>
    <p:sldId id="436" r:id="rId13"/>
    <p:sldId id="437" r:id="rId14"/>
    <p:sldId id="392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401" r:id="rId24"/>
    <p:sldId id="407" r:id="rId25"/>
    <p:sldId id="402" r:id="rId26"/>
    <p:sldId id="413" r:id="rId27"/>
    <p:sldId id="415" r:id="rId28"/>
    <p:sldId id="416" r:id="rId29"/>
    <p:sldId id="417" r:id="rId30"/>
    <p:sldId id="414" r:id="rId31"/>
    <p:sldId id="418" r:id="rId32"/>
    <p:sldId id="419" r:id="rId33"/>
    <p:sldId id="420" r:id="rId34"/>
    <p:sldId id="421" r:id="rId35"/>
    <p:sldId id="422" r:id="rId36"/>
    <p:sldId id="423" r:id="rId37"/>
    <p:sldId id="424" r:id="rId38"/>
    <p:sldId id="428" r:id="rId39"/>
    <p:sldId id="432" r:id="rId40"/>
    <p:sldId id="425" r:id="rId41"/>
    <p:sldId id="429" r:id="rId42"/>
    <p:sldId id="430" r:id="rId43"/>
    <p:sldId id="431" r:id="rId44"/>
    <p:sldId id="426" r:id="rId45"/>
    <p:sldId id="427" r:id="rId46"/>
    <p:sldId id="433" r:id="rId47"/>
    <p:sldId id="371" r:id="rId48"/>
    <p:sldId id="376" r:id="rId49"/>
    <p:sldId id="377" r:id="rId50"/>
    <p:sldId id="378" r:id="rId51"/>
    <p:sldId id="379" r:id="rId52"/>
    <p:sldId id="380" r:id="rId53"/>
    <p:sldId id="381" r:id="rId54"/>
    <p:sldId id="382" r:id="rId55"/>
    <p:sldId id="383" r:id="rId56"/>
    <p:sldId id="384" r:id="rId57"/>
    <p:sldId id="385" r:id="rId58"/>
    <p:sldId id="386" r:id="rId59"/>
    <p:sldId id="391" r:id="rId60"/>
    <p:sldId id="388" r:id="rId61"/>
    <p:sldId id="389" r:id="rId62"/>
    <p:sldId id="390" r:id="rId63"/>
    <p:sldId id="408" r:id="rId64"/>
    <p:sldId id="409" r:id="rId65"/>
    <p:sldId id="410" r:id="rId66"/>
    <p:sldId id="411" r:id="rId67"/>
    <p:sldId id="412" r:id="rId6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22" autoAdjust="0"/>
    <p:restoredTop sz="94660"/>
  </p:normalViewPr>
  <p:slideViewPr>
    <p:cSldViewPr>
      <p:cViewPr varScale="1">
        <p:scale>
          <a:sx n="91" d="100"/>
          <a:sy n="91" d="100"/>
        </p:scale>
        <p:origin x="114" y="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geniy sizov" userId="f166da1dfb7bc990" providerId="LiveId" clId="{9AEF2AB2-448B-453C-957E-BAE6F106622F}"/>
  </pc:docChgLst>
  <pc:docChgLst>
    <pc:chgData name="eugeniy sizov" userId="f166da1dfb7bc990" providerId="LiveId" clId="{A5100C51-274B-4703-89EC-A0ECA411DC9C}"/>
    <pc:docChg chg="modSld">
      <pc:chgData name="eugeniy sizov" userId="f166da1dfb7bc990" providerId="LiveId" clId="{A5100C51-274B-4703-89EC-A0ECA411DC9C}" dt="2018-11-15T13:55:51.891" v="2" actId="1076"/>
      <pc:docMkLst>
        <pc:docMk/>
      </pc:docMkLst>
      <pc:sldChg chg="modSp">
        <pc:chgData name="eugeniy sizov" userId="f166da1dfb7bc990" providerId="LiveId" clId="{A5100C51-274B-4703-89EC-A0ECA411DC9C}" dt="2018-11-15T13:55:51.891" v="2" actId="1076"/>
        <pc:sldMkLst>
          <pc:docMk/>
          <pc:sldMk cId="2043424962" sldId="363"/>
        </pc:sldMkLst>
        <pc:spChg chg="mod">
          <ac:chgData name="eugeniy sizov" userId="f166da1dfb7bc990" providerId="LiveId" clId="{A5100C51-274B-4703-89EC-A0ECA411DC9C}" dt="2018-11-15T13:55:49.282" v="1" actId="1076"/>
          <ac:spMkLst>
            <pc:docMk/>
            <pc:sldMk cId="2043424962" sldId="363"/>
            <ac:spMk id="11" creationId="{00000000-0000-0000-0000-000000000000}"/>
          </ac:spMkLst>
        </pc:spChg>
        <pc:spChg chg="mod">
          <ac:chgData name="eugeniy sizov" userId="f166da1dfb7bc990" providerId="LiveId" clId="{A5100C51-274B-4703-89EC-A0ECA411DC9C}" dt="2018-11-15T13:55:51.891" v="2" actId="1076"/>
          <ac:spMkLst>
            <pc:docMk/>
            <pc:sldMk cId="2043424962" sldId="363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DB706-3959-42C4-AC65-C68D74A652AE}" type="datetimeFigureOut">
              <a:rPr lang="ru-RU" smtClean="0"/>
              <a:t>22.02.2020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1E106-2322-4F69-808F-5AA7179948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258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DD1B40-6DEC-4DFB-9025-FACB837B8BBC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640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DD1B40-6DEC-4DFB-9025-FACB837B8BBC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2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DD1B40-6DEC-4DFB-9025-FACB837B8BBC}" type="slidenum">
              <a:rPr lang="ru-RU" smtClean="0"/>
              <a:pPr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19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DD1B40-6DEC-4DFB-9025-FACB837B8BBC}" type="slidenum">
              <a:rPr lang="ru-RU" smtClean="0"/>
              <a:pPr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629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388" y="548679"/>
            <a:ext cx="8784000" cy="720081"/>
          </a:xfrm>
        </p:spPr>
        <p:txBody>
          <a:bodyPr/>
          <a:lstStyle>
            <a:lvl1pPr algn="ctr">
              <a:defRPr sz="3200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388" y="1293839"/>
            <a:ext cx="8782050" cy="22233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1965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8165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340768"/>
            <a:ext cx="3954090" cy="4896543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85862" y="548680"/>
            <a:ext cx="8784000" cy="72008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Рисунок 2"/>
          <p:cNvSpPr>
            <a:spLocks noGrp="1"/>
          </p:cNvSpPr>
          <p:nvPr>
            <p:ph type="pic" idx="10"/>
          </p:nvPr>
        </p:nvSpPr>
        <p:spPr>
          <a:xfrm>
            <a:off x="4314207" y="1340768"/>
            <a:ext cx="4629150" cy="48965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91863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85862" y="1268680"/>
            <a:ext cx="8784000" cy="496863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buClr>
                <a:srgbClr val="C00000"/>
              </a:buClr>
              <a:buFontTx/>
              <a:buBlip>
                <a:blip r:embed="rId2"/>
              </a:buBlip>
              <a:defRPr/>
            </a:lvl1pPr>
            <a:lvl2pPr>
              <a:buClr>
                <a:srgbClr val="FF0000"/>
              </a:buClr>
              <a:buFont typeface="Verdana" pitchFamily="34" charset="0"/>
              <a:buChar char="•"/>
              <a:defRPr sz="2400">
                <a:solidFill>
                  <a:srgbClr val="FF0000"/>
                </a:solidFill>
              </a:defRPr>
            </a:lvl2pPr>
            <a:lvl3pPr>
              <a:buClr>
                <a:srgbClr val="FF0000"/>
              </a:buClr>
              <a:buFont typeface="Wingdings" pitchFamily="2" charset="2"/>
              <a:buChar char="§"/>
              <a:defRPr b="1">
                <a:solidFill>
                  <a:srgbClr val="0070C0"/>
                </a:solidFill>
              </a:defRPr>
            </a:lvl3pPr>
            <a:lvl4pPr>
              <a:defRPr b="0"/>
            </a:lvl4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174651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7205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8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4788" y="548680"/>
            <a:ext cx="8784000" cy="720000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4788" y="1268680"/>
            <a:ext cx="8784000" cy="496863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864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14588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38276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Группа 3"/>
          <p:cNvGrpSpPr>
            <a:grpSpLocks/>
          </p:cNvGrpSpPr>
          <p:nvPr/>
        </p:nvGrpSpPr>
        <p:grpSpPr bwMode="auto">
          <a:xfrm>
            <a:off x="185738" y="549275"/>
            <a:ext cx="8784000" cy="0"/>
            <a:chOff x="185862" y="620688"/>
            <a:chExt cx="8775700" cy="0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185862" y="620688"/>
              <a:ext cx="2522537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119" y="571977"/>
            <a:ext cx="8784000" cy="54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8" name="Номер слайда 5"/>
          <p:cNvSpPr txBox="1">
            <a:spLocks/>
          </p:cNvSpPr>
          <p:nvPr/>
        </p:nvSpPr>
        <p:spPr>
          <a:xfrm>
            <a:off x="-93663" y="6310313"/>
            <a:ext cx="949326" cy="293687"/>
          </a:xfrm>
          <a:prstGeom prst="rect">
            <a:avLst/>
          </a:prstGeom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84FD9DA7-1D53-4DDE-8D05-49E2417E29ED}" type="slidenum">
              <a:rPr lang="ru-RU" sz="1600" smtClean="0">
                <a:solidFill>
                  <a:srgbClr val="0066CC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pPr algn="r">
                <a:defRPr/>
              </a:pPr>
              <a:t>‹#›</a:t>
            </a:fld>
            <a:r>
              <a:rPr lang="ru-RU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ru-RU" sz="1600" dirty="0" smtClean="0">
                <a:solidFill>
                  <a:srgbClr val="FF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67</a:t>
            </a:r>
            <a:endParaRPr lang="ru-RU" sz="1600" dirty="0">
              <a:solidFill>
                <a:srgbClr val="FF000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29" name="Группа 17"/>
          <p:cNvGrpSpPr>
            <a:grpSpLocks/>
          </p:cNvGrpSpPr>
          <p:nvPr/>
        </p:nvGrpSpPr>
        <p:grpSpPr bwMode="auto">
          <a:xfrm>
            <a:off x="185738" y="6604000"/>
            <a:ext cx="6402387" cy="180975"/>
            <a:chOff x="185862" y="620688"/>
            <a:chExt cx="8775700" cy="0"/>
          </a:xfrm>
        </p:grpSpPr>
        <p:cxnSp>
          <p:nvCxnSpPr>
            <p:cNvPr id="19" name="Прямая соединительная линия 18"/>
            <p:cNvCxnSpPr/>
            <p:nvPr/>
          </p:nvCxnSpPr>
          <p:spPr>
            <a:xfrm>
              <a:off x="185862" y="620688"/>
              <a:ext cx="87757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185862" y="620688"/>
              <a:ext cx="25219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Рисунок 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6310313"/>
            <a:ext cx="2224087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одзаголовок 2"/>
          <p:cNvSpPr txBox="1">
            <a:spLocks/>
          </p:cNvSpPr>
          <p:nvPr/>
        </p:nvSpPr>
        <p:spPr bwMode="auto">
          <a:xfrm>
            <a:off x="179388" y="115888"/>
            <a:ext cx="6768876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rgbClr val="C00000"/>
              </a:buClr>
              <a:defRPr/>
            </a:pPr>
            <a:r>
              <a:rPr kumimoji="0" lang="ru-RU" sz="1800" b="1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Конфигурирование</a:t>
            </a:r>
            <a:r>
              <a:rPr kumimoji="0" lang="ru-RU" sz="1800" b="1" baseline="0" dirty="0">
                <a:solidFill>
                  <a:srgbClr val="0070C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в системе 1С: Предприятие 8</a:t>
            </a:r>
            <a:endParaRPr kumimoji="0" lang="ru-RU" sz="1800" b="1" dirty="0">
              <a:solidFill>
                <a:srgbClr val="0070C0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5435600" y="138113"/>
            <a:ext cx="35258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ru-RU" sz="1600" dirty="0">
                <a:solidFill>
                  <a:srgbClr val="0070C0"/>
                </a:solidFill>
                <a:latin typeface="Tahoma" pitchFamily="34" charset="0"/>
                <a:cs typeface="Tahoma" pitchFamily="34" charset="0"/>
              </a:rPr>
              <a:t>Оперативные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694963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1" kern="1200">
          <a:ln>
            <a:solidFill>
              <a:schemeClr val="bg1"/>
            </a:solidFill>
          </a:ln>
          <a:gradFill>
            <a:gsLst>
              <a:gs pos="55000">
                <a:srgbClr val="F50516"/>
              </a:gs>
              <a:gs pos="86000">
                <a:srgbClr val="C00000"/>
              </a:gs>
            </a:gsLst>
            <a:lin ang="5400000" scaled="0"/>
          </a:gradFill>
          <a:effectLst>
            <a:outerShdw blurRad="38100" dist="38100" dir="5400000" algn="ctr" rotWithShape="0">
              <a:schemeClr val="bg1">
                <a:lumMod val="50000"/>
              </a:schemeClr>
            </a:outerShdw>
          </a:effectLst>
          <a:latin typeface="Arial Black" pitchFamily="34" charset="0"/>
          <a:ea typeface="Verdana" pitchFamily="34" charset="0"/>
          <a:cs typeface="Verdana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Black" pitchFamily="34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C00000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defRPr sz="28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1"/>
        </a:buBlip>
        <a:defRPr sz="2800" b="1" kern="1200">
          <a:solidFill>
            <a:srgbClr val="FF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2"/>
        </a:buBlip>
        <a:defRPr sz="2000" b="1" kern="1200">
          <a:solidFill>
            <a:srgbClr val="0070C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b="1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•"/>
        <a:defRPr sz="1600" kern="1200">
          <a:solidFill>
            <a:srgbClr val="40404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Занятие 08</a:t>
            </a: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79388" y="1293838"/>
            <a:ext cx="8782050" cy="3071265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070C0"/>
                </a:solidFill>
              </a:rPr>
              <a:t>Обусловленное </a:t>
            </a:r>
            <a:r>
              <a:rPr lang="ru-RU" dirty="0" smtClean="0">
                <a:solidFill>
                  <a:srgbClr val="0070C0"/>
                </a:solidFill>
              </a:rPr>
              <a:t>проведение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/>
              <a:t>Момент времени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/>
              <a:t>Граница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 smtClean="0"/>
              <a:t>Выборка из результата запроса</a:t>
            </a:r>
            <a:endParaRPr lang="ru-RU" dirty="0" smtClean="0">
              <a:solidFill>
                <a:srgbClr val="0070C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 smtClean="0"/>
              <a:t>Блокировки в схеме проведения (пишем - читаем)</a:t>
            </a:r>
            <a:endParaRPr lang="ru-RU" dirty="0" smtClean="0">
              <a:solidFill>
                <a:srgbClr val="0070C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 smtClean="0"/>
              <a:t>Последовательности</a:t>
            </a:r>
            <a:endParaRPr lang="ru-RU" dirty="0">
              <a:solidFill>
                <a:srgbClr val="0070C0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0070C0"/>
                </a:solidFill>
              </a:rPr>
              <a:t>Оперативное проведение</a:t>
            </a: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9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830412"/>
          </a:xfrm>
        </p:spPr>
        <p:txBody>
          <a:bodyPr/>
          <a:lstStyle/>
          <a:p>
            <a:r>
              <a:rPr lang="ru-RU" dirty="0" smtClean="0">
                <a:solidFill>
                  <a:srgbClr val="FF0000"/>
                </a:solidFill>
              </a:rPr>
              <a:t>Технология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ru-RU" dirty="0" smtClean="0">
                <a:solidFill>
                  <a:srgbClr val="FF0000"/>
                </a:solidFill>
              </a:rPr>
              <a:t>обусловленного  </a:t>
            </a:r>
            <a:r>
              <a:rPr lang="ru-RU" dirty="0">
                <a:solidFill>
                  <a:srgbClr val="FF0000"/>
                </a:solidFill>
              </a:rPr>
              <a:t>проведения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Сначала пишем – потом читает.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237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500034" y="1124744"/>
            <a:ext cx="8143932" cy="2500330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Оперативная память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00034" y="3767950"/>
            <a:ext cx="8143932" cy="2500330"/>
          </a:xfrm>
          <a:prstGeom prst="roundRect">
            <a:avLst/>
          </a:prstGeom>
          <a:gradFill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6200000" scaled="1"/>
          </a:gradFill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База данных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>
                <a:solidFill>
                  <a:srgbClr val="FF0000"/>
                </a:solidFill>
              </a:rPr>
              <a:t>Новая технология проведения</a:t>
            </a:r>
            <a:endParaRPr lang="ru-RU" sz="2800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715008" y="4268016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движения </a:t>
            </a:r>
            <a:r>
              <a:rPr lang="ru-RU" dirty="0"/>
              <a:t>регистра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72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715008" y="2267752"/>
            <a:ext cx="2232000" cy="36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5268148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итогов </a:t>
            </a:r>
            <a:r>
              <a:rPr lang="ru-RU" dirty="0"/>
              <a:t>регистра</a:t>
            </a:r>
          </a:p>
        </p:txBody>
      </p:sp>
    </p:spTree>
    <p:extLst>
      <p:ext uri="{BB962C8B-B14F-4D97-AF65-F5344CB8AC3E}">
        <p14:creationId xmlns:p14="http://schemas.microsoft.com/office/powerpoint/2010/main" val="893399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500034" y="1124744"/>
            <a:ext cx="8143932" cy="2500330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Оперативная память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00034" y="3767950"/>
            <a:ext cx="8143932" cy="2500330"/>
          </a:xfrm>
          <a:prstGeom prst="roundRect">
            <a:avLst/>
          </a:prstGeom>
          <a:gradFill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6200000" scaled="1"/>
          </a:gradFill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База данных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>
                <a:solidFill>
                  <a:srgbClr val="FF0000"/>
                </a:solidFill>
              </a:rPr>
              <a:t>Новая технология проведения</a:t>
            </a:r>
            <a:endParaRPr lang="ru-RU" sz="2800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715008" y="4268016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движения </a:t>
            </a:r>
            <a:r>
              <a:rPr lang="ru-RU" dirty="0"/>
              <a:t>регистра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5715008" y="2267752"/>
            <a:ext cx="2232000" cy="36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14" name="Стрелка вниз 13"/>
          <p:cNvSpPr/>
          <p:nvPr/>
        </p:nvSpPr>
        <p:spPr>
          <a:xfrm>
            <a:off x="2000232" y="3339322"/>
            <a:ext cx="428628" cy="857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5268148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итогов </a:t>
            </a:r>
            <a:r>
              <a:rPr lang="ru-RU" dirty="0"/>
              <a:t>регистра</a:t>
            </a:r>
          </a:p>
        </p:txBody>
      </p:sp>
    </p:spTree>
    <p:extLst>
      <p:ext uri="{BB962C8B-B14F-4D97-AF65-F5344CB8AC3E}">
        <p14:creationId xmlns:p14="http://schemas.microsoft.com/office/powerpoint/2010/main" val="3852604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500034" y="1124744"/>
            <a:ext cx="8143932" cy="2500330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Оперативная память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00034" y="3767950"/>
            <a:ext cx="8143932" cy="2500330"/>
          </a:xfrm>
          <a:prstGeom prst="roundRect">
            <a:avLst/>
          </a:prstGeom>
          <a:gradFill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6200000" scaled="1"/>
          </a:gradFill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База данных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>
                <a:solidFill>
                  <a:srgbClr val="FF0000"/>
                </a:solidFill>
              </a:rPr>
              <a:t>Новая технология проведения</a:t>
            </a:r>
            <a:endParaRPr lang="ru-RU" sz="2800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4268016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движения </a:t>
            </a:r>
            <a:r>
              <a:rPr lang="ru-RU" dirty="0"/>
              <a:t>регистра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715008" y="2267752"/>
            <a:ext cx="2232000" cy="72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5715008" y="5268148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итогов </a:t>
            </a:r>
            <a:r>
              <a:rPr lang="ru-RU" dirty="0"/>
              <a:t>регистра</a:t>
            </a:r>
          </a:p>
        </p:txBody>
      </p:sp>
      <p:sp>
        <p:nvSpPr>
          <p:cNvPr id="14" name="Стрелка вправо 13"/>
          <p:cNvSpPr/>
          <p:nvPr/>
        </p:nvSpPr>
        <p:spPr>
          <a:xfrm>
            <a:off x="3293263" y="2449157"/>
            <a:ext cx="2286016" cy="500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8513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500034" y="1124744"/>
            <a:ext cx="8143932" cy="2500330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Оперативная память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00034" y="3767950"/>
            <a:ext cx="8143932" cy="2500330"/>
          </a:xfrm>
          <a:prstGeom prst="roundRect">
            <a:avLst/>
          </a:prstGeom>
          <a:gradFill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6200000" scaled="1"/>
          </a:gradFill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База данных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>
                <a:solidFill>
                  <a:srgbClr val="FF0000"/>
                </a:solidFill>
              </a:rPr>
              <a:t>Новая технология проведения</a:t>
            </a:r>
            <a:endParaRPr lang="ru-RU" sz="2800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8" name="Стрелка вниз 7"/>
          <p:cNvSpPr/>
          <p:nvPr/>
        </p:nvSpPr>
        <p:spPr>
          <a:xfrm>
            <a:off x="6616694" y="3125008"/>
            <a:ext cx="428628" cy="714380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3862462"/>
            <a:ext cx="2232000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движения </a:t>
            </a:r>
            <a:r>
              <a:rPr lang="ru-RU" dirty="0"/>
              <a:t>регистра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715008" y="2267752"/>
            <a:ext cx="2232000" cy="72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5715008" y="5268148"/>
            <a:ext cx="2232000" cy="65185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итогов </a:t>
            </a:r>
            <a:r>
              <a:rPr lang="ru-RU" dirty="0"/>
              <a:t>регистра</a:t>
            </a:r>
          </a:p>
        </p:txBody>
      </p:sp>
    </p:spTree>
    <p:extLst>
      <p:ext uri="{BB962C8B-B14F-4D97-AF65-F5344CB8AC3E}">
        <p14:creationId xmlns:p14="http://schemas.microsoft.com/office/powerpoint/2010/main" val="466874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500034" y="1124744"/>
            <a:ext cx="8143932" cy="2500330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Оперативная память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00034" y="3767950"/>
            <a:ext cx="8143932" cy="2500330"/>
          </a:xfrm>
          <a:prstGeom prst="roundRect">
            <a:avLst/>
          </a:prstGeom>
          <a:gradFill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6200000" scaled="1"/>
          </a:gradFill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База данных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>
                <a:solidFill>
                  <a:srgbClr val="FF0000"/>
                </a:solidFill>
              </a:rPr>
              <a:t>Новая технология проведения</a:t>
            </a:r>
            <a:endParaRPr lang="ru-RU" sz="2800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3862462"/>
            <a:ext cx="2232000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движения </a:t>
            </a:r>
            <a:r>
              <a:rPr lang="ru-RU" dirty="0"/>
              <a:t>регистра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715008" y="2267752"/>
            <a:ext cx="2232000" cy="72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5715008" y="5237922"/>
            <a:ext cx="2232000" cy="90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итогов </a:t>
            </a:r>
            <a:r>
              <a:rPr lang="ru-RU" dirty="0"/>
              <a:t>регистра</a:t>
            </a:r>
          </a:p>
        </p:txBody>
      </p:sp>
      <p:sp>
        <p:nvSpPr>
          <p:cNvPr id="4" name="Развернутая стрелка 3"/>
          <p:cNvSpPr/>
          <p:nvPr/>
        </p:nvSpPr>
        <p:spPr>
          <a:xfrm rot="5400000" flipV="1">
            <a:off x="4622532" y="4700603"/>
            <a:ext cx="1441174" cy="576000"/>
          </a:xfrm>
          <a:prstGeom prst="utur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755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500034" y="1124744"/>
            <a:ext cx="8143932" cy="2500330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Оперативная память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00034" y="3767950"/>
            <a:ext cx="8143932" cy="2500330"/>
          </a:xfrm>
          <a:prstGeom prst="roundRect">
            <a:avLst/>
          </a:prstGeom>
          <a:gradFill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6200000" scaled="1"/>
          </a:gradFill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База данных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>
                <a:solidFill>
                  <a:srgbClr val="FF0000"/>
                </a:solidFill>
              </a:rPr>
              <a:t>Новая технология проведения</a:t>
            </a:r>
            <a:endParaRPr lang="ru-RU" sz="2800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3862462"/>
            <a:ext cx="2232000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движения </a:t>
            </a:r>
            <a:r>
              <a:rPr lang="ru-RU" dirty="0"/>
              <a:t>регистра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715008" y="2267752"/>
            <a:ext cx="2232000" cy="72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5715008" y="5237922"/>
            <a:ext cx="2232000" cy="90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итогов </a:t>
            </a:r>
            <a:r>
              <a:rPr lang="ru-RU" dirty="0"/>
              <a:t>регистра</a:t>
            </a:r>
          </a:p>
        </p:txBody>
      </p:sp>
      <p:sp>
        <p:nvSpPr>
          <p:cNvPr id="11" name="Стрелка углом 10"/>
          <p:cNvSpPr/>
          <p:nvPr/>
        </p:nvSpPr>
        <p:spPr>
          <a:xfrm rot="16200000">
            <a:off x="3110191" y="3271884"/>
            <a:ext cx="3566560" cy="1500198"/>
          </a:xfrm>
          <a:prstGeom prst="bentArrow">
            <a:avLst>
              <a:gd name="adj1" fmla="val 16037"/>
              <a:gd name="adj2" fmla="val 18695"/>
              <a:gd name="adj3" fmla="val 19395"/>
              <a:gd name="adj4" fmla="val 4375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3428992" y="1246508"/>
            <a:ext cx="2232000" cy="93225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Результат запроса</a:t>
            </a:r>
          </a:p>
        </p:txBody>
      </p:sp>
    </p:spTree>
    <p:extLst>
      <p:ext uri="{BB962C8B-B14F-4D97-AF65-F5344CB8AC3E}">
        <p14:creationId xmlns:p14="http://schemas.microsoft.com/office/powerpoint/2010/main" val="4113162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/>
          <p:nvPr/>
        </p:nvSpPr>
        <p:spPr>
          <a:xfrm>
            <a:off x="500034" y="1124744"/>
            <a:ext cx="8143932" cy="2500330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0"/>
          </a:gradFill>
          <a:ln>
            <a:solidFill>
              <a:schemeClr val="tx2"/>
            </a:solidFill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Оперативная память</a:t>
            </a: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00034" y="3767950"/>
            <a:ext cx="8143932" cy="2500330"/>
          </a:xfrm>
          <a:prstGeom prst="roundRect">
            <a:avLst/>
          </a:prstGeom>
          <a:gradFill>
            <a:gsLst>
              <a:gs pos="0">
                <a:schemeClr val="dk1">
                  <a:tint val="50000"/>
                  <a:satMod val="300000"/>
                </a:schemeClr>
              </a:gs>
              <a:gs pos="35000">
                <a:schemeClr val="dk1">
                  <a:tint val="37000"/>
                  <a:satMod val="300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  <a:lin ang="16200000" scaled="1"/>
          </a:gradFill>
          <a:ln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ru-RU" dirty="0"/>
              <a:t>База данных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>
                <a:solidFill>
                  <a:srgbClr val="FF0000"/>
                </a:solidFill>
              </a:rPr>
              <a:t>Новая технология проведения</a:t>
            </a:r>
            <a:endParaRPr lang="ru-RU" sz="2800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928662" y="2339190"/>
            <a:ext cx="2232000" cy="72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Документ объект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28662" y="4268016"/>
            <a:ext cx="2232000" cy="144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Таблица документа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5715008" y="3862462"/>
            <a:ext cx="2232000" cy="108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движения </a:t>
            </a:r>
            <a:r>
              <a:rPr lang="ru-RU" dirty="0"/>
              <a:t>регистра</a:t>
            </a: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5715008" y="2267752"/>
            <a:ext cx="2232000" cy="720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Набор записей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5715008" y="5237922"/>
            <a:ext cx="2232000" cy="90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Таблица итогов </a:t>
            </a:r>
            <a:r>
              <a:rPr lang="ru-RU" dirty="0"/>
              <a:t>регистра</a:t>
            </a: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3428992" y="1246508"/>
            <a:ext cx="2232000" cy="93225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Результат запроса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6446" y="1321504"/>
            <a:ext cx="2639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Анализ строк на «минус»</a:t>
            </a:r>
          </a:p>
        </p:txBody>
      </p:sp>
    </p:spTree>
    <p:extLst>
      <p:ext uri="{BB962C8B-B14F-4D97-AF65-F5344CB8AC3E}">
        <p14:creationId xmlns:p14="http://schemas.microsoft.com/office/powerpoint/2010/main" val="3018966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Момент времени документа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Что определяет место в очереди у документов с одинаковой датой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8496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Момент времени документа</a:t>
            </a:r>
            <a:endParaRPr lang="ru-RU" dirty="0"/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428596" y="3672060"/>
            <a:ext cx="8286808" cy="1588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5"/>
          <p:cNvGrpSpPr/>
          <p:nvPr/>
        </p:nvGrpSpPr>
        <p:grpSpPr>
          <a:xfrm>
            <a:off x="2393141" y="2285992"/>
            <a:ext cx="4357718" cy="2785668"/>
            <a:chOff x="2357422" y="3625558"/>
            <a:chExt cx="4357718" cy="612000"/>
          </a:xfrm>
        </p:grpSpPr>
        <p:cxnSp>
          <p:nvCxnSpPr>
            <p:cNvPr id="7" name="Прямая соединительная линия 6"/>
            <p:cNvCxnSpPr/>
            <p:nvPr/>
          </p:nvCxnSpPr>
          <p:spPr>
            <a:xfrm rot="5400000">
              <a:off x="2051422" y="3931558"/>
              <a:ext cx="612000" cy="0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/>
            <p:cNvCxnSpPr/>
            <p:nvPr/>
          </p:nvCxnSpPr>
          <p:spPr>
            <a:xfrm rot="5400000">
              <a:off x="6409140" y="3931558"/>
              <a:ext cx="612000" cy="0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321508" y="2313040"/>
            <a:ext cx="1409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spc="300" dirty="0" smtClean="0">
                <a:solidFill>
                  <a:srgbClr val="002060"/>
                </a:solidFill>
              </a:rPr>
              <a:t>16:05:00</a:t>
            </a:r>
            <a:endParaRPr lang="ru-RU" sz="2000" dirty="0">
              <a:solidFill>
                <a:srgbClr val="00206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67320" y="2313040"/>
            <a:ext cx="14093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spc="300" dirty="0" smtClean="0">
                <a:solidFill>
                  <a:srgbClr val="002060"/>
                </a:solidFill>
              </a:rPr>
              <a:t>16:05:01</a:t>
            </a:r>
            <a:endParaRPr lang="ru-RU" sz="2000" spc="300" dirty="0">
              <a:solidFill>
                <a:srgbClr val="00206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77866" y="2313040"/>
            <a:ext cx="14093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spc="300" dirty="0" smtClean="0">
                <a:solidFill>
                  <a:srgbClr val="002060"/>
                </a:solidFill>
              </a:rPr>
              <a:t>16:05:02</a:t>
            </a:r>
            <a:endParaRPr lang="ru-RU" sz="2000" dirty="0">
              <a:solidFill>
                <a:srgbClr val="002060"/>
              </a:solidFill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907810" y="3564329"/>
            <a:ext cx="214314" cy="21431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7975388" y="3564329"/>
            <a:ext cx="214314" cy="21431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/>
          <p:cNvSpPr/>
          <p:nvPr/>
        </p:nvSpPr>
        <p:spPr>
          <a:xfrm>
            <a:off x="3958061" y="3564329"/>
            <a:ext cx="214314" cy="21431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/>
          <p:cNvSpPr txBox="1"/>
          <p:nvPr/>
        </p:nvSpPr>
        <p:spPr>
          <a:xfrm>
            <a:off x="3312480" y="3857628"/>
            <a:ext cx="1505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solidFill>
                  <a:srgbClr val="C00000"/>
                </a:solidFill>
              </a:rPr>
              <a:t>Реализация 1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55" name="Овал 54"/>
          <p:cNvSpPr/>
          <p:nvPr/>
        </p:nvSpPr>
        <p:spPr>
          <a:xfrm>
            <a:off x="5971757" y="3564329"/>
            <a:ext cx="214314" cy="214314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200482" y="3857628"/>
            <a:ext cx="162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Поступление 1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26177" y="3857628"/>
            <a:ext cx="1505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solidFill>
                  <a:srgbClr val="C00000"/>
                </a:solidFill>
              </a:rPr>
              <a:t>Реализация 2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74431" y="3857628"/>
            <a:ext cx="162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Поступление 2</a:t>
            </a:r>
            <a:endParaRPr lang="ru-RU" dirty="0">
              <a:solidFill>
                <a:srgbClr val="0070C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08848" y="5214950"/>
            <a:ext cx="2328496" cy="12858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Прямоугольник 24"/>
          <p:cNvSpPr/>
          <p:nvPr/>
        </p:nvSpPr>
        <p:spPr>
          <a:xfrm>
            <a:off x="2319318" y="3600456"/>
            <a:ext cx="142876" cy="1428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/>
          <p:cNvSpPr/>
          <p:nvPr/>
        </p:nvSpPr>
        <p:spPr>
          <a:xfrm>
            <a:off x="6672928" y="3600456"/>
            <a:ext cx="142876" cy="1428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5" name="Прямая со стрелкой 34"/>
          <p:cNvCxnSpPr/>
          <p:nvPr/>
        </p:nvCxnSpPr>
        <p:spPr>
          <a:xfrm rot="10800000" flipV="1">
            <a:off x="2552693" y="2669380"/>
            <a:ext cx="1354938" cy="88236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/>
          <p:cNvCxnSpPr/>
          <p:nvPr/>
        </p:nvCxnSpPr>
        <p:spPr>
          <a:xfrm rot="10800000" flipV="1">
            <a:off x="6902406" y="2669380"/>
            <a:ext cx="1354938" cy="88236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Группа 56"/>
          <p:cNvGrpSpPr/>
          <p:nvPr/>
        </p:nvGrpSpPr>
        <p:grpSpPr>
          <a:xfrm>
            <a:off x="4065454" y="4316636"/>
            <a:ext cx="2015284" cy="684000"/>
            <a:chOff x="4064424" y="4316636"/>
            <a:chExt cx="2015284" cy="684000"/>
          </a:xfrm>
        </p:grpSpPr>
        <p:cxnSp>
          <p:nvCxnSpPr>
            <p:cNvPr id="50" name="Прямая со стрелкой 49"/>
            <p:cNvCxnSpPr/>
            <p:nvPr/>
          </p:nvCxnSpPr>
          <p:spPr>
            <a:xfrm rot="16200000" flipV="1">
              <a:off x="3723218" y="4657842"/>
              <a:ext cx="684000" cy="1588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Прямая со стрелкой 51"/>
            <p:cNvCxnSpPr/>
            <p:nvPr/>
          </p:nvCxnSpPr>
          <p:spPr>
            <a:xfrm rot="16200000" flipV="1">
              <a:off x="5736914" y="4657842"/>
              <a:ext cx="684000" cy="1588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561694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 animBg="1"/>
      <p:bldP spid="20" grpId="0" animBg="1"/>
      <p:bldP spid="30" grpId="0" animBg="1"/>
      <p:bldP spid="53" grpId="0"/>
      <p:bldP spid="55" grpId="0" animBg="1"/>
      <p:bldP spid="27" grpId="0"/>
      <p:bldP spid="28" grpId="0"/>
      <p:bldP spid="29" grpId="0"/>
      <p:bldP spid="25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Граница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Остатки с учетом или без учета приращений приходящихся на дату или момент времени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451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Новый </a:t>
            </a:r>
            <a:r>
              <a:rPr lang="ru-RU" dirty="0" smtClean="0">
                <a:solidFill>
                  <a:srgbClr val="0070C0"/>
                </a:solidFill>
              </a:rPr>
              <a:t>Граница()</a:t>
            </a:r>
            <a:endParaRPr lang="ru-RU" dirty="0">
              <a:solidFill>
                <a:srgbClr val="0070C0"/>
              </a:solidFill>
            </a:endParaRPr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428596" y="3672060"/>
            <a:ext cx="8286808" cy="1588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5"/>
          <p:cNvGrpSpPr/>
          <p:nvPr/>
        </p:nvGrpSpPr>
        <p:grpSpPr>
          <a:xfrm>
            <a:off x="2393141" y="2285992"/>
            <a:ext cx="4357718" cy="2785668"/>
            <a:chOff x="2357422" y="3625558"/>
            <a:chExt cx="4357718" cy="612000"/>
          </a:xfrm>
        </p:grpSpPr>
        <p:cxnSp>
          <p:nvCxnSpPr>
            <p:cNvPr id="7" name="Прямая соединительная линия 6"/>
            <p:cNvCxnSpPr/>
            <p:nvPr/>
          </p:nvCxnSpPr>
          <p:spPr>
            <a:xfrm rot="5400000">
              <a:off x="2051422" y="3931558"/>
              <a:ext cx="612000" cy="0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/>
            <p:cNvCxnSpPr/>
            <p:nvPr/>
          </p:nvCxnSpPr>
          <p:spPr>
            <a:xfrm rot="5400000">
              <a:off x="6409140" y="3931558"/>
              <a:ext cx="612000" cy="0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321508" y="2313040"/>
            <a:ext cx="1409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spc="300" dirty="0" smtClean="0">
                <a:solidFill>
                  <a:srgbClr val="002060"/>
                </a:solidFill>
              </a:rPr>
              <a:t>16:05:00</a:t>
            </a:r>
            <a:endParaRPr lang="ru-RU" sz="2000" dirty="0">
              <a:solidFill>
                <a:srgbClr val="00206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77866" y="2313040"/>
            <a:ext cx="14093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spc="300" dirty="0" smtClean="0">
                <a:solidFill>
                  <a:srgbClr val="002060"/>
                </a:solidFill>
              </a:rPr>
              <a:t>16:05:02</a:t>
            </a:r>
            <a:endParaRPr lang="ru-RU" sz="2000" dirty="0">
              <a:solidFill>
                <a:srgbClr val="002060"/>
              </a:solidFill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907810" y="3564329"/>
            <a:ext cx="214314" cy="21431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7975388" y="3564329"/>
            <a:ext cx="214314" cy="21431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/>
          <p:cNvSpPr/>
          <p:nvPr/>
        </p:nvSpPr>
        <p:spPr>
          <a:xfrm>
            <a:off x="3958061" y="3564329"/>
            <a:ext cx="214314" cy="21431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/>
          <p:cNvSpPr txBox="1"/>
          <p:nvPr/>
        </p:nvSpPr>
        <p:spPr>
          <a:xfrm>
            <a:off x="3306438" y="3143901"/>
            <a:ext cx="1505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solidFill>
                  <a:srgbClr val="C00000"/>
                </a:solidFill>
              </a:rPr>
              <a:t>Реализация 1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55" name="Овал 54"/>
          <p:cNvSpPr/>
          <p:nvPr/>
        </p:nvSpPr>
        <p:spPr>
          <a:xfrm>
            <a:off x="5971757" y="3564329"/>
            <a:ext cx="214314" cy="214314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200482" y="3857628"/>
            <a:ext cx="162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Поступление 1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26177" y="3857628"/>
            <a:ext cx="1505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solidFill>
                  <a:srgbClr val="C00000"/>
                </a:solidFill>
              </a:rPr>
              <a:t>Реализация 2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74431" y="3857628"/>
            <a:ext cx="162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Поступление 2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2319318" y="3600456"/>
            <a:ext cx="142876" cy="1428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/>
          <p:cNvSpPr/>
          <p:nvPr/>
        </p:nvSpPr>
        <p:spPr>
          <a:xfrm>
            <a:off x="6672928" y="3600456"/>
            <a:ext cx="142876" cy="1428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5" name="Прямая со стрелкой 34"/>
          <p:cNvCxnSpPr/>
          <p:nvPr/>
        </p:nvCxnSpPr>
        <p:spPr>
          <a:xfrm rot="10800000" flipV="1">
            <a:off x="2552693" y="2669380"/>
            <a:ext cx="1354938" cy="882369"/>
          </a:xfrm>
          <a:prstGeom prst="straightConnector1">
            <a:avLst/>
          </a:prstGeom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Прямая со стрелкой 48"/>
          <p:cNvCxnSpPr/>
          <p:nvPr/>
        </p:nvCxnSpPr>
        <p:spPr>
          <a:xfrm rot="10800000" flipV="1">
            <a:off x="6902406" y="2669380"/>
            <a:ext cx="1354938" cy="88236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stCxn id="11" idx="0"/>
          </p:cNvCxnSpPr>
          <p:nvPr/>
        </p:nvCxnSpPr>
        <p:spPr>
          <a:xfrm flipV="1">
            <a:off x="2739131" y="3689249"/>
            <a:ext cx="1226116" cy="1318055"/>
          </a:xfrm>
          <a:prstGeom prst="straightConnector1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stCxn id="33" idx="0"/>
          </p:cNvCxnSpPr>
          <p:nvPr/>
        </p:nvCxnSpPr>
        <p:spPr>
          <a:xfrm flipH="1" flipV="1">
            <a:off x="4172378" y="3712284"/>
            <a:ext cx="1874293" cy="1251586"/>
          </a:xfrm>
          <a:prstGeom prst="straightConnector1">
            <a:avLst/>
          </a:prstGeom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31019" y="5007304"/>
            <a:ext cx="2016224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ru-RU" dirty="0" smtClean="0"/>
              <a:t>Момент Времени</a:t>
            </a:r>
            <a:endParaRPr lang="ru-RU" dirty="0"/>
          </a:p>
        </p:txBody>
      </p:sp>
      <p:sp>
        <p:nvSpPr>
          <p:cNvPr id="33" name="TextBox 32"/>
          <p:cNvSpPr txBox="1"/>
          <p:nvPr/>
        </p:nvSpPr>
        <p:spPr>
          <a:xfrm>
            <a:off x="4310779" y="4963870"/>
            <a:ext cx="3471783" cy="64633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ru-RU" dirty="0" smtClean="0"/>
              <a:t>Граница от момента времени </a:t>
            </a:r>
            <a:r>
              <a:rPr lang="ru-RU" b="1" dirty="0" smtClean="0"/>
              <a:t>включая</a:t>
            </a:r>
          </a:p>
        </p:txBody>
      </p:sp>
      <p:cxnSp>
        <p:nvCxnSpPr>
          <p:cNvPr id="34" name="Прямая со стрелкой 33"/>
          <p:cNvCxnSpPr/>
          <p:nvPr/>
        </p:nvCxnSpPr>
        <p:spPr>
          <a:xfrm>
            <a:off x="4942246" y="1999599"/>
            <a:ext cx="1683809" cy="156473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396267" y="1624237"/>
            <a:ext cx="3471783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ru-RU" dirty="0" smtClean="0"/>
              <a:t>Граница от даты </a:t>
            </a:r>
            <a:r>
              <a:rPr lang="ru-RU" b="1" dirty="0" smtClean="0"/>
              <a:t>включая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4420" y="2230673"/>
            <a:ext cx="741654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ru-RU" dirty="0" smtClean="0"/>
              <a:t>Дата</a:t>
            </a:r>
            <a:endParaRPr lang="ru-RU" b="1" dirty="0" smtClean="0"/>
          </a:p>
        </p:txBody>
      </p:sp>
    </p:spTree>
    <p:extLst>
      <p:ext uri="{BB962C8B-B14F-4D97-AF65-F5344CB8AC3E}">
        <p14:creationId xmlns:p14="http://schemas.microsoft.com/office/powerpoint/2010/main" val="12809018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3" grpId="0" animBg="1"/>
      <p:bldP spid="36" grpId="0" animBg="1"/>
      <p:bldP spid="4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Выборка из результата запроса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78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2051720" y="1124744"/>
          <a:ext cx="515989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532">
                  <a:extLst>
                    <a:ext uri="{9D8B030D-6E8A-4147-A177-3AD203B41FA5}">
                      <a16:colId xmlns:a16="http://schemas.microsoft.com/office/drawing/2014/main" val="2837168683"/>
                    </a:ext>
                  </a:extLst>
                </a:gridCol>
                <a:gridCol w="1579674">
                  <a:extLst>
                    <a:ext uri="{9D8B030D-6E8A-4147-A177-3AD203B41FA5}">
                      <a16:colId xmlns:a16="http://schemas.microsoft.com/office/drawing/2014/main" val="89137218"/>
                    </a:ext>
                  </a:extLst>
                </a:gridCol>
                <a:gridCol w="1500690">
                  <a:extLst>
                    <a:ext uri="{9D8B030D-6E8A-4147-A177-3AD203B41FA5}">
                      <a16:colId xmlns:a16="http://schemas.microsoft.com/office/drawing/2014/main" val="1815379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09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46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55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Сок «</a:t>
                      </a:r>
                      <a:r>
                        <a:rPr lang="ru-RU" dirty="0" err="1"/>
                        <a:t>Фрэш</a:t>
                      </a:r>
                      <a:r>
                        <a:rPr lang="ru-RU" dirty="0"/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18347"/>
                  </a:ext>
                </a:extLst>
              </a:tr>
            </a:tbl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1115616" y="717104"/>
            <a:ext cx="7488832" cy="2160240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chemeClr val="tx1"/>
                </a:solidFill>
              </a:rPr>
              <a:t>Результат запроса</a:t>
            </a:r>
          </a:p>
        </p:txBody>
      </p:sp>
    </p:spTree>
    <p:extLst>
      <p:ext uri="{BB962C8B-B14F-4D97-AF65-F5344CB8AC3E}">
        <p14:creationId xmlns:p14="http://schemas.microsoft.com/office/powerpoint/2010/main" val="297234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2051720" y="1124744"/>
          <a:ext cx="515989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532">
                  <a:extLst>
                    <a:ext uri="{9D8B030D-6E8A-4147-A177-3AD203B41FA5}">
                      <a16:colId xmlns:a16="http://schemas.microsoft.com/office/drawing/2014/main" val="2837168683"/>
                    </a:ext>
                  </a:extLst>
                </a:gridCol>
                <a:gridCol w="1579674">
                  <a:extLst>
                    <a:ext uri="{9D8B030D-6E8A-4147-A177-3AD203B41FA5}">
                      <a16:colId xmlns:a16="http://schemas.microsoft.com/office/drawing/2014/main" val="89137218"/>
                    </a:ext>
                  </a:extLst>
                </a:gridCol>
                <a:gridCol w="1500690">
                  <a:extLst>
                    <a:ext uri="{9D8B030D-6E8A-4147-A177-3AD203B41FA5}">
                      <a16:colId xmlns:a16="http://schemas.microsoft.com/office/drawing/2014/main" val="1815379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09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46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55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Сок «</a:t>
                      </a:r>
                      <a:r>
                        <a:rPr lang="ru-RU" dirty="0" err="1"/>
                        <a:t>Фрэш</a:t>
                      </a:r>
                      <a:r>
                        <a:rPr lang="ru-RU" dirty="0"/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18347"/>
                  </a:ext>
                </a:extLst>
              </a:tr>
            </a:tbl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1115616" y="717104"/>
            <a:ext cx="7488832" cy="2160240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chemeClr val="tx1"/>
                </a:solidFill>
              </a:rPr>
              <a:t>Результат запроса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616" y="2915652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Выборка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РезультатЗапроса</a:t>
            </a:r>
            <a:r>
              <a:rPr lang="ru-RU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Выбрать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56491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2051720" y="1124744"/>
          <a:ext cx="515989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532">
                  <a:extLst>
                    <a:ext uri="{9D8B030D-6E8A-4147-A177-3AD203B41FA5}">
                      <a16:colId xmlns:a16="http://schemas.microsoft.com/office/drawing/2014/main" val="2837168683"/>
                    </a:ext>
                  </a:extLst>
                </a:gridCol>
                <a:gridCol w="1579674">
                  <a:extLst>
                    <a:ext uri="{9D8B030D-6E8A-4147-A177-3AD203B41FA5}">
                      <a16:colId xmlns:a16="http://schemas.microsoft.com/office/drawing/2014/main" val="89137218"/>
                    </a:ext>
                  </a:extLst>
                </a:gridCol>
                <a:gridCol w="1500690">
                  <a:extLst>
                    <a:ext uri="{9D8B030D-6E8A-4147-A177-3AD203B41FA5}">
                      <a16:colId xmlns:a16="http://schemas.microsoft.com/office/drawing/2014/main" val="1815379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09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46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55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Сок «</a:t>
                      </a:r>
                      <a:r>
                        <a:rPr lang="ru-RU" dirty="0" err="1"/>
                        <a:t>Фрэш</a:t>
                      </a:r>
                      <a:r>
                        <a:rPr lang="ru-RU" dirty="0"/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18347"/>
                  </a:ext>
                </a:extLst>
              </a:tr>
            </a:tbl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1115616" y="717104"/>
            <a:ext cx="7488832" cy="2160240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chemeClr val="tx1"/>
                </a:solidFill>
              </a:rPr>
              <a:t>Результат запроса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616" y="2915652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Выборка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РезультатЗапроса</a:t>
            </a:r>
            <a:r>
              <a:rPr lang="ru-RU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Выбрать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1115616" y="3735040"/>
          <a:ext cx="6096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8736068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42123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21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Неопределено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246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Неопределено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480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Неопределено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297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38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2051720" y="1124744"/>
          <a:ext cx="515989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532">
                  <a:extLst>
                    <a:ext uri="{9D8B030D-6E8A-4147-A177-3AD203B41FA5}">
                      <a16:colId xmlns:a16="http://schemas.microsoft.com/office/drawing/2014/main" val="2837168683"/>
                    </a:ext>
                  </a:extLst>
                </a:gridCol>
                <a:gridCol w="1579674">
                  <a:extLst>
                    <a:ext uri="{9D8B030D-6E8A-4147-A177-3AD203B41FA5}">
                      <a16:colId xmlns:a16="http://schemas.microsoft.com/office/drawing/2014/main" val="89137218"/>
                    </a:ext>
                  </a:extLst>
                </a:gridCol>
                <a:gridCol w="1500690">
                  <a:extLst>
                    <a:ext uri="{9D8B030D-6E8A-4147-A177-3AD203B41FA5}">
                      <a16:colId xmlns:a16="http://schemas.microsoft.com/office/drawing/2014/main" val="1815379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09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46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55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Сок «</a:t>
                      </a:r>
                      <a:r>
                        <a:rPr lang="ru-RU" dirty="0" err="1"/>
                        <a:t>Фрэш</a:t>
                      </a:r>
                      <a:r>
                        <a:rPr lang="ru-RU" dirty="0"/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18347"/>
                  </a:ext>
                </a:extLst>
              </a:tr>
            </a:tbl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1115616" y="717104"/>
            <a:ext cx="7488832" cy="2160240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chemeClr val="tx1"/>
                </a:solidFill>
              </a:rPr>
              <a:t>Результат запроса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1115616" y="3735040"/>
          <a:ext cx="6096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8736068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42123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21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Неопределено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246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Неопределено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480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Неопределено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29722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2510" y="3254092"/>
            <a:ext cx="285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Выборка</a:t>
            </a:r>
            <a:r>
              <a:rPr lang="ru-RU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Следующий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" name="Развернутая стрелка 8"/>
          <p:cNvSpPr/>
          <p:nvPr/>
        </p:nvSpPr>
        <p:spPr>
          <a:xfrm rot="16200000" flipV="1">
            <a:off x="6395864" y="2685256"/>
            <a:ext cx="2952328" cy="1127448"/>
          </a:xfrm>
          <a:prstGeom prst="uturnArrow">
            <a:avLst>
              <a:gd name="adj1" fmla="val 11391"/>
              <a:gd name="adj2" fmla="val 17363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70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2051720" y="1124744"/>
          <a:ext cx="515989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532">
                  <a:extLst>
                    <a:ext uri="{9D8B030D-6E8A-4147-A177-3AD203B41FA5}">
                      <a16:colId xmlns:a16="http://schemas.microsoft.com/office/drawing/2014/main" val="2837168683"/>
                    </a:ext>
                  </a:extLst>
                </a:gridCol>
                <a:gridCol w="1579674">
                  <a:extLst>
                    <a:ext uri="{9D8B030D-6E8A-4147-A177-3AD203B41FA5}">
                      <a16:colId xmlns:a16="http://schemas.microsoft.com/office/drawing/2014/main" val="89137218"/>
                    </a:ext>
                  </a:extLst>
                </a:gridCol>
                <a:gridCol w="1500690">
                  <a:extLst>
                    <a:ext uri="{9D8B030D-6E8A-4147-A177-3AD203B41FA5}">
                      <a16:colId xmlns:a16="http://schemas.microsoft.com/office/drawing/2014/main" val="1815379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09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46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55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Сок «</a:t>
                      </a:r>
                      <a:r>
                        <a:rPr lang="ru-RU" dirty="0" err="1"/>
                        <a:t>Фрэш</a:t>
                      </a:r>
                      <a:r>
                        <a:rPr lang="ru-RU" dirty="0"/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18347"/>
                  </a:ext>
                </a:extLst>
              </a:tr>
            </a:tbl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1115616" y="717104"/>
            <a:ext cx="7488832" cy="2160240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chemeClr val="tx1"/>
                </a:solidFill>
              </a:rPr>
              <a:t>Результат запроса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1115616" y="3717032"/>
          <a:ext cx="6096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8736068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42123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21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246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480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297229"/>
                  </a:ext>
                </a:extLst>
              </a:tr>
            </a:tbl>
          </a:graphicData>
        </a:graphic>
      </p:graphicFrame>
      <p:sp>
        <p:nvSpPr>
          <p:cNvPr id="5" name="Стрелка вправо 4"/>
          <p:cNvSpPr/>
          <p:nvPr/>
        </p:nvSpPr>
        <p:spPr>
          <a:xfrm>
            <a:off x="3995936" y="3284984"/>
            <a:ext cx="720080" cy="2880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4945487" y="3244334"/>
            <a:ext cx="1197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Истина</a:t>
            </a:r>
          </a:p>
        </p:txBody>
      </p:sp>
      <p:sp>
        <p:nvSpPr>
          <p:cNvPr id="9" name="Развернутая стрелка 8"/>
          <p:cNvSpPr/>
          <p:nvPr/>
        </p:nvSpPr>
        <p:spPr>
          <a:xfrm rot="5400000">
            <a:off x="6452119" y="2712185"/>
            <a:ext cx="2952328" cy="1064297"/>
          </a:xfrm>
          <a:prstGeom prst="uturnArrow">
            <a:avLst>
              <a:gd name="adj1" fmla="val 11391"/>
              <a:gd name="adj2" fmla="val 17363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2510" y="3254092"/>
            <a:ext cx="285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Выборка</a:t>
            </a:r>
            <a:r>
              <a:rPr lang="ru-RU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Следующий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5340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2051720" y="1124744"/>
          <a:ext cx="515989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532">
                  <a:extLst>
                    <a:ext uri="{9D8B030D-6E8A-4147-A177-3AD203B41FA5}">
                      <a16:colId xmlns:a16="http://schemas.microsoft.com/office/drawing/2014/main" val="2837168683"/>
                    </a:ext>
                  </a:extLst>
                </a:gridCol>
                <a:gridCol w="1579674">
                  <a:extLst>
                    <a:ext uri="{9D8B030D-6E8A-4147-A177-3AD203B41FA5}">
                      <a16:colId xmlns:a16="http://schemas.microsoft.com/office/drawing/2014/main" val="89137218"/>
                    </a:ext>
                  </a:extLst>
                </a:gridCol>
                <a:gridCol w="1500690">
                  <a:extLst>
                    <a:ext uri="{9D8B030D-6E8A-4147-A177-3AD203B41FA5}">
                      <a16:colId xmlns:a16="http://schemas.microsoft.com/office/drawing/2014/main" val="1815379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09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46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55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Сок «</a:t>
                      </a:r>
                      <a:r>
                        <a:rPr lang="ru-RU" dirty="0" err="1"/>
                        <a:t>Фрэш</a:t>
                      </a:r>
                      <a:r>
                        <a:rPr lang="ru-RU" dirty="0"/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18347"/>
                  </a:ext>
                </a:extLst>
              </a:tr>
            </a:tbl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1115616" y="717104"/>
            <a:ext cx="7488832" cy="2160240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chemeClr val="tx1"/>
                </a:solidFill>
              </a:rPr>
              <a:t>Результат запроса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1115616" y="3735040"/>
          <a:ext cx="6096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8736068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42123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21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246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480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29722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2510" y="3254092"/>
            <a:ext cx="285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Выборка</a:t>
            </a:r>
            <a:r>
              <a:rPr lang="ru-RU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Следующий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" name="Развернутая стрелка 8"/>
          <p:cNvSpPr/>
          <p:nvPr/>
        </p:nvSpPr>
        <p:spPr>
          <a:xfrm rot="16200000" flipV="1">
            <a:off x="6575884" y="2865276"/>
            <a:ext cx="2592288" cy="1127448"/>
          </a:xfrm>
          <a:prstGeom prst="uturnArrow">
            <a:avLst>
              <a:gd name="adj1" fmla="val 11391"/>
              <a:gd name="adj2" fmla="val 17363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89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2051720" y="1124744"/>
          <a:ext cx="515989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532">
                  <a:extLst>
                    <a:ext uri="{9D8B030D-6E8A-4147-A177-3AD203B41FA5}">
                      <a16:colId xmlns:a16="http://schemas.microsoft.com/office/drawing/2014/main" val="2837168683"/>
                    </a:ext>
                  </a:extLst>
                </a:gridCol>
                <a:gridCol w="1579674">
                  <a:extLst>
                    <a:ext uri="{9D8B030D-6E8A-4147-A177-3AD203B41FA5}">
                      <a16:colId xmlns:a16="http://schemas.microsoft.com/office/drawing/2014/main" val="89137218"/>
                    </a:ext>
                  </a:extLst>
                </a:gridCol>
                <a:gridCol w="1500690">
                  <a:extLst>
                    <a:ext uri="{9D8B030D-6E8A-4147-A177-3AD203B41FA5}">
                      <a16:colId xmlns:a16="http://schemas.microsoft.com/office/drawing/2014/main" val="1815379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09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46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55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Сок «</a:t>
                      </a:r>
                      <a:r>
                        <a:rPr lang="ru-RU" dirty="0" err="1"/>
                        <a:t>Фрэш</a:t>
                      </a:r>
                      <a:r>
                        <a:rPr lang="ru-RU" dirty="0"/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18347"/>
                  </a:ext>
                </a:extLst>
              </a:tr>
            </a:tbl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1115616" y="717104"/>
            <a:ext cx="7488832" cy="2160240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chemeClr val="tx1"/>
                </a:solidFill>
              </a:rPr>
              <a:t>Результат запроса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1115616" y="3717032"/>
          <a:ext cx="6096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8736068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42123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21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246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480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297229"/>
                  </a:ext>
                </a:extLst>
              </a:tr>
            </a:tbl>
          </a:graphicData>
        </a:graphic>
      </p:graphicFrame>
      <p:sp>
        <p:nvSpPr>
          <p:cNvPr id="5" name="Стрелка вправо 4"/>
          <p:cNvSpPr/>
          <p:nvPr/>
        </p:nvSpPr>
        <p:spPr>
          <a:xfrm>
            <a:off x="3995936" y="3327588"/>
            <a:ext cx="720080" cy="245428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4945487" y="3244334"/>
            <a:ext cx="1197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Истина</a:t>
            </a:r>
          </a:p>
        </p:txBody>
      </p:sp>
      <p:sp>
        <p:nvSpPr>
          <p:cNvPr id="9" name="Развернутая стрелка 8"/>
          <p:cNvSpPr/>
          <p:nvPr/>
        </p:nvSpPr>
        <p:spPr>
          <a:xfrm rot="5400000">
            <a:off x="6670467" y="2930533"/>
            <a:ext cx="2515632" cy="1064297"/>
          </a:xfrm>
          <a:prstGeom prst="uturnArrow">
            <a:avLst>
              <a:gd name="adj1" fmla="val 11391"/>
              <a:gd name="adj2" fmla="val 17363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2510" y="3254092"/>
            <a:ext cx="285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Выборка</a:t>
            </a:r>
            <a:r>
              <a:rPr lang="ru-RU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Следующий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81612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2051720" y="1124744"/>
          <a:ext cx="515989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532">
                  <a:extLst>
                    <a:ext uri="{9D8B030D-6E8A-4147-A177-3AD203B41FA5}">
                      <a16:colId xmlns:a16="http://schemas.microsoft.com/office/drawing/2014/main" val="2837168683"/>
                    </a:ext>
                  </a:extLst>
                </a:gridCol>
                <a:gridCol w="1579674">
                  <a:extLst>
                    <a:ext uri="{9D8B030D-6E8A-4147-A177-3AD203B41FA5}">
                      <a16:colId xmlns:a16="http://schemas.microsoft.com/office/drawing/2014/main" val="89137218"/>
                    </a:ext>
                  </a:extLst>
                </a:gridCol>
                <a:gridCol w="1500690">
                  <a:extLst>
                    <a:ext uri="{9D8B030D-6E8A-4147-A177-3AD203B41FA5}">
                      <a16:colId xmlns:a16="http://schemas.microsoft.com/office/drawing/2014/main" val="1815379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09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46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55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Сок «</a:t>
                      </a:r>
                      <a:r>
                        <a:rPr lang="ru-RU" dirty="0" err="1"/>
                        <a:t>Фрэш</a:t>
                      </a:r>
                      <a:r>
                        <a:rPr lang="ru-RU" dirty="0"/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18347"/>
                  </a:ext>
                </a:extLst>
              </a:tr>
            </a:tbl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1115616" y="717104"/>
            <a:ext cx="7488832" cy="2160240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chemeClr val="tx1"/>
                </a:solidFill>
              </a:rPr>
              <a:t>Результат запроса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2510" y="3254092"/>
            <a:ext cx="285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Выборка</a:t>
            </a:r>
            <a:r>
              <a:rPr lang="ru-RU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Следующий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" name="Развернутая стрелка 8"/>
          <p:cNvSpPr/>
          <p:nvPr/>
        </p:nvSpPr>
        <p:spPr>
          <a:xfrm rot="16200000" flipV="1">
            <a:off x="6719900" y="3009292"/>
            <a:ext cx="2304256" cy="1127448"/>
          </a:xfrm>
          <a:prstGeom prst="uturnArrow">
            <a:avLst>
              <a:gd name="adj1" fmla="val 11391"/>
              <a:gd name="adj2" fmla="val 17363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/>
          </p:nvPr>
        </p:nvGraphicFramePr>
        <p:xfrm>
          <a:off x="1115616" y="3717032"/>
          <a:ext cx="6096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8736068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42123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21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246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480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297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62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2051720" y="1124744"/>
          <a:ext cx="515989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532">
                  <a:extLst>
                    <a:ext uri="{9D8B030D-6E8A-4147-A177-3AD203B41FA5}">
                      <a16:colId xmlns:a16="http://schemas.microsoft.com/office/drawing/2014/main" val="2837168683"/>
                    </a:ext>
                  </a:extLst>
                </a:gridCol>
                <a:gridCol w="1579674">
                  <a:extLst>
                    <a:ext uri="{9D8B030D-6E8A-4147-A177-3AD203B41FA5}">
                      <a16:colId xmlns:a16="http://schemas.microsoft.com/office/drawing/2014/main" val="89137218"/>
                    </a:ext>
                  </a:extLst>
                </a:gridCol>
                <a:gridCol w="1500690">
                  <a:extLst>
                    <a:ext uri="{9D8B030D-6E8A-4147-A177-3AD203B41FA5}">
                      <a16:colId xmlns:a16="http://schemas.microsoft.com/office/drawing/2014/main" val="1815379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09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46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55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Сок «</a:t>
                      </a:r>
                      <a:r>
                        <a:rPr lang="ru-RU" dirty="0" err="1"/>
                        <a:t>Фрэш</a:t>
                      </a:r>
                      <a:r>
                        <a:rPr lang="ru-RU" dirty="0"/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18347"/>
                  </a:ext>
                </a:extLst>
              </a:tr>
            </a:tbl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1115616" y="717104"/>
            <a:ext cx="7488832" cy="2160240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chemeClr val="tx1"/>
                </a:solidFill>
              </a:rPr>
              <a:t>Результат запроса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1115616" y="3717032"/>
          <a:ext cx="6096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8736068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42123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21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Сок «</a:t>
                      </a:r>
                      <a:r>
                        <a:rPr lang="ru-RU" dirty="0" err="1"/>
                        <a:t>Фреш</a:t>
                      </a:r>
                      <a:r>
                        <a:rPr lang="ru-RU" dirty="0"/>
                        <a:t>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246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480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297229"/>
                  </a:ext>
                </a:extLst>
              </a:tr>
            </a:tbl>
          </a:graphicData>
        </a:graphic>
      </p:graphicFrame>
      <p:sp>
        <p:nvSpPr>
          <p:cNvPr id="5" name="Стрелка вправо 4"/>
          <p:cNvSpPr/>
          <p:nvPr/>
        </p:nvSpPr>
        <p:spPr>
          <a:xfrm>
            <a:off x="3995936" y="3362714"/>
            <a:ext cx="720080" cy="21030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4945487" y="3244334"/>
            <a:ext cx="1197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Истина</a:t>
            </a:r>
          </a:p>
        </p:txBody>
      </p:sp>
      <p:sp>
        <p:nvSpPr>
          <p:cNvPr id="9" name="Развернутая стрелка 8"/>
          <p:cNvSpPr/>
          <p:nvPr/>
        </p:nvSpPr>
        <p:spPr>
          <a:xfrm rot="5400000">
            <a:off x="6850487" y="3110553"/>
            <a:ext cx="2155592" cy="1064297"/>
          </a:xfrm>
          <a:prstGeom prst="uturnArrow">
            <a:avLst>
              <a:gd name="adj1" fmla="val 11391"/>
              <a:gd name="adj2" fmla="val 17363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2510" y="3254092"/>
            <a:ext cx="285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Выборка</a:t>
            </a:r>
            <a:r>
              <a:rPr lang="ru-RU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Следующий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9637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2051720" y="1124744"/>
          <a:ext cx="515989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532">
                  <a:extLst>
                    <a:ext uri="{9D8B030D-6E8A-4147-A177-3AD203B41FA5}">
                      <a16:colId xmlns:a16="http://schemas.microsoft.com/office/drawing/2014/main" val="2837168683"/>
                    </a:ext>
                  </a:extLst>
                </a:gridCol>
                <a:gridCol w="1579674">
                  <a:extLst>
                    <a:ext uri="{9D8B030D-6E8A-4147-A177-3AD203B41FA5}">
                      <a16:colId xmlns:a16="http://schemas.microsoft.com/office/drawing/2014/main" val="89137218"/>
                    </a:ext>
                  </a:extLst>
                </a:gridCol>
                <a:gridCol w="1500690">
                  <a:extLst>
                    <a:ext uri="{9D8B030D-6E8A-4147-A177-3AD203B41FA5}">
                      <a16:colId xmlns:a16="http://schemas.microsoft.com/office/drawing/2014/main" val="1815379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09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46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55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Сок «</a:t>
                      </a:r>
                      <a:r>
                        <a:rPr lang="ru-RU" dirty="0" err="1"/>
                        <a:t>Фрэш</a:t>
                      </a:r>
                      <a:r>
                        <a:rPr lang="ru-RU" dirty="0"/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18347"/>
                  </a:ext>
                </a:extLst>
              </a:tr>
            </a:tbl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1115616" y="717104"/>
            <a:ext cx="7488832" cy="2160240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chemeClr val="tx1"/>
                </a:solidFill>
              </a:rPr>
              <a:t>Результат запроса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2510" y="3254092"/>
            <a:ext cx="285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Выборка</a:t>
            </a:r>
            <a:r>
              <a:rPr lang="ru-RU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Следующий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1115616" y="3717032"/>
          <a:ext cx="6096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8736068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42123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21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Сок «</a:t>
                      </a:r>
                      <a:r>
                        <a:rPr lang="ru-RU" dirty="0" err="1"/>
                        <a:t>Фреш</a:t>
                      </a:r>
                      <a:r>
                        <a:rPr lang="ru-RU" dirty="0"/>
                        <a:t>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246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480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297229"/>
                  </a:ext>
                </a:extLst>
              </a:tr>
            </a:tbl>
          </a:graphicData>
        </a:graphic>
      </p:graphicFrame>
      <p:sp>
        <p:nvSpPr>
          <p:cNvPr id="13" name="Развернутая стрелка 12"/>
          <p:cNvSpPr/>
          <p:nvPr/>
        </p:nvSpPr>
        <p:spPr>
          <a:xfrm rot="16200000" flipV="1">
            <a:off x="6863916" y="3153308"/>
            <a:ext cx="2016224" cy="1127448"/>
          </a:xfrm>
          <a:prstGeom prst="uturnArrow">
            <a:avLst>
              <a:gd name="adj1" fmla="val 11391"/>
              <a:gd name="adj2" fmla="val 17363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" name="Крест 2"/>
          <p:cNvSpPr/>
          <p:nvPr/>
        </p:nvSpPr>
        <p:spPr>
          <a:xfrm rot="2918937">
            <a:off x="6865022" y="2636115"/>
            <a:ext cx="549170" cy="482456"/>
          </a:xfrm>
          <a:prstGeom prst="plus">
            <a:avLst>
              <a:gd name="adj" fmla="val 31084"/>
            </a:avLst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78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375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 animBg="1"/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2051720" y="1124744"/>
          <a:ext cx="515989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532">
                  <a:extLst>
                    <a:ext uri="{9D8B030D-6E8A-4147-A177-3AD203B41FA5}">
                      <a16:colId xmlns:a16="http://schemas.microsoft.com/office/drawing/2014/main" val="2837168683"/>
                    </a:ext>
                  </a:extLst>
                </a:gridCol>
                <a:gridCol w="1579674">
                  <a:extLst>
                    <a:ext uri="{9D8B030D-6E8A-4147-A177-3AD203B41FA5}">
                      <a16:colId xmlns:a16="http://schemas.microsoft.com/office/drawing/2014/main" val="89137218"/>
                    </a:ext>
                  </a:extLst>
                </a:gridCol>
                <a:gridCol w="1500690">
                  <a:extLst>
                    <a:ext uri="{9D8B030D-6E8A-4147-A177-3AD203B41FA5}">
                      <a16:colId xmlns:a16="http://schemas.microsoft.com/office/drawing/2014/main" val="18153797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094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46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555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Сок «</a:t>
                      </a:r>
                      <a:r>
                        <a:rPr lang="ru-RU" dirty="0" err="1"/>
                        <a:t>Фрэш</a:t>
                      </a:r>
                      <a:r>
                        <a:rPr lang="ru-RU" dirty="0"/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18347"/>
                  </a:ext>
                </a:extLst>
              </a:tr>
            </a:tbl>
          </a:graphicData>
        </a:graphic>
      </p:graphicFrame>
      <p:sp>
        <p:nvSpPr>
          <p:cNvPr id="8" name="Скругленный прямоугольник 7"/>
          <p:cNvSpPr/>
          <p:nvPr/>
        </p:nvSpPr>
        <p:spPr>
          <a:xfrm>
            <a:off x="1115616" y="717104"/>
            <a:ext cx="7488832" cy="2160240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dirty="0">
                <a:solidFill>
                  <a:schemeClr val="tx1"/>
                </a:solidFill>
              </a:rPr>
              <a:t>Результат запроса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2510" y="3254092"/>
            <a:ext cx="2853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Выборка</a:t>
            </a:r>
            <a:r>
              <a:rPr lang="ru-RU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Следующий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" name="Стрелка вправо 1"/>
          <p:cNvSpPr/>
          <p:nvPr/>
        </p:nvSpPr>
        <p:spPr>
          <a:xfrm>
            <a:off x="3995936" y="3284984"/>
            <a:ext cx="720080" cy="2880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4945487" y="3244334"/>
            <a:ext cx="1197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Ложь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/>
          </p:nvPr>
        </p:nvGraphicFramePr>
        <p:xfrm>
          <a:off x="1115616" y="3717032"/>
          <a:ext cx="609600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8736068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2421230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21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Сок «</a:t>
                      </a:r>
                      <a:r>
                        <a:rPr lang="ru-RU" dirty="0" err="1"/>
                        <a:t>Фреш</a:t>
                      </a:r>
                      <a:r>
                        <a:rPr lang="ru-RU" dirty="0"/>
                        <a:t>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246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480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Остаток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297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401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Блокировки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Сначала пишем, потом читаем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677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251520" y="2411596"/>
            <a:ext cx="456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4752900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672391"/>
              </p:ext>
            </p:extLst>
          </p:nvPr>
        </p:nvGraphicFramePr>
        <p:xfrm>
          <a:off x="243666" y="2846824"/>
          <a:ext cx="4570172" cy="115824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1285468843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2721138864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538249960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083569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639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</a:t>
                      </a:r>
                      <a:r>
                        <a:rPr lang="ru-RU" sz="14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x-none" sz="14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3.03.2018</a:t>
                      </a:r>
                      <a:endParaRPr lang="x-none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6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398734"/>
                  </a:ext>
                </a:extLst>
              </a:tr>
            </a:tbl>
          </a:graphicData>
        </a:graphic>
      </p:graphicFrame>
      <p:sp>
        <p:nvSpPr>
          <p:cNvPr id="11" name="Заголовок 5"/>
          <p:cNvSpPr txBox="1">
            <a:spLocks/>
          </p:cNvSpPr>
          <p:nvPr/>
        </p:nvSpPr>
        <p:spPr>
          <a:xfrm>
            <a:off x="188119" y="571977"/>
            <a:ext cx="8784000" cy="548798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ln>
                  <a:solidFill>
                    <a:schemeClr val="bg1"/>
                  </a:solidFill>
                </a:ln>
                <a:gradFill>
                  <a:gsLst>
                    <a:gs pos="55000">
                      <a:srgbClr val="F50516"/>
                    </a:gs>
                    <a:gs pos="86000">
                      <a:srgbClr val="C00000"/>
                    </a:gs>
                  </a:gsLst>
                  <a:lin ang="5400000" scaled="0"/>
                </a:gradFill>
                <a:effectLst>
                  <a:outerShdw blurRad="38100" dist="38100" dir="5400000" algn="ctr" rotWithShape="0">
                    <a:schemeClr val="bg1">
                      <a:lumMod val="50000"/>
                    </a:schemeClr>
                  </a:outerShdw>
                </a:effectLst>
                <a:latin typeface="Arial Black" pitchFamily="34" charset="0"/>
                <a:ea typeface="Verdana" pitchFamily="34" charset="0"/>
                <a:cs typeface="Verdan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9pPr>
          </a:lstStyle>
          <a:p>
            <a:r>
              <a:rPr lang="ru-RU" dirty="0" smtClean="0"/>
              <a:t>Две транзакции одновременно пытаются изменить одну запись в таблице итогов</a:t>
            </a:r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042417"/>
              </p:ext>
            </p:extLst>
          </p:nvPr>
        </p:nvGraphicFramePr>
        <p:xfrm>
          <a:off x="1557283" y="5143160"/>
          <a:ext cx="3332988" cy="62992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715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251520" y="2411596"/>
            <a:ext cx="456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4752900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61179"/>
              </p:ext>
            </p:extLst>
          </p:nvPr>
        </p:nvGraphicFramePr>
        <p:xfrm>
          <a:off x="1557283" y="5143160"/>
          <a:ext cx="3332988" cy="62992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en-US" sz="14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243666" y="2846824"/>
          <a:ext cx="4570172" cy="115824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1285468843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2721138864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538249960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083569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639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</a:t>
                      </a:r>
                      <a:r>
                        <a:rPr lang="ru-RU" sz="14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x-none" sz="14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3.03.2018</a:t>
                      </a:r>
                      <a:endParaRPr lang="x-none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6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398734"/>
                  </a:ext>
                </a:extLst>
              </a:tr>
            </a:tbl>
          </a:graphicData>
        </a:graphic>
      </p:graphicFrame>
      <p:sp>
        <p:nvSpPr>
          <p:cNvPr id="11" name="Заголовок 5"/>
          <p:cNvSpPr txBox="1">
            <a:spLocks/>
          </p:cNvSpPr>
          <p:nvPr/>
        </p:nvSpPr>
        <p:spPr>
          <a:xfrm>
            <a:off x="188119" y="571977"/>
            <a:ext cx="8784000" cy="548798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ln>
                  <a:solidFill>
                    <a:schemeClr val="bg1"/>
                  </a:solidFill>
                </a:ln>
                <a:gradFill>
                  <a:gsLst>
                    <a:gs pos="55000">
                      <a:srgbClr val="F50516"/>
                    </a:gs>
                    <a:gs pos="86000">
                      <a:srgbClr val="C00000"/>
                    </a:gs>
                  </a:gsLst>
                  <a:lin ang="5400000" scaled="0"/>
                </a:gradFill>
                <a:effectLst>
                  <a:outerShdw blurRad="38100" dist="38100" dir="5400000" algn="ctr" rotWithShape="0">
                    <a:schemeClr val="bg1">
                      <a:lumMod val="50000"/>
                    </a:schemeClr>
                  </a:outerShdw>
                </a:effectLst>
                <a:latin typeface="Arial Black" pitchFamily="34" charset="0"/>
                <a:ea typeface="Verdana" pitchFamily="34" charset="0"/>
                <a:cs typeface="Verdan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9pPr>
          </a:lstStyle>
          <a:p>
            <a:r>
              <a:rPr lang="ru-RU" dirty="0" smtClean="0"/>
              <a:t>Сначала изменяет итоговую строчку первая транзакция</a:t>
            </a:r>
            <a:endParaRPr lang="ru-RU" dirty="0"/>
          </a:p>
        </p:txBody>
      </p:sp>
      <p:sp>
        <p:nvSpPr>
          <p:cNvPr id="2" name="Развернутая стрелка 1"/>
          <p:cNvSpPr/>
          <p:nvPr/>
        </p:nvSpPr>
        <p:spPr>
          <a:xfrm rot="5400000">
            <a:off x="4256903" y="4342944"/>
            <a:ext cx="2284207" cy="576064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403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251520" y="2411596"/>
            <a:ext cx="456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4752900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460199"/>
              </p:ext>
            </p:extLst>
          </p:nvPr>
        </p:nvGraphicFramePr>
        <p:xfrm>
          <a:off x="1557283" y="5143160"/>
          <a:ext cx="3332988" cy="629920"/>
        </p:xfrm>
        <a:graphic>
          <a:graphicData uri="http://schemas.openxmlformats.org/drawingml/2006/table">
            <a:tbl>
              <a:tblPr/>
              <a:tblGrid>
                <a:gridCol w="1021385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6754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r>
                        <a:rPr lang="en-US" sz="14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243666" y="2846824"/>
          <a:ext cx="4570172" cy="115824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1285468843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2721138864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538249960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083569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639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</a:t>
                      </a:r>
                      <a:r>
                        <a:rPr lang="ru-RU" sz="14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x-none" sz="14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3.03.2018</a:t>
                      </a:r>
                      <a:endParaRPr lang="x-none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6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398734"/>
                  </a:ext>
                </a:extLst>
              </a:tr>
            </a:tbl>
          </a:graphicData>
        </a:graphic>
      </p:graphicFrame>
      <p:sp>
        <p:nvSpPr>
          <p:cNvPr id="11" name="Заголовок 5"/>
          <p:cNvSpPr txBox="1">
            <a:spLocks/>
          </p:cNvSpPr>
          <p:nvPr/>
        </p:nvSpPr>
        <p:spPr>
          <a:xfrm>
            <a:off x="188119" y="571977"/>
            <a:ext cx="8784000" cy="548798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ln>
                  <a:solidFill>
                    <a:schemeClr val="bg1"/>
                  </a:solidFill>
                </a:ln>
                <a:gradFill>
                  <a:gsLst>
                    <a:gs pos="55000">
                      <a:srgbClr val="F50516"/>
                    </a:gs>
                    <a:gs pos="86000">
                      <a:srgbClr val="C00000"/>
                    </a:gs>
                  </a:gsLst>
                  <a:lin ang="5400000" scaled="0"/>
                </a:gradFill>
                <a:effectLst>
                  <a:outerShdw blurRad="38100" dist="38100" dir="5400000" algn="ctr" rotWithShape="0">
                    <a:schemeClr val="bg1">
                      <a:lumMod val="50000"/>
                    </a:schemeClr>
                  </a:outerShdw>
                </a:effectLst>
                <a:latin typeface="Arial Black" pitchFamily="34" charset="0"/>
                <a:ea typeface="Verdana" pitchFamily="34" charset="0"/>
                <a:cs typeface="Verdan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9pPr>
          </a:lstStyle>
          <a:p>
            <a:r>
              <a:rPr lang="ru-RU" dirty="0" smtClean="0"/>
              <a:t>Потом вторая</a:t>
            </a:r>
            <a:endParaRPr lang="ru-RU" dirty="0"/>
          </a:p>
        </p:txBody>
      </p:sp>
      <p:sp>
        <p:nvSpPr>
          <p:cNvPr id="2" name="Развернутая стрелка 1"/>
          <p:cNvSpPr/>
          <p:nvPr/>
        </p:nvSpPr>
        <p:spPr>
          <a:xfrm rot="5400000">
            <a:off x="4406988" y="4493029"/>
            <a:ext cx="1984038" cy="576064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6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Разрешить разделение итогов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285" y="1590905"/>
            <a:ext cx="4571429" cy="36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08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251520" y="2411596"/>
            <a:ext cx="456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4752900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>
            <p:extLst/>
          </p:nvPr>
        </p:nvGraphicFramePr>
        <p:xfrm>
          <a:off x="243666" y="2846824"/>
          <a:ext cx="4570172" cy="115824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1285468843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2721138864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538249960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083569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639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</a:t>
                      </a:r>
                      <a:r>
                        <a:rPr lang="ru-RU" sz="14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x-none" sz="14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3.03.2018</a:t>
                      </a:r>
                      <a:endParaRPr lang="x-none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6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398734"/>
                  </a:ext>
                </a:extLst>
              </a:tr>
            </a:tbl>
          </a:graphicData>
        </a:graphic>
      </p:graphicFrame>
      <p:sp>
        <p:nvSpPr>
          <p:cNvPr id="11" name="Заголовок 5"/>
          <p:cNvSpPr txBox="1">
            <a:spLocks/>
          </p:cNvSpPr>
          <p:nvPr/>
        </p:nvSpPr>
        <p:spPr>
          <a:xfrm>
            <a:off x="188119" y="571977"/>
            <a:ext cx="8784000" cy="548798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ln>
                  <a:solidFill>
                    <a:schemeClr val="bg1"/>
                  </a:solidFill>
                </a:ln>
                <a:gradFill>
                  <a:gsLst>
                    <a:gs pos="55000">
                      <a:srgbClr val="F50516"/>
                    </a:gs>
                    <a:gs pos="86000">
                      <a:srgbClr val="C00000"/>
                    </a:gs>
                  </a:gsLst>
                  <a:lin ang="5400000" scaled="0"/>
                </a:gradFill>
                <a:effectLst>
                  <a:outerShdw blurRad="38100" dist="38100" dir="5400000" algn="ctr" rotWithShape="0">
                    <a:schemeClr val="bg1">
                      <a:lumMod val="50000"/>
                    </a:schemeClr>
                  </a:outerShdw>
                </a:effectLst>
                <a:latin typeface="Arial Black" pitchFamily="34" charset="0"/>
                <a:ea typeface="Verdana" pitchFamily="34" charset="0"/>
                <a:cs typeface="Verdan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9pPr>
          </a:lstStyle>
          <a:p>
            <a:r>
              <a:rPr lang="ru-RU" dirty="0" smtClean="0"/>
              <a:t>Две транзакции одновременно пытаются изменить одну запись в таблице итогов</a:t>
            </a:r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250646"/>
              </p:ext>
            </p:extLst>
          </p:nvPr>
        </p:nvGraphicFramePr>
        <p:xfrm>
          <a:off x="251520" y="5122232"/>
          <a:ext cx="4886925" cy="629920"/>
        </p:xfrm>
        <a:graphic>
          <a:graphicData uri="http://schemas.openxmlformats.org/drawingml/2006/table">
            <a:tbl>
              <a:tblPr/>
              <a:tblGrid>
                <a:gridCol w="998494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  <a:gridCol w="1584175">
                  <a:extLst>
                    <a:ext uri="{9D8B030D-6E8A-4147-A177-3AD203B41FA5}">
                      <a16:colId xmlns:a16="http://schemas.microsoft.com/office/drawing/2014/main" val="7148088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Разделитель</a:t>
                      </a:r>
                      <a:endParaRPr lang="x-none" sz="14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2910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69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251520" y="2411596"/>
            <a:ext cx="4562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движений Регистра Накопления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488" y="4752900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u="sng" dirty="0">
                <a:solidFill>
                  <a:srgbClr val="C00000"/>
                </a:solidFill>
              </a:rPr>
              <a:t>Таблица итогов Регистра Накопления</a:t>
            </a:r>
          </a:p>
        </p:txBody>
      </p:sp>
      <p:graphicFrame>
        <p:nvGraphicFramePr>
          <p:cNvPr id="16" name="Таблица 15"/>
          <p:cNvGraphicFramePr>
            <a:graphicFrameLocks noGrp="1"/>
          </p:cNvGraphicFramePr>
          <p:nvPr>
            <p:extLst/>
          </p:nvPr>
        </p:nvGraphicFramePr>
        <p:xfrm>
          <a:off x="243666" y="2846824"/>
          <a:ext cx="4570172" cy="1158240"/>
        </p:xfrm>
        <a:graphic>
          <a:graphicData uri="http://schemas.openxmlformats.org/drawingml/2006/table">
            <a:tbl>
              <a:tblPr/>
              <a:tblGrid>
                <a:gridCol w="1616659">
                  <a:extLst>
                    <a:ext uri="{9D8B030D-6E8A-4147-A177-3AD203B41FA5}">
                      <a16:colId xmlns:a16="http://schemas.microsoft.com/office/drawing/2014/main" val="1285468843"/>
                    </a:ext>
                  </a:extLst>
                </a:gridCol>
                <a:gridCol w="986638">
                  <a:extLst>
                    <a:ext uri="{9D8B030D-6E8A-4147-A177-3AD203B41FA5}">
                      <a16:colId xmlns:a16="http://schemas.microsoft.com/office/drawing/2014/main" val="2721138864"/>
                    </a:ext>
                  </a:extLst>
                </a:gridCol>
                <a:gridCol w="1304849">
                  <a:extLst>
                    <a:ext uri="{9D8B030D-6E8A-4147-A177-3AD203B41FA5}">
                      <a16:colId xmlns:a16="http://schemas.microsoft.com/office/drawing/2014/main" val="2538249960"/>
                    </a:ext>
                  </a:extLst>
                </a:gridCol>
                <a:gridCol w="662026">
                  <a:extLst>
                    <a:ext uri="{9D8B030D-6E8A-4147-A177-3AD203B41FA5}">
                      <a16:colId xmlns:a16="http://schemas.microsoft.com/office/drawing/2014/main" val="2083569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Регистратор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Вид движения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>
                          <a:effectLst/>
                          <a:latin typeface="Calibri" panose="020F0502020204030204" pitchFamily="34" charset="0"/>
                        </a:rPr>
                        <a:t>Кол-во</a:t>
                      </a:r>
                      <a:endParaRPr lang="ru-RU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5639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1 от </a:t>
                      </a:r>
                      <a:r>
                        <a:rPr lang="ru-RU" sz="14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x-none" sz="1400" dirty="0" smtClean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3.03.2018</a:t>
                      </a:r>
                      <a:endParaRPr lang="x-none" sz="14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6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ПН 2 от 13.03.2018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Приход</a:t>
                      </a:r>
                      <a:endParaRPr lang="x-none" sz="14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398734"/>
                  </a:ext>
                </a:extLst>
              </a:tr>
            </a:tbl>
          </a:graphicData>
        </a:graphic>
      </p:graphicFrame>
      <p:sp>
        <p:nvSpPr>
          <p:cNvPr id="11" name="Заголовок 5"/>
          <p:cNvSpPr txBox="1">
            <a:spLocks/>
          </p:cNvSpPr>
          <p:nvPr/>
        </p:nvSpPr>
        <p:spPr>
          <a:xfrm>
            <a:off x="188119" y="571977"/>
            <a:ext cx="8784000" cy="548798"/>
          </a:xfrm>
          <a:prstGeom prst="rect">
            <a:avLst/>
          </a:prstGeo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 b="1" kern="1200">
                <a:ln>
                  <a:solidFill>
                    <a:schemeClr val="bg1"/>
                  </a:solidFill>
                </a:ln>
                <a:gradFill>
                  <a:gsLst>
                    <a:gs pos="55000">
                      <a:srgbClr val="F50516"/>
                    </a:gs>
                    <a:gs pos="86000">
                      <a:srgbClr val="C00000"/>
                    </a:gs>
                  </a:gsLst>
                  <a:lin ang="5400000" scaled="0"/>
                </a:gradFill>
                <a:effectLst>
                  <a:outerShdw blurRad="38100" dist="38100" dir="5400000" algn="ctr" rotWithShape="0">
                    <a:schemeClr val="bg1">
                      <a:lumMod val="50000"/>
                    </a:schemeClr>
                  </a:outerShdw>
                </a:effectLst>
                <a:latin typeface="Arial Black" pitchFamily="34" charset="0"/>
                <a:ea typeface="Verdana" pitchFamily="34" charset="0"/>
                <a:cs typeface="Verdana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 Black" pitchFamily="34" charset="0"/>
                <a:ea typeface="Verdana" pitchFamily="34" charset="0"/>
                <a:cs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9pPr>
          </a:lstStyle>
          <a:p>
            <a:r>
              <a:rPr lang="ru-RU" dirty="0" smtClean="0"/>
              <a:t>Две транзакции одновременно пытаются изменить одну запись в таблице итогов</a:t>
            </a:r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251520" y="5122232"/>
          <a:ext cx="4886925" cy="944880"/>
        </p:xfrm>
        <a:graphic>
          <a:graphicData uri="http://schemas.openxmlformats.org/drawingml/2006/table">
            <a:tbl>
              <a:tblPr/>
              <a:tblGrid>
                <a:gridCol w="998494">
                  <a:extLst>
                    <a:ext uri="{9D8B030D-6E8A-4147-A177-3AD203B41FA5}">
                      <a16:colId xmlns:a16="http://schemas.microsoft.com/office/drawing/2014/main" val="86718751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3350694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331327189"/>
                    </a:ext>
                  </a:extLst>
                </a:gridCol>
                <a:gridCol w="1584175">
                  <a:extLst>
                    <a:ext uri="{9D8B030D-6E8A-4147-A177-3AD203B41FA5}">
                      <a16:colId xmlns:a16="http://schemas.microsoft.com/office/drawing/2014/main" val="7148088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Период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>
                          <a:effectLst/>
                          <a:latin typeface="Calibri" panose="020F0502020204030204" pitchFamily="34" charset="0"/>
                        </a:rPr>
                        <a:t>Номенклатура</a:t>
                      </a:r>
                      <a:endParaRPr lang="x-none" sz="14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b="1" dirty="0">
                          <a:effectLst/>
                          <a:latin typeface="Calibri" panose="020F0502020204030204" pitchFamily="34" charset="0"/>
                        </a:rPr>
                        <a:t>Количество</a:t>
                      </a:r>
                      <a:endParaRPr lang="x-none" sz="14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b="1" kern="1200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Разделитель</a:t>
                      </a:r>
                      <a:endParaRPr lang="x-none" sz="14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216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108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01.11.3999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x-none" sz="14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&lt;Яблоки&gt;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 smtClean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x-none" sz="14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2910203"/>
                  </a:ext>
                </a:extLst>
              </a:tr>
            </a:tbl>
          </a:graphicData>
        </a:graphic>
      </p:graphicFrame>
      <p:sp>
        <p:nvSpPr>
          <p:cNvPr id="8" name="Развернутая стрелка 7"/>
          <p:cNvSpPr/>
          <p:nvPr/>
        </p:nvSpPr>
        <p:spPr>
          <a:xfrm rot="5400000">
            <a:off x="4306414" y="4073335"/>
            <a:ext cx="2641168" cy="1346388"/>
          </a:xfrm>
          <a:prstGeom prst="uturnArrow">
            <a:avLst>
              <a:gd name="adj1" fmla="val 12765"/>
              <a:gd name="adj2" fmla="val 13005"/>
              <a:gd name="adj3" fmla="val 11710"/>
              <a:gd name="adj4" fmla="val 43750"/>
              <a:gd name="adj5" fmla="val 843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Развернутая стрелка 8"/>
          <p:cNvSpPr/>
          <p:nvPr/>
        </p:nvSpPr>
        <p:spPr>
          <a:xfrm rot="5400000">
            <a:off x="4304751" y="4366085"/>
            <a:ext cx="2021515" cy="723411"/>
          </a:xfrm>
          <a:prstGeom prst="uturnArrow">
            <a:avLst>
              <a:gd name="adj1" fmla="val 25275"/>
              <a:gd name="adj2" fmla="val 25000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78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056823"/>
          </a:xfrm>
        </p:spPr>
        <p:txBody>
          <a:bodyPr/>
          <a:lstStyle/>
          <a:p>
            <a:r>
              <a:rPr lang="ru-RU" dirty="0" smtClean="0"/>
              <a:t>Рассмотрим две одновременные транзакции реализаций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693132"/>
              </p:ext>
            </p:extLst>
          </p:nvPr>
        </p:nvGraphicFramePr>
        <p:xfrm>
          <a:off x="395536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411533"/>
              </p:ext>
            </p:extLst>
          </p:nvPr>
        </p:nvGraphicFramePr>
        <p:xfrm>
          <a:off x="5148064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9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559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Реализация 1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613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Реализация 2</a:t>
            </a:r>
            <a:endParaRPr lang="ru-RU" dirty="0">
              <a:solidFill>
                <a:srgbClr val="00B050"/>
              </a:solidFill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189252"/>
              </p:ext>
            </p:extLst>
          </p:nvPr>
        </p:nvGraphicFramePr>
        <p:xfrm>
          <a:off x="2490759" y="3685674"/>
          <a:ext cx="3304253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927987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  <a:gridCol w="1512170">
                  <a:extLst>
                    <a:ext uri="{9D8B030D-6E8A-4147-A177-3AD203B41FA5}">
                      <a16:colId xmlns:a16="http://schemas.microsoft.com/office/drawing/2014/main" val="1122426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Кол-во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Разделитель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59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34770" y="3234577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C00000"/>
                </a:solidFill>
              </a:rPr>
              <a:t>Остатки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29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624776"/>
          </a:xfrm>
        </p:spPr>
        <p:txBody>
          <a:bodyPr/>
          <a:lstStyle/>
          <a:p>
            <a:r>
              <a:rPr lang="ru-RU" dirty="0" smtClean="0"/>
              <a:t>Начало транзакции реализации 1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95536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681472"/>
              </p:ext>
            </p:extLst>
          </p:nvPr>
        </p:nvGraphicFramePr>
        <p:xfrm>
          <a:off x="5148064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9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559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Реализация 1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613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Реализация 2</a:t>
            </a:r>
            <a:endParaRPr lang="ru-RU" dirty="0">
              <a:solidFill>
                <a:srgbClr val="00B050"/>
              </a:solidFill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278748"/>
              </p:ext>
            </p:extLst>
          </p:nvPr>
        </p:nvGraphicFramePr>
        <p:xfrm>
          <a:off x="2491883" y="3736081"/>
          <a:ext cx="3304253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927987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  <a:gridCol w="1512170">
                  <a:extLst>
                    <a:ext uri="{9D8B030D-6E8A-4147-A177-3AD203B41FA5}">
                      <a16:colId xmlns:a16="http://schemas.microsoft.com/office/drawing/2014/main" val="1122426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Кол-во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Разделитель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-5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59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35894" y="328498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C00000"/>
                </a:solidFill>
              </a:rPr>
              <a:t>Остатки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9" name="Стрелка углом 8"/>
          <p:cNvSpPr/>
          <p:nvPr/>
        </p:nvSpPr>
        <p:spPr>
          <a:xfrm rot="10800000" flipH="1">
            <a:off x="827584" y="2924944"/>
            <a:ext cx="1440160" cy="1800200"/>
          </a:xfrm>
          <a:prstGeom prst="bentArrow">
            <a:avLst>
              <a:gd name="adj1" fmla="val 13080"/>
              <a:gd name="adj2" fmla="val 14783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69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1242999"/>
          </a:xfrm>
        </p:spPr>
        <p:txBody>
          <a:bodyPr/>
          <a:lstStyle/>
          <a:p>
            <a:r>
              <a:rPr lang="ru-RU" dirty="0" smtClean="0"/>
              <a:t>Начало транзакции реализации 2. Транзакция реализации 1 не закончена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95536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44379"/>
              </p:ext>
            </p:extLst>
          </p:nvPr>
        </p:nvGraphicFramePr>
        <p:xfrm>
          <a:off x="5148064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9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559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Реализация 1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613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Реализация 2</a:t>
            </a:r>
            <a:endParaRPr lang="ru-RU" dirty="0">
              <a:solidFill>
                <a:srgbClr val="00B050"/>
              </a:solidFill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96585"/>
              </p:ext>
            </p:extLst>
          </p:nvPr>
        </p:nvGraphicFramePr>
        <p:xfrm>
          <a:off x="2491883" y="3736081"/>
          <a:ext cx="3304253" cy="18542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927987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  <a:gridCol w="1512170">
                  <a:extLst>
                    <a:ext uri="{9D8B030D-6E8A-4147-A177-3AD203B41FA5}">
                      <a16:colId xmlns:a16="http://schemas.microsoft.com/office/drawing/2014/main" val="1122426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Кол-во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Разделитель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-5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59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-9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46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-10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94383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35894" y="328498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C00000"/>
                </a:solidFill>
              </a:rPr>
              <a:t>Остатки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9" name="Стрелка углом 8"/>
          <p:cNvSpPr/>
          <p:nvPr/>
        </p:nvSpPr>
        <p:spPr>
          <a:xfrm rot="10800000">
            <a:off x="6012160" y="3048400"/>
            <a:ext cx="1296144" cy="2324816"/>
          </a:xfrm>
          <a:prstGeom prst="bentArrow">
            <a:avLst>
              <a:gd name="adj1" fmla="val 13080"/>
              <a:gd name="adj2" fmla="val 14783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Стрелка углом 9"/>
          <p:cNvSpPr/>
          <p:nvPr/>
        </p:nvSpPr>
        <p:spPr>
          <a:xfrm rot="10800000" flipH="1">
            <a:off x="827584" y="2924944"/>
            <a:ext cx="1440160" cy="1800200"/>
          </a:xfrm>
          <a:prstGeom prst="bentArrow">
            <a:avLst>
              <a:gd name="adj1" fmla="val 13080"/>
              <a:gd name="adj2" fmla="val 14783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922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40800"/>
          </a:xfrm>
        </p:spPr>
        <p:txBody>
          <a:bodyPr/>
          <a:lstStyle/>
          <a:p>
            <a:r>
              <a:rPr lang="ru-RU" dirty="0" smtClean="0"/>
              <a:t>В транзакции реализация 1 и 2 одновременно читают остатки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95536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651107"/>
              </p:ext>
            </p:extLst>
          </p:nvPr>
        </p:nvGraphicFramePr>
        <p:xfrm>
          <a:off x="5148064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9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559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Реализация 1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613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Реализация 2</a:t>
            </a:r>
            <a:endParaRPr lang="ru-RU" dirty="0">
              <a:solidFill>
                <a:srgbClr val="00B050"/>
              </a:solidFill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491883" y="3736081"/>
          <a:ext cx="3304253" cy="18542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927987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  <a:gridCol w="1512170">
                  <a:extLst>
                    <a:ext uri="{9D8B030D-6E8A-4147-A177-3AD203B41FA5}">
                      <a16:colId xmlns:a16="http://schemas.microsoft.com/office/drawing/2014/main" val="1122426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Кол-во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Разделитель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-5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59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-9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46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-10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94383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35894" y="328498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C00000"/>
                </a:solidFill>
              </a:rPr>
              <a:t>Остатки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11" name="Стрелка углом 10"/>
          <p:cNvSpPr/>
          <p:nvPr/>
        </p:nvSpPr>
        <p:spPr>
          <a:xfrm rot="5400000">
            <a:off x="3275854" y="2387064"/>
            <a:ext cx="720080" cy="756084"/>
          </a:xfrm>
          <a:prstGeom prst="bentArrow">
            <a:avLst>
              <a:gd name="adj1" fmla="val 16242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Стрелка углом 11"/>
          <p:cNvSpPr/>
          <p:nvPr/>
        </p:nvSpPr>
        <p:spPr>
          <a:xfrm rot="5400000" flipV="1">
            <a:off x="4295524" y="2387539"/>
            <a:ext cx="720080" cy="755134"/>
          </a:xfrm>
          <a:prstGeom prst="bentArrow">
            <a:avLst>
              <a:gd name="adj1" fmla="val 16242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839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40800"/>
          </a:xfrm>
        </p:spPr>
        <p:txBody>
          <a:bodyPr/>
          <a:lstStyle/>
          <a:p>
            <a:r>
              <a:rPr lang="ru-RU" dirty="0" smtClean="0"/>
              <a:t>Взаимоблокировка!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95536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006883"/>
              </p:ext>
            </p:extLst>
          </p:nvPr>
        </p:nvGraphicFramePr>
        <p:xfrm>
          <a:off x="5148064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9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559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Реализация 1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613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Реализация 2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07704" y="3284984"/>
            <a:ext cx="48965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C00000"/>
                </a:solidFill>
              </a:rPr>
              <a:t>Если </a:t>
            </a:r>
            <a:r>
              <a:rPr lang="ru-RU" dirty="0" smtClean="0">
                <a:solidFill>
                  <a:srgbClr val="0070C0"/>
                </a:solidFill>
              </a:rPr>
              <a:t>текущая транзакция (реализация 1) </a:t>
            </a:r>
            <a:r>
              <a:rPr lang="ru-RU" dirty="0" smtClean="0">
                <a:solidFill>
                  <a:srgbClr val="C00000"/>
                </a:solidFill>
              </a:rPr>
              <a:t>видит, что данные, которые она изменила, </a:t>
            </a:r>
            <a:r>
              <a:rPr lang="ru-RU" dirty="0" smtClean="0">
                <a:solidFill>
                  <a:srgbClr val="00B050"/>
                </a:solidFill>
              </a:rPr>
              <a:t>читает другая транзакция (реализация 2)</a:t>
            </a:r>
            <a:r>
              <a:rPr lang="ru-RU" dirty="0" smtClean="0">
                <a:solidFill>
                  <a:srgbClr val="C00000"/>
                </a:solidFill>
              </a:rPr>
              <a:t>, то </a:t>
            </a:r>
            <a:r>
              <a:rPr lang="ru-RU" dirty="0" smtClean="0">
                <a:solidFill>
                  <a:srgbClr val="0070C0"/>
                </a:solidFill>
              </a:rPr>
              <a:t>текущая транзакция «ждёт» </a:t>
            </a:r>
            <a:r>
              <a:rPr lang="ru-RU" dirty="0" smtClean="0">
                <a:solidFill>
                  <a:srgbClr val="C00000"/>
                </a:solidFill>
              </a:rPr>
              <a:t>окончания чтения </a:t>
            </a:r>
            <a:r>
              <a:rPr lang="ru-RU" dirty="0" smtClean="0">
                <a:solidFill>
                  <a:srgbClr val="00B050"/>
                </a:solidFill>
              </a:rPr>
              <a:t>другой транзакцией.</a:t>
            </a:r>
          </a:p>
          <a:p>
            <a:r>
              <a:rPr lang="ru-RU" dirty="0" smtClean="0"/>
              <a:t>Так же поступает и другая транзакция.</a:t>
            </a:r>
            <a:endParaRPr lang="ru-RU" dirty="0"/>
          </a:p>
        </p:txBody>
      </p:sp>
      <p:sp>
        <p:nvSpPr>
          <p:cNvPr id="11" name="Стрелка углом 10"/>
          <p:cNvSpPr/>
          <p:nvPr/>
        </p:nvSpPr>
        <p:spPr>
          <a:xfrm rot="5400000">
            <a:off x="3275854" y="2387064"/>
            <a:ext cx="720080" cy="756084"/>
          </a:xfrm>
          <a:prstGeom prst="bentArrow">
            <a:avLst>
              <a:gd name="adj1" fmla="val 16242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Стрелка углом 11"/>
          <p:cNvSpPr/>
          <p:nvPr/>
        </p:nvSpPr>
        <p:spPr>
          <a:xfrm rot="5400000" flipV="1">
            <a:off x="4295524" y="2387539"/>
            <a:ext cx="720080" cy="755134"/>
          </a:xfrm>
          <a:prstGeom prst="bentArrow">
            <a:avLst>
              <a:gd name="adj1" fmla="val 16242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5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Надо отключить разделение итогов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Если отключить на уровне метаданных, то этот механизм не будет использоваться вообще.</a:t>
            </a:r>
          </a:p>
          <a:p>
            <a:r>
              <a:rPr lang="ru-RU" dirty="0" smtClean="0"/>
              <a:t>Отключаем программно на время текущей транзакции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1199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86499"/>
          </a:xfrm>
        </p:spPr>
        <p:txBody>
          <a:bodyPr/>
          <a:lstStyle/>
          <a:p>
            <a:r>
              <a:rPr lang="ru-RU" dirty="0" smtClean="0"/>
              <a:t>Проводим реализации 1 и 2 программно отключая разделитель.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95536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193460"/>
              </p:ext>
            </p:extLst>
          </p:nvPr>
        </p:nvGraphicFramePr>
        <p:xfrm>
          <a:off x="5148064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9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559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Реализация 1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613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Реализация 2</a:t>
            </a:r>
            <a:endParaRPr lang="ru-RU" dirty="0">
              <a:solidFill>
                <a:srgbClr val="00B050"/>
              </a:solidFill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628908"/>
              </p:ext>
            </p:extLst>
          </p:nvPr>
        </p:nvGraphicFramePr>
        <p:xfrm>
          <a:off x="2491883" y="3736081"/>
          <a:ext cx="3304253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927987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  <a:gridCol w="1512170">
                  <a:extLst>
                    <a:ext uri="{9D8B030D-6E8A-4147-A177-3AD203B41FA5}">
                      <a16:colId xmlns:a16="http://schemas.microsoft.com/office/drawing/2014/main" val="1122426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Кол-во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noStrike" dirty="0" smtClean="0"/>
                        <a:t>Разделитель</a:t>
                      </a:r>
                      <a:endParaRPr lang="ru-RU" b="0" strike="no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noStrike" dirty="0" smtClean="0"/>
                        <a:t>0</a:t>
                      </a:r>
                      <a:endParaRPr lang="ru-RU" strike="no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59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noStrike" dirty="0" smtClean="0"/>
                        <a:t>0</a:t>
                      </a:r>
                      <a:endParaRPr lang="ru-RU" strike="no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35894" y="328498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C00000"/>
                </a:solidFill>
              </a:rPr>
              <a:t>Остатки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714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86499"/>
          </a:xfrm>
        </p:spPr>
        <p:txBody>
          <a:bodyPr/>
          <a:lstStyle/>
          <a:p>
            <a:r>
              <a:rPr lang="ru-RU" dirty="0" smtClean="0"/>
              <a:t>Начало транзакции реализации 1.</a:t>
            </a:r>
            <a:br>
              <a:rPr lang="ru-RU" dirty="0" smtClean="0"/>
            </a:br>
            <a:r>
              <a:rPr lang="ru-RU" dirty="0" smtClean="0"/>
              <a:t>«Не видим» разделителя.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95536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877204"/>
              </p:ext>
            </p:extLst>
          </p:nvPr>
        </p:nvGraphicFramePr>
        <p:xfrm>
          <a:off x="5148064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9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559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Реализация 1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613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Реализация 2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35894" y="328498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C00000"/>
                </a:solidFill>
              </a:rPr>
              <a:t>Остатки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9" name="Стрелка углом 8"/>
          <p:cNvSpPr/>
          <p:nvPr/>
        </p:nvSpPr>
        <p:spPr>
          <a:xfrm rot="10800000" flipH="1">
            <a:off x="827584" y="2924944"/>
            <a:ext cx="1440160" cy="1800200"/>
          </a:xfrm>
          <a:prstGeom prst="bentArrow">
            <a:avLst>
              <a:gd name="adj1" fmla="val 13080"/>
              <a:gd name="adj2" fmla="val 14783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497774"/>
              </p:ext>
            </p:extLst>
          </p:nvPr>
        </p:nvGraphicFramePr>
        <p:xfrm>
          <a:off x="2491883" y="3736081"/>
          <a:ext cx="3304253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927987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  <a:gridCol w="1512170">
                  <a:extLst>
                    <a:ext uri="{9D8B030D-6E8A-4147-A177-3AD203B41FA5}">
                      <a16:colId xmlns:a16="http://schemas.microsoft.com/office/drawing/2014/main" val="1122426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Кол-во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 smtClean="0"/>
                        <a:t>Разделитель</a:t>
                      </a:r>
                      <a:endParaRPr lang="ru-RU" b="0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-5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 smtClean="0"/>
                        <a:t>0</a:t>
                      </a:r>
                      <a:endParaRPr lang="ru-RU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59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 smtClean="0"/>
                        <a:t>0</a:t>
                      </a:r>
                      <a:endParaRPr lang="ru-RU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4438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624776"/>
          </a:xfrm>
        </p:spPr>
        <p:txBody>
          <a:bodyPr/>
          <a:lstStyle/>
          <a:p>
            <a:r>
              <a:rPr lang="ru-RU" dirty="0" smtClean="0"/>
              <a:t>Начало транзакции реализации 2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95536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414009"/>
              </p:ext>
            </p:extLst>
          </p:nvPr>
        </p:nvGraphicFramePr>
        <p:xfrm>
          <a:off x="5148064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9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559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Реализация 1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613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Реализация 2</a:t>
            </a:r>
            <a:endParaRPr lang="ru-RU" dirty="0">
              <a:solidFill>
                <a:srgbClr val="00B050"/>
              </a:solidFill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405858"/>
              </p:ext>
            </p:extLst>
          </p:nvPr>
        </p:nvGraphicFramePr>
        <p:xfrm>
          <a:off x="2491883" y="3736081"/>
          <a:ext cx="3304253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927987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  <a:gridCol w="1512170">
                  <a:extLst>
                    <a:ext uri="{9D8B030D-6E8A-4147-A177-3AD203B41FA5}">
                      <a16:colId xmlns:a16="http://schemas.microsoft.com/office/drawing/2014/main" val="1122426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Кол-во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 smtClean="0"/>
                        <a:t>Разделитель</a:t>
                      </a:r>
                      <a:endParaRPr lang="ru-RU" b="0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-5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 smtClean="0"/>
                        <a:t>0</a:t>
                      </a:r>
                      <a:endParaRPr lang="ru-RU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59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 smtClean="0"/>
                        <a:t>0</a:t>
                      </a:r>
                      <a:endParaRPr lang="ru-RU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35894" y="328498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C00000"/>
                </a:solidFill>
              </a:rPr>
              <a:t>Остатки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9" name="Стрелка углом 8"/>
          <p:cNvSpPr/>
          <p:nvPr/>
        </p:nvSpPr>
        <p:spPr>
          <a:xfrm rot="10800000" flipH="1">
            <a:off x="827584" y="2924944"/>
            <a:ext cx="1440160" cy="1800200"/>
          </a:xfrm>
          <a:prstGeom prst="bentArrow">
            <a:avLst>
              <a:gd name="adj1" fmla="val 13080"/>
              <a:gd name="adj2" fmla="val 14783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20275" y="3054151"/>
            <a:ext cx="29518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Эта транзакция не может изменить остатки. Они «захвачены» для изменения реализацией 1. Встаем в очередь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314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624776"/>
          </a:xfrm>
        </p:spPr>
        <p:txBody>
          <a:bodyPr/>
          <a:lstStyle/>
          <a:p>
            <a:r>
              <a:rPr lang="ru-RU" dirty="0" smtClean="0"/>
              <a:t>Чтение реализации 1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95536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781694"/>
              </p:ext>
            </p:extLst>
          </p:nvPr>
        </p:nvGraphicFramePr>
        <p:xfrm>
          <a:off x="5148064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9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559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Реализация 1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613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Реализация 2</a:t>
            </a:r>
            <a:endParaRPr lang="ru-RU" dirty="0">
              <a:solidFill>
                <a:srgbClr val="00B050"/>
              </a:solidFill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491883" y="3736081"/>
          <a:ext cx="3304253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927987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  <a:gridCol w="1512170">
                  <a:extLst>
                    <a:ext uri="{9D8B030D-6E8A-4147-A177-3AD203B41FA5}">
                      <a16:colId xmlns:a16="http://schemas.microsoft.com/office/drawing/2014/main" val="1122426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Кол-во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 smtClean="0"/>
                        <a:t>Разделитель</a:t>
                      </a:r>
                      <a:endParaRPr lang="ru-RU" b="0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-5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 smtClean="0"/>
                        <a:t>0</a:t>
                      </a:r>
                      <a:endParaRPr lang="ru-RU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59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 smtClean="0"/>
                        <a:t>0</a:t>
                      </a:r>
                      <a:endParaRPr lang="ru-RU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35894" y="328498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C00000"/>
                </a:solidFill>
              </a:rPr>
              <a:t>Остатки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11" name="Стрелка углом 10"/>
          <p:cNvSpPr/>
          <p:nvPr/>
        </p:nvSpPr>
        <p:spPr>
          <a:xfrm rot="5400000">
            <a:off x="3275854" y="2387064"/>
            <a:ext cx="720080" cy="756084"/>
          </a:xfrm>
          <a:prstGeom prst="bentArrow">
            <a:avLst>
              <a:gd name="adj1" fmla="val 16242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20275" y="3054151"/>
            <a:ext cx="29518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Эта транзакция не может изменить остатки. Они «захвачены» для изменения реализацией 1. Встаем в очередь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0940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624776"/>
          </a:xfrm>
        </p:spPr>
        <p:txBody>
          <a:bodyPr/>
          <a:lstStyle/>
          <a:p>
            <a:r>
              <a:rPr lang="ru-RU" dirty="0" smtClean="0"/>
              <a:t>Откат транзакции реализации 1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95536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212366"/>
              </p:ext>
            </p:extLst>
          </p:nvPr>
        </p:nvGraphicFramePr>
        <p:xfrm>
          <a:off x="5148064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9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559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Реализация 1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613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Реализация 2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35894" y="328498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C00000"/>
                </a:solidFill>
              </a:rPr>
              <a:t>Остатки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20275" y="3054151"/>
            <a:ext cx="29518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Эта транзакция не может изменить остатки. Они «захвачены» для изменения реализацией 1. Встаем в очередь</a:t>
            </a:r>
            <a:endParaRPr lang="ru-RU" dirty="0"/>
          </a:p>
        </p:txBody>
      </p:sp>
      <p:sp>
        <p:nvSpPr>
          <p:cNvPr id="13" name="Стрелка углом 12"/>
          <p:cNvSpPr/>
          <p:nvPr/>
        </p:nvSpPr>
        <p:spPr>
          <a:xfrm rot="16200000">
            <a:off x="935596" y="3199331"/>
            <a:ext cx="1224136" cy="1440160"/>
          </a:xfrm>
          <a:prstGeom prst="bentArrow">
            <a:avLst>
              <a:gd name="adj1" fmla="val 13080"/>
              <a:gd name="adj2" fmla="val 14783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049410"/>
              </p:ext>
            </p:extLst>
          </p:nvPr>
        </p:nvGraphicFramePr>
        <p:xfrm>
          <a:off x="2491883" y="3736081"/>
          <a:ext cx="3304253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927987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  <a:gridCol w="1512170">
                  <a:extLst>
                    <a:ext uri="{9D8B030D-6E8A-4147-A177-3AD203B41FA5}">
                      <a16:colId xmlns:a16="http://schemas.microsoft.com/office/drawing/2014/main" val="1122426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Кол-во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noStrike" dirty="0" smtClean="0"/>
                        <a:t>Разделитель</a:t>
                      </a:r>
                      <a:endParaRPr lang="ru-RU" b="0" strike="no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noStrike" dirty="0" smtClean="0"/>
                        <a:t>0</a:t>
                      </a:r>
                      <a:endParaRPr lang="ru-RU" strike="no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59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noStrike" dirty="0" smtClean="0"/>
                        <a:t>0</a:t>
                      </a:r>
                      <a:endParaRPr lang="ru-RU" strike="no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143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6"/>
            <a:ext cx="8784000" cy="986499"/>
          </a:xfrm>
        </p:spPr>
        <p:txBody>
          <a:bodyPr/>
          <a:lstStyle/>
          <a:p>
            <a:r>
              <a:rPr lang="ru-RU" dirty="0" smtClean="0"/>
              <a:t>Начало транзакции реализации 2. </a:t>
            </a:r>
            <a:r>
              <a:rPr lang="ru-RU" dirty="0"/>
              <a:t>«Не видим» разделителя.</a:t>
            </a:r>
            <a:r>
              <a:rPr lang="ru-RU" dirty="0" smtClean="0"/>
              <a:t> 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95536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40349"/>
              </p:ext>
            </p:extLst>
          </p:nvPr>
        </p:nvGraphicFramePr>
        <p:xfrm>
          <a:off x="5148064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9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559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Реализация 1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613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Реализация 2</a:t>
            </a:r>
            <a:endParaRPr lang="ru-RU" dirty="0">
              <a:solidFill>
                <a:srgbClr val="00B050"/>
              </a:solidFill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372064"/>
              </p:ext>
            </p:extLst>
          </p:nvPr>
        </p:nvGraphicFramePr>
        <p:xfrm>
          <a:off x="2491883" y="3736081"/>
          <a:ext cx="3304253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927987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  <a:gridCol w="1512170">
                  <a:extLst>
                    <a:ext uri="{9D8B030D-6E8A-4147-A177-3AD203B41FA5}">
                      <a16:colId xmlns:a16="http://schemas.microsoft.com/office/drawing/2014/main" val="1122426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Кол-во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 smtClean="0"/>
                        <a:t>Разделитель</a:t>
                      </a:r>
                      <a:endParaRPr lang="ru-RU" b="0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 smtClean="0"/>
                        <a:t>0</a:t>
                      </a:r>
                      <a:endParaRPr lang="ru-RU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59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 smtClean="0"/>
                        <a:t>0</a:t>
                      </a:r>
                      <a:endParaRPr lang="ru-RU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35894" y="328498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C00000"/>
                </a:solidFill>
              </a:rPr>
              <a:t>Остатки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9" name="Стрелка углом 8"/>
          <p:cNvSpPr/>
          <p:nvPr/>
        </p:nvSpPr>
        <p:spPr>
          <a:xfrm rot="10800000">
            <a:off x="6012160" y="3048400"/>
            <a:ext cx="1296144" cy="1532728"/>
          </a:xfrm>
          <a:prstGeom prst="bentArrow">
            <a:avLst>
              <a:gd name="adj1" fmla="val 13080"/>
              <a:gd name="adj2" fmla="val 14783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39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40800"/>
          </a:xfrm>
        </p:spPr>
        <p:txBody>
          <a:bodyPr/>
          <a:lstStyle/>
          <a:p>
            <a:r>
              <a:rPr lang="ru-RU" dirty="0"/>
              <a:t>Чтение реализации </a:t>
            </a:r>
            <a:r>
              <a:rPr lang="ru-RU" dirty="0" smtClean="0"/>
              <a:t>2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95536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455841"/>
              </p:ext>
            </p:extLst>
          </p:nvPr>
        </p:nvGraphicFramePr>
        <p:xfrm>
          <a:off x="5148064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9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559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Реализация 1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613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Реализация 2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35894" y="328498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C00000"/>
                </a:solidFill>
              </a:rPr>
              <a:t>Остатки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12" name="Стрелка углом 11"/>
          <p:cNvSpPr/>
          <p:nvPr/>
        </p:nvSpPr>
        <p:spPr>
          <a:xfrm rot="5400000" flipV="1">
            <a:off x="4295524" y="2387539"/>
            <a:ext cx="720080" cy="755134"/>
          </a:xfrm>
          <a:prstGeom prst="bentArrow">
            <a:avLst>
              <a:gd name="adj1" fmla="val 16242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234457"/>
              </p:ext>
            </p:extLst>
          </p:nvPr>
        </p:nvGraphicFramePr>
        <p:xfrm>
          <a:off x="2491883" y="3736081"/>
          <a:ext cx="3304253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927987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  <a:gridCol w="1512170">
                  <a:extLst>
                    <a:ext uri="{9D8B030D-6E8A-4147-A177-3AD203B41FA5}">
                      <a16:colId xmlns:a16="http://schemas.microsoft.com/office/drawing/2014/main" val="1122426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Кол-во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 smtClean="0"/>
                        <a:t>Разделитель</a:t>
                      </a:r>
                      <a:endParaRPr lang="ru-RU" b="0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 smtClean="0"/>
                        <a:t>0</a:t>
                      </a:r>
                      <a:endParaRPr lang="ru-RU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59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sngStrike" dirty="0" smtClean="0"/>
                        <a:t>0</a:t>
                      </a:r>
                      <a:endParaRPr lang="ru-RU" strike="sng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638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119" y="571977"/>
            <a:ext cx="8784000" cy="840800"/>
          </a:xfrm>
        </p:spPr>
        <p:txBody>
          <a:bodyPr/>
          <a:lstStyle/>
          <a:p>
            <a:r>
              <a:rPr lang="ru-RU" dirty="0" smtClean="0"/>
              <a:t>Фиксация транзакции </a:t>
            </a:r>
            <a:r>
              <a:rPr lang="ru-RU" dirty="0"/>
              <a:t>реализации </a:t>
            </a:r>
            <a:r>
              <a:rPr lang="ru-RU" dirty="0" smtClean="0"/>
              <a:t>2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395536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15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711755"/>
              </p:ext>
            </p:extLst>
          </p:nvPr>
        </p:nvGraphicFramePr>
        <p:xfrm>
          <a:off x="5148064" y="2060848"/>
          <a:ext cx="273630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 smtClean="0"/>
                        <a:t>Яблоки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0" dirty="0" smtClean="0"/>
                        <a:t>9</a:t>
                      </a:r>
                      <a:endParaRPr lang="ru-RU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559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70C0"/>
                </a:solidFill>
              </a:rPr>
              <a:t>Реализация 1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96136" y="16249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</a:rPr>
              <a:t>Реализация 2</a:t>
            </a:r>
            <a:endParaRPr lang="ru-RU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35894" y="328498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C00000"/>
                </a:solidFill>
              </a:rPr>
              <a:t>Остатки</a:t>
            </a:r>
            <a:endParaRPr lang="ru-RU" dirty="0">
              <a:solidFill>
                <a:srgbClr val="C00000"/>
              </a:solidFill>
            </a:endParaRP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273808"/>
              </p:ext>
            </p:extLst>
          </p:nvPr>
        </p:nvGraphicFramePr>
        <p:xfrm>
          <a:off x="2491883" y="3736081"/>
          <a:ext cx="3304253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927987">
                  <a:extLst>
                    <a:ext uri="{9D8B030D-6E8A-4147-A177-3AD203B41FA5}">
                      <a16:colId xmlns:a16="http://schemas.microsoft.com/office/drawing/2014/main" val="172998305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927102332"/>
                    </a:ext>
                  </a:extLst>
                </a:gridCol>
                <a:gridCol w="1512170">
                  <a:extLst>
                    <a:ext uri="{9D8B030D-6E8A-4147-A177-3AD203B41FA5}">
                      <a16:colId xmlns:a16="http://schemas.microsoft.com/office/drawing/2014/main" val="11224260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Товар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Кол-во</a:t>
                      </a:r>
                      <a:endParaRPr lang="ru-R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noStrike" dirty="0" smtClean="0"/>
                        <a:t>Разделитель</a:t>
                      </a:r>
                      <a:endParaRPr lang="ru-RU" b="0" strike="no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7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noStrike" dirty="0" smtClean="0"/>
                        <a:t>0</a:t>
                      </a:r>
                      <a:endParaRPr lang="ru-RU" strike="no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596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Груши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trike="noStrike" dirty="0" smtClean="0"/>
                        <a:t>0</a:t>
                      </a:r>
                      <a:endParaRPr lang="ru-RU" strike="noStrik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583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853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Последовательности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Средство найти ошибки «путешествий во времени» </a:t>
            </a:r>
            <a:r>
              <a:rPr lang="ru-RU" dirty="0">
                <a:sym typeface="Wingdings" panose="05000000000000000000" pitchFamily="2" charset="2"/>
              </a:rPr>
              <a:t>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6857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каком регистре проблемы?</a:t>
            </a:r>
          </a:p>
          <a:p>
            <a:r>
              <a:rPr lang="ru-RU" dirty="0"/>
              <a:t>Какой документ «проблемный»?</a:t>
            </a:r>
          </a:p>
          <a:p>
            <a:r>
              <a:rPr lang="ru-RU" dirty="0"/>
              <a:t>Какие документы </a:t>
            </a:r>
            <a:r>
              <a:rPr lang="ru-RU" dirty="0" err="1"/>
              <a:t>перепроводить</a:t>
            </a:r>
            <a:r>
              <a:rPr lang="ru-RU" dirty="0"/>
              <a:t>?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чём проблема?</a:t>
            </a:r>
          </a:p>
        </p:txBody>
      </p:sp>
    </p:spTree>
    <p:extLst>
      <p:ext uri="{BB962C8B-B14F-4D97-AF65-F5344CB8AC3E}">
        <p14:creationId xmlns:p14="http://schemas.microsoft.com/office/powerpoint/2010/main" val="425774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Отслеживает записи в таблицу движений регистра</a:t>
            </a:r>
          </a:p>
          <a:p>
            <a:r>
              <a:rPr lang="ru-RU" dirty="0"/>
              <a:t>Знает точку во времени возникновения проблемы;</a:t>
            </a:r>
          </a:p>
          <a:p>
            <a:r>
              <a:rPr lang="ru-RU" dirty="0"/>
              <a:t>Знает, какие документы надо </a:t>
            </a:r>
            <a:r>
              <a:rPr lang="ru-RU" dirty="0" err="1"/>
              <a:t>перепровести</a:t>
            </a:r>
            <a:r>
              <a:rPr lang="ru-RU" dirty="0"/>
              <a:t> для решения проблемы;</a:t>
            </a:r>
          </a:p>
          <a:p>
            <a:r>
              <a:rPr lang="ru-RU" dirty="0"/>
              <a:t>Содержит две таблицы:</a:t>
            </a:r>
          </a:p>
          <a:p>
            <a:pPr lvl="1"/>
            <a:r>
              <a:rPr lang="ru-RU" dirty="0"/>
              <a:t>Таблицу границы последовательности (информация о последнем, правильно проведенном документе);</a:t>
            </a:r>
          </a:p>
          <a:p>
            <a:pPr lvl="1"/>
            <a:r>
              <a:rPr lang="ru-RU" dirty="0"/>
              <a:t>Таблицу документов входящих в последовательность (информация о документах, которые надо </a:t>
            </a:r>
            <a:r>
              <a:rPr lang="ru-RU" dirty="0" err="1"/>
              <a:t>перепроводить</a:t>
            </a:r>
            <a:r>
              <a:rPr lang="ru-RU" dirty="0"/>
              <a:t>)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делает </a:t>
            </a:r>
            <a:r>
              <a:rPr lang="ru-RU" b="1" dirty="0"/>
              <a:t>последовательность</a:t>
            </a:r>
          </a:p>
        </p:txBody>
      </p:sp>
    </p:spTree>
    <p:extLst>
      <p:ext uri="{BB962C8B-B14F-4D97-AF65-F5344CB8AC3E}">
        <p14:creationId xmlns:p14="http://schemas.microsoft.com/office/powerpoint/2010/main" val="2309830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7299410"/>
              </p:ext>
            </p:extLst>
          </p:nvPr>
        </p:nvGraphicFramePr>
        <p:xfrm>
          <a:off x="185738" y="1268413"/>
          <a:ext cx="8783636" cy="741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88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Регистратор</a:t>
                      </a:r>
                    </a:p>
                  </a:txBody>
                  <a:tcPr marL="101839" marR="101839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Номенклатура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Приращение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Текущий остаток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Проведение документов в нормальной последовательности по регистру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628650" y="5375536"/>
          <a:ext cx="1800000" cy="288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7030A0"/>
                      </a:solidFill>
                      <a:prstDash val="solid"/>
                    </a:lnL>
                    <a:lnR w="12700" cmpd="sng">
                      <a:solidFill>
                        <a:srgbClr val="7030A0"/>
                      </a:solidFill>
                      <a:prstDash val="solid"/>
                    </a:lnR>
                    <a:lnT w="12700" cmpd="sng">
                      <a:solidFill>
                        <a:srgbClr val="7030A0"/>
                      </a:solidFill>
                      <a:prstDash val="solid"/>
                    </a:lnT>
                    <a:lnB w="12700" cmpd="sng">
                      <a:solidFill>
                        <a:srgbClr val="7030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0845" y="5067759"/>
            <a:ext cx="316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границы последовательности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3697" y="5067759"/>
            <a:ext cx="429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документов входящих в последовательность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4461832" y="5375536"/>
          <a:ext cx="180000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131765" y="4505900"/>
            <a:ext cx="3635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Таблицы ПОСЛЕДОВАТЕЛЬНОСТИ</a:t>
            </a: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07783" y="4875232"/>
            <a:ext cx="8362491" cy="1250146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93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3" grpId="0"/>
      <p:bldP spid="9" grpId="0" animBg="1"/>
      <p:bldP spid="9" grpId="1" animBg="1"/>
      <p:bldP spid="9" grpId="2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2334412"/>
              </p:ext>
            </p:extLst>
          </p:nvPr>
        </p:nvGraphicFramePr>
        <p:xfrm>
          <a:off x="185738" y="1268413"/>
          <a:ext cx="8783636" cy="10464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88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Регистратор</a:t>
                      </a:r>
                    </a:p>
                  </a:txBody>
                  <a:tcPr marL="101839" marR="101839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Номенклатура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Приращение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Текущий остаток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1 от 08.03.2015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Проведение документов в нормальной последовательности по регистру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628650" y="5375536"/>
          <a:ext cx="1800000" cy="288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7030A0"/>
                      </a:solidFill>
                      <a:prstDash val="solid"/>
                    </a:lnL>
                    <a:lnR w="12700" cmpd="sng">
                      <a:solidFill>
                        <a:srgbClr val="7030A0"/>
                      </a:solidFill>
                      <a:prstDash val="solid"/>
                    </a:lnR>
                    <a:lnT w="12700" cmpd="sng">
                      <a:solidFill>
                        <a:srgbClr val="7030A0"/>
                      </a:solidFill>
                      <a:prstDash val="solid"/>
                    </a:lnT>
                    <a:lnB w="12700" cmpd="sng">
                      <a:solidFill>
                        <a:srgbClr val="7030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0845" y="5067759"/>
            <a:ext cx="316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границы последовательности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3697" y="5067759"/>
            <a:ext cx="429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документов входящих в последовательность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4461832" y="5375536"/>
          <a:ext cx="179575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56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9156939"/>
              </p:ext>
            </p:extLst>
          </p:nvPr>
        </p:nvGraphicFramePr>
        <p:xfrm>
          <a:off x="185738" y="1268413"/>
          <a:ext cx="8783636" cy="13512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88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Регистратор</a:t>
                      </a:r>
                    </a:p>
                  </a:txBody>
                  <a:tcPr marL="101839" marR="101839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Номенклатура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Приращение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Текущий остаток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1 от 08.03.2015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Проведение документов в нормальной последовательности по регистру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628650" y="5375536"/>
          <a:ext cx="1800000" cy="288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>
                    <a:lnL w="12700" cmpd="sng">
                      <a:solidFill>
                        <a:srgbClr val="7030A0"/>
                      </a:solidFill>
                      <a:prstDash val="solid"/>
                    </a:lnL>
                    <a:lnR w="12700" cmpd="sng">
                      <a:solidFill>
                        <a:srgbClr val="7030A0"/>
                      </a:solidFill>
                      <a:prstDash val="solid"/>
                    </a:lnR>
                    <a:lnT w="12700" cmpd="sng">
                      <a:solidFill>
                        <a:srgbClr val="7030A0"/>
                      </a:solidFill>
                      <a:prstDash val="solid"/>
                    </a:lnT>
                    <a:lnB w="12700" cmpd="sng">
                      <a:solidFill>
                        <a:srgbClr val="7030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0845" y="5067759"/>
            <a:ext cx="316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границы последовательности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3697" y="5067759"/>
            <a:ext cx="429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документов входящих в последовательность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4461832" y="5375536"/>
          <a:ext cx="179575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943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0886835"/>
              </p:ext>
            </p:extLst>
          </p:nvPr>
        </p:nvGraphicFramePr>
        <p:xfrm>
          <a:off x="185738" y="1268413"/>
          <a:ext cx="8783636" cy="1656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88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Регистратор</a:t>
                      </a:r>
                    </a:p>
                  </a:txBody>
                  <a:tcPr marL="101839" marR="101839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Номенклатура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Приращение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Текущий остаток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1 от 08.03.2015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2 от 11.03.2015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Проведение документов в нормальной последовательности по регистру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628650" y="5375536"/>
          <a:ext cx="1800000" cy="288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>
                    <a:lnL w="12700" cmpd="sng">
                      <a:solidFill>
                        <a:srgbClr val="7030A0"/>
                      </a:solidFill>
                      <a:prstDash val="solid"/>
                    </a:lnL>
                    <a:lnR w="12700" cmpd="sng">
                      <a:solidFill>
                        <a:srgbClr val="7030A0"/>
                      </a:solidFill>
                      <a:prstDash val="solid"/>
                    </a:lnR>
                    <a:lnT w="12700" cmpd="sng">
                      <a:solidFill>
                        <a:srgbClr val="7030A0"/>
                      </a:solidFill>
                      <a:prstDash val="solid"/>
                    </a:lnT>
                    <a:lnB w="12700" cmpd="sng">
                      <a:solidFill>
                        <a:srgbClr val="7030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0845" y="5067759"/>
            <a:ext cx="316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границы последовательности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3697" y="5067759"/>
            <a:ext cx="429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документов входящих в последовательность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4461832" y="5375536"/>
          <a:ext cx="1795750" cy="28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592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9345189"/>
              </p:ext>
            </p:extLst>
          </p:nvPr>
        </p:nvGraphicFramePr>
        <p:xfrm>
          <a:off x="185738" y="1268413"/>
          <a:ext cx="8783636" cy="19608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88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Регистратор</a:t>
                      </a:r>
                    </a:p>
                  </a:txBody>
                  <a:tcPr marL="101839" marR="101839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Номенклатура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Приращение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Текущий остаток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1 от 08.03.2015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2 от 11.03.2015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Проведение документов в нормальной последовательности по регистру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628650" y="5375536"/>
          <a:ext cx="1800000" cy="288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>
                    <a:lnL w="12700" cmpd="sng">
                      <a:solidFill>
                        <a:srgbClr val="7030A0"/>
                      </a:solidFill>
                      <a:prstDash val="solid"/>
                    </a:lnL>
                    <a:lnR w="12700" cmpd="sng">
                      <a:solidFill>
                        <a:srgbClr val="7030A0"/>
                      </a:solidFill>
                      <a:prstDash val="solid"/>
                    </a:lnR>
                    <a:lnT w="12700" cmpd="sng">
                      <a:solidFill>
                        <a:srgbClr val="7030A0"/>
                      </a:solidFill>
                      <a:prstDash val="solid"/>
                    </a:lnT>
                    <a:lnB w="12700" cmpd="sng">
                      <a:solidFill>
                        <a:srgbClr val="7030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0845" y="5067759"/>
            <a:ext cx="316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границы последовательности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3697" y="5067759"/>
            <a:ext cx="429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документов входящих в последовательность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4461832" y="5375536"/>
          <a:ext cx="179575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703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6632539"/>
              </p:ext>
            </p:extLst>
          </p:nvPr>
        </p:nvGraphicFramePr>
        <p:xfrm>
          <a:off x="185738" y="1268413"/>
          <a:ext cx="8783636" cy="22656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88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Регистратор</a:t>
                      </a:r>
                    </a:p>
                  </a:txBody>
                  <a:tcPr marL="101839" marR="101839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Номенклатура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Приращение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Текущий остаток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1 от 08.03.2015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2 от 11.03.2015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3 от 13.03.2015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Проведение документов в нормальной последовательности по регистру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628650" y="5375536"/>
          <a:ext cx="1800000" cy="288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>
                    <a:lnL w="12700" cmpd="sng">
                      <a:solidFill>
                        <a:srgbClr val="7030A0"/>
                      </a:solidFill>
                      <a:prstDash val="solid"/>
                    </a:lnL>
                    <a:lnR w="12700" cmpd="sng">
                      <a:solidFill>
                        <a:srgbClr val="7030A0"/>
                      </a:solidFill>
                      <a:prstDash val="solid"/>
                    </a:lnR>
                    <a:lnT w="12700" cmpd="sng">
                      <a:solidFill>
                        <a:srgbClr val="7030A0"/>
                      </a:solidFill>
                      <a:prstDash val="solid"/>
                    </a:lnT>
                    <a:lnB w="12700" cmpd="sng">
                      <a:solidFill>
                        <a:srgbClr val="7030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0845" y="5067759"/>
            <a:ext cx="316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границы последовательности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3697" y="5067759"/>
            <a:ext cx="429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документов входящих в последовательность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4461832" y="5375536"/>
          <a:ext cx="179575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144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0321101"/>
              </p:ext>
            </p:extLst>
          </p:nvPr>
        </p:nvGraphicFramePr>
        <p:xfrm>
          <a:off x="185738" y="1268413"/>
          <a:ext cx="8783636" cy="25704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88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Регистратор</a:t>
                      </a:r>
                    </a:p>
                  </a:txBody>
                  <a:tcPr marL="101839" marR="101839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Номенклатура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Приращение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Текущий остаток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1 от 08.03.2015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2 от 11.03.2015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3 от 13.03.2015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4 от 14.03.2015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Проведение документов в нормальной последовательности по регистру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628650" y="5375536"/>
          <a:ext cx="1800000" cy="288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>
                    <a:lnL w="12700" cmpd="sng">
                      <a:solidFill>
                        <a:srgbClr val="7030A0"/>
                      </a:solidFill>
                      <a:prstDash val="solid"/>
                    </a:lnL>
                    <a:lnR w="12700" cmpd="sng">
                      <a:solidFill>
                        <a:srgbClr val="7030A0"/>
                      </a:solidFill>
                      <a:prstDash val="solid"/>
                    </a:lnR>
                    <a:lnT w="12700" cmpd="sng">
                      <a:solidFill>
                        <a:srgbClr val="7030A0"/>
                      </a:solidFill>
                      <a:prstDash val="solid"/>
                    </a:lnT>
                    <a:lnB w="12700" cmpd="sng">
                      <a:solidFill>
                        <a:srgbClr val="7030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0845" y="5067759"/>
            <a:ext cx="316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границы последовательности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3697" y="5067759"/>
            <a:ext cx="429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документов входящих в последовательность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4461832" y="5375536"/>
          <a:ext cx="1795750" cy="57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507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5142597"/>
              </p:ext>
            </p:extLst>
          </p:nvPr>
        </p:nvGraphicFramePr>
        <p:xfrm>
          <a:off x="185738" y="1268413"/>
          <a:ext cx="8783636" cy="28752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88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Регистратор</a:t>
                      </a:r>
                    </a:p>
                  </a:txBody>
                  <a:tcPr marL="101839" marR="101839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Номенклатура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Приращение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Текущий остаток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1 от 08.03.2015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2 от 11.03.2015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3 от 13.03.2015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4 от 14.03.2015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3 от 15.03.2015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Проведение документов в нормальной последовательности по регистру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286948"/>
              </p:ext>
            </p:extLst>
          </p:nvPr>
        </p:nvGraphicFramePr>
        <p:xfrm>
          <a:off x="628650" y="5104929"/>
          <a:ext cx="1800000" cy="288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3 от 15.03.2015</a:t>
                      </a:r>
                    </a:p>
                  </a:txBody>
                  <a:tcPr>
                    <a:lnL w="12700" cmpd="sng">
                      <a:solidFill>
                        <a:srgbClr val="7030A0"/>
                      </a:solidFill>
                      <a:prstDash val="solid"/>
                    </a:lnL>
                    <a:lnR w="12700" cmpd="sng">
                      <a:solidFill>
                        <a:srgbClr val="7030A0"/>
                      </a:solidFill>
                      <a:prstDash val="solid"/>
                    </a:lnR>
                    <a:lnT w="12700" cmpd="sng">
                      <a:solidFill>
                        <a:srgbClr val="7030A0"/>
                      </a:solidFill>
                      <a:prstDash val="solid"/>
                    </a:lnT>
                    <a:lnB w="12700" cmpd="sng">
                      <a:solidFill>
                        <a:srgbClr val="7030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0845" y="4797152"/>
            <a:ext cx="316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границы последовательности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3697" y="4797152"/>
            <a:ext cx="429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документов входящих в последовательность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034724"/>
              </p:ext>
            </p:extLst>
          </p:nvPr>
        </p:nvGraphicFramePr>
        <p:xfrm>
          <a:off x="4461832" y="5104929"/>
          <a:ext cx="1795750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3 от 15.03.2015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578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0339395"/>
              </p:ext>
            </p:extLst>
          </p:nvPr>
        </p:nvGraphicFramePr>
        <p:xfrm>
          <a:off x="185738" y="1268413"/>
          <a:ext cx="8783636" cy="318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88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Регистратор</a:t>
                      </a:r>
                    </a:p>
                  </a:txBody>
                  <a:tcPr marL="101839" marR="101839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Номенклатура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Приращение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Текущий остаток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1 от 08.03.2015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2 от 11.03.2015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3 от 13.03.2015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4 от 14.03.2015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3 от 15.03.2015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4 от 16.03.2015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Проведение документов в нормальной последовательности по регистру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57542"/>
              </p:ext>
            </p:extLst>
          </p:nvPr>
        </p:nvGraphicFramePr>
        <p:xfrm>
          <a:off x="628650" y="5104929"/>
          <a:ext cx="1800000" cy="288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4 от 16.03.2015</a:t>
                      </a:r>
                    </a:p>
                  </a:txBody>
                  <a:tcPr>
                    <a:lnL w="12700" cmpd="sng">
                      <a:solidFill>
                        <a:srgbClr val="7030A0"/>
                      </a:solidFill>
                      <a:prstDash val="solid"/>
                    </a:lnL>
                    <a:lnR w="12700" cmpd="sng">
                      <a:solidFill>
                        <a:srgbClr val="7030A0"/>
                      </a:solidFill>
                      <a:prstDash val="solid"/>
                    </a:lnR>
                    <a:lnT w="12700" cmpd="sng">
                      <a:solidFill>
                        <a:srgbClr val="7030A0"/>
                      </a:solidFill>
                      <a:prstDash val="solid"/>
                    </a:lnT>
                    <a:lnB w="12700" cmpd="sng">
                      <a:solidFill>
                        <a:srgbClr val="7030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0845" y="4797152"/>
            <a:ext cx="316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границы последовательности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3697" y="4797152"/>
            <a:ext cx="429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документов входящих в последовательность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157353"/>
              </p:ext>
            </p:extLst>
          </p:nvPr>
        </p:nvGraphicFramePr>
        <p:xfrm>
          <a:off x="4499992" y="5127967"/>
          <a:ext cx="1795750" cy="115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5750">
                  <a:extLst>
                    <a:ext uri="{9D8B030D-6E8A-4147-A177-3AD203B41FA5}">
                      <a16:colId xmlns:a16="http://schemas.microsoft.com/office/drawing/2014/main" val="152111149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467852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828084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rgbClr val="C00000"/>
                          </a:solidFill>
                        </a:rPr>
                        <a:t>РН 3 от 15.03.2015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57339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rgbClr val="C00000"/>
                          </a:solidFill>
                        </a:rPr>
                        <a:t>РН 4 от 16.03.2015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2259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89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/>
          </p:nvPr>
        </p:nvGraphicFramePr>
        <p:xfrm>
          <a:off x="185738" y="1268413"/>
          <a:ext cx="8783636" cy="34848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88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2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Регистратор</a:t>
                      </a:r>
                    </a:p>
                  </a:txBody>
                  <a:tcPr marL="101839" marR="101839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Номенклатура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Приращение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Текущий остаток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1 от 08.03.2015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2 от 11.03.2015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rgbClr val="00B050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rgbClr val="00B050"/>
                        </a:solidFill>
                      </a:endParaRP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3 от 13.03.2015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4 от 14.03.2015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3 от 15.03.2015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4 от 16.03.2015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5 от 17.03.2015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rgbClr val="C00000"/>
                          </a:solidFill>
                        </a:rPr>
                        <a:t>10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586217"/>
                  </a:ext>
                </a:extLst>
              </a:tr>
            </a:tbl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Проведение документов в нормальной последовательности по регистру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54832"/>
              </p:ext>
            </p:extLst>
          </p:nvPr>
        </p:nvGraphicFramePr>
        <p:xfrm>
          <a:off x="628650" y="5104929"/>
          <a:ext cx="1800000" cy="288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solidFill>
                            <a:srgbClr val="C00000"/>
                          </a:solidFill>
                        </a:rPr>
                        <a:t>РН 5 от 17.03.2015</a:t>
                      </a:r>
                      <a:endParaRPr lang="ru-RU" sz="1200" b="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7030A0"/>
                      </a:solidFill>
                      <a:prstDash val="solid"/>
                    </a:lnL>
                    <a:lnR w="12700" cmpd="sng">
                      <a:solidFill>
                        <a:srgbClr val="7030A0"/>
                      </a:solidFill>
                      <a:prstDash val="solid"/>
                    </a:lnR>
                    <a:lnT w="12700" cmpd="sng">
                      <a:solidFill>
                        <a:srgbClr val="7030A0"/>
                      </a:solidFill>
                      <a:prstDash val="solid"/>
                    </a:lnT>
                    <a:lnB w="12700" cmpd="sng">
                      <a:solidFill>
                        <a:srgbClr val="7030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0845" y="4797152"/>
            <a:ext cx="316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границы последовательности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73697" y="4797152"/>
            <a:ext cx="4296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документов входящих в последовательность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4499992" y="5127967"/>
          <a:ext cx="179575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5750">
                  <a:extLst>
                    <a:ext uri="{9D8B030D-6E8A-4147-A177-3AD203B41FA5}">
                      <a16:colId xmlns:a16="http://schemas.microsoft.com/office/drawing/2014/main" val="1521111498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467852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828084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rgbClr val="C00000"/>
                          </a:solidFill>
                        </a:rPr>
                        <a:t>РН 3 от 15.03.2015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157339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rgbClr val="C00000"/>
                          </a:solidFill>
                        </a:rPr>
                        <a:t>РН 4 от 16.03.2015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225959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rgbClr val="C00000"/>
                          </a:solidFill>
                        </a:rPr>
                        <a:t>РН 5 от 17.03.2015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4749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67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Проведение документов после нарушения последовательности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492662"/>
              </p:ext>
            </p:extLst>
          </p:nvPr>
        </p:nvGraphicFramePr>
        <p:xfrm>
          <a:off x="628650" y="5349184"/>
          <a:ext cx="1800000" cy="288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rgbClr val="00B050"/>
                          </a:solidFill>
                        </a:rPr>
                        <a:t>ПН 2 от 11.03.2015</a:t>
                      </a:r>
                      <a:endParaRPr lang="ru-RU" sz="12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7030A0"/>
                      </a:solidFill>
                      <a:prstDash val="solid"/>
                    </a:lnL>
                    <a:lnR w="12700" cmpd="sng">
                      <a:solidFill>
                        <a:srgbClr val="7030A0"/>
                      </a:solidFill>
                      <a:prstDash val="solid"/>
                    </a:lnR>
                    <a:lnT w="12700" cmpd="sng">
                      <a:solidFill>
                        <a:srgbClr val="7030A0"/>
                      </a:solidFill>
                      <a:prstDash val="solid"/>
                    </a:lnT>
                    <a:lnB w="12700" cmpd="sng">
                      <a:solidFill>
                        <a:srgbClr val="7030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0845" y="5041407"/>
            <a:ext cx="316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границы последовательности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7411" y="5041407"/>
            <a:ext cx="25228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документов входящих в последовательность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4230479" y="5148986"/>
          <a:ext cx="179575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3 от 15.03.2015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4 от 16.03.2015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5 от 17.03.2015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1229978"/>
              </p:ext>
            </p:extLst>
          </p:nvPr>
        </p:nvGraphicFramePr>
        <p:xfrm>
          <a:off x="187200" y="1267200"/>
          <a:ext cx="8705280" cy="34848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71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1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9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1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1333">
                  <a:extLst>
                    <a:ext uri="{9D8B030D-6E8A-4147-A177-3AD203B41FA5}">
                      <a16:colId xmlns:a16="http://schemas.microsoft.com/office/drawing/2014/main" val="146832621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Регистратор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Приращение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Текущий остаток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Было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Стало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1 от 08.03.2015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dirty="0">
                          <a:solidFill>
                            <a:srgbClr val="00B050"/>
                          </a:solidFill>
                        </a:rPr>
                        <a:t>ПН 2 от 11.03.2015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 smtClean="0">
                          <a:solidFill>
                            <a:srgbClr val="00B050"/>
                          </a:solidFill>
                        </a:rPr>
                        <a:t>15</a:t>
                      </a:r>
                      <a:endParaRPr lang="ru-RU" sz="14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sz="14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RU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3 от 13.03.2015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4 от 14.03.2015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3 от 15.03.2015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4 от 16.03.2015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5 от 17.03.2015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rgbClr val="C00000"/>
                          </a:solidFill>
                        </a:rPr>
                        <a:t>10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406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Восстановление последовательности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450252"/>
              </p:ext>
            </p:extLst>
          </p:nvPr>
        </p:nvGraphicFramePr>
        <p:xfrm>
          <a:off x="628650" y="5349184"/>
          <a:ext cx="1800000" cy="288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rgbClr val="00B050"/>
                          </a:solidFill>
                        </a:rPr>
                        <a:t>ПН 2 от 11.03.2015</a:t>
                      </a:r>
                      <a:endParaRPr lang="ru-RU" sz="12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7030A0"/>
                      </a:solidFill>
                      <a:prstDash val="solid"/>
                    </a:lnL>
                    <a:lnR w="12700" cmpd="sng">
                      <a:solidFill>
                        <a:srgbClr val="7030A0"/>
                      </a:solidFill>
                      <a:prstDash val="solid"/>
                    </a:lnR>
                    <a:lnT w="12700" cmpd="sng">
                      <a:solidFill>
                        <a:srgbClr val="7030A0"/>
                      </a:solidFill>
                      <a:prstDash val="solid"/>
                    </a:lnT>
                    <a:lnB w="12700" cmpd="sng">
                      <a:solidFill>
                        <a:srgbClr val="7030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0845" y="5041407"/>
            <a:ext cx="316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границы последовательности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7411" y="5041407"/>
            <a:ext cx="25228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документов входящих в последовательность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/>
          </p:nvPr>
        </p:nvGraphicFramePr>
        <p:xfrm>
          <a:off x="4230479" y="5148986"/>
          <a:ext cx="179575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rgbClr val="C00000"/>
                          </a:solidFill>
                        </a:rPr>
                        <a:t>РН 3 от 15.03.2015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rgbClr val="C00000"/>
                          </a:solidFill>
                        </a:rPr>
                        <a:t>РН 4 от 16.03.2015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rgbClr val="C00000"/>
                          </a:solidFill>
                        </a:rPr>
                        <a:t>РН 5 от 17.03.2015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Скругленный прямоугольник 9"/>
          <p:cNvSpPr/>
          <p:nvPr/>
        </p:nvSpPr>
        <p:spPr>
          <a:xfrm>
            <a:off x="4065222" y="5410739"/>
            <a:ext cx="2159307" cy="1106926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1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9436520"/>
              </p:ext>
            </p:extLst>
          </p:nvPr>
        </p:nvGraphicFramePr>
        <p:xfrm>
          <a:off x="187200" y="1267200"/>
          <a:ext cx="8705280" cy="34848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71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1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9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1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1333">
                  <a:extLst>
                    <a:ext uri="{9D8B030D-6E8A-4147-A177-3AD203B41FA5}">
                      <a16:colId xmlns:a16="http://schemas.microsoft.com/office/drawing/2014/main" val="146832621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Регистратор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Приращение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Текущий остаток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Было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Стало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1 от 08.03.2015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dirty="0">
                          <a:solidFill>
                            <a:srgbClr val="00B050"/>
                          </a:solidFill>
                        </a:rPr>
                        <a:t>ПН 2 от 11.03.2015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 smtClean="0">
                          <a:solidFill>
                            <a:srgbClr val="00B050"/>
                          </a:solidFill>
                        </a:rPr>
                        <a:t>15</a:t>
                      </a:r>
                      <a:endParaRPr lang="ru-RU" sz="14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sz="1400" b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RU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3 от 13.03.2015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4 от 14.03.2015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3 от 15.03.2015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4 от 16.03.2015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5 от 17.03.2015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rgbClr val="C00000"/>
                          </a:solidFill>
                        </a:rPr>
                        <a:t>10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17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Последовательность восстановлена.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58017"/>
              </p:ext>
            </p:extLst>
          </p:nvPr>
        </p:nvGraphicFramePr>
        <p:xfrm>
          <a:off x="628650" y="5349184"/>
          <a:ext cx="1800000" cy="28800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solidFill>
                            <a:srgbClr val="C00000"/>
                          </a:solidFill>
                        </a:rPr>
                        <a:t>РН </a:t>
                      </a:r>
                      <a:r>
                        <a:rPr lang="ru-RU" sz="1200" b="1" dirty="0" smtClean="0">
                          <a:solidFill>
                            <a:srgbClr val="C00000"/>
                          </a:solidFill>
                        </a:rPr>
                        <a:t>4 </a:t>
                      </a:r>
                      <a:r>
                        <a:rPr lang="ru-RU" sz="1200" b="1" dirty="0">
                          <a:solidFill>
                            <a:srgbClr val="C00000"/>
                          </a:solidFill>
                        </a:rPr>
                        <a:t>от </a:t>
                      </a:r>
                      <a:r>
                        <a:rPr lang="ru-RU" sz="1200" b="1" dirty="0" smtClean="0">
                          <a:solidFill>
                            <a:srgbClr val="C00000"/>
                          </a:solidFill>
                        </a:rPr>
                        <a:t>16.03.2015</a:t>
                      </a:r>
                      <a:endParaRPr lang="ru-RU" sz="1200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7030A0"/>
                      </a:solidFill>
                      <a:prstDash val="solid"/>
                    </a:lnL>
                    <a:lnR w="12700" cmpd="sng">
                      <a:solidFill>
                        <a:srgbClr val="7030A0"/>
                      </a:solidFill>
                      <a:prstDash val="solid"/>
                    </a:lnR>
                    <a:lnT w="12700" cmpd="sng">
                      <a:solidFill>
                        <a:srgbClr val="7030A0"/>
                      </a:solidFill>
                      <a:prstDash val="solid"/>
                    </a:lnT>
                    <a:lnB w="12700" cmpd="sng">
                      <a:solidFill>
                        <a:srgbClr val="7030A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0845" y="5041407"/>
            <a:ext cx="3161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границы последовательности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7411" y="5041407"/>
            <a:ext cx="25228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Таблица документов входящих в последовательность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465657"/>
              </p:ext>
            </p:extLst>
          </p:nvPr>
        </p:nvGraphicFramePr>
        <p:xfrm>
          <a:off x="4230479" y="5148986"/>
          <a:ext cx="179575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rgbClr val="C00000"/>
                          </a:solidFill>
                        </a:rPr>
                        <a:t>РН 3 от 15.03.2015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rgbClr val="C00000"/>
                          </a:solidFill>
                        </a:rPr>
                        <a:t>РН 4 от 16.03.2015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strike="sngStrike" dirty="0">
                          <a:solidFill>
                            <a:srgbClr val="C00000"/>
                          </a:solidFill>
                        </a:rPr>
                        <a:t>РН 5 от 17.03.2015</a:t>
                      </a:r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9836284"/>
              </p:ext>
            </p:extLst>
          </p:nvPr>
        </p:nvGraphicFramePr>
        <p:xfrm>
          <a:off x="187200" y="1267200"/>
          <a:ext cx="8705280" cy="34848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71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1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9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2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Регистратор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Номенклатура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Приращение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Текущий остаток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Количество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1 от 08.03.2015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1 от 10.03.2015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solidFill>
                            <a:srgbClr val="00B050"/>
                          </a:solidFill>
                        </a:rPr>
                        <a:t>ПН 2 от 11.03.2015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 smtClean="0">
                          <a:solidFill>
                            <a:srgbClr val="00B050"/>
                          </a:solidFill>
                        </a:rPr>
                        <a:t>15</a:t>
                      </a:r>
                      <a:endParaRPr lang="ru-RU" sz="1400" b="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RU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2 от 12.03.2015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3 от 13.03.2015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ПН 4 от 14.03.2015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00B05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3 от 15.03.2015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РН 4 от 16.03.2015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C00000"/>
                          </a:solidFill>
                        </a:rPr>
                        <a:t>10</a:t>
                      </a:r>
                    </a:p>
                  </a:txBody>
                  <a:tcPr marL="101839" marR="101839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strike="sngStrike" dirty="0">
                          <a:solidFill>
                            <a:srgbClr val="C00000"/>
                          </a:solidFill>
                        </a:rPr>
                        <a:t>РН 5 от 17.03.2015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strike="sngStrike" dirty="0">
                          <a:solidFill>
                            <a:srgbClr val="C00000"/>
                          </a:solidFill>
                        </a:rPr>
                        <a:t>Яблоки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strike="sngStrike" dirty="0" smtClean="0">
                          <a:solidFill>
                            <a:srgbClr val="C00000"/>
                          </a:solidFill>
                        </a:rPr>
                        <a:t>10</a:t>
                      </a:r>
                      <a:endParaRPr lang="ru-RU" sz="1400" strike="sngStrike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564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Концепция оперативного проведения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Проведение документа до и после наступления события</a:t>
            </a:r>
          </a:p>
        </p:txBody>
      </p:sp>
    </p:spTree>
    <p:extLst>
      <p:ext uri="{BB962C8B-B14F-4D97-AF65-F5344CB8AC3E}">
        <p14:creationId xmlns:p14="http://schemas.microsoft.com/office/powerpoint/2010/main" val="193726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По данным программы на складе 10 яблок и 10 груш.</a:t>
            </a:r>
          </a:p>
          <a:p>
            <a:r>
              <a:rPr lang="ru-RU" dirty="0"/>
              <a:t>Покупатель оформляет накладную на 10 яблок и 10 груш и уходит на склад получать товар (склад на другом конце города </a:t>
            </a:r>
            <a:r>
              <a:rPr lang="ru-RU" dirty="0">
                <a:sym typeface="Wingdings" panose="05000000000000000000" pitchFamily="2" charset="2"/>
              </a:rPr>
              <a:t>)</a:t>
            </a:r>
            <a:r>
              <a:rPr lang="ru-RU" dirty="0"/>
              <a:t>.</a:t>
            </a:r>
          </a:p>
          <a:p>
            <a:r>
              <a:rPr lang="ru-RU" dirty="0"/>
              <a:t>На складе пересортица: 11 яблок и 9 груш. Покупатель согласен забрать вместо 1 груши 1 яблоко. </a:t>
            </a:r>
          </a:p>
          <a:p>
            <a:r>
              <a:rPr lang="ru-RU" dirty="0"/>
              <a:t>На следующий день покупатель приходит в офис переоформить документы.</a:t>
            </a:r>
          </a:p>
          <a:p>
            <a:r>
              <a:rPr lang="ru-RU" dirty="0"/>
              <a:t>Менеджер открывает накладную вносит изменения и</a:t>
            </a:r>
            <a:r>
              <a:rPr lang="ru-RU" dirty="0" smtClean="0"/>
              <a:t>….</a:t>
            </a:r>
          </a:p>
          <a:p>
            <a:r>
              <a:rPr lang="ru-RU" dirty="0" smtClean="0">
                <a:sym typeface="Wingdings" panose="05000000000000000000" pitchFamily="2" charset="2"/>
              </a:rPr>
              <a:t> </a:t>
            </a:r>
            <a:r>
              <a:rPr lang="ru-RU" dirty="0">
                <a:sym typeface="Wingdings" panose="05000000000000000000" pitchFamily="2" charset="2"/>
              </a:rPr>
              <a:t>Документ не проводится. Ведь по данным программы на складе нет 11 яблок, а значит нельзя проводить документ – ведь так!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Ситуация</a:t>
            </a:r>
          </a:p>
        </p:txBody>
      </p:sp>
    </p:spTree>
    <p:extLst>
      <p:ext uri="{BB962C8B-B14F-4D97-AF65-F5344CB8AC3E}">
        <p14:creationId xmlns:p14="http://schemas.microsoft.com/office/powerpoint/2010/main" val="302337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16" y="3498708"/>
            <a:ext cx="7477125" cy="279082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Режимы проведения</a:t>
            </a:r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5454157" y="2928914"/>
            <a:ext cx="0" cy="569794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82197" y="2823205"/>
            <a:ext cx="1532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Оперативный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6775" y="2823205"/>
            <a:ext cx="1753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НЕоперативный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5" name="Прямая со стрелкой 14"/>
          <p:cNvCxnSpPr/>
          <p:nvPr/>
        </p:nvCxnSpPr>
        <p:spPr>
          <a:xfrm rot="10800000" flipV="1">
            <a:off x="1560923" y="2328931"/>
            <a:ext cx="828000" cy="422836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2746113" y="2325696"/>
            <a:ext cx="828000" cy="426071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93298" y="2822359"/>
            <a:ext cx="1753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НЕоперативный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Прямая со стрелкой 18"/>
          <p:cNvCxnSpPr>
            <a:endCxn id="11" idx="0"/>
          </p:cNvCxnSpPr>
          <p:nvPr/>
        </p:nvCxnSpPr>
        <p:spPr>
          <a:xfrm rot="16200000" flipH="1">
            <a:off x="6419680" y="2571930"/>
            <a:ext cx="500064" cy="793"/>
          </a:xfrm>
          <a:prstGeom prst="straightConnector1">
            <a:avLst/>
          </a:prstGeom>
          <a:ln w="19050"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144" y="1459782"/>
            <a:ext cx="3019425" cy="5334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309" y="1469307"/>
            <a:ext cx="3019425" cy="514350"/>
          </a:xfrm>
          <a:prstGeom prst="rect">
            <a:avLst/>
          </a:prstGeom>
        </p:spPr>
      </p:pic>
      <p:sp>
        <p:nvSpPr>
          <p:cNvPr id="12" name="Скругленный прямоугольник 11"/>
          <p:cNvSpPr/>
          <p:nvPr/>
        </p:nvSpPr>
        <p:spPr>
          <a:xfrm>
            <a:off x="2388923" y="1726482"/>
            <a:ext cx="1438359" cy="257175"/>
          </a:xfrm>
          <a:prstGeom prst="roundRect">
            <a:avLst/>
          </a:prstGeom>
          <a:solidFill>
            <a:srgbClr val="00B050">
              <a:alpha val="20000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6326149" y="1714814"/>
            <a:ext cx="1438359" cy="257175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22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Оперативное: </a:t>
            </a:r>
            <a:r>
              <a:rPr lang="ru-RU" dirty="0">
                <a:solidFill>
                  <a:srgbClr val="C00000"/>
                </a:solidFill>
              </a:rPr>
              <a:t>Запретить</a:t>
            </a:r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428596" y="4266934"/>
            <a:ext cx="8286808" cy="1588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5"/>
          <p:cNvGrpSpPr/>
          <p:nvPr/>
        </p:nvGrpSpPr>
        <p:grpSpPr>
          <a:xfrm>
            <a:off x="2393141" y="2166486"/>
            <a:ext cx="4357718" cy="4214842"/>
            <a:chOff x="2357422" y="3625558"/>
            <a:chExt cx="4357718" cy="612000"/>
          </a:xfrm>
        </p:grpSpPr>
        <p:cxnSp>
          <p:nvCxnSpPr>
            <p:cNvPr id="7" name="Прямая соединительная линия 6"/>
            <p:cNvCxnSpPr/>
            <p:nvPr/>
          </p:nvCxnSpPr>
          <p:spPr>
            <a:xfrm rot="5400000">
              <a:off x="2051422" y="3931558"/>
              <a:ext cx="612000" cy="0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/>
            <p:cNvCxnSpPr/>
            <p:nvPr/>
          </p:nvCxnSpPr>
          <p:spPr>
            <a:xfrm rot="5400000">
              <a:off x="6409140" y="3931558"/>
              <a:ext cx="612000" cy="0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610849" y="2907914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solidFill>
                  <a:srgbClr val="002060"/>
                </a:solidFill>
              </a:rPr>
              <a:t>Вчера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5182" y="2907914"/>
            <a:ext cx="1333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spc="300" dirty="0">
                <a:solidFill>
                  <a:srgbClr val="002060"/>
                </a:solidFill>
              </a:rPr>
              <a:t>Сегодня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7133" y="2907914"/>
            <a:ext cx="910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solidFill>
                  <a:srgbClr val="002060"/>
                </a:solidFill>
              </a:rPr>
              <a:t>Завтра</a:t>
            </a:r>
          </a:p>
        </p:txBody>
      </p:sp>
      <p:sp>
        <p:nvSpPr>
          <p:cNvPr id="19" name="Овал 18"/>
          <p:cNvSpPr/>
          <p:nvPr/>
        </p:nvSpPr>
        <p:spPr>
          <a:xfrm>
            <a:off x="907810" y="4159203"/>
            <a:ext cx="214314" cy="21431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7975388" y="4159203"/>
            <a:ext cx="214314" cy="21431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 rot="5400000">
            <a:off x="3652066" y="4876898"/>
            <a:ext cx="2491452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Овал 29"/>
          <p:cNvSpPr/>
          <p:nvPr/>
        </p:nvSpPr>
        <p:spPr>
          <a:xfrm>
            <a:off x="3253555" y="4159203"/>
            <a:ext cx="214314" cy="21431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/>
          <p:cNvSpPr/>
          <p:nvPr/>
        </p:nvSpPr>
        <p:spPr>
          <a:xfrm>
            <a:off x="4790635" y="4159203"/>
            <a:ext cx="214314" cy="21431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/>
          <p:cNvSpPr txBox="1"/>
          <p:nvPr/>
        </p:nvSpPr>
        <p:spPr>
          <a:xfrm>
            <a:off x="4232169" y="6024268"/>
            <a:ext cx="13406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>
                <a:solidFill>
                  <a:srgbClr val="00B050"/>
                </a:solidFill>
              </a:rPr>
              <a:t>Текущая дата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94443" y="445250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Неоп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55" name="Овал 54"/>
          <p:cNvSpPr/>
          <p:nvPr/>
        </p:nvSpPr>
        <p:spPr>
          <a:xfrm>
            <a:off x="6143636" y="4159203"/>
            <a:ext cx="214314" cy="214314"/>
          </a:xfrm>
          <a:prstGeom prst="ellipse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642910" y="445250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Неоп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7686" y="4262330"/>
            <a:ext cx="5261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Неоп</a:t>
            </a:r>
            <a:r>
              <a:rPr lang="ru-RU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80109" y="445250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Неоп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6860" y="4452502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Неоп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349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 animBg="1"/>
      <p:bldP spid="20" grpId="0" animBg="1"/>
      <p:bldP spid="30" grpId="0" animBg="1"/>
      <p:bldP spid="31" grpId="0" animBg="1"/>
      <p:bldP spid="33" grpId="0"/>
      <p:bldP spid="53" grpId="0"/>
      <p:bldP spid="55" grpId="0" animBg="1"/>
      <p:bldP spid="27" grpId="0"/>
      <p:bldP spid="26" grpId="0"/>
      <p:bldP spid="28" grpId="0"/>
      <p:bldP spid="29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Оперативное: </a:t>
            </a:r>
            <a:r>
              <a:rPr lang="ru-RU" dirty="0">
                <a:solidFill>
                  <a:srgbClr val="00B050"/>
                </a:solidFill>
              </a:rPr>
              <a:t>Разрешить</a:t>
            </a:r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428596" y="4266934"/>
            <a:ext cx="8286808" cy="1588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Группа 25"/>
          <p:cNvGrpSpPr/>
          <p:nvPr/>
        </p:nvGrpSpPr>
        <p:grpSpPr>
          <a:xfrm>
            <a:off x="2393141" y="2166486"/>
            <a:ext cx="4357718" cy="4214842"/>
            <a:chOff x="2357422" y="3625558"/>
            <a:chExt cx="4357718" cy="612000"/>
          </a:xfrm>
        </p:grpSpPr>
        <p:cxnSp>
          <p:nvCxnSpPr>
            <p:cNvPr id="7" name="Прямая соединительная линия 6"/>
            <p:cNvCxnSpPr/>
            <p:nvPr/>
          </p:nvCxnSpPr>
          <p:spPr>
            <a:xfrm rot="5400000">
              <a:off x="2051422" y="3931558"/>
              <a:ext cx="612000" cy="0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/>
            <p:cNvCxnSpPr/>
            <p:nvPr/>
          </p:nvCxnSpPr>
          <p:spPr>
            <a:xfrm rot="5400000">
              <a:off x="6409140" y="3931558"/>
              <a:ext cx="612000" cy="0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610849" y="2907914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solidFill>
                  <a:srgbClr val="002060"/>
                </a:solidFill>
              </a:rPr>
              <a:t>Вчера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05182" y="2907914"/>
            <a:ext cx="1333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spc="300" dirty="0">
                <a:solidFill>
                  <a:srgbClr val="002060"/>
                </a:solidFill>
              </a:rPr>
              <a:t>Сегодня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7133" y="2907914"/>
            <a:ext cx="910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solidFill>
                  <a:srgbClr val="002060"/>
                </a:solidFill>
              </a:rPr>
              <a:t>Завтра</a:t>
            </a:r>
          </a:p>
        </p:txBody>
      </p:sp>
      <p:sp>
        <p:nvSpPr>
          <p:cNvPr id="19" name="Овал 18"/>
          <p:cNvSpPr/>
          <p:nvPr/>
        </p:nvSpPr>
        <p:spPr>
          <a:xfrm>
            <a:off x="907810" y="4159203"/>
            <a:ext cx="214314" cy="21431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7975388" y="4159203"/>
            <a:ext cx="214314" cy="21431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Умножение 20"/>
          <p:cNvSpPr/>
          <p:nvPr/>
        </p:nvSpPr>
        <p:spPr>
          <a:xfrm>
            <a:off x="7761073" y="3946150"/>
            <a:ext cx="642942" cy="642942"/>
          </a:xfrm>
          <a:prstGeom prst="mathMultiply">
            <a:avLst>
              <a:gd name="adj1" fmla="val 971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 rot="5400000">
            <a:off x="3652066" y="4876898"/>
            <a:ext cx="2491452" cy="0"/>
          </a:xfrm>
          <a:prstGeom prst="line">
            <a:avLst/>
          </a:prstGeom>
          <a:ln w="1905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Овал 29"/>
          <p:cNvSpPr/>
          <p:nvPr/>
        </p:nvSpPr>
        <p:spPr>
          <a:xfrm>
            <a:off x="3253555" y="4159203"/>
            <a:ext cx="214314" cy="21431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/>
          <p:cNvSpPr/>
          <p:nvPr/>
        </p:nvSpPr>
        <p:spPr>
          <a:xfrm>
            <a:off x="4790635" y="4159203"/>
            <a:ext cx="214314" cy="21431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/>
          <p:cNvSpPr txBox="1"/>
          <p:nvPr/>
        </p:nvSpPr>
        <p:spPr>
          <a:xfrm>
            <a:off x="3470814" y="6024268"/>
            <a:ext cx="2887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>
                <a:solidFill>
                  <a:srgbClr val="00B050"/>
                </a:solidFill>
              </a:rPr>
              <a:t>Оперативная отметка времени</a:t>
            </a:r>
          </a:p>
        </p:txBody>
      </p:sp>
      <p:sp>
        <p:nvSpPr>
          <p:cNvPr id="54" name="Стрелка вправо 53"/>
          <p:cNvSpPr/>
          <p:nvPr/>
        </p:nvSpPr>
        <p:spPr>
          <a:xfrm>
            <a:off x="3474077" y="3811998"/>
            <a:ext cx="1419230" cy="474666"/>
          </a:xfrm>
          <a:prstGeom prst="rightArrow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Овал 54"/>
          <p:cNvSpPr/>
          <p:nvPr/>
        </p:nvSpPr>
        <p:spPr>
          <a:xfrm>
            <a:off x="6143636" y="4159203"/>
            <a:ext cx="214314" cy="214314"/>
          </a:xfrm>
          <a:prstGeom prst="ellipse">
            <a:avLst/>
          </a:prstGeom>
          <a:solidFill>
            <a:schemeClr val="bg1">
              <a:lumMod val="95000"/>
              <a:alpha val="10000"/>
            </a:schemeClr>
          </a:solidFill>
          <a:ln>
            <a:prstDash val="sys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Стрелка вправо 55"/>
          <p:cNvSpPr/>
          <p:nvPr/>
        </p:nvSpPr>
        <p:spPr>
          <a:xfrm flipH="1">
            <a:off x="4905691" y="3803918"/>
            <a:ext cx="1533030" cy="474666"/>
          </a:xfrm>
          <a:prstGeom prst="rightArrow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/>
          <p:cNvSpPr txBox="1"/>
          <p:nvPr/>
        </p:nvSpPr>
        <p:spPr>
          <a:xfrm>
            <a:off x="642910" y="4455438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Неоп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05182" y="3908520"/>
            <a:ext cx="5309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100" dirty="0">
                <a:solidFill>
                  <a:srgbClr val="0070C0"/>
                </a:solidFill>
              </a:rPr>
              <a:t>Опер.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7858" y="3910391"/>
            <a:ext cx="5309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100" dirty="0">
                <a:solidFill>
                  <a:srgbClr val="0070C0"/>
                </a:solidFill>
              </a:rPr>
              <a:t>Опер.</a:t>
            </a:r>
          </a:p>
        </p:txBody>
      </p:sp>
    </p:spTree>
    <p:extLst>
      <p:ext uri="{BB962C8B-B14F-4D97-AF65-F5344CB8AC3E}">
        <p14:creationId xmlns:p14="http://schemas.microsoft.com/office/powerpoint/2010/main" val="337260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 animBg="1"/>
      <p:bldP spid="20" grpId="0" animBg="1"/>
      <p:bldP spid="21" grpId="0" animBg="1"/>
      <p:bldP spid="30" grpId="0" animBg="1"/>
      <p:bldP spid="31" grpId="0" animBg="1"/>
      <p:bldP spid="33" grpId="0"/>
      <p:bldP spid="54" grpId="0" animBg="1"/>
      <p:bldP spid="55" grpId="0" animBg="1"/>
      <p:bldP spid="56" grpId="0" animBg="1"/>
      <p:bldP spid="27" grpId="0"/>
      <p:bldP spid="28" grpId="0"/>
      <p:bldP spid="29" grpId="0"/>
    </p:bldLst>
  </p:timing>
</p:sld>
</file>

<file path=ppt/theme/theme1.xml><?xml version="1.0" encoding="utf-8"?>
<a:theme xmlns:a="http://schemas.openxmlformats.org/drawingml/2006/main" name="СофтБаланс_оперативные_задачи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СофтБаланс_оперативные_задачи" id="{AD16FFA0-1988-4207-84E4-2824C3120B8F}" vid="{4E36C7D6-028C-4092-95FE-42C35BFE66F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СофтБаланс_оперативные_задачи</Template>
  <TotalTime>1388</TotalTime>
  <Words>2541</Words>
  <Application>Microsoft Office PowerPoint</Application>
  <PresentationFormat>Экран (4:3)</PresentationFormat>
  <Paragraphs>1236</Paragraphs>
  <Slides>67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67</vt:i4>
      </vt:variant>
    </vt:vector>
  </HeadingPairs>
  <TitlesOfParts>
    <vt:vector size="75" baseType="lpstr">
      <vt:lpstr>Arial</vt:lpstr>
      <vt:lpstr>Arial Black</vt:lpstr>
      <vt:lpstr>Calibri</vt:lpstr>
      <vt:lpstr>Courier New</vt:lpstr>
      <vt:lpstr>Tahoma</vt:lpstr>
      <vt:lpstr>Verdana</vt:lpstr>
      <vt:lpstr>Wingdings</vt:lpstr>
      <vt:lpstr>СофтБаланс_оперативные_задачи</vt:lpstr>
      <vt:lpstr>Занятие 08</vt:lpstr>
      <vt:lpstr>Технология обусловленного  проведения</vt:lpstr>
      <vt:lpstr>Новая технология проведения</vt:lpstr>
      <vt:lpstr>Новая технология проведения</vt:lpstr>
      <vt:lpstr>Новая технология проведения</vt:lpstr>
      <vt:lpstr>Новая технология проведения</vt:lpstr>
      <vt:lpstr>Новая технология проведения</vt:lpstr>
      <vt:lpstr>Новая технология проведения</vt:lpstr>
      <vt:lpstr>Новая технология проведения</vt:lpstr>
      <vt:lpstr>Момент времени документа</vt:lpstr>
      <vt:lpstr>Момент времени документа</vt:lpstr>
      <vt:lpstr>Граница</vt:lpstr>
      <vt:lpstr>Новый Граница()</vt:lpstr>
      <vt:lpstr>Выборка из результата запроса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Блокировки</vt:lpstr>
      <vt:lpstr>Презентация PowerPoint</vt:lpstr>
      <vt:lpstr>Презентация PowerPoint</vt:lpstr>
      <vt:lpstr>Презентация PowerPoint</vt:lpstr>
      <vt:lpstr>Разрешить разделение итогов</vt:lpstr>
      <vt:lpstr>Презентация PowerPoint</vt:lpstr>
      <vt:lpstr>Презентация PowerPoint</vt:lpstr>
      <vt:lpstr>Рассмотрим две одновременные транзакции реализаций</vt:lpstr>
      <vt:lpstr>Начало транзакции реализации 1</vt:lpstr>
      <vt:lpstr>Начало транзакции реализации 2. Транзакция реализации 1 не закончена</vt:lpstr>
      <vt:lpstr>В транзакции реализация 1 и 2 одновременно читают остатки</vt:lpstr>
      <vt:lpstr>Взаимоблокировка!</vt:lpstr>
      <vt:lpstr>Надо отключить разделение итогов</vt:lpstr>
      <vt:lpstr>Проводим реализации 1 и 2 программно отключая разделитель.</vt:lpstr>
      <vt:lpstr>Начало транзакции реализации 1. «Не видим» разделителя.</vt:lpstr>
      <vt:lpstr>Начало транзакции реализации 2</vt:lpstr>
      <vt:lpstr>Чтение реализации 1</vt:lpstr>
      <vt:lpstr>Откат транзакции реализации 1</vt:lpstr>
      <vt:lpstr>Начало транзакции реализации 2. «Не видим» разделителя. </vt:lpstr>
      <vt:lpstr>Чтение реализации 2</vt:lpstr>
      <vt:lpstr>Фиксация транзакции реализации 2</vt:lpstr>
      <vt:lpstr>Последовательности</vt:lpstr>
      <vt:lpstr>В чём проблема?</vt:lpstr>
      <vt:lpstr>Что делает последовательность</vt:lpstr>
      <vt:lpstr>Проведение документов в нормальной последовательности по регистру</vt:lpstr>
      <vt:lpstr>Проведение документов в нормальной последовательности по регистру</vt:lpstr>
      <vt:lpstr>Проведение документов в нормальной последовательности по регистру</vt:lpstr>
      <vt:lpstr>Проведение документов в нормальной последовательности по регистру</vt:lpstr>
      <vt:lpstr>Проведение документов в нормальной последовательности по регистру</vt:lpstr>
      <vt:lpstr>Проведение документов в нормальной последовательности по регистру</vt:lpstr>
      <vt:lpstr>Проведение документов в нормальной последовательности по регистру</vt:lpstr>
      <vt:lpstr>Проведение документов в нормальной последовательности по регистру</vt:lpstr>
      <vt:lpstr>Проведение документов в нормальной последовательности по регистру</vt:lpstr>
      <vt:lpstr>Проведение документов в нормальной последовательности по регистру</vt:lpstr>
      <vt:lpstr>Проведение документов после нарушения последовательности</vt:lpstr>
      <vt:lpstr>Восстановление последовательности</vt:lpstr>
      <vt:lpstr>Последовательность восстановлена.</vt:lpstr>
      <vt:lpstr>Концепция оперативного проведения</vt:lpstr>
      <vt:lpstr>Ситуация</vt:lpstr>
      <vt:lpstr>Режимы проведения</vt:lpstr>
      <vt:lpstr>Оперативное: Запретить</vt:lpstr>
      <vt:lpstr>Оперативное: Разрешить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Проведение</dc:title>
  <dc:creator>Sizov</dc:creator>
  <cp:lastModifiedBy>eugeniy sizov</cp:lastModifiedBy>
  <cp:revision>73</cp:revision>
  <dcterms:created xsi:type="dcterms:W3CDTF">2012-12-06T07:13:59Z</dcterms:created>
  <dcterms:modified xsi:type="dcterms:W3CDTF">2020-02-22T17:13:21Z</dcterms:modified>
</cp:coreProperties>
</file>