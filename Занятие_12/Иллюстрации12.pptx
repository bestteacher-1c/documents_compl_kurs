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03" r:id="rId2"/>
    <p:sldId id="306" r:id="rId3"/>
    <p:sldId id="307" r:id="rId4"/>
    <p:sldId id="264" r:id="rId5"/>
    <p:sldId id="265" r:id="rId6"/>
    <p:sldId id="266" r:id="rId7"/>
    <p:sldId id="267" r:id="rId8"/>
    <p:sldId id="268" r:id="rId9"/>
    <p:sldId id="269" r:id="rId10"/>
    <p:sldId id="338" r:id="rId11"/>
    <p:sldId id="347" r:id="rId12"/>
    <p:sldId id="339" r:id="rId13"/>
    <p:sldId id="340" r:id="rId14"/>
    <p:sldId id="342" r:id="rId15"/>
    <p:sldId id="343" r:id="rId16"/>
    <p:sldId id="345" r:id="rId17"/>
    <p:sldId id="346" r:id="rId18"/>
    <p:sldId id="330" r:id="rId19"/>
    <p:sldId id="336" r:id="rId20"/>
    <p:sldId id="331" r:id="rId21"/>
    <p:sldId id="332" r:id="rId22"/>
    <p:sldId id="334" r:id="rId23"/>
    <p:sldId id="335" r:id="rId24"/>
    <p:sldId id="329" r:id="rId25"/>
    <p:sldId id="328" r:id="rId26"/>
    <p:sldId id="327" r:id="rId27"/>
    <p:sldId id="326" r:id="rId28"/>
    <p:sldId id="300" r:id="rId29"/>
    <p:sldId id="323" r:id="rId30"/>
    <p:sldId id="350" r:id="rId31"/>
    <p:sldId id="301" r:id="rId32"/>
    <p:sldId id="302" r:id="rId33"/>
    <p:sldId id="316" r:id="rId34"/>
    <p:sldId id="317" r:id="rId35"/>
    <p:sldId id="318" r:id="rId36"/>
    <p:sldId id="319" r:id="rId37"/>
    <p:sldId id="349" r:id="rId38"/>
    <p:sldId id="348" r:id="rId39"/>
    <p:sldId id="321" r:id="rId40"/>
    <p:sldId id="322" r:id="rId41"/>
    <p:sldId id="256" r:id="rId42"/>
    <p:sldId id="257" r:id="rId43"/>
    <p:sldId id="258" r:id="rId44"/>
    <p:sldId id="259" r:id="rId45"/>
    <p:sldId id="260" r:id="rId46"/>
    <p:sldId id="261" r:id="rId47"/>
    <p:sldId id="262" r:id="rId48"/>
    <p:sldId id="263" r:id="rId4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3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1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986745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91850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785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42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81152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508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F56-226E-46C8-9E72-280B08061376}" type="datetimeFigureOut">
              <a:rPr lang="ru-RU" smtClean="0"/>
              <a:t>14.05.2018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7219-B904-40DA-8C9D-B29B18EBE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80098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4F56-226E-46C8-9E72-280B08061376}" type="datetimeFigureOut">
              <a:rPr lang="ru-RU" smtClean="0"/>
              <a:t>14.05.2018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7219-B904-40DA-8C9D-B29B18EBE7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40715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41275" y="6310313"/>
            <a:ext cx="814388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48</a:t>
            </a:r>
            <a:endParaRPr lang="ru-RU" sz="1600" dirty="0" smtClean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 smtClean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 smtClean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 smtClean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Бухгалтерские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71945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</p:sldLayoutIdLst>
  <p:transition spd="slow">
    <p:cut/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Авто-заполнение счетов</a:t>
            </a:r>
          </a:p>
          <a:p>
            <a:r>
              <a:rPr lang="ru-RU" dirty="0" smtClean="0"/>
              <a:t>Итоги регистра бухгалтерии</a:t>
            </a:r>
          </a:p>
          <a:p>
            <a:pPr lvl="1"/>
            <a:r>
              <a:rPr lang="ru-RU" dirty="0" smtClean="0"/>
              <a:t>Алгоритм расчета итогов</a:t>
            </a:r>
          </a:p>
          <a:p>
            <a:r>
              <a:rPr lang="ru-RU" dirty="0"/>
              <a:t>Обусловленное проведение</a:t>
            </a:r>
          </a:p>
          <a:p>
            <a:r>
              <a:rPr lang="ru-RU" dirty="0" smtClean="0"/>
              <a:t>Разделение итогов</a:t>
            </a:r>
          </a:p>
          <a:p>
            <a:r>
              <a:rPr lang="ru-RU" dirty="0" smtClean="0"/>
              <a:t>Синтетическая отчетность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Занятие 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223321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Счета учета номенклатуры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Авто-подстановка счетов учета в документах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691890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79518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Регистр сведений «Счета учета номенклатуры»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1685925"/>
            <a:ext cx="7206029" cy="2993651"/>
          </a:xfrm>
          <a:prstGeom prst="rect">
            <a:avLst/>
          </a:prstGeom>
        </p:spPr>
      </p:pic>
      <p:sp>
        <p:nvSpPr>
          <p:cNvPr id="7" name="Rounded Rectangle 3"/>
          <p:cNvSpPr/>
          <p:nvPr/>
        </p:nvSpPr>
        <p:spPr>
          <a:xfrm>
            <a:off x="376237" y="2664141"/>
            <a:ext cx="8595882" cy="344892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328387" y="2605754"/>
            <a:ext cx="2643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Для всех остальных номенклатурных позиций</a:t>
            </a:r>
            <a:endParaRPr lang="ru-RU" sz="1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99861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Таблицы регистра бухгалтерии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Физические таблицы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267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5862" y="1491449"/>
            <a:ext cx="8784000" cy="4745862"/>
          </a:xfrm>
        </p:spPr>
        <p:txBody>
          <a:bodyPr/>
          <a:lstStyle/>
          <a:p>
            <a:r>
              <a:rPr lang="ru-RU" dirty="0" smtClean="0"/>
              <a:t>Таблица движений по счетам</a:t>
            </a:r>
          </a:p>
          <a:p>
            <a:r>
              <a:rPr lang="ru-RU" dirty="0" smtClean="0"/>
              <a:t>Таблица субконто (пока нет, настроим на занятии 3)</a:t>
            </a:r>
          </a:p>
          <a:p>
            <a:r>
              <a:rPr lang="ru-RU" dirty="0" smtClean="0"/>
              <a:t>Таблица оборотов между счетами</a:t>
            </a:r>
          </a:p>
          <a:p>
            <a:r>
              <a:rPr lang="ru-RU" dirty="0" smtClean="0"/>
              <a:t>Таблица остатков и оборотов по счетам (количество таблиц зависит от количество субконто подключенного к плану счетов, пока одна)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5862" y="548679"/>
            <a:ext cx="8784000" cy="942769"/>
          </a:xfrm>
        </p:spPr>
        <p:txBody>
          <a:bodyPr/>
          <a:lstStyle/>
          <a:p>
            <a:r>
              <a:rPr lang="ru-RU" dirty="0" smtClean="0"/>
              <a:t>Состав физических таблиц регистра бухгалтерии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842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движений по счетам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48378"/>
              </p:ext>
            </p:extLst>
          </p:nvPr>
        </p:nvGraphicFramePr>
        <p:xfrm>
          <a:off x="1688080" y="1680446"/>
          <a:ext cx="5337353" cy="17068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76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92839"/>
          </a:xfrm>
        </p:spPr>
        <p:txBody>
          <a:bodyPr/>
          <a:lstStyle/>
          <a:p>
            <a:r>
              <a:rPr lang="ru-RU" dirty="0" smtClean="0"/>
              <a:t>Таблица остатков и оборотов по счетам 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32315"/>
              </p:ext>
            </p:extLst>
          </p:nvPr>
        </p:nvGraphicFramePr>
        <p:xfrm>
          <a:off x="1589991" y="1705014"/>
          <a:ext cx="5608830" cy="3129280"/>
        </p:xfrm>
        <a:graphic>
          <a:graphicData uri="http://schemas.openxmlformats.org/drawingml/2006/table">
            <a:tbl>
              <a:tblPr/>
              <a:tblGrid>
                <a:gridCol w="1005299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413957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854095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821403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823445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90631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статок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борот</a:t>
                      </a: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 Дт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борот</a:t>
                      </a: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 Кт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О</a:t>
                      </a: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14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74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оборотов между счетами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445926"/>
              </p:ext>
            </p:extLst>
          </p:nvPr>
        </p:nvGraphicFramePr>
        <p:xfrm>
          <a:off x="1904417" y="1813371"/>
          <a:ext cx="5351404" cy="1422400"/>
        </p:xfrm>
        <a:graphic>
          <a:graphicData uri="http://schemas.openxmlformats.org/drawingml/2006/table">
            <a:tbl>
              <a:tblPr/>
              <a:tblGrid>
                <a:gridCol w="1218367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475838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545112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1112087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x-none" sz="1200" b="1" dirty="0" smtClean="0">
                          <a:effectLst/>
                          <a:latin typeface="Calibri" panose="020F0502020204030204" pitchFamily="34" charset="0"/>
                        </a:rPr>
                        <a:t> 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2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Алгоритм расчета итогов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328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133483"/>
              </p:ext>
            </p:extLst>
          </p:nvPr>
        </p:nvGraphicFramePr>
        <p:xfrm>
          <a:off x="5147572" y="3276411"/>
          <a:ext cx="3952038" cy="467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2077"/>
              </p:ext>
            </p:extLst>
          </p:nvPr>
        </p:nvGraphicFramePr>
        <p:xfrm>
          <a:off x="35512" y="2926984"/>
          <a:ext cx="5020056" cy="6502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763898"/>
              </p:ext>
            </p:extLst>
          </p:nvPr>
        </p:nvGraphicFramePr>
        <p:xfrm>
          <a:off x="1264131" y="766046"/>
          <a:ext cx="5337353" cy="2844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77657836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467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5512" y="2926984"/>
          <a:ext cx="5020056" cy="6502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2844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147572" y="4927411"/>
            <a:ext cx="3952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rgbClr val="00B050"/>
                </a:solidFill>
              </a:rPr>
              <a:t>Расчет итогов на конец февраля</a:t>
            </a:r>
            <a:endParaRPr lang="ru-RU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69661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498154"/>
              </p:ext>
            </p:extLst>
          </p:nvPr>
        </p:nvGraphicFramePr>
        <p:xfrm>
          <a:off x="5147572" y="3276411"/>
          <a:ext cx="3952038" cy="467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156624"/>
              </p:ext>
            </p:extLst>
          </p:nvPr>
        </p:nvGraphicFramePr>
        <p:xfrm>
          <a:off x="35512" y="2926984"/>
          <a:ext cx="5020056" cy="6502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457881"/>
              </p:ext>
            </p:extLst>
          </p:nvPr>
        </p:nvGraphicFramePr>
        <p:xfrm>
          <a:off x="1264131" y="766046"/>
          <a:ext cx="5337353" cy="5689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1061555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1011025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1011025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8271521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806958"/>
              </p:ext>
            </p:extLst>
          </p:nvPr>
        </p:nvGraphicFramePr>
        <p:xfrm>
          <a:off x="5147572" y="3276411"/>
          <a:ext cx="3952038" cy="7518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510641"/>
              </p:ext>
            </p:extLst>
          </p:nvPr>
        </p:nvGraphicFramePr>
        <p:xfrm>
          <a:off x="35512" y="2926984"/>
          <a:ext cx="5020056" cy="17881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03868"/>
              </p:ext>
            </p:extLst>
          </p:nvPr>
        </p:nvGraphicFramePr>
        <p:xfrm>
          <a:off x="1264131" y="766046"/>
          <a:ext cx="5337353" cy="5689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293342" y="1895193"/>
            <a:ext cx="712959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34192" y="3553724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34192" y="3871166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91512" y="4115417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91512" y="4407791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091644" y="3712445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851458" y="1901907"/>
            <a:ext cx="712959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14733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589257"/>
              </p:ext>
            </p:extLst>
          </p:nvPr>
        </p:nvGraphicFramePr>
        <p:xfrm>
          <a:off x="5147572" y="3276411"/>
          <a:ext cx="3952038" cy="7518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66574"/>
              </p:ext>
            </p:extLst>
          </p:nvPr>
        </p:nvGraphicFramePr>
        <p:xfrm>
          <a:off x="35512" y="2926984"/>
          <a:ext cx="5020056" cy="17881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61311"/>
              </p:ext>
            </p:extLst>
          </p:nvPr>
        </p:nvGraphicFramePr>
        <p:xfrm>
          <a:off x="1264131" y="766046"/>
          <a:ext cx="5337353" cy="8534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1354512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1303982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1303982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3537905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878294"/>
              </p:ext>
            </p:extLst>
          </p:nvPr>
        </p:nvGraphicFramePr>
        <p:xfrm>
          <a:off x="5147572" y="3276411"/>
          <a:ext cx="3952038" cy="7518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705770"/>
              </p:ext>
            </p:extLst>
          </p:nvPr>
        </p:nvGraphicFramePr>
        <p:xfrm>
          <a:off x="35512" y="2926984"/>
          <a:ext cx="5020056" cy="17881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381971"/>
              </p:ext>
            </p:extLst>
          </p:nvPr>
        </p:nvGraphicFramePr>
        <p:xfrm>
          <a:off x="1264131" y="766046"/>
          <a:ext cx="5337353" cy="8534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293342" y="1895193"/>
            <a:ext cx="712959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6080" y="3552088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26080" y="3869530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82634" y="4137213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82634" y="4429587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119608" y="3739357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851458" y="1901907"/>
            <a:ext cx="712959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49721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693962"/>
              </p:ext>
            </p:extLst>
          </p:nvPr>
        </p:nvGraphicFramePr>
        <p:xfrm>
          <a:off x="5147572" y="3276411"/>
          <a:ext cx="3952038" cy="7518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83090"/>
              </p:ext>
            </p:extLst>
          </p:nvPr>
        </p:nvGraphicFramePr>
        <p:xfrm>
          <a:off x="35512" y="2926984"/>
          <a:ext cx="5020056" cy="17881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69960"/>
              </p:ext>
            </p:extLst>
          </p:nvPr>
        </p:nvGraphicFramePr>
        <p:xfrm>
          <a:off x="1264131" y="766046"/>
          <a:ext cx="5337353" cy="11379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1620844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1570314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1570314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6737083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114218"/>
              </p:ext>
            </p:extLst>
          </p:nvPr>
        </p:nvGraphicFramePr>
        <p:xfrm>
          <a:off x="5147572" y="3276411"/>
          <a:ext cx="3952038" cy="10363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374265"/>
              </p:ext>
            </p:extLst>
          </p:nvPr>
        </p:nvGraphicFramePr>
        <p:xfrm>
          <a:off x="35512" y="2926984"/>
          <a:ext cx="5020056" cy="23571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537106"/>
              </p:ext>
            </p:extLst>
          </p:nvPr>
        </p:nvGraphicFramePr>
        <p:xfrm>
          <a:off x="1264131" y="766046"/>
          <a:ext cx="5337353" cy="11379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132534" y="1679520"/>
            <a:ext cx="998000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44118" y="3820625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44118" y="4138067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91512" y="4696481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91512" y="4988855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091644" y="4034049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742804" y="1702954"/>
            <a:ext cx="966842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24839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183359"/>
              </p:ext>
            </p:extLst>
          </p:nvPr>
        </p:nvGraphicFramePr>
        <p:xfrm>
          <a:off x="5147572" y="3276411"/>
          <a:ext cx="3952038" cy="10363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816142"/>
              </p:ext>
            </p:extLst>
          </p:nvPr>
        </p:nvGraphicFramePr>
        <p:xfrm>
          <a:off x="35512" y="2926984"/>
          <a:ext cx="5020056" cy="23571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830668"/>
              </p:ext>
            </p:extLst>
          </p:nvPr>
        </p:nvGraphicFramePr>
        <p:xfrm>
          <a:off x="1264131" y="766046"/>
          <a:ext cx="5337353" cy="11379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147572" y="4927411"/>
            <a:ext cx="3952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rgbClr val="00B050"/>
                </a:solidFill>
              </a:rPr>
              <a:t>Расчет итогов на конец марта</a:t>
            </a:r>
            <a:endParaRPr lang="ru-RU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95525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0363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1379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0" y="4372828"/>
            <a:ext cx="5147572" cy="964747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91494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567067"/>
              </p:ext>
            </p:extLst>
          </p:nvPr>
        </p:nvGraphicFramePr>
        <p:xfrm>
          <a:off x="5147572" y="3276411"/>
          <a:ext cx="3952038" cy="103632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814069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970052"/>
              </p:ext>
            </p:extLst>
          </p:nvPr>
        </p:nvGraphicFramePr>
        <p:xfrm>
          <a:off x="1264131" y="766046"/>
          <a:ext cx="5337353" cy="14224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1913810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1863280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1863280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1859338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961799"/>
              </p:ext>
            </p:extLst>
          </p:nvPr>
        </p:nvGraphicFramePr>
        <p:xfrm>
          <a:off x="5147572" y="3276411"/>
          <a:ext cx="3952038" cy="13208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389501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874188"/>
              </p:ext>
            </p:extLst>
          </p:nvPr>
        </p:nvGraphicFramePr>
        <p:xfrm>
          <a:off x="1264131" y="766046"/>
          <a:ext cx="5337353" cy="14224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293342" y="1895193"/>
            <a:ext cx="712959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6080" y="4391087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26080" y="4708529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91512" y="5268701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91512" y="5561075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091644" y="4291045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851458" y="1901907"/>
            <a:ext cx="712959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329499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3208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7782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7068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2189023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2138493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2138493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0150677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3208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41591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7068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293342" y="1895193"/>
            <a:ext cx="712959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6080" y="4408849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26080" y="4726291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91512" y="5286463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91512" y="5578837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091644" y="4291045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851458" y="1901907"/>
            <a:ext cx="712959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109707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016426"/>
              </p:ext>
            </p:extLst>
          </p:nvPr>
        </p:nvGraphicFramePr>
        <p:xfrm>
          <a:off x="5147572" y="3276411"/>
          <a:ext cx="3952038" cy="132080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44881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991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4315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22" name="Стрелка влево 21"/>
          <p:cNvSpPr/>
          <p:nvPr/>
        </p:nvSpPr>
        <p:spPr>
          <a:xfrm>
            <a:off x="6699047" y="2463343"/>
            <a:ext cx="495239" cy="29406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1240204" y="2412813"/>
            <a:ext cx="5434916" cy="360040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7149278" y="2412813"/>
            <a:ext cx="19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Документ-объект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44853034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6052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526299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991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4315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4" name="Стрелка углом 13"/>
          <p:cNvSpPr/>
          <p:nvPr/>
        </p:nvSpPr>
        <p:spPr>
          <a:xfrm rot="16200000" flipH="1">
            <a:off x="293342" y="1895193"/>
            <a:ext cx="712959" cy="101146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26080" y="4675182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926080" y="4992624"/>
            <a:ext cx="2129488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91512" y="5552796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191512" y="5845170"/>
            <a:ext cx="816864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091644" y="4592797"/>
            <a:ext cx="4007966" cy="317442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углом 20"/>
          <p:cNvSpPr/>
          <p:nvPr/>
        </p:nvSpPr>
        <p:spPr>
          <a:xfrm rot="16200000" flipH="1" flipV="1">
            <a:off x="6851458" y="1901907"/>
            <a:ext cx="712959" cy="995757"/>
          </a:xfrm>
          <a:prstGeom prst="bentArrow">
            <a:avLst>
              <a:gd name="adj1" fmla="val 15134"/>
              <a:gd name="adj2" fmla="val 229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247265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5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6052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21137"/>
              </p:ext>
            </p:extLst>
          </p:nvPr>
        </p:nvGraphicFramePr>
        <p:xfrm>
          <a:off x="35512" y="2926984"/>
          <a:ext cx="5020056" cy="32105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991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4315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B050"/>
                </a:solidFill>
              </a:rPr>
              <a:t>Таблица движений по счетам</a:t>
            </a:r>
            <a:r>
              <a:rPr lang="ru-RU" sz="1400" dirty="0" smtClean="0">
                <a:solidFill>
                  <a:srgbClr val="00B050"/>
                </a:solidFill>
              </a:rPr>
              <a:t> </a:t>
            </a:r>
            <a:r>
              <a:rPr lang="ru-RU" sz="1400" dirty="0" smtClean="0"/>
              <a:t>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C00000"/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47572" y="4927411"/>
            <a:ext cx="3952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solidFill>
                  <a:srgbClr val="00B050"/>
                </a:solidFill>
              </a:rPr>
              <a:t>Расчет итогов на конец апреля</a:t>
            </a:r>
            <a:endParaRPr lang="ru-RU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5287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5147572" y="3276411"/>
          <a:ext cx="3952038" cy="160528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575158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517116"/>
              </p:ext>
            </p:extLst>
          </p:nvPr>
        </p:nvGraphicFramePr>
        <p:xfrm>
          <a:off x="35512" y="2926984"/>
          <a:ext cx="5020056" cy="34950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842433"/>
                  </a:ext>
                </a:extLst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264131" y="766046"/>
          <a:ext cx="5337353" cy="1991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12.04.2018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4315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69507" y="513306"/>
            <a:ext cx="5317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3">
                    <a:lumMod val="50000"/>
                  </a:schemeClr>
                </a:solidFill>
              </a:rPr>
              <a:t>Таблица движений по счетам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35512" y="2684254"/>
            <a:ext cx="511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accent2">
                    <a:lumMod val="50000"/>
                  </a:schemeClr>
                </a:solidFill>
              </a:rPr>
              <a:t>Таблица остатков и оборотов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7572" y="2784813"/>
            <a:ext cx="3952038" cy="527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 smtClean="0">
                <a:solidFill>
                  <a:srgbClr val="0070C0"/>
                </a:solidFill>
              </a:rPr>
              <a:t>Таблица оборотов между счетами</a:t>
            </a:r>
            <a:r>
              <a:rPr lang="ru-RU" sz="1400" dirty="0" smtClean="0"/>
              <a:t> регистра бухгалтерии «Проводки»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7756" y="5226985"/>
            <a:ext cx="5147572" cy="964747"/>
          </a:xfrm>
          <a:prstGeom prst="round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268111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набор записей без документ-объекта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74684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Объектная модель доступа к данным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27584" y="1667435"/>
            <a:ext cx="2088232" cy="8974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Регистры бухгалтерии менеджер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27584" y="2996952"/>
            <a:ext cx="2088232" cy="77387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 бухгалтерии менеджер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3077" y="4202870"/>
            <a:ext cx="2088232" cy="77387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Регистр бухгалтерии Набор записей</a:t>
            </a:r>
            <a:endParaRPr lang="ru-RU" dirty="0"/>
          </a:p>
        </p:txBody>
      </p:sp>
      <p:sp>
        <p:nvSpPr>
          <p:cNvPr id="9" name="Стрелка вниз 8"/>
          <p:cNvSpPr/>
          <p:nvPr/>
        </p:nvSpPr>
        <p:spPr>
          <a:xfrm>
            <a:off x="1691680" y="2564904"/>
            <a:ext cx="288032" cy="43204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 вниз 9"/>
          <p:cNvSpPr/>
          <p:nvPr/>
        </p:nvSpPr>
        <p:spPr>
          <a:xfrm>
            <a:off x="1686073" y="3770822"/>
            <a:ext cx="288032" cy="43204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347864" y="1844824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Из какого регистра сведений будем читать информацию (или записывать)?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347864" y="299695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Создание набора записей.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347864" y="4149080"/>
            <a:ext cx="54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Чтение движений (если нужно);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Запись движений (если нужно).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94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Обусловленное проведение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4680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5568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Нельзя проводить документ, если по данным учета нет денег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427663"/>
            <a:ext cx="710565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1952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285860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 smtClean="0"/>
              <a:t>Оперативная память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929066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Новая технология проведения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500306"/>
            <a:ext cx="2232000" cy="928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Документ объект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429132"/>
            <a:ext cx="2232000" cy="151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регистра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429132"/>
            <a:ext cx="2232000" cy="151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428868"/>
            <a:ext cx="2232000" cy="1143008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Набор записей</a:t>
            </a:r>
            <a:endParaRPr lang="ru-RU" dirty="0"/>
          </a:p>
        </p:txBody>
      </p:sp>
      <p:sp>
        <p:nvSpPr>
          <p:cNvPr id="7" name="Стрелка вправо 6"/>
          <p:cNvSpPr/>
          <p:nvPr/>
        </p:nvSpPr>
        <p:spPr>
          <a:xfrm>
            <a:off x="3286116" y="2786058"/>
            <a:ext cx="2286016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Стрелка вниз 7"/>
          <p:cNvSpPr/>
          <p:nvPr/>
        </p:nvSpPr>
        <p:spPr>
          <a:xfrm>
            <a:off x="6572264" y="3643314"/>
            <a:ext cx="428628" cy="71438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Стрелка углом 8"/>
          <p:cNvSpPr/>
          <p:nvPr/>
        </p:nvSpPr>
        <p:spPr>
          <a:xfrm rot="16200000">
            <a:off x="3393273" y="3178967"/>
            <a:ext cx="3000396" cy="1500198"/>
          </a:xfrm>
          <a:prstGeom prst="ben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428992" y="1428736"/>
            <a:ext cx="2232000" cy="92869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Результат запроса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786446" y="1500174"/>
            <a:ext cx="263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Анализ строк на «минус»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4" name="Стрелка вниз 13"/>
          <p:cNvSpPr/>
          <p:nvPr/>
        </p:nvSpPr>
        <p:spPr>
          <a:xfrm>
            <a:off x="2000232" y="3500438"/>
            <a:ext cx="428628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71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Разделение итогов регистра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81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Разрешить разделение итогов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7" y="1152525"/>
            <a:ext cx="4733925" cy="4552950"/>
          </a:xfrm>
          <a:prstGeom prst="rect">
            <a:avLst/>
          </a:prstGeom>
        </p:spPr>
      </p:pic>
      <p:sp>
        <p:nvSpPr>
          <p:cNvPr id="6" name="Rounded Rectangle 3"/>
          <p:cNvSpPr/>
          <p:nvPr/>
        </p:nvSpPr>
        <p:spPr>
          <a:xfrm>
            <a:off x="3878637" y="2136142"/>
            <a:ext cx="2987898" cy="399246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22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25623"/>
          </a:xfrm>
        </p:spPr>
        <p:txBody>
          <a:bodyPr/>
          <a:lstStyle/>
          <a:p>
            <a:r>
              <a:rPr lang="ru-RU" dirty="0" smtClean="0"/>
              <a:t>Одновременное проведение документов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28650" y="1600198"/>
            <a:ext cx="41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Таблица движений по счетам</a:t>
            </a:r>
            <a:endParaRPr lang="ru-RU" dirty="0"/>
          </a:p>
        </p:txBody>
      </p:sp>
      <p:sp>
        <p:nvSpPr>
          <p:cNvPr id="10" name="Rounded Rectangle 3"/>
          <p:cNvSpPr/>
          <p:nvPr/>
        </p:nvSpPr>
        <p:spPr>
          <a:xfrm>
            <a:off x="408374" y="3416614"/>
            <a:ext cx="5903650" cy="689785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644586"/>
              </p:ext>
            </p:extLst>
          </p:nvPr>
        </p:nvGraphicFramePr>
        <p:xfrm>
          <a:off x="749227" y="2035613"/>
          <a:ext cx="5337353" cy="199136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3352778504"/>
                    </a:ext>
                  </a:extLst>
                </a:gridCol>
                <a:gridCol w="1409090">
                  <a:extLst>
                    <a:ext uri="{9D8B030D-6E8A-4147-A177-3AD203B41FA5}">
                      <a16:colId xmlns:a16="http://schemas.microsoft.com/office/drawing/2014/main" val="306537327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709468655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858025233"/>
                    </a:ext>
                  </a:extLst>
                </a:gridCol>
                <a:gridCol w="551383">
                  <a:extLst>
                    <a:ext uri="{9D8B030D-6E8A-4147-A177-3AD203B41FA5}">
                      <a16:colId xmlns:a16="http://schemas.microsoft.com/office/drawing/2014/main" val="2626720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ru-RU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1 от 03.03.2018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3573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135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ПН 3 от 25.03.2018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97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4 от 05.04.2018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11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  <a:endParaRPr lang="ru-RU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5 от 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12.04.2018</a:t>
                      </a:r>
                      <a:endParaRPr lang="ru-RU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292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ПН 6 от 25.04.2018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843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68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Таблица остатков и оборотов по счетам</a:t>
            </a:r>
            <a:r>
              <a:rPr lang="en-US" dirty="0" smtClean="0"/>
              <a:t> </a:t>
            </a:r>
            <a:r>
              <a:rPr lang="ru-RU" dirty="0" smtClean="0"/>
              <a:t>без разделителя.</a:t>
            </a:r>
            <a:endParaRPr lang="ru-RU" dirty="0"/>
          </a:p>
        </p:txBody>
      </p:sp>
      <p:sp>
        <p:nvSpPr>
          <p:cNvPr id="10" name="Rounded Rectangle 3"/>
          <p:cNvSpPr/>
          <p:nvPr/>
        </p:nvSpPr>
        <p:spPr>
          <a:xfrm>
            <a:off x="506027" y="3217025"/>
            <a:ext cx="5370990" cy="591885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484959"/>
              </p:ext>
            </p:extLst>
          </p:nvPr>
        </p:nvGraphicFramePr>
        <p:xfrm>
          <a:off x="727971" y="1748962"/>
          <a:ext cx="5020056" cy="34950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84243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076603" y="2734887"/>
            <a:ext cx="2801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Обороты по счетам изменяются последовательно, сначала первая проводка..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26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Таблица остатков и оборотов по счетам</a:t>
            </a:r>
            <a:r>
              <a:rPr lang="en-US" dirty="0" smtClean="0"/>
              <a:t> </a:t>
            </a:r>
            <a:r>
              <a:rPr lang="ru-RU" dirty="0"/>
              <a:t>без разделителя.</a:t>
            </a:r>
          </a:p>
        </p:txBody>
      </p:sp>
      <p:sp>
        <p:nvSpPr>
          <p:cNvPr id="10" name="Rounded Rectangle 3"/>
          <p:cNvSpPr/>
          <p:nvPr/>
        </p:nvSpPr>
        <p:spPr>
          <a:xfrm>
            <a:off x="506027" y="3496482"/>
            <a:ext cx="5370990" cy="643256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9" name="Таблица 28"/>
          <p:cNvGraphicFramePr>
            <a:graphicFrameLocks noGrp="1"/>
          </p:cNvGraphicFramePr>
          <p:nvPr>
            <p:extLst/>
          </p:nvPr>
        </p:nvGraphicFramePr>
        <p:xfrm>
          <a:off x="727971" y="1748962"/>
          <a:ext cx="5020056" cy="3495040"/>
        </p:xfrm>
        <a:graphic>
          <a:graphicData uri="http://schemas.openxmlformats.org/drawingml/2006/table">
            <a:tbl>
              <a:tblPr/>
              <a:tblGrid>
                <a:gridCol w="899770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65530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764438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735178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37006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18134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…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8424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76603" y="2734887"/>
            <a:ext cx="2801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..потом вторая проводка.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986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883961"/>
          </a:xfrm>
        </p:spPr>
        <p:txBody>
          <a:bodyPr/>
          <a:lstStyle/>
          <a:p>
            <a:r>
              <a:rPr lang="ru-RU" dirty="0" smtClean="0"/>
              <a:t>Таблица остатков и оборотов по счетам</a:t>
            </a:r>
            <a:r>
              <a:rPr lang="en-US" dirty="0" smtClean="0"/>
              <a:t> </a:t>
            </a:r>
            <a:r>
              <a:rPr lang="ru-RU" dirty="0" smtClean="0"/>
              <a:t>с разделителем.</a:t>
            </a:r>
            <a:endParaRPr lang="ru-RU" dirty="0"/>
          </a:p>
        </p:txBody>
      </p:sp>
      <p:sp>
        <p:nvSpPr>
          <p:cNvPr id="10" name="Rounded Rectangle 3"/>
          <p:cNvSpPr/>
          <p:nvPr/>
        </p:nvSpPr>
        <p:spPr>
          <a:xfrm>
            <a:off x="5877017" y="1624614"/>
            <a:ext cx="1420428" cy="4554244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9" name="Таблица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050684"/>
              </p:ext>
            </p:extLst>
          </p:nvPr>
        </p:nvGraphicFramePr>
        <p:xfrm>
          <a:off x="727971" y="1748962"/>
          <a:ext cx="6471820" cy="4348480"/>
        </p:xfrm>
        <a:graphic>
          <a:graphicData uri="http://schemas.openxmlformats.org/drawingml/2006/table">
            <a:tbl>
              <a:tblPr/>
              <a:tblGrid>
                <a:gridCol w="1032805">
                  <a:extLst>
                    <a:ext uri="{9D8B030D-6E8A-4147-A177-3AD203B41FA5}">
                      <a16:colId xmlns:a16="http://schemas.microsoft.com/office/drawing/2014/main" val="1044504494"/>
                    </a:ext>
                  </a:extLst>
                </a:gridCol>
                <a:gridCol w="1239876">
                  <a:extLst>
                    <a:ext uri="{9D8B030D-6E8A-4147-A177-3AD203B41FA5}">
                      <a16:colId xmlns:a16="http://schemas.microsoft.com/office/drawing/2014/main" val="2033598786"/>
                    </a:ext>
                  </a:extLst>
                </a:gridCol>
                <a:gridCol w="665826">
                  <a:extLst>
                    <a:ext uri="{9D8B030D-6E8A-4147-A177-3AD203B41FA5}">
                      <a16:colId xmlns:a16="http://schemas.microsoft.com/office/drawing/2014/main" val="3862500290"/>
                    </a:ext>
                  </a:extLst>
                </a:gridCol>
                <a:gridCol w="834501">
                  <a:extLst>
                    <a:ext uri="{9D8B030D-6E8A-4147-A177-3AD203B41FA5}">
                      <a16:colId xmlns:a16="http://schemas.microsoft.com/office/drawing/2014/main" val="3242311276"/>
                    </a:ext>
                  </a:extLst>
                </a:gridCol>
                <a:gridCol w="781235">
                  <a:extLst>
                    <a:ext uri="{9D8B030D-6E8A-4147-A177-3AD203B41FA5}">
                      <a16:colId xmlns:a16="http://schemas.microsoft.com/office/drawing/2014/main" val="3022352208"/>
                    </a:ext>
                  </a:extLst>
                </a:gridCol>
                <a:gridCol w="656947">
                  <a:extLst>
                    <a:ext uri="{9D8B030D-6E8A-4147-A177-3AD203B41FA5}">
                      <a16:colId xmlns:a16="http://schemas.microsoft.com/office/drawing/2014/main" val="3750921934"/>
                    </a:ext>
                  </a:extLst>
                </a:gridCol>
                <a:gridCol w="1260630">
                  <a:extLst>
                    <a:ext uri="{9D8B030D-6E8A-4147-A177-3AD203B41FA5}">
                      <a16:colId xmlns:a16="http://schemas.microsoft.com/office/drawing/2014/main" val="2455950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остаток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 дебет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Сумма оборот кредит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Оборот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Разделитель</a:t>
                      </a:r>
                      <a:endParaRPr lang="x-none" sz="1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81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62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22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946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-6200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81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  <a:r>
                        <a:rPr lang="x-none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357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71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289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08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01.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  <a:r>
                        <a:rPr lang="x-none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81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842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r>
                        <a:rPr lang="en-US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717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 smtClean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6100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200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92482"/>
                  </a:ext>
                </a:extLst>
              </a:tr>
            </a:tbl>
          </a:graphicData>
        </a:graphic>
      </p:graphicFrame>
      <p:sp>
        <p:nvSpPr>
          <p:cNvPr id="5" name="Rounded Rectangle 3"/>
          <p:cNvSpPr/>
          <p:nvPr/>
        </p:nvSpPr>
        <p:spPr>
          <a:xfrm>
            <a:off x="532014" y="3241964"/>
            <a:ext cx="7581723" cy="1119880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7482423" y="2884516"/>
            <a:ext cx="15950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Обороты по счетам изменяются </a:t>
            </a:r>
            <a:r>
              <a:rPr lang="ru-RU" dirty="0" smtClean="0"/>
              <a:t>сразу по всем проводкам!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151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250"/>
                            </p:stCondLst>
                            <p:childTnLst>
                              <p:par>
                                <p:cTn id="2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5" grpId="0" animBg="1"/>
      <p:bldP spid="5" grpId="1" animBg="1"/>
      <p:bldP spid="5" grpId="2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37227"/>
          </a:xfrm>
        </p:spPr>
        <p:txBody>
          <a:bodyPr/>
          <a:lstStyle/>
          <a:p>
            <a:r>
              <a:rPr lang="ru-RU" dirty="0"/>
              <a:t>Таблица </a:t>
            </a:r>
            <a:r>
              <a:rPr lang="ru-RU" dirty="0" smtClean="0"/>
              <a:t>оборотов между счетами</a:t>
            </a:r>
            <a:r>
              <a:rPr lang="en-US" dirty="0" smtClean="0"/>
              <a:t> </a:t>
            </a:r>
            <a:r>
              <a:rPr lang="ru-RU" dirty="0" smtClean="0"/>
              <a:t>без разделителя.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83123"/>
              </p:ext>
            </p:extLst>
          </p:nvPr>
        </p:nvGraphicFramePr>
        <p:xfrm>
          <a:off x="742950" y="1989148"/>
          <a:ext cx="4788000" cy="1605280"/>
        </p:xfrm>
        <a:graphic>
          <a:graphicData uri="http://schemas.openxmlformats.org/drawingml/2006/table">
            <a:tbl>
              <a:tblPr/>
              <a:tblGrid>
                <a:gridCol w="1090095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467862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533224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696819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04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53914"/>
          </a:xfrm>
        </p:spPr>
        <p:txBody>
          <a:bodyPr/>
          <a:lstStyle/>
          <a:p>
            <a:r>
              <a:rPr lang="ru-RU" dirty="0"/>
              <a:t>Таблица оборотов между счетами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ru-RU" dirty="0" err="1" smtClean="0"/>
              <a:t>разделем</a:t>
            </a:r>
            <a:r>
              <a:rPr lang="ru-RU" dirty="0" smtClean="0"/>
              <a:t>.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636522"/>
              </p:ext>
            </p:extLst>
          </p:nvPr>
        </p:nvGraphicFramePr>
        <p:xfrm>
          <a:off x="732559" y="2015775"/>
          <a:ext cx="6048616" cy="1605280"/>
        </p:xfrm>
        <a:graphic>
          <a:graphicData uri="http://schemas.openxmlformats.org/drawingml/2006/table">
            <a:tbl>
              <a:tblPr/>
              <a:tblGrid>
                <a:gridCol w="1202148">
                  <a:extLst>
                    <a:ext uri="{9D8B030D-6E8A-4147-A177-3AD203B41FA5}">
                      <a16:colId xmlns:a16="http://schemas.microsoft.com/office/drawing/2014/main" val="1294318499"/>
                    </a:ext>
                  </a:extLst>
                </a:gridCol>
                <a:gridCol w="1270132">
                  <a:extLst>
                    <a:ext uri="{9D8B030D-6E8A-4147-A177-3AD203B41FA5}">
                      <a16:colId xmlns:a16="http://schemas.microsoft.com/office/drawing/2014/main" val="3360125529"/>
                    </a:ext>
                  </a:extLst>
                </a:gridCol>
                <a:gridCol w="1340528">
                  <a:extLst>
                    <a:ext uri="{9D8B030D-6E8A-4147-A177-3AD203B41FA5}">
                      <a16:colId xmlns:a16="http://schemas.microsoft.com/office/drawing/2014/main" val="2147814906"/>
                    </a:ext>
                  </a:extLst>
                </a:gridCol>
                <a:gridCol w="736847">
                  <a:extLst>
                    <a:ext uri="{9D8B030D-6E8A-4147-A177-3AD203B41FA5}">
                      <a16:colId xmlns:a16="http://schemas.microsoft.com/office/drawing/2014/main" val="4084153852"/>
                    </a:ext>
                  </a:extLst>
                </a:gridCol>
                <a:gridCol w="1498961">
                  <a:extLst>
                    <a:ext uri="{9D8B030D-6E8A-4147-A177-3AD203B41FA5}">
                      <a16:colId xmlns:a16="http://schemas.microsoft.com/office/drawing/2014/main" val="2320318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 dirty="0">
                          <a:effectLst/>
                          <a:latin typeface="Calibri" panose="020F0502020204030204" pitchFamily="34" charset="0"/>
                        </a:rPr>
                        <a:t>Счет Дебет</a:t>
                      </a:r>
                      <a:endParaRPr lang="x-none" sz="12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Счет Кредит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b="1">
                          <a:effectLst/>
                          <a:latin typeface="Calibri" panose="020F0502020204030204" pitchFamily="34" charset="0"/>
                        </a:rPr>
                        <a:t>Сумма оборот</a:t>
                      </a:r>
                      <a:endParaRPr lang="x-none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effectLst/>
                          <a:latin typeface="Calibri" panose="020F0502020204030204" pitchFamily="34" charset="0"/>
                        </a:rPr>
                        <a:t>Разделитель</a:t>
                      </a:r>
                      <a:endParaRPr lang="x-none" sz="1200" b="1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2800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764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01.03.2018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3400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7F6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7F6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0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41 (товары)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3700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6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01.04.2018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10 (материалы)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60 (поставщики)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200" dirty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solidFill>
                            <a:srgbClr val="1E4E7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200" dirty="0">
                        <a:solidFill>
                          <a:srgbClr val="1E4E7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612180"/>
                  </a:ext>
                </a:extLst>
              </a:tr>
            </a:tbl>
          </a:graphicData>
        </a:graphic>
      </p:graphicFrame>
      <p:sp>
        <p:nvSpPr>
          <p:cNvPr id="10" name="Rounded Rectangle 3"/>
          <p:cNvSpPr/>
          <p:nvPr/>
        </p:nvSpPr>
        <p:spPr>
          <a:xfrm>
            <a:off x="5246703" y="1793290"/>
            <a:ext cx="1642369" cy="2006353"/>
          </a:xfrm>
          <a:prstGeom prst="roundRect">
            <a:avLst/>
          </a:prstGeom>
          <a:solidFill>
            <a:srgbClr val="C00000">
              <a:alpha val="10000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66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Синтетическая отчетность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Сводные отчеты без существенной детализации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056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Сводные проводки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03" y="1199586"/>
            <a:ext cx="6751848" cy="502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7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Шахматная ведомость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2" y="1690689"/>
            <a:ext cx="8281555" cy="399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90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77401"/>
          </a:xfrm>
        </p:spPr>
        <p:txBody>
          <a:bodyPr/>
          <a:lstStyle/>
          <a:p>
            <a:r>
              <a:rPr lang="ru-RU" dirty="0" err="1" smtClean="0"/>
              <a:t>Оборотно</a:t>
            </a:r>
            <a:r>
              <a:rPr lang="ru-RU" dirty="0" smtClean="0"/>
              <a:t>-сальдовая ведомость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86" y="1362966"/>
            <a:ext cx="8363893" cy="48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0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счета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409700"/>
            <a:ext cx="7086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2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Журнальный ордер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5" y="1302016"/>
            <a:ext cx="8812228" cy="441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Ведомость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9" y="1226979"/>
            <a:ext cx="8804770" cy="45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 счета по датам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233106"/>
            <a:ext cx="688657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4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офтБаланс_БухгалтерскийУчет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БухгалтерскийУчет" id="{6670B6C7-2F4E-4802-A3C4-7AA80492A898}" vid="{AB6A078B-6BB8-4032-BA3D-357D6E16E8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СофтБаланс_БухгалтерскийУчет</Template>
  <TotalTime>1649</TotalTime>
  <Words>4145</Words>
  <Application>Microsoft Office PowerPoint</Application>
  <PresentationFormat>Экран (4:3)</PresentationFormat>
  <Paragraphs>1906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5" baseType="lpstr">
      <vt:lpstr>Arial</vt:lpstr>
      <vt:lpstr>Arial Black</vt:lpstr>
      <vt:lpstr>Calibri</vt:lpstr>
      <vt:lpstr>Tahoma</vt:lpstr>
      <vt:lpstr>Verdana</vt:lpstr>
      <vt:lpstr>Wingdings</vt:lpstr>
      <vt:lpstr>СофтБаланс_БухгалтерскийУчет</vt:lpstr>
      <vt:lpstr>Занятие 12</vt:lpstr>
      <vt:lpstr>Счета учета номенклатуры</vt:lpstr>
      <vt:lpstr>Регистр сведений «Счета учета номенклатуры»</vt:lpstr>
      <vt:lpstr>Таблицы регистра бухгалтерии</vt:lpstr>
      <vt:lpstr>Состав физических таблиц регистра бухгалтерии</vt:lpstr>
      <vt:lpstr>Таблица движений по счетам</vt:lpstr>
      <vt:lpstr>Таблица остатков и оборотов по счетам </vt:lpstr>
      <vt:lpstr>Таблица оборотов между счетами</vt:lpstr>
      <vt:lpstr>Алгоритм расчета итогов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набор записей без документ-объекта</vt:lpstr>
      <vt:lpstr>Объектная модель доступа к данным</vt:lpstr>
      <vt:lpstr>Обусловленное проведение</vt:lpstr>
      <vt:lpstr>Нельзя проводить документ, если по данным учета нет денег</vt:lpstr>
      <vt:lpstr>Новая технология проведения</vt:lpstr>
      <vt:lpstr>Разделение итогов регистра</vt:lpstr>
      <vt:lpstr>Разрешить разделение итогов</vt:lpstr>
      <vt:lpstr>Одновременное проведение документов</vt:lpstr>
      <vt:lpstr>Таблица остатков и оборотов по счетам без разделителя.</vt:lpstr>
      <vt:lpstr>Таблица остатков и оборотов по счетам без разделителя.</vt:lpstr>
      <vt:lpstr>Таблица остатков и оборотов по счетам с разделителем.</vt:lpstr>
      <vt:lpstr>Таблица оборотов между счетами без разделителя.</vt:lpstr>
      <vt:lpstr>Таблица оборотов между счетами с разделем.</vt:lpstr>
      <vt:lpstr>Синтетическая отчетность</vt:lpstr>
      <vt:lpstr>Сводные проводки</vt:lpstr>
      <vt:lpstr>Шахматная ведомость</vt:lpstr>
      <vt:lpstr>Оборотно-сальдовая ведомость</vt:lpstr>
      <vt:lpstr>Анализ счета</vt:lpstr>
      <vt:lpstr>Журнальный ордер</vt:lpstr>
      <vt:lpstr>Ведомость</vt:lpstr>
      <vt:lpstr>Анализ счета по датам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Синтетическая отчетность</dc:title>
  <dc:creator>eugeniy sizov</dc:creator>
  <cp:lastModifiedBy>eugeniy sizov</cp:lastModifiedBy>
  <cp:revision>53</cp:revision>
  <dcterms:created xsi:type="dcterms:W3CDTF">2015-05-17T17:19:50Z</dcterms:created>
  <dcterms:modified xsi:type="dcterms:W3CDTF">2018-05-14T12:17:36Z</dcterms:modified>
</cp:coreProperties>
</file>