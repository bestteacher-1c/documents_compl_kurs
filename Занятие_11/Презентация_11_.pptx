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94" r:id="rId2"/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9" r:id="rId18"/>
    <p:sldId id="272" r:id="rId19"/>
    <p:sldId id="273" r:id="rId20"/>
    <p:sldId id="274" r:id="rId21"/>
    <p:sldId id="280" r:id="rId22"/>
    <p:sldId id="281" r:id="rId23"/>
    <p:sldId id="277" r:id="rId24"/>
    <p:sldId id="282" r:id="rId25"/>
    <p:sldId id="288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3" r:id="rId35"/>
    <p:sldId id="295" r:id="rId36"/>
    <p:sldId id="296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8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447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4927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8328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30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29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023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068C-0419-4D9C-B87D-F240F8C4AA4B}" type="datetimeFigureOut">
              <a:rPr lang="ru-RU" smtClean="0"/>
              <a:t>22.03.2017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4808-3FC6-430B-A884-6E5D407A4C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627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068C-0419-4D9C-B87D-F240F8C4AA4B}" type="datetimeFigureOut">
              <a:rPr lang="ru-RU" smtClean="0"/>
              <a:t>22.03.2017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4808-3FC6-430B-A884-6E5D407A4C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9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/36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84387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Теория бухгалтерского учета для программистов</a:t>
            </a:r>
          </a:p>
          <a:p>
            <a:r>
              <a:rPr lang="ru-RU" dirty="0" smtClean="0"/>
              <a:t>Настройки плана счетов</a:t>
            </a:r>
          </a:p>
          <a:p>
            <a:r>
              <a:rPr lang="ru-RU" dirty="0" smtClean="0"/>
              <a:t>Настройки регистра бухгалтерии</a:t>
            </a:r>
            <a:endParaRPr lang="en-US" dirty="0" smtClean="0"/>
          </a:p>
          <a:p>
            <a:r>
              <a:rPr lang="ru-RU" dirty="0"/>
              <a:t>Представление ссылки</a:t>
            </a:r>
          </a:p>
          <a:p>
            <a:pPr lvl="1"/>
            <a:r>
              <a:rPr lang="ru-RU" dirty="0"/>
              <a:t>Программное </a:t>
            </a:r>
            <a:r>
              <a:rPr lang="ru-RU" dirty="0" smtClean="0"/>
              <a:t>переопределение</a:t>
            </a:r>
            <a:endParaRPr lang="en-US" dirty="0" smtClean="0"/>
          </a:p>
          <a:p>
            <a:r>
              <a:rPr lang="ru-RU" smtClean="0"/>
              <a:t>Ручная операция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Занятие 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687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Бухгалтерский учет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Теория для программистов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906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51779"/>
          </a:xfrm>
        </p:spPr>
        <p:txBody>
          <a:bodyPr/>
          <a:lstStyle/>
          <a:p>
            <a:r>
              <a:rPr lang="ru-RU" dirty="0" smtClean="0"/>
              <a:t>Бухгалтерский учет ведется для юридических лиц (организаций)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28650" y="3501927"/>
            <a:ext cx="3138055" cy="2711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Юридическое лицо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28650" y="1690689"/>
            <a:ext cx="3138055" cy="116378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377294" y="5385763"/>
            <a:ext cx="3138055" cy="82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Работники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377293" y="4443845"/>
            <a:ext cx="3138055" cy="828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Государство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377292" y="3501927"/>
            <a:ext cx="3138055" cy="828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Контрагенты</a:t>
            </a:r>
            <a:endParaRPr lang="ru-RU" dirty="0"/>
          </a:p>
        </p:txBody>
      </p:sp>
      <p:sp>
        <p:nvSpPr>
          <p:cNvPr id="9" name="Стрелка вниз 8"/>
          <p:cNvSpPr/>
          <p:nvPr/>
        </p:nvSpPr>
        <p:spPr>
          <a:xfrm>
            <a:off x="1672936" y="2854471"/>
            <a:ext cx="342900" cy="64745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верх 9"/>
          <p:cNvSpPr/>
          <p:nvPr/>
        </p:nvSpPr>
        <p:spPr>
          <a:xfrm>
            <a:off x="2493818" y="2854471"/>
            <a:ext cx="353291" cy="64745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/>
          <p:cNvSpPr/>
          <p:nvPr/>
        </p:nvSpPr>
        <p:spPr>
          <a:xfrm>
            <a:off x="4914900" y="3143345"/>
            <a:ext cx="566301" cy="3429000"/>
          </a:xfrm>
          <a:prstGeom prst="leftBrace">
            <a:avLst>
              <a:gd name="adj1" fmla="val 12003"/>
              <a:gd name="adj2" fmla="val 50301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право 12"/>
          <p:cNvSpPr/>
          <p:nvPr/>
        </p:nvSpPr>
        <p:spPr>
          <a:xfrm>
            <a:off x="3829050" y="4239491"/>
            <a:ext cx="1220932" cy="40524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лево 13"/>
          <p:cNvSpPr/>
          <p:nvPr/>
        </p:nvSpPr>
        <p:spPr>
          <a:xfrm>
            <a:off x="3766705" y="5271845"/>
            <a:ext cx="1314450" cy="401591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2819833" y="2824256"/>
            <a:ext cx="475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>
                <a:solidFill>
                  <a:srgbClr val="FF0000"/>
                </a:solidFill>
              </a:rPr>
              <a:t>?</a:t>
            </a:r>
            <a:endParaRPr lang="ru-R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12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бизнес-процесса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Купи-продай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45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77429"/>
          </a:xfrm>
        </p:spPr>
        <p:txBody>
          <a:bodyPr/>
          <a:lstStyle/>
          <a:p>
            <a:r>
              <a:rPr lang="ru-RU" sz="2400" dirty="0" smtClean="0"/>
              <a:t>Получены деньги в кассу от учредителей (10000 руб.)</a:t>
            </a:r>
            <a:endParaRPr lang="ru-RU" sz="2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891145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882063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2119745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2510270" y="1601710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92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13365"/>
          </a:xfrm>
        </p:spPr>
        <p:txBody>
          <a:bodyPr>
            <a:noAutofit/>
          </a:bodyPr>
          <a:lstStyle/>
          <a:p>
            <a:r>
              <a:rPr lang="ru-RU" sz="2400" dirty="0" smtClean="0"/>
              <a:t>Выплачена предоплата фермеру </a:t>
            </a:r>
            <a:r>
              <a:rPr lang="ru-RU" sz="2400" dirty="0" err="1" smtClean="0"/>
              <a:t>Добрюшкину</a:t>
            </a:r>
            <a:r>
              <a:rPr lang="ru-RU" sz="2400" dirty="0" smtClean="0"/>
              <a:t> в размере 50 % за 10 </a:t>
            </a:r>
            <a:r>
              <a:rPr lang="ru-RU" sz="2400" dirty="0" err="1" smtClean="0"/>
              <a:t>ханориков</a:t>
            </a:r>
            <a:r>
              <a:rPr lang="ru-RU" sz="2400" dirty="0" smtClean="0"/>
              <a:t> (5000 руб.)</a:t>
            </a:r>
            <a:endParaRPr lang="ru-RU" sz="2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891145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882063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2119745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1891145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/>
              <a:t>Д</a:t>
            </a:r>
            <a:r>
              <a:rPr lang="ru-RU" dirty="0" err="1" smtClean="0"/>
              <a:t>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2116063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2510270" y="1601710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12809" y="1534044"/>
            <a:ext cx="346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 </a:t>
            </a:r>
            <a:r>
              <a:rPr lang="ru-RU" sz="1200" dirty="0" smtClean="0"/>
              <a:t>(50 % за 10 </a:t>
            </a:r>
            <a:r>
              <a:rPr lang="ru-RU" sz="1200" dirty="0" err="1" smtClean="0"/>
              <a:t>ханориков</a:t>
            </a:r>
            <a:r>
              <a:rPr lang="ru-RU" sz="1200" dirty="0" smtClean="0"/>
              <a:t>)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0894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smtClean="0"/>
              <a:t>Получено 8 </a:t>
            </a:r>
            <a:r>
              <a:rPr lang="ru-RU" sz="2400" dirty="0" err="1" smtClean="0"/>
              <a:t>ханориков</a:t>
            </a:r>
            <a:r>
              <a:rPr lang="ru-RU" sz="2400" dirty="0" smtClean="0"/>
              <a:t> от фермера </a:t>
            </a:r>
            <a:r>
              <a:rPr lang="ru-RU" sz="2400" dirty="0" err="1" smtClean="0"/>
              <a:t>Добрюшкина</a:t>
            </a:r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891145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882063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2119745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1891145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2116063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2804932"/>
            <a:ext cx="252000" cy="115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4330617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10270" y="1601710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12809" y="1534044"/>
            <a:ext cx="346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 </a:t>
            </a:r>
            <a:r>
              <a:rPr lang="ru-RU" sz="1200" dirty="0" smtClean="0"/>
              <a:t>(50 % за 10 </a:t>
            </a:r>
            <a:r>
              <a:rPr lang="ru-RU" sz="1200" dirty="0" err="1" smtClean="0"/>
              <a:t>ханориков</a:t>
            </a:r>
            <a:r>
              <a:rPr lang="ru-RU" sz="1200" dirty="0" smtClean="0"/>
              <a:t>)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3072294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987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49380"/>
          </a:xfrm>
        </p:spPr>
        <p:txBody>
          <a:bodyPr/>
          <a:lstStyle/>
          <a:p>
            <a:r>
              <a:rPr lang="ru-RU" sz="2400" dirty="0" smtClean="0"/>
              <a:t>Продали 5 </a:t>
            </a:r>
            <a:r>
              <a:rPr lang="ru-RU" sz="2400" dirty="0" err="1" smtClean="0"/>
              <a:t>ханориков</a:t>
            </a:r>
            <a:r>
              <a:rPr lang="ru-RU" sz="2400" dirty="0" smtClean="0"/>
              <a:t> ООО «Русский ватник» за 6000 руб.</a:t>
            </a:r>
            <a:endParaRPr lang="ru-RU" sz="2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637756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628674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1866356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1637756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1862674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2551543"/>
            <a:ext cx="252000" cy="115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4077228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874305" y="5352286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Продавец</a:t>
            </a:r>
            <a:endParaRPr lang="ru-RU" dirty="0"/>
          </a:p>
        </p:txBody>
      </p:sp>
      <p:sp>
        <p:nvSpPr>
          <p:cNvPr id="16" name="Стрелка углом 15"/>
          <p:cNvSpPr/>
          <p:nvPr/>
        </p:nvSpPr>
        <p:spPr>
          <a:xfrm rot="10800000">
            <a:off x="5608487" y="4882309"/>
            <a:ext cx="2222861" cy="994937"/>
          </a:xfrm>
          <a:prstGeom prst="bentArrow">
            <a:avLst>
              <a:gd name="adj1" fmla="val 1359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792423" y="4077228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ООО Русский ватник</a:t>
            </a:r>
            <a:endParaRPr lang="ru-RU" dirty="0"/>
          </a:p>
        </p:txBody>
      </p:sp>
      <p:sp>
        <p:nvSpPr>
          <p:cNvPr id="18" name="Стрелка углом 17"/>
          <p:cNvSpPr/>
          <p:nvPr/>
        </p:nvSpPr>
        <p:spPr>
          <a:xfrm rot="16200000">
            <a:off x="2148272" y="4149584"/>
            <a:ext cx="818291" cy="2405405"/>
          </a:xfrm>
          <a:prstGeom prst="bentArrow">
            <a:avLst>
              <a:gd name="adj1" fmla="val 1613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0270" y="1348321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12809" y="1280655"/>
            <a:ext cx="346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 </a:t>
            </a:r>
            <a:r>
              <a:rPr lang="ru-RU" sz="1200" dirty="0" smtClean="0"/>
              <a:t>(50 % за 10 </a:t>
            </a:r>
            <a:r>
              <a:rPr lang="ru-RU" sz="1200" dirty="0" err="1" smtClean="0"/>
              <a:t>ханориков</a:t>
            </a:r>
            <a:r>
              <a:rPr lang="ru-RU" sz="1200" dirty="0" smtClean="0"/>
              <a:t>)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3072294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5792114" y="5877247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820881" y="5814665"/>
            <a:ext cx="28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за 6000 руб.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787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Есть ли прибыль?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314700" y="2223655"/>
            <a:ext cx="2514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0" dirty="0" smtClean="0"/>
              <a:t>?</a:t>
            </a:r>
            <a:r>
              <a:rPr lang="ru-RU" sz="20000" dirty="0" smtClean="0">
                <a:solidFill>
                  <a:srgbClr val="FF0000"/>
                </a:solidFill>
              </a:rPr>
              <a:t>!</a:t>
            </a:r>
            <a:endParaRPr lang="ru-RU" sz="2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58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0070C0"/>
                </a:solidFill>
              </a:rPr>
              <a:t>Прибыль</a:t>
            </a:r>
            <a:r>
              <a:rPr lang="ru-RU" sz="4000" dirty="0" smtClean="0"/>
              <a:t> = </a:t>
            </a:r>
            <a:r>
              <a:rPr lang="ru-RU" sz="4000" dirty="0" smtClean="0">
                <a:solidFill>
                  <a:srgbClr val="00B050"/>
                </a:solidFill>
              </a:rPr>
              <a:t>Доходы</a:t>
            </a:r>
            <a:r>
              <a:rPr lang="ru-RU" sz="4000" dirty="0" smtClean="0"/>
              <a:t> - </a:t>
            </a:r>
            <a:r>
              <a:rPr lang="ru-RU" sz="4000" dirty="0" smtClean="0">
                <a:solidFill>
                  <a:srgbClr val="C00000"/>
                </a:solidFill>
              </a:rPr>
              <a:t>Расходы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Формула прибыли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13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49380"/>
          </a:xfrm>
        </p:spPr>
        <p:txBody>
          <a:bodyPr>
            <a:noAutofit/>
          </a:bodyPr>
          <a:lstStyle/>
          <a:p>
            <a:r>
              <a:rPr lang="ru-RU" sz="2400" dirty="0" smtClean="0"/>
              <a:t>Сколько доходов и расходов?</a:t>
            </a:r>
            <a:endParaRPr lang="ru-RU" sz="2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747924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738842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1976524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1747924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1972842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2661711"/>
            <a:ext cx="252000" cy="115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3978073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874305" y="5253131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Продавец</a:t>
            </a:r>
            <a:endParaRPr lang="ru-RU" dirty="0"/>
          </a:p>
        </p:txBody>
      </p:sp>
      <p:sp>
        <p:nvSpPr>
          <p:cNvPr id="16" name="Стрелка углом 15"/>
          <p:cNvSpPr/>
          <p:nvPr/>
        </p:nvSpPr>
        <p:spPr>
          <a:xfrm rot="10800000">
            <a:off x="5608487" y="4783154"/>
            <a:ext cx="2222861" cy="994937"/>
          </a:xfrm>
          <a:prstGeom prst="bentArrow">
            <a:avLst>
              <a:gd name="adj1" fmla="val 1359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792423" y="3978073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ООО Русский ватник</a:t>
            </a:r>
            <a:endParaRPr lang="ru-RU" dirty="0"/>
          </a:p>
        </p:txBody>
      </p:sp>
      <p:sp>
        <p:nvSpPr>
          <p:cNvPr id="18" name="Стрелка углом 17"/>
          <p:cNvSpPr/>
          <p:nvPr/>
        </p:nvSpPr>
        <p:spPr>
          <a:xfrm rot="16200000">
            <a:off x="2148272" y="4050429"/>
            <a:ext cx="818291" cy="2405405"/>
          </a:xfrm>
          <a:prstGeom prst="bentArrow">
            <a:avLst>
              <a:gd name="adj1" fmla="val 1613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0270" y="1458489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12809" y="1390823"/>
            <a:ext cx="346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 </a:t>
            </a:r>
            <a:r>
              <a:rPr lang="ru-RU" sz="1200" dirty="0" smtClean="0"/>
              <a:t>(50 % за 10 </a:t>
            </a:r>
            <a:r>
              <a:rPr lang="ru-RU" sz="1200" dirty="0" err="1" smtClean="0"/>
              <a:t>ханориков</a:t>
            </a:r>
            <a:r>
              <a:rPr lang="ru-RU" sz="1200" dirty="0" smtClean="0"/>
              <a:t>)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2929073"/>
            <a:ext cx="1438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5792114" y="5778092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820881" y="5715510"/>
            <a:ext cx="28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за 6000 руб.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94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Расчет прибыли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681822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672740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1910422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1681822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1906740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2595609"/>
            <a:ext cx="252000" cy="115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3822996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874305" y="5396352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Продавец</a:t>
            </a:r>
            <a:endParaRPr lang="ru-RU" dirty="0"/>
          </a:p>
        </p:txBody>
      </p:sp>
      <p:sp>
        <p:nvSpPr>
          <p:cNvPr id="16" name="Стрелка углом 15"/>
          <p:cNvSpPr/>
          <p:nvPr/>
        </p:nvSpPr>
        <p:spPr>
          <a:xfrm rot="10800000">
            <a:off x="5608487" y="4926375"/>
            <a:ext cx="2222861" cy="994937"/>
          </a:xfrm>
          <a:prstGeom prst="bentArrow">
            <a:avLst>
              <a:gd name="adj1" fmla="val 1359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836154" y="3516996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ООО Русский ватник</a:t>
            </a:r>
            <a:endParaRPr lang="ru-RU" dirty="0"/>
          </a:p>
        </p:txBody>
      </p:sp>
      <p:sp>
        <p:nvSpPr>
          <p:cNvPr id="18" name="Стрелка углом 17"/>
          <p:cNvSpPr/>
          <p:nvPr/>
        </p:nvSpPr>
        <p:spPr>
          <a:xfrm rot="16200000">
            <a:off x="2148272" y="4193650"/>
            <a:ext cx="818291" cy="2405405"/>
          </a:xfrm>
          <a:prstGeom prst="bentArrow">
            <a:avLst>
              <a:gd name="adj1" fmla="val 1613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0270" y="1392387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12809" y="1324721"/>
            <a:ext cx="346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 </a:t>
            </a:r>
            <a:r>
              <a:rPr lang="ru-RU" sz="1200" dirty="0" smtClean="0"/>
              <a:t>(50 % за 10 </a:t>
            </a:r>
            <a:r>
              <a:rPr lang="ru-RU" sz="1200" dirty="0" err="1" smtClean="0"/>
              <a:t>ханориков</a:t>
            </a:r>
            <a:r>
              <a:rPr lang="ru-RU" sz="1200" dirty="0" smtClean="0"/>
              <a:t>)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3072294"/>
            <a:ext cx="143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8000 руб.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5792113" y="5921313"/>
            <a:ext cx="24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</a:t>
            </a:r>
            <a:r>
              <a:rPr lang="ru-RU" dirty="0" smtClean="0">
                <a:solidFill>
                  <a:srgbClr val="C00000"/>
                </a:solidFill>
              </a:rPr>
              <a:t>5000 руб.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0881" y="5858731"/>
            <a:ext cx="28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за </a:t>
            </a:r>
            <a:r>
              <a:rPr lang="ru-RU" dirty="0" smtClean="0">
                <a:solidFill>
                  <a:srgbClr val="00B050"/>
                </a:solidFill>
              </a:rPr>
              <a:t>6000 руб.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46154" y="4419789"/>
            <a:ext cx="2649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00B050"/>
                </a:solidFill>
              </a:rPr>
              <a:t>Доходы</a:t>
            </a:r>
            <a:r>
              <a:rPr lang="ru-RU" dirty="0" smtClean="0"/>
              <a:t> -&gt; Продажа -&gt;</a:t>
            </a:r>
          </a:p>
          <a:p>
            <a:r>
              <a:rPr lang="ru-RU" dirty="0" smtClean="0"/>
              <a:t>Отгрузка в обмен на обязательство заплатить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984193" y="4633042"/>
            <a:ext cx="3021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Расходы</a:t>
            </a:r>
            <a:r>
              <a:rPr lang="ru-RU" b="1" dirty="0" smtClean="0"/>
              <a:t> </a:t>
            </a:r>
            <a:r>
              <a:rPr lang="ru-RU" dirty="0" smtClean="0"/>
              <a:t>-&gt; Себестоимость проданного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867108" y="3445225"/>
            <a:ext cx="385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Прибыль</a:t>
            </a:r>
            <a:r>
              <a:rPr lang="ru-RU" dirty="0" smtClean="0"/>
              <a:t> = </a:t>
            </a:r>
            <a:r>
              <a:rPr lang="ru-RU" dirty="0" smtClean="0">
                <a:solidFill>
                  <a:srgbClr val="00B050"/>
                </a:solidFill>
              </a:rPr>
              <a:t>6000</a:t>
            </a:r>
            <a:r>
              <a:rPr lang="ru-RU" dirty="0" smtClean="0"/>
              <a:t> – </a:t>
            </a:r>
            <a:r>
              <a:rPr lang="ru-RU" dirty="0" smtClean="0">
                <a:solidFill>
                  <a:srgbClr val="C00000"/>
                </a:solidFill>
              </a:rPr>
              <a:t>5000 = </a:t>
            </a:r>
            <a:r>
              <a:rPr lang="ru-RU" dirty="0" smtClean="0">
                <a:solidFill>
                  <a:srgbClr val="0070C0"/>
                </a:solidFill>
              </a:rPr>
              <a:t>1000 руб.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80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бухгалтер считает прибыль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059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Все операции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92423" y="1615720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1606638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1844320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1615720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1840638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2529507"/>
            <a:ext cx="252000" cy="115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3756894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874305" y="5330250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Продавец</a:t>
            </a:r>
            <a:endParaRPr lang="ru-RU" dirty="0"/>
          </a:p>
        </p:txBody>
      </p:sp>
      <p:sp>
        <p:nvSpPr>
          <p:cNvPr id="16" name="Стрелка углом 15"/>
          <p:cNvSpPr/>
          <p:nvPr/>
        </p:nvSpPr>
        <p:spPr>
          <a:xfrm rot="10800000">
            <a:off x="5608487" y="4860273"/>
            <a:ext cx="2222861" cy="994937"/>
          </a:xfrm>
          <a:prstGeom prst="bentArrow">
            <a:avLst>
              <a:gd name="adj1" fmla="val 1359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836154" y="3450894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ООО Русский ватник</a:t>
            </a:r>
            <a:endParaRPr lang="ru-RU" dirty="0"/>
          </a:p>
        </p:txBody>
      </p:sp>
      <p:sp>
        <p:nvSpPr>
          <p:cNvPr id="18" name="Стрелка углом 17"/>
          <p:cNvSpPr/>
          <p:nvPr/>
        </p:nvSpPr>
        <p:spPr>
          <a:xfrm rot="16200000">
            <a:off x="2148272" y="4127548"/>
            <a:ext cx="818291" cy="2405405"/>
          </a:xfrm>
          <a:prstGeom prst="bentArrow">
            <a:avLst>
              <a:gd name="adj1" fmla="val 16138"/>
              <a:gd name="adj2" fmla="val 17083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0270" y="1326285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12809" y="1258619"/>
            <a:ext cx="346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 </a:t>
            </a:r>
            <a:r>
              <a:rPr lang="ru-RU" sz="1200" dirty="0" smtClean="0"/>
              <a:t>(50 % за 10 </a:t>
            </a:r>
            <a:r>
              <a:rPr lang="ru-RU" sz="1200" dirty="0" err="1" smtClean="0"/>
              <a:t>ханориков</a:t>
            </a:r>
            <a:r>
              <a:rPr lang="ru-RU" sz="1200" dirty="0" smtClean="0"/>
              <a:t>)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3072294"/>
            <a:ext cx="143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8000 руб.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5792113" y="5855211"/>
            <a:ext cx="24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</a:t>
            </a:r>
            <a:r>
              <a:rPr lang="ru-RU" dirty="0" smtClean="0">
                <a:solidFill>
                  <a:srgbClr val="C00000"/>
                </a:solidFill>
              </a:rPr>
              <a:t>5000 руб.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0881" y="5792629"/>
            <a:ext cx="28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за </a:t>
            </a:r>
            <a:r>
              <a:rPr lang="ru-RU" dirty="0" smtClean="0">
                <a:solidFill>
                  <a:srgbClr val="00B050"/>
                </a:solidFill>
              </a:rPr>
              <a:t>6000 руб.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64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68551"/>
          </a:xfrm>
        </p:spPr>
        <p:txBody>
          <a:bodyPr/>
          <a:lstStyle/>
          <a:p>
            <a:r>
              <a:rPr lang="ru-RU" sz="2400" dirty="0" smtClean="0"/>
              <a:t>Надо рассчитать все остатки и обороты по всем участникам операций. Как? 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54627" y="1517822"/>
            <a:ext cx="7876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Для того, что бы </a:t>
            </a:r>
            <a:r>
              <a:rPr lang="ru-RU" u="sng" dirty="0" smtClean="0"/>
              <a:t>рассчитать</a:t>
            </a:r>
            <a:r>
              <a:rPr lang="ru-RU" dirty="0" smtClean="0"/>
              <a:t>  остатки и обороты по каждому участнику операций открывали разворот пустой книги (тетради). Его назвали </a:t>
            </a:r>
            <a:r>
              <a:rPr lang="ru-RU" b="1" dirty="0" smtClean="0">
                <a:solidFill>
                  <a:srgbClr val="FF0000"/>
                </a:solidFill>
              </a:rPr>
              <a:t>БУХГАЛТЕРСКИЙ СЧЕТ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398881"/>
              </p:ext>
            </p:extLst>
          </p:nvPr>
        </p:nvGraphicFramePr>
        <p:xfrm>
          <a:off x="654627" y="2540750"/>
          <a:ext cx="3938154" cy="3630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81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30564">
                <a:tc>
                  <a:txBody>
                    <a:bodyPr/>
                    <a:lstStyle/>
                    <a:p>
                      <a:r>
                        <a:rPr lang="ru-RU" sz="4000" dirty="0" smtClean="0">
                          <a:solidFill>
                            <a:srgbClr val="00B050"/>
                          </a:solidFill>
                        </a:rPr>
                        <a:t>Он должен</a:t>
                      </a:r>
                      <a:endParaRPr lang="ru-RU" sz="40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solidFill>
                            <a:srgbClr val="00B050"/>
                          </a:solidFill>
                        </a:rPr>
                        <a:t>В левой части разворота книги</a:t>
                      </a:r>
                      <a:r>
                        <a:rPr lang="ru-RU" sz="2400" baseline="0" dirty="0" smtClean="0">
                          <a:solidFill>
                            <a:srgbClr val="00B050"/>
                          </a:solidFill>
                        </a:rPr>
                        <a:t> вписывали суммы долгов возникающих перед нашей организацией у участника операций</a:t>
                      </a:r>
                      <a:endParaRPr lang="ru-RU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071972"/>
              </p:ext>
            </p:extLst>
          </p:nvPr>
        </p:nvGraphicFramePr>
        <p:xfrm>
          <a:off x="4592782" y="2540750"/>
          <a:ext cx="3938154" cy="3630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81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30564">
                <a:tc>
                  <a:txBody>
                    <a:bodyPr/>
                    <a:lstStyle/>
                    <a:p>
                      <a:r>
                        <a:rPr lang="ru-RU" sz="4000" dirty="0" smtClean="0">
                          <a:solidFill>
                            <a:srgbClr val="0070C0"/>
                          </a:solidFill>
                        </a:rPr>
                        <a:t>Он верит</a:t>
                      </a:r>
                      <a:endParaRPr lang="ru-RU" sz="4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rgbClr val="0070C0"/>
                          </a:solidFill>
                        </a:rPr>
                        <a:t>В правой части разворота книги</a:t>
                      </a:r>
                      <a:r>
                        <a:rPr lang="ru-RU" sz="2400" baseline="0" dirty="0" smtClean="0">
                          <a:solidFill>
                            <a:srgbClr val="0070C0"/>
                          </a:solidFill>
                        </a:rPr>
                        <a:t> вписывали суммы полученные нашей организации от участников операций – суммы, которые они доверили нашей организации</a:t>
                      </a:r>
                      <a:endParaRPr lang="ru-RU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32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92423" y="2166348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2157266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2394948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2166348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2391266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3072294"/>
            <a:ext cx="252000" cy="646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3770292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24389" y="5605675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Продавец</a:t>
            </a:r>
            <a:endParaRPr lang="ru-RU" dirty="0"/>
          </a:p>
        </p:txBody>
      </p:sp>
      <p:sp>
        <p:nvSpPr>
          <p:cNvPr id="16" name="Стрелка углом 15"/>
          <p:cNvSpPr/>
          <p:nvPr/>
        </p:nvSpPr>
        <p:spPr>
          <a:xfrm rot="10800000">
            <a:off x="4619326" y="4562096"/>
            <a:ext cx="3212022" cy="1568537"/>
          </a:xfrm>
          <a:prstGeom prst="bentArrow">
            <a:avLst>
              <a:gd name="adj1" fmla="val 9070"/>
              <a:gd name="adj2" fmla="val 10291"/>
              <a:gd name="adj3" fmla="val 11141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820881" y="3442727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ООО Русский ватник</a:t>
            </a:r>
            <a:endParaRPr lang="ru-RU" dirty="0"/>
          </a:p>
        </p:txBody>
      </p:sp>
      <p:sp>
        <p:nvSpPr>
          <p:cNvPr id="18" name="Стрелка углом 17"/>
          <p:cNvSpPr/>
          <p:nvPr/>
        </p:nvSpPr>
        <p:spPr>
          <a:xfrm rot="16200000">
            <a:off x="855538" y="4020905"/>
            <a:ext cx="1758779" cy="2229049"/>
          </a:xfrm>
          <a:prstGeom prst="bentArrow">
            <a:avLst>
              <a:gd name="adj1" fmla="val 9071"/>
              <a:gd name="adj2" fmla="val 13045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21341" y="2098632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600323" y="2120845"/>
            <a:ext cx="116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3072294"/>
            <a:ext cx="143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8000 руб.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4784230" y="6043818"/>
            <a:ext cx="24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</a:t>
            </a:r>
            <a:r>
              <a:rPr lang="ru-RU" dirty="0" smtClean="0">
                <a:solidFill>
                  <a:srgbClr val="C00000"/>
                </a:solidFill>
              </a:rPr>
              <a:t>5000 руб.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5874" y="6068054"/>
            <a:ext cx="28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за </a:t>
            </a:r>
            <a:r>
              <a:rPr lang="ru-RU" dirty="0" smtClean="0">
                <a:solidFill>
                  <a:srgbClr val="00B050"/>
                </a:solidFill>
              </a:rPr>
              <a:t>6000 руб.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97708"/>
              </p:ext>
            </p:extLst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024134"/>
              </p:ext>
            </p:extLst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981489"/>
              </p:ext>
            </p:extLst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98097"/>
              </p:ext>
            </p:extLst>
          </p:nvPr>
        </p:nvGraphicFramePr>
        <p:xfrm>
          <a:off x="4248508" y="316177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32687"/>
              </p:ext>
            </p:extLst>
          </p:nvPr>
        </p:nvGraphicFramePr>
        <p:xfrm>
          <a:off x="4619325" y="451903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202269"/>
              </p:ext>
            </p:extLst>
          </p:nvPr>
        </p:nvGraphicFramePr>
        <p:xfrm>
          <a:off x="1124379" y="4423232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02559"/>
              </p:ext>
            </p:extLst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539534"/>
              </p:ext>
            </p:extLst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784853"/>
              </p:ext>
            </p:extLst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60726"/>
              </p:ext>
            </p:extLst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301811"/>
              </p:ext>
            </p:extLst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132891"/>
              </p:ext>
            </p:extLst>
          </p:nvPr>
        </p:nvGraphicFramePr>
        <p:xfrm>
          <a:off x="4248508" y="355121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51320"/>
              </p:ext>
            </p:extLst>
          </p:nvPr>
        </p:nvGraphicFramePr>
        <p:xfrm>
          <a:off x="4244643" y="386328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639014"/>
              </p:ext>
            </p:extLst>
          </p:nvPr>
        </p:nvGraphicFramePr>
        <p:xfrm>
          <a:off x="4619325" y="488987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850706"/>
              </p:ext>
            </p:extLst>
          </p:nvPr>
        </p:nvGraphicFramePr>
        <p:xfrm>
          <a:off x="1127685" y="4794072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42896" y="2821211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87879" y="422557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13936" y="414698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910894"/>
              </p:ext>
            </p:extLst>
          </p:nvPr>
        </p:nvGraphicFramePr>
        <p:xfrm>
          <a:off x="4619325" y="5196902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26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7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2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92423" y="2166348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Учредители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4305" y="2157266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Касса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608118" y="2394948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895350" y="2166348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Фермер </a:t>
            </a:r>
            <a:r>
              <a:rPr lang="ru-RU" dirty="0" err="1" smtClean="0"/>
              <a:t>Добрюшкин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608493" y="2391266"/>
            <a:ext cx="1152000" cy="25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7579350" y="3072294"/>
            <a:ext cx="252000" cy="646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95350" y="3770292"/>
            <a:ext cx="1620000" cy="72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Склад </a:t>
            </a:r>
            <a:r>
              <a:rPr lang="ru-RU" dirty="0" err="1" smtClean="0"/>
              <a:t>ханориков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24389" y="5605675"/>
            <a:ext cx="1620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Продавец</a:t>
            </a:r>
            <a:endParaRPr lang="ru-RU" dirty="0"/>
          </a:p>
        </p:txBody>
      </p:sp>
      <p:sp>
        <p:nvSpPr>
          <p:cNvPr id="16" name="Стрелка углом 15"/>
          <p:cNvSpPr/>
          <p:nvPr/>
        </p:nvSpPr>
        <p:spPr>
          <a:xfrm rot="10800000">
            <a:off x="4619326" y="4562096"/>
            <a:ext cx="3212022" cy="1568537"/>
          </a:xfrm>
          <a:prstGeom prst="bentArrow">
            <a:avLst>
              <a:gd name="adj1" fmla="val 9070"/>
              <a:gd name="adj2" fmla="val 10291"/>
              <a:gd name="adj3" fmla="val 11141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820881" y="3442727"/>
            <a:ext cx="162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ООО Русский ватник</a:t>
            </a:r>
            <a:endParaRPr lang="ru-RU" dirty="0"/>
          </a:p>
        </p:txBody>
      </p:sp>
      <p:sp>
        <p:nvSpPr>
          <p:cNvPr id="18" name="Стрелка углом 17"/>
          <p:cNvSpPr/>
          <p:nvPr/>
        </p:nvSpPr>
        <p:spPr>
          <a:xfrm rot="16200000">
            <a:off x="855538" y="4020905"/>
            <a:ext cx="1758779" cy="2229049"/>
          </a:xfrm>
          <a:prstGeom prst="bentArrow">
            <a:avLst>
              <a:gd name="adj1" fmla="val 9071"/>
              <a:gd name="adj2" fmla="val 13045"/>
              <a:gd name="adj3" fmla="val 151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21341" y="2098632"/>
            <a:ext cx="126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10000 руб.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600323" y="2120845"/>
            <a:ext cx="116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000 руб.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7705350" y="3072294"/>
            <a:ext cx="143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8 </a:t>
            </a:r>
            <a:r>
              <a:rPr lang="ru-RU" dirty="0" err="1" smtClean="0"/>
              <a:t>ханориков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8000 руб.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4784230" y="6043818"/>
            <a:ext cx="24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</a:t>
            </a:r>
            <a:r>
              <a:rPr lang="ru-RU" dirty="0" smtClean="0">
                <a:solidFill>
                  <a:srgbClr val="C00000"/>
                </a:solidFill>
              </a:rPr>
              <a:t>5000 руб.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5874" y="6068054"/>
            <a:ext cx="28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r>
              <a:rPr lang="ru-RU" dirty="0" smtClean="0"/>
              <a:t> </a:t>
            </a:r>
            <a:r>
              <a:rPr lang="ru-RU" dirty="0" err="1" smtClean="0"/>
              <a:t>ханориков</a:t>
            </a:r>
            <a:r>
              <a:rPr lang="ru-RU" dirty="0" smtClean="0"/>
              <a:t> за </a:t>
            </a:r>
            <a:r>
              <a:rPr lang="ru-RU" dirty="0" smtClean="0">
                <a:solidFill>
                  <a:srgbClr val="00B050"/>
                </a:solidFill>
              </a:rPr>
              <a:t>6000 руб.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/>
          </p:nvPr>
        </p:nvGraphicFramePr>
        <p:xfrm>
          <a:off x="4248508" y="316177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/>
          </p:nvPr>
        </p:nvGraphicFramePr>
        <p:xfrm>
          <a:off x="4619325" y="451903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/>
          </p:nvPr>
        </p:nvGraphicFramePr>
        <p:xfrm>
          <a:off x="1124379" y="4423232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/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/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/>
          </p:nvPr>
        </p:nvGraphicFramePr>
        <p:xfrm>
          <a:off x="4248508" y="355121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/>
          </p:nvPr>
        </p:nvGraphicFramePr>
        <p:xfrm>
          <a:off x="4244643" y="386328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/>
          </p:nvPr>
        </p:nvGraphicFramePr>
        <p:xfrm>
          <a:off x="4619325" y="488987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1127685" y="4794072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42896" y="2821211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87879" y="422557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13936" y="414698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2" name="Таблица 41"/>
          <p:cNvGraphicFramePr>
            <a:graphicFrameLocks noGrp="1"/>
          </p:cNvGraphicFramePr>
          <p:nvPr>
            <p:extLst/>
          </p:nvPr>
        </p:nvGraphicFramePr>
        <p:xfrm>
          <a:off x="4619325" y="5196902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6" name="Таблица 45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7" name="Таблица 46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4619325" y="5501702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466288"/>
              </p:ext>
            </p:extLst>
          </p:nvPr>
        </p:nvGraphicFramePr>
        <p:xfrm>
          <a:off x="1120355" y="5098872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82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025128"/>
              </p:ext>
            </p:extLst>
          </p:nvPr>
        </p:nvGraphicFramePr>
        <p:xfrm>
          <a:off x="4578930" y="4088728"/>
          <a:ext cx="4104410" cy="647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647634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Список верующих в нашу</a:t>
                      </a:r>
                      <a:r>
                        <a:rPr lang="ru-RU" baseline="0" dirty="0" smtClean="0"/>
                        <a:t> организацию</a:t>
                      </a:r>
                      <a:endParaRPr lang="ru-RU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53008"/>
              </p:ext>
            </p:extLst>
          </p:nvPr>
        </p:nvGraphicFramePr>
        <p:xfrm>
          <a:off x="4578930" y="4746878"/>
          <a:ext cx="410441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Список лиц от которых, что либо получено но не оплачено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799541"/>
              </p:ext>
            </p:extLst>
          </p:nvPr>
        </p:nvGraphicFramePr>
        <p:xfrm>
          <a:off x="4578930" y="3700980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873039"/>
              </p:ext>
            </p:extLst>
          </p:nvPr>
        </p:nvGraphicFramePr>
        <p:xfrm>
          <a:off x="474520" y="4092505"/>
          <a:ext cx="410441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Список должников нашей</a:t>
                      </a:r>
                      <a:r>
                        <a:rPr lang="ru-RU" baseline="0" dirty="0" smtClean="0"/>
                        <a:t> организации (кто нам должен)</a:t>
                      </a:r>
                      <a:endParaRPr lang="ru-RU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109443"/>
              </p:ext>
            </p:extLst>
          </p:nvPr>
        </p:nvGraphicFramePr>
        <p:xfrm>
          <a:off x="474520" y="4746878"/>
          <a:ext cx="410441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Список имущества не проданного к отчетной дате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331077"/>
              </p:ext>
            </p:extLst>
          </p:nvPr>
        </p:nvGraphicFramePr>
        <p:xfrm>
          <a:off x="474520" y="3709434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B050"/>
                          </a:solidFill>
                        </a:rPr>
                        <a:t>АКТИВ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/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/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/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/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/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/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7" name="Таблица 66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Таблица 67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Таблица 68"/>
          <p:cNvGraphicFramePr>
            <a:graphicFrameLocks noGrp="1"/>
          </p:cNvGraphicFramePr>
          <p:nvPr>
            <p:extLst/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379131"/>
              </p:ext>
            </p:extLst>
          </p:nvPr>
        </p:nvGraphicFramePr>
        <p:xfrm>
          <a:off x="3327190" y="2455845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14249"/>
              </p:ext>
            </p:extLst>
          </p:nvPr>
        </p:nvGraphicFramePr>
        <p:xfrm>
          <a:off x="3327190" y="282325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" name="Таблица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807997"/>
              </p:ext>
            </p:extLst>
          </p:nvPr>
        </p:nvGraphicFramePr>
        <p:xfrm>
          <a:off x="3323325" y="313531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3321578" y="2115280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graphicFrame>
        <p:nvGraphicFramePr>
          <p:cNvPr id="74" name="Таблица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482965"/>
              </p:ext>
            </p:extLst>
          </p:nvPr>
        </p:nvGraphicFramePr>
        <p:xfrm>
          <a:off x="6345312" y="2382443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5" name="Таблица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948351"/>
              </p:ext>
            </p:extLst>
          </p:nvPr>
        </p:nvGraphicFramePr>
        <p:xfrm>
          <a:off x="6348618" y="275328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6334869" y="2106198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77" name="Таблица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08786"/>
              </p:ext>
            </p:extLst>
          </p:nvPr>
        </p:nvGraphicFramePr>
        <p:xfrm>
          <a:off x="6341288" y="305808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8" name="Таблица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952580"/>
              </p:ext>
            </p:extLst>
          </p:nvPr>
        </p:nvGraphicFramePr>
        <p:xfrm>
          <a:off x="293792" y="210851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0" name="Таблица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11721"/>
              </p:ext>
            </p:extLst>
          </p:nvPr>
        </p:nvGraphicFramePr>
        <p:xfrm>
          <a:off x="293792" y="2479356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262346" y="1815054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graphicFrame>
        <p:nvGraphicFramePr>
          <p:cNvPr id="82" name="Таблица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964711"/>
              </p:ext>
            </p:extLst>
          </p:nvPr>
        </p:nvGraphicFramePr>
        <p:xfrm>
          <a:off x="293792" y="278638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3" name="Таблица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586095"/>
              </p:ext>
            </p:extLst>
          </p:nvPr>
        </p:nvGraphicFramePr>
        <p:xfrm>
          <a:off x="293792" y="309118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488374" y="3411077"/>
            <a:ext cx="8194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Баланс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48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1838" y="3411077"/>
            <a:ext cx="821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Баланс</a:t>
            </a:r>
            <a:endParaRPr lang="ru-RU" dirty="0"/>
          </a:p>
        </p:txBody>
      </p:sp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894905"/>
              </p:ext>
            </p:extLst>
          </p:nvPr>
        </p:nvGraphicFramePr>
        <p:xfrm>
          <a:off x="4606636" y="3710713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30051"/>
              </p:ext>
            </p:extLst>
          </p:nvPr>
        </p:nvGraphicFramePr>
        <p:xfrm>
          <a:off x="488373" y="3707250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B050"/>
                          </a:solidFill>
                        </a:rPr>
                        <a:t>АКТИВ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77514"/>
              </p:ext>
            </p:extLst>
          </p:nvPr>
        </p:nvGraphicFramePr>
        <p:xfrm>
          <a:off x="4606636" y="4091713"/>
          <a:ext cx="410441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6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Учредители –               10000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Продавец</a:t>
                      </a:r>
                      <a:r>
                        <a:rPr lang="ru-RU" b="0" baseline="0" dirty="0" smtClean="0"/>
                        <a:t> (прибыль) – 1000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baseline="0" dirty="0" err="1" smtClean="0"/>
                        <a:t>Добрюшкин</a:t>
                      </a:r>
                      <a:r>
                        <a:rPr lang="ru-RU" b="0" baseline="0" dirty="0" smtClean="0"/>
                        <a:t> -                  3000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baseline="0" dirty="0" smtClean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/>
                        <a:t>ИТОГО -                           14000</a:t>
                      </a:r>
                      <a:endParaRPr lang="ru-RU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5" name="Таблица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841736"/>
              </p:ext>
            </p:extLst>
          </p:nvPr>
        </p:nvGraphicFramePr>
        <p:xfrm>
          <a:off x="488373" y="4088250"/>
          <a:ext cx="410441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6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Касса –                    5000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/>
                        <a:t>Ханорики</a:t>
                      </a:r>
                      <a:r>
                        <a:rPr lang="ru-RU" b="0" dirty="0" smtClean="0"/>
                        <a:t> –           3000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Русский</a:t>
                      </a:r>
                      <a:r>
                        <a:rPr lang="ru-RU" b="0" baseline="0" dirty="0" smtClean="0"/>
                        <a:t> ватник – 6000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baseline="0" dirty="0" smtClean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/>
                        <a:t>ИТОГО -                14000 </a:t>
                      </a:r>
                      <a:endParaRPr lang="ru-RU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/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/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/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/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/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2" name="Таблица 61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4" name="Таблица 63"/>
          <p:cNvGraphicFramePr>
            <a:graphicFrameLocks noGrp="1"/>
          </p:cNvGraphicFramePr>
          <p:nvPr>
            <p:extLst/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133500"/>
              </p:ext>
            </p:extLst>
          </p:nvPr>
        </p:nvGraphicFramePr>
        <p:xfrm>
          <a:off x="3329808" y="245668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50062"/>
              </p:ext>
            </p:extLst>
          </p:nvPr>
        </p:nvGraphicFramePr>
        <p:xfrm>
          <a:off x="3329808" y="2835106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Таблица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201229"/>
              </p:ext>
            </p:extLst>
          </p:nvPr>
        </p:nvGraphicFramePr>
        <p:xfrm>
          <a:off x="3325943" y="314717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324196" y="211611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graphicFrame>
        <p:nvGraphicFramePr>
          <p:cNvPr id="69" name="Таблица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26505"/>
              </p:ext>
            </p:extLst>
          </p:nvPr>
        </p:nvGraphicFramePr>
        <p:xfrm>
          <a:off x="6349552" y="244868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66116"/>
              </p:ext>
            </p:extLst>
          </p:nvPr>
        </p:nvGraphicFramePr>
        <p:xfrm>
          <a:off x="6352858" y="28195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339109" y="2172442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72" name="Таблица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677768"/>
              </p:ext>
            </p:extLst>
          </p:nvPr>
        </p:nvGraphicFramePr>
        <p:xfrm>
          <a:off x="6345528" y="31243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3" name="Таблица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58586"/>
              </p:ext>
            </p:extLst>
          </p:nvPr>
        </p:nvGraphicFramePr>
        <p:xfrm>
          <a:off x="277445" y="2091329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Он</a:t>
                      </a:r>
                      <a:r>
                        <a:rPr lang="ru-RU" baseline="0" dirty="0" smtClean="0"/>
                        <a:t>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4" name="Таблица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637370"/>
              </p:ext>
            </p:extLst>
          </p:nvPr>
        </p:nvGraphicFramePr>
        <p:xfrm>
          <a:off x="277445" y="246216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268033" y="179786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graphicFrame>
        <p:nvGraphicFramePr>
          <p:cNvPr id="76" name="Таблица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17362"/>
              </p:ext>
            </p:extLst>
          </p:nvPr>
        </p:nvGraphicFramePr>
        <p:xfrm>
          <a:off x="277445" y="27691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7" name="Таблица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39970"/>
              </p:ext>
            </p:extLst>
          </p:nvPr>
        </p:nvGraphicFramePr>
        <p:xfrm>
          <a:off x="277445" y="30739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80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smtClean="0"/>
              <a:t>Перевод с русского языка на латынь</a:t>
            </a:r>
            <a:endParaRPr lang="ru-RU" sz="2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250694"/>
              </p:ext>
            </p:extLst>
          </p:nvPr>
        </p:nvGraphicFramePr>
        <p:xfrm>
          <a:off x="1510146" y="1926940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Он должен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Он верит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340"/>
              </p:ext>
            </p:extLst>
          </p:nvPr>
        </p:nvGraphicFramePr>
        <p:xfrm>
          <a:off x="1510146" y="2330352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94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1838" y="3411077"/>
            <a:ext cx="821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Баланс</a:t>
            </a:r>
            <a:endParaRPr lang="ru-RU" dirty="0"/>
          </a:p>
        </p:txBody>
      </p:sp>
      <p:graphicFrame>
        <p:nvGraphicFramePr>
          <p:cNvPr id="50" name="Таблица 49"/>
          <p:cNvGraphicFramePr>
            <a:graphicFrameLocks noGrp="1"/>
          </p:cNvGraphicFramePr>
          <p:nvPr>
            <p:extLst/>
          </p:nvPr>
        </p:nvGraphicFramePr>
        <p:xfrm>
          <a:off x="4606636" y="3710713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/>
          </p:nvPr>
        </p:nvGraphicFramePr>
        <p:xfrm>
          <a:off x="488373" y="3707250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B050"/>
                          </a:solidFill>
                        </a:rPr>
                        <a:t>АКТИВ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/>
          </p:nvPr>
        </p:nvGraphicFramePr>
        <p:xfrm>
          <a:off x="4606636" y="4091713"/>
          <a:ext cx="410441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6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Учредители –               10000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Продавец</a:t>
                      </a:r>
                      <a:r>
                        <a:rPr lang="ru-RU" b="0" baseline="0" dirty="0" smtClean="0"/>
                        <a:t> (прибыль) – 1000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baseline="0" dirty="0" err="1" smtClean="0"/>
                        <a:t>Добрюшкин</a:t>
                      </a:r>
                      <a:r>
                        <a:rPr lang="ru-RU" b="0" baseline="0" dirty="0" smtClean="0"/>
                        <a:t> -                  3000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baseline="0" dirty="0" smtClean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/>
                        <a:t>ИТОГО -                           14000</a:t>
                      </a:r>
                      <a:endParaRPr lang="ru-RU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5" name="Таблица 54"/>
          <p:cNvGraphicFramePr>
            <a:graphicFrameLocks noGrp="1"/>
          </p:cNvGraphicFramePr>
          <p:nvPr>
            <p:extLst/>
          </p:nvPr>
        </p:nvGraphicFramePr>
        <p:xfrm>
          <a:off x="488373" y="4088250"/>
          <a:ext cx="410441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6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Касса –                    5000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/>
                        <a:t>Ханорики</a:t>
                      </a:r>
                      <a:r>
                        <a:rPr lang="ru-RU" b="0" dirty="0" smtClean="0"/>
                        <a:t> –           3000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Русский</a:t>
                      </a:r>
                      <a:r>
                        <a:rPr lang="ru-RU" b="0" baseline="0" dirty="0" smtClean="0"/>
                        <a:t> ватник – 6000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baseline="0" dirty="0" smtClean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/>
                        <a:t>ИТОГО -                14000 </a:t>
                      </a:r>
                      <a:endParaRPr lang="ru-RU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775002"/>
              </p:ext>
            </p:extLst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/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/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/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/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/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2" name="Таблица 61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4" name="Таблица 63"/>
          <p:cNvGraphicFramePr>
            <a:graphicFrameLocks noGrp="1"/>
          </p:cNvGraphicFramePr>
          <p:nvPr>
            <p:extLst/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>
            <p:extLst/>
          </p:nvPr>
        </p:nvGraphicFramePr>
        <p:xfrm>
          <a:off x="3329808" y="245668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/>
          </p:nvPr>
        </p:nvGraphicFramePr>
        <p:xfrm>
          <a:off x="3329808" y="284612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Таблица 66"/>
          <p:cNvGraphicFramePr>
            <a:graphicFrameLocks noGrp="1"/>
          </p:cNvGraphicFramePr>
          <p:nvPr>
            <p:extLst/>
          </p:nvPr>
        </p:nvGraphicFramePr>
        <p:xfrm>
          <a:off x="3325943" y="315818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324196" y="211611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graphicFrame>
        <p:nvGraphicFramePr>
          <p:cNvPr id="69" name="Таблица 68"/>
          <p:cNvGraphicFramePr>
            <a:graphicFrameLocks noGrp="1"/>
          </p:cNvGraphicFramePr>
          <p:nvPr>
            <p:extLst/>
          </p:nvPr>
        </p:nvGraphicFramePr>
        <p:xfrm>
          <a:off x="6349552" y="244868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/>
          </p:nvPr>
        </p:nvGraphicFramePr>
        <p:xfrm>
          <a:off x="6352858" y="28195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339109" y="2172442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72" name="Таблица 71"/>
          <p:cNvGraphicFramePr>
            <a:graphicFrameLocks noGrp="1"/>
          </p:cNvGraphicFramePr>
          <p:nvPr>
            <p:extLst/>
          </p:nvPr>
        </p:nvGraphicFramePr>
        <p:xfrm>
          <a:off x="6345528" y="31243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3" name="Таблица 72"/>
          <p:cNvGraphicFramePr>
            <a:graphicFrameLocks noGrp="1"/>
          </p:cNvGraphicFramePr>
          <p:nvPr>
            <p:extLst/>
          </p:nvPr>
        </p:nvGraphicFramePr>
        <p:xfrm>
          <a:off x="277445" y="2091329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4" name="Таблица 73"/>
          <p:cNvGraphicFramePr>
            <a:graphicFrameLocks noGrp="1"/>
          </p:cNvGraphicFramePr>
          <p:nvPr>
            <p:extLst/>
          </p:nvPr>
        </p:nvGraphicFramePr>
        <p:xfrm>
          <a:off x="277445" y="246216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268033" y="179786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graphicFrame>
        <p:nvGraphicFramePr>
          <p:cNvPr id="76" name="Таблица 75"/>
          <p:cNvGraphicFramePr>
            <a:graphicFrameLocks noGrp="1"/>
          </p:cNvGraphicFramePr>
          <p:nvPr>
            <p:extLst/>
          </p:nvPr>
        </p:nvGraphicFramePr>
        <p:xfrm>
          <a:off x="277445" y="27691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7" name="Таблица 76"/>
          <p:cNvGraphicFramePr>
            <a:graphicFrameLocks noGrp="1"/>
          </p:cNvGraphicFramePr>
          <p:nvPr>
            <p:extLst/>
          </p:nvPr>
        </p:nvGraphicFramePr>
        <p:xfrm>
          <a:off x="277445" y="30739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61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1838" y="3411077"/>
            <a:ext cx="821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Баланс</a:t>
            </a:r>
            <a:endParaRPr lang="ru-RU" dirty="0"/>
          </a:p>
        </p:txBody>
      </p:sp>
      <p:graphicFrame>
        <p:nvGraphicFramePr>
          <p:cNvPr id="50" name="Таблица 49"/>
          <p:cNvGraphicFramePr>
            <a:graphicFrameLocks noGrp="1"/>
          </p:cNvGraphicFramePr>
          <p:nvPr>
            <p:extLst/>
          </p:nvPr>
        </p:nvGraphicFramePr>
        <p:xfrm>
          <a:off x="4606636" y="3710713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/>
          </p:nvPr>
        </p:nvGraphicFramePr>
        <p:xfrm>
          <a:off x="488373" y="3707250"/>
          <a:ext cx="4104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00B050"/>
                          </a:solidFill>
                        </a:rPr>
                        <a:t>АКТИВ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07774"/>
              </p:ext>
            </p:extLst>
          </p:nvPr>
        </p:nvGraphicFramePr>
        <p:xfrm>
          <a:off x="4606636" y="4091713"/>
          <a:ext cx="410441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6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Учредители –               10000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Продавец</a:t>
                      </a:r>
                      <a:r>
                        <a:rPr lang="ru-RU" b="0" baseline="0" dirty="0" smtClean="0"/>
                        <a:t> (прибыль) – 1000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baseline="0" dirty="0" err="1" smtClean="0"/>
                        <a:t>Добрюшкин</a:t>
                      </a:r>
                      <a:r>
                        <a:rPr lang="ru-RU" b="0" baseline="0" dirty="0" smtClean="0"/>
                        <a:t> -                  </a:t>
                      </a:r>
                      <a:r>
                        <a:rPr lang="en-US" b="0" baseline="0" dirty="0" smtClean="0">
                          <a:solidFill>
                            <a:srgbClr val="FF0000"/>
                          </a:solidFill>
                        </a:rPr>
                        <a:t>7500</a:t>
                      </a:r>
                      <a:endParaRPr lang="ru-RU" b="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baseline="0" dirty="0" smtClean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/>
                        <a:t>ИТОГО -                           </a:t>
                      </a:r>
                      <a:r>
                        <a:rPr lang="ru-RU" b="1" baseline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85</a:t>
                      </a:r>
                      <a:r>
                        <a:rPr lang="ru-RU" b="1" baseline="0" dirty="0" smtClean="0">
                          <a:solidFill>
                            <a:srgbClr val="FF0000"/>
                          </a:solidFill>
                        </a:rPr>
                        <a:t>00</a:t>
                      </a:r>
                      <a:endParaRPr lang="ru-RU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5" name="Таблица 54"/>
          <p:cNvGraphicFramePr>
            <a:graphicFrameLocks noGrp="1"/>
          </p:cNvGraphicFramePr>
          <p:nvPr>
            <p:extLst/>
          </p:nvPr>
        </p:nvGraphicFramePr>
        <p:xfrm>
          <a:off x="488373" y="4088250"/>
          <a:ext cx="410441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60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Касса –                    5000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/>
                        <a:t>Ханорики</a:t>
                      </a:r>
                      <a:r>
                        <a:rPr lang="ru-RU" b="0" dirty="0" smtClean="0"/>
                        <a:t> –           3000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Русский</a:t>
                      </a:r>
                      <a:r>
                        <a:rPr lang="ru-RU" b="0" baseline="0" dirty="0" smtClean="0"/>
                        <a:t> ватник – 6000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baseline="0" dirty="0" smtClean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/>
                        <a:t>ИТОГО -                14000 </a:t>
                      </a:r>
                      <a:endParaRPr lang="ru-RU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/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/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24142"/>
              </p:ext>
            </p:extLst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FF0000"/>
                          </a:solidFill>
                        </a:rPr>
                        <a:t>500</a:t>
                      </a:r>
                      <a:endParaRPr lang="ru-RU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/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/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2" name="Таблица 61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4" name="Таблица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363776"/>
              </p:ext>
            </p:extLst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FF0000"/>
                          </a:solidFill>
                        </a:rPr>
                        <a:t>7500</a:t>
                      </a:r>
                      <a:endParaRPr lang="ru-RU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>
            <p:extLst/>
          </p:nvPr>
        </p:nvGraphicFramePr>
        <p:xfrm>
          <a:off x="3329808" y="245668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/>
          </p:nvPr>
        </p:nvGraphicFramePr>
        <p:xfrm>
          <a:off x="3329808" y="284612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Таблица 66"/>
          <p:cNvGraphicFramePr>
            <a:graphicFrameLocks noGrp="1"/>
          </p:cNvGraphicFramePr>
          <p:nvPr>
            <p:extLst/>
          </p:nvPr>
        </p:nvGraphicFramePr>
        <p:xfrm>
          <a:off x="3325943" y="315818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324196" y="211611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graphicFrame>
        <p:nvGraphicFramePr>
          <p:cNvPr id="69" name="Таблица 68"/>
          <p:cNvGraphicFramePr>
            <a:graphicFrameLocks noGrp="1"/>
          </p:cNvGraphicFramePr>
          <p:nvPr>
            <p:extLst/>
          </p:nvPr>
        </p:nvGraphicFramePr>
        <p:xfrm>
          <a:off x="6349552" y="244868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/>
          </p:nvPr>
        </p:nvGraphicFramePr>
        <p:xfrm>
          <a:off x="6352858" y="28195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339109" y="2172442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72" name="Таблица 71"/>
          <p:cNvGraphicFramePr>
            <a:graphicFrameLocks noGrp="1"/>
          </p:cNvGraphicFramePr>
          <p:nvPr>
            <p:extLst/>
          </p:nvPr>
        </p:nvGraphicFramePr>
        <p:xfrm>
          <a:off x="6345528" y="31243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3" name="Таблица 72"/>
          <p:cNvGraphicFramePr>
            <a:graphicFrameLocks noGrp="1"/>
          </p:cNvGraphicFramePr>
          <p:nvPr>
            <p:extLst/>
          </p:nvPr>
        </p:nvGraphicFramePr>
        <p:xfrm>
          <a:off x="277445" y="2091329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4" name="Таблица 73"/>
          <p:cNvGraphicFramePr>
            <a:graphicFrameLocks noGrp="1"/>
          </p:cNvGraphicFramePr>
          <p:nvPr>
            <p:extLst/>
          </p:nvPr>
        </p:nvGraphicFramePr>
        <p:xfrm>
          <a:off x="277445" y="246216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268033" y="179786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graphicFrame>
        <p:nvGraphicFramePr>
          <p:cNvPr id="76" name="Таблица 75"/>
          <p:cNvGraphicFramePr>
            <a:graphicFrameLocks noGrp="1"/>
          </p:cNvGraphicFramePr>
          <p:nvPr>
            <p:extLst/>
          </p:nvPr>
        </p:nvGraphicFramePr>
        <p:xfrm>
          <a:off x="277445" y="27691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7" name="Таблица 76"/>
          <p:cNvGraphicFramePr>
            <a:graphicFrameLocks noGrp="1"/>
          </p:cNvGraphicFramePr>
          <p:nvPr>
            <p:extLst/>
          </p:nvPr>
        </p:nvGraphicFramePr>
        <p:xfrm>
          <a:off x="277445" y="30739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69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8145" y="3335482"/>
            <a:ext cx="7615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Таблица проводок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07830"/>
              </p:ext>
            </p:extLst>
          </p:nvPr>
        </p:nvGraphicFramePr>
        <p:xfrm>
          <a:off x="468085" y="3802743"/>
          <a:ext cx="8098972" cy="22250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268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875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5985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касса</a:t>
                      </a:r>
                      <a:endParaRPr lang="ru-RU" sz="12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 smtClean="0">
                          <a:solidFill>
                            <a:srgbClr val="0070C0"/>
                          </a:solidFill>
                        </a:rPr>
                        <a:t>Счет учредители</a:t>
                      </a:r>
                      <a:endParaRPr lang="ru-RU" sz="12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Счет фермер </a:t>
                      </a:r>
                      <a:r>
                        <a:rPr lang="ru-RU" sz="1200" b="1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Добрюшкин</a:t>
                      </a:r>
                      <a:endParaRPr lang="ru-RU" sz="12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касса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склад </a:t>
                      </a:r>
                      <a:r>
                        <a:rPr lang="ru-RU" sz="1200" b="1" dirty="0" err="1" smtClean="0">
                          <a:solidFill>
                            <a:srgbClr val="00B050"/>
                          </a:solidFill>
                        </a:rPr>
                        <a:t>ханориков</a:t>
                      </a:r>
                      <a:endParaRPr lang="ru-RU" sz="12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Счет фермер </a:t>
                      </a:r>
                      <a:r>
                        <a:rPr lang="ru-RU" sz="1200" b="1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Добрюшкин</a:t>
                      </a:r>
                      <a:endParaRPr lang="ru-RU" sz="12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70C0"/>
                          </a:solidFill>
                        </a:rPr>
                        <a:t>Счет продавец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склад </a:t>
                      </a:r>
                      <a:r>
                        <a:rPr lang="ru-RU" sz="1200" b="1" dirty="0" err="1" smtClean="0">
                          <a:solidFill>
                            <a:srgbClr val="00B050"/>
                          </a:solidFill>
                        </a:rPr>
                        <a:t>ханориков</a:t>
                      </a:r>
                      <a:endParaRPr lang="ru-RU" sz="12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Счет Русский ватник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70C0"/>
                          </a:solidFill>
                        </a:rPr>
                        <a:t>Счет продавец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34201"/>
              </p:ext>
            </p:extLst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1) </a:t>
                      </a:r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250298"/>
              </p:ext>
            </p:extLst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1) </a:t>
                      </a:r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323045"/>
              </p:ext>
            </p:extLst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2) </a:t>
                      </a:r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723033"/>
              </p:ext>
            </p:extLst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2) </a:t>
                      </a:r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66863"/>
              </p:ext>
            </p:extLst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3) </a:t>
                      </a:r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8" name="Таблица 57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/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/>
          </p:nvPr>
        </p:nvGraphicFramePr>
        <p:xfrm>
          <a:off x="3329808" y="245668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83300"/>
              </p:ext>
            </p:extLst>
          </p:nvPr>
        </p:nvGraphicFramePr>
        <p:xfrm>
          <a:off x="3329808" y="284612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3) </a:t>
                      </a:r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4) 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/>
          </p:nvPr>
        </p:nvGraphicFramePr>
        <p:xfrm>
          <a:off x="3325943" y="315818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324196" y="211611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graphicFrame>
        <p:nvGraphicFramePr>
          <p:cNvPr id="65" name="Таблица 64"/>
          <p:cNvGraphicFramePr>
            <a:graphicFrameLocks noGrp="1"/>
          </p:cNvGraphicFramePr>
          <p:nvPr>
            <p:extLst/>
          </p:nvPr>
        </p:nvGraphicFramePr>
        <p:xfrm>
          <a:off x="6349552" y="244868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21972"/>
              </p:ext>
            </p:extLst>
          </p:nvPr>
        </p:nvGraphicFramePr>
        <p:xfrm>
          <a:off x="6352858" y="28195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5) </a:t>
                      </a:r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6339109" y="2172442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8" name="Таблица 67"/>
          <p:cNvGraphicFramePr>
            <a:graphicFrameLocks noGrp="1"/>
          </p:cNvGraphicFramePr>
          <p:nvPr>
            <p:extLst/>
          </p:nvPr>
        </p:nvGraphicFramePr>
        <p:xfrm>
          <a:off x="6345528" y="31243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Таблица 68"/>
          <p:cNvGraphicFramePr>
            <a:graphicFrameLocks noGrp="1"/>
          </p:cNvGraphicFramePr>
          <p:nvPr>
            <p:extLst/>
          </p:nvPr>
        </p:nvGraphicFramePr>
        <p:xfrm>
          <a:off x="277445" y="2091329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934168"/>
              </p:ext>
            </p:extLst>
          </p:nvPr>
        </p:nvGraphicFramePr>
        <p:xfrm>
          <a:off x="277445" y="246216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4) </a:t>
                      </a:r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268033" y="179786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graphicFrame>
        <p:nvGraphicFramePr>
          <p:cNvPr id="72" name="Таблица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024650"/>
              </p:ext>
            </p:extLst>
          </p:nvPr>
        </p:nvGraphicFramePr>
        <p:xfrm>
          <a:off x="277445" y="27691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5) </a:t>
                      </a:r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3" name="Таблица 72"/>
          <p:cNvGraphicFramePr>
            <a:graphicFrameLocks noGrp="1"/>
          </p:cNvGraphicFramePr>
          <p:nvPr>
            <p:extLst/>
          </p:nvPr>
        </p:nvGraphicFramePr>
        <p:xfrm>
          <a:off x="277445" y="30739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43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8145" y="3335482"/>
            <a:ext cx="7615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Таблица проводок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68085" y="3802743"/>
          <a:ext cx="8098972" cy="22250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268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875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5985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касса</a:t>
                      </a:r>
                      <a:endParaRPr lang="ru-RU" sz="12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 smtClean="0">
                          <a:solidFill>
                            <a:srgbClr val="0070C0"/>
                          </a:solidFill>
                        </a:rPr>
                        <a:t>Счет учредители</a:t>
                      </a:r>
                      <a:endParaRPr lang="ru-RU" sz="12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Счет фермер </a:t>
                      </a:r>
                      <a:r>
                        <a:rPr lang="ru-RU" sz="1200" b="1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Добрюшкин</a:t>
                      </a:r>
                      <a:endParaRPr lang="ru-RU" sz="12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касса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склад </a:t>
                      </a:r>
                      <a:r>
                        <a:rPr lang="ru-RU" sz="1200" b="1" dirty="0" err="1" smtClean="0">
                          <a:solidFill>
                            <a:srgbClr val="00B050"/>
                          </a:solidFill>
                        </a:rPr>
                        <a:t>ханориков</a:t>
                      </a:r>
                      <a:endParaRPr lang="ru-RU" sz="12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Счет фермер </a:t>
                      </a:r>
                      <a:r>
                        <a:rPr lang="ru-RU" sz="1200" b="1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Добрюшкин</a:t>
                      </a:r>
                      <a:endParaRPr lang="ru-RU" sz="12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70C0"/>
                          </a:solidFill>
                        </a:rPr>
                        <a:t>Счет продавец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Счет склад </a:t>
                      </a:r>
                      <a:r>
                        <a:rPr lang="ru-RU" sz="1200" b="1" dirty="0" err="1" smtClean="0">
                          <a:solidFill>
                            <a:srgbClr val="00B050"/>
                          </a:solidFill>
                        </a:rPr>
                        <a:t>ханориков</a:t>
                      </a:r>
                      <a:endParaRPr lang="ru-RU" sz="12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Счет Русский ватник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70C0"/>
                          </a:solidFill>
                        </a:rPr>
                        <a:t>Счет продавец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6000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86157"/>
              </p:ext>
            </p:extLst>
          </p:nvPr>
        </p:nvGraphicFramePr>
        <p:xfrm>
          <a:off x="257452" y="80040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3325227" y="80587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6352858" y="808006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/>
          </p:nvPr>
        </p:nvGraphicFramePr>
        <p:xfrm>
          <a:off x="3325229" y="118875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1) </a:t>
                      </a:r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/>
          </p:nvPr>
        </p:nvGraphicFramePr>
        <p:xfrm>
          <a:off x="257452" y="11711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1) </a:t>
                      </a:r>
                      <a:r>
                        <a:rPr lang="ru-RU" sz="1400" dirty="0" smtClean="0"/>
                        <a:t>10000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210343"/>
              </p:ext>
            </p:extLst>
          </p:nvPr>
        </p:nvGraphicFramePr>
        <p:xfrm>
          <a:off x="6352858" y="117346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2) </a:t>
                      </a:r>
                      <a:r>
                        <a:rPr lang="ru-RU" sz="1400" dirty="0" smtClean="0">
                          <a:solidFill>
                            <a:srgbClr val="FF0000"/>
                          </a:solidFill>
                        </a:rPr>
                        <a:t>500</a:t>
                      </a:r>
                      <a:endParaRPr lang="ru-RU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/>
          </p:nvPr>
        </p:nvGraphicFramePr>
        <p:xfrm>
          <a:off x="3325227" y="1496401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2) </a:t>
                      </a:r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/>
          </p:nvPr>
        </p:nvGraphicFramePr>
        <p:xfrm>
          <a:off x="6352858" y="148271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3) </a:t>
                      </a:r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257451" y="532360"/>
            <a:ext cx="261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учредители</a:t>
            </a:r>
            <a:endParaRPr lang="ru-RU" sz="1400" b="1" dirty="0">
              <a:solidFill>
                <a:srgbClr val="0070C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25225" y="508549"/>
            <a:ext cx="2558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касса</a:t>
            </a:r>
            <a:endParaRPr lang="ru-RU" sz="1400" b="1" dirty="0">
              <a:solidFill>
                <a:srgbClr val="00B05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41288" y="516517"/>
            <a:ext cx="262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фермер </a:t>
            </a:r>
            <a:r>
              <a:rPr lang="ru-RU" sz="1400" b="1" dirty="0" err="1" smtClean="0">
                <a:solidFill>
                  <a:schemeClr val="accent2">
                    <a:lumMod val="75000"/>
                  </a:schemeClr>
                </a:solidFill>
              </a:rPr>
              <a:t>Добрюшкин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8" name="Таблица 57"/>
          <p:cNvGraphicFramePr>
            <a:graphicFrameLocks noGrp="1"/>
          </p:cNvGraphicFramePr>
          <p:nvPr>
            <p:extLst/>
          </p:nvPr>
        </p:nvGraphicFramePr>
        <p:xfrm>
          <a:off x="257452" y="1475945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0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9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10000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/>
          </p:nvPr>
        </p:nvGraphicFramePr>
        <p:xfrm>
          <a:off x="3323325" y="180213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231518"/>
              </p:ext>
            </p:extLst>
          </p:nvPr>
        </p:nvGraphicFramePr>
        <p:xfrm>
          <a:off x="6352858" y="177609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FF0000"/>
                          </a:solidFill>
                        </a:rPr>
                        <a:t>7500</a:t>
                      </a:r>
                      <a:endParaRPr lang="ru-RU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/>
          </p:nvPr>
        </p:nvGraphicFramePr>
        <p:xfrm>
          <a:off x="3329808" y="2456680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/>
          </p:nvPr>
        </p:nvGraphicFramePr>
        <p:xfrm>
          <a:off x="3329808" y="2846123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3) </a:t>
                      </a:r>
                      <a:r>
                        <a:rPr lang="ru-RU" sz="1400" dirty="0" smtClean="0"/>
                        <a:t>8000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4) 5000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/>
          </p:nvPr>
        </p:nvGraphicFramePr>
        <p:xfrm>
          <a:off x="3325943" y="3158188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324196" y="2116115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Счет склад </a:t>
            </a:r>
            <a:r>
              <a:rPr lang="ru-RU" sz="1400" b="1" dirty="0" err="1" smtClean="0">
                <a:solidFill>
                  <a:srgbClr val="00B050"/>
                </a:solidFill>
              </a:rPr>
              <a:t>ханориков</a:t>
            </a:r>
            <a:endParaRPr lang="ru-RU" sz="1400" b="1" dirty="0">
              <a:solidFill>
                <a:srgbClr val="00B050"/>
              </a:solidFill>
            </a:endParaRPr>
          </a:p>
        </p:txBody>
      </p:sp>
      <p:graphicFrame>
        <p:nvGraphicFramePr>
          <p:cNvPr id="65" name="Таблица 64"/>
          <p:cNvGraphicFramePr>
            <a:graphicFrameLocks noGrp="1"/>
          </p:cNvGraphicFramePr>
          <p:nvPr>
            <p:extLst/>
          </p:nvPr>
        </p:nvGraphicFramePr>
        <p:xfrm>
          <a:off x="6349552" y="2448687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/>
          </p:nvPr>
        </p:nvGraphicFramePr>
        <p:xfrm>
          <a:off x="6352858" y="28195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5) </a:t>
                      </a:r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6339109" y="2172442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75000"/>
                  </a:schemeClr>
                </a:solidFill>
              </a:rPr>
              <a:t>Счет Русский ватник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8" name="Таблица 67"/>
          <p:cNvGraphicFramePr>
            <a:graphicFrameLocks noGrp="1"/>
          </p:cNvGraphicFramePr>
          <p:nvPr>
            <p:extLst/>
          </p:nvPr>
        </p:nvGraphicFramePr>
        <p:xfrm>
          <a:off x="6345528" y="3124327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6000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Таблица 68"/>
          <p:cNvGraphicFramePr>
            <a:graphicFrameLocks noGrp="1"/>
          </p:cNvGraphicFramePr>
          <p:nvPr>
            <p:extLst/>
          </p:nvPr>
        </p:nvGraphicFramePr>
        <p:xfrm>
          <a:off x="277445" y="2091329"/>
          <a:ext cx="2592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/>
          </p:nvPr>
        </p:nvGraphicFramePr>
        <p:xfrm>
          <a:off x="277445" y="2462169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4) </a:t>
                      </a:r>
                      <a:r>
                        <a:rPr lang="ru-RU" sz="1400" dirty="0" smtClean="0"/>
                        <a:t>5000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268033" y="1797867"/>
            <a:ext cx="25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Счет продавец</a:t>
            </a:r>
            <a:endParaRPr lang="ru-RU" sz="1400" b="1" dirty="0">
              <a:solidFill>
                <a:srgbClr val="0070C0"/>
              </a:solidFill>
            </a:endParaRPr>
          </a:p>
        </p:txBody>
      </p:sp>
      <p:graphicFrame>
        <p:nvGraphicFramePr>
          <p:cNvPr id="72" name="Таблица 71"/>
          <p:cNvGraphicFramePr>
            <a:graphicFrameLocks noGrp="1"/>
          </p:cNvGraphicFramePr>
          <p:nvPr>
            <p:extLst/>
          </p:nvPr>
        </p:nvGraphicFramePr>
        <p:xfrm>
          <a:off x="277445" y="27691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5) </a:t>
                      </a:r>
                      <a:r>
                        <a:rPr lang="ru-RU" sz="1400" dirty="0" smtClean="0"/>
                        <a:t>6000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3" name="Таблица 72"/>
          <p:cNvGraphicFramePr>
            <a:graphicFrameLocks noGrp="1"/>
          </p:cNvGraphicFramePr>
          <p:nvPr>
            <p:extLst/>
          </p:nvPr>
        </p:nvGraphicFramePr>
        <p:xfrm>
          <a:off x="277445" y="3073994"/>
          <a:ext cx="2592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1000</a:t>
                      </a:r>
                      <a:endParaRPr lang="ru-R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31" name="Прямая со стрелкой 30"/>
          <p:cNvCxnSpPr/>
          <p:nvPr/>
        </p:nvCxnSpPr>
        <p:spPr>
          <a:xfrm flipH="1">
            <a:off x="3385457" y="1475945"/>
            <a:ext cx="2967401" cy="31940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flipV="1">
            <a:off x="3516086" y="4746171"/>
            <a:ext cx="3080657" cy="65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79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плана счетов</a:t>
            </a:r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43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счетов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9" y="1276346"/>
            <a:ext cx="8784000" cy="47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2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372048"/>
              </p:ext>
            </p:extLst>
          </p:nvPr>
        </p:nvGraphicFramePr>
        <p:xfrm>
          <a:off x="350991" y="1411632"/>
          <a:ext cx="422100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1009">
                  <a:extLst>
                    <a:ext uri="{9D8B030D-6E8A-4147-A177-3AD203B41FA5}">
                      <a16:colId xmlns:a16="http://schemas.microsoft.com/office/drawing/2014/main" xmlns="" val="3015821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 при вводе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3958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456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8258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30335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197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8126274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упорядочивания</a:t>
            </a:r>
            <a:endParaRPr lang="ru-RU" dirty="0"/>
          </a:p>
        </p:txBody>
      </p:sp>
      <p:graphicFrame>
        <p:nvGraphicFramePr>
          <p:cNvPr id="6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4979570"/>
              </p:ext>
            </p:extLst>
          </p:nvPr>
        </p:nvGraphicFramePr>
        <p:xfrm>
          <a:off x="4572000" y="1411632"/>
          <a:ext cx="4221009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21009">
                  <a:extLst>
                    <a:ext uri="{9D8B030D-6E8A-4147-A177-3AD203B41FA5}">
                      <a16:colId xmlns:a16="http://schemas.microsoft.com/office/drawing/2014/main" xmlns="" val="3015821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 после упорядочивания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3958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456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8258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30335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197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8126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62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731214"/>
              </p:ext>
            </p:extLst>
          </p:nvPr>
        </p:nvGraphicFramePr>
        <p:xfrm>
          <a:off x="185738" y="1268413"/>
          <a:ext cx="878363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233">
                  <a:extLst>
                    <a:ext uri="{9D8B030D-6E8A-4147-A177-3AD203B41FA5}">
                      <a16:colId xmlns:a16="http://schemas.microsoft.com/office/drawing/2014/main" xmlns="" val="1500739806"/>
                    </a:ext>
                  </a:extLst>
                </a:gridCol>
                <a:gridCol w="2655065">
                  <a:extLst>
                    <a:ext uri="{9D8B030D-6E8A-4147-A177-3AD203B41FA5}">
                      <a16:colId xmlns:a16="http://schemas.microsoft.com/office/drawing/2014/main" xmlns="" val="2641059672"/>
                    </a:ext>
                  </a:extLst>
                </a:gridCol>
                <a:gridCol w="2414339">
                  <a:extLst>
                    <a:ext uri="{9D8B030D-6E8A-4147-A177-3AD203B41FA5}">
                      <a16:colId xmlns:a16="http://schemas.microsoft.com/office/drawing/2014/main" xmlns="" val="3128296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Порядок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8814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effectLst/>
                        </a:rPr>
                        <a:t>8e2eced9-fa21-11e4-8285-a01d48e2696</a:t>
                      </a:r>
                      <a:r>
                        <a:rPr lang="ru-RU" sz="1200" dirty="0" smtClean="0">
                          <a:effectLst/>
                        </a:rPr>
                        <a:t>7</a:t>
                      </a:r>
                      <a:endParaRPr lang="ru-RU" sz="1200" dirty="0"/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_1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2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ba7b2c80-44c8-11e5-80c8-00155d48050a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_2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2415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</a:rPr>
                        <a:t>8e2eced6-fa21-11e4-8285-a01d48e26968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_8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85655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8e2eced9-fa21-11e4-8285-a01d48e26968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9800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</a:rPr>
                        <a:t>8e2eced</a:t>
                      </a:r>
                      <a:r>
                        <a:rPr lang="ru-RU" sz="1200" dirty="0" smtClean="0">
                          <a:effectLst/>
                        </a:rPr>
                        <a:t>7</a:t>
                      </a:r>
                      <a:r>
                        <a:rPr lang="en-US" sz="1200" dirty="0" smtClean="0">
                          <a:effectLst/>
                        </a:rPr>
                        <a:t>-fa21-11e4-8285-a01d48e26968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2560182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Поле порядок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355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141852"/>
              </p:ext>
            </p:extLst>
          </p:nvPr>
        </p:nvGraphicFramePr>
        <p:xfrm>
          <a:off x="185738" y="1268413"/>
          <a:ext cx="878363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233">
                  <a:extLst>
                    <a:ext uri="{9D8B030D-6E8A-4147-A177-3AD203B41FA5}">
                      <a16:colId xmlns:a16="http://schemas.microsoft.com/office/drawing/2014/main" xmlns="" val="1500739806"/>
                    </a:ext>
                  </a:extLst>
                </a:gridCol>
                <a:gridCol w="2655065">
                  <a:extLst>
                    <a:ext uri="{9D8B030D-6E8A-4147-A177-3AD203B41FA5}">
                      <a16:colId xmlns:a16="http://schemas.microsoft.com/office/drawing/2014/main" xmlns="" val="2641059672"/>
                    </a:ext>
                  </a:extLst>
                </a:gridCol>
                <a:gridCol w="2414339">
                  <a:extLst>
                    <a:ext uri="{9D8B030D-6E8A-4147-A177-3AD203B41FA5}">
                      <a16:colId xmlns:a16="http://schemas.microsoft.com/office/drawing/2014/main" xmlns="" val="3128296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Порядок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8814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effectLst/>
                        </a:rPr>
                        <a:t>8e2eced9-fa21-11e4-8285-a01d48e2696</a:t>
                      </a:r>
                      <a:r>
                        <a:rPr lang="ru-RU" sz="1200" dirty="0" smtClean="0">
                          <a:effectLst/>
                        </a:rPr>
                        <a:t>7</a:t>
                      </a:r>
                      <a:endParaRPr lang="ru-RU" sz="1200" dirty="0"/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_1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2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ba7b2c80-44c8-11e5-80c8-00155d48050a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_2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2415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</a:rPr>
                        <a:t>8e2eced6-fa21-11e4-8285-a01d48e26968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_8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85655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8e2eced9-fa21-11e4-8285-a01d48e26968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9800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</a:rPr>
                        <a:t>8e2eced</a:t>
                      </a:r>
                      <a:r>
                        <a:rPr lang="ru-RU" sz="1200" dirty="0" smtClean="0">
                          <a:effectLst/>
                        </a:rPr>
                        <a:t>7</a:t>
                      </a:r>
                      <a:r>
                        <a:rPr lang="en-US" sz="1200" dirty="0" smtClean="0">
                          <a:effectLst/>
                        </a:rPr>
                        <a:t>-fa21-11e4-8285-a01d48e26968</a:t>
                      </a: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256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>
                        <a:effectLst/>
                      </a:endParaRPr>
                    </a:p>
                  </a:txBody>
                  <a:tcPr marL="1905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 - 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Маска - </a:t>
                      </a:r>
                      <a:r>
                        <a:rPr lang="ru-RU" b="1" dirty="0" smtClean="0">
                          <a:solidFill>
                            <a:srgbClr val="FF0000"/>
                          </a:solidFill>
                        </a:rPr>
                        <a:t>@@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8415208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Авто-формирование поля порядок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346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Настройки регистра бухгалтерии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69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999246"/>
          </a:xfrm>
        </p:spPr>
        <p:txBody>
          <a:bodyPr/>
          <a:lstStyle/>
          <a:p>
            <a:r>
              <a:rPr lang="ru-RU" dirty="0" smtClean="0"/>
              <a:t>Два варианта записи бухгалтерских  проводок</a:t>
            </a:r>
            <a:endParaRPr lang="ru-RU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94560"/>
              </p:ext>
            </p:extLst>
          </p:nvPr>
        </p:nvGraphicFramePr>
        <p:xfrm>
          <a:off x="1485363" y="240155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 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 кредит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 (поставщик)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 (материалы)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 (поставщик)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93856"/>
              </p:ext>
            </p:extLst>
          </p:nvPr>
        </p:nvGraphicFramePr>
        <p:xfrm>
          <a:off x="1511121" y="4320505"/>
          <a:ext cx="609600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Сторона проводки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 (материалы)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60 (поставщик)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55312" y="1854558"/>
            <a:ext cx="6078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С поддержкой корреспонденции</a:t>
            </a:r>
            <a:endParaRPr lang="ru-RU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45465" y="3721994"/>
            <a:ext cx="607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Без поддержки корреспонденции</a:t>
            </a:r>
            <a:endParaRPr lang="ru-R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6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57579"/>
          </a:xfrm>
        </p:spPr>
        <p:txBody>
          <a:bodyPr/>
          <a:lstStyle/>
          <a:p>
            <a:r>
              <a:rPr lang="ru-RU" dirty="0" smtClean="0"/>
              <a:t>Настройка поддержки корреспонденции</a:t>
            </a:r>
            <a:endParaRPr lang="ru-R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681" y="1521251"/>
            <a:ext cx="4714875" cy="45624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949658" y="3103808"/>
            <a:ext cx="2987898" cy="399246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34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75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375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75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75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Балансовый ресурс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57577" y="1236372"/>
            <a:ext cx="8744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Одинаковая оценка экономического факта для счета дебета и счета кредита</a:t>
            </a:r>
            <a:endParaRPr lang="ru-R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88088"/>
              </p:ext>
            </p:extLst>
          </p:nvPr>
        </p:nvGraphicFramePr>
        <p:xfrm>
          <a:off x="1485363" y="2399405"/>
          <a:ext cx="406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 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 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 (поставщик)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 (материалы)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 (поставщик)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468410"/>
              </p:ext>
            </p:extLst>
          </p:nvPr>
        </p:nvGraphicFramePr>
        <p:xfrm>
          <a:off x="5552941" y="2399405"/>
          <a:ext cx="2032000" cy="11125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500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076" y="4344002"/>
            <a:ext cx="3441298" cy="114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Небалансовый ресурс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577" y="1236372"/>
            <a:ext cx="8744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  <a:latin typeface="Arial Black" panose="020B0A04020102020204" pitchFamily="34" charset="0"/>
              </a:rPr>
              <a:t>Разная оценка экономического факта для счета дебета и счета кредита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369284"/>
              </p:ext>
            </p:extLst>
          </p:nvPr>
        </p:nvGraphicFramePr>
        <p:xfrm>
          <a:off x="556680" y="2456555"/>
          <a:ext cx="1800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</a:t>
                      </a:r>
                      <a:br>
                        <a:rPr lang="ru-RU" dirty="0" smtClean="0"/>
                      </a:br>
                      <a:r>
                        <a:rPr lang="ru-RU" dirty="0" smtClean="0"/>
                        <a:t> дебет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41 (товары)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 (материалы)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2002"/>
              </p:ext>
            </p:extLst>
          </p:nvPr>
        </p:nvGraphicFramePr>
        <p:xfrm>
          <a:off x="6881682" y="2456555"/>
          <a:ext cx="1440000" cy="1381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br>
                        <a:rPr lang="ru-RU" dirty="0" smtClean="0"/>
                      </a:b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ru-RU" dirty="0" smtClean="0"/>
                        <a:t>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61195"/>
              </p:ext>
            </p:extLst>
          </p:nvPr>
        </p:nvGraphicFramePr>
        <p:xfrm>
          <a:off x="3709454" y="2456555"/>
          <a:ext cx="1800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</a:t>
                      </a:r>
                      <a:br>
                        <a:rPr lang="ru-RU" dirty="0" smtClean="0"/>
                      </a:br>
                      <a:r>
                        <a:rPr lang="ru-RU" dirty="0" smtClean="0"/>
                        <a:t> 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60 (поставщик)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41 (товары)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32717"/>
              </p:ext>
            </p:extLst>
          </p:nvPr>
        </p:nvGraphicFramePr>
        <p:xfrm>
          <a:off x="2362071" y="2456555"/>
          <a:ext cx="1332000" cy="138176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Количество</a:t>
                      </a:r>
                      <a:r>
                        <a:rPr lang="ru-RU" baseline="0" dirty="0" smtClean="0"/>
                        <a:t> дебет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547827"/>
              </p:ext>
            </p:extLst>
          </p:nvPr>
        </p:nvGraphicFramePr>
        <p:xfrm>
          <a:off x="5514844" y="2456555"/>
          <a:ext cx="1332000" cy="138176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Количество</a:t>
                      </a:r>
                      <a:r>
                        <a:rPr lang="ru-RU" baseline="0" dirty="0" smtClean="0"/>
                        <a:t> кредит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205288"/>
            <a:ext cx="37147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0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Представление ссылки на счет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Программное переопределение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80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9411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Обработчики событий модуля менеджера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35" y="1810404"/>
            <a:ext cx="8679168" cy="3330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9620" y="2610998"/>
            <a:ext cx="3205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Массив</a:t>
            </a:r>
          </a:p>
          <a:p>
            <a:r>
              <a:rPr lang="ru-RU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Имена полей для формирования ссылки</a:t>
            </a:r>
            <a:endParaRPr lang="ru-R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5310130" y="2236424"/>
            <a:ext cx="616945" cy="374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56253" y="5018354"/>
            <a:ext cx="3857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Структура</a:t>
            </a:r>
          </a:p>
          <a:p>
            <a:r>
              <a:rPr lang="ru-RU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Ключ = имя поля</a:t>
            </a:r>
          </a:p>
          <a:p>
            <a:r>
              <a:rPr lang="ru-RU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Значение = значение поля</a:t>
            </a:r>
            <a:endParaRPr lang="ru-R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4913523" y="3977089"/>
            <a:ext cx="59676" cy="1060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61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theme/theme1.xml><?xml version="1.0" encoding="utf-8"?>
<a:theme xmlns:a="http://schemas.openxmlformats.org/drawingml/2006/main" name="СофтБаланс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1" id="{544E1D70-FC81-461C-8A2C-95A7C0C1033B}" vid="{EC467584-E60C-463F-AF8D-1AD37B3FD37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СофтБаланс1</Template>
  <TotalTime>1416</TotalTime>
  <Words>1345</Words>
  <Application>Microsoft Office PowerPoint</Application>
  <PresentationFormat>Экран (4:3)</PresentationFormat>
  <Paragraphs>604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Calibri</vt:lpstr>
      <vt:lpstr>Tahoma</vt:lpstr>
      <vt:lpstr>Verdana</vt:lpstr>
      <vt:lpstr>Wingdings</vt:lpstr>
      <vt:lpstr>СофтБаланс1</vt:lpstr>
      <vt:lpstr>Занятие 11</vt:lpstr>
      <vt:lpstr>Бухгалтерский учет</vt:lpstr>
      <vt:lpstr>Бухгалтерский учет ведется для юридических лиц (организаций)</vt:lpstr>
      <vt:lpstr>Пример бизнес-процесса</vt:lpstr>
      <vt:lpstr>Получены деньги в кассу от учредителей (10000 руб.)</vt:lpstr>
      <vt:lpstr>Выплачена предоплата фермеру Добрюшкину в размере 50 % за 10 ханориков (5000 руб.)</vt:lpstr>
      <vt:lpstr>Получено 8 ханориков от фермера Добрюшкина </vt:lpstr>
      <vt:lpstr>Продали 5 ханориков ООО «Русский ватник» за 6000 руб.</vt:lpstr>
      <vt:lpstr>Есть ли прибыль?</vt:lpstr>
      <vt:lpstr>Формула прибыли</vt:lpstr>
      <vt:lpstr>Сколько доходов и расходов?</vt:lpstr>
      <vt:lpstr>Расчет прибыли</vt:lpstr>
      <vt:lpstr>Как бухгалтер считает прибыль</vt:lpstr>
      <vt:lpstr>Все операции</vt:lpstr>
      <vt:lpstr>Надо рассчитать все остатки и обороты по всем участникам операций. Как? </vt:lpstr>
      <vt:lpstr>Презентация PowerPoint</vt:lpstr>
      <vt:lpstr>Презентация PowerPoint</vt:lpstr>
      <vt:lpstr>Презентация PowerPoint</vt:lpstr>
      <vt:lpstr>Презентация PowerPoint</vt:lpstr>
      <vt:lpstr>Перевод с русского языка на латынь</vt:lpstr>
      <vt:lpstr>Презентация PowerPoint</vt:lpstr>
      <vt:lpstr>Презентация PowerPoint</vt:lpstr>
      <vt:lpstr>Презентация PowerPoint</vt:lpstr>
      <vt:lpstr>Презентация PowerPoint</vt:lpstr>
      <vt:lpstr>Настройка плана счетов</vt:lpstr>
      <vt:lpstr>План счетов</vt:lpstr>
      <vt:lpstr>Проблема упорядочивания</vt:lpstr>
      <vt:lpstr>Поле порядок</vt:lpstr>
      <vt:lpstr>Авто-формирование поля порядок</vt:lpstr>
      <vt:lpstr>Настройки регистра бухгалтерии</vt:lpstr>
      <vt:lpstr>Два варианта записи бухгалтерских  проводок</vt:lpstr>
      <vt:lpstr>Настройка поддержки корреспонденции</vt:lpstr>
      <vt:lpstr>Балансовый ресурс</vt:lpstr>
      <vt:lpstr>Небалансовый ресурс</vt:lpstr>
      <vt:lpstr>Представление ссылки на счет</vt:lpstr>
      <vt:lpstr>Обработчики событий модуля менеджера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Бухгалтерский учет</dc:title>
  <dc:creator>eugeniy sizov</dc:creator>
  <cp:lastModifiedBy>eugeniy sizov</cp:lastModifiedBy>
  <cp:revision>46</cp:revision>
  <dcterms:created xsi:type="dcterms:W3CDTF">2015-05-04T15:57:18Z</dcterms:created>
  <dcterms:modified xsi:type="dcterms:W3CDTF">2017-03-22T15:09:34Z</dcterms:modified>
</cp:coreProperties>
</file>