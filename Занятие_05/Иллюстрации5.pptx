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41"/>
  </p:notesMasterIdLst>
  <p:sldIdLst>
    <p:sldId id="295" r:id="rId2"/>
    <p:sldId id="312" r:id="rId3"/>
    <p:sldId id="313" r:id="rId4"/>
    <p:sldId id="314" r:id="rId5"/>
    <p:sldId id="315" r:id="rId6"/>
    <p:sldId id="316" r:id="rId7"/>
    <p:sldId id="317" r:id="rId8"/>
    <p:sldId id="318" r:id="rId9"/>
    <p:sldId id="319" r:id="rId10"/>
    <p:sldId id="320" r:id="rId11"/>
    <p:sldId id="321" r:id="rId12"/>
    <p:sldId id="322" r:id="rId13"/>
    <p:sldId id="323" r:id="rId14"/>
    <p:sldId id="288" r:id="rId15"/>
    <p:sldId id="259" r:id="rId16"/>
    <p:sldId id="289" r:id="rId17"/>
    <p:sldId id="258" r:id="rId18"/>
    <p:sldId id="284" r:id="rId19"/>
    <p:sldId id="266" r:id="rId20"/>
    <p:sldId id="306" r:id="rId21"/>
    <p:sldId id="267" r:id="rId22"/>
    <p:sldId id="307" r:id="rId23"/>
    <p:sldId id="268" r:id="rId24"/>
    <p:sldId id="308" r:id="rId25"/>
    <p:sldId id="309" r:id="rId26"/>
    <p:sldId id="310" r:id="rId27"/>
    <p:sldId id="311" r:id="rId28"/>
    <p:sldId id="299" r:id="rId29"/>
    <p:sldId id="300" r:id="rId30"/>
    <p:sldId id="301" r:id="rId31"/>
    <p:sldId id="304" r:id="rId32"/>
    <p:sldId id="305" r:id="rId33"/>
    <p:sldId id="291" r:id="rId34"/>
    <p:sldId id="292" r:id="rId35"/>
    <p:sldId id="293" r:id="rId36"/>
    <p:sldId id="294" r:id="rId37"/>
    <p:sldId id="296" r:id="rId38"/>
    <p:sldId id="297" r:id="rId39"/>
    <p:sldId id="298" r:id="rId4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77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-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Средний стиль 2 -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Средний стиль 2 -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43" autoAdjust="0"/>
    <p:restoredTop sz="94660"/>
  </p:normalViewPr>
  <p:slideViewPr>
    <p:cSldViewPr>
      <p:cViewPr varScale="1">
        <p:scale>
          <a:sx n="99" d="100"/>
          <a:sy n="99" d="100"/>
        </p:scale>
        <p:origin x="108" y="276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4" d="100"/>
        <a:sy n="74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BE061D1A-3A38-487A-8400-76A8E26A331D}"/>
    <pc:docChg chg="custSel modSld">
      <pc:chgData name="eugeniy sizov" userId="f166da1dfb7bc990" providerId="LiveId" clId="{BE061D1A-3A38-487A-8400-76A8E26A331D}" dt="2018-08-08T08:08:13.868" v="30" actId="1076"/>
      <pc:docMkLst>
        <pc:docMk/>
      </pc:docMkLst>
      <pc:sldChg chg="modSp">
        <pc:chgData name="eugeniy sizov" userId="f166da1dfb7bc990" providerId="LiveId" clId="{BE061D1A-3A38-487A-8400-76A8E26A331D}" dt="2018-08-08T08:08:13.868" v="30" actId="1076"/>
        <pc:sldMkLst>
          <pc:docMk/>
          <pc:sldMk cId="1368418178" sldId="299"/>
        </pc:sldMkLst>
        <pc:spChg chg="mod">
          <ac:chgData name="eugeniy sizov" userId="f166da1dfb7bc990" providerId="LiveId" clId="{BE061D1A-3A38-487A-8400-76A8E26A331D}" dt="2018-08-08T08:08:07.552" v="28" actId="1076"/>
          <ac:spMkLst>
            <pc:docMk/>
            <pc:sldMk cId="1368418178" sldId="299"/>
            <ac:spMk id="20" creationId="{00000000-0000-0000-0000-000000000000}"/>
          </ac:spMkLst>
        </pc:spChg>
        <pc:spChg chg="mod">
          <ac:chgData name="eugeniy sizov" userId="f166da1dfb7bc990" providerId="LiveId" clId="{BE061D1A-3A38-487A-8400-76A8E26A331D}" dt="2018-08-08T08:08:13.868" v="30" actId="1076"/>
          <ac:spMkLst>
            <pc:docMk/>
            <pc:sldMk cId="1368418178" sldId="299"/>
            <ac:spMk id="21" creationId="{00000000-0000-0000-0000-000000000000}"/>
          </ac:spMkLst>
        </pc:spChg>
        <pc:graphicFrameChg chg="modGraphic">
          <ac:chgData name="eugeniy sizov" userId="f166da1dfb7bc990" providerId="LiveId" clId="{BE061D1A-3A38-487A-8400-76A8E26A331D}" dt="2018-08-08T08:07:34.587" v="24" actId="20577"/>
          <ac:graphicFrameMkLst>
            <pc:docMk/>
            <pc:sldMk cId="1368418178" sldId="299"/>
            <ac:graphicFrameMk id="4" creationId="{00000000-0000-0000-0000-000000000000}"/>
          </ac:graphicFrameMkLst>
        </pc:graphicFrameChg>
        <pc:graphicFrameChg chg="modGraphic">
          <ac:chgData name="eugeniy sizov" userId="f166da1dfb7bc990" providerId="LiveId" clId="{BE061D1A-3A38-487A-8400-76A8E26A331D}" dt="2018-08-08T08:07:59.405" v="27" actId="207"/>
          <ac:graphicFrameMkLst>
            <pc:docMk/>
            <pc:sldMk cId="1368418178" sldId="299"/>
            <ac:graphicFrameMk id="5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B156D-E048-478A-9FAC-BB7875D640EE}" type="datetimeFigureOut">
              <a:rPr lang="ru-RU" smtClean="0"/>
              <a:pPr/>
              <a:t>24.09.2020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4CF084-A553-48E6-90BE-C65AE5850BE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4473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28719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0821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669865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48117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937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81096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02500-B44B-4B16-A7F5-4E45509C7207}" type="datetimeFigureOut">
              <a:rPr lang="ru-RU" smtClean="0"/>
              <a:pPr/>
              <a:t>24.09.2020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672B5-37F5-4110-B80E-7517DB5B5DA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1925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02500-B44B-4B16-A7F5-4E45509C7207}" type="datetimeFigureOut">
              <a:rPr lang="ru-RU" smtClean="0"/>
              <a:pPr/>
              <a:t>24.09.2020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672B5-37F5-4110-B80E-7517DB5B5DA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7969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777948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4386138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Содержимое 2"/>
          <p:cNvSpPr>
            <a:spLocks noGrp="1"/>
          </p:cNvSpPr>
          <p:nvPr>
            <p:ph idx="10"/>
          </p:nvPr>
        </p:nvSpPr>
        <p:spPr>
          <a:xfrm>
            <a:off x="4644008" y="1340768"/>
            <a:ext cx="4306779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280418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/24</a:t>
            </a: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2367814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3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4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Занятие 5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dirty="0"/>
              <a:t>Регистры сведений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dirty="0"/>
              <a:t>Запросы</a:t>
            </a:r>
          </a:p>
        </p:txBody>
      </p:sp>
    </p:spTree>
    <p:extLst>
      <p:ext uri="{BB962C8B-B14F-4D97-AF65-F5344CB8AC3E}">
        <p14:creationId xmlns:p14="http://schemas.microsoft.com/office/powerpoint/2010/main" val="250929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 idx="4294967295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r>
              <a:rPr lang="ru-RU" dirty="0"/>
              <a:t>Команды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8035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Кто создал</a:t>
            </a:r>
          </a:p>
          <a:p>
            <a:pPr lvl="1"/>
            <a:r>
              <a:rPr lang="ru-RU" dirty="0"/>
              <a:t>Платформа</a:t>
            </a:r>
          </a:p>
          <a:p>
            <a:pPr lvl="1"/>
            <a:r>
              <a:rPr lang="ru-RU" dirty="0">
                <a:solidFill>
                  <a:schemeClr val="bg2">
                    <a:lumMod val="25000"/>
                  </a:schemeClr>
                </a:solidFill>
              </a:rPr>
              <a:t>Разработчик</a:t>
            </a:r>
          </a:p>
          <a:p>
            <a:r>
              <a:rPr lang="ru-RU" dirty="0"/>
              <a:t>Количество мест расположения</a:t>
            </a:r>
          </a:p>
          <a:p>
            <a:pPr lvl="1"/>
            <a:r>
              <a:rPr lang="ru-RU" dirty="0">
                <a:solidFill>
                  <a:schemeClr val="accent4">
                    <a:lumMod val="75000"/>
                  </a:schemeClr>
                </a:solidFill>
              </a:rPr>
              <a:t>Только в одной форме</a:t>
            </a:r>
          </a:p>
          <a:p>
            <a:pPr lvl="1"/>
            <a:r>
              <a:rPr lang="ru-RU" dirty="0"/>
              <a:t>В разных формах</a:t>
            </a:r>
          </a:p>
          <a:p>
            <a:r>
              <a:rPr lang="ru-RU" dirty="0"/>
              <a:t>Выполняемое действие</a:t>
            </a:r>
          </a:p>
          <a:p>
            <a:pPr lvl="1"/>
            <a:r>
              <a:rPr lang="ru-RU" dirty="0">
                <a:solidFill>
                  <a:srgbClr val="C00000"/>
                </a:solidFill>
              </a:rPr>
              <a:t>Навигационные</a:t>
            </a:r>
          </a:p>
          <a:p>
            <a:pPr lvl="1"/>
            <a:r>
              <a:rPr lang="ru-RU" dirty="0">
                <a:solidFill>
                  <a:srgbClr val="0070C0"/>
                </a:solidFill>
              </a:rPr>
              <a:t>Действия</a:t>
            </a:r>
          </a:p>
          <a:p>
            <a:r>
              <a:rPr lang="ru-RU" dirty="0"/>
              <a:t>Зависимость от других данных</a:t>
            </a:r>
          </a:p>
          <a:p>
            <a:pPr lvl="1"/>
            <a:r>
              <a:rPr lang="ru-RU" dirty="0">
                <a:solidFill>
                  <a:srgbClr val="00B050"/>
                </a:solidFill>
              </a:rPr>
              <a:t>Независимые</a:t>
            </a:r>
          </a:p>
          <a:p>
            <a:pPr lvl="1"/>
            <a:r>
              <a:rPr lang="ru-RU" dirty="0">
                <a:solidFill>
                  <a:schemeClr val="accent6">
                    <a:lumMod val="75000"/>
                  </a:schemeClr>
                </a:solidFill>
              </a:rPr>
              <a:t>Параметризированные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команд</a:t>
            </a:r>
          </a:p>
        </p:txBody>
      </p:sp>
    </p:spTree>
    <p:extLst>
      <p:ext uri="{BB962C8B-B14F-4D97-AF65-F5344CB8AC3E}">
        <p14:creationId xmlns:p14="http://schemas.microsoft.com/office/powerpoint/2010/main" val="168292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Кто создает команду</a:t>
            </a: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Стандартные команды</a:t>
            </a:r>
          </a:p>
          <a:p>
            <a:pPr lvl="1"/>
            <a:r>
              <a:rPr lang="ru-RU" dirty="0"/>
              <a:t>Зависят от настроек метаданных. </a:t>
            </a:r>
          </a:p>
          <a:p>
            <a:pPr lvl="1"/>
            <a:r>
              <a:rPr lang="ru-RU" dirty="0"/>
              <a:t>Автоматически создаются платформой.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ru-RU" dirty="0"/>
              <a:t>Команды созданные разработчиком</a:t>
            </a:r>
          </a:p>
          <a:p>
            <a:pPr lvl="1"/>
            <a:r>
              <a:rPr lang="ru-RU" dirty="0"/>
              <a:t>Явно создаются разработчиком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52900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Количество мест расположения</a:t>
            </a: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Локальные команды</a:t>
            </a:r>
          </a:p>
          <a:p>
            <a:pPr lvl="1"/>
            <a:r>
              <a:rPr lang="ru-RU" sz="2000" dirty="0"/>
              <a:t>Располагается только в одной форме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pPr lvl="0"/>
            <a:r>
              <a:rPr lang="ru-RU" dirty="0"/>
              <a:t>Глобальные команды</a:t>
            </a:r>
          </a:p>
          <a:p>
            <a:pPr lvl="1"/>
            <a:r>
              <a:rPr lang="ru-RU" sz="2000" dirty="0"/>
              <a:t>Могут располагаться в нескольких формах (окнах)</a:t>
            </a:r>
            <a:endParaRPr lang="en-US" sz="2000" dirty="0"/>
          </a:p>
          <a:p>
            <a:pPr lvl="1"/>
            <a:r>
              <a:rPr lang="ru-RU" sz="2000" dirty="0"/>
              <a:t>Могут располагаться в основном окне программы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649640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170" y="3604768"/>
            <a:ext cx="6448131" cy="2679153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980728"/>
            <a:ext cx="6629400" cy="2676525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Пример глобальной команды 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710235" y="1494964"/>
            <a:ext cx="2664296" cy="867807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4360639" y="4102779"/>
            <a:ext cx="2664296" cy="867807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2089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500"/>
                            </p:stCondLst>
                            <p:childTnLst>
                              <p:par>
                                <p:cTn id="2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1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000"/>
                            </p:stCondLst>
                            <p:childTnLst>
                              <p:par>
                                <p:cTn id="3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  <p:bldP spid="8" grpId="0" animBg="1"/>
      <p:bldP spid="8" grpId="1" animBg="1"/>
      <p:bldP spid="8" grpId="2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«ожидаемому» действию</a:t>
            </a: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Навигационные</a:t>
            </a:r>
          </a:p>
          <a:p>
            <a:pPr lvl="1"/>
            <a:r>
              <a:rPr lang="ru-RU" sz="2000" dirty="0"/>
              <a:t>Встраивают в текущее окно список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pPr lvl="0"/>
            <a:r>
              <a:rPr lang="ru-RU" dirty="0"/>
              <a:t>Действия</a:t>
            </a:r>
          </a:p>
          <a:p>
            <a:pPr lvl="1"/>
            <a:r>
              <a:rPr lang="ru-RU" sz="2000" dirty="0"/>
              <a:t>Открывают другое окно, в котором будет инициирован некий процесс</a:t>
            </a:r>
          </a:p>
          <a:p>
            <a:pPr lvl="2"/>
            <a:r>
              <a:rPr lang="ru-RU" sz="1400" i="1" dirty="0"/>
              <a:t>Формирование отчета;</a:t>
            </a:r>
          </a:p>
          <a:p>
            <a:pPr lvl="2"/>
            <a:r>
              <a:rPr lang="ru-RU" sz="1400" i="1" dirty="0"/>
              <a:t>Создание нового документа;</a:t>
            </a:r>
          </a:p>
          <a:p>
            <a:pPr lvl="2"/>
            <a:r>
              <a:rPr lang="ru-RU" sz="1400" i="1" dirty="0"/>
              <a:t>Открытие формы обработки;</a:t>
            </a:r>
          </a:p>
          <a:p>
            <a:pPr lvl="2"/>
            <a:r>
              <a:rPr lang="ru-RU" sz="1400" i="1" dirty="0" err="1"/>
              <a:t>И.т.п</a:t>
            </a:r>
            <a:r>
              <a:rPr lang="ru-RU" sz="1400" i="1" dirty="0"/>
              <a:t>.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46414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220" y="1422697"/>
            <a:ext cx="3933825" cy="235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команды действия</a:t>
            </a:r>
          </a:p>
        </p:txBody>
      </p:sp>
      <p:sp>
        <p:nvSpPr>
          <p:cNvPr id="3" name="Стрелка углом 2"/>
          <p:cNvSpPr/>
          <p:nvPr/>
        </p:nvSpPr>
        <p:spPr>
          <a:xfrm rot="10800000" flipH="1">
            <a:off x="2310346" y="4077072"/>
            <a:ext cx="1973622" cy="1756170"/>
          </a:xfrm>
          <a:prstGeom prst="ben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2627784" y="2883994"/>
            <a:ext cx="1800200" cy="328982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385" y="4005064"/>
            <a:ext cx="4139056" cy="22080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17081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6" grpId="1" animBg="1"/>
      <p:bldP spid="6" grpId="2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навигационной команды 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556792"/>
            <a:ext cx="2505075" cy="2305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2132856"/>
            <a:ext cx="3888432" cy="44085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Стрелка углом 2"/>
          <p:cNvSpPr/>
          <p:nvPr/>
        </p:nvSpPr>
        <p:spPr>
          <a:xfrm rot="10800000" flipH="1">
            <a:off x="2310346" y="4077072"/>
            <a:ext cx="1973622" cy="1756170"/>
          </a:xfrm>
          <a:prstGeom prst="ben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83568" y="2611446"/>
            <a:ext cx="2016224" cy="490404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5368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6" grpId="1" animBg="1"/>
      <p:bldP spid="6" grpId="2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зависимости от других данных</a:t>
            </a: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Независимые</a:t>
            </a:r>
          </a:p>
          <a:p>
            <a:pPr lvl="1"/>
            <a:r>
              <a:rPr lang="ru-RU" sz="2000" dirty="0"/>
              <a:t>Работают одинаково в любых ситуациях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0"/>
          </p:nvPr>
        </p:nvSpPr>
        <p:spPr>
          <a:xfrm>
            <a:off x="4355976" y="1340768"/>
            <a:ext cx="4594811" cy="4896543"/>
          </a:xfrm>
        </p:spPr>
        <p:txBody>
          <a:bodyPr/>
          <a:lstStyle/>
          <a:p>
            <a:r>
              <a:rPr lang="ru-RU" dirty="0"/>
              <a:t>Параметризируемые</a:t>
            </a:r>
          </a:p>
          <a:p>
            <a:pPr lvl="2"/>
            <a:r>
              <a:rPr lang="ru-RU" dirty="0"/>
              <a:t>Нужен входящий параметр (ссылка или массив ссылок)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1474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независимой команды 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556792"/>
            <a:ext cx="2505075" cy="2305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844824"/>
            <a:ext cx="3888432" cy="44085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Стрелка углом 2"/>
          <p:cNvSpPr/>
          <p:nvPr/>
        </p:nvSpPr>
        <p:spPr>
          <a:xfrm rot="10800000" flipH="1">
            <a:off x="2310346" y="4077072"/>
            <a:ext cx="1973622" cy="1756170"/>
          </a:xfrm>
          <a:prstGeom prst="ben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83568" y="2611446"/>
            <a:ext cx="2016224" cy="490404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3913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6" grpId="1" animBg="1"/>
      <p:bldP spid="6" grpId="2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6846" y="3664613"/>
            <a:ext cx="5385594" cy="2563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1052736"/>
            <a:ext cx="6629400" cy="2676525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Пример параметризируемой команды </a:t>
            </a:r>
          </a:p>
        </p:txBody>
      </p:sp>
      <p:sp>
        <p:nvSpPr>
          <p:cNvPr id="3" name="Стрелка углом 2"/>
          <p:cNvSpPr/>
          <p:nvPr/>
        </p:nvSpPr>
        <p:spPr>
          <a:xfrm rot="5400000">
            <a:off x="5798268" y="2492256"/>
            <a:ext cx="2592290" cy="1086208"/>
          </a:xfrm>
          <a:prstGeom prst="ben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851920" y="1523190"/>
            <a:ext cx="2664296" cy="867807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003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6" grpId="1" animBg="1"/>
      <p:bldP spid="6" grpId="2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84815"/>
          </a:xfrm>
        </p:spPr>
        <p:txBody>
          <a:bodyPr>
            <a:normAutofit fontScale="90000"/>
          </a:bodyPr>
          <a:lstStyle/>
          <a:p>
            <a:r>
              <a:rPr lang="ru-RU" sz="3600" dirty="0"/>
              <a:t>Место расположение глобальных команд по умолчанию</a:t>
            </a:r>
            <a:r>
              <a:rPr lang="ru-RU" dirty="0"/>
              <a:t/>
            </a:r>
            <a:br>
              <a:rPr lang="ru-RU" dirty="0"/>
            </a:br>
            <a:r>
              <a:rPr lang="ru-RU" sz="1800" dirty="0"/>
              <a:t>(</a:t>
            </a:r>
            <a:r>
              <a:rPr lang="ru-RU" sz="2000" dirty="0"/>
              <a:t>Потом можно изменить)</a:t>
            </a: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1322546" y="1700808"/>
            <a:ext cx="3600400" cy="43204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Независимые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5093872" y="1706690"/>
            <a:ext cx="3600400" cy="432048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Параметризируемые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47564" y="2276872"/>
            <a:ext cx="504056" cy="193833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ru-RU" dirty="0"/>
              <a:t>Навигационные</a:t>
            </a: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647564" y="4365104"/>
            <a:ext cx="504056" cy="19383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ru-RU" dirty="0"/>
              <a:t>Действия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2700423"/>
            <a:ext cx="2643099" cy="7429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4906076"/>
            <a:ext cx="3008502" cy="779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2731688"/>
            <a:ext cx="2959785" cy="7308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5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8337" y="4906076"/>
            <a:ext cx="3690594" cy="755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6491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Регистры сведений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Актуальное состояние объекта учета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solidFill>
                  <a:srgbClr val="000000"/>
                </a:solidFill>
              </a:rPr>
              <a:t>Хранение информации о состоянии объекта учёта</a:t>
            </a:r>
          </a:p>
          <a:p>
            <a:pPr lvl="1"/>
            <a:r>
              <a:rPr lang="ru-RU" dirty="0">
                <a:solidFill>
                  <a:schemeClr val="accent4">
                    <a:lumMod val="50000"/>
                  </a:schemeClr>
                </a:solidFill>
              </a:rPr>
              <a:t>Какая сейчас фамилия у сотрудницы?</a:t>
            </a:r>
          </a:p>
          <a:p>
            <a:pPr lvl="1"/>
            <a:r>
              <a:rPr lang="ru-RU" dirty="0">
                <a:solidFill>
                  <a:schemeClr val="accent6">
                    <a:lumMod val="50000"/>
                  </a:schemeClr>
                </a:solidFill>
              </a:rPr>
              <a:t>Какая сегодня цена на этот товар?</a:t>
            </a:r>
          </a:p>
          <a:p>
            <a:pPr lvl="1"/>
            <a:r>
              <a:rPr lang="ru-RU" dirty="0">
                <a:solidFill>
                  <a:schemeClr val="accent3">
                    <a:lumMod val="50000"/>
                  </a:schemeClr>
                </a:solidFill>
              </a:rPr>
              <a:t>Рабочий или выходной день был вчера?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Назначение регистра сведений</a:t>
            </a:r>
            <a:br>
              <a:rPr lang="ru-RU" dirty="0"/>
            </a:b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103035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404664"/>
            <a:ext cx="8784000" cy="984815"/>
          </a:xfrm>
        </p:spPr>
        <p:txBody>
          <a:bodyPr>
            <a:noAutofit/>
          </a:bodyPr>
          <a:lstStyle/>
          <a:p>
            <a:r>
              <a:rPr lang="ru-RU" sz="2800" dirty="0"/>
              <a:t>Периодический или </a:t>
            </a:r>
            <a:r>
              <a:rPr lang="ru-RU" sz="2800" dirty="0">
                <a:solidFill>
                  <a:srgbClr val="0070C0"/>
                </a:solidFill>
              </a:rPr>
              <a:t>Не</a:t>
            </a:r>
            <a:r>
              <a:rPr lang="ru-RU" sz="2800" dirty="0"/>
              <a:t>периодический регистр сведений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890549"/>
              </p:ext>
            </p:extLst>
          </p:nvPr>
        </p:nvGraphicFramePr>
        <p:xfrm>
          <a:off x="827584" y="1308184"/>
          <a:ext cx="3816424" cy="521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6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Периодический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i="1" dirty="0">
                          <a:solidFill>
                            <a:srgbClr val="00B050"/>
                          </a:solidFill>
                        </a:rPr>
                        <a:t>Состояние</a:t>
                      </a:r>
                      <a:r>
                        <a:rPr lang="ru-RU" i="1" baseline="0" dirty="0">
                          <a:solidFill>
                            <a:srgbClr val="00B050"/>
                          </a:solidFill>
                        </a:rPr>
                        <a:t> объекта учета может измениться со временем</a:t>
                      </a:r>
                      <a:endParaRPr lang="ru-RU" i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Цена на товар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Курс валюты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spc="600" dirty="0"/>
                        <a:t>F</a:t>
                      </a:r>
                      <a:r>
                        <a:rPr lang="en-US" sz="1800" dirty="0"/>
                        <a:t>(</a:t>
                      </a:r>
                      <a:r>
                        <a:rPr lang="ru-RU" sz="1800" b="1" dirty="0">
                          <a:solidFill>
                            <a:srgbClr val="C00000"/>
                          </a:solidFill>
                        </a:rPr>
                        <a:t>Объект</a:t>
                      </a:r>
                      <a:r>
                        <a:rPr lang="ru-RU" sz="1800" dirty="0"/>
                        <a:t>, Дата) </a:t>
                      </a:r>
                      <a:r>
                        <a:rPr lang="ru-RU" sz="1800" dirty="0">
                          <a:latin typeface="Arial" pitchFamily="34" charset="0"/>
                          <a:cs typeface="Arial" pitchFamily="34" charset="0"/>
                        </a:rPr>
                        <a:t>→</a:t>
                      </a:r>
                      <a:r>
                        <a:rPr lang="ru-RU" sz="1800" dirty="0"/>
                        <a:t> </a:t>
                      </a:r>
                      <a:r>
                        <a:rPr lang="ru-RU" sz="1800" dirty="0">
                          <a:solidFill>
                            <a:srgbClr val="00B050"/>
                          </a:solidFill>
                        </a:rPr>
                        <a:t>Состояние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="1" dirty="0">
                          <a:solidFill>
                            <a:schemeClr val="tx1"/>
                          </a:solidFill>
                        </a:rPr>
                        <a:t>Период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 – Дата изменения состояния объекта учёта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="1" dirty="0">
                          <a:solidFill>
                            <a:srgbClr val="C00000"/>
                          </a:solidFill>
                        </a:rPr>
                        <a:t>Измерения</a:t>
                      </a:r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– Объект учёта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Ресурсы</a:t>
                      </a:r>
                      <a:r>
                        <a:rPr lang="ru-RU" baseline="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– состояние объекта учета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="1" baseline="0" dirty="0">
                          <a:solidFill>
                            <a:srgbClr val="0070C0"/>
                          </a:solidFill>
                        </a:rPr>
                        <a:t>Реквизиты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 - комментарий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i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Периодичность</a:t>
                      </a:r>
                      <a:r>
                        <a:rPr lang="ru-RU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 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-  временной период, в течение которого состояние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 не изменится.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913753"/>
              </p:ext>
            </p:extLst>
          </p:nvPr>
        </p:nvGraphicFramePr>
        <p:xfrm>
          <a:off x="4716016" y="1308184"/>
          <a:ext cx="3816424" cy="4302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6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Непериодический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i="1" dirty="0">
                          <a:solidFill>
                            <a:srgbClr val="00B0F0"/>
                          </a:solidFill>
                        </a:rPr>
                        <a:t>Состояние объекта учета неизменно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Рабочие календари (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графики работы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Счет учета номенклатуры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spc="600" dirty="0"/>
                        <a:t>F</a:t>
                      </a:r>
                      <a:r>
                        <a:rPr lang="en-US" sz="1800" dirty="0"/>
                        <a:t>(</a:t>
                      </a:r>
                      <a:r>
                        <a:rPr lang="ru-RU" sz="1800" b="1" dirty="0">
                          <a:solidFill>
                            <a:srgbClr val="C00000"/>
                          </a:solidFill>
                        </a:rPr>
                        <a:t>Объект</a:t>
                      </a:r>
                      <a:r>
                        <a:rPr lang="ru-RU" sz="1800" dirty="0"/>
                        <a:t>) </a:t>
                      </a:r>
                      <a:r>
                        <a:rPr lang="ru-RU" sz="1800" dirty="0">
                          <a:latin typeface="Arial" pitchFamily="34" charset="0"/>
                          <a:cs typeface="Arial" pitchFamily="34" charset="0"/>
                        </a:rPr>
                        <a:t>→</a:t>
                      </a:r>
                      <a:r>
                        <a:rPr lang="ru-RU" sz="1800" dirty="0"/>
                        <a:t> </a:t>
                      </a:r>
                      <a:r>
                        <a:rPr lang="ru-RU" sz="1800" dirty="0">
                          <a:solidFill>
                            <a:srgbClr val="00B050"/>
                          </a:solidFill>
                        </a:rPr>
                        <a:t>Состояние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="1" dirty="0">
                          <a:solidFill>
                            <a:srgbClr val="C00000"/>
                          </a:solidFill>
                        </a:rPr>
                        <a:t>Измерения</a:t>
                      </a:r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– Объект учёта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="1" dirty="0">
                          <a:solidFill>
                            <a:srgbClr val="00B050"/>
                          </a:solidFill>
                        </a:rPr>
                        <a:t>Ресурсы</a:t>
                      </a:r>
                      <a:r>
                        <a:rPr lang="ru-RU" baseline="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– состояние объекта учета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b="1" baseline="0" dirty="0">
                          <a:solidFill>
                            <a:srgbClr val="0070C0"/>
                          </a:solidFill>
                        </a:rPr>
                        <a:t>Реквизиты</a:t>
                      </a:r>
                      <a:r>
                        <a:rPr lang="ru-RU" baseline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– комментарий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ru-RU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ru-RU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3490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492698" y="3314433"/>
            <a:ext cx="957274" cy="500066"/>
            <a:chOff x="2938070" y="3473006"/>
            <a:chExt cx="957274" cy="500066"/>
          </a:xfrm>
        </p:grpSpPr>
        <p:sp>
          <p:nvSpPr>
            <p:cNvPr id="6" name="Стрелка вправо 5"/>
            <p:cNvSpPr/>
            <p:nvPr/>
          </p:nvSpPr>
          <p:spPr>
            <a:xfrm>
              <a:off x="2986328" y="3500439"/>
              <a:ext cx="857256" cy="428628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/>
            <p:cNvSpPr/>
            <p:nvPr/>
          </p:nvSpPr>
          <p:spPr>
            <a:xfrm>
              <a:off x="2938070" y="3473006"/>
              <a:ext cx="957274" cy="500066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Таблица регистра сведений</a:t>
            </a:r>
            <a:endParaRPr lang="ru-RU" dirty="0"/>
          </a:p>
        </p:txBody>
      </p:sp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912" y="2424901"/>
            <a:ext cx="4905785" cy="22791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Группа 7"/>
          <p:cNvGrpSpPr/>
          <p:nvPr/>
        </p:nvGrpSpPr>
        <p:grpSpPr>
          <a:xfrm>
            <a:off x="3803587" y="4365104"/>
            <a:ext cx="4714741" cy="1293089"/>
            <a:chOff x="4016333" y="4372514"/>
            <a:chExt cx="4714741" cy="1293089"/>
          </a:xfrm>
        </p:grpSpPr>
        <p:sp>
          <p:nvSpPr>
            <p:cNvPr id="10" name="TextBox 9"/>
            <p:cNvSpPr txBox="1"/>
            <p:nvPr/>
          </p:nvSpPr>
          <p:spPr>
            <a:xfrm>
              <a:off x="4016333" y="5357826"/>
              <a:ext cx="1470388" cy="307777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ctr"/>
              <a:r>
                <a:rPr lang="ru-RU" sz="1400" dirty="0"/>
                <a:t>Служебное поле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162513" y="5357826"/>
              <a:ext cx="1050288" cy="30777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ru-RU" sz="1400" dirty="0"/>
                <a:t>Измерения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039218" y="5357826"/>
              <a:ext cx="691856" cy="30777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ru-RU" sz="1400" dirty="0"/>
                <a:t>Ресурс</a:t>
              </a:r>
            </a:p>
          </p:txBody>
        </p:sp>
        <p:cxnSp>
          <p:nvCxnSpPr>
            <p:cNvPr id="15" name="Прямая со стрелкой 14"/>
            <p:cNvCxnSpPr/>
            <p:nvPr/>
          </p:nvCxnSpPr>
          <p:spPr>
            <a:xfrm flipV="1">
              <a:off x="4712738" y="4372514"/>
              <a:ext cx="0" cy="881246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 flipV="1">
              <a:off x="6584946" y="4372514"/>
              <a:ext cx="1588" cy="869324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 стрелкой 16"/>
            <p:cNvCxnSpPr/>
            <p:nvPr/>
          </p:nvCxnSpPr>
          <p:spPr>
            <a:xfrm flipV="1">
              <a:off x="8385146" y="4372514"/>
              <a:ext cx="0" cy="881246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2664353"/>
            <a:ext cx="1847850" cy="180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Скругленный прямоугольник 17"/>
          <p:cNvSpPr/>
          <p:nvPr/>
        </p:nvSpPr>
        <p:spPr>
          <a:xfrm>
            <a:off x="3803587" y="3068960"/>
            <a:ext cx="1128453" cy="1512168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4932040" y="3081720"/>
            <a:ext cx="2808312" cy="1512168"/>
          </a:xfrm>
          <a:prstGeom prst="roundRect">
            <a:avLst/>
          </a:prstGeom>
          <a:noFill/>
          <a:ln>
            <a:solidFill>
              <a:schemeClr val="tx2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Скругленный прямоугольник 21"/>
          <p:cNvSpPr/>
          <p:nvPr/>
        </p:nvSpPr>
        <p:spPr>
          <a:xfrm>
            <a:off x="7740353" y="3081720"/>
            <a:ext cx="777976" cy="1512168"/>
          </a:xfrm>
          <a:prstGeom prst="round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546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000"/>
                            </p:stCondLst>
                            <p:childTnLst>
                              <p:par>
                                <p:cTn id="37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 tmFilter="0, 0; .2, .5; .8, .5; 1, 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9" dur="25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500"/>
                            </p:stCondLst>
                            <p:childTnLst>
                              <p:par>
                                <p:cTn id="41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500"/>
                            </p:stCondLst>
                            <p:childTnLst>
                              <p:par>
                                <p:cTn id="4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1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1000"/>
                            </p:stCondLst>
                            <p:childTnLst>
                              <p:par>
                                <p:cTn id="5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8" grpId="2" animBg="1"/>
      <p:bldP spid="21" grpId="0" animBg="1"/>
      <p:bldP spid="21" grpId="1" animBg="1"/>
      <p:bldP spid="21" grpId="2" animBg="1"/>
      <p:bldP spid="22" grpId="0" animBg="1"/>
      <p:bldP spid="22" grpId="1" animBg="1"/>
      <p:bldP spid="22" grpId="2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75222"/>
            <a:ext cx="8784976" cy="1143000"/>
          </a:xfrm>
        </p:spPr>
        <p:txBody>
          <a:bodyPr>
            <a:normAutofit/>
          </a:bodyPr>
          <a:lstStyle/>
          <a:p>
            <a:r>
              <a:rPr lang="ru-RU" sz="4000" dirty="0"/>
              <a:t>Ключевые поля</a:t>
            </a:r>
            <a:r>
              <a:rPr lang="ru-RU" dirty="0"/>
              <a:t/>
            </a:r>
            <a:br>
              <a:rPr lang="ru-RU" dirty="0"/>
            </a:br>
            <a:r>
              <a:rPr lang="ru-RU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для контроля уникальности записей</a:t>
            </a:r>
            <a:endParaRPr lang="ru-RU" sz="4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1988840"/>
            <a:ext cx="2785763" cy="584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rgbClr val="002060"/>
                </a:solidFill>
              </a:rPr>
              <a:t>1.</a:t>
            </a:r>
            <a:r>
              <a:rPr lang="ru-RU" sz="2400" dirty="0">
                <a:solidFill>
                  <a:srgbClr val="002060"/>
                </a:solidFill>
              </a:rPr>
              <a:t>  Периодический: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645024"/>
            <a:ext cx="3101555" cy="584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rgbClr val="002060"/>
                </a:solidFill>
              </a:rPr>
              <a:t>2.</a:t>
            </a:r>
            <a:r>
              <a:rPr lang="ru-RU" sz="2400" dirty="0">
                <a:solidFill>
                  <a:srgbClr val="002060"/>
                </a:solidFill>
              </a:rPr>
              <a:t>  Непериодический: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6092874"/>
              </p:ext>
            </p:extLst>
          </p:nvPr>
        </p:nvGraphicFramePr>
        <p:xfrm>
          <a:off x="432000" y="4358625"/>
          <a:ext cx="8244457" cy="1800000"/>
        </p:xfrm>
        <a:graphic>
          <a:graphicData uri="http://schemas.openxmlformats.org/drawingml/2006/table">
            <a:tbl>
              <a:tblPr firstRow="1">
                <a:tableStyleId>{7DF18680-E054-41AD-8BC1-D1AEF772440D}</a:tableStyleId>
              </a:tblPr>
              <a:tblGrid>
                <a:gridCol w="31775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75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Организация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Счет</a:t>
                      </a:r>
                      <a:r>
                        <a:rPr lang="ru-RU" sz="1400" baseline="0" dirty="0"/>
                        <a:t> учета</a:t>
                      </a:r>
                      <a:endParaRPr lang="ru-RU" sz="1400" dirty="0"/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Лето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43 (Продукция)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Лето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43 (Продукция)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Север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41 (Товар)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dk1"/>
                          </a:solidFill>
                        </a:rPr>
                        <a:t>Груши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Север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</a:t>
                      </a:r>
                      <a:r>
                        <a:rPr lang="ru-RU" sz="1400" baseline="0" dirty="0"/>
                        <a:t> (Материал)</a:t>
                      </a:r>
                      <a:endParaRPr lang="ru-RU" sz="14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390795"/>
              </p:ext>
            </p:extLst>
          </p:nvPr>
        </p:nvGraphicFramePr>
        <p:xfrm>
          <a:off x="3636000" y="1988840"/>
          <a:ext cx="5076000" cy="1440000"/>
        </p:xfrm>
        <a:graphic>
          <a:graphicData uri="http://schemas.openxmlformats.org/drawingml/2006/table">
            <a:tbl>
              <a:tblPr firstRow="1">
                <a:tableStyleId>{7DF18680-E054-41AD-8BC1-D1AEF772440D}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Поставщик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Запад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799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9965"/>
            <a:ext cx="8784976" cy="806501"/>
          </a:xfrm>
        </p:spPr>
        <p:txBody>
          <a:bodyPr>
            <a:normAutofit fontScale="90000"/>
          </a:bodyPr>
          <a:lstStyle/>
          <a:p>
            <a:r>
              <a:rPr lang="ru-RU" sz="4000" dirty="0"/>
              <a:t>Контроль уникальности записей</a:t>
            </a:r>
            <a:endParaRPr lang="ru-RU" sz="2000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889738"/>
              </p:ext>
            </p:extLst>
          </p:nvPr>
        </p:nvGraphicFramePr>
        <p:xfrm>
          <a:off x="714349" y="3093564"/>
          <a:ext cx="7715304" cy="2225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71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61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7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100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15.02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</a:t>
                      </a:r>
                      <a:r>
                        <a:rPr lang="en-US" sz="1600" dirty="0"/>
                        <a:t>5</a:t>
                      </a:r>
                      <a:r>
                        <a:rPr lang="ru-RU" sz="1600" dirty="0"/>
                        <a:t>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95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528011" y="5857892"/>
            <a:ext cx="4087979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10 февраля) → 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80 руб.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20 февраля) → </a:t>
            </a:r>
            <a:r>
              <a:rPr lang="ru-RU" sz="1600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???</a:t>
            </a:r>
          </a:p>
        </p:txBody>
      </p:sp>
      <p:grpSp>
        <p:nvGrpSpPr>
          <p:cNvPr id="7" name="Группа 6"/>
          <p:cNvGrpSpPr/>
          <p:nvPr/>
        </p:nvGrpSpPr>
        <p:grpSpPr>
          <a:xfrm>
            <a:off x="785786" y="5461480"/>
            <a:ext cx="7572428" cy="415792"/>
            <a:chOff x="785786" y="5082536"/>
            <a:chExt cx="7572428" cy="415792"/>
          </a:xfrm>
        </p:grpSpPr>
        <p:sp>
          <p:nvSpPr>
            <p:cNvPr id="12" name="TextBox 11"/>
            <p:cNvSpPr txBox="1"/>
            <p:nvPr/>
          </p:nvSpPr>
          <p:spPr>
            <a:xfrm>
              <a:off x="862387" y="5190550"/>
              <a:ext cx="22756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Даты изменения состояния</a:t>
              </a:r>
            </a:p>
          </p:txBody>
        </p:sp>
        <p:sp>
          <p:nvSpPr>
            <p:cNvPr id="16" name="Левая фигурная скобка 15"/>
            <p:cNvSpPr/>
            <p:nvPr/>
          </p:nvSpPr>
          <p:spPr>
            <a:xfrm rot="16200000">
              <a:off x="1928794" y="3939528"/>
              <a:ext cx="142876" cy="2428892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905865" y="5190550"/>
              <a:ext cx="20466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Описание объекта учета</a:t>
              </a:r>
            </a:p>
          </p:txBody>
        </p:sp>
        <p:sp>
          <p:nvSpPr>
            <p:cNvPr id="18" name="Левая фигурная скобка 17"/>
            <p:cNvSpPr/>
            <p:nvPr/>
          </p:nvSpPr>
          <p:spPr>
            <a:xfrm rot="16200000">
              <a:off x="4857752" y="3582338"/>
              <a:ext cx="142876" cy="3143272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682657" y="5190551"/>
              <a:ext cx="16366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Состояние объекта</a:t>
              </a:r>
            </a:p>
          </p:txBody>
        </p:sp>
        <p:sp>
          <p:nvSpPr>
            <p:cNvPr id="20" name="Левая фигурная скобка 19"/>
            <p:cNvSpPr/>
            <p:nvPr/>
          </p:nvSpPr>
          <p:spPr>
            <a:xfrm rot="16200000">
              <a:off x="7429519" y="4296719"/>
              <a:ext cx="142878" cy="1714512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1" name="Прямоугольник 20"/>
          <p:cNvSpPr/>
          <p:nvPr/>
        </p:nvSpPr>
        <p:spPr>
          <a:xfrm>
            <a:off x="649260" y="4528674"/>
            <a:ext cx="3429024" cy="473070"/>
          </a:xfrm>
          <a:prstGeom prst="rect">
            <a:avLst/>
          </a:prstGeom>
          <a:solidFill>
            <a:srgbClr val="FF0000">
              <a:alpha val="20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2" name="Группа 21"/>
          <p:cNvGrpSpPr/>
          <p:nvPr/>
        </p:nvGrpSpPr>
        <p:grpSpPr>
          <a:xfrm>
            <a:off x="1248655" y="1510413"/>
            <a:ext cx="6646691" cy="775579"/>
            <a:chOff x="1248655" y="1510413"/>
            <a:chExt cx="6646691" cy="775579"/>
          </a:xfrm>
        </p:grpSpPr>
        <p:sp>
          <p:nvSpPr>
            <p:cNvPr id="23" name="TextBox 22"/>
            <p:cNvSpPr txBox="1"/>
            <p:nvPr/>
          </p:nvSpPr>
          <p:spPr>
            <a:xfrm>
              <a:off x="1248655" y="1578106"/>
              <a:ext cx="6646691" cy="7078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b="1" spc="600" dirty="0"/>
                <a:t>F</a:t>
              </a:r>
              <a:r>
                <a:rPr lang="en-US" sz="4000" dirty="0"/>
                <a:t>(</a:t>
              </a:r>
              <a:r>
                <a:rPr lang="ru-RU" sz="4000" dirty="0">
                  <a:solidFill>
                    <a:srgbClr val="0070C0"/>
                  </a:solidFill>
                </a:rPr>
                <a:t>Объект</a:t>
              </a:r>
              <a:r>
                <a:rPr lang="ru-RU" sz="4000" dirty="0"/>
                <a:t>, Дата) </a:t>
              </a:r>
              <a:r>
                <a:rPr lang="ru-RU" sz="4000" dirty="0">
                  <a:latin typeface="Arial" pitchFamily="34" charset="0"/>
                  <a:cs typeface="Arial" pitchFamily="34" charset="0"/>
                </a:rPr>
                <a:t>→</a:t>
              </a:r>
              <a:r>
                <a:rPr lang="ru-RU" sz="4000" dirty="0"/>
                <a:t> </a:t>
              </a:r>
              <a:r>
                <a:rPr lang="ru-RU" sz="4000" dirty="0">
                  <a:solidFill>
                    <a:srgbClr val="00B050"/>
                  </a:solidFill>
                </a:rPr>
                <a:t>Состояние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071670" y="1510413"/>
              <a:ext cx="1050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Измерения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88811" y="1510413"/>
              <a:ext cx="8120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Ресурсы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456424" y="1510413"/>
              <a:ext cx="13769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Поле «Период»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34173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59965"/>
            <a:ext cx="8784976" cy="806501"/>
          </a:xfrm>
        </p:spPr>
        <p:txBody>
          <a:bodyPr>
            <a:normAutofit fontScale="90000"/>
          </a:bodyPr>
          <a:lstStyle/>
          <a:p>
            <a:r>
              <a:rPr lang="ru-RU" sz="4000" dirty="0"/>
              <a:t>Контроль уникальности записей</a:t>
            </a:r>
            <a:endParaRPr lang="ru-RU" sz="2000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714349" y="3093564"/>
          <a:ext cx="7715304" cy="2225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71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61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7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100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15.02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</a:t>
                      </a:r>
                      <a:r>
                        <a:rPr lang="en-US" sz="1600" dirty="0"/>
                        <a:t>5</a:t>
                      </a:r>
                      <a:r>
                        <a:rPr lang="ru-RU" sz="1600" dirty="0"/>
                        <a:t>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95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528011" y="5857892"/>
            <a:ext cx="4087979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10 февраля) → 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80 руб.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20 февраля) → </a:t>
            </a:r>
            <a:r>
              <a:rPr lang="ru-RU" sz="1600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???</a:t>
            </a:r>
          </a:p>
        </p:txBody>
      </p:sp>
      <p:grpSp>
        <p:nvGrpSpPr>
          <p:cNvPr id="7" name="Группа 6"/>
          <p:cNvGrpSpPr/>
          <p:nvPr/>
        </p:nvGrpSpPr>
        <p:grpSpPr>
          <a:xfrm>
            <a:off x="785786" y="5461480"/>
            <a:ext cx="7572428" cy="415792"/>
            <a:chOff x="785786" y="5082536"/>
            <a:chExt cx="7572428" cy="415792"/>
          </a:xfrm>
        </p:grpSpPr>
        <p:sp>
          <p:nvSpPr>
            <p:cNvPr id="12" name="TextBox 11"/>
            <p:cNvSpPr txBox="1"/>
            <p:nvPr/>
          </p:nvSpPr>
          <p:spPr>
            <a:xfrm>
              <a:off x="862387" y="5190550"/>
              <a:ext cx="22756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Даты изменения состояния</a:t>
              </a:r>
            </a:p>
          </p:txBody>
        </p:sp>
        <p:sp>
          <p:nvSpPr>
            <p:cNvPr id="16" name="Левая фигурная скобка 15"/>
            <p:cNvSpPr/>
            <p:nvPr/>
          </p:nvSpPr>
          <p:spPr>
            <a:xfrm rot="16200000">
              <a:off x="1928794" y="3939528"/>
              <a:ext cx="142876" cy="2428892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905865" y="5190550"/>
              <a:ext cx="20466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Описание объекта учета</a:t>
              </a:r>
            </a:p>
          </p:txBody>
        </p:sp>
        <p:sp>
          <p:nvSpPr>
            <p:cNvPr id="18" name="Левая фигурная скобка 17"/>
            <p:cNvSpPr/>
            <p:nvPr/>
          </p:nvSpPr>
          <p:spPr>
            <a:xfrm rot="16200000">
              <a:off x="4857752" y="3582338"/>
              <a:ext cx="142876" cy="3143272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682657" y="5190551"/>
              <a:ext cx="16366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Состояние объекта</a:t>
              </a:r>
            </a:p>
          </p:txBody>
        </p:sp>
        <p:sp>
          <p:nvSpPr>
            <p:cNvPr id="20" name="Левая фигурная скобка 19"/>
            <p:cNvSpPr/>
            <p:nvPr/>
          </p:nvSpPr>
          <p:spPr>
            <a:xfrm rot="16200000">
              <a:off x="7429519" y="4296719"/>
              <a:ext cx="142878" cy="1714512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1" name="Прямоугольник 20"/>
          <p:cNvSpPr/>
          <p:nvPr/>
        </p:nvSpPr>
        <p:spPr>
          <a:xfrm>
            <a:off x="649260" y="4528674"/>
            <a:ext cx="3429024" cy="473070"/>
          </a:xfrm>
          <a:prstGeom prst="rect">
            <a:avLst/>
          </a:prstGeom>
          <a:solidFill>
            <a:srgbClr val="FF0000">
              <a:alpha val="20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2" name="Группа 21"/>
          <p:cNvGrpSpPr/>
          <p:nvPr/>
        </p:nvGrpSpPr>
        <p:grpSpPr>
          <a:xfrm>
            <a:off x="1248655" y="1510413"/>
            <a:ext cx="6646691" cy="775579"/>
            <a:chOff x="1248655" y="1510413"/>
            <a:chExt cx="6646691" cy="775579"/>
          </a:xfrm>
        </p:grpSpPr>
        <p:sp>
          <p:nvSpPr>
            <p:cNvPr id="23" name="TextBox 22"/>
            <p:cNvSpPr txBox="1"/>
            <p:nvPr/>
          </p:nvSpPr>
          <p:spPr>
            <a:xfrm>
              <a:off x="1248655" y="1578106"/>
              <a:ext cx="6646691" cy="7078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b="1" spc="600" dirty="0"/>
                <a:t>F</a:t>
              </a:r>
              <a:r>
                <a:rPr lang="en-US" sz="4000" dirty="0"/>
                <a:t>(</a:t>
              </a:r>
              <a:r>
                <a:rPr lang="ru-RU" sz="4000" dirty="0">
                  <a:solidFill>
                    <a:srgbClr val="0070C0"/>
                  </a:solidFill>
                </a:rPr>
                <a:t>Объект</a:t>
              </a:r>
              <a:r>
                <a:rPr lang="ru-RU" sz="4000" dirty="0"/>
                <a:t>, Дата) </a:t>
              </a:r>
              <a:r>
                <a:rPr lang="ru-RU" sz="4000" dirty="0">
                  <a:latin typeface="Arial" pitchFamily="34" charset="0"/>
                  <a:cs typeface="Arial" pitchFamily="34" charset="0"/>
                </a:rPr>
                <a:t>→</a:t>
              </a:r>
              <a:r>
                <a:rPr lang="ru-RU" sz="4000" dirty="0"/>
                <a:t> </a:t>
              </a:r>
              <a:r>
                <a:rPr lang="ru-RU" sz="4000" dirty="0">
                  <a:solidFill>
                    <a:srgbClr val="00B050"/>
                  </a:solidFill>
                </a:rPr>
                <a:t>Состояние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071670" y="1510413"/>
              <a:ext cx="1050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Измерения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88811" y="1510413"/>
              <a:ext cx="8120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Ресурсы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456424" y="1510413"/>
              <a:ext cx="13769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Поле «Период»</a:t>
              </a:r>
            </a:p>
          </p:txBody>
        </p:sp>
      </p:grp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9" y="1428015"/>
            <a:ext cx="7858125" cy="133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086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532030"/>
              </p:ext>
            </p:extLst>
          </p:nvPr>
        </p:nvGraphicFramePr>
        <p:xfrm>
          <a:off x="285720" y="2878122"/>
          <a:ext cx="8572560" cy="2225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14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СпособОплаты</a:t>
                      </a:r>
                      <a:endParaRPr lang="ru-RU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ЦенаРозничная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ЦенаОптовая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Наличные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75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WebMoney</a:t>
                      </a:r>
                      <a:endParaRPr lang="ru-RU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85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80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Наличные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100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90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Наличные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100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95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7564" y="5857200"/>
            <a:ext cx="7848872" cy="683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en-US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Наличные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2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 февраля) →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Розница: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80 руб.,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Опт: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75 руб.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Груши</a:t>
            </a:r>
            <a:r>
              <a:rPr lang="en-US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Наличные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2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 февраля) → </a:t>
            </a:r>
            <a:r>
              <a:rPr lang="ru-RU" sz="1600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???</a:t>
            </a:r>
            <a:endParaRPr lang="ru-RU" sz="1600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" name="Группа 1"/>
          <p:cNvGrpSpPr/>
          <p:nvPr/>
        </p:nvGrpSpPr>
        <p:grpSpPr>
          <a:xfrm>
            <a:off x="357159" y="5235576"/>
            <a:ext cx="8429683" cy="641696"/>
            <a:chOff x="357159" y="5072074"/>
            <a:chExt cx="8429683" cy="641696"/>
          </a:xfrm>
        </p:grpSpPr>
        <p:sp>
          <p:nvSpPr>
            <p:cNvPr id="12" name="TextBox 11"/>
            <p:cNvSpPr txBox="1"/>
            <p:nvPr/>
          </p:nvSpPr>
          <p:spPr>
            <a:xfrm>
              <a:off x="410501" y="5190550"/>
              <a:ext cx="14649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Даты изменения</a:t>
              </a:r>
            </a:p>
            <a:p>
              <a:pPr algn="ctr"/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состояния</a:t>
              </a:r>
            </a:p>
          </p:txBody>
        </p:sp>
        <p:sp>
          <p:nvSpPr>
            <p:cNvPr id="16" name="Левая фигурная скобка 15"/>
            <p:cNvSpPr/>
            <p:nvPr/>
          </p:nvSpPr>
          <p:spPr>
            <a:xfrm rot="16200000">
              <a:off x="1066308" y="4362925"/>
              <a:ext cx="153338" cy="1571635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691419" y="5190550"/>
              <a:ext cx="20466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Описание объекта учета</a:t>
              </a:r>
            </a:p>
          </p:txBody>
        </p:sp>
        <p:sp>
          <p:nvSpPr>
            <p:cNvPr id="18" name="Левая фигурная скобка 17"/>
            <p:cNvSpPr/>
            <p:nvPr/>
          </p:nvSpPr>
          <p:spPr>
            <a:xfrm rot="16200000">
              <a:off x="3638075" y="3505669"/>
              <a:ext cx="153338" cy="328614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325467" y="5190551"/>
              <a:ext cx="16366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Состояние объекта</a:t>
              </a:r>
            </a:p>
          </p:txBody>
        </p:sp>
        <p:sp>
          <p:nvSpPr>
            <p:cNvPr id="20" name="Левая фигурная скобка 19"/>
            <p:cNvSpPr/>
            <p:nvPr/>
          </p:nvSpPr>
          <p:spPr>
            <a:xfrm rot="16200000">
              <a:off x="7067098" y="3505670"/>
              <a:ext cx="153340" cy="328614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2" name="Заголовок 1"/>
          <p:cNvSpPr>
            <a:spLocks noGrp="1"/>
          </p:cNvSpPr>
          <p:nvPr>
            <p:ph type="title"/>
          </p:nvPr>
        </p:nvSpPr>
        <p:spPr>
          <a:xfrm>
            <a:off x="179512" y="540627"/>
            <a:ext cx="8784976" cy="842108"/>
          </a:xfrm>
        </p:spPr>
        <p:txBody>
          <a:bodyPr>
            <a:normAutofit fontScale="90000"/>
          </a:bodyPr>
          <a:lstStyle/>
          <a:p>
            <a:r>
              <a:rPr lang="ru-RU" sz="4000" dirty="0"/>
              <a:t>Контроль уникальности записей</a:t>
            </a:r>
            <a:endParaRPr lang="ru-RU" sz="20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323528" y="4240574"/>
            <a:ext cx="5040560" cy="720080"/>
          </a:xfrm>
          <a:prstGeom prst="rect">
            <a:avLst/>
          </a:prstGeom>
          <a:solidFill>
            <a:srgbClr val="FF0000">
              <a:alpha val="20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248655" y="1510413"/>
            <a:ext cx="6646691" cy="775579"/>
            <a:chOff x="1248655" y="1510413"/>
            <a:chExt cx="6646691" cy="775579"/>
          </a:xfrm>
        </p:grpSpPr>
        <p:sp>
          <p:nvSpPr>
            <p:cNvPr id="24" name="TextBox 23"/>
            <p:cNvSpPr txBox="1"/>
            <p:nvPr/>
          </p:nvSpPr>
          <p:spPr>
            <a:xfrm>
              <a:off x="1248655" y="1578106"/>
              <a:ext cx="6646691" cy="7078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b="1" spc="600" dirty="0"/>
                <a:t>F</a:t>
              </a:r>
              <a:r>
                <a:rPr lang="en-US" sz="4000" dirty="0"/>
                <a:t>(</a:t>
              </a:r>
              <a:r>
                <a:rPr lang="ru-RU" sz="4000" dirty="0">
                  <a:solidFill>
                    <a:srgbClr val="0070C0"/>
                  </a:solidFill>
                </a:rPr>
                <a:t>Объект</a:t>
              </a:r>
              <a:r>
                <a:rPr lang="ru-RU" sz="4000" dirty="0"/>
                <a:t>, Дата) </a:t>
              </a:r>
              <a:r>
                <a:rPr lang="ru-RU" sz="4000" dirty="0">
                  <a:latin typeface="Arial" pitchFamily="34" charset="0"/>
                  <a:cs typeface="Arial" pitchFamily="34" charset="0"/>
                </a:rPr>
                <a:t>→</a:t>
              </a:r>
              <a:r>
                <a:rPr lang="ru-RU" sz="4000" dirty="0"/>
                <a:t> </a:t>
              </a:r>
              <a:r>
                <a:rPr lang="ru-RU" sz="4000" dirty="0">
                  <a:solidFill>
                    <a:srgbClr val="00B050"/>
                  </a:solidFill>
                </a:rPr>
                <a:t>Состояние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071670" y="1510413"/>
              <a:ext cx="1050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Измерения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188811" y="1510413"/>
              <a:ext cx="8120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Ресурсы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456424" y="1510413"/>
              <a:ext cx="13769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Поле «Период»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5412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285720" y="2878122"/>
          <a:ext cx="8572560" cy="2225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14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4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СпособОплаты</a:t>
                      </a:r>
                      <a:endParaRPr lang="ru-RU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ЦенаРозничная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ЦенаОптовая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Наличные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75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WebMoney</a:t>
                      </a:r>
                      <a:endParaRPr lang="ru-RU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85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80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Наличные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100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90</a:t>
                      </a:r>
                      <a:endParaRPr lang="ru-RU" sz="1600" dirty="0"/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Наличные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100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95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7564" y="5857200"/>
            <a:ext cx="7848872" cy="683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en-US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Наличные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2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 февраля) →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Розница: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80 руб.,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Опт: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75 руб.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Груши</a:t>
            </a:r>
            <a:r>
              <a:rPr lang="en-US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Наличные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2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 февраля) → </a:t>
            </a:r>
            <a:r>
              <a:rPr lang="ru-RU" sz="1600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???</a:t>
            </a:r>
            <a:endParaRPr lang="ru-RU" sz="1600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" name="Группа 1"/>
          <p:cNvGrpSpPr/>
          <p:nvPr/>
        </p:nvGrpSpPr>
        <p:grpSpPr>
          <a:xfrm>
            <a:off x="357159" y="5235576"/>
            <a:ext cx="8429683" cy="641696"/>
            <a:chOff x="357159" y="5072074"/>
            <a:chExt cx="8429683" cy="641696"/>
          </a:xfrm>
        </p:grpSpPr>
        <p:sp>
          <p:nvSpPr>
            <p:cNvPr id="12" name="TextBox 11"/>
            <p:cNvSpPr txBox="1"/>
            <p:nvPr/>
          </p:nvSpPr>
          <p:spPr>
            <a:xfrm>
              <a:off x="410501" y="5190550"/>
              <a:ext cx="14649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Даты изменения</a:t>
              </a:r>
            </a:p>
            <a:p>
              <a:pPr algn="ctr"/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состояния</a:t>
              </a:r>
            </a:p>
          </p:txBody>
        </p:sp>
        <p:sp>
          <p:nvSpPr>
            <p:cNvPr id="16" name="Левая фигурная скобка 15"/>
            <p:cNvSpPr/>
            <p:nvPr/>
          </p:nvSpPr>
          <p:spPr>
            <a:xfrm rot="16200000">
              <a:off x="1066308" y="4362925"/>
              <a:ext cx="153338" cy="1571635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691419" y="5190550"/>
              <a:ext cx="20466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Описание объекта учета</a:t>
              </a:r>
            </a:p>
          </p:txBody>
        </p:sp>
        <p:sp>
          <p:nvSpPr>
            <p:cNvPr id="18" name="Левая фигурная скобка 17"/>
            <p:cNvSpPr/>
            <p:nvPr/>
          </p:nvSpPr>
          <p:spPr>
            <a:xfrm rot="16200000">
              <a:off x="3638075" y="3505669"/>
              <a:ext cx="153338" cy="328614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325467" y="5190551"/>
              <a:ext cx="16366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Состояние объекта</a:t>
              </a:r>
            </a:p>
          </p:txBody>
        </p:sp>
        <p:sp>
          <p:nvSpPr>
            <p:cNvPr id="20" name="Левая фигурная скобка 19"/>
            <p:cNvSpPr/>
            <p:nvPr/>
          </p:nvSpPr>
          <p:spPr>
            <a:xfrm rot="16200000">
              <a:off x="7067098" y="3505670"/>
              <a:ext cx="153340" cy="328614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2" name="Заголовок 1"/>
          <p:cNvSpPr>
            <a:spLocks noGrp="1"/>
          </p:cNvSpPr>
          <p:nvPr>
            <p:ph type="title"/>
          </p:nvPr>
        </p:nvSpPr>
        <p:spPr>
          <a:xfrm>
            <a:off x="179512" y="540627"/>
            <a:ext cx="8784976" cy="842108"/>
          </a:xfrm>
        </p:spPr>
        <p:txBody>
          <a:bodyPr>
            <a:normAutofit fontScale="90000"/>
          </a:bodyPr>
          <a:lstStyle/>
          <a:p>
            <a:r>
              <a:rPr lang="ru-RU" sz="4000" dirty="0"/>
              <a:t>Контроль уникальности записей</a:t>
            </a:r>
            <a:endParaRPr lang="ru-RU" sz="20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323528" y="4240574"/>
            <a:ext cx="5040560" cy="720080"/>
          </a:xfrm>
          <a:prstGeom prst="rect">
            <a:avLst/>
          </a:prstGeom>
          <a:solidFill>
            <a:srgbClr val="FF0000">
              <a:alpha val="20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248655" y="1510413"/>
            <a:ext cx="6646691" cy="775579"/>
            <a:chOff x="1248655" y="1510413"/>
            <a:chExt cx="6646691" cy="775579"/>
          </a:xfrm>
        </p:grpSpPr>
        <p:sp>
          <p:nvSpPr>
            <p:cNvPr id="24" name="TextBox 23"/>
            <p:cNvSpPr txBox="1"/>
            <p:nvPr/>
          </p:nvSpPr>
          <p:spPr>
            <a:xfrm>
              <a:off x="1248655" y="1578106"/>
              <a:ext cx="6646691" cy="7078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b="1" spc="600" dirty="0"/>
                <a:t>F</a:t>
              </a:r>
              <a:r>
                <a:rPr lang="en-US" sz="4000" dirty="0"/>
                <a:t>(</a:t>
              </a:r>
              <a:r>
                <a:rPr lang="ru-RU" sz="4000" dirty="0">
                  <a:solidFill>
                    <a:srgbClr val="0070C0"/>
                  </a:solidFill>
                </a:rPr>
                <a:t>Объект</a:t>
              </a:r>
              <a:r>
                <a:rPr lang="ru-RU" sz="4000" dirty="0"/>
                <a:t>, Дата) </a:t>
              </a:r>
              <a:r>
                <a:rPr lang="ru-RU" sz="4000" dirty="0">
                  <a:latin typeface="Arial" pitchFamily="34" charset="0"/>
                  <a:cs typeface="Arial" pitchFamily="34" charset="0"/>
                </a:rPr>
                <a:t>→</a:t>
              </a:r>
              <a:r>
                <a:rPr lang="ru-RU" sz="4000" dirty="0"/>
                <a:t> </a:t>
              </a:r>
              <a:r>
                <a:rPr lang="ru-RU" sz="4000" dirty="0">
                  <a:solidFill>
                    <a:srgbClr val="00B050"/>
                  </a:solidFill>
                </a:rPr>
                <a:t>Состояние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071670" y="1510413"/>
              <a:ext cx="1050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Измерения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188811" y="1510413"/>
              <a:ext cx="8120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Ресурсы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456424" y="1510413"/>
              <a:ext cx="13769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Поле «Период»</a:t>
              </a:r>
            </a:p>
          </p:txBody>
        </p:sp>
      </p:grp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" y="1339726"/>
            <a:ext cx="8143875" cy="134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7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Таблица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529245"/>
              </p:ext>
            </p:extLst>
          </p:nvPr>
        </p:nvGraphicFramePr>
        <p:xfrm>
          <a:off x="1357289" y="2714620"/>
          <a:ext cx="6429421" cy="2225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146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7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7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Счет учёта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Счет НДС покупки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41.01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19.03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41.02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19.03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Станок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41.01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19.03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Станок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08.04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19.01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" name="Группа 1"/>
          <p:cNvGrpSpPr/>
          <p:nvPr/>
        </p:nvGrpSpPr>
        <p:grpSpPr>
          <a:xfrm>
            <a:off x="1428728" y="5072074"/>
            <a:ext cx="6286544" cy="426254"/>
            <a:chOff x="1428728" y="5072074"/>
            <a:chExt cx="6286544" cy="426254"/>
          </a:xfrm>
        </p:grpSpPr>
        <p:sp>
          <p:nvSpPr>
            <p:cNvPr id="17" name="TextBox 16"/>
            <p:cNvSpPr txBox="1"/>
            <p:nvPr/>
          </p:nvSpPr>
          <p:spPr>
            <a:xfrm>
              <a:off x="1691287" y="5190550"/>
              <a:ext cx="20466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Описание объекта учета</a:t>
              </a:r>
            </a:p>
          </p:txBody>
        </p:sp>
        <p:sp>
          <p:nvSpPr>
            <p:cNvPr id="18" name="Левая фигурная скобка 17"/>
            <p:cNvSpPr/>
            <p:nvPr/>
          </p:nvSpPr>
          <p:spPr>
            <a:xfrm rot="16200000">
              <a:off x="2637943" y="3862859"/>
              <a:ext cx="153338" cy="257176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111021" y="5190551"/>
              <a:ext cx="16366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Состояние объекта</a:t>
              </a:r>
            </a:p>
          </p:txBody>
        </p:sp>
        <p:sp>
          <p:nvSpPr>
            <p:cNvPr id="20" name="Левая фигурная скобка 19"/>
            <p:cNvSpPr/>
            <p:nvPr/>
          </p:nvSpPr>
          <p:spPr>
            <a:xfrm rot="16200000">
              <a:off x="5852652" y="3362794"/>
              <a:ext cx="153340" cy="3571900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179512" y="545490"/>
            <a:ext cx="8784976" cy="761289"/>
          </a:xfrm>
        </p:spPr>
        <p:txBody>
          <a:bodyPr>
            <a:normAutofit fontScale="90000"/>
          </a:bodyPr>
          <a:lstStyle/>
          <a:p>
            <a:r>
              <a:rPr lang="ru-RU" sz="4000" dirty="0"/>
              <a:t>Контроль уникальности записей</a:t>
            </a:r>
            <a:endParaRPr lang="ru-RU" sz="2000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1331640" y="4077072"/>
            <a:ext cx="1269924" cy="720080"/>
          </a:xfrm>
          <a:prstGeom prst="rect">
            <a:avLst/>
          </a:prstGeom>
          <a:solidFill>
            <a:srgbClr val="FF0000">
              <a:alpha val="20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6" name="Группа 15"/>
          <p:cNvGrpSpPr/>
          <p:nvPr/>
        </p:nvGrpSpPr>
        <p:grpSpPr>
          <a:xfrm>
            <a:off x="1868856" y="1508638"/>
            <a:ext cx="5406288" cy="990255"/>
            <a:chOff x="1868856" y="1508638"/>
            <a:chExt cx="5406288" cy="990255"/>
          </a:xfrm>
        </p:grpSpPr>
        <p:sp>
          <p:nvSpPr>
            <p:cNvPr id="21" name="TextBox 20"/>
            <p:cNvSpPr txBox="1"/>
            <p:nvPr/>
          </p:nvSpPr>
          <p:spPr>
            <a:xfrm>
              <a:off x="1868856" y="1791007"/>
              <a:ext cx="5406288" cy="7078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b="1" spc="600" dirty="0"/>
                <a:t>F</a:t>
              </a:r>
              <a:r>
                <a:rPr lang="en-US" sz="4000" dirty="0"/>
                <a:t>(</a:t>
              </a:r>
              <a:r>
                <a:rPr lang="ru-RU" sz="4000" dirty="0">
                  <a:solidFill>
                    <a:srgbClr val="0070C0"/>
                  </a:solidFill>
                </a:rPr>
                <a:t>Объект</a:t>
              </a:r>
              <a:r>
                <a:rPr lang="ru-RU" sz="4000" dirty="0"/>
                <a:t>) </a:t>
              </a:r>
              <a:r>
                <a:rPr lang="ru-RU" sz="4000" dirty="0">
                  <a:latin typeface="Arial" pitchFamily="34" charset="0"/>
                  <a:cs typeface="Arial" pitchFamily="34" charset="0"/>
                </a:rPr>
                <a:t>→</a:t>
              </a:r>
              <a:r>
                <a:rPr lang="ru-RU" sz="4000" dirty="0"/>
                <a:t> </a:t>
              </a:r>
              <a:r>
                <a:rPr lang="ru-RU" sz="4000" dirty="0">
                  <a:solidFill>
                    <a:srgbClr val="00B050"/>
                  </a:solidFill>
                </a:rPr>
                <a:t>Состояние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735894" y="1508638"/>
              <a:ext cx="1050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Измерения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643570" y="1508638"/>
              <a:ext cx="8120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Ресурсы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1403648" y="5517232"/>
            <a:ext cx="6264696" cy="978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)   → Счет учета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41.01,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НДС: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19.03.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Груши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)   → Счет учета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41.02,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НДС: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19.03.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Станок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)   → </a:t>
            </a:r>
            <a:r>
              <a:rPr lang="ru-RU" sz="1600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???</a:t>
            </a:r>
            <a:endParaRPr lang="ru-RU" sz="1600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1918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5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Таблица 23"/>
          <p:cNvGraphicFramePr>
            <a:graphicFrameLocks noGrp="1"/>
          </p:cNvGraphicFramePr>
          <p:nvPr>
            <p:extLst/>
          </p:nvPr>
        </p:nvGraphicFramePr>
        <p:xfrm>
          <a:off x="1357289" y="2714620"/>
          <a:ext cx="6429421" cy="2225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146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7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7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Счет учёта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Счет НДС покупки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41.01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19.03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41.02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19.03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Станок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41.01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19.03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Станок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08.04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19.01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" name="Группа 1"/>
          <p:cNvGrpSpPr/>
          <p:nvPr/>
        </p:nvGrpSpPr>
        <p:grpSpPr>
          <a:xfrm>
            <a:off x="1428728" y="5072074"/>
            <a:ext cx="6286544" cy="426254"/>
            <a:chOff x="1428728" y="5072074"/>
            <a:chExt cx="6286544" cy="426254"/>
          </a:xfrm>
        </p:grpSpPr>
        <p:sp>
          <p:nvSpPr>
            <p:cNvPr id="17" name="TextBox 16"/>
            <p:cNvSpPr txBox="1"/>
            <p:nvPr/>
          </p:nvSpPr>
          <p:spPr>
            <a:xfrm>
              <a:off x="1691287" y="5190550"/>
              <a:ext cx="20466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Описание объекта учета</a:t>
              </a:r>
            </a:p>
          </p:txBody>
        </p:sp>
        <p:sp>
          <p:nvSpPr>
            <p:cNvPr id="18" name="Левая фигурная скобка 17"/>
            <p:cNvSpPr/>
            <p:nvPr/>
          </p:nvSpPr>
          <p:spPr>
            <a:xfrm rot="16200000">
              <a:off x="2637943" y="3862859"/>
              <a:ext cx="153338" cy="2571768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111021" y="5190551"/>
              <a:ext cx="16366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400" dirty="0">
                  <a:solidFill>
                    <a:schemeClr val="bg1">
                      <a:lumMod val="50000"/>
                    </a:schemeClr>
                  </a:solidFill>
                </a:rPr>
                <a:t>Состояние объекта</a:t>
              </a:r>
            </a:p>
          </p:txBody>
        </p:sp>
        <p:sp>
          <p:nvSpPr>
            <p:cNvPr id="20" name="Левая фигурная скобка 19"/>
            <p:cNvSpPr/>
            <p:nvPr/>
          </p:nvSpPr>
          <p:spPr>
            <a:xfrm rot="16200000">
              <a:off x="5852652" y="3362794"/>
              <a:ext cx="153340" cy="3571900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179512" y="545490"/>
            <a:ext cx="8784976" cy="761289"/>
          </a:xfrm>
        </p:spPr>
        <p:txBody>
          <a:bodyPr>
            <a:normAutofit fontScale="90000"/>
          </a:bodyPr>
          <a:lstStyle/>
          <a:p>
            <a:r>
              <a:rPr lang="ru-RU" sz="4000" dirty="0"/>
              <a:t>Контроль уникальности записей</a:t>
            </a:r>
            <a:endParaRPr lang="ru-RU" sz="2000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1331640" y="4077072"/>
            <a:ext cx="1269924" cy="720080"/>
          </a:xfrm>
          <a:prstGeom prst="rect">
            <a:avLst/>
          </a:prstGeom>
          <a:solidFill>
            <a:srgbClr val="FF0000">
              <a:alpha val="20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6" name="Группа 15"/>
          <p:cNvGrpSpPr/>
          <p:nvPr/>
        </p:nvGrpSpPr>
        <p:grpSpPr>
          <a:xfrm>
            <a:off x="1868856" y="1508638"/>
            <a:ext cx="5406288" cy="990255"/>
            <a:chOff x="1868856" y="1508638"/>
            <a:chExt cx="5406288" cy="990255"/>
          </a:xfrm>
        </p:grpSpPr>
        <p:sp>
          <p:nvSpPr>
            <p:cNvPr id="21" name="TextBox 20"/>
            <p:cNvSpPr txBox="1"/>
            <p:nvPr/>
          </p:nvSpPr>
          <p:spPr>
            <a:xfrm>
              <a:off x="1868856" y="1791007"/>
              <a:ext cx="5406288" cy="7078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000" b="1" spc="600" dirty="0"/>
                <a:t>F</a:t>
              </a:r>
              <a:r>
                <a:rPr lang="en-US" sz="4000" dirty="0"/>
                <a:t>(</a:t>
              </a:r>
              <a:r>
                <a:rPr lang="ru-RU" sz="4000" dirty="0">
                  <a:solidFill>
                    <a:srgbClr val="0070C0"/>
                  </a:solidFill>
                </a:rPr>
                <a:t>Объект</a:t>
              </a:r>
              <a:r>
                <a:rPr lang="ru-RU" sz="4000" dirty="0"/>
                <a:t>) </a:t>
              </a:r>
              <a:r>
                <a:rPr lang="ru-RU" sz="4000" dirty="0">
                  <a:latin typeface="Arial" pitchFamily="34" charset="0"/>
                  <a:cs typeface="Arial" pitchFamily="34" charset="0"/>
                </a:rPr>
                <a:t>→</a:t>
              </a:r>
              <a:r>
                <a:rPr lang="ru-RU" sz="4000" dirty="0"/>
                <a:t> </a:t>
              </a:r>
              <a:r>
                <a:rPr lang="ru-RU" sz="4000" dirty="0">
                  <a:solidFill>
                    <a:srgbClr val="00B050"/>
                  </a:solidFill>
                </a:rPr>
                <a:t>Состояние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735894" y="1508638"/>
              <a:ext cx="1050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Измерения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643570" y="1508638"/>
              <a:ext cx="8120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400" dirty="0">
                  <a:solidFill>
                    <a:srgbClr val="FF0000"/>
                  </a:solidFill>
                </a:rPr>
                <a:t>Ресурсы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1403648" y="5517232"/>
            <a:ext cx="6264696" cy="978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Яблоки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)   → Счет учета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41.01,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НДС: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19.03.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Груши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)   → Счет учета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41.02, </a:t>
            </a:r>
            <a:r>
              <a:rPr lang="ru-RU" sz="16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НДС: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19.03.</a:t>
            </a:r>
          </a:p>
          <a:p>
            <a:pPr>
              <a:lnSpc>
                <a:spcPct val="120000"/>
              </a:lnSpc>
            </a:pPr>
            <a:r>
              <a:rPr lang="en-US" sz="1600" b="1" spc="600" dirty="0">
                <a:latin typeface="Courier New" pitchFamily="49" charset="0"/>
                <a:cs typeface="Courier New" pitchFamily="49" charset="0"/>
              </a:rPr>
              <a:t>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ru-RU" sz="1600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Станок</a:t>
            </a:r>
            <a:r>
              <a:rPr lang="ru-RU" sz="1600" dirty="0">
                <a:latin typeface="Courier New" pitchFamily="49" charset="0"/>
                <a:cs typeface="Courier New" pitchFamily="49" charset="0"/>
              </a:rPr>
              <a:t>)   → </a:t>
            </a:r>
            <a:r>
              <a:rPr lang="ru-RU" sz="1600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???</a:t>
            </a:r>
            <a:endParaRPr lang="ru-RU" sz="1600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961" y="1292564"/>
            <a:ext cx="6696075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157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Справочники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Ссылка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справочника будем читать информацию?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Поиск ссылки на нужный объект базы данных.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Идентификация объекта базы данных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Чтение данных нужного объекта базы данных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27584" y="5296346"/>
            <a:ext cx="2088232" cy="72008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объект</a:t>
            </a:r>
          </a:p>
        </p:txBody>
      </p:sp>
      <p:sp>
        <p:nvSpPr>
          <p:cNvPr id="15" name="Стрелка вниз 14"/>
          <p:cNvSpPr/>
          <p:nvPr/>
        </p:nvSpPr>
        <p:spPr>
          <a:xfrm>
            <a:off x="1710580" y="4864298"/>
            <a:ext cx="288032" cy="432048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366765" y="5296346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Запись, изменение и удаление объекта базы данных.</a:t>
            </a:r>
          </a:p>
        </p:txBody>
      </p:sp>
    </p:spTree>
    <p:extLst>
      <p:ext uri="{BB962C8B-B14F-4D97-AF65-F5344CB8AC3E}">
        <p14:creationId xmlns:p14="http://schemas.microsoft.com/office/powerpoint/2010/main" val="446977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Документы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Ссылка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списка документов будем читать информацию?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Поиск ссылки на нужный объект базы данных.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Идентификация объекта базы данных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Чтение данных нужного объекта базы данных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27584" y="5296346"/>
            <a:ext cx="2088232" cy="72008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15" name="Стрелка вниз 14"/>
          <p:cNvSpPr/>
          <p:nvPr/>
        </p:nvSpPr>
        <p:spPr>
          <a:xfrm>
            <a:off x="1710580" y="4864298"/>
            <a:ext cx="288032" cy="432048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366765" y="5296346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Запись, изменение и удаление объекта базы данных.</a:t>
            </a:r>
          </a:p>
        </p:txBody>
      </p:sp>
    </p:spTree>
    <p:extLst>
      <p:ext uri="{BB962C8B-B14F-4D97-AF65-F5344CB8AC3E}">
        <p14:creationId xmlns:p14="http://schemas.microsoft.com/office/powerpoint/2010/main" val="79089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Регистры сведений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сведений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сведений Набор записей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регистра сведений будем читать информацию (или записывать)?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Создание набора записей.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Чтение движений (если нужно);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Запись движений (если нужно.</a:t>
            </a:r>
          </a:p>
        </p:txBody>
      </p:sp>
    </p:spTree>
    <p:extLst>
      <p:ext uri="{BB962C8B-B14F-4D97-AF65-F5344CB8AC3E}">
        <p14:creationId xmlns:p14="http://schemas.microsoft.com/office/powerpoint/2010/main" val="2325826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Набор записей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532814"/>
              </p:ext>
            </p:extLst>
          </p:nvPr>
        </p:nvGraphicFramePr>
        <p:xfrm>
          <a:off x="722467" y="3861048"/>
          <a:ext cx="7715304" cy="22250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71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61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7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1.02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100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15.02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</a:t>
                      </a:r>
                      <a:r>
                        <a:rPr lang="en-US" sz="1600" dirty="0"/>
                        <a:t>5</a:t>
                      </a:r>
                      <a:r>
                        <a:rPr lang="ru-RU" sz="1600" dirty="0"/>
                        <a:t>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Груши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95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  <a:endParaRPr lang="ru-RU" sz="16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174440"/>
              </p:ext>
            </p:extLst>
          </p:nvPr>
        </p:nvGraphicFramePr>
        <p:xfrm>
          <a:off x="733631" y="1376892"/>
          <a:ext cx="7715304" cy="11125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71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61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7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15.02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Яблоки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1</a:t>
                      </a:r>
                      <a:r>
                        <a:rPr lang="en-US" sz="1600" dirty="0"/>
                        <a:t>5</a:t>
                      </a:r>
                      <a:r>
                        <a:rPr lang="ru-RU" sz="1600" dirty="0"/>
                        <a:t>.02</a:t>
                      </a:r>
                      <a:endParaRPr lang="ru-RU" sz="16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0000"/>
                          </a:solidFill>
                        </a:rPr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95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Левая круглая скобка 5"/>
          <p:cNvSpPr/>
          <p:nvPr/>
        </p:nvSpPr>
        <p:spPr>
          <a:xfrm>
            <a:off x="611559" y="4973568"/>
            <a:ext cx="110907" cy="759688"/>
          </a:xfrm>
          <a:prstGeom prst="leftBracket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Развернутая стрелка 18"/>
          <p:cNvSpPr/>
          <p:nvPr/>
        </p:nvSpPr>
        <p:spPr>
          <a:xfrm rot="5400000" flipV="1">
            <a:off x="-1272899" y="3449858"/>
            <a:ext cx="3456384" cy="534348"/>
          </a:xfrm>
          <a:prstGeom prst="uturnArrow">
            <a:avLst>
              <a:gd name="adj1" fmla="val 7177"/>
              <a:gd name="adj2" fmla="val 15452"/>
              <a:gd name="adj3" fmla="val 25000"/>
              <a:gd name="adj4" fmla="val 43750"/>
              <a:gd name="adj5" fmla="val 7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260127" y="1120775"/>
            <a:ext cx="8352928" cy="1876177"/>
          </a:xfrm>
          <a:prstGeom prst="roundRect">
            <a:avLst/>
          </a:prstGeom>
          <a:solidFill>
            <a:schemeClr val="accent1">
              <a:alpha val="20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dirty="0">
                <a:solidFill>
                  <a:srgbClr val="0070C0"/>
                </a:solidFill>
              </a:rPr>
              <a:t>Оперативная память (сервер)</a:t>
            </a:r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260127" y="3283710"/>
            <a:ext cx="8496944" cy="2880320"/>
          </a:xfrm>
          <a:prstGeom prst="roundRect">
            <a:avLst/>
          </a:prstGeom>
          <a:solidFill>
            <a:schemeClr val="accent3">
              <a:lumMod val="50000"/>
              <a:alpha val="20000"/>
            </a:schemeClr>
          </a:solidFill>
          <a:ln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>
                <a:solidFill>
                  <a:schemeClr val="accent3">
                    <a:lumMod val="50000"/>
                  </a:schemeClr>
                </a:solidFill>
              </a:rPr>
              <a:t>База данных</a:t>
            </a:r>
          </a:p>
        </p:txBody>
      </p:sp>
    </p:spTree>
    <p:extLst>
      <p:ext uri="{BB962C8B-B14F-4D97-AF65-F5344CB8AC3E}">
        <p14:creationId xmlns:p14="http://schemas.microsoft.com/office/powerpoint/2010/main" val="1368418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688" y="3228179"/>
            <a:ext cx="4968552" cy="3329531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84815"/>
          </a:xfrm>
        </p:spPr>
        <p:txBody>
          <a:bodyPr/>
          <a:lstStyle/>
          <a:p>
            <a:r>
              <a:rPr lang="ru-RU" dirty="0" err="1"/>
              <a:t>Заполение</a:t>
            </a:r>
            <a:r>
              <a:rPr lang="ru-RU" dirty="0"/>
              <a:t> набора записей (интерактивно)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1763688" y="3573016"/>
            <a:ext cx="1482955" cy="397925"/>
          </a:xfrm>
          <a:prstGeom prst="rect">
            <a:avLst/>
          </a:prstGeom>
          <a:solidFill>
            <a:srgbClr val="FF0000">
              <a:alpha val="12000"/>
            </a:srgbClr>
          </a:solidFill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1640" y="1627979"/>
            <a:ext cx="6410325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915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84815"/>
          </a:xfrm>
        </p:spPr>
        <p:txBody>
          <a:bodyPr/>
          <a:lstStyle/>
          <a:p>
            <a:r>
              <a:rPr lang="ru-RU" dirty="0" err="1"/>
              <a:t>Заполение</a:t>
            </a:r>
            <a:r>
              <a:rPr lang="ru-RU" dirty="0"/>
              <a:t> набора записей (</a:t>
            </a:r>
            <a:r>
              <a:rPr lang="ru-RU" dirty="0" err="1"/>
              <a:t>программно</a:t>
            </a:r>
            <a:r>
              <a:rPr lang="ru-RU" dirty="0"/>
              <a:t>)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906" y="1579900"/>
            <a:ext cx="6448425" cy="1628775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3" y="3501008"/>
            <a:ext cx="9010650" cy="2295525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1475656" y="3501008"/>
            <a:ext cx="3240360" cy="2295525"/>
          </a:xfrm>
          <a:prstGeom prst="rect">
            <a:avLst/>
          </a:prstGeom>
          <a:solidFill>
            <a:srgbClr val="FF0000">
              <a:alpha val="12000"/>
            </a:srgbClr>
          </a:solidFill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679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Обработка проведения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0" y="1124744"/>
            <a:ext cx="4060266" cy="280658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" y="3861048"/>
            <a:ext cx="9010650" cy="2333625"/>
          </a:xfrm>
          <a:prstGeom prst="rect">
            <a:avLst/>
          </a:prstGeom>
        </p:spPr>
      </p:pic>
      <p:sp>
        <p:nvSpPr>
          <p:cNvPr id="5" name="Стрелка углом 4"/>
          <p:cNvSpPr/>
          <p:nvPr/>
        </p:nvSpPr>
        <p:spPr>
          <a:xfrm rot="5400000">
            <a:off x="4500414" y="2672916"/>
            <a:ext cx="936104" cy="1440160"/>
          </a:xfrm>
          <a:prstGeom prst="bentArrow">
            <a:avLst>
              <a:gd name="adj1" fmla="val 16372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46661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Свойство Движения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9586673"/>
              </p:ext>
            </p:extLst>
          </p:nvPr>
        </p:nvGraphicFramePr>
        <p:xfrm>
          <a:off x="188118" y="1340768"/>
          <a:ext cx="8699903" cy="405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450">
                  <a:extLst>
                    <a:ext uri="{9D8B030D-6E8A-4147-A177-3AD203B41FA5}">
                      <a16:colId xmlns:a16="http://schemas.microsoft.com/office/drawing/2014/main" val="3643791870"/>
                    </a:ext>
                  </a:extLst>
                </a:gridCol>
                <a:gridCol w="7704856">
                  <a:extLst>
                    <a:ext uri="{9D8B030D-6E8A-4147-A177-3AD203B41FA5}">
                      <a16:colId xmlns:a16="http://schemas.microsoft.com/office/drawing/2014/main" val="2614691348"/>
                    </a:ext>
                  </a:extLst>
                </a:gridCol>
                <a:gridCol w="499597">
                  <a:extLst>
                    <a:ext uri="{9D8B030D-6E8A-4147-A177-3AD203B41FA5}">
                      <a16:colId xmlns:a16="http://schemas.microsoft.com/office/drawing/2014/main" val="730570288"/>
                    </a:ext>
                  </a:extLst>
                </a:gridCol>
              </a:tblGrid>
              <a:tr h="519832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Движения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979737"/>
                  </a:ext>
                </a:extLst>
              </a:tr>
              <a:tr h="3531906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920389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3093471"/>
              </p:ext>
            </p:extLst>
          </p:nvPr>
        </p:nvGraphicFramePr>
        <p:xfrm>
          <a:off x="805240" y="1988840"/>
          <a:ext cx="7439167" cy="3240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741082">
                  <a:extLst>
                    <a:ext uri="{9D8B030D-6E8A-4147-A177-3AD203B41FA5}">
                      <a16:colId xmlns:a16="http://schemas.microsoft.com/office/drawing/2014/main" val="41763236"/>
                    </a:ext>
                  </a:extLst>
                </a:gridCol>
                <a:gridCol w="5698085">
                  <a:extLst>
                    <a:ext uri="{9D8B030D-6E8A-4147-A177-3AD203B41FA5}">
                      <a16:colId xmlns:a16="http://schemas.microsoft.com/office/drawing/2014/main" val="3145116655"/>
                    </a:ext>
                  </a:extLst>
                </a:gridCol>
              </a:tblGrid>
              <a:tr h="517925">
                <a:tc>
                  <a:txBody>
                    <a:bodyPr/>
                    <a:lstStyle/>
                    <a:p>
                      <a:r>
                        <a:rPr lang="ru-RU" dirty="0"/>
                        <a:t>Имя регистра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Набор записей регистра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4378151"/>
                  </a:ext>
                </a:extLst>
              </a:tr>
              <a:tr h="2722435">
                <a:tc>
                  <a:txBody>
                    <a:bodyPr/>
                    <a:lstStyle/>
                    <a:p>
                      <a:r>
                        <a:rPr lang="ru-RU" dirty="0" err="1"/>
                        <a:t>НашиЦены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523492"/>
                  </a:ext>
                </a:extLst>
              </a:tr>
            </a:tbl>
          </a:graphicData>
        </a:graphic>
      </p:graphicFrame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783" y="2780928"/>
            <a:ext cx="5560779" cy="1440160"/>
          </a:xfrm>
          <a:prstGeom prst="rect">
            <a:avLst/>
          </a:prstGeom>
        </p:spPr>
      </p:pic>
      <p:sp>
        <p:nvSpPr>
          <p:cNvPr id="6" name="Скругленный прямоугольник 5"/>
          <p:cNvSpPr/>
          <p:nvPr/>
        </p:nvSpPr>
        <p:spPr>
          <a:xfrm>
            <a:off x="1043608" y="3789040"/>
            <a:ext cx="7272808" cy="288032"/>
          </a:xfrm>
          <a:prstGeom prst="roundRect">
            <a:avLst/>
          </a:prstGeom>
          <a:solidFill>
            <a:schemeClr val="accent3">
              <a:alpha val="2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195565" y="3748390"/>
            <a:ext cx="1224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/>
              <a:t>ДвижениЕ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331640" y="5578913"/>
            <a:ext cx="576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Движение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Движения</a:t>
            </a:r>
            <a:r>
              <a:rPr lang="ru-RU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НашиЦены</a:t>
            </a:r>
            <a:r>
              <a:rPr lang="ru-RU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Добавить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9024430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62029"/>
            <a:ext cx="8784976" cy="1066771"/>
          </a:xfrm>
        </p:spPr>
        <p:txBody>
          <a:bodyPr>
            <a:normAutofit/>
          </a:bodyPr>
          <a:lstStyle/>
          <a:p>
            <a:r>
              <a:rPr lang="ru-RU" sz="4000" dirty="0"/>
              <a:t>Ключевые поля</a:t>
            </a:r>
            <a:r>
              <a:rPr lang="ru-RU" dirty="0"/>
              <a:t/>
            </a:r>
            <a:br>
              <a:rPr lang="ru-RU" dirty="0"/>
            </a:br>
            <a:r>
              <a:rPr lang="ru-RU" sz="2000" dirty="0">
                <a:solidFill>
                  <a:srgbClr val="FF0000"/>
                </a:solidFill>
              </a:rPr>
              <a:t>для контроля уникальности записей</a:t>
            </a:r>
            <a:endParaRPr lang="ru-RU" sz="4000" dirty="0"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1988840"/>
            <a:ext cx="2531462" cy="584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rgbClr val="002060"/>
                </a:solidFill>
              </a:rPr>
              <a:t>1.</a:t>
            </a:r>
            <a:r>
              <a:rPr lang="ru-RU" sz="2400" dirty="0">
                <a:solidFill>
                  <a:srgbClr val="002060"/>
                </a:solidFill>
              </a:rPr>
              <a:t>  Независимый: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3645024"/>
            <a:ext cx="4136838" cy="584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rgbClr val="002060"/>
                </a:solidFill>
              </a:rPr>
              <a:t>2.</a:t>
            </a:r>
            <a:r>
              <a:rPr lang="ru-RU" sz="2400" dirty="0">
                <a:solidFill>
                  <a:srgbClr val="002060"/>
                </a:solidFill>
              </a:rPr>
              <a:t>  Подчинение регистратору: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846016"/>
              </p:ext>
            </p:extLst>
          </p:nvPr>
        </p:nvGraphicFramePr>
        <p:xfrm>
          <a:off x="432000" y="4358625"/>
          <a:ext cx="8280000" cy="1800000"/>
        </p:xfrm>
        <a:graphic>
          <a:graphicData uri="http://schemas.openxmlformats.org/drawingml/2006/table">
            <a:tbl>
              <a:tblPr firstRow="1">
                <a:tableStyleId>{7DF18680-E054-41AD-8BC1-D1AEF772440D}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ysClr val="windowText" lastClr="000000"/>
                          </a:solidFill>
                        </a:rPr>
                        <a:t>Регистратор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№ строки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900" dirty="0">
                          <a:solidFill>
                            <a:sysClr val="windowText" lastClr="000000"/>
                          </a:solidFill>
                        </a:rPr>
                        <a:t>Активность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Поставщик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01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01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02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02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95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51613"/>
              </p:ext>
            </p:extLst>
          </p:nvPr>
        </p:nvGraphicFramePr>
        <p:xfrm>
          <a:off x="3636000" y="1988840"/>
          <a:ext cx="5076000" cy="1440000"/>
        </p:xfrm>
        <a:graphic>
          <a:graphicData uri="http://schemas.openxmlformats.org/drawingml/2006/table">
            <a:tbl>
              <a:tblPr firstRow="1">
                <a:tableStyleId>{7DF18680-E054-41AD-8BC1-D1AEF772440D}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Поставщик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9079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84976" cy="1143000"/>
          </a:xfrm>
        </p:spPr>
        <p:txBody>
          <a:bodyPr>
            <a:normAutofit/>
          </a:bodyPr>
          <a:lstStyle/>
          <a:p>
            <a:r>
              <a:rPr lang="ru-RU" sz="4000" dirty="0"/>
              <a:t>Ключевые поля</a:t>
            </a:r>
            <a:r>
              <a:rPr lang="ru-RU" dirty="0"/>
              <a:t/>
            </a:r>
            <a:br>
              <a:rPr lang="ru-RU" dirty="0"/>
            </a:br>
            <a:r>
              <a:rPr lang="ru-RU" sz="2000" dirty="0">
                <a:solidFill>
                  <a:srgbClr val="FF0000"/>
                </a:solidFill>
              </a:rPr>
              <a:t>для контроля уникальности записей</a:t>
            </a:r>
            <a:endParaRPr lang="ru-RU" sz="4000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2000" y="3284984"/>
            <a:ext cx="6633419" cy="95410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rgbClr val="002060"/>
                </a:solidFill>
              </a:rPr>
              <a:t>2.</a:t>
            </a:r>
            <a:r>
              <a:rPr lang="ru-RU" sz="2400" dirty="0">
                <a:solidFill>
                  <a:srgbClr val="002060"/>
                </a:solidFill>
              </a:rPr>
              <a:t>  Подчинение регистратору  </a:t>
            </a:r>
          </a:p>
          <a:p>
            <a:r>
              <a:rPr lang="ru-RU" sz="2400" dirty="0">
                <a:solidFill>
                  <a:srgbClr val="002060"/>
                </a:solidFill>
              </a:rPr>
              <a:t>(при периодичности – по позиции регистратора):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62872"/>
              </p:ext>
            </p:extLst>
          </p:nvPr>
        </p:nvGraphicFramePr>
        <p:xfrm>
          <a:off x="432000" y="4426225"/>
          <a:ext cx="8280000" cy="1800000"/>
        </p:xfrm>
        <a:graphic>
          <a:graphicData uri="http://schemas.openxmlformats.org/drawingml/2006/table">
            <a:tbl>
              <a:tblPr firstRow="1">
                <a:tableStyleId>{7DF18680-E054-41AD-8BC1-D1AEF772440D}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ru-RU" sz="14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Регистратор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№ строки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900" dirty="0">
                          <a:solidFill>
                            <a:sysClr val="windowText" lastClr="000000"/>
                          </a:solidFill>
                        </a:rPr>
                        <a:t>Активность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Период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Поставщик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Номенклатура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Цена</a:t>
                      </a:r>
                    </a:p>
                  </a:txBody>
                  <a:tcPr anchor="ctr">
                    <a:solidFill>
                      <a:schemeClr val="accent3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01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80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110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02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  <a:endParaRPr lang="ru-RU" sz="1400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90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ru-RU" sz="1400" dirty="0"/>
                        <a:t>Поступление 02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Истина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18.02.2010 14:06:26</a:t>
                      </a:r>
                      <a:endParaRPr lang="ru-RU" sz="12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Восток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Груши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95</a:t>
                      </a:r>
                    </a:p>
                  </a:txBody>
                  <a:tcPr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1189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Запросы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Табличная модель доступа к данным</a:t>
            </a:r>
          </a:p>
        </p:txBody>
      </p:sp>
    </p:spTree>
    <p:extLst>
      <p:ext uri="{BB962C8B-B14F-4D97-AF65-F5344CB8AC3E}">
        <p14:creationId xmlns:p14="http://schemas.microsoft.com/office/powerpoint/2010/main" val="5495341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Справочники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Ссылка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справочника будем читать информацию?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Поиск ссылки на нужный объект базы данных.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Идентификация объекта базы данных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Чтение данных нужного объекта базы данных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27584" y="5296346"/>
            <a:ext cx="2088232" cy="72008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объект</a:t>
            </a:r>
          </a:p>
        </p:txBody>
      </p:sp>
      <p:sp>
        <p:nvSpPr>
          <p:cNvPr id="15" name="Стрелка вниз 14"/>
          <p:cNvSpPr/>
          <p:nvPr/>
        </p:nvSpPr>
        <p:spPr>
          <a:xfrm>
            <a:off x="1710580" y="4864298"/>
            <a:ext cx="288032" cy="432048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366765" y="5296346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Запись, изменение и удаление объекта базы данных.</a:t>
            </a:r>
          </a:p>
        </p:txBody>
      </p:sp>
    </p:spTree>
    <p:extLst>
      <p:ext uri="{BB962C8B-B14F-4D97-AF65-F5344CB8AC3E}">
        <p14:creationId xmlns:p14="http://schemas.microsoft.com/office/powerpoint/2010/main" val="635417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Достоинства</a:t>
            </a:r>
          </a:p>
          <a:p>
            <a:pPr lvl="1"/>
            <a:r>
              <a:rPr lang="ru-RU" dirty="0"/>
              <a:t>Простота работы с данными;</a:t>
            </a:r>
          </a:p>
          <a:p>
            <a:r>
              <a:rPr lang="ru-RU" dirty="0"/>
              <a:t>Недостатки</a:t>
            </a:r>
          </a:p>
          <a:p>
            <a:pPr lvl="1"/>
            <a:r>
              <a:rPr lang="ru-RU" dirty="0"/>
              <a:t>Избыточное чтение;</a:t>
            </a:r>
          </a:p>
          <a:p>
            <a:pPr lvl="1"/>
            <a:r>
              <a:rPr lang="ru-RU" dirty="0"/>
              <a:t>Множественное обращение к базе данных;</a:t>
            </a:r>
          </a:p>
          <a:p>
            <a:pPr lvl="1"/>
            <a:r>
              <a:rPr lang="ru-RU" dirty="0"/>
              <a:t>Невозможность получения связанной информации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864096"/>
          </a:xfrm>
        </p:spPr>
        <p:txBody>
          <a:bodyPr>
            <a:normAutofit fontScale="90000"/>
          </a:bodyPr>
          <a:lstStyle/>
          <a:p>
            <a:r>
              <a:rPr lang="ru-RU" dirty="0"/>
              <a:t>Достоинства и недостатки объектной модели</a:t>
            </a:r>
          </a:p>
        </p:txBody>
      </p:sp>
    </p:spTree>
    <p:extLst>
      <p:ext uri="{BB962C8B-B14F-4D97-AF65-F5344CB8AC3E}">
        <p14:creationId xmlns:p14="http://schemas.microsoft.com/office/powerpoint/2010/main" val="2722910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578090"/>
              </p:ext>
            </p:extLst>
          </p:nvPr>
        </p:nvGraphicFramePr>
        <p:xfrm>
          <a:off x="611560" y="5013176"/>
          <a:ext cx="253062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Табличная модель доступа к данным</a:t>
            </a:r>
          </a:p>
        </p:txBody>
      </p:sp>
      <p:graphicFrame>
        <p:nvGraphicFramePr>
          <p:cNvPr id="7" name="Объект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31257654"/>
              </p:ext>
            </p:extLst>
          </p:nvPr>
        </p:nvGraphicFramePr>
        <p:xfrm>
          <a:off x="3306687" y="5013176"/>
          <a:ext cx="2530625" cy="11125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0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" name="Объект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18351659"/>
              </p:ext>
            </p:extLst>
          </p:nvPr>
        </p:nvGraphicFramePr>
        <p:xfrm>
          <a:off x="6001814" y="5013176"/>
          <a:ext cx="2530625" cy="11125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0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39552" y="4509120"/>
            <a:ext cx="252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справочника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3848" y="4509120"/>
            <a:ext cx="252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справочника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1814" y="4509120"/>
            <a:ext cx="2818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ТЧ справочника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552" y="1700808"/>
            <a:ext cx="67687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Из какой таблицы читаем данные?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Какие записи содержать нужную информацию?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Какие поля записей содержат нужную информацию?</a:t>
            </a:r>
          </a:p>
        </p:txBody>
      </p:sp>
    </p:spTree>
    <p:extLst>
      <p:ext uri="{BB962C8B-B14F-4D97-AF65-F5344CB8AC3E}">
        <p14:creationId xmlns:p14="http://schemas.microsoft.com/office/powerpoint/2010/main" val="5358554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Достоинства</a:t>
            </a:r>
          </a:p>
          <a:p>
            <a:pPr lvl="1"/>
            <a:r>
              <a:rPr lang="ru-RU" dirty="0"/>
              <a:t>Чтение только нужной информации;</a:t>
            </a:r>
          </a:p>
          <a:p>
            <a:pPr lvl="1"/>
            <a:r>
              <a:rPr lang="ru-RU" dirty="0"/>
              <a:t>Минимальное обращение к базе данных;</a:t>
            </a:r>
          </a:p>
          <a:p>
            <a:pPr lvl="1"/>
            <a:r>
              <a:rPr lang="ru-RU" dirty="0"/>
              <a:t>Возможность получение «связанной» информации.</a:t>
            </a:r>
          </a:p>
          <a:p>
            <a:r>
              <a:rPr lang="ru-RU"/>
              <a:t>Особенность</a:t>
            </a:r>
            <a:endParaRPr lang="ru-RU" dirty="0"/>
          </a:p>
          <a:p>
            <a:pPr lvl="1"/>
            <a:r>
              <a:rPr lang="ru-RU" dirty="0"/>
              <a:t>Возможность работать только на чтение.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92088"/>
          </a:xfrm>
        </p:spPr>
        <p:txBody>
          <a:bodyPr>
            <a:normAutofit fontScale="90000"/>
          </a:bodyPr>
          <a:lstStyle/>
          <a:p>
            <a:r>
              <a:rPr lang="ru-RU" dirty="0"/>
              <a:t>Достоинства и </a:t>
            </a:r>
            <a:r>
              <a:rPr lang="ru-RU"/>
              <a:t>недостатки табличной </a:t>
            </a:r>
            <a:r>
              <a:rPr lang="ru-RU" dirty="0"/>
              <a:t>модели</a:t>
            </a:r>
          </a:p>
        </p:txBody>
      </p:sp>
    </p:spTree>
    <p:extLst>
      <p:ext uri="{BB962C8B-B14F-4D97-AF65-F5344CB8AC3E}">
        <p14:creationId xmlns:p14="http://schemas.microsoft.com/office/powerpoint/2010/main" val="3782752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СБ_КомплексныйКурс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Б_КомплексныйКурс" id="{57895036-580B-4EC1-9356-65CCF9CCE186}" vid="{5A20F5DB-C976-49E0-A2C0-0C64FB833D4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СБ_КомплексныйКурс</Template>
  <TotalTime>2840</TotalTime>
  <Words>1271</Words>
  <Application>Microsoft Office PowerPoint</Application>
  <PresentationFormat>Экран (4:3)</PresentationFormat>
  <Paragraphs>505</Paragraphs>
  <Slides>39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39</vt:i4>
      </vt:variant>
    </vt:vector>
  </HeadingPairs>
  <TitlesOfParts>
    <vt:vector size="47" baseType="lpstr">
      <vt:lpstr>Arial</vt:lpstr>
      <vt:lpstr>Arial Black</vt:lpstr>
      <vt:lpstr>Calibri</vt:lpstr>
      <vt:lpstr>Courier New</vt:lpstr>
      <vt:lpstr>Tahoma</vt:lpstr>
      <vt:lpstr>Verdana</vt:lpstr>
      <vt:lpstr>Wingdings</vt:lpstr>
      <vt:lpstr>СБ_КомплексныйКурс</vt:lpstr>
      <vt:lpstr>Занятие 5</vt:lpstr>
      <vt:lpstr>Команды</vt:lpstr>
      <vt:lpstr>Классификация команд</vt:lpstr>
      <vt:lpstr>Кто создает команду</vt:lpstr>
      <vt:lpstr>Количество мест расположения</vt:lpstr>
      <vt:lpstr>Пример глобальной команды </vt:lpstr>
      <vt:lpstr>По «ожидаемому» действию</vt:lpstr>
      <vt:lpstr>Пример команды действия</vt:lpstr>
      <vt:lpstr>Пример навигационной команды </vt:lpstr>
      <vt:lpstr>По зависимости от других данных</vt:lpstr>
      <vt:lpstr>Пример независимой команды </vt:lpstr>
      <vt:lpstr>Пример параметризируемой команды </vt:lpstr>
      <vt:lpstr>Место расположение глобальных команд по умолчанию (Потом можно изменить)</vt:lpstr>
      <vt:lpstr>Регистры сведений</vt:lpstr>
      <vt:lpstr>Назначение регистра сведений </vt:lpstr>
      <vt:lpstr>Периодический или Непериодический регистр сведений</vt:lpstr>
      <vt:lpstr>Таблица регистра сведений</vt:lpstr>
      <vt:lpstr>Ключевые поля для контроля уникальности записей</vt:lpstr>
      <vt:lpstr>Контроль уникальности записей</vt:lpstr>
      <vt:lpstr>Контроль уникальности записей</vt:lpstr>
      <vt:lpstr>Контроль уникальности записей</vt:lpstr>
      <vt:lpstr>Контроль уникальности записей</vt:lpstr>
      <vt:lpstr>Контроль уникальности записей</vt:lpstr>
      <vt:lpstr>Контроль уникальности записей</vt:lpstr>
      <vt:lpstr>Объектная модель доступа к данным</vt:lpstr>
      <vt:lpstr>Объектная модель доступа к данным</vt:lpstr>
      <vt:lpstr>Объектная модель доступа к данным</vt:lpstr>
      <vt:lpstr>Набор записей</vt:lpstr>
      <vt:lpstr>Заполение набора записей (интерактивно)</vt:lpstr>
      <vt:lpstr>Заполение набора записей (программно)</vt:lpstr>
      <vt:lpstr>Обработка проведения</vt:lpstr>
      <vt:lpstr>Свойство Движения</vt:lpstr>
      <vt:lpstr>Ключевые поля для контроля уникальности записей</vt:lpstr>
      <vt:lpstr>Ключевые поля для контроля уникальности записей</vt:lpstr>
      <vt:lpstr>Запросы</vt:lpstr>
      <vt:lpstr>Объектная модель доступа к данным</vt:lpstr>
      <vt:lpstr>Достоинства и недостатки объектной модели</vt:lpstr>
      <vt:lpstr>Табличная модель доступа к данным</vt:lpstr>
      <vt:lpstr>Достоинства и недостатки табличной модели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 занятие</dc:title>
  <dc:creator>Сергей</dc:creator>
  <cp:lastModifiedBy>eugeniy sizov</cp:lastModifiedBy>
  <cp:revision>147</cp:revision>
  <dcterms:created xsi:type="dcterms:W3CDTF">2010-10-29T09:01:45Z</dcterms:created>
  <dcterms:modified xsi:type="dcterms:W3CDTF">2020-09-24T18:59:31Z</dcterms:modified>
</cp:coreProperties>
</file>