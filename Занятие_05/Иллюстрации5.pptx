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4"/>
  </p:notesMasterIdLst>
  <p:sldIdLst>
    <p:sldId id="295" r:id="rId2"/>
    <p:sldId id="343" r:id="rId3"/>
    <p:sldId id="310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01" r:id="rId37"/>
    <p:sldId id="311" r:id="rId38"/>
    <p:sldId id="304" r:id="rId39"/>
    <p:sldId id="357" r:id="rId40"/>
    <p:sldId id="358" r:id="rId41"/>
    <p:sldId id="361" r:id="rId42"/>
    <p:sldId id="359" r:id="rId43"/>
    <p:sldId id="360" r:id="rId44"/>
    <p:sldId id="305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293" r:id="rId58"/>
    <p:sldId id="294" r:id="rId59"/>
    <p:sldId id="296" r:id="rId60"/>
    <p:sldId id="297" r:id="rId61"/>
    <p:sldId id="298" r:id="rId62"/>
    <p:sldId id="362" r:id="rId6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7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43" autoAdjust="0"/>
    <p:restoredTop sz="94660"/>
  </p:normalViewPr>
  <p:slideViewPr>
    <p:cSldViewPr>
      <p:cViewPr varScale="1">
        <p:scale>
          <a:sx n="99" d="100"/>
          <a:sy n="99" d="100"/>
        </p:scale>
        <p:origin x="108" y="27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4" d="100"/>
        <a:sy n="74" d="100"/>
      </p:scale>
      <p:origin x="0" y="-42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BE061D1A-3A38-487A-8400-76A8E26A331D}"/>
    <pc:docChg chg="custSel modSld">
      <pc:chgData name="eugeniy sizov" userId="f166da1dfb7bc990" providerId="LiveId" clId="{BE061D1A-3A38-487A-8400-76A8E26A331D}" dt="2018-08-08T08:08:13.868" v="30" actId="1076"/>
      <pc:docMkLst>
        <pc:docMk/>
      </pc:docMkLst>
      <pc:sldChg chg="modSp">
        <pc:chgData name="eugeniy sizov" userId="f166da1dfb7bc990" providerId="LiveId" clId="{BE061D1A-3A38-487A-8400-76A8E26A331D}" dt="2018-08-08T08:08:13.868" v="30" actId="1076"/>
        <pc:sldMkLst>
          <pc:docMk/>
          <pc:sldMk cId="1368418178" sldId="299"/>
        </pc:sldMkLst>
        <pc:spChg chg="mod">
          <ac:chgData name="eugeniy sizov" userId="f166da1dfb7bc990" providerId="LiveId" clId="{BE061D1A-3A38-487A-8400-76A8E26A331D}" dt="2018-08-08T08:08:07.552" v="28" actId="1076"/>
          <ac:spMkLst>
            <pc:docMk/>
            <pc:sldMk cId="1368418178" sldId="299"/>
            <ac:spMk id="20" creationId="{00000000-0000-0000-0000-000000000000}"/>
          </ac:spMkLst>
        </pc:spChg>
        <pc:spChg chg="mod">
          <ac:chgData name="eugeniy sizov" userId="f166da1dfb7bc990" providerId="LiveId" clId="{BE061D1A-3A38-487A-8400-76A8E26A331D}" dt="2018-08-08T08:08:13.868" v="30" actId="1076"/>
          <ac:spMkLst>
            <pc:docMk/>
            <pc:sldMk cId="1368418178" sldId="299"/>
            <ac:spMk id="21" creationId="{00000000-0000-0000-0000-000000000000}"/>
          </ac:spMkLst>
        </pc:spChg>
        <pc:graphicFrameChg chg="modGraphic">
          <ac:chgData name="eugeniy sizov" userId="f166da1dfb7bc990" providerId="LiveId" clId="{BE061D1A-3A38-487A-8400-76A8E26A331D}" dt="2018-08-08T08:07:34.587" v="24" actId="20577"/>
          <ac:graphicFrameMkLst>
            <pc:docMk/>
            <pc:sldMk cId="1368418178" sldId="299"/>
            <ac:graphicFrameMk id="4" creationId="{00000000-0000-0000-0000-000000000000}"/>
          </ac:graphicFrameMkLst>
        </pc:graphicFrameChg>
        <pc:graphicFrameChg chg="modGraphic">
          <ac:chgData name="eugeniy sizov" userId="f166da1dfb7bc990" providerId="LiveId" clId="{BE061D1A-3A38-487A-8400-76A8E26A331D}" dt="2018-08-08T08:07:59.405" v="27" actId="207"/>
          <ac:graphicFrameMkLst>
            <pc:docMk/>
            <pc:sldMk cId="1368418178" sldId="299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B156D-E048-478A-9FAC-BB7875D640EE}" type="datetimeFigureOut">
              <a:rPr lang="ru-RU" smtClean="0"/>
              <a:pPr/>
              <a:t>26.09.2020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CF084-A553-48E6-90BE-C65AE5850BE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47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871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0821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986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11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93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810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02500-B44B-4B16-A7F5-4E45509C7207}" type="datetimeFigureOut">
              <a:rPr lang="ru-RU" smtClean="0"/>
              <a:pPr/>
              <a:t>26.09.2020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72B5-37F5-4110-B80E-7517DB5B5D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92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02500-B44B-4B16-A7F5-4E45509C7207}" type="datetimeFigureOut">
              <a:rPr lang="ru-RU" smtClean="0"/>
              <a:pPr/>
              <a:t>26.09.2020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72B5-37F5-4110-B80E-7517DB5B5D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96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7794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4386138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Содержимое 2"/>
          <p:cNvSpPr>
            <a:spLocks noGrp="1"/>
          </p:cNvSpPr>
          <p:nvPr>
            <p:ph idx="10"/>
          </p:nvPr>
        </p:nvSpPr>
        <p:spPr>
          <a:xfrm>
            <a:off x="4644008" y="1340768"/>
            <a:ext cx="4306779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8041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/62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236781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8.xml"/><Relationship Id="rId4" Type="http://schemas.openxmlformats.org/officeDocument/2006/relationships/slide" Target="slide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Занятие 5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 smtClean="0"/>
              <a:t>Проведение документа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 smtClean="0"/>
              <a:t>Запросы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929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268681"/>
            <a:ext cx="8784000" cy="2088312"/>
          </a:xfrm>
        </p:spPr>
        <p:txBody>
          <a:bodyPr/>
          <a:lstStyle/>
          <a:p>
            <a:r>
              <a:rPr lang="ru-RU" dirty="0"/>
              <a:t>При проведении документа «Приказ о приеме» перемещать принятого сотрудника из папки «Кандидаты» в папку «Работающие».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068960"/>
            <a:ext cx="6264696" cy="2971156"/>
          </a:xfrm>
          <a:prstGeom prst="rect">
            <a:avLst/>
          </a:prstGeom>
        </p:spPr>
      </p:pic>
      <p:sp>
        <p:nvSpPr>
          <p:cNvPr id="5" name="Развернутая стрелка 4"/>
          <p:cNvSpPr/>
          <p:nvPr/>
        </p:nvSpPr>
        <p:spPr>
          <a:xfrm rot="5400000" flipV="1">
            <a:off x="1860386" y="4815234"/>
            <a:ext cx="1498793" cy="684076"/>
          </a:xfrm>
          <a:prstGeom prst="uturnArrow">
            <a:avLst>
              <a:gd name="adj1" fmla="val 13206"/>
              <a:gd name="adj2" fmla="val 23034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74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Объектная модель доступа к данным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27584" y="1844824"/>
            <a:ext cx="20882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Документы менеджер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менеджер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3077" y="4149080"/>
            <a:ext cx="2088232" cy="7200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Ссылка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1686073" y="3717032"/>
            <a:ext cx="288032" cy="43204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какого списка документов будем читать информацию?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864" y="29969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Поиск ссылки на нужный объект базы данных.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414908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Идентификация объекта базы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Чтение данных нужного объекта базы данных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27584" y="5296346"/>
            <a:ext cx="2088232" cy="7200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15" name="Стрелка вниз 14"/>
          <p:cNvSpPr/>
          <p:nvPr/>
        </p:nvSpPr>
        <p:spPr>
          <a:xfrm>
            <a:off x="1710580" y="4864298"/>
            <a:ext cx="288032" cy="43204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366765" y="5296346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Запись, изменение и удаление объекта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7908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4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67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80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06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1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31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53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12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06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04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3537587" y="4731353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5529"/>
              <a:gd name="adj4" fmla="val 71363"/>
              <a:gd name="adj5" fmla="val -93190"/>
              <a:gd name="adj6" fmla="val 95388"/>
              <a:gd name="adj7" fmla="val -144815"/>
              <a:gd name="adj8" fmla="val 81107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64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3537587" y="4731353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5529"/>
              <a:gd name="adj4" fmla="val 71363"/>
              <a:gd name="adj5" fmla="val -93190"/>
              <a:gd name="adj6" fmla="val 95388"/>
              <a:gd name="adj7" fmla="val -144815"/>
              <a:gd name="adj8" fmla="val 81107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Блок-схема: альтернативный процесс 13"/>
          <p:cNvSpPr/>
          <p:nvPr/>
        </p:nvSpPr>
        <p:spPr>
          <a:xfrm>
            <a:off x="514064" y="1090364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Блок-схема: альтернативный процесс 14"/>
          <p:cNvSpPr/>
          <p:nvPr/>
        </p:nvSpPr>
        <p:spPr>
          <a:xfrm>
            <a:off x="559631" y="366625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Выноска 3 16"/>
          <p:cNvSpPr/>
          <p:nvPr/>
        </p:nvSpPr>
        <p:spPr>
          <a:xfrm>
            <a:off x="575436" y="2183532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8" name="Выноска 3 17"/>
          <p:cNvSpPr/>
          <p:nvPr/>
        </p:nvSpPr>
        <p:spPr>
          <a:xfrm>
            <a:off x="575436" y="473135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2575855" y="2098476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2915816" y="4005064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07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3537587" y="4731353"/>
            <a:ext cx="1649781" cy="504000"/>
          </a:xfrm>
          <a:prstGeom prst="borderCallout3">
            <a:avLst>
              <a:gd name="adj1" fmla="val -11912"/>
              <a:gd name="adj2" fmla="val 87869"/>
              <a:gd name="adj3" fmla="val -45336"/>
              <a:gd name="adj4" fmla="val 100574"/>
              <a:gd name="adj5" fmla="val -93190"/>
              <a:gd name="adj6" fmla="val 95388"/>
              <a:gd name="adj7" fmla="val -144815"/>
              <a:gd name="adj8" fmla="val 81107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Выноска 1 21"/>
          <p:cNvSpPr/>
          <p:nvPr/>
        </p:nvSpPr>
        <p:spPr>
          <a:xfrm>
            <a:off x="631331" y="3933056"/>
            <a:ext cx="2304256" cy="1399386"/>
          </a:xfrm>
          <a:prstGeom prst="borderCallout1">
            <a:avLst>
              <a:gd name="adj1" fmla="val 34639"/>
              <a:gd name="adj2" fmla="val 102410"/>
              <a:gd name="adj3" fmla="val 52558"/>
              <a:gd name="adj4" fmla="val 120558"/>
            </a:avLst>
          </a:prstGeom>
          <a:ln>
            <a:headEnd type="none"/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Здесь, вместе с записью документа, будем изменять данные справочника «Сотрудники»</a:t>
            </a:r>
          </a:p>
        </p:txBody>
      </p:sp>
    </p:spTree>
    <p:extLst>
      <p:ext uri="{BB962C8B-B14F-4D97-AF65-F5344CB8AC3E}">
        <p14:creationId xmlns:p14="http://schemas.microsoft.com/office/powerpoint/2010/main" val="147445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 объекта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Три режима записи: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hlinkClick r:id="rId2" action="ppaction://hlinksldjump"/>
              </a:rPr>
              <a:t>Запись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hlinkClick r:id="rId3" action="ppaction://hlinksldjump"/>
              </a:rPr>
              <a:t>Проведение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hlinkClick r:id="rId4" action="ppaction://hlinksldjump"/>
              </a:rPr>
              <a:t>Отмена проведения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371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/>
          <a:lstStyle/>
          <a:p>
            <a:r>
              <a:rPr lang="ru-RU" dirty="0"/>
              <a:t>Начало транзакции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Перед записью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При записи</a:t>
            </a:r>
          </a:p>
          <a:p>
            <a:r>
              <a:rPr lang="ru-RU" dirty="0"/>
              <a:t>Окончание транзакции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Последовательность событий записи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230424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3999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402499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837125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&lt;00000&gt;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2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1) ПЕРЕД ЗАПИСЬЮ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5816" y="2636912"/>
            <a:ext cx="22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Начало транзакции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3261240"/>
            <a:ext cx="6257925" cy="352425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402499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837125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&lt;00000&gt;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72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2" grpId="1"/>
      <p:bldP spid="2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5400000">
            <a:off x="6520031" y="3681028"/>
            <a:ext cx="3312368" cy="504056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5684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в момент первой записи объекта базы данных для него генерируется новая ссылка (потом </a:t>
            </a:r>
            <a:r>
              <a:rPr lang="ru-RU" sz="1400" b="1" i="1" dirty="0">
                <a:solidFill>
                  <a:srgbClr val="0070C0"/>
                </a:solidFill>
              </a:rPr>
              <a:t>нельзя</a:t>
            </a:r>
            <a:r>
              <a:rPr lang="ru-RU" sz="1400" i="1" dirty="0">
                <a:solidFill>
                  <a:srgbClr val="FF0000"/>
                </a:solidFill>
              </a:rPr>
              <a:t> исправить) и новый номер (потом можно исправить).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95" y="3341296"/>
            <a:ext cx="2895600" cy="27622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7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  <p:bldP spid="3" grpId="2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15816" y="263691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Фиксация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16316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/>
          <a:lstStyle/>
          <a:p>
            <a:r>
              <a:rPr lang="ru-RU" dirty="0"/>
              <a:t>Начало транзакции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Перед записью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При записи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Обработка проведения</a:t>
            </a:r>
          </a:p>
          <a:p>
            <a:r>
              <a:rPr lang="ru-RU" dirty="0"/>
              <a:t>Окончание транзакции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Последовательность событий проведение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220419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3999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31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1) ПЕРЕД ЗАПИСЬЮ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5816" y="2636912"/>
            <a:ext cx="22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Начало транзакции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3261240"/>
            <a:ext cx="6257925" cy="352425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85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2" grpId="1"/>
      <p:bldP spid="2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5400000">
            <a:off x="6520031" y="3681028"/>
            <a:ext cx="3312368" cy="504056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5684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в момент первой записи объекта базы данных для него генерируется новая ссылка (потом </a:t>
            </a:r>
            <a:r>
              <a:rPr lang="ru-RU" sz="1400" b="1" i="1" dirty="0">
                <a:solidFill>
                  <a:srgbClr val="0070C0"/>
                </a:solidFill>
              </a:rPr>
              <a:t>нельзя</a:t>
            </a:r>
            <a:r>
              <a:rPr lang="ru-RU" sz="1400" i="1" dirty="0">
                <a:solidFill>
                  <a:srgbClr val="FF0000"/>
                </a:solidFill>
              </a:rPr>
              <a:t> исправить) и новый номер (потом можно исправить).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95" y="3341296"/>
            <a:ext cx="2895600" cy="27622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7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  <p:bldP spid="3" grpId="2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3) Обработка проведения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60" y="3283199"/>
            <a:ext cx="56673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683" y="570444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Срабатывает </a:t>
            </a:r>
            <a:r>
              <a:rPr lang="ru-RU" sz="1400" b="1" i="1" dirty="0">
                <a:solidFill>
                  <a:srgbClr val="0070C0"/>
                </a:solidFill>
              </a:rPr>
              <a:t>только</a:t>
            </a:r>
            <a:r>
              <a:rPr lang="ru-RU" sz="1400" i="1" dirty="0">
                <a:solidFill>
                  <a:srgbClr val="FF0000"/>
                </a:solidFill>
              </a:rPr>
              <a:t> в случае записи документа в режиме </a:t>
            </a:r>
            <a:r>
              <a:rPr lang="ru-RU" sz="1400" b="1" i="1" dirty="0">
                <a:solidFill>
                  <a:srgbClr val="0070C0"/>
                </a:solidFill>
              </a:rPr>
              <a:t>проведения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95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3) Обработка проведения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15816" y="263691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Фиксация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3246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1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/>
          <a:lstStyle/>
          <a:p>
            <a:r>
              <a:rPr lang="ru-RU" dirty="0"/>
              <a:t>Начало транзакции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Перед записью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Обработка удаления проведениям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При записи</a:t>
            </a:r>
          </a:p>
          <a:p>
            <a:r>
              <a:rPr lang="ru-RU" dirty="0"/>
              <a:t>Окончание транзакции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Последовательность событий отмена проведения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195946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3999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47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1) ПЕРЕД ЗАПИСЬЮ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5816" y="2636912"/>
            <a:ext cx="22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Начало транзакции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3261240"/>
            <a:ext cx="6257925" cy="352425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91552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22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2" grpId="1"/>
      <p:bldP spid="2" grpId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3) Обработка удаления проведения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83" y="570444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Срабатывает </a:t>
            </a:r>
            <a:r>
              <a:rPr lang="ru-RU" sz="1400" b="1" i="1" dirty="0">
                <a:solidFill>
                  <a:srgbClr val="0070C0"/>
                </a:solidFill>
              </a:rPr>
              <a:t>только</a:t>
            </a:r>
            <a:r>
              <a:rPr lang="ru-RU" sz="1400" i="1" dirty="0">
                <a:solidFill>
                  <a:srgbClr val="FF0000"/>
                </a:solidFill>
              </a:rPr>
              <a:t> в случае записи документа в режиме </a:t>
            </a:r>
            <a:r>
              <a:rPr lang="ru-RU" sz="1400" b="1" i="1" dirty="0">
                <a:solidFill>
                  <a:srgbClr val="0070C0"/>
                </a:solidFill>
              </a:rPr>
              <a:t>отмена</a:t>
            </a:r>
            <a:r>
              <a:rPr lang="ru-RU" sz="1400" i="1" dirty="0">
                <a:solidFill>
                  <a:srgbClr val="FF0000"/>
                </a:solidFill>
              </a:rPr>
              <a:t> </a:t>
            </a:r>
            <a:r>
              <a:rPr lang="ru-RU" sz="1400" b="1" i="1" dirty="0">
                <a:solidFill>
                  <a:srgbClr val="0070C0"/>
                </a:solidFill>
              </a:rPr>
              <a:t>проведения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284984"/>
            <a:ext cx="465772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6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5400000">
            <a:off x="6520031" y="3681028"/>
            <a:ext cx="3312368" cy="504056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5684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в момент первой записи объекта базы данных для него генерируется новая ссылка (потом </a:t>
            </a:r>
            <a:r>
              <a:rPr lang="ru-RU" sz="1400" b="1" i="1" dirty="0">
                <a:solidFill>
                  <a:srgbClr val="0070C0"/>
                </a:solidFill>
              </a:rPr>
              <a:t>нельзя</a:t>
            </a:r>
            <a:r>
              <a:rPr lang="ru-RU" sz="1400" i="1" dirty="0">
                <a:solidFill>
                  <a:srgbClr val="FF0000"/>
                </a:solidFill>
              </a:rPr>
              <a:t> исправить) и новый номер (потом можно исправить).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95" y="3341296"/>
            <a:ext cx="2895600" cy="27622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08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  <p:bldP spid="3" grpId="2" animBg="1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15816" y="263691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Фиксация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305713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79" y="1662217"/>
            <a:ext cx="7620000" cy="2057400"/>
          </a:xfrm>
          <a:prstGeom prst="rect">
            <a:avLst/>
          </a:prstGeom>
        </p:spPr>
      </p:pic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20819"/>
          </a:xfrm>
        </p:spPr>
        <p:txBody>
          <a:bodyPr>
            <a:noAutofit/>
          </a:bodyPr>
          <a:lstStyle/>
          <a:p>
            <a:r>
              <a:rPr lang="ru-RU" sz="3600" dirty="0"/>
              <a:t>Предопределенные элементы</a:t>
            </a:r>
            <a:r>
              <a:rPr lang="en-US" sz="3600" dirty="0"/>
              <a:t> </a:t>
            </a:r>
            <a:r>
              <a:rPr lang="ru-RU" sz="3600" dirty="0"/>
              <a:t>базы данных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9879" y="3789040"/>
          <a:ext cx="8136904" cy="2498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157">
                <a:tc>
                  <a:txBody>
                    <a:bodyPr/>
                    <a:lstStyle/>
                    <a:p>
                      <a:r>
                        <a:rPr lang="ru-RU" sz="1800" dirty="0"/>
                        <a:t>Имя</a:t>
                      </a:r>
                    </a:p>
                    <a:p>
                      <a:r>
                        <a:rPr lang="ru-RU" sz="1800" dirty="0"/>
                        <a:t>Предопределенных</a:t>
                      </a:r>
                    </a:p>
                    <a:p>
                      <a:r>
                        <a:rPr lang="ru-RU" sz="1800" dirty="0"/>
                        <a:t>Данных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Предопределенный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Код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002060"/>
                          </a:solidFill>
                        </a:rPr>
                        <a:t>Принятые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Истина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01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Работающие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Неприкасаемые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Руководители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Ложь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03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Уволенные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" name="Прямая со стрелкой 3"/>
          <p:cNvCxnSpPr/>
          <p:nvPr/>
        </p:nvCxnSpPr>
        <p:spPr>
          <a:xfrm>
            <a:off x="1331640" y="2996952"/>
            <a:ext cx="0" cy="722665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36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4815"/>
          </a:xfrm>
        </p:spPr>
        <p:txBody>
          <a:bodyPr/>
          <a:lstStyle/>
          <a:p>
            <a:r>
              <a:rPr lang="ru-RU" dirty="0" err="1" smtClean="0"/>
              <a:t>Заполние</a:t>
            </a:r>
            <a:r>
              <a:rPr lang="ru-RU" dirty="0" smtClean="0"/>
              <a:t> регистров подчиненных регистратору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204864"/>
            <a:ext cx="64484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Объектная модель доступа к данным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03077" y="1844824"/>
            <a:ext cx="2112739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Регистры сведений менеджер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сведений менеджер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3077" y="4149080"/>
            <a:ext cx="2088232" cy="7200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сведений Набор записей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1686073" y="3717032"/>
            <a:ext cx="288032" cy="43204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какого регистра сведений будем читать информацию (или записывать)?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864" y="29969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Создание набора записей.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414908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Чтение </a:t>
            </a:r>
            <a:r>
              <a:rPr lang="ru-RU" dirty="0" smtClean="0"/>
              <a:t>движений из базы данных;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Запись движений </a:t>
            </a:r>
            <a:r>
              <a:rPr lang="ru-RU" dirty="0" smtClean="0"/>
              <a:t>в базу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582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проведения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0" y="1124744"/>
            <a:ext cx="4060266" cy="280658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3861048"/>
            <a:ext cx="9010650" cy="2333625"/>
          </a:xfrm>
          <a:prstGeom prst="rect">
            <a:avLst/>
          </a:prstGeom>
        </p:spPr>
      </p:pic>
      <p:sp>
        <p:nvSpPr>
          <p:cNvPr id="5" name="Стрелка углом 4"/>
          <p:cNvSpPr/>
          <p:nvPr/>
        </p:nvSpPr>
        <p:spPr>
          <a:xfrm rot="5400000">
            <a:off x="4500414" y="2672916"/>
            <a:ext cx="936104" cy="1440160"/>
          </a:xfrm>
          <a:prstGeom prst="bentArrow">
            <a:avLst>
              <a:gd name="adj1" fmla="val 1637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66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2471430"/>
            <a:ext cx="8810374" cy="3116293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8"/>
            <a:ext cx="8812654" cy="1799016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23059" y="4041096"/>
            <a:ext cx="1649781" cy="504000"/>
          </a:xfrm>
          <a:prstGeom prst="borderCallout3">
            <a:avLst>
              <a:gd name="adj1" fmla="val -15732"/>
              <a:gd name="adj2" fmla="val 65699"/>
              <a:gd name="adj3" fmla="val -79711"/>
              <a:gd name="adj4" fmla="val 66152"/>
              <a:gd name="adj5" fmla="val -112288"/>
              <a:gd name="adj6" fmla="val 85471"/>
              <a:gd name="adj7" fmla="val -85613"/>
              <a:gd name="adj8" fmla="val 11086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Блок-схема: альтернативный процесс 12"/>
          <p:cNvSpPr/>
          <p:nvPr/>
        </p:nvSpPr>
        <p:spPr>
          <a:xfrm>
            <a:off x="1916505" y="3303617"/>
            <a:ext cx="4068844" cy="2103023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smtClean="0">
                <a:solidFill>
                  <a:schemeClr val="tx1"/>
                </a:solidFill>
              </a:rPr>
              <a:t>Документ </a:t>
            </a:r>
            <a:r>
              <a:rPr lang="ru-RU" dirty="0" smtClean="0">
                <a:solidFill>
                  <a:schemeClr val="tx1"/>
                </a:solidFill>
              </a:rPr>
              <a:t>Объект Установка цен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14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2471430"/>
            <a:ext cx="8810374" cy="3116293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8"/>
            <a:ext cx="8812654" cy="1799016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23059" y="4041096"/>
            <a:ext cx="1649781" cy="504000"/>
          </a:xfrm>
          <a:prstGeom prst="borderCallout3">
            <a:avLst>
              <a:gd name="adj1" fmla="val -15732"/>
              <a:gd name="adj2" fmla="val 65699"/>
              <a:gd name="adj3" fmla="val -79711"/>
              <a:gd name="adj4" fmla="val 66152"/>
              <a:gd name="adj5" fmla="val -112288"/>
              <a:gd name="adj6" fmla="val 85471"/>
              <a:gd name="adj7" fmla="val -85613"/>
              <a:gd name="adj8" fmla="val 11086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Блок-схема: альтернативный процесс 14"/>
          <p:cNvSpPr/>
          <p:nvPr/>
        </p:nvSpPr>
        <p:spPr>
          <a:xfrm>
            <a:off x="2923614" y="4066449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Регистр сведений набор записей Наши цены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238151" y="4877239"/>
            <a:ext cx="1741561" cy="504000"/>
          </a:xfrm>
          <a:prstGeom prst="borderCallout3">
            <a:avLst>
              <a:gd name="adj1" fmla="val 49200"/>
              <a:gd name="adj2" fmla="val 101189"/>
              <a:gd name="adj3" fmla="val 76889"/>
              <a:gd name="adj4" fmla="val 116566"/>
              <a:gd name="adj5" fmla="val 71050"/>
              <a:gd name="adj6" fmla="val 139356"/>
              <a:gd name="adj7" fmla="val 4147"/>
              <a:gd name="adj8" fmla="val 16800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916505" y="3303617"/>
            <a:ext cx="4068844" cy="2103023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smtClean="0">
                <a:solidFill>
                  <a:schemeClr val="tx1"/>
                </a:solidFill>
              </a:rPr>
              <a:t>Документ </a:t>
            </a:r>
            <a:r>
              <a:rPr lang="ru-RU" dirty="0" smtClean="0">
                <a:solidFill>
                  <a:schemeClr val="tx1"/>
                </a:solidFill>
              </a:rPr>
              <a:t>Объект Установка цен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Выноска 1 (с границей) 5"/>
          <p:cNvSpPr/>
          <p:nvPr/>
        </p:nvSpPr>
        <p:spPr>
          <a:xfrm>
            <a:off x="1092987" y="2543359"/>
            <a:ext cx="3266742" cy="652269"/>
          </a:xfrm>
          <a:prstGeom prst="accentCallout1">
            <a:avLst>
              <a:gd name="adj1" fmla="val 42493"/>
              <a:gd name="adj2" fmla="val 104106"/>
              <a:gd name="adj3" fmla="val 250115"/>
              <a:gd name="adj4" fmla="val 117372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«Внутри» объекта находится набор записей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346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2471430"/>
            <a:ext cx="8810374" cy="3116293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8"/>
            <a:ext cx="8812654" cy="1799016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23059" y="4041096"/>
            <a:ext cx="1649781" cy="504000"/>
          </a:xfrm>
          <a:prstGeom prst="borderCallout3">
            <a:avLst>
              <a:gd name="adj1" fmla="val -15732"/>
              <a:gd name="adj2" fmla="val 65699"/>
              <a:gd name="adj3" fmla="val -79711"/>
              <a:gd name="adj4" fmla="val 66152"/>
              <a:gd name="adj5" fmla="val -112288"/>
              <a:gd name="adj6" fmla="val 85471"/>
              <a:gd name="adj7" fmla="val -85613"/>
              <a:gd name="adj8" fmla="val 11086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Блок-схема: альтернативный процесс 14"/>
          <p:cNvSpPr/>
          <p:nvPr/>
        </p:nvSpPr>
        <p:spPr>
          <a:xfrm>
            <a:off x="2923614" y="4066449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Регистр сведений набор записей Наши цены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238151" y="4877239"/>
            <a:ext cx="1741561" cy="504000"/>
          </a:xfrm>
          <a:prstGeom prst="borderCallout3">
            <a:avLst>
              <a:gd name="adj1" fmla="val 49200"/>
              <a:gd name="adj2" fmla="val 101189"/>
              <a:gd name="adj3" fmla="val 76889"/>
              <a:gd name="adj4" fmla="val 116566"/>
              <a:gd name="adj5" fmla="val 71050"/>
              <a:gd name="adj6" fmla="val 139356"/>
              <a:gd name="adj7" fmla="val 4147"/>
              <a:gd name="adj8" fmla="val 16800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916505" y="3303617"/>
            <a:ext cx="4068844" cy="2103023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smtClean="0">
                <a:solidFill>
                  <a:schemeClr val="tx1"/>
                </a:solidFill>
              </a:rPr>
              <a:t>Документ </a:t>
            </a:r>
            <a:r>
              <a:rPr lang="ru-RU" dirty="0" smtClean="0">
                <a:solidFill>
                  <a:schemeClr val="tx1"/>
                </a:solidFill>
              </a:rPr>
              <a:t>Объект Установка цен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/>
          <p:cNvCxnSpPr/>
          <p:nvPr/>
        </p:nvCxnSpPr>
        <p:spPr>
          <a:xfrm flipH="1">
            <a:off x="5004048" y="3734370"/>
            <a:ext cx="1" cy="661968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Выноска 1 (с границей) 5"/>
          <p:cNvSpPr/>
          <p:nvPr/>
        </p:nvSpPr>
        <p:spPr>
          <a:xfrm>
            <a:off x="1079365" y="2561389"/>
            <a:ext cx="3266742" cy="652269"/>
          </a:xfrm>
          <a:prstGeom prst="accentCallout1">
            <a:avLst>
              <a:gd name="adj1" fmla="val 42493"/>
              <a:gd name="adj2" fmla="val 104106"/>
              <a:gd name="adj3" fmla="val 214699"/>
              <a:gd name="adj4" fmla="val 11796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Можем передать данные из объекта в набор записей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934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2471430"/>
            <a:ext cx="8810374" cy="3116293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8"/>
            <a:ext cx="8812654" cy="1799016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23059" y="4041096"/>
            <a:ext cx="1649781" cy="504000"/>
          </a:xfrm>
          <a:prstGeom prst="borderCallout3">
            <a:avLst>
              <a:gd name="adj1" fmla="val -15732"/>
              <a:gd name="adj2" fmla="val 65699"/>
              <a:gd name="adj3" fmla="val -79711"/>
              <a:gd name="adj4" fmla="val 66152"/>
              <a:gd name="adj5" fmla="val -112288"/>
              <a:gd name="adj6" fmla="val 85471"/>
              <a:gd name="adj7" fmla="val -85613"/>
              <a:gd name="adj8" fmla="val 11086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724128" y="4944245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Блок-схема: альтернативный процесс 14"/>
          <p:cNvSpPr/>
          <p:nvPr/>
        </p:nvSpPr>
        <p:spPr>
          <a:xfrm>
            <a:off x="2923614" y="4066449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Регистр сведений набор записей Наши цены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238151" y="4877239"/>
            <a:ext cx="1741561" cy="504000"/>
          </a:xfrm>
          <a:prstGeom prst="borderCallout3">
            <a:avLst>
              <a:gd name="adj1" fmla="val 49200"/>
              <a:gd name="adj2" fmla="val 101189"/>
              <a:gd name="adj3" fmla="val 76889"/>
              <a:gd name="adj4" fmla="val 116566"/>
              <a:gd name="adj5" fmla="val 71050"/>
              <a:gd name="adj6" fmla="val 139356"/>
              <a:gd name="adj7" fmla="val 4147"/>
              <a:gd name="adj8" fmla="val 16800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916505" y="3303617"/>
            <a:ext cx="4068844" cy="2103023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smtClean="0">
                <a:solidFill>
                  <a:schemeClr val="tx1"/>
                </a:solidFill>
              </a:rPr>
              <a:t>Документ </a:t>
            </a:r>
            <a:r>
              <a:rPr lang="ru-RU" dirty="0" smtClean="0">
                <a:solidFill>
                  <a:schemeClr val="tx1"/>
                </a:solidFill>
              </a:rPr>
              <a:t>Объект Установка цен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flipH="1">
            <a:off x="4867433" y="4836687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Выноска 1 (с границей) 5"/>
          <p:cNvSpPr/>
          <p:nvPr/>
        </p:nvSpPr>
        <p:spPr>
          <a:xfrm>
            <a:off x="1079364" y="2561389"/>
            <a:ext cx="3788069" cy="652269"/>
          </a:xfrm>
          <a:prstGeom prst="accentCallout1">
            <a:avLst>
              <a:gd name="adj1" fmla="val 42493"/>
              <a:gd name="adj2" fmla="val 104106"/>
              <a:gd name="adj3" fmla="val 368168"/>
              <a:gd name="adj4" fmla="val 12152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Одновременно Объект записывает свои данные в таблицу документа…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014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2471430"/>
            <a:ext cx="8810374" cy="3116293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8"/>
            <a:ext cx="8812654" cy="1799016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1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 2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23059" y="4041096"/>
            <a:ext cx="1649781" cy="504000"/>
          </a:xfrm>
          <a:prstGeom prst="borderCallout3">
            <a:avLst>
              <a:gd name="adj1" fmla="val -15732"/>
              <a:gd name="adj2" fmla="val 65699"/>
              <a:gd name="adj3" fmla="val -79711"/>
              <a:gd name="adj4" fmla="val 66152"/>
              <a:gd name="adj5" fmla="val -112288"/>
              <a:gd name="adj6" fmla="val 85471"/>
              <a:gd name="adj7" fmla="val -85613"/>
              <a:gd name="adj8" fmla="val 11086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724128" y="4944245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Блок-схема: альтернативный процесс 14"/>
          <p:cNvSpPr/>
          <p:nvPr/>
        </p:nvSpPr>
        <p:spPr>
          <a:xfrm>
            <a:off x="2923614" y="4066449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Регистр сведений набор записей Наши цены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238151" y="4877239"/>
            <a:ext cx="1741561" cy="504000"/>
          </a:xfrm>
          <a:prstGeom prst="borderCallout3">
            <a:avLst>
              <a:gd name="adj1" fmla="val 49200"/>
              <a:gd name="adj2" fmla="val 101189"/>
              <a:gd name="adj3" fmla="val 76889"/>
              <a:gd name="adj4" fmla="val 116566"/>
              <a:gd name="adj5" fmla="val 71050"/>
              <a:gd name="adj6" fmla="val 139356"/>
              <a:gd name="adj7" fmla="val 4147"/>
              <a:gd name="adj8" fmla="val 16800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916505" y="3303617"/>
            <a:ext cx="4068844" cy="2103023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smtClean="0">
                <a:solidFill>
                  <a:schemeClr val="tx1"/>
                </a:solidFill>
              </a:rPr>
              <a:t>Документ </a:t>
            </a:r>
            <a:r>
              <a:rPr lang="ru-RU" dirty="0" smtClean="0">
                <a:solidFill>
                  <a:schemeClr val="tx1"/>
                </a:solidFill>
              </a:rPr>
              <a:t>Объект Установка цен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flipH="1">
            <a:off x="4867433" y="4836687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Выноска 2 (с границей) 1"/>
          <p:cNvSpPr/>
          <p:nvPr/>
        </p:nvSpPr>
        <p:spPr>
          <a:xfrm>
            <a:off x="1102848" y="2563488"/>
            <a:ext cx="4032448" cy="648072"/>
          </a:xfrm>
          <a:prstGeom prst="accentCallout2">
            <a:avLst>
              <a:gd name="adj1" fmla="val 30633"/>
              <a:gd name="adj2" fmla="val 102183"/>
              <a:gd name="adj3" fmla="val 146479"/>
              <a:gd name="adj4" fmla="val 113900"/>
              <a:gd name="adj5" fmla="val 369443"/>
              <a:gd name="adj6" fmla="val 94880"/>
            </a:avLst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… а Набора </a:t>
            </a:r>
            <a:r>
              <a:rPr lang="ru-RU" dirty="0"/>
              <a:t>З</a:t>
            </a:r>
            <a:r>
              <a:rPr lang="ru-RU" dirty="0" smtClean="0"/>
              <a:t>аписей свои данные </a:t>
            </a:r>
            <a:r>
              <a:rPr lang="ru-RU" dirty="0"/>
              <a:t>в таблицу регистра сведений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236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Свойство Движения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586673"/>
              </p:ext>
            </p:extLst>
          </p:nvPr>
        </p:nvGraphicFramePr>
        <p:xfrm>
          <a:off x="188118" y="1340768"/>
          <a:ext cx="8699903" cy="40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450">
                  <a:extLst>
                    <a:ext uri="{9D8B030D-6E8A-4147-A177-3AD203B41FA5}">
                      <a16:colId xmlns:a16="http://schemas.microsoft.com/office/drawing/2014/main" val="364379187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614691348"/>
                    </a:ext>
                  </a:extLst>
                </a:gridCol>
                <a:gridCol w="499597">
                  <a:extLst>
                    <a:ext uri="{9D8B030D-6E8A-4147-A177-3AD203B41FA5}">
                      <a16:colId xmlns:a16="http://schemas.microsoft.com/office/drawing/2014/main" val="730570288"/>
                    </a:ext>
                  </a:extLst>
                </a:gridCol>
              </a:tblGrid>
              <a:tr h="5198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Движения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79737"/>
                  </a:ext>
                </a:extLst>
              </a:tr>
              <a:tr h="3531906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920389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93471"/>
              </p:ext>
            </p:extLst>
          </p:nvPr>
        </p:nvGraphicFramePr>
        <p:xfrm>
          <a:off x="805240" y="1988840"/>
          <a:ext cx="7439167" cy="3240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1082">
                  <a:extLst>
                    <a:ext uri="{9D8B030D-6E8A-4147-A177-3AD203B41FA5}">
                      <a16:colId xmlns:a16="http://schemas.microsoft.com/office/drawing/2014/main" val="41763236"/>
                    </a:ext>
                  </a:extLst>
                </a:gridCol>
                <a:gridCol w="5698085">
                  <a:extLst>
                    <a:ext uri="{9D8B030D-6E8A-4147-A177-3AD203B41FA5}">
                      <a16:colId xmlns:a16="http://schemas.microsoft.com/office/drawing/2014/main" val="3145116655"/>
                    </a:ext>
                  </a:extLst>
                </a:gridCol>
              </a:tblGrid>
              <a:tr h="517925">
                <a:tc>
                  <a:txBody>
                    <a:bodyPr/>
                    <a:lstStyle/>
                    <a:p>
                      <a:r>
                        <a:rPr lang="ru-RU" dirty="0"/>
                        <a:t>Имя регистра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Набор записей регистра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378151"/>
                  </a:ext>
                </a:extLst>
              </a:tr>
              <a:tr h="2722435">
                <a:tc>
                  <a:txBody>
                    <a:bodyPr/>
                    <a:lstStyle/>
                    <a:p>
                      <a:r>
                        <a:rPr lang="ru-RU" dirty="0" err="1"/>
                        <a:t>НашиЦены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523492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3" y="2780928"/>
            <a:ext cx="5560779" cy="1440160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1043608" y="3789040"/>
            <a:ext cx="7272808" cy="288032"/>
          </a:xfrm>
          <a:prstGeom prst="roundRect">
            <a:avLst/>
          </a:prstGeom>
          <a:solidFill>
            <a:schemeClr val="accent3">
              <a:alpha val="2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195565" y="374839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ДвижениЕ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331640" y="5578913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Движение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Движения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НашиЦены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Добавить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024430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ru-RU" dirty="0"/>
              <a:t>Команды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Алгоритмы, которые можно запустить ТОЛЬКО интерактивно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803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Кто создал</a:t>
            </a:r>
          </a:p>
          <a:p>
            <a:pPr lvl="1"/>
            <a:r>
              <a:rPr lang="ru-RU" dirty="0"/>
              <a:t>Платформа</a:t>
            </a:r>
          </a:p>
          <a:p>
            <a:pPr lvl="1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Разработчик</a:t>
            </a:r>
          </a:p>
          <a:p>
            <a:r>
              <a:rPr lang="ru-RU" dirty="0"/>
              <a:t>Количество мест расположения</a:t>
            </a:r>
          </a:p>
          <a:p>
            <a:pPr lvl="1"/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Только в одной форме</a:t>
            </a:r>
          </a:p>
          <a:p>
            <a:pPr lvl="1"/>
            <a:r>
              <a:rPr lang="ru-RU" dirty="0"/>
              <a:t>В разных формах</a:t>
            </a:r>
          </a:p>
          <a:p>
            <a:r>
              <a:rPr lang="ru-RU" dirty="0"/>
              <a:t>Выполняемое действие</a:t>
            </a:r>
          </a:p>
          <a:p>
            <a:pPr lvl="1"/>
            <a:r>
              <a:rPr lang="ru-RU" dirty="0">
                <a:solidFill>
                  <a:srgbClr val="C00000"/>
                </a:solidFill>
              </a:rPr>
              <a:t>Навигационные</a:t>
            </a:r>
          </a:p>
          <a:p>
            <a:pPr lvl="1"/>
            <a:r>
              <a:rPr lang="ru-RU" dirty="0">
                <a:solidFill>
                  <a:srgbClr val="0070C0"/>
                </a:solidFill>
              </a:rPr>
              <a:t>Действия</a:t>
            </a:r>
          </a:p>
          <a:p>
            <a:r>
              <a:rPr lang="ru-RU" dirty="0"/>
              <a:t>Зависимость от других данных</a:t>
            </a:r>
          </a:p>
          <a:p>
            <a:pPr lvl="1"/>
            <a:r>
              <a:rPr lang="ru-RU" dirty="0">
                <a:solidFill>
                  <a:srgbClr val="00B050"/>
                </a:solidFill>
              </a:rPr>
              <a:t>Независимые</a:t>
            </a:r>
          </a:p>
          <a:p>
            <a:pPr lvl="1"/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Параметризированные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команд</a:t>
            </a:r>
          </a:p>
        </p:txBody>
      </p:sp>
    </p:spTree>
    <p:extLst>
      <p:ext uri="{BB962C8B-B14F-4D97-AF65-F5344CB8AC3E}">
        <p14:creationId xmlns:p14="http://schemas.microsoft.com/office/powerpoint/2010/main" val="16829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создает команду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Стандартные команды</a:t>
            </a:r>
          </a:p>
          <a:p>
            <a:pPr lvl="1"/>
            <a:r>
              <a:rPr lang="ru-RU" dirty="0"/>
              <a:t>Зависят от настроек метаданных. </a:t>
            </a:r>
          </a:p>
          <a:p>
            <a:pPr lvl="1"/>
            <a:r>
              <a:rPr lang="ru-RU" dirty="0"/>
              <a:t>Автоматически создаются платформой.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ru-RU" dirty="0"/>
              <a:t>Команды созданные разработчиком</a:t>
            </a:r>
          </a:p>
          <a:p>
            <a:pPr lvl="1"/>
            <a:r>
              <a:rPr lang="ru-RU" dirty="0"/>
              <a:t>Явно создаются разработчиком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290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Количество мест расположения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Локальные команды</a:t>
            </a:r>
          </a:p>
          <a:p>
            <a:pPr lvl="1"/>
            <a:r>
              <a:rPr lang="ru-RU" sz="2000" dirty="0"/>
              <a:t>Располагается только в одной форме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ru-RU" dirty="0"/>
              <a:t>Глобальные команды</a:t>
            </a:r>
          </a:p>
          <a:p>
            <a:pPr lvl="1"/>
            <a:r>
              <a:rPr lang="ru-RU" sz="2000" dirty="0"/>
              <a:t>Могут располагаться в нескольких формах (окнах)</a:t>
            </a:r>
            <a:endParaRPr lang="en-US" sz="2000" dirty="0"/>
          </a:p>
          <a:p>
            <a:pPr lvl="1"/>
            <a:r>
              <a:rPr lang="ru-RU" sz="2000" dirty="0"/>
              <a:t>Могут располагаться в основном окне программы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496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70" y="3604768"/>
            <a:ext cx="6448131" cy="267915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80728"/>
            <a:ext cx="6629400" cy="267652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глобальной команды 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710235" y="1494964"/>
            <a:ext cx="2664296" cy="867807"/>
          </a:xfrm>
          <a:prstGeom prst="roundRect">
            <a:avLst/>
          </a:prstGeom>
          <a:solidFill>
            <a:schemeClr val="accent2">
              <a:alpha val="22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360639" y="4102779"/>
            <a:ext cx="2664296" cy="867807"/>
          </a:xfrm>
          <a:prstGeom prst="roundRect">
            <a:avLst/>
          </a:prstGeom>
          <a:solidFill>
            <a:schemeClr val="accent2">
              <a:alpha val="22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08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8" grpId="0" animBg="1"/>
      <p:bldP spid="8" grpId="1" animBg="1"/>
      <p:bldP spid="8" grpId="2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«ожидаемому» действию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Навигационные</a:t>
            </a:r>
          </a:p>
          <a:p>
            <a:pPr lvl="1"/>
            <a:r>
              <a:rPr lang="ru-RU" sz="2000" dirty="0"/>
              <a:t>Встраивают в текущее окно список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ru-RU" dirty="0"/>
              <a:t>Действия</a:t>
            </a:r>
          </a:p>
          <a:p>
            <a:pPr lvl="1"/>
            <a:r>
              <a:rPr lang="ru-RU" sz="2000" dirty="0"/>
              <a:t>Открывают другое окно, в котором будет инициирован некий процесс</a:t>
            </a:r>
          </a:p>
          <a:p>
            <a:pPr lvl="2"/>
            <a:r>
              <a:rPr lang="ru-RU" sz="1400" i="1" dirty="0"/>
              <a:t>Формирование отчета;</a:t>
            </a:r>
          </a:p>
          <a:p>
            <a:pPr lvl="2"/>
            <a:r>
              <a:rPr lang="ru-RU" sz="1400" i="1" dirty="0"/>
              <a:t>Создание нового документа;</a:t>
            </a:r>
          </a:p>
          <a:p>
            <a:pPr lvl="2"/>
            <a:r>
              <a:rPr lang="ru-RU" sz="1400" i="1" dirty="0"/>
              <a:t>Открытие формы обработки;</a:t>
            </a:r>
          </a:p>
          <a:p>
            <a:pPr lvl="2"/>
            <a:r>
              <a:rPr lang="ru-RU" sz="1400" i="1" dirty="0" err="1"/>
              <a:t>И.т.п</a:t>
            </a:r>
            <a:r>
              <a:rPr lang="ru-RU" sz="1400" i="1" dirty="0"/>
              <a:t>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641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0" y="1422697"/>
            <a:ext cx="39338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команды действия</a:t>
            </a:r>
          </a:p>
        </p:txBody>
      </p:sp>
      <p:sp>
        <p:nvSpPr>
          <p:cNvPr id="3" name="Стрелка углом 2"/>
          <p:cNvSpPr/>
          <p:nvPr/>
        </p:nvSpPr>
        <p:spPr>
          <a:xfrm rot="10800000" flipH="1">
            <a:off x="2310346" y="4077072"/>
            <a:ext cx="1973622" cy="1756170"/>
          </a:xfrm>
          <a:prstGeom prst="ben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627784" y="2883994"/>
            <a:ext cx="1800200" cy="328982"/>
          </a:xfrm>
          <a:prstGeom prst="roundRect">
            <a:avLst/>
          </a:prstGeom>
          <a:solidFill>
            <a:schemeClr val="accent2">
              <a:alpha val="22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385" y="4005064"/>
            <a:ext cx="4139056" cy="220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08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6" grpId="1" animBg="1"/>
      <p:bldP spid="6" grpId="2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навигационной команды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25050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32856"/>
            <a:ext cx="3888432" cy="440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трелка углом 2"/>
          <p:cNvSpPr/>
          <p:nvPr/>
        </p:nvSpPr>
        <p:spPr>
          <a:xfrm rot="10800000" flipH="1">
            <a:off x="2310346" y="4077072"/>
            <a:ext cx="1973622" cy="1756170"/>
          </a:xfrm>
          <a:prstGeom prst="ben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83568" y="2611446"/>
            <a:ext cx="2016224" cy="490404"/>
          </a:xfrm>
          <a:prstGeom prst="roundRect">
            <a:avLst/>
          </a:prstGeom>
          <a:solidFill>
            <a:schemeClr val="accent2">
              <a:alpha val="22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36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6" grpId="1" animBg="1"/>
      <p:bldP spid="6" grpId="2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зависимости от других данных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Независимые</a:t>
            </a:r>
          </a:p>
          <a:p>
            <a:pPr lvl="1"/>
            <a:r>
              <a:rPr lang="ru-RU" sz="2000" dirty="0"/>
              <a:t>Работают одинаково в любых ситуациях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0"/>
          </p:nvPr>
        </p:nvSpPr>
        <p:spPr>
          <a:xfrm>
            <a:off x="4355976" y="1340768"/>
            <a:ext cx="4594811" cy="4896543"/>
          </a:xfrm>
        </p:spPr>
        <p:txBody>
          <a:bodyPr/>
          <a:lstStyle/>
          <a:p>
            <a:r>
              <a:rPr lang="ru-RU" dirty="0"/>
              <a:t>Параметризируемые</a:t>
            </a:r>
          </a:p>
          <a:p>
            <a:pPr lvl="2"/>
            <a:r>
              <a:rPr lang="ru-RU" dirty="0"/>
              <a:t>Нужен входящий параметр (ссылка или массив ссылок)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14747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независимой команды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25050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44824"/>
            <a:ext cx="3888432" cy="440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трелка углом 2"/>
          <p:cNvSpPr/>
          <p:nvPr/>
        </p:nvSpPr>
        <p:spPr>
          <a:xfrm rot="10800000" flipH="1">
            <a:off x="2310346" y="4077072"/>
            <a:ext cx="1973622" cy="1756170"/>
          </a:xfrm>
          <a:prstGeom prst="ben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83568" y="2611446"/>
            <a:ext cx="2016224" cy="490404"/>
          </a:xfrm>
          <a:prstGeom prst="roundRect">
            <a:avLst/>
          </a:prstGeom>
          <a:solidFill>
            <a:schemeClr val="accent2">
              <a:alpha val="22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91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6" grpId="1" animBg="1"/>
      <p:bldP spid="6" grpId="2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846" y="3664613"/>
            <a:ext cx="5385594" cy="256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052736"/>
            <a:ext cx="6629400" cy="267652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параметризируемой команды </a:t>
            </a:r>
          </a:p>
        </p:txBody>
      </p:sp>
      <p:sp>
        <p:nvSpPr>
          <p:cNvPr id="3" name="Стрелка углом 2"/>
          <p:cNvSpPr/>
          <p:nvPr/>
        </p:nvSpPr>
        <p:spPr>
          <a:xfrm rot="5400000">
            <a:off x="5798268" y="2492256"/>
            <a:ext cx="2592290" cy="1086208"/>
          </a:xfrm>
          <a:prstGeom prst="ben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851920" y="1523190"/>
            <a:ext cx="2664296" cy="867807"/>
          </a:xfrm>
          <a:prstGeom prst="roundRect">
            <a:avLst/>
          </a:prstGeom>
          <a:solidFill>
            <a:schemeClr val="accent2">
              <a:alpha val="22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03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6" grpId="1" animBg="1"/>
      <p:bldP spid="6" grpId="2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481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Место расположение глобальных команд по умолчанию</a:t>
            </a:r>
            <a:r>
              <a:rPr lang="ru-RU" dirty="0"/>
              <a:t/>
            </a:r>
            <a:br>
              <a:rPr lang="ru-RU" dirty="0"/>
            </a:br>
            <a:r>
              <a:rPr lang="ru-RU" sz="1800" dirty="0"/>
              <a:t>(</a:t>
            </a:r>
            <a:r>
              <a:rPr lang="ru-RU" sz="2000" dirty="0"/>
              <a:t>Потом можно изменить)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322546" y="1700808"/>
            <a:ext cx="3600400" cy="43204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Независимые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093872" y="1706690"/>
            <a:ext cx="3600400" cy="43204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Параметризируемые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47564" y="2276872"/>
            <a:ext cx="504056" cy="19383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Навигационные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47564" y="4365104"/>
            <a:ext cx="504056" cy="19383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Действия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00423"/>
            <a:ext cx="2643099" cy="74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906076"/>
            <a:ext cx="3008502" cy="779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731688"/>
            <a:ext cx="2959785" cy="73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337" y="4906076"/>
            <a:ext cx="3690594" cy="755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49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Табличная модель доступа к данным</a:t>
            </a:r>
          </a:p>
        </p:txBody>
      </p:sp>
    </p:spTree>
    <p:extLst>
      <p:ext uri="{BB962C8B-B14F-4D97-AF65-F5344CB8AC3E}">
        <p14:creationId xmlns:p14="http://schemas.microsoft.com/office/powerpoint/2010/main" val="549534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Объектная модель доступа к данным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27584" y="1844824"/>
            <a:ext cx="20882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Справочники менеджер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 менеджер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3077" y="4149080"/>
            <a:ext cx="2088232" cy="7200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 Ссылка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1686073" y="3717032"/>
            <a:ext cx="288032" cy="43204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какого справочника будем читать информацию?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864" y="29969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Поиск ссылки на нужный объект базы данных.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414908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Идентификация объекта базы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Чтение данных нужного объекта базы данных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27584" y="5296346"/>
            <a:ext cx="2088232" cy="7200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 объект</a:t>
            </a:r>
          </a:p>
        </p:txBody>
      </p:sp>
      <p:sp>
        <p:nvSpPr>
          <p:cNvPr id="15" name="Стрелка вниз 14"/>
          <p:cNvSpPr/>
          <p:nvPr/>
        </p:nvSpPr>
        <p:spPr>
          <a:xfrm>
            <a:off x="1710580" y="4864298"/>
            <a:ext cx="288032" cy="43204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366765" y="5296346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Запись, изменение и удаление объекта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6354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Достоинства</a:t>
            </a:r>
          </a:p>
          <a:p>
            <a:pPr lvl="1"/>
            <a:r>
              <a:rPr lang="ru-RU" dirty="0"/>
              <a:t>Простота работы с данными;</a:t>
            </a:r>
          </a:p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Избыточное чтение;</a:t>
            </a:r>
          </a:p>
          <a:p>
            <a:pPr lvl="1"/>
            <a:r>
              <a:rPr lang="ru-RU" dirty="0"/>
              <a:t>Множественное обращение к базе данных;</a:t>
            </a:r>
          </a:p>
          <a:p>
            <a:pPr lvl="1"/>
            <a:r>
              <a:rPr lang="ru-RU" dirty="0"/>
              <a:t>Невозможность получения связанной информации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>
            <a:normAutofit fontScale="90000"/>
          </a:bodyPr>
          <a:lstStyle/>
          <a:p>
            <a:r>
              <a:rPr lang="ru-RU" dirty="0"/>
              <a:t>Достоинства и недостатки объектной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272291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78090"/>
              </p:ext>
            </p:extLst>
          </p:nvPr>
        </p:nvGraphicFramePr>
        <p:xfrm>
          <a:off x="611560" y="5013176"/>
          <a:ext cx="253062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Табличная модель доступа к данным</a:t>
            </a:r>
          </a:p>
        </p:txBody>
      </p:sp>
      <p:graphicFrame>
        <p:nvGraphicFramePr>
          <p:cNvPr id="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1257654"/>
              </p:ext>
            </p:extLst>
          </p:nvPr>
        </p:nvGraphicFramePr>
        <p:xfrm>
          <a:off x="3306687" y="5013176"/>
          <a:ext cx="2530625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351659"/>
              </p:ext>
            </p:extLst>
          </p:nvPr>
        </p:nvGraphicFramePr>
        <p:xfrm>
          <a:off x="6001814" y="5013176"/>
          <a:ext cx="2530625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0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9552" y="450912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справочника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3848" y="450912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справочника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1814" y="4509120"/>
            <a:ext cx="281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ТЧ справочника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552" y="1700808"/>
            <a:ext cx="6768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 какой таблицы читаем данные?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записи содержать нужную информацию?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поля записей содержат нужную информацию?</a:t>
            </a:r>
          </a:p>
        </p:txBody>
      </p:sp>
    </p:spTree>
    <p:extLst>
      <p:ext uri="{BB962C8B-B14F-4D97-AF65-F5344CB8AC3E}">
        <p14:creationId xmlns:p14="http://schemas.microsoft.com/office/powerpoint/2010/main" val="5358554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Достоинства</a:t>
            </a:r>
          </a:p>
          <a:p>
            <a:pPr lvl="1"/>
            <a:r>
              <a:rPr lang="ru-RU" dirty="0"/>
              <a:t>Чтение только нужной информации;</a:t>
            </a:r>
          </a:p>
          <a:p>
            <a:pPr lvl="1"/>
            <a:r>
              <a:rPr lang="ru-RU" dirty="0"/>
              <a:t>Минимальное обращение к базе данных;</a:t>
            </a:r>
          </a:p>
          <a:p>
            <a:pPr lvl="1"/>
            <a:r>
              <a:rPr lang="ru-RU" dirty="0"/>
              <a:t>Возможность получение «связанной» информации.</a:t>
            </a:r>
          </a:p>
          <a:p>
            <a:r>
              <a:rPr lang="ru-RU"/>
              <a:t>Особенность</a:t>
            </a:r>
            <a:endParaRPr lang="ru-RU" dirty="0"/>
          </a:p>
          <a:p>
            <a:pPr lvl="1"/>
            <a:r>
              <a:rPr lang="ru-RU" dirty="0"/>
              <a:t>Возможность работать только на чтение.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92088"/>
          </a:xfrm>
        </p:spPr>
        <p:txBody>
          <a:bodyPr>
            <a:normAutofit fontScale="90000"/>
          </a:bodyPr>
          <a:lstStyle/>
          <a:p>
            <a:r>
              <a:rPr lang="ru-RU" dirty="0"/>
              <a:t>Достоинства и </a:t>
            </a:r>
            <a:r>
              <a:rPr lang="ru-RU"/>
              <a:t>недостатки табличной </a:t>
            </a:r>
            <a:r>
              <a:rPr lang="ru-RU" dirty="0"/>
              <a:t>модели</a:t>
            </a:r>
          </a:p>
        </p:txBody>
      </p:sp>
    </p:spTree>
    <p:extLst>
      <p:ext uri="{BB962C8B-B14F-4D97-AF65-F5344CB8AC3E}">
        <p14:creationId xmlns:p14="http://schemas.microsoft.com/office/powerpoint/2010/main" val="378275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140968"/>
            <a:ext cx="8810374" cy="24467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480085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4331773" y="4380744"/>
            <a:ext cx="1071319" cy="413415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smtClean="0">
                <a:solidFill>
                  <a:schemeClr val="tx1"/>
                </a:solidFill>
              </a:rPr>
              <a:t>Запрос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flipH="1">
            <a:off x="4867433" y="4836687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7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Б_КомплексныйКурс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Б_КомплексныйКурс" id="{57895036-580B-4EC1-9356-65CCF9CCE186}" vid="{5A20F5DB-C976-49E0-A2C0-0C64FB833D4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СБ_КомплексныйКурс</Template>
  <TotalTime>3053</TotalTime>
  <Words>2184</Words>
  <Application>Microsoft Office PowerPoint</Application>
  <PresentationFormat>Экран (4:3)</PresentationFormat>
  <Paragraphs>857</Paragraphs>
  <Slides>62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70" baseType="lpstr">
      <vt:lpstr>Arial</vt:lpstr>
      <vt:lpstr>Arial Black</vt:lpstr>
      <vt:lpstr>Calibri</vt:lpstr>
      <vt:lpstr>Courier New</vt:lpstr>
      <vt:lpstr>Tahoma</vt:lpstr>
      <vt:lpstr>Verdana</vt:lpstr>
      <vt:lpstr>Wingdings</vt:lpstr>
      <vt:lpstr>СБ_КомплексныйКурс</vt:lpstr>
      <vt:lpstr>Занятие 5</vt:lpstr>
      <vt:lpstr>Задача</vt:lpstr>
      <vt:lpstr>Объектная модель доступа к данным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События записи документ объекта</vt:lpstr>
      <vt:lpstr>Последовательность событий записи документа</vt:lpstr>
      <vt:lpstr>События записи документа</vt:lpstr>
      <vt:lpstr>1) ПЕРЕД ЗАПИСЬЮ</vt:lpstr>
      <vt:lpstr>2) ПРИ ЗАПИСИ</vt:lpstr>
      <vt:lpstr>2) ПРИ ЗАПИСИ</vt:lpstr>
      <vt:lpstr>Последовательность событий проведение документа</vt:lpstr>
      <vt:lpstr>События записи документа</vt:lpstr>
      <vt:lpstr>1) ПЕРЕД ЗАПИСЬЮ</vt:lpstr>
      <vt:lpstr>2) ПРИ ЗАПИСИ</vt:lpstr>
      <vt:lpstr>3) Обработка проведения</vt:lpstr>
      <vt:lpstr>3) Обработка проведения</vt:lpstr>
      <vt:lpstr>Последовательность событий отмена проведения документа</vt:lpstr>
      <vt:lpstr>События записи документа</vt:lpstr>
      <vt:lpstr>1) ПЕРЕД ЗАПИСЬЮ</vt:lpstr>
      <vt:lpstr>3) Обработка удаления проведения</vt:lpstr>
      <vt:lpstr>2) ПРИ ЗАПИСИ</vt:lpstr>
      <vt:lpstr>2) ПРИ ЗАПИСИ</vt:lpstr>
      <vt:lpstr>Предопределенные элементы базы данных</vt:lpstr>
      <vt:lpstr>Заполние регистров подчиненных регистратору</vt:lpstr>
      <vt:lpstr>Объектная модель доступа к данным</vt:lpstr>
      <vt:lpstr>Обработка проведения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Свойство Движения</vt:lpstr>
      <vt:lpstr>Команды</vt:lpstr>
      <vt:lpstr>Классификация команд</vt:lpstr>
      <vt:lpstr>Кто создает команду</vt:lpstr>
      <vt:lpstr>Количество мест расположения</vt:lpstr>
      <vt:lpstr>Пример глобальной команды </vt:lpstr>
      <vt:lpstr>По «ожидаемому» действию</vt:lpstr>
      <vt:lpstr>Пример команды действия</vt:lpstr>
      <vt:lpstr>Пример навигационной команды </vt:lpstr>
      <vt:lpstr>По зависимости от других данных</vt:lpstr>
      <vt:lpstr>Пример независимой команды </vt:lpstr>
      <vt:lpstr>Пример параметризируемой команды </vt:lpstr>
      <vt:lpstr>Место расположение глобальных команд по умолчанию (Потом можно изменить)</vt:lpstr>
      <vt:lpstr>Запросы</vt:lpstr>
      <vt:lpstr>Объектная модель доступа к данным</vt:lpstr>
      <vt:lpstr>Достоинства и недостатки объектной модели</vt:lpstr>
      <vt:lpstr>Табличная модель доступа к данным</vt:lpstr>
      <vt:lpstr>Достоинства и недостатки табличной модели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занятие</dc:title>
  <dc:creator>Сергей</dc:creator>
  <cp:lastModifiedBy>eugeniy sizov</cp:lastModifiedBy>
  <cp:revision>153</cp:revision>
  <dcterms:created xsi:type="dcterms:W3CDTF">2010-10-29T09:01:45Z</dcterms:created>
  <dcterms:modified xsi:type="dcterms:W3CDTF">2020-09-26T18:42:31Z</dcterms:modified>
</cp:coreProperties>
</file>