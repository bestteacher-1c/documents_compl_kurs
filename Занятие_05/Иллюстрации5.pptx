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68"/>
  </p:notesMasterIdLst>
  <p:sldIdLst>
    <p:sldId id="295" r:id="rId2"/>
    <p:sldId id="343" r:id="rId3"/>
    <p:sldId id="310" r:id="rId4"/>
    <p:sldId id="344" r:id="rId5"/>
    <p:sldId id="345" r:id="rId6"/>
    <p:sldId id="346" r:id="rId7"/>
    <p:sldId id="347" r:id="rId8"/>
    <p:sldId id="348" r:id="rId9"/>
    <p:sldId id="349" r:id="rId10"/>
    <p:sldId id="350" r:id="rId11"/>
    <p:sldId id="351" r:id="rId12"/>
    <p:sldId id="352" r:id="rId13"/>
    <p:sldId id="353" r:id="rId14"/>
    <p:sldId id="354" r:id="rId15"/>
    <p:sldId id="355" r:id="rId16"/>
    <p:sldId id="356" r:id="rId17"/>
    <p:sldId id="324" r:id="rId18"/>
    <p:sldId id="325" r:id="rId19"/>
    <p:sldId id="326" r:id="rId20"/>
    <p:sldId id="327" r:id="rId21"/>
    <p:sldId id="328" r:id="rId22"/>
    <p:sldId id="329" r:id="rId23"/>
    <p:sldId id="330" r:id="rId24"/>
    <p:sldId id="331" r:id="rId25"/>
    <p:sldId id="332" r:id="rId26"/>
    <p:sldId id="333" r:id="rId27"/>
    <p:sldId id="334" r:id="rId28"/>
    <p:sldId id="335" r:id="rId29"/>
    <p:sldId id="336" r:id="rId30"/>
    <p:sldId id="337" r:id="rId31"/>
    <p:sldId id="338" r:id="rId32"/>
    <p:sldId id="339" r:id="rId33"/>
    <p:sldId id="340" r:id="rId34"/>
    <p:sldId id="341" r:id="rId35"/>
    <p:sldId id="342" r:id="rId36"/>
    <p:sldId id="301" r:id="rId37"/>
    <p:sldId id="311" r:id="rId38"/>
    <p:sldId id="304" r:id="rId39"/>
    <p:sldId id="357" r:id="rId40"/>
    <p:sldId id="358" r:id="rId41"/>
    <p:sldId id="361" r:id="rId42"/>
    <p:sldId id="359" r:id="rId43"/>
    <p:sldId id="360" r:id="rId44"/>
    <p:sldId id="363" r:id="rId45"/>
    <p:sldId id="305" r:id="rId46"/>
    <p:sldId id="312" r:id="rId47"/>
    <p:sldId id="364" r:id="rId48"/>
    <p:sldId id="365" r:id="rId49"/>
    <p:sldId id="366" r:id="rId50"/>
    <p:sldId id="313" r:id="rId51"/>
    <p:sldId id="314" r:id="rId52"/>
    <p:sldId id="315" r:id="rId53"/>
    <p:sldId id="316" r:id="rId54"/>
    <p:sldId id="317" r:id="rId55"/>
    <p:sldId id="318" r:id="rId56"/>
    <p:sldId id="319" r:id="rId57"/>
    <p:sldId id="320" r:id="rId58"/>
    <p:sldId id="321" r:id="rId59"/>
    <p:sldId id="322" r:id="rId60"/>
    <p:sldId id="323" r:id="rId61"/>
    <p:sldId id="293" r:id="rId62"/>
    <p:sldId id="294" r:id="rId63"/>
    <p:sldId id="296" r:id="rId64"/>
    <p:sldId id="297" r:id="rId65"/>
    <p:sldId id="298" r:id="rId66"/>
    <p:sldId id="362" r:id="rId67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F77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Средний стиль 2 -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Средний стиль 2 -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Средний стиль 2 -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743" autoAdjust="0"/>
    <p:restoredTop sz="94660"/>
  </p:normalViewPr>
  <p:slideViewPr>
    <p:cSldViewPr>
      <p:cViewPr varScale="1">
        <p:scale>
          <a:sx n="99" d="100"/>
          <a:sy n="99" d="100"/>
        </p:scale>
        <p:origin x="108" y="276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74" d="100"/>
        <a:sy n="74" d="100"/>
      </p:scale>
      <p:origin x="0" y="-423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9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ugeniy sizov" userId="f166da1dfb7bc990" providerId="LiveId" clId="{BE061D1A-3A38-487A-8400-76A8E26A331D}"/>
    <pc:docChg chg="custSel modSld">
      <pc:chgData name="eugeniy sizov" userId="f166da1dfb7bc990" providerId="LiveId" clId="{BE061D1A-3A38-487A-8400-76A8E26A331D}" dt="2018-08-08T08:08:13.868" v="30" actId="1076"/>
      <pc:docMkLst>
        <pc:docMk/>
      </pc:docMkLst>
      <pc:sldChg chg="modSp">
        <pc:chgData name="eugeniy sizov" userId="f166da1dfb7bc990" providerId="LiveId" clId="{BE061D1A-3A38-487A-8400-76A8E26A331D}" dt="2018-08-08T08:08:13.868" v="30" actId="1076"/>
        <pc:sldMkLst>
          <pc:docMk/>
          <pc:sldMk cId="1368418178" sldId="299"/>
        </pc:sldMkLst>
        <pc:spChg chg="mod">
          <ac:chgData name="eugeniy sizov" userId="f166da1dfb7bc990" providerId="LiveId" clId="{BE061D1A-3A38-487A-8400-76A8E26A331D}" dt="2018-08-08T08:08:07.552" v="28" actId="1076"/>
          <ac:spMkLst>
            <pc:docMk/>
            <pc:sldMk cId="1368418178" sldId="299"/>
            <ac:spMk id="20" creationId="{00000000-0000-0000-0000-000000000000}"/>
          </ac:spMkLst>
        </pc:spChg>
        <pc:spChg chg="mod">
          <ac:chgData name="eugeniy sizov" userId="f166da1dfb7bc990" providerId="LiveId" clId="{BE061D1A-3A38-487A-8400-76A8E26A331D}" dt="2018-08-08T08:08:13.868" v="30" actId="1076"/>
          <ac:spMkLst>
            <pc:docMk/>
            <pc:sldMk cId="1368418178" sldId="299"/>
            <ac:spMk id="21" creationId="{00000000-0000-0000-0000-000000000000}"/>
          </ac:spMkLst>
        </pc:spChg>
        <pc:graphicFrameChg chg="modGraphic">
          <ac:chgData name="eugeniy sizov" userId="f166da1dfb7bc990" providerId="LiveId" clId="{BE061D1A-3A38-487A-8400-76A8E26A331D}" dt="2018-08-08T08:07:34.587" v="24" actId="20577"/>
          <ac:graphicFrameMkLst>
            <pc:docMk/>
            <pc:sldMk cId="1368418178" sldId="299"/>
            <ac:graphicFrameMk id="4" creationId="{00000000-0000-0000-0000-000000000000}"/>
          </ac:graphicFrameMkLst>
        </pc:graphicFrameChg>
        <pc:graphicFrameChg chg="modGraphic">
          <ac:chgData name="eugeniy sizov" userId="f166da1dfb7bc990" providerId="LiveId" clId="{BE061D1A-3A38-487A-8400-76A8E26A331D}" dt="2018-08-08T08:07:59.405" v="27" actId="207"/>
          <ac:graphicFrameMkLst>
            <pc:docMk/>
            <pc:sldMk cId="1368418178" sldId="299"/>
            <ac:graphicFrameMk id="5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6B156D-E048-478A-9FAC-BB7875D640EE}" type="datetimeFigureOut">
              <a:rPr lang="ru-RU" smtClean="0"/>
              <a:pPr/>
              <a:t>29.09.2020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4CF084-A553-48E6-90BE-C65AE5850BE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44735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9388" y="548679"/>
            <a:ext cx="8784000" cy="720081"/>
          </a:xfrm>
        </p:spPr>
        <p:txBody>
          <a:bodyPr/>
          <a:lstStyle>
            <a:lvl1pPr algn="ctr">
              <a:defRPr sz="3200" baseline="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79388" y="1293839"/>
            <a:ext cx="8782050" cy="222339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0070C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2871958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0821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340768"/>
            <a:ext cx="3954090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8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Рисунок 2"/>
          <p:cNvSpPr>
            <a:spLocks noGrp="1"/>
          </p:cNvSpPr>
          <p:nvPr>
            <p:ph type="pic" idx="10"/>
          </p:nvPr>
        </p:nvSpPr>
        <p:spPr>
          <a:xfrm>
            <a:off x="4314207" y="1340768"/>
            <a:ext cx="4629150" cy="48965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669865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rgbClr val="FF0000"/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rgbClr val="0070C0"/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74651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48117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593789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4788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74788" y="1268680"/>
            <a:ext cx="8784000" cy="496863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081096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02500-B44B-4B16-A7F5-4E45509C7207}" type="datetimeFigureOut">
              <a:rPr lang="ru-RU" smtClean="0"/>
              <a:pPr/>
              <a:t>29.09.2020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6672B5-37F5-4110-B80E-7517DB5B5DA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1925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02500-B44B-4B16-A7F5-4E45509C7207}" type="datetimeFigureOut">
              <a:rPr lang="ru-RU" smtClean="0"/>
              <a:pPr/>
              <a:t>29.09.2020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6672B5-37F5-4110-B80E-7517DB5B5DA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79690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7779482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340768"/>
            <a:ext cx="4386138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Содержимое 2"/>
          <p:cNvSpPr>
            <a:spLocks noGrp="1"/>
          </p:cNvSpPr>
          <p:nvPr>
            <p:ph idx="10"/>
          </p:nvPr>
        </p:nvSpPr>
        <p:spPr>
          <a:xfrm>
            <a:off x="4644008" y="1340768"/>
            <a:ext cx="4306779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280418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Группа 3"/>
          <p:cNvGrpSpPr>
            <a:grpSpLocks/>
          </p:cNvGrpSpPr>
          <p:nvPr/>
        </p:nvGrpSpPr>
        <p:grpSpPr bwMode="auto">
          <a:xfrm>
            <a:off x="185738" y="549275"/>
            <a:ext cx="8784000" cy="0"/>
            <a:chOff x="185862" y="620688"/>
            <a:chExt cx="8775700" cy="0"/>
          </a:xfrm>
        </p:grpSpPr>
        <p:cxnSp>
          <p:nvCxnSpPr>
            <p:cNvPr id="16" name="Прямая соединительная линия 15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/>
            <p:cNvCxnSpPr/>
            <p:nvPr/>
          </p:nvCxnSpPr>
          <p:spPr>
            <a:xfrm>
              <a:off x="185862" y="620688"/>
              <a:ext cx="2522537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188119" y="571977"/>
            <a:ext cx="8784000" cy="5487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Номер слайда 5"/>
          <p:cNvSpPr txBox="1">
            <a:spLocks/>
          </p:cNvSpPr>
          <p:nvPr/>
        </p:nvSpPr>
        <p:spPr>
          <a:xfrm>
            <a:off x="-93663" y="6310313"/>
            <a:ext cx="949326" cy="293687"/>
          </a:xfrm>
          <a:prstGeom prst="rect">
            <a:avLst/>
          </a:prstGeom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defRPr/>
            </a:pPr>
            <a:fld id="{84FD9DA7-1D53-4DDE-8D05-49E2417E29ED}" type="slidenum">
              <a:rPr lang="ru-RU" sz="1600" smtClean="0">
                <a:solidFill>
                  <a:srgbClr val="0066CC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pPr algn="r">
                <a:defRPr/>
              </a:pPr>
              <a:t>‹#›</a:t>
            </a:fld>
            <a:r>
              <a:rPr lang="ru-RU" sz="1600" dirty="0" smtClean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/</a:t>
            </a:r>
            <a:r>
              <a:rPr lang="ru-RU" sz="1600" dirty="0" smtClean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66</a:t>
            </a:r>
            <a:endParaRPr lang="ru-RU" sz="1600" dirty="0">
              <a:solidFill>
                <a:srgbClr val="FF000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1029" name="Группа 17"/>
          <p:cNvGrpSpPr>
            <a:grpSpLocks/>
          </p:cNvGrpSpPr>
          <p:nvPr/>
        </p:nvGrpSpPr>
        <p:grpSpPr bwMode="auto">
          <a:xfrm>
            <a:off x="185738" y="6604000"/>
            <a:ext cx="6402387" cy="180975"/>
            <a:chOff x="185862" y="620688"/>
            <a:chExt cx="8775700" cy="0"/>
          </a:xfrm>
        </p:grpSpPr>
        <p:cxnSp>
          <p:nvCxnSpPr>
            <p:cNvPr id="19" name="Прямая соединительная линия 18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Прямая соединительная линия 19"/>
            <p:cNvCxnSpPr/>
            <p:nvPr/>
          </p:nvCxnSpPr>
          <p:spPr>
            <a:xfrm>
              <a:off x="185862" y="620688"/>
              <a:ext cx="2521952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30" name="Рисунок 1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2588" y="6310313"/>
            <a:ext cx="2224087" cy="411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</p:spTree>
    <p:extLst>
      <p:ext uri="{BB962C8B-B14F-4D97-AF65-F5344CB8AC3E}">
        <p14:creationId xmlns:p14="http://schemas.microsoft.com/office/powerpoint/2010/main" val="2367814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</p:sldLayoutIdLst>
  <p:timing>
    <p:tnLst>
      <p:par>
        <p:cTn id="1" dur="indefinite" restart="never" nodeType="tmRoot"/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sz="3200" b="1" kern="1200">
          <a:ln>
            <a:solidFill>
              <a:schemeClr val="bg1"/>
            </a:solidFill>
          </a:ln>
          <a:gradFill>
            <a:gsLst>
              <a:gs pos="55000">
                <a:srgbClr val="F50516"/>
              </a:gs>
              <a:gs pos="86000">
                <a:srgbClr val="C00000"/>
              </a:gs>
            </a:gsLst>
            <a:lin ang="5400000" scaled="0"/>
          </a:gradFill>
          <a:effectLst>
            <a:outerShdw blurRad="38100" dist="38100" dir="5400000" algn="ctr" rotWithShape="0">
              <a:schemeClr val="bg1">
                <a:lumMod val="50000"/>
              </a:schemeClr>
            </a:outerShdw>
          </a:effectLst>
          <a:latin typeface="Arial Black" pitchFamily="34" charset="0"/>
          <a:ea typeface="Verdana" pitchFamily="34" charset="0"/>
          <a:cs typeface="Verdana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00000"/>
        </a:buClr>
        <a:defRPr sz="28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Blip>
          <a:blip r:embed="rId13"/>
        </a:buBlip>
        <a:defRPr sz="2800" b="1" kern="1200">
          <a:solidFill>
            <a:srgbClr val="FF0000"/>
          </a:solidFill>
          <a:latin typeface="Tahoma" pitchFamily="34" charset="0"/>
          <a:ea typeface="Tahoma" pitchFamily="34" charset="0"/>
          <a:cs typeface="Tahoma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Blip>
          <a:blip r:embed="rId14"/>
        </a:buBlip>
        <a:defRPr sz="20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b="1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Arial" panose="020B0604020202020204" pitchFamily="34" charset="0"/>
        <a:buChar char="•"/>
        <a:defRPr sz="1600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23.xml"/><Relationship Id="rId2" Type="http://schemas.openxmlformats.org/officeDocument/2006/relationships/slide" Target="slide18.xml"/><Relationship Id="rId1" Type="http://schemas.openxmlformats.org/officeDocument/2006/relationships/slideLayout" Target="../slideLayouts/slideLayout8.xml"/><Relationship Id="rId4" Type="http://schemas.openxmlformats.org/officeDocument/2006/relationships/slide" Target="slide2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" Target="slide6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slide" Target="slide49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Занятие 5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ru-RU" dirty="0" smtClean="0"/>
              <a:t>Проведение </a:t>
            </a:r>
            <a:r>
              <a:rPr lang="ru-RU" dirty="0" smtClean="0"/>
              <a:t>документа</a:t>
            </a:r>
            <a:endParaRPr lang="en-US" dirty="0" smtClean="0"/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ru-RU" dirty="0" smtClean="0"/>
              <a:t>Команды</a:t>
            </a:r>
            <a:endParaRPr lang="ru-RU" dirty="0" smtClean="0"/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ru-RU" dirty="0" smtClean="0"/>
              <a:t>Запросы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09292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5862" y="1268681"/>
            <a:ext cx="8784000" cy="2088312"/>
          </a:xfrm>
        </p:spPr>
        <p:txBody>
          <a:bodyPr/>
          <a:lstStyle/>
          <a:p>
            <a:r>
              <a:rPr lang="ru-RU" dirty="0"/>
              <a:t>При проведении документа «Приказ о приеме» перемещать принятого сотрудника из папки «Кандидаты» в папку «Работающие». 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776" y="3068960"/>
            <a:ext cx="6264696" cy="2971156"/>
          </a:xfrm>
          <a:prstGeom prst="rect">
            <a:avLst/>
          </a:prstGeom>
        </p:spPr>
      </p:pic>
      <p:sp>
        <p:nvSpPr>
          <p:cNvPr id="5" name="Развернутая стрелка 4"/>
          <p:cNvSpPr/>
          <p:nvPr/>
        </p:nvSpPr>
        <p:spPr>
          <a:xfrm rot="5400000" flipV="1">
            <a:off x="1860386" y="4815234"/>
            <a:ext cx="1498793" cy="684076"/>
          </a:xfrm>
          <a:prstGeom prst="uturnArrow">
            <a:avLst>
              <a:gd name="adj1" fmla="val 13206"/>
              <a:gd name="adj2" fmla="val 23034"/>
              <a:gd name="adj3" fmla="val 25000"/>
              <a:gd name="adj4" fmla="val 43750"/>
              <a:gd name="adj5" fmla="val 75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77422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Объектная модель доступа к данным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27584" y="1844824"/>
            <a:ext cx="20882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Документы менеджер</a:t>
            </a: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827584" y="2996952"/>
            <a:ext cx="2088232" cy="72008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менеджер</a:t>
            </a: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803077" y="4149080"/>
            <a:ext cx="2088232" cy="72008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Ссылка</a:t>
            </a:r>
          </a:p>
        </p:txBody>
      </p:sp>
      <p:sp>
        <p:nvSpPr>
          <p:cNvPr id="9" name="Стрелка вниз 8"/>
          <p:cNvSpPr/>
          <p:nvPr/>
        </p:nvSpPr>
        <p:spPr>
          <a:xfrm>
            <a:off x="1691680" y="2564904"/>
            <a:ext cx="288032" cy="43204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низ 9"/>
          <p:cNvSpPr/>
          <p:nvPr/>
        </p:nvSpPr>
        <p:spPr>
          <a:xfrm>
            <a:off x="1686073" y="3717032"/>
            <a:ext cx="288032" cy="432048"/>
          </a:xfrm>
          <a:prstGeom prst="down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3347864" y="1844824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Из какого списка документов будем читать информацию?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7864" y="2996952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Поиск ссылки на нужный объект базы данных.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7864" y="4149080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dirty="0"/>
              <a:t>Идентификация объекта базы данных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Чтение данных нужного объекта базы данных</a:t>
            </a:r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827584" y="5296346"/>
            <a:ext cx="2088232" cy="72008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Документ объект</a:t>
            </a:r>
          </a:p>
        </p:txBody>
      </p:sp>
      <p:sp>
        <p:nvSpPr>
          <p:cNvPr id="15" name="Стрелка вниз 14"/>
          <p:cNvSpPr/>
          <p:nvPr/>
        </p:nvSpPr>
        <p:spPr>
          <a:xfrm>
            <a:off x="1710580" y="4864298"/>
            <a:ext cx="288032" cy="432048"/>
          </a:xfrm>
          <a:prstGeom prst="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/>
          <p:cNvSpPr txBox="1"/>
          <p:nvPr/>
        </p:nvSpPr>
        <p:spPr>
          <a:xfrm>
            <a:off x="3366765" y="5296346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Запись, изменение и удаление объекта базы данных.</a:t>
            </a:r>
          </a:p>
        </p:txBody>
      </p:sp>
    </p:spTree>
    <p:extLst>
      <p:ext uri="{BB962C8B-B14F-4D97-AF65-F5344CB8AC3E}">
        <p14:creationId xmlns:p14="http://schemas.microsoft.com/office/powerpoint/2010/main" val="79089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00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/>
      <p:bldP spid="12" grpId="0"/>
      <p:bldP spid="13" grpId="0"/>
      <p:bldP spid="14" grpId="0" animBg="1"/>
      <p:bldP spid="15" grpId="0" animBg="1"/>
      <p:bldP spid="1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8417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3518321" y="3301383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Документ Объект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2942424" y="4444609"/>
            <a:ext cx="1649781" cy="504000"/>
          </a:xfrm>
          <a:prstGeom prst="borderCallout3">
            <a:avLst>
              <a:gd name="adj1" fmla="val -11912"/>
              <a:gd name="adj2" fmla="val 14468"/>
              <a:gd name="adj3" fmla="val -82112"/>
              <a:gd name="adj4" fmla="val -541"/>
              <a:gd name="adj5" fmla="val -198615"/>
              <a:gd name="adj6" fmla="val 16744"/>
              <a:gd name="adj7" fmla="val -176688"/>
              <a:gd name="adj8" fmla="val 54143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35" name="Прямая со стрелкой 34"/>
          <p:cNvCxnSpPr/>
          <p:nvPr/>
        </p:nvCxnSpPr>
        <p:spPr>
          <a:xfrm flipH="1">
            <a:off x="5364088" y="4338962"/>
            <a:ext cx="11679" cy="128695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5679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3518321" y="3301383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Документ Объект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2942424" y="4444609"/>
            <a:ext cx="1649781" cy="504000"/>
          </a:xfrm>
          <a:prstGeom prst="borderCallout3">
            <a:avLst>
              <a:gd name="adj1" fmla="val -11912"/>
              <a:gd name="adj2" fmla="val 14468"/>
              <a:gd name="adj3" fmla="val -82112"/>
              <a:gd name="adj4" fmla="val -541"/>
              <a:gd name="adj5" fmla="val -198615"/>
              <a:gd name="adj6" fmla="val 16744"/>
              <a:gd name="adj7" fmla="val -176688"/>
              <a:gd name="adj8" fmla="val 54143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34" name="Прямая со стрелкой 33"/>
          <p:cNvCxnSpPr/>
          <p:nvPr/>
        </p:nvCxnSpPr>
        <p:spPr>
          <a:xfrm>
            <a:off x="5868144" y="3429000"/>
            <a:ext cx="602505" cy="0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4808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068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>
            <a:off x="8532440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9188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8310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>
            <a:off x="8532440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4530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3518321" y="3301383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Документ Объект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2942424" y="4444609"/>
            <a:ext cx="1649781" cy="504000"/>
          </a:xfrm>
          <a:prstGeom prst="borderCallout3">
            <a:avLst>
              <a:gd name="adj1" fmla="val -11912"/>
              <a:gd name="adj2" fmla="val 14468"/>
              <a:gd name="adj3" fmla="val -82112"/>
              <a:gd name="adj4" fmla="val -541"/>
              <a:gd name="adj5" fmla="val -198615"/>
              <a:gd name="adj6" fmla="val 16744"/>
              <a:gd name="adj7" fmla="val -176688"/>
              <a:gd name="adj8" fmla="val 54143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34" name="Прямая со стрелкой 33"/>
          <p:cNvCxnSpPr/>
          <p:nvPr/>
        </p:nvCxnSpPr>
        <p:spPr>
          <a:xfrm>
            <a:off x="5868144" y="3429000"/>
            <a:ext cx="602505" cy="0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0124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3518321" y="3301383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Документ Объект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2942424" y="4444609"/>
            <a:ext cx="1649781" cy="504000"/>
          </a:xfrm>
          <a:prstGeom prst="borderCallout3">
            <a:avLst>
              <a:gd name="adj1" fmla="val -11912"/>
              <a:gd name="adj2" fmla="val 14468"/>
              <a:gd name="adj3" fmla="val -82112"/>
              <a:gd name="adj4" fmla="val -541"/>
              <a:gd name="adj5" fmla="val -198615"/>
              <a:gd name="adj6" fmla="val 16744"/>
              <a:gd name="adj7" fmla="val -176688"/>
              <a:gd name="adj8" fmla="val 54143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35" name="Прямая со стрелкой 34"/>
          <p:cNvCxnSpPr/>
          <p:nvPr/>
        </p:nvCxnSpPr>
        <p:spPr>
          <a:xfrm flipH="1">
            <a:off x="5364088" y="4338962"/>
            <a:ext cx="11679" cy="128695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8065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6046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3518321" y="3301383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Документ Объект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 1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 2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3537587" y="4731353"/>
            <a:ext cx="1649781" cy="504000"/>
          </a:xfrm>
          <a:prstGeom prst="borderCallout3">
            <a:avLst>
              <a:gd name="adj1" fmla="val -11912"/>
              <a:gd name="adj2" fmla="val 14468"/>
              <a:gd name="adj3" fmla="val -35529"/>
              <a:gd name="adj4" fmla="val 71363"/>
              <a:gd name="adj5" fmla="val -93190"/>
              <a:gd name="adj6" fmla="val 95388"/>
              <a:gd name="adj7" fmla="val -144815"/>
              <a:gd name="adj8" fmla="val 81107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>
            <a:off x="8532440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 стрелкой 33"/>
          <p:cNvCxnSpPr/>
          <p:nvPr/>
        </p:nvCxnSpPr>
        <p:spPr>
          <a:xfrm>
            <a:off x="5868144" y="3429000"/>
            <a:ext cx="602505" cy="0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 стрелкой 34"/>
          <p:cNvCxnSpPr/>
          <p:nvPr/>
        </p:nvCxnSpPr>
        <p:spPr>
          <a:xfrm flipH="1">
            <a:off x="5364088" y="4338962"/>
            <a:ext cx="11679" cy="128695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3647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3518321" y="3301383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Документ Объект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 1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 2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3537587" y="4731353"/>
            <a:ext cx="1649781" cy="504000"/>
          </a:xfrm>
          <a:prstGeom prst="borderCallout3">
            <a:avLst>
              <a:gd name="adj1" fmla="val -11912"/>
              <a:gd name="adj2" fmla="val 14468"/>
              <a:gd name="adj3" fmla="val -35529"/>
              <a:gd name="adj4" fmla="val 71363"/>
              <a:gd name="adj5" fmla="val -93190"/>
              <a:gd name="adj6" fmla="val 95388"/>
              <a:gd name="adj7" fmla="val -144815"/>
              <a:gd name="adj8" fmla="val 81107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>
            <a:off x="8532440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 стрелкой 33"/>
          <p:cNvCxnSpPr/>
          <p:nvPr/>
        </p:nvCxnSpPr>
        <p:spPr>
          <a:xfrm>
            <a:off x="5868144" y="3429000"/>
            <a:ext cx="602505" cy="0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 стрелкой 34"/>
          <p:cNvCxnSpPr/>
          <p:nvPr/>
        </p:nvCxnSpPr>
        <p:spPr>
          <a:xfrm flipH="1">
            <a:off x="5364088" y="4338962"/>
            <a:ext cx="11679" cy="128695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Блок-схема: альтернативный процесс 13"/>
          <p:cNvSpPr/>
          <p:nvPr/>
        </p:nvSpPr>
        <p:spPr>
          <a:xfrm>
            <a:off x="514064" y="1090364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 2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5" name="Блок-схема: альтернативный процесс 14"/>
          <p:cNvSpPr/>
          <p:nvPr/>
        </p:nvSpPr>
        <p:spPr>
          <a:xfrm>
            <a:off x="559631" y="3666253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 2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7" name="Выноска 3 16"/>
          <p:cNvSpPr/>
          <p:nvPr/>
        </p:nvSpPr>
        <p:spPr>
          <a:xfrm>
            <a:off x="575436" y="2183532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18" name="Выноска 3 17"/>
          <p:cNvSpPr/>
          <p:nvPr/>
        </p:nvSpPr>
        <p:spPr>
          <a:xfrm>
            <a:off x="575436" y="473135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20" name="Прямая со стрелкой 19"/>
          <p:cNvCxnSpPr/>
          <p:nvPr/>
        </p:nvCxnSpPr>
        <p:spPr>
          <a:xfrm>
            <a:off x="2575855" y="2098476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 стрелкой 20"/>
          <p:cNvCxnSpPr/>
          <p:nvPr/>
        </p:nvCxnSpPr>
        <p:spPr>
          <a:xfrm>
            <a:off x="2915816" y="4005064"/>
            <a:ext cx="602505" cy="0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4073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3518321" y="3301383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Документ Объект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 1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 2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3537587" y="4731353"/>
            <a:ext cx="1649781" cy="504000"/>
          </a:xfrm>
          <a:prstGeom prst="borderCallout3">
            <a:avLst>
              <a:gd name="adj1" fmla="val -11912"/>
              <a:gd name="adj2" fmla="val 87869"/>
              <a:gd name="adj3" fmla="val -45336"/>
              <a:gd name="adj4" fmla="val 100574"/>
              <a:gd name="adj5" fmla="val -93190"/>
              <a:gd name="adj6" fmla="val 95388"/>
              <a:gd name="adj7" fmla="val -144815"/>
              <a:gd name="adj8" fmla="val 81107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>
            <a:off x="8532440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 стрелкой 33"/>
          <p:cNvCxnSpPr/>
          <p:nvPr/>
        </p:nvCxnSpPr>
        <p:spPr>
          <a:xfrm>
            <a:off x="5868144" y="3429000"/>
            <a:ext cx="602505" cy="0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 стрелкой 34"/>
          <p:cNvCxnSpPr/>
          <p:nvPr/>
        </p:nvCxnSpPr>
        <p:spPr>
          <a:xfrm flipH="1">
            <a:off x="5364088" y="4338962"/>
            <a:ext cx="11679" cy="128695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Выноска 1 21"/>
          <p:cNvSpPr/>
          <p:nvPr/>
        </p:nvSpPr>
        <p:spPr>
          <a:xfrm>
            <a:off x="631331" y="3933056"/>
            <a:ext cx="2304256" cy="1399386"/>
          </a:xfrm>
          <a:prstGeom prst="borderCallout1">
            <a:avLst>
              <a:gd name="adj1" fmla="val 34639"/>
              <a:gd name="adj2" fmla="val 102410"/>
              <a:gd name="adj3" fmla="val 52558"/>
              <a:gd name="adj4" fmla="val 120558"/>
            </a:avLst>
          </a:prstGeom>
          <a:ln>
            <a:headEnd type="none"/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Здесь, вместе с записью документа, будем изменять данные справочника «Сотрудники»</a:t>
            </a:r>
          </a:p>
        </p:txBody>
      </p:sp>
    </p:spTree>
    <p:extLst>
      <p:ext uri="{BB962C8B-B14F-4D97-AF65-F5344CB8AC3E}">
        <p14:creationId xmlns:p14="http://schemas.microsoft.com/office/powerpoint/2010/main" val="1474456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События записи документ объекта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Три режима записи: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>
                <a:hlinkClick r:id="rId2" action="ppaction://hlinksldjump"/>
              </a:rPr>
              <a:t>Запись</a:t>
            </a:r>
            <a:endParaRPr lang="ru-RU" dirty="0"/>
          </a:p>
          <a:p>
            <a:pPr marL="457200" indent="-457200">
              <a:buFont typeface="+mj-lt"/>
              <a:buAutoNum type="arabicPeriod"/>
            </a:pPr>
            <a:r>
              <a:rPr lang="ru-RU" dirty="0">
                <a:hlinkClick r:id="rId3" action="ppaction://hlinksldjump"/>
              </a:rPr>
              <a:t>Проведение</a:t>
            </a:r>
            <a:endParaRPr lang="ru-RU" dirty="0"/>
          </a:p>
          <a:p>
            <a:pPr marL="457200" indent="-457200">
              <a:buFont typeface="+mj-lt"/>
              <a:buAutoNum type="arabicPeriod"/>
            </a:pPr>
            <a:r>
              <a:rPr lang="ru-RU" dirty="0">
                <a:hlinkClick r:id="rId4" action="ppaction://hlinksldjump"/>
              </a:rPr>
              <a:t>Отмена проведения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137180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5862" y="1484784"/>
            <a:ext cx="8784000" cy="4752527"/>
          </a:xfrm>
        </p:spPr>
        <p:txBody>
          <a:bodyPr/>
          <a:lstStyle/>
          <a:p>
            <a:r>
              <a:rPr lang="ru-RU" dirty="0"/>
              <a:t>Начало транзакции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dirty="0"/>
              <a:t>Перед записью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dirty="0"/>
              <a:t>При записи</a:t>
            </a:r>
          </a:p>
          <a:p>
            <a:r>
              <a:rPr lang="ru-RU" dirty="0"/>
              <a:t>Окончание транзакции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864096"/>
          </a:xfrm>
        </p:spPr>
        <p:txBody>
          <a:bodyPr/>
          <a:lstStyle/>
          <a:p>
            <a:r>
              <a:rPr lang="ru-RU" dirty="0"/>
              <a:t>Последовательность событий записи документа</a:t>
            </a:r>
          </a:p>
        </p:txBody>
      </p:sp>
    </p:spTree>
    <p:extLst>
      <p:ext uri="{BB962C8B-B14F-4D97-AF65-F5344CB8AC3E}">
        <p14:creationId xmlns:p14="http://schemas.microsoft.com/office/powerpoint/2010/main" val="23042431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События записи документа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3999" cy="115212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/>
        </p:nvGraphicFramePr>
        <p:xfrm>
          <a:off x="1024154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402499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837125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&lt;00000&gt;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522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1) ПЕРЕД ЗАПИСЬЮ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4000" cy="115212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915816" y="2636912"/>
            <a:ext cx="22919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Начало транзакции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985" y="3261240"/>
            <a:ext cx="6257925" cy="352425"/>
          </a:xfrm>
          <a:prstGeom prst="rect">
            <a:avLst/>
          </a:prstGeom>
        </p:spPr>
      </p:pic>
      <p:graphicFrame>
        <p:nvGraphicFramePr>
          <p:cNvPr id="8" name="Таблица 7"/>
          <p:cNvGraphicFramePr>
            <a:graphicFrameLocks noGrp="1"/>
          </p:cNvGraphicFramePr>
          <p:nvPr/>
        </p:nvGraphicFramePr>
        <p:xfrm>
          <a:off x="1024154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402499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837125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/>
          </p:nvPr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&lt;00000&gt;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5729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7" presetClass="emph" presetSubtype="0" repeatCount="3000" fill="remove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1" dur="5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2" dur="5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3" dur="5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" grpId="0"/>
      <p:bldP spid="2" grpId="1"/>
      <p:bldP spid="2" grpId="2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2) ПРИ ЗАПИСИ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4000" cy="115212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sp>
        <p:nvSpPr>
          <p:cNvPr id="3" name="Развернутая стрелка 2"/>
          <p:cNvSpPr/>
          <p:nvPr/>
        </p:nvSpPr>
        <p:spPr>
          <a:xfrm rot="5400000">
            <a:off x="6520031" y="3681028"/>
            <a:ext cx="3312368" cy="504056"/>
          </a:xfrm>
          <a:prstGeom prst="utur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3568" y="5684395"/>
            <a:ext cx="8136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i="1" u="sng" dirty="0"/>
              <a:t>Примечание:</a:t>
            </a:r>
            <a:r>
              <a:rPr lang="ru-RU" dirty="0"/>
              <a:t> </a:t>
            </a:r>
            <a:r>
              <a:rPr lang="ru-RU" sz="1400" i="1" dirty="0">
                <a:solidFill>
                  <a:srgbClr val="FF0000"/>
                </a:solidFill>
              </a:rPr>
              <a:t>в момент первой записи объекта базы данных для него генерируется новая ссылка (потом </a:t>
            </a:r>
            <a:r>
              <a:rPr lang="ru-RU" sz="1400" b="1" i="1" dirty="0">
                <a:solidFill>
                  <a:srgbClr val="0070C0"/>
                </a:solidFill>
              </a:rPr>
              <a:t>нельзя</a:t>
            </a:r>
            <a:r>
              <a:rPr lang="ru-RU" sz="1400" i="1" dirty="0">
                <a:solidFill>
                  <a:srgbClr val="FF0000"/>
                </a:solidFill>
              </a:rPr>
              <a:t> исправить) и новый номер (потом можно исправить).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895" y="3341296"/>
            <a:ext cx="2895600" cy="276225"/>
          </a:xfrm>
          <a:prstGeom prst="rect">
            <a:avLst/>
          </a:prstGeom>
        </p:spPr>
      </p:pic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1024153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555704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683920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/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000003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4076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7" presetClass="emph" presetSubtype="0" repeatCount="3000" fill="remove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1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2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3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3" grpId="1" animBg="1"/>
      <p:bldP spid="3" grpId="2" animBg="1"/>
      <p:bldP spid="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2) ПРИ ЗАПИСИ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4000" cy="115212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1024153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555704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683920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/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000003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915816" y="2636912"/>
            <a:ext cx="244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Фиксация транзакции</a:t>
            </a:r>
          </a:p>
        </p:txBody>
      </p:sp>
    </p:spTree>
    <p:extLst>
      <p:ext uri="{BB962C8B-B14F-4D97-AF65-F5344CB8AC3E}">
        <p14:creationId xmlns:p14="http://schemas.microsoft.com/office/powerpoint/2010/main" val="163169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7" presetClass="emph" presetSubtype="0" repeatCount="3000" fill="remove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1" dur="50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2" dur="50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3" dur="50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2" grpId="0"/>
      <p:bldP spid="12" grpId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5862" y="1484784"/>
            <a:ext cx="8784000" cy="4752527"/>
          </a:xfrm>
        </p:spPr>
        <p:txBody>
          <a:bodyPr/>
          <a:lstStyle/>
          <a:p>
            <a:r>
              <a:rPr lang="ru-RU" dirty="0"/>
              <a:t>Начало транзакции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dirty="0"/>
              <a:t>Перед записью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dirty="0"/>
              <a:t>При записи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dirty="0"/>
              <a:t>Обработка проведения</a:t>
            </a:r>
          </a:p>
          <a:p>
            <a:r>
              <a:rPr lang="ru-RU" dirty="0"/>
              <a:t>Окончание транзакции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864096"/>
          </a:xfrm>
        </p:spPr>
        <p:txBody>
          <a:bodyPr/>
          <a:lstStyle/>
          <a:p>
            <a:r>
              <a:rPr lang="ru-RU" dirty="0"/>
              <a:t>Последовательность событий проведение документа</a:t>
            </a:r>
          </a:p>
        </p:txBody>
      </p:sp>
    </p:spTree>
    <p:extLst>
      <p:ext uri="{BB962C8B-B14F-4D97-AF65-F5344CB8AC3E}">
        <p14:creationId xmlns:p14="http://schemas.microsoft.com/office/powerpoint/2010/main" val="2204193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События </a:t>
            </a:r>
            <a:r>
              <a:rPr lang="ru-RU" dirty="0" smtClean="0"/>
              <a:t>проведения </a:t>
            </a:r>
            <a:r>
              <a:rPr lang="ru-RU" dirty="0"/>
              <a:t>документа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3999" cy="115212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6418288"/>
              </p:ext>
            </p:extLst>
          </p:nvPr>
        </p:nvGraphicFramePr>
        <p:xfrm>
          <a:off x="1024154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519544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034790"/>
              </p:ext>
            </p:extLst>
          </p:nvPr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&lt;00000&gt;</a:t>
                      </a:r>
                      <a:endParaRPr lang="ru-RU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Ложь</a:t>
                      </a:r>
                      <a:endParaRPr lang="ru-RU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2318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1) ПЕРЕД ЗАПИСЬЮ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4000" cy="115212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915816" y="2636912"/>
            <a:ext cx="22919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Начало транзакции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985" y="3261240"/>
            <a:ext cx="6257925" cy="352425"/>
          </a:xfrm>
          <a:prstGeom prst="rect">
            <a:avLst/>
          </a:prstGeom>
        </p:spPr>
      </p:pic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5738608"/>
              </p:ext>
            </p:extLst>
          </p:nvPr>
        </p:nvGraphicFramePr>
        <p:xfrm>
          <a:off x="1024154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519544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1853415"/>
              </p:ext>
            </p:extLst>
          </p:nvPr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&lt;00000&gt;</a:t>
                      </a:r>
                      <a:endParaRPr lang="ru-RU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2857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7" presetClass="emph" presetSubtype="0" repeatCount="3000" fill="remove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1" dur="5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2" dur="5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3" dur="5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" grpId="0"/>
      <p:bldP spid="2" grpId="1"/>
      <p:bldP spid="2" grpId="2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2) ПРИ ЗАПИСИ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4000" cy="115212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sp>
        <p:nvSpPr>
          <p:cNvPr id="3" name="Развернутая стрелка 2"/>
          <p:cNvSpPr/>
          <p:nvPr/>
        </p:nvSpPr>
        <p:spPr>
          <a:xfrm rot="5400000">
            <a:off x="6520031" y="3681028"/>
            <a:ext cx="3312368" cy="504056"/>
          </a:xfrm>
          <a:prstGeom prst="utur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3568" y="5684395"/>
            <a:ext cx="8136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i="1" u="sng" dirty="0"/>
              <a:t>Примечание:</a:t>
            </a:r>
            <a:r>
              <a:rPr lang="ru-RU" dirty="0"/>
              <a:t> </a:t>
            </a:r>
            <a:r>
              <a:rPr lang="ru-RU" sz="1400" i="1" dirty="0">
                <a:solidFill>
                  <a:srgbClr val="FF0000"/>
                </a:solidFill>
              </a:rPr>
              <a:t>в момент первой записи объекта базы данных для него генерируется новая ссылка (потом </a:t>
            </a:r>
            <a:r>
              <a:rPr lang="ru-RU" sz="1400" b="1" i="1" dirty="0">
                <a:solidFill>
                  <a:srgbClr val="0070C0"/>
                </a:solidFill>
              </a:rPr>
              <a:t>нельзя</a:t>
            </a:r>
            <a:r>
              <a:rPr lang="ru-RU" sz="1400" i="1" dirty="0">
                <a:solidFill>
                  <a:srgbClr val="FF0000"/>
                </a:solidFill>
              </a:rPr>
              <a:t> исправить) и новый номер (потом можно исправить).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895" y="3341296"/>
            <a:ext cx="2895600" cy="276225"/>
          </a:xfrm>
          <a:prstGeom prst="rect">
            <a:avLst/>
          </a:prstGeom>
        </p:spPr>
      </p:pic>
      <p:graphicFrame>
        <p:nvGraphicFramePr>
          <p:cNvPr id="10" name="Таблица 9"/>
          <p:cNvGraphicFramePr>
            <a:graphicFrameLocks noGrp="1"/>
          </p:cNvGraphicFramePr>
          <p:nvPr>
            <p:extLst/>
          </p:nvPr>
        </p:nvGraphicFramePr>
        <p:xfrm>
          <a:off x="1024153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555704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683920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>
            <p:extLst/>
          </p:nvPr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000003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770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7" presetClass="emph" presetSubtype="0" repeatCount="3000" fill="remove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1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2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3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3" grpId="1" animBg="1"/>
      <p:bldP spid="3" grpId="2" animBg="1"/>
      <p:bldP spid="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3) Обработка проведения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4000" cy="115212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260" y="3283199"/>
            <a:ext cx="5667375" cy="2476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5683" y="5704448"/>
            <a:ext cx="7848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i="1" u="sng" dirty="0"/>
              <a:t>Примечание:</a:t>
            </a:r>
            <a:r>
              <a:rPr lang="ru-RU" dirty="0"/>
              <a:t> </a:t>
            </a:r>
            <a:r>
              <a:rPr lang="ru-RU" sz="1400" i="1" dirty="0">
                <a:solidFill>
                  <a:srgbClr val="FF0000"/>
                </a:solidFill>
              </a:rPr>
              <a:t>Срабатывает </a:t>
            </a:r>
            <a:r>
              <a:rPr lang="ru-RU" sz="1400" b="1" i="1" dirty="0">
                <a:solidFill>
                  <a:srgbClr val="0070C0"/>
                </a:solidFill>
              </a:rPr>
              <a:t>только</a:t>
            </a:r>
            <a:r>
              <a:rPr lang="ru-RU" sz="1400" i="1" dirty="0">
                <a:solidFill>
                  <a:srgbClr val="FF0000"/>
                </a:solidFill>
              </a:rPr>
              <a:t> в случае записи документа в режиме </a:t>
            </a:r>
            <a:r>
              <a:rPr lang="ru-RU" sz="1400" b="1" i="1" dirty="0">
                <a:solidFill>
                  <a:srgbClr val="0070C0"/>
                </a:solidFill>
              </a:rPr>
              <a:t>проведения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/>
          </p:nvPr>
        </p:nvGraphicFramePr>
        <p:xfrm>
          <a:off x="1024153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555704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683920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>
            <p:extLst/>
          </p:nvPr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00000</a:t>
                      </a:r>
                      <a:r>
                        <a:rPr lang="en-US" dirty="0"/>
                        <a:t>3</a:t>
                      </a:r>
                      <a:endParaRPr lang="ru-RU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02952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3) Обработка проведения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4000" cy="115212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/>
        </p:nvGraphicFramePr>
        <p:xfrm>
          <a:off x="1024153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555704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683920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00000</a:t>
                      </a:r>
                      <a:r>
                        <a:rPr lang="en-US" dirty="0"/>
                        <a:t>3</a:t>
                      </a:r>
                      <a:endParaRPr lang="ru-RU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2915816" y="2636912"/>
            <a:ext cx="244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Фиксация транзакции</a:t>
            </a:r>
          </a:p>
        </p:txBody>
      </p:sp>
    </p:spTree>
    <p:extLst>
      <p:ext uri="{BB962C8B-B14F-4D97-AF65-F5344CB8AC3E}">
        <p14:creationId xmlns:p14="http://schemas.microsoft.com/office/powerpoint/2010/main" val="32466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7" presetClass="emph" presetSubtype="0" repeatCount="3000" fill="remove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autoRev="1" fill="remov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1" dur="500" autoRev="1" fill="remove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2" dur="500" autoRev="1" fill="remove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3" dur="500" autoRev="1" fill="remove"/>
                                        <p:tgtEl>
                                          <p:spTgt spid="1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1" grpId="0"/>
      <p:bldP spid="11" grpId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5862" y="1484784"/>
            <a:ext cx="8784000" cy="4752527"/>
          </a:xfrm>
        </p:spPr>
        <p:txBody>
          <a:bodyPr/>
          <a:lstStyle/>
          <a:p>
            <a:r>
              <a:rPr lang="ru-RU" dirty="0"/>
              <a:t>Начало транзакции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dirty="0"/>
              <a:t>Перед записью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dirty="0"/>
              <a:t>Обработка удаления проведениям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dirty="0"/>
              <a:t>При записи</a:t>
            </a:r>
          </a:p>
          <a:p>
            <a:r>
              <a:rPr lang="ru-RU" dirty="0"/>
              <a:t>Окончание транзакции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864096"/>
          </a:xfrm>
        </p:spPr>
        <p:txBody>
          <a:bodyPr/>
          <a:lstStyle/>
          <a:p>
            <a:r>
              <a:rPr lang="ru-RU" dirty="0"/>
              <a:t>Последовательность событий отмена проведения документа</a:t>
            </a:r>
          </a:p>
        </p:txBody>
      </p:sp>
    </p:spTree>
    <p:extLst>
      <p:ext uri="{BB962C8B-B14F-4D97-AF65-F5344CB8AC3E}">
        <p14:creationId xmlns:p14="http://schemas.microsoft.com/office/powerpoint/2010/main" val="19594604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События </a:t>
            </a:r>
            <a:r>
              <a:rPr lang="ru-RU" dirty="0" smtClean="0"/>
              <a:t>отмены проведения </a:t>
            </a:r>
            <a:r>
              <a:rPr lang="ru-RU" dirty="0"/>
              <a:t>документа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3999" cy="115212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/>
          </p:nvPr>
        </p:nvGraphicFramePr>
        <p:xfrm>
          <a:off x="1024154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519544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0115299"/>
              </p:ext>
            </p:extLst>
          </p:nvPr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Истина</a:t>
                      </a:r>
                      <a:endParaRPr lang="ru-RU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74741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1) ПЕРЕД ЗАПИСЬЮ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4000" cy="115212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915816" y="2636912"/>
            <a:ext cx="22919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Начало транзакции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985" y="3261240"/>
            <a:ext cx="6257925" cy="352425"/>
          </a:xfrm>
          <a:prstGeom prst="rect">
            <a:avLst/>
          </a:prstGeom>
        </p:spPr>
      </p:pic>
      <p:graphicFrame>
        <p:nvGraphicFramePr>
          <p:cNvPr id="8" name="Таблица 7"/>
          <p:cNvGraphicFramePr>
            <a:graphicFrameLocks noGrp="1"/>
          </p:cNvGraphicFramePr>
          <p:nvPr>
            <p:extLst/>
          </p:nvPr>
        </p:nvGraphicFramePr>
        <p:xfrm>
          <a:off x="1024154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591552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807563"/>
              </p:ext>
            </p:extLst>
          </p:nvPr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Истина</a:t>
                      </a:r>
                      <a:endParaRPr lang="ru-RU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2221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7" presetClass="emph" presetSubtype="0" repeatCount="3000" fill="remove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1" dur="5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2" dur="5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3" dur="5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" grpId="0"/>
      <p:bldP spid="2" grpId="1"/>
      <p:bldP spid="2" grpId="2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3) Обработка удаления проведения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4000" cy="115212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683" y="5704448"/>
            <a:ext cx="7848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i="1" u="sng" dirty="0"/>
              <a:t>Примечание:</a:t>
            </a:r>
            <a:r>
              <a:rPr lang="ru-RU" dirty="0"/>
              <a:t> </a:t>
            </a:r>
            <a:r>
              <a:rPr lang="ru-RU" sz="1400" i="1" dirty="0">
                <a:solidFill>
                  <a:srgbClr val="FF0000"/>
                </a:solidFill>
              </a:rPr>
              <a:t>Срабатывает </a:t>
            </a:r>
            <a:r>
              <a:rPr lang="ru-RU" sz="1400" b="1" i="1" dirty="0">
                <a:solidFill>
                  <a:srgbClr val="0070C0"/>
                </a:solidFill>
              </a:rPr>
              <a:t>только</a:t>
            </a:r>
            <a:r>
              <a:rPr lang="ru-RU" sz="1400" i="1" dirty="0">
                <a:solidFill>
                  <a:srgbClr val="FF0000"/>
                </a:solidFill>
              </a:rPr>
              <a:t> в случае записи документа в режиме </a:t>
            </a:r>
            <a:r>
              <a:rPr lang="ru-RU" sz="1400" b="1" i="1" dirty="0">
                <a:solidFill>
                  <a:srgbClr val="0070C0"/>
                </a:solidFill>
              </a:rPr>
              <a:t>отмена</a:t>
            </a:r>
            <a:r>
              <a:rPr lang="ru-RU" sz="1400" i="1" dirty="0">
                <a:solidFill>
                  <a:srgbClr val="FF0000"/>
                </a:solidFill>
              </a:rPr>
              <a:t> </a:t>
            </a:r>
            <a:r>
              <a:rPr lang="ru-RU" sz="1400" b="1" i="1" dirty="0">
                <a:solidFill>
                  <a:srgbClr val="0070C0"/>
                </a:solidFill>
              </a:rPr>
              <a:t>проведения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/>
          </p:nvPr>
        </p:nvGraphicFramePr>
        <p:xfrm>
          <a:off x="1024153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555704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683920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9858062"/>
              </p:ext>
            </p:extLst>
          </p:nvPr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Истина</a:t>
                      </a:r>
                      <a:endParaRPr lang="ru-RU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000003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  <p:pic>
        <p:nvPicPr>
          <p:cNvPr id="13" name="Рисунок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696" y="3284984"/>
            <a:ext cx="4657725" cy="219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4963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2) ПРИ ЗАПИСИ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4000" cy="115212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sp>
        <p:nvSpPr>
          <p:cNvPr id="3" name="Развернутая стрелка 2"/>
          <p:cNvSpPr/>
          <p:nvPr/>
        </p:nvSpPr>
        <p:spPr>
          <a:xfrm rot="5400000">
            <a:off x="6520031" y="3681028"/>
            <a:ext cx="3312368" cy="504056"/>
          </a:xfrm>
          <a:prstGeom prst="utur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3568" y="5684395"/>
            <a:ext cx="8136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i="1" u="sng" dirty="0"/>
              <a:t>Примечание:</a:t>
            </a:r>
            <a:r>
              <a:rPr lang="ru-RU" dirty="0"/>
              <a:t> </a:t>
            </a:r>
            <a:r>
              <a:rPr lang="ru-RU" sz="1400" i="1" dirty="0">
                <a:solidFill>
                  <a:srgbClr val="FF0000"/>
                </a:solidFill>
              </a:rPr>
              <a:t>в момент первой записи объекта базы данных для него генерируется новая ссылка (потом </a:t>
            </a:r>
            <a:r>
              <a:rPr lang="ru-RU" sz="1400" b="1" i="1" dirty="0">
                <a:solidFill>
                  <a:srgbClr val="0070C0"/>
                </a:solidFill>
              </a:rPr>
              <a:t>нельзя</a:t>
            </a:r>
            <a:r>
              <a:rPr lang="ru-RU" sz="1400" i="1" dirty="0">
                <a:solidFill>
                  <a:srgbClr val="FF0000"/>
                </a:solidFill>
              </a:rPr>
              <a:t> исправить) и новый номер (потом можно исправить).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895" y="3341296"/>
            <a:ext cx="2895600" cy="276225"/>
          </a:xfrm>
          <a:prstGeom prst="rect">
            <a:avLst/>
          </a:prstGeom>
        </p:spPr>
      </p:pic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1024153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555704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683920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/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000003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6083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7" presetClass="emph" presetSubtype="0" repeatCount="3000" fill="remove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1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2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3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3" grpId="1" animBg="1"/>
      <p:bldP spid="3" grpId="2" animBg="1"/>
      <p:bldP spid="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2) ПРИ ЗАПИСИ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8119" y="1412776"/>
            <a:ext cx="8784000" cy="115212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«Документ объект»</a:t>
            </a:r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1024153" y="4221088"/>
          <a:ext cx="6860214" cy="14833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9812">
                  <a:extLst>
                    <a:ext uri="{9D8B030D-6E8A-4147-A177-3AD203B41FA5}">
                      <a16:colId xmlns:a16="http://schemas.microsoft.com/office/drawing/2014/main" val="1761716461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290229493"/>
                    </a:ext>
                  </a:extLst>
                </a:gridCol>
                <a:gridCol w="1261155">
                  <a:extLst>
                    <a:ext uri="{9D8B030D-6E8A-4147-A177-3AD203B41FA5}">
                      <a16:colId xmlns:a16="http://schemas.microsoft.com/office/drawing/2014/main" val="3938447570"/>
                    </a:ext>
                  </a:extLst>
                </a:gridCol>
                <a:gridCol w="978468">
                  <a:extLst>
                    <a:ext uri="{9D8B030D-6E8A-4147-A177-3AD203B41FA5}">
                      <a16:colId xmlns:a16="http://schemas.microsoft.com/office/drawing/2014/main" val="2617385734"/>
                    </a:ext>
                  </a:extLst>
                </a:gridCol>
                <a:gridCol w="1555704">
                  <a:extLst>
                    <a:ext uri="{9D8B030D-6E8A-4147-A177-3AD203B41FA5}">
                      <a16:colId xmlns:a16="http://schemas.microsoft.com/office/drawing/2014/main" val="1354176934"/>
                    </a:ext>
                  </a:extLst>
                </a:gridCol>
                <a:gridCol w="683920">
                  <a:extLst>
                    <a:ext uri="{9D8B030D-6E8A-4147-A177-3AD203B41FA5}">
                      <a16:colId xmlns:a16="http://schemas.microsoft.com/office/drawing/2014/main" val="1588877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5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&lt;11111&gt;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13.12.2013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&lt;Иванцева&gt;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19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&lt;22222&gt;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05.06.2015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&lt;Мальцев&gt;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7063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145878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/>
        </p:nvGraphicFramePr>
        <p:xfrm>
          <a:off x="1055948" y="1772816"/>
          <a:ext cx="6828420" cy="7416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622">
                  <a:extLst>
                    <a:ext uri="{9D8B030D-6E8A-4147-A177-3AD203B41FA5}">
                      <a16:colId xmlns:a16="http://schemas.microsoft.com/office/drawing/2014/main" val="1176376862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880320530"/>
                    </a:ext>
                  </a:extLst>
                </a:gridCol>
                <a:gridCol w="1255310">
                  <a:extLst>
                    <a:ext uri="{9D8B030D-6E8A-4147-A177-3AD203B41FA5}">
                      <a16:colId xmlns:a16="http://schemas.microsoft.com/office/drawing/2014/main" val="3965154755"/>
                    </a:ext>
                  </a:extLst>
                </a:gridCol>
                <a:gridCol w="973934">
                  <a:extLst>
                    <a:ext uri="{9D8B030D-6E8A-4147-A177-3AD203B41FA5}">
                      <a16:colId xmlns:a16="http://schemas.microsoft.com/office/drawing/2014/main" val="1507061168"/>
                    </a:ext>
                  </a:extLst>
                </a:gridCol>
                <a:gridCol w="1509164">
                  <a:extLst>
                    <a:ext uri="{9D8B030D-6E8A-4147-A177-3AD203B41FA5}">
                      <a16:colId xmlns:a16="http://schemas.microsoft.com/office/drawing/2014/main" val="3390441016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422900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Проведен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Сотрудник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442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&lt;33333&gt;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02.05.2016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000003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&lt;Сироткина&gt;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87705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915816" y="2636912"/>
            <a:ext cx="244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Фиксация транзакции</a:t>
            </a:r>
          </a:p>
        </p:txBody>
      </p:sp>
    </p:spTree>
    <p:extLst>
      <p:ext uri="{BB962C8B-B14F-4D97-AF65-F5344CB8AC3E}">
        <p14:creationId xmlns:p14="http://schemas.microsoft.com/office/powerpoint/2010/main" val="3057136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7" presetClass="emph" presetSubtype="0" repeatCount="3000" fill="remove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1" dur="50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2" dur="50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3" dur="50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2" grpId="0"/>
      <p:bldP spid="12" grpId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79" y="1662217"/>
            <a:ext cx="7620000" cy="2057400"/>
          </a:xfrm>
          <a:prstGeom prst="rect">
            <a:avLst/>
          </a:prstGeom>
        </p:spPr>
      </p:pic>
      <p:sp>
        <p:nvSpPr>
          <p:cNvPr id="7170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020819"/>
          </a:xfrm>
        </p:spPr>
        <p:txBody>
          <a:bodyPr>
            <a:noAutofit/>
          </a:bodyPr>
          <a:lstStyle/>
          <a:p>
            <a:r>
              <a:rPr lang="ru-RU" sz="3600" dirty="0"/>
              <a:t>Предопределенные элементы</a:t>
            </a:r>
            <a:r>
              <a:rPr lang="en-US" sz="3600" dirty="0"/>
              <a:t> </a:t>
            </a:r>
            <a:r>
              <a:rPr lang="ru-RU" sz="3600" dirty="0"/>
              <a:t>базы данных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409879" y="3789040"/>
          <a:ext cx="8136904" cy="24988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08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6157">
                <a:tc>
                  <a:txBody>
                    <a:bodyPr/>
                    <a:lstStyle/>
                    <a:p>
                      <a:r>
                        <a:rPr lang="ru-RU" sz="1800" dirty="0"/>
                        <a:t>Имя</a:t>
                      </a:r>
                    </a:p>
                    <a:p>
                      <a:r>
                        <a:rPr lang="ru-RU" sz="1800" dirty="0"/>
                        <a:t>Предопределенных</a:t>
                      </a:r>
                    </a:p>
                    <a:p>
                      <a:r>
                        <a:rPr lang="ru-RU" sz="1800" dirty="0"/>
                        <a:t>Данных</a:t>
                      </a:r>
                    </a:p>
                  </a:txBody>
                  <a:tcPr marL="91439" marR="91439" marT="45732" marB="45732" anchor="ctr"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Предопределенный</a:t>
                      </a:r>
                    </a:p>
                  </a:txBody>
                  <a:tcPr marL="91439" marR="91439" marT="45732" marB="45732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Код</a:t>
                      </a:r>
                    </a:p>
                  </a:txBody>
                  <a:tcPr marL="91439" marR="91439" marT="45732" marB="45732" anchor="ctr"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Наименование</a:t>
                      </a:r>
                    </a:p>
                  </a:txBody>
                  <a:tcPr marL="91439" marR="91439" marT="45732" marB="45732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…</a:t>
                      </a:r>
                    </a:p>
                  </a:txBody>
                  <a:tcPr marL="91439" marR="91439" marT="45732" marB="45732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108">
                <a:tc>
                  <a:txBody>
                    <a:bodyPr/>
                    <a:lstStyle/>
                    <a:p>
                      <a:r>
                        <a:rPr lang="ru-RU" sz="1600" b="0" dirty="0">
                          <a:solidFill>
                            <a:srgbClr val="002060"/>
                          </a:solidFill>
                        </a:rPr>
                        <a:t>Принятые</a:t>
                      </a:r>
                    </a:p>
                  </a:txBody>
                  <a:tcPr marL="91439" marR="91439" marT="45732" marB="45732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Истина</a:t>
                      </a:r>
                    </a:p>
                  </a:txBody>
                  <a:tcPr marL="91439" marR="91439" marT="45732" marB="45732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01</a:t>
                      </a:r>
                    </a:p>
                  </a:txBody>
                  <a:tcPr marL="91439" marR="91439" marT="45732" marB="45732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Работающие</a:t>
                      </a:r>
                    </a:p>
                  </a:txBody>
                  <a:tcPr marL="91439" marR="91439" marT="45732" marB="45732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32" marB="45732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108">
                <a:tc>
                  <a:txBody>
                    <a:bodyPr/>
                    <a:lstStyle/>
                    <a:p>
                      <a:r>
                        <a:rPr lang="ru-RU" sz="1600" b="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Неприкасаемые</a:t>
                      </a:r>
                    </a:p>
                  </a:txBody>
                  <a:tcPr marL="91439" marR="91439" marT="45732" marB="45732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Истина</a:t>
                      </a:r>
                    </a:p>
                  </a:txBody>
                  <a:tcPr marL="91439" marR="91439" marT="45732" marB="45732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02</a:t>
                      </a:r>
                    </a:p>
                  </a:txBody>
                  <a:tcPr marL="91439" marR="91439" marT="45732" marB="45732" anchor="ctr"/>
                </a:tc>
                <a:tc>
                  <a:txBody>
                    <a:bodyPr/>
                    <a:lstStyle/>
                    <a:p>
                      <a:r>
                        <a:rPr lang="ru-RU" sz="1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Руководители</a:t>
                      </a:r>
                    </a:p>
                  </a:txBody>
                  <a:tcPr marL="91439" marR="91439" marT="45732" marB="45732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32" marB="4573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108"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 marL="91439" marR="91439" marT="45732" marB="45732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Ложь</a:t>
                      </a:r>
                    </a:p>
                  </a:txBody>
                  <a:tcPr marL="91439" marR="91439" marT="45732" marB="45732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03</a:t>
                      </a:r>
                    </a:p>
                  </a:txBody>
                  <a:tcPr marL="91439" marR="91439" marT="45732" marB="45732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Уволенные</a:t>
                      </a:r>
                    </a:p>
                  </a:txBody>
                  <a:tcPr marL="91439" marR="91439" marT="45732" marB="45732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32" marB="4573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108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32" marB="45732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32" marB="45732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32" marB="45732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32" marB="45732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32" marB="457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4" name="Прямая со стрелкой 3"/>
          <p:cNvCxnSpPr/>
          <p:nvPr/>
        </p:nvCxnSpPr>
        <p:spPr>
          <a:xfrm>
            <a:off x="1331640" y="2996952"/>
            <a:ext cx="0" cy="722665"/>
          </a:xfrm>
          <a:prstGeom prst="straightConnector1">
            <a:avLst/>
          </a:prstGeom>
          <a:ln w="12700">
            <a:solidFill>
              <a:srgbClr val="FF0000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4361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84815"/>
          </a:xfrm>
        </p:spPr>
        <p:txBody>
          <a:bodyPr/>
          <a:lstStyle/>
          <a:p>
            <a:r>
              <a:rPr lang="ru-RU" dirty="0" smtClean="0"/>
              <a:t>Заполнение </a:t>
            </a:r>
            <a:r>
              <a:rPr lang="ru-RU" dirty="0" smtClean="0"/>
              <a:t>регистров подчиненных регистратору</a:t>
            </a:r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632" y="2204864"/>
            <a:ext cx="6448425" cy="1628775"/>
          </a:xfrm>
          <a:prstGeom prst="rect">
            <a:avLst/>
          </a:prstGeom>
        </p:spPr>
      </p:pic>
      <p:sp>
        <p:nvSpPr>
          <p:cNvPr id="3" name="Скругленный прямоугольник 2"/>
          <p:cNvSpPr/>
          <p:nvPr/>
        </p:nvSpPr>
        <p:spPr>
          <a:xfrm>
            <a:off x="2771800" y="3356992"/>
            <a:ext cx="4936257" cy="288032"/>
          </a:xfrm>
          <a:prstGeom prst="round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6793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Объектная модель доступа к данным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03077" y="1844824"/>
            <a:ext cx="2112739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Регистры сведений менеджер</a:t>
            </a: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827584" y="2996952"/>
            <a:ext cx="2088232" cy="72008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Регистр сведений менеджер</a:t>
            </a: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803077" y="4149080"/>
            <a:ext cx="2088232" cy="72008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Регистр сведений Набор записей</a:t>
            </a:r>
          </a:p>
        </p:txBody>
      </p:sp>
      <p:sp>
        <p:nvSpPr>
          <p:cNvPr id="9" name="Стрелка вниз 8"/>
          <p:cNvSpPr/>
          <p:nvPr/>
        </p:nvSpPr>
        <p:spPr>
          <a:xfrm>
            <a:off x="1691680" y="2564904"/>
            <a:ext cx="288032" cy="43204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низ 9"/>
          <p:cNvSpPr/>
          <p:nvPr/>
        </p:nvSpPr>
        <p:spPr>
          <a:xfrm>
            <a:off x="1686073" y="3717032"/>
            <a:ext cx="288032" cy="432048"/>
          </a:xfrm>
          <a:prstGeom prst="down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3347864" y="1844824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Из какого регистра сведений будем читать информацию (или записывать)?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7864" y="2996952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Создание набора записей.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7864" y="4149080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dirty="0"/>
              <a:t>Чтение </a:t>
            </a:r>
            <a:r>
              <a:rPr lang="ru-RU" dirty="0" smtClean="0"/>
              <a:t>движений из базы данных;</a:t>
            </a:r>
            <a:endParaRPr lang="ru-RU" dirty="0"/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Запись движений </a:t>
            </a:r>
            <a:r>
              <a:rPr lang="ru-RU" dirty="0" smtClean="0"/>
              <a:t>в базу данных.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25826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/>
      <p:bldP spid="12" grpId="0"/>
      <p:bldP spid="1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Обработка проведения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20" y="1124744"/>
            <a:ext cx="4060266" cy="2806588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" y="3861048"/>
            <a:ext cx="9010650" cy="2333625"/>
          </a:xfrm>
          <a:prstGeom prst="rect">
            <a:avLst/>
          </a:prstGeom>
        </p:spPr>
      </p:pic>
      <p:sp>
        <p:nvSpPr>
          <p:cNvPr id="5" name="Стрелка углом 4"/>
          <p:cNvSpPr/>
          <p:nvPr/>
        </p:nvSpPr>
        <p:spPr>
          <a:xfrm rot="5400000">
            <a:off x="4500414" y="2672916"/>
            <a:ext cx="936104" cy="1440160"/>
          </a:xfrm>
          <a:prstGeom prst="bentArrow">
            <a:avLst>
              <a:gd name="adj1" fmla="val 16372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46661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2471430"/>
            <a:ext cx="8810374" cy="3116293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8"/>
            <a:ext cx="8812654" cy="1799016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 1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 2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223059" y="4041096"/>
            <a:ext cx="1649781" cy="504000"/>
          </a:xfrm>
          <a:prstGeom prst="borderCallout3">
            <a:avLst>
              <a:gd name="adj1" fmla="val -15732"/>
              <a:gd name="adj2" fmla="val 65699"/>
              <a:gd name="adj3" fmla="val -79711"/>
              <a:gd name="adj4" fmla="val 66152"/>
              <a:gd name="adj5" fmla="val -112288"/>
              <a:gd name="adj6" fmla="val 85471"/>
              <a:gd name="adj7" fmla="val -85613"/>
              <a:gd name="adj8" fmla="val 110862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>
            <a:off x="8532440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 стрелкой 33"/>
          <p:cNvCxnSpPr/>
          <p:nvPr/>
        </p:nvCxnSpPr>
        <p:spPr>
          <a:xfrm>
            <a:off x="5868144" y="3429000"/>
            <a:ext cx="602505" cy="0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Блок-схема: альтернативный процесс 12"/>
          <p:cNvSpPr/>
          <p:nvPr/>
        </p:nvSpPr>
        <p:spPr>
          <a:xfrm>
            <a:off x="1916505" y="3303617"/>
            <a:ext cx="4068844" cy="210302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>
                <a:solidFill>
                  <a:schemeClr val="tx1"/>
                </a:solidFill>
              </a:rPr>
              <a:t>Документ Объект Установка цен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21408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2471430"/>
            <a:ext cx="8810374" cy="3116293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8"/>
            <a:ext cx="8812654" cy="1799016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 1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 2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223059" y="4041096"/>
            <a:ext cx="1649781" cy="504000"/>
          </a:xfrm>
          <a:prstGeom prst="borderCallout3">
            <a:avLst>
              <a:gd name="adj1" fmla="val -15732"/>
              <a:gd name="adj2" fmla="val 65699"/>
              <a:gd name="adj3" fmla="val -79711"/>
              <a:gd name="adj4" fmla="val 66152"/>
              <a:gd name="adj5" fmla="val -112288"/>
              <a:gd name="adj6" fmla="val 85471"/>
              <a:gd name="adj7" fmla="val -85613"/>
              <a:gd name="adj8" fmla="val 110862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5" name="Блок-схема: альтернативный процесс 14"/>
          <p:cNvSpPr/>
          <p:nvPr/>
        </p:nvSpPr>
        <p:spPr>
          <a:xfrm>
            <a:off x="2923614" y="4066449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Регистр сведений набор записей Наши цены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Выноска 3 17"/>
          <p:cNvSpPr/>
          <p:nvPr/>
        </p:nvSpPr>
        <p:spPr>
          <a:xfrm>
            <a:off x="238151" y="4877239"/>
            <a:ext cx="1741561" cy="504000"/>
          </a:xfrm>
          <a:prstGeom prst="borderCallout3">
            <a:avLst>
              <a:gd name="adj1" fmla="val 49200"/>
              <a:gd name="adj2" fmla="val 101189"/>
              <a:gd name="adj3" fmla="val 76889"/>
              <a:gd name="adj4" fmla="val 116566"/>
              <a:gd name="adj5" fmla="val 71050"/>
              <a:gd name="adj6" fmla="val 139356"/>
              <a:gd name="adj7" fmla="val 4147"/>
              <a:gd name="adj8" fmla="val 168003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набора записей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916505" y="3303617"/>
            <a:ext cx="4068844" cy="210302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>
                <a:solidFill>
                  <a:schemeClr val="tx1"/>
                </a:solidFill>
              </a:rPr>
              <a:t>Документ Объект Установка цен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Выноска 1 (с границей) 5"/>
          <p:cNvSpPr/>
          <p:nvPr/>
        </p:nvSpPr>
        <p:spPr>
          <a:xfrm>
            <a:off x="1092987" y="2543359"/>
            <a:ext cx="3266742" cy="652269"/>
          </a:xfrm>
          <a:prstGeom prst="accentCallout1">
            <a:avLst>
              <a:gd name="adj1" fmla="val 42493"/>
              <a:gd name="adj2" fmla="val 104106"/>
              <a:gd name="adj3" fmla="val 250115"/>
              <a:gd name="adj4" fmla="val 117372"/>
            </a:avLst>
          </a:prstGeom>
          <a:ln w="25400"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«Внутри» объекта находится набор записей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73463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2471430"/>
            <a:ext cx="8810374" cy="3116293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8"/>
            <a:ext cx="8812654" cy="1799016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 1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 2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223059" y="4041096"/>
            <a:ext cx="1649781" cy="504000"/>
          </a:xfrm>
          <a:prstGeom prst="borderCallout3">
            <a:avLst>
              <a:gd name="adj1" fmla="val -15732"/>
              <a:gd name="adj2" fmla="val 65699"/>
              <a:gd name="adj3" fmla="val -79711"/>
              <a:gd name="adj4" fmla="val 66152"/>
              <a:gd name="adj5" fmla="val -112288"/>
              <a:gd name="adj6" fmla="val 85471"/>
              <a:gd name="adj7" fmla="val -85613"/>
              <a:gd name="adj8" fmla="val 110862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5" name="Блок-схема: альтернативный процесс 14"/>
          <p:cNvSpPr/>
          <p:nvPr/>
        </p:nvSpPr>
        <p:spPr>
          <a:xfrm>
            <a:off x="2923614" y="4066449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Регистр сведений набор записей Наши цены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Выноска 3 17"/>
          <p:cNvSpPr/>
          <p:nvPr/>
        </p:nvSpPr>
        <p:spPr>
          <a:xfrm>
            <a:off x="238151" y="4877239"/>
            <a:ext cx="1741561" cy="504000"/>
          </a:xfrm>
          <a:prstGeom prst="borderCallout3">
            <a:avLst>
              <a:gd name="adj1" fmla="val 49200"/>
              <a:gd name="adj2" fmla="val 101189"/>
              <a:gd name="adj3" fmla="val 76889"/>
              <a:gd name="adj4" fmla="val 116566"/>
              <a:gd name="adj5" fmla="val 71050"/>
              <a:gd name="adj6" fmla="val 139356"/>
              <a:gd name="adj7" fmla="val 4147"/>
              <a:gd name="adj8" fmla="val 168003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набора записей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916505" y="3303617"/>
            <a:ext cx="4068844" cy="210302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>
                <a:solidFill>
                  <a:schemeClr val="tx1"/>
                </a:solidFill>
              </a:rPr>
              <a:t>Документ Объект Установка цен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21" name="Прямая со стрелкой 20"/>
          <p:cNvCxnSpPr/>
          <p:nvPr/>
        </p:nvCxnSpPr>
        <p:spPr>
          <a:xfrm flipH="1">
            <a:off x="5004048" y="3734370"/>
            <a:ext cx="1" cy="661968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Выноска 1 (с границей) 5"/>
          <p:cNvSpPr/>
          <p:nvPr/>
        </p:nvSpPr>
        <p:spPr>
          <a:xfrm>
            <a:off x="1079365" y="2561389"/>
            <a:ext cx="3266742" cy="652269"/>
          </a:xfrm>
          <a:prstGeom prst="accentCallout1">
            <a:avLst>
              <a:gd name="adj1" fmla="val 42493"/>
              <a:gd name="adj2" fmla="val 104106"/>
              <a:gd name="adj3" fmla="val 214699"/>
              <a:gd name="adj4" fmla="val 117961"/>
            </a:avLst>
          </a:prstGeom>
          <a:ln w="25400"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Можем передать данные из объекта в набор записей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79340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2471430"/>
            <a:ext cx="8810374" cy="3116293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8"/>
            <a:ext cx="8812654" cy="1799016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 1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 2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223059" y="4041096"/>
            <a:ext cx="1649781" cy="504000"/>
          </a:xfrm>
          <a:prstGeom prst="borderCallout3">
            <a:avLst>
              <a:gd name="adj1" fmla="val -15732"/>
              <a:gd name="adj2" fmla="val 65699"/>
              <a:gd name="adj3" fmla="val -79711"/>
              <a:gd name="adj4" fmla="val 66152"/>
              <a:gd name="adj5" fmla="val -112288"/>
              <a:gd name="adj6" fmla="val 85471"/>
              <a:gd name="adj7" fmla="val -85613"/>
              <a:gd name="adj8" fmla="val 110862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35" name="Прямая со стрелкой 34"/>
          <p:cNvCxnSpPr/>
          <p:nvPr/>
        </p:nvCxnSpPr>
        <p:spPr>
          <a:xfrm flipH="1">
            <a:off x="5724128" y="4944245"/>
            <a:ext cx="11679" cy="1286956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Блок-схема: альтернативный процесс 14"/>
          <p:cNvSpPr/>
          <p:nvPr/>
        </p:nvSpPr>
        <p:spPr>
          <a:xfrm>
            <a:off x="2923614" y="4066449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Регистр сведений набор записей Наши цены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Выноска 3 17"/>
          <p:cNvSpPr/>
          <p:nvPr/>
        </p:nvSpPr>
        <p:spPr>
          <a:xfrm>
            <a:off x="238151" y="4877239"/>
            <a:ext cx="1741561" cy="504000"/>
          </a:xfrm>
          <a:prstGeom prst="borderCallout3">
            <a:avLst>
              <a:gd name="adj1" fmla="val 49200"/>
              <a:gd name="adj2" fmla="val 101189"/>
              <a:gd name="adj3" fmla="val 76889"/>
              <a:gd name="adj4" fmla="val 116566"/>
              <a:gd name="adj5" fmla="val 71050"/>
              <a:gd name="adj6" fmla="val 139356"/>
              <a:gd name="adj7" fmla="val 4147"/>
              <a:gd name="adj8" fmla="val 168003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набора записей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916505" y="3303617"/>
            <a:ext cx="4068844" cy="210302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>
                <a:solidFill>
                  <a:schemeClr val="tx1"/>
                </a:solidFill>
              </a:rPr>
              <a:t>Документ Объект Установка цен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20" name="Прямая со стрелкой 19"/>
          <p:cNvCxnSpPr/>
          <p:nvPr/>
        </p:nvCxnSpPr>
        <p:spPr>
          <a:xfrm flipH="1">
            <a:off x="4867433" y="4836687"/>
            <a:ext cx="11679" cy="1286956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Выноска 1 (с границей) 5"/>
          <p:cNvSpPr/>
          <p:nvPr/>
        </p:nvSpPr>
        <p:spPr>
          <a:xfrm>
            <a:off x="1079364" y="2561389"/>
            <a:ext cx="3788069" cy="652269"/>
          </a:xfrm>
          <a:prstGeom prst="accentCallout1">
            <a:avLst>
              <a:gd name="adj1" fmla="val 42493"/>
              <a:gd name="adj2" fmla="val 104106"/>
              <a:gd name="adj3" fmla="val 368168"/>
              <a:gd name="adj4" fmla="val 121529"/>
            </a:avLst>
          </a:prstGeom>
          <a:ln w="25400"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Одновременно Объект записывает свои данные в таблицу документа…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601423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2471430"/>
            <a:ext cx="8810374" cy="3116293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8"/>
            <a:ext cx="8812654" cy="1799016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 1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 2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223059" y="4041096"/>
            <a:ext cx="1649781" cy="504000"/>
          </a:xfrm>
          <a:prstGeom prst="borderCallout3">
            <a:avLst>
              <a:gd name="adj1" fmla="val -15732"/>
              <a:gd name="adj2" fmla="val 65699"/>
              <a:gd name="adj3" fmla="val -79711"/>
              <a:gd name="adj4" fmla="val 66152"/>
              <a:gd name="adj5" fmla="val -112288"/>
              <a:gd name="adj6" fmla="val 85471"/>
              <a:gd name="adj7" fmla="val -85613"/>
              <a:gd name="adj8" fmla="val 110862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35" name="Прямая со стрелкой 34"/>
          <p:cNvCxnSpPr/>
          <p:nvPr/>
        </p:nvCxnSpPr>
        <p:spPr>
          <a:xfrm flipH="1">
            <a:off x="5724128" y="4944245"/>
            <a:ext cx="11679" cy="1286956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Блок-схема: альтернативный процесс 14"/>
          <p:cNvSpPr/>
          <p:nvPr/>
        </p:nvSpPr>
        <p:spPr>
          <a:xfrm>
            <a:off x="2923614" y="4066449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Регистр сведений набор записей Наши цены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Выноска 3 17"/>
          <p:cNvSpPr/>
          <p:nvPr/>
        </p:nvSpPr>
        <p:spPr>
          <a:xfrm>
            <a:off x="238151" y="4877239"/>
            <a:ext cx="1741561" cy="504000"/>
          </a:xfrm>
          <a:prstGeom prst="borderCallout3">
            <a:avLst>
              <a:gd name="adj1" fmla="val 49200"/>
              <a:gd name="adj2" fmla="val 101189"/>
              <a:gd name="adj3" fmla="val 76889"/>
              <a:gd name="adj4" fmla="val 116566"/>
              <a:gd name="adj5" fmla="val 71050"/>
              <a:gd name="adj6" fmla="val 139356"/>
              <a:gd name="adj7" fmla="val 4147"/>
              <a:gd name="adj8" fmla="val 168003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набора записей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916505" y="3303617"/>
            <a:ext cx="4068844" cy="210302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>
                <a:solidFill>
                  <a:schemeClr val="tx1"/>
                </a:solidFill>
              </a:rPr>
              <a:t>Документ Объект Установка цен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20" name="Прямая со стрелкой 19"/>
          <p:cNvCxnSpPr/>
          <p:nvPr/>
        </p:nvCxnSpPr>
        <p:spPr>
          <a:xfrm flipH="1">
            <a:off x="4867433" y="4836687"/>
            <a:ext cx="11679" cy="1286956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Выноска 2 (с границей) 1"/>
          <p:cNvSpPr/>
          <p:nvPr/>
        </p:nvSpPr>
        <p:spPr>
          <a:xfrm>
            <a:off x="1102848" y="2563488"/>
            <a:ext cx="4032448" cy="648072"/>
          </a:xfrm>
          <a:prstGeom prst="accentCallout2">
            <a:avLst>
              <a:gd name="adj1" fmla="val 30633"/>
              <a:gd name="adj2" fmla="val 102183"/>
              <a:gd name="adj3" fmla="val 146479"/>
              <a:gd name="adj4" fmla="val 113900"/>
              <a:gd name="adj5" fmla="val 369443"/>
              <a:gd name="adj6" fmla="val 94880"/>
            </a:avLst>
          </a:prstGeom>
          <a:ln w="254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… а Набора </a:t>
            </a:r>
            <a:r>
              <a:rPr lang="ru-RU" dirty="0"/>
              <a:t>З</a:t>
            </a:r>
            <a:r>
              <a:rPr lang="ru-RU" dirty="0" smtClean="0"/>
              <a:t>аписей свои данные </a:t>
            </a:r>
            <a:r>
              <a:rPr lang="ru-RU" dirty="0"/>
              <a:t>в таблицу регистра сведений</a:t>
            </a:r>
          </a:p>
        </p:txBody>
      </p:sp>
    </p:spTree>
    <p:extLst>
      <p:ext uri="{BB962C8B-B14F-4D97-AF65-F5344CB8AC3E}">
        <p14:creationId xmlns:p14="http://schemas.microsoft.com/office/powerpoint/2010/main" val="4262365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2471430"/>
            <a:ext cx="8810374" cy="3116293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8"/>
            <a:ext cx="8812654" cy="1799016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04256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 1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 2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728192" cy="504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223059" y="4041096"/>
            <a:ext cx="1649781" cy="504000"/>
          </a:xfrm>
          <a:prstGeom prst="borderCallout3">
            <a:avLst>
              <a:gd name="adj1" fmla="val -15732"/>
              <a:gd name="adj2" fmla="val 65699"/>
              <a:gd name="adj3" fmla="val -79711"/>
              <a:gd name="adj4" fmla="val 66152"/>
              <a:gd name="adj5" fmla="val -112288"/>
              <a:gd name="adj6" fmla="val 85471"/>
              <a:gd name="adj7" fmla="val -85613"/>
              <a:gd name="adj8" fmla="val 110862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объекта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>
            <a:off x="8532440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 стрелкой 33"/>
          <p:cNvCxnSpPr/>
          <p:nvPr/>
        </p:nvCxnSpPr>
        <p:spPr>
          <a:xfrm>
            <a:off x="5868144" y="3429000"/>
            <a:ext cx="602505" cy="0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 стрелкой 34"/>
          <p:cNvCxnSpPr/>
          <p:nvPr/>
        </p:nvCxnSpPr>
        <p:spPr>
          <a:xfrm flipH="1">
            <a:off x="5724128" y="4944245"/>
            <a:ext cx="11679" cy="1286956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Блок-схема: альтернативный процесс 14"/>
          <p:cNvSpPr/>
          <p:nvPr/>
        </p:nvSpPr>
        <p:spPr>
          <a:xfrm>
            <a:off x="2923614" y="4066449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Регистр сведений набор записей Наши цены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Выноска 3 17"/>
          <p:cNvSpPr/>
          <p:nvPr/>
        </p:nvSpPr>
        <p:spPr>
          <a:xfrm>
            <a:off x="238151" y="4877239"/>
            <a:ext cx="1741561" cy="504000"/>
          </a:xfrm>
          <a:prstGeom prst="borderCallout3">
            <a:avLst>
              <a:gd name="adj1" fmla="val 49200"/>
              <a:gd name="adj2" fmla="val 101189"/>
              <a:gd name="adj3" fmla="val 76889"/>
              <a:gd name="adj4" fmla="val 116566"/>
              <a:gd name="adj5" fmla="val 71050"/>
              <a:gd name="adj6" fmla="val 139356"/>
              <a:gd name="adj7" fmla="val 4147"/>
              <a:gd name="adj8" fmla="val 168003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набора записей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916505" y="3303617"/>
            <a:ext cx="4068844" cy="2103023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>
                <a:solidFill>
                  <a:schemeClr val="tx1"/>
                </a:solidFill>
              </a:rPr>
              <a:t>Документ Объект Установка цен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20" name="Прямая со стрелкой 19"/>
          <p:cNvCxnSpPr/>
          <p:nvPr/>
        </p:nvCxnSpPr>
        <p:spPr>
          <a:xfrm flipH="1">
            <a:off x="4867433" y="4836687"/>
            <a:ext cx="11679" cy="1286956"/>
          </a:xfrm>
          <a:prstGeom prst="straightConnector1">
            <a:avLst/>
          </a:prstGeom>
          <a:ln w="38100">
            <a:solidFill>
              <a:schemeClr val="tx2"/>
            </a:solidFill>
            <a:headEnd type="non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34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Свойство Движения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9586673"/>
              </p:ext>
            </p:extLst>
          </p:nvPr>
        </p:nvGraphicFramePr>
        <p:xfrm>
          <a:off x="188118" y="1340768"/>
          <a:ext cx="8699903" cy="4051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5450">
                  <a:extLst>
                    <a:ext uri="{9D8B030D-6E8A-4147-A177-3AD203B41FA5}">
                      <a16:colId xmlns:a16="http://schemas.microsoft.com/office/drawing/2014/main" val="3643791870"/>
                    </a:ext>
                  </a:extLst>
                </a:gridCol>
                <a:gridCol w="7704856">
                  <a:extLst>
                    <a:ext uri="{9D8B030D-6E8A-4147-A177-3AD203B41FA5}">
                      <a16:colId xmlns:a16="http://schemas.microsoft.com/office/drawing/2014/main" val="2614691348"/>
                    </a:ext>
                  </a:extLst>
                </a:gridCol>
                <a:gridCol w="499597">
                  <a:extLst>
                    <a:ext uri="{9D8B030D-6E8A-4147-A177-3AD203B41FA5}">
                      <a16:colId xmlns:a16="http://schemas.microsoft.com/office/drawing/2014/main" val="730570288"/>
                    </a:ext>
                  </a:extLst>
                </a:gridCol>
              </a:tblGrid>
              <a:tr h="519832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Движения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979737"/>
                  </a:ext>
                </a:extLst>
              </a:tr>
              <a:tr h="3531906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920389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3093471"/>
              </p:ext>
            </p:extLst>
          </p:nvPr>
        </p:nvGraphicFramePr>
        <p:xfrm>
          <a:off x="805240" y="1988840"/>
          <a:ext cx="7439167" cy="32403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741082">
                  <a:extLst>
                    <a:ext uri="{9D8B030D-6E8A-4147-A177-3AD203B41FA5}">
                      <a16:colId xmlns:a16="http://schemas.microsoft.com/office/drawing/2014/main" val="41763236"/>
                    </a:ext>
                  </a:extLst>
                </a:gridCol>
                <a:gridCol w="5698085">
                  <a:extLst>
                    <a:ext uri="{9D8B030D-6E8A-4147-A177-3AD203B41FA5}">
                      <a16:colId xmlns:a16="http://schemas.microsoft.com/office/drawing/2014/main" val="3145116655"/>
                    </a:ext>
                  </a:extLst>
                </a:gridCol>
              </a:tblGrid>
              <a:tr h="517925">
                <a:tc>
                  <a:txBody>
                    <a:bodyPr/>
                    <a:lstStyle/>
                    <a:p>
                      <a:r>
                        <a:rPr lang="ru-RU" dirty="0"/>
                        <a:t>Имя регистра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Набор записей регистра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4378151"/>
                  </a:ext>
                </a:extLst>
              </a:tr>
              <a:tr h="2722435">
                <a:tc>
                  <a:txBody>
                    <a:bodyPr/>
                    <a:lstStyle/>
                    <a:p>
                      <a:r>
                        <a:rPr lang="ru-RU" dirty="0" err="1"/>
                        <a:t>НашиЦены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5523492"/>
                  </a:ext>
                </a:extLst>
              </a:tr>
            </a:tbl>
          </a:graphicData>
        </a:graphic>
      </p:graphicFrame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7783" y="2780928"/>
            <a:ext cx="5560779" cy="1440160"/>
          </a:xfrm>
          <a:prstGeom prst="rect">
            <a:avLst/>
          </a:prstGeom>
        </p:spPr>
      </p:pic>
      <p:sp>
        <p:nvSpPr>
          <p:cNvPr id="6" name="Скругленный прямоугольник 5"/>
          <p:cNvSpPr/>
          <p:nvPr/>
        </p:nvSpPr>
        <p:spPr>
          <a:xfrm>
            <a:off x="1043608" y="3789040"/>
            <a:ext cx="7272808" cy="288032"/>
          </a:xfrm>
          <a:prstGeom prst="roundRect">
            <a:avLst/>
          </a:prstGeom>
          <a:solidFill>
            <a:schemeClr val="accent3">
              <a:alpha val="2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1195565" y="3748390"/>
            <a:ext cx="1224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/>
              <a:t>ДвижениЕ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1331640" y="5578913"/>
            <a:ext cx="5760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Движение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Движения</a:t>
            </a:r>
            <a:r>
              <a:rPr lang="ru-RU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ru-RU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НашиЦены</a:t>
            </a:r>
            <a:r>
              <a:rPr lang="ru-RU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ru-RU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Добавить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1902443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 idx="4294967295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r>
              <a:rPr lang="ru-RU" dirty="0"/>
              <a:t>Команды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Алгоритмы, которые можно запустить ТОЛЬКО интерактивно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180359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76000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2 </a:t>
            </a:r>
            <a:r>
              <a:rPr lang="ru-RU" dirty="0" smtClean="0">
                <a:solidFill>
                  <a:schemeClr val="tx1"/>
                </a:solidFill>
              </a:rPr>
              <a:t>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944000" cy="576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944000" cy="576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>
            <a:off x="8532440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Блок-схема: альтернативный процесс 13"/>
          <p:cNvSpPr/>
          <p:nvPr/>
        </p:nvSpPr>
        <p:spPr>
          <a:xfrm>
            <a:off x="3923440" y="708955"/>
            <a:ext cx="2376000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1 </a:t>
            </a:r>
            <a:r>
              <a:rPr lang="ru-RU" dirty="0" smtClean="0">
                <a:solidFill>
                  <a:schemeClr val="tx1"/>
                </a:solidFill>
              </a:rPr>
              <a:t>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5" name="Выноска 3 14"/>
          <p:cNvSpPr/>
          <p:nvPr/>
        </p:nvSpPr>
        <p:spPr>
          <a:xfrm>
            <a:off x="4153242" y="1802263"/>
            <a:ext cx="1944000" cy="576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17" name="Блок-схема: альтернативный процесс 16"/>
          <p:cNvSpPr/>
          <p:nvPr/>
        </p:nvSpPr>
        <p:spPr>
          <a:xfrm>
            <a:off x="1286044" y="708955"/>
            <a:ext cx="2376000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Основное окно </a:t>
            </a:r>
            <a:r>
              <a:rPr lang="ru-RU" dirty="0" smtClean="0">
                <a:solidFill>
                  <a:schemeClr val="tx1"/>
                </a:solidFill>
              </a:rPr>
              <a:t>клиентского </a:t>
            </a:r>
            <a:r>
              <a:rPr lang="ru-RU" dirty="0" smtClean="0">
                <a:solidFill>
                  <a:schemeClr val="tx1"/>
                </a:solidFill>
              </a:rPr>
              <a:t>приложения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Блок-схема: альтернативный процесс 17"/>
          <p:cNvSpPr/>
          <p:nvPr/>
        </p:nvSpPr>
        <p:spPr>
          <a:xfrm>
            <a:off x="3970050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3985855" y="4350084"/>
            <a:ext cx="1944000" cy="576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20" name="Прямая со стрелкой 19"/>
          <p:cNvCxnSpPr/>
          <p:nvPr/>
        </p:nvCxnSpPr>
        <p:spPr>
          <a:xfrm>
            <a:off x="5986274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9933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204953"/>
            <a:ext cx="8810374" cy="2382770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534859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76000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2 </a:t>
            </a:r>
            <a:r>
              <a:rPr lang="ru-RU" dirty="0" smtClean="0">
                <a:solidFill>
                  <a:schemeClr val="tx1"/>
                </a:solidFill>
              </a:rPr>
              <a:t>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Блок-схема: альтернативный процесс 25"/>
          <p:cNvSpPr/>
          <p:nvPr/>
        </p:nvSpPr>
        <p:spPr>
          <a:xfrm>
            <a:off x="6516216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532021" y="1802263"/>
            <a:ext cx="1944000" cy="576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37" name="Выноска 3 36"/>
          <p:cNvSpPr/>
          <p:nvPr/>
        </p:nvSpPr>
        <p:spPr>
          <a:xfrm>
            <a:off x="6532021" y="4350084"/>
            <a:ext cx="1944000" cy="576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33" name="Прямая со стрелкой 32"/>
          <p:cNvCxnSpPr/>
          <p:nvPr/>
        </p:nvCxnSpPr>
        <p:spPr>
          <a:xfrm>
            <a:off x="8532440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Прямоугольник 1"/>
          <p:cNvSpPr/>
          <p:nvPr/>
        </p:nvSpPr>
        <p:spPr>
          <a:xfrm>
            <a:off x="683568" y="2409310"/>
            <a:ext cx="1944000" cy="57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команды</a:t>
            </a:r>
            <a:r>
              <a:rPr lang="ru-RU" dirty="0">
                <a:solidFill>
                  <a:schemeClr val="tx1"/>
                </a:solidFill>
              </a:rPr>
              <a:t/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683568" y="4727638"/>
            <a:ext cx="1944000" cy="576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команды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3" name="Прямая со стрелкой 12"/>
          <p:cNvCxnSpPr/>
          <p:nvPr/>
        </p:nvCxnSpPr>
        <p:spPr>
          <a:xfrm>
            <a:off x="2387257" y="2841326"/>
            <a:ext cx="0" cy="1886312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Блок-схема: альтернативный процесс 13"/>
          <p:cNvSpPr/>
          <p:nvPr/>
        </p:nvSpPr>
        <p:spPr>
          <a:xfrm>
            <a:off x="3923440" y="708955"/>
            <a:ext cx="2376000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1 </a:t>
            </a:r>
            <a:r>
              <a:rPr lang="ru-RU" dirty="0" smtClean="0">
                <a:solidFill>
                  <a:schemeClr val="tx1"/>
                </a:solidFill>
              </a:rPr>
              <a:t>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5" name="Выноска 3 14"/>
          <p:cNvSpPr/>
          <p:nvPr/>
        </p:nvSpPr>
        <p:spPr>
          <a:xfrm>
            <a:off x="4153242" y="1802263"/>
            <a:ext cx="1944000" cy="576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17" name="Блок-схема: альтернативный процесс 16"/>
          <p:cNvSpPr/>
          <p:nvPr/>
        </p:nvSpPr>
        <p:spPr>
          <a:xfrm>
            <a:off x="1286044" y="708955"/>
            <a:ext cx="2376000" cy="1008112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Основное окно </a:t>
            </a:r>
            <a:r>
              <a:rPr lang="ru-RU" dirty="0" smtClean="0">
                <a:solidFill>
                  <a:schemeClr val="tx1"/>
                </a:solidFill>
              </a:rPr>
              <a:t>клиентского </a:t>
            </a:r>
            <a:r>
              <a:rPr lang="ru-RU" dirty="0" smtClean="0">
                <a:solidFill>
                  <a:schemeClr val="tx1"/>
                </a:solidFill>
              </a:rPr>
              <a:t>приложения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Блок-схема: альтернативный процесс 17"/>
          <p:cNvSpPr/>
          <p:nvPr/>
        </p:nvSpPr>
        <p:spPr>
          <a:xfrm>
            <a:off x="3970050" y="3284984"/>
            <a:ext cx="2304256" cy="1008112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сервере)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Выноска 3 18"/>
          <p:cNvSpPr/>
          <p:nvPr/>
        </p:nvSpPr>
        <p:spPr>
          <a:xfrm>
            <a:off x="3985855" y="4350084"/>
            <a:ext cx="1944000" cy="576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72169"/>
              <a:gd name="adj8" fmla="val 13874"/>
            </a:avLst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20" name="Прямая со стрелкой 19"/>
          <p:cNvCxnSpPr/>
          <p:nvPr/>
        </p:nvCxnSpPr>
        <p:spPr>
          <a:xfrm>
            <a:off x="5986274" y="1717207"/>
            <a:ext cx="0" cy="158417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4821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  <a:hlinkClick r:id="rId2" action="ppaction://hlinksldjump"/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4200215"/>
            <a:ext cx="8810374" cy="1387507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20000" cy="3564000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4" name="Блок-схема: альтернативный процесс 23"/>
          <p:cNvSpPr/>
          <p:nvPr/>
        </p:nvSpPr>
        <p:spPr>
          <a:xfrm>
            <a:off x="6470649" y="709095"/>
            <a:ext cx="2376000" cy="1999824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2 </a:t>
            </a:r>
            <a:r>
              <a:rPr lang="ru-RU" dirty="0" smtClean="0">
                <a:solidFill>
                  <a:schemeClr val="tx1"/>
                </a:solidFill>
              </a:rPr>
              <a:t>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8" name="Выноска 3 27"/>
          <p:cNvSpPr/>
          <p:nvPr/>
        </p:nvSpPr>
        <p:spPr>
          <a:xfrm>
            <a:off x="6496621" y="3278306"/>
            <a:ext cx="1944000" cy="576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323901"/>
              <a:gd name="adj8" fmla="val 7826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664663" y="3299452"/>
            <a:ext cx="1944000" cy="57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</a:t>
            </a:r>
            <a:r>
              <a:rPr lang="ru-RU" dirty="0" smtClean="0">
                <a:solidFill>
                  <a:schemeClr val="tx1"/>
                </a:solidFill>
              </a:rPr>
              <a:t>команды</a:t>
            </a:r>
            <a:r>
              <a:rPr lang="ru-RU" dirty="0">
                <a:solidFill>
                  <a:schemeClr val="tx1"/>
                </a:solidFill>
              </a:rPr>
              <a:t/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683568" y="4727638"/>
            <a:ext cx="1944000" cy="576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команды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</a:t>
            </a:r>
            <a:r>
              <a:rPr lang="ru-RU" dirty="0" smtClean="0">
                <a:solidFill>
                  <a:schemeClr val="tx1"/>
                </a:solidFill>
              </a:rPr>
              <a:t>Сервере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3" name="Прямая со стрелкой 12"/>
          <p:cNvCxnSpPr/>
          <p:nvPr/>
        </p:nvCxnSpPr>
        <p:spPr>
          <a:xfrm flipH="1">
            <a:off x="2387256" y="3587451"/>
            <a:ext cx="0" cy="1152128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Блок-схема: альтернативный процесс 13"/>
          <p:cNvSpPr/>
          <p:nvPr/>
        </p:nvSpPr>
        <p:spPr>
          <a:xfrm>
            <a:off x="3923440" y="708954"/>
            <a:ext cx="2376000" cy="1999965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Форма 1 </a:t>
            </a:r>
            <a:r>
              <a:rPr lang="ru-RU" dirty="0" smtClean="0">
                <a:solidFill>
                  <a:schemeClr val="tx1"/>
                </a:solidFill>
              </a:rPr>
              <a:t>клиентского приложения</a:t>
            </a:r>
            <a:br>
              <a:rPr lang="ru-RU" dirty="0" smtClean="0">
                <a:solidFill>
                  <a:schemeClr val="tx1"/>
                </a:solidFill>
              </a:rPr>
            </a:br>
            <a:r>
              <a:rPr lang="ru-RU" dirty="0" smtClean="0">
                <a:solidFill>
                  <a:schemeClr val="tx1"/>
                </a:solidFill>
              </a:rPr>
              <a:t> (на клиенте)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5" name="Выноска 3 14"/>
          <p:cNvSpPr/>
          <p:nvPr/>
        </p:nvSpPr>
        <p:spPr>
          <a:xfrm>
            <a:off x="4117842" y="3278306"/>
            <a:ext cx="1944000" cy="576000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-47795"/>
              <a:gd name="adj6" fmla="val -17677"/>
              <a:gd name="adj7" fmla="val -314830"/>
              <a:gd name="adj8" fmla="val 5139"/>
            </a:avLst>
          </a:prstGeom>
          <a:solidFill>
            <a:schemeClr val="accent6">
              <a:lumMod val="20000"/>
              <a:lumOff val="80000"/>
            </a:schemeClr>
          </a:solidFill>
          <a:ln w="15875">
            <a:prstDash val="sysDot"/>
            <a:tailEnd type="stealt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Модуль формы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&amp;На Клиенте</a:t>
            </a:r>
          </a:p>
        </p:txBody>
      </p:sp>
      <p:sp>
        <p:nvSpPr>
          <p:cNvPr id="17" name="Блок-схема: альтернативный процесс 16"/>
          <p:cNvSpPr/>
          <p:nvPr/>
        </p:nvSpPr>
        <p:spPr>
          <a:xfrm>
            <a:off x="1286044" y="708955"/>
            <a:ext cx="2376000" cy="1999964"/>
          </a:xfrm>
          <a:prstGeom prst="flowChartAlternateProcess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Основное окно </a:t>
            </a:r>
            <a:r>
              <a:rPr lang="ru-RU" dirty="0" smtClean="0">
                <a:solidFill>
                  <a:schemeClr val="tx1"/>
                </a:solidFill>
              </a:rPr>
              <a:t>клиентского </a:t>
            </a:r>
            <a:r>
              <a:rPr lang="ru-RU" dirty="0" smtClean="0">
                <a:solidFill>
                  <a:schemeClr val="tx1"/>
                </a:solidFill>
              </a:rPr>
              <a:t>приложения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234" y="1965529"/>
            <a:ext cx="923810" cy="4000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6784" y="2023507"/>
            <a:ext cx="828571" cy="352381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8518" y="2043101"/>
            <a:ext cx="828571" cy="352381"/>
          </a:xfrm>
          <a:prstGeom prst="rect">
            <a:avLst/>
          </a:prstGeom>
        </p:spPr>
      </p:pic>
      <p:cxnSp>
        <p:nvCxnSpPr>
          <p:cNvPr id="9" name="Прямая со стрелкой 8"/>
          <p:cNvCxnSpPr/>
          <p:nvPr/>
        </p:nvCxnSpPr>
        <p:spPr>
          <a:xfrm flipH="1">
            <a:off x="1702355" y="2395482"/>
            <a:ext cx="127025" cy="844127"/>
          </a:xfrm>
          <a:prstGeom prst="straightConnector1">
            <a:avLst/>
          </a:prstGeom>
          <a:ln w="127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 стрелкой 24"/>
          <p:cNvCxnSpPr/>
          <p:nvPr/>
        </p:nvCxnSpPr>
        <p:spPr>
          <a:xfrm flipH="1">
            <a:off x="1864693" y="2311285"/>
            <a:ext cx="2482091" cy="951404"/>
          </a:xfrm>
          <a:prstGeom prst="straightConnector1">
            <a:avLst/>
          </a:prstGeom>
          <a:ln w="127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26"/>
          <p:cNvCxnSpPr/>
          <p:nvPr/>
        </p:nvCxnSpPr>
        <p:spPr>
          <a:xfrm flipH="1">
            <a:off x="2154197" y="2414387"/>
            <a:ext cx="4734321" cy="848302"/>
          </a:xfrm>
          <a:prstGeom prst="straightConnector1">
            <a:avLst/>
          </a:prstGeom>
          <a:ln w="12700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666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750"/>
                            </p:stCondLst>
                            <p:childTnLst>
                              <p:par>
                                <p:cTn id="15" presetID="26" presetClass="emph" presetSubtype="0" repeatCount="2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7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37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8" presetID="26" presetClass="emph" presetSubtype="0" repeatCount="2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750" tmFilter="0, 0; .2, .5; .8, .5; 1, 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375" autoRev="1" fill="hold"/>
                                        <p:tgtEl>
                                          <p:spTgt spid="2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26" presetClass="emph" presetSubtype="0" repeatCount="2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750" tmFilter="0, 0; .2, .5; .8, .5; 1, 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3" dur="375" autoRev="1" fill="hold"/>
                                        <p:tgtEl>
                                          <p:spTgt spid="2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Объект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Кто создал</a:t>
            </a:r>
          </a:p>
          <a:p>
            <a:pPr lvl="1"/>
            <a:r>
              <a:rPr lang="ru-RU" dirty="0"/>
              <a:t>Платформа</a:t>
            </a:r>
          </a:p>
          <a:p>
            <a:pPr lvl="1"/>
            <a:r>
              <a:rPr lang="ru-RU" dirty="0">
                <a:solidFill>
                  <a:schemeClr val="bg2">
                    <a:lumMod val="25000"/>
                  </a:schemeClr>
                </a:solidFill>
              </a:rPr>
              <a:t>Разработчик</a:t>
            </a:r>
          </a:p>
          <a:p>
            <a:r>
              <a:rPr lang="ru-RU" dirty="0"/>
              <a:t>Количество мест расположения</a:t>
            </a:r>
          </a:p>
          <a:p>
            <a:pPr lvl="1"/>
            <a:r>
              <a:rPr lang="ru-RU" dirty="0">
                <a:solidFill>
                  <a:schemeClr val="accent4">
                    <a:lumMod val="75000"/>
                  </a:schemeClr>
                </a:solidFill>
              </a:rPr>
              <a:t>Только в одной форме</a:t>
            </a:r>
          </a:p>
          <a:p>
            <a:pPr lvl="1"/>
            <a:r>
              <a:rPr lang="ru-RU" dirty="0"/>
              <a:t>В разных формах</a:t>
            </a:r>
          </a:p>
          <a:p>
            <a:r>
              <a:rPr lang="ru-RU" dirty="0"/>
              <a:t>Выполняемое действие</a:t>
            </a:r>
          </a:p>
          <a:p>
            <a:pPr lvl="1"/>
            <a:r>
              <a:rPr lang="ru-RU" dirty="0">
                <a:solidFill>
                  <a:srgbClr val="C00000"/>
                </a:solidFill>
              </a:rPr>
              <a:t>Навигационные</a:t>
            </a:r>
          </a:p>
          <a:p>
            <a:pPr lvl="1"/>
            <a:r>
              <a:rPr lang="ru-RU" dirty="0">
                <a:solidFill>
                  <a:srgbClr val="0070C0"/>
                </a:solidFill>
              </a:rPr>
              <a:t>Действия</a:t>
            </a:r>
          </a:p>
          <a:p>
            <a:r>
              <a:rPr lang="ru-RU" dirty="0"/>
              <a:t>Зависимость от других данных</a:t>
            </a:r>
          </a:p>
          <a:p>
            <a:pPr lvl="1"/>
            <a:r>
              <a:rPr lang="ru-RU" dirty="0">
                <a:solidFill>
                  <a:srgbClr val="00B050"/>
                </a:solidFill>
              </a:rPr>
              <a:t>Независимые</a:t>
            </a:r>
          </a:p>
          <a:p>
            <a:pPr lvl="1"/>
            <a:r>
              <a:rPr lang="ru-RU" dirty="0">
                <a:solidFill>
                  <a:schemeClr val="accent6">
                    <a:lumMod val="75000"/>
                  </a:schemeClr>
                </a:solidFill>
              </a:rPr>
              <a:t>Параметризированные</a:t>
            </a: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команд</a:t>
            </a:r>
          </a:p>
        </p:txBody>
      </p:sp>
    </p:spTree>
    <p:extLst>
      <p:ext uri="{BB962C8B-B14F-4D97-AF65-F5344CB8AC3E}">
        <p14:creationId xmlns:p14="http://schemas.microsoft.com/office/powerpoint/2010/main" val="1682922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Кто создает команду</a:t>
            </a:r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Стандартные команды</a:t>
            </a:r>
          </a:p>
          <a:p>
            <a:pPr lvl="1"/>
            <a:r>
              <a:rPr lang="ru-RU" dirty="0"/>
              <a:t>Зависят от настроек метаданных. </a:t>
            </a:r>
          </a:p>
          <a:p>
            <a:pPr lvl="1"/>
            <a:r>
              <a:rPr lang="ru-RU" dirty="0"/>
              <a:t>Автоматически создаются платформой.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7" name="Объект 6"/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ru-RU" dirty="0"/>
              <a:t>Команды созданные разработчиком</a:t>
            </a:r>
          </a:p>
          <a:p>
            <a:pPr lvl="1"/>
            <a:r>
              <a:rPr lang="ru-RU" dirty="0"/>
              <a:t>Явно создаются разработчиком</a:t>
            </a:r>
          </a:p>
          <a:p>
            <a:pPr lvl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52900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Количество мест расположения</a:t>
            </a:r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Локальные команды</a:t>
            </a:r>
          </a:p>
          <a:p>
            <a:pPr lvl="1"/>
            <a:r>
              <a:rPr lang="ru-RU" sz="2000" dirty="0"/>
              <a:t>Располагается только в одной форме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7" name="Объект 6"/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pPr lvl="0"/>
            <a:r>
              <a:rPr lang="ru-RU" dirty="0"/>
              <a:t>Глобальные команды</a:t>
            </a:r>
          </a:p>
          <a:p>
            <a:pPr lvl="1"/>
            <a:r>
              <a:rPr lang="ru-RU" sz="2000" dirty="0"/>
              <a:t>Могут располагаться в нескольких формах (окнах)</a:t>
            </a:r>
            <a:endParaRPr lang="en-US" sz="2000" dirty="0"/>
          </a:p>
          <a:p>
            <a:pPr lvl="1"/>
            <a:r>
              <a:rPr lang="ru-RU" sz="2000" dirty="0"/>
              <a:t>Могут располагаться в основном окне программы</a:t>
            </a:r>
          </a:p>
          <a:p>
            <a:pPr lvl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649640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170" y="3604768"/>
            <a:ext cx="6448131" cy="2679153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36" y="980728"/>
            <a:ext cx="6629400" cy="2676525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Пример глобальной команды 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710235" y="1494964"/>
            <a:ext cx="2664296" cy="867807"/>
          </a:xfrm>
          <a:prstGeom prst="roundRect">
            <a:avLst/>
          </a:prstGeom>
          <a:solidFill>
            <a:schemeClr val="accent2">
              <a:alpha val="22000"/>
            </a:schemeClr>
          </a:solidFill>
          <a:ln>
            <a:prstDash val="dash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4360639" y="4102779"/>
            <a:ext cx="2664296" cy="867807"/>
          </a:xfrm>
          <a:prstGeom prst="roundRect">
            <a:avLst/>
          </a:prstGeom>
          <a:solidFill>
            <a:schemeClr val="accent2">
              <a:alpha val="22000"/>
            </a:schemeClr>
          </a:solidFill>
          <a:ln>
            <a:prstDash val="dash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2089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5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500"/>
                            </p:stCondLst>
                            <p:childTnLst>
                              <p:par>
                                <p:cTn id="2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 tmFilter="0, 0; .2, .5; .8, .5; 1, 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1" dur="250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8000"/>
                            </p:stCondLst>
                            <p:childTnLst>
                              <p:par>
                                <p:cTn id="3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6" grpId="2" animBg="1"/>
      <p:bldP spid="8" grpId="0" animBg="1"/>
      <p:bldP spid="8" grpId="1" animBg="1"/>
      <p:bldP spid="8" grpId="2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«ожидаемому» действию</a:t>
            </a:r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Навигационные</a:t>
            </a:r>
          </a:p>
          <a:p>
            <a:pPr lvl="1"/>
            <a:r>
              <a:rPr lang="ru-RU" sz="2000" dirty="0"/>
              <a:t>Встраивают в текущее окно список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7" name="Объект 6"/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pPr lvl="0"/>
            <a:r>
              <a:rPr lang="ru-RU" dirty="0"/>
              <a:t>Действия</a:t>
            </a:r>
          </a:p>
          <a:p>
            <a:pPr lvl="1"/>
            <a:r>
              <a:rPr lang="ru-RU" sz="2000" dirty="0"/>
              <a:t>Открывают другое окно, в котором будет инициирован некий процесс</a:t>
            </a:r>
          </a:p>
          <a:p>
            <a:pPr lvl="2"/>
            <a:r>
              <a:rPr lang="ru-RU" sz="1400" i="1" dirty="0"/>
              <a:t>Формирование отчета;</a:t>
            </a:r>
          </a:p>
          <a:p>
            <a:pPr lvl="2"/>
            <a:r>
              <a:rPr lang="ru-RU" sz="1400" i="1" dirty="0"/>
              <a:t>Создание нового документа;</a:t>
            </a:r>
          </a:p>
          <a:p>
            <a:pPr lvl="2"/>
            <a:r>
              <a:rPr lang="ru-RU" sz="1400" i="1" dirty="0"/>
              <a:t>Открытие формы обработки;</a:t>
            </a:r>
          </a:p>
          <a:p>
            <a:pPr lvl="2"/>
            <a:r>
              <a:rPr lang="ru-RU" sz="1400" i="1" dirty="0" err="1"/>
              <a:t>И.т.п</a:t>
            </a:r>
            <a:r>
              <a:rPr lang="ru-RU" sz="1400" i="1" dirty="0"/>
              <a:t>.</a:t>
            </a:r>
          </a:p>
          <a:p>
            <a:pPr lvl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464149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220" y="1422697"/>
            <a:ext cx="3933825" cy="2352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команды действия</a:t>
            </a:r>
          </a:p>
        </p:txBody>
      </p:sp>
      <p:sp>
        <p:nvSpPr>
          <p:cNvPr id="3" name="Стрелка углом 2"/>
          <p:cNvSpPr/>
          <p:nvPr/>
        </p:nvSpPr>
        <p:spPr>
          <a:xfrm rot="10800000" flipH="1">
            <a:off x="2310346" y="4077072"/>
            <a:ext cx="1973622" cy="1756170"/>
          </a:xfrm>
          <a:prstGeom prst="ben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2627784" y="2883994"/>
            <a:ext cx="1800200" cy="328982"/>
          </a:xfrm>
          <a:prstGeom prst="roundRect">
            <a:avLst/>
          </a:prstGeom>
          <a:solidFill>
            <a:schemeClr val="accent2">
              <a:alpha val="22000"/>
            </a:schemeClr>
          </a:solidFill>
          <a:ln>
            <a:prstDash val="dash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6385" y="4005064"/>
            <a:ext cx="4139056" cy="22080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17081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6" grpId="1" animBg="1"/>
      <p:bldP spid="6" grpId="2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навигационной команды 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556792"/>
            <a:ext cx="2505075" cy="2305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2132856"/>
            <a:ext cx="3888432" cy="44085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Стрелка углом 2"/>
          <p:cNvSpPr/>
          <p:nvPr/>
        </p:nvSpPr>
        <p:spPr>
          <a:xfrm rot="10800000" flipH="1">
            <a:off x="2310346" y="4077072"/>
            <a:ext cx="1973622" cy="1756170"/>
          </a:xfrm>
          <a:prstGeom prst="ben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83568" y="2611446"/>
            <a:ext cx="2016224" cy="490404"/>
          </a:xfrm>
          <a:prstGeom prst="roundRect">
            <a:avLst/>
          </a:prstGeom>
          <a:solidFill>
            <a:schemeClr val="accent2">
              <a:alpha val="22000"/>
            </a:schemeClr>
          </a:solidFill>
          <a:ln>
            <a:prstDash val="dash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5368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6" grpId="1" animBg="1"/>
      <p:bldP spid="6" grpId="2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зависимости от других данных</a:t>
            </a:r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Независимые</a:t>
            </a:r>
          </a:p>
          <a:p>
            <a:pPr lvl="1"/>
            <a:r>
              <a:rPr lang="ru-RU" sz="2000" dirty="0"/>
              <a:t>Работают одинаково в любых ситуациях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7" name="Объект 6"/>
          <p:cNvSpPr>
            <a:spLocks noGrp="1"/>
          </p:cNvSpPr>
          <p:nvPr>
            <p:ph idx="10"/>
          </p:nvPr>
        </p:nvSpPr>
        <p:spPr>
          <a:xfrm>
            <a:off x="4355976" y="1340768"/>
            <a:ext cx="4594811" cy="4896543"/>
          </a:xfrm>
        </p:spPr>
        <p:txBody>
          <a:bodyPr/>
          <a:lstStyle/>
          <a:p>
            <a:r>
              <a:rPr lang="ru-RU" dirty="0"/>
              <a:t>Параметризируемые</a:t>
            </a:r>
          </a:p>
          <a:p>
            <a:pPr lvl="2"/>
            <a:r>
              <a:rPr lang="ru-RU" dirty="0"/>
              <a:t>Нужен входящий параметр (ссылка или массив ссылок)</a:t>
            </a:r>
          </a:p>
          <a:p>
            <a:pPr lvl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914747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независимой команды 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556792"/>
            <a:ext cx="2505075" cy="2305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844824"/>
            <a:ext cx="3888432" cy="44085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Стрелка углом 2"/>
          <p:cNvSpPr/>
          <p:nvPr/>
        </p:nvSpPr>
        <p:spPr>
          <a:xfrm rot="10800000" flipH="1">
            <a:off x="2310346" y="4077072"/>
            <a:ext cx="1973622" cy="1756170"/>
          </a:xfrm>
          <a:prstGeom prst="ben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83568" y="2611446"/>
            <a:ext cx="2016224" cy="490404"/>
          </a:xfrm>
          <a:prstGeom prst="roundRect">
            <a:avLst/>
          </a:prstGeom>
          <a:solidFill>
            <a:schemeClr val="accent2">
              <a:alpha val="22000"/>
            </a:schemeClr>
          </a:solidFill>
          <a:ln>
            <a:prstDash val="dash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3913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6" grpId="1" animBg="1"/>
      <p:bldP spid="6" grpId="2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6846" y="3664613"/>
            <a:ext cx="5385594" cy="25637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36" y="1052736"/>
            <a:ext cx="6629400" cy="2676525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Пример параметризируемой команды </a:t>
            </a:r>
          </a:p>
        </p:txBody>
      </p:sp>
      <p:sp>
        <p:nvSpPr>
          <p:cNvPr id="3" name="Стрелка углом 2"/>
          <p:cNvSpPr/>
          <p:nvPr/>
        </p:nvSpPr>
        <p:spPr>
          <a:xfrm rot="5400000">
            <a:off x="5798268" y="2492256"/>
            <a:ext cx="2592290" cy="1086208"/>
          </a:xfrm>
          <a:prstGeom prst="ben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851920" y="1523190"/>
            <a:ext cx="2664296" cy="867807"/>
          </a:xfrm>
          <a:prstGeom prst="roundRect">
            <a:avLst/>
          </a:prstGeom>
          <a:solidFill>
            <a:schemeClr val="accent2">
              <a:alpha val="22000"/>
            </a:schemeClr>
          </a:solidFill>
          <a:ln>
            <a:prstDash val="dash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003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6" grpId="1" animBg="1"/>
      <p:bldP spid="6" grpId="2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84815"/>
          </a:xfrm>
        </p:spPr>
        <p:txBody>
          <a:bodyPr>
            <a:normAutofit fontScale="90000"/>
          </a:bodyPr>
          <a:lstStyle/>
          <a:p>
            <a:r>
              <a:rPr lang="ru-RU" sz="3600" dirty="0"/>
              <a:t>Место расположение глобальных команд по умолчанию</a:t>
            </a:r>
            <a:r>
              <a:rPr lang="ru-RU" dirty="0"/>
              <a:t/>
            </a:r>
            <a:br>
              <a:rPr lang="ru-RU" dirty="0"/>
            </a:br>
            <a:r>
              <a:rPr lang="ru-RU" sz="1800" dirty="0"/>
              <a:t>(</a:t>
            </a:r>
            <a:r>
              <a:rPr lang="ru-RU" sz="2000" dirty="0"/>
              <a:t>Потом можно изменить)</a:t>
            </a:r>
          </a:p>
        </p:txBody>
      </p:sp>
      <p:sp>
        <p:nvSpPr>
          <p:cNvPr id="4" name="Скругленный прямоугольник 3"/>
          <p:cNvSpPr/>
          <p:nvPr/>
        </p:nvSpPr>
        <p:spPr>
          <a:xfrm>
            <a:off x="1322546" y="1700808"/>
            <a:ext cx="3600400" cy="432048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Независимые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5093872" y="1706690"/>
            <a:ext cx="3600400" cy="432048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Параметризируемые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47564" y="2276872"/>
            <a:ext cx="504056" cy="1938334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ru-RU" dirty="0"/>
              <a:t>Навигационные</a:t>
            </a:r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647564" y="4365104"/>
            <a:ext cx="504056" cy="19383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ru-RU" dirty="0"/>
              <a:t>Действия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5696" y="2700423"/>
            <a:ext cx="2643099" cy="7429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5696" y="4906076"/>
            <a:ext cx="3008502" cy="779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088" y="2731688"/>
            <a:ext cx="2959785" cy="7308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5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8337" y="4906076"/>
            <a:ext cx="3690594" cy="7551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2267744" y="6210752"/>
            <a:ext cx="3528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hlinkClick r:id="rId6" action="ppaction://hlinksldjump"/>
              </a:rPr>
              <a:t>Вернуться на предыдущий слайд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6491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Запросы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Табличная модель доступа к данным</a:t>
            </a:r>
          </a:p>
        </p:txBody>
      </p:sp>
    </p:spTree>
    <p:extLst>
      <p:ext uri="{BB962C8B-B14F-4D97-AF65-F5344CB8AC3E}">
        <p14:creationId xmlns:p14="http://schemas.microsoft.com/office/powerpoint/2010/main" val="5495341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Объектная модель доступа к данным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827584" y="1844824"/>
            <a:ext cx="2088232" cy="7200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Справочники менеджер</a:t>
            </a: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827584" y="2996952"/>
            <a:ext cx="2088232" cy="72008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 менеджер</a:t>
            </a: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803077" y="4149080"/>
            <a:ext cx="2088232" cy="720080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 Ссылка</a:t>
            </a:r>
          </a:p>
        </p:txBody>
      </p:sp>
      <p:sp>
        <p:nvSpPr>
          <p:cNvPr id="9" name="Стрелка вниз 8"/>
          <p:cNvSpPr/>
          <p:nvPr/>
        </p:nvSpPr>
        <p:spPr>
          <a:xfrm>
            <a:off x="1691680" y="2564904"/>
            <a:ext cx="288032" cy="43204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низ 9"/>
          <p:cNvSpPr/>
          <p:nvPr/>
        </p:nvSpPr>
        <p:spPr>
          <a:xfrm>
            <a:off x="1686073" y="3717032"/>
            <a:ext cx="288032" cy="432048"/>
          </a:xfrm>
          <a:prstGeom prst="down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3347864" y="1844824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Из какого справочника будем читать информацию?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7864" y="2996952"/>
            <a:ext cx="54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Поиск ссылки на нужный объект базы данных.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7864" y="4149080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dirty="0"/>
              <a:t>Идентификация объекта базы данных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/>
              <a:t>Чтение данных нужного объекта базы данных</a:t>
            </a:r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827584" y="5296346"/>
            <a:ext cx="2088232" cy="72008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Справочник объект</a:t>
            </a:r>
          </a:p>
        </p:txBody>
      </p:sp>
      <p:sp>
        <p:nvSpPr>
          <p:cNvPr id="15" name="Стрелка вниз 14"/>
          <p:cNvSpPr/>
          <p:nvPr/>
        </p:nvSpPr>
        <p:spPr>
          <a:xfrm>
            <a:off x="1710580" y="4864298"/>
            <a:ext cx="288032" cy="432048"/>
          </a:xfrm>
          <a:prstGeom prst="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/>
          <p:cNvSpPr txBox="1"/>
          <p:nvPr/>
        </p:nvSpPr>
        <p:spPr>
          <a:xfrm>
            <a:off x="3366765" y="5296346"/>
            <a:ext cx="54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Запись, изменение и удаление объекта базы данных.</a:t>
            </a:r>
          </a:p>
        </p:txBody>
      </p:sp>
    </p:spTree>
    <p:extLst>
      <p:ext uri="{BB962C8B-B14F-4D97-AF65-F5344CB8AC3E}">
        <p14:creationId xmlns:p14="http://schemas.microsoft.com/office/powerpoint/2010/main" val="635417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00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/>
      <p:bldP spid="12" grpId="0"/>
      <p:bldP spid="13" grpId="0"/>
      <p:bldP spid="14" grpId="0" animBg="1"/>
      <p:bldP spid="15" grpId="0" animBg="1"/>
      <p:bldP spid="16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Достоинства</a:t>
            </a:r>
          </a:p>
          <a:p>
            <a:pPr lvl="1"/>
            <a:r>
              <a:rPr lang="ru-RU" dirty="0"/>
              <a:t>Простота работы с данными;</a:t>
            </a:r>
          </a:p>
          <a:p>
            <a:r>
              <a:rPr lang="ru-RU" dirty="0"/>
              <a:t>Недостатки</a:t>
            </a:r>
          </a:p>
          <a:p>
            <a:pPr lvl="1"/>
            <a:r>
              <a:rPr lang="ru-RU" dirty="0"/>
              <a:t>Избыточное чтение;</a:t>
            </a:r>
          </a:p>
          <a:p>
            <a:pPr lvl="1"/>
            <a:r>
              <a:rPr lang="ru-RU" dirty="0"/>
              <a:t>Множественное обращение к базе данных;</a:t>
            </a:r>
          </a:p>
          <a:p>
            <a:pPr lvl="1"/>
            <a:r>
              <a:rPr lang="ru-RU" dirty="0"/>
              <a:t>Невозможность получения связанной информации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864096"/>
          </a:xfrm>
        </p:spPr>
        <p:txBody>
          <a:bodyPr>
            <a:normAutofit fontScale="90000"/>
          </a:bodyPr>
          <a:lstStyle/>
          <a:p>
            <a:r>
              <a:rPr lang="ru-RU" dirty="0"/>
              <a:t>Достоинства и недостатки объектной модели</a:t>
            </a:r>
          </a:p>
        </p:txBody>
      </p:sp>
    </p:spTree>
    <p:extLst>
      <p:ext uri="{BB962C8B-B14F-4D97-AF65-F5344CB8AC3E}">
        <p14:creationId xmlns:p14="http://schemas.microsoft.com/office/powerpoint/2010/main" val="2722910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Объект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578090"/>
              </p:ext>
            </p:extLst>
          </p:nvPr>
        </p:nvGraphicFramePr>
        <p:xfrm>
          <a:off x="611560" y="5013176"/>
          <a:ext cx="2530625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6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Табличная модель доступа к данным</a:t>
            </a:r>
          </a:p>
        </p:txBody>
      </p:sp>
      <p:graphicFrame>
        <p:nvGraphicFramePr>
          <p:cNvPr id="7" name="Объект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31257654"/>
              </p:ext>
            </p:extLst>
          </p:nvPr>
        </p:nvGraphicFramePr>
        <p:xfrm>
          <a:off x="3306687" y="5013176"/>
          <a:ext cx="2530625" cy="11125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06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" name="Объект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18351659"/>
              </p:ext>
            </p:extLst>
          </p:nvPr>
        </p:nvGraphicFramePr>
        <p:xfrm>
          <a:off x="6001814" y="5013176"/>
          <a:ext cx="2530625" cy="11125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06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6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39552" y="4509120"/>
            <a:ext cx="2520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Таблица справочника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3848" y="4509120"/>
            <a:ext cx="2520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Таблица справочника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1814" y="4509120"/>
            <a:ext cx="2818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Таблица ТЧ справочника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552" y="1700808"/>
            <a:ext cx="67687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Из какой таблицы читаем данные?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Какие записи содержать нужную информацию?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Какие поля записей содержат нужную информацию?</a:t>
            </a:r>
          </a:p>
        </p:txBody>
      </p:sp>
    </p:spTree>
    <p:extLst>
      <p:ext uri="{BB962C8B-B14F-4D97-AF65-F5344CB8AC3E}">
        <p14:creationId xmlns:p14="http://schemas.microsoft.com/office/powerpoint/2010/main" val="53585548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Достоинства</a:t>
            </a:r>
          </a:p>
          <a:p>
            <a:pPr lvl="1"/>
            <a:r>
              <a:rPr lang="ru-RU" dirty="0"/>
              <a:t>Чтение только нужной информации;</a:t>
            </a:r>
          </a:p>
          <a:p>
            <a:pPr lvl="1"/>
            <a:r>
              <a:rPr lang="ru-RU" dirty="0"/>
              <a:t>Минимальное обращение к базе данных;</a:t>
            </a:r>
          </a:p>
          <a:p>
            <a:pPr lvl="1"/>
            <a:r>
              <a:rPr lang="ru-RU" dirty="0"/>
              <a:t>Возможность получение «связанной» информации.</a:t>
            </a:r>
          </a:p>
          <a:p>
            <a:r>
              <a:rPr lang="ru-RU"/>
              <a:t>Особенность</a:t>
            </a:r>
            <a:endParaRPr lang="ru-RU" dirty="0"/>
          </a:p>
          <a:p>
            <a:pPr lvl="1"/>
            <a:r>
              <a:rPr lang="ru-RU" dirty="0"/>
              <a:t>Возможность работать только на чтение.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92088"/>
          </a:xfrm>
        </p:spPr>
        <p:txBody>
          <a:bodyPr>
            <a:normAutofit fontScale="90000"/>
          </a:bodyPr>
          <a:lstStyle/>
          <a:p>
            <a:r>
              <a:rPr lang="ru-RU" dirty="0"/>
              <a:t>Достоинства и </a:t>
            </a:r>
            <a:r>
              <a:rPr lang="ru-RU"/>
              <a:t>недостатки табличной </a:t>
            </a:r>
            <a:r>
              <a:rPr lang="ru-RU" dirty="0"/>
              <a:t>модели</a:t>
            </a:r>
          </a:p>
        </p:txBody>
      </p:sp>
    </p:spTree>
    <p:extLst>
      <p:ext uri="{BB962C8B-B14F-4D97-AF65-F5344CB8AC3E}">
        <p14:creationId xmlns:p14="http://schemas.microsoft.com/office/powerpoint/2010/main" val="3782752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Цилиндр 15"/>
          <p:cNvSpPr/>
          <p:nvPr/>
        </p:nvSpPr>
        <p:spPr>
          <a:xfrm>
            <a:off x="1403648" y="5661248"/>
            <a:ext cx="4857719" cy="864096"/>
          </a:xfrm>
          <a:prstGeom prst="can">
            <a:avLst>
              <a:gd name="adj" fmla="val 19215"/>
            </a:avLst>
          </a:prstGeom>
          <a:solidFill>
            <a:schemeClr val="accent3">
              <a:lumMod val="40000"/>
              <a:lumOff val="60000"/>
              <a:alpha val="1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База данных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87018" y="3140968"/>
            <a:ext cx="8810374" cy="2446755"/>
          </a:xfrm>
          <a:prstGeom prst="rect">
            <a:avLst/>
          </a:prstGeom>
          <a:solidFill>
            <a:srgbClr val="00B0F0">
              <a:alpha val="5000"/>
            </a:srgbClr>
          </a:solidFill>
          <a:ln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00B0F0"/>
                </a:solidFill>
              </a:rPr>
              <a:t>Сервер</a:t>
            </a:r>
            <a:endParaRPr lang="ru-RU" b="1" dirty="0">
              <a:solidFill>
                <a:srgbClr val="00B0F0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87018" y="587357"/>
            <a:ext cx="8812654" cy="2480085"/>
          </a:xfrm>
          <a:prstGeom prst="rect">
            <a:avLst/>
          </a:prstGeom>
          <a:solidFill>
            <a:srgbClr val="FF0000">
              <a:alpha val="8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b="1" dirty="0" smtClean="0">
                <a:solidFill>
                  <a:srgbClr val="C00000"/>
                </a:solidFill>
              </a:rPr>
              <a:t>Клиент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4331773" y="4380744"/>
            <a:ext cx="1071319" cy="413415"/>
          </a:xfrm>
          <a:prstGeom prst="flowChartAlternateProcess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>
                <a:solidFill>
                  <a:schemeClr val="tx1"/>
                </a:solidFill>
              </a:rPr>
              <a:t>Запрос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20" name="Прямая со стрелкой 19"/>
          <p:cNvCxnSpPr/>
          <p:nvPr/>
        </p:nvCxnSpPr>
        <p:spPr>
          <a:xfrm flipH="1">
            <a:off x="4867433" y="4836687"/>
            <a:ext cx="11679" cy="1286956"/>
          </a:xfrm>
          <a:prstGeom prst="straightConnector1">
            <a:avLst/>
          </a:prstGeom>
          <a:ln w="38100">
            <a:solidFill>
              <a:schemeClr val="tx2"/>
            </a:solidFill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7277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СБ_КомплексныйКурс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СБ_КомплексныйКурс" id="{57895036-580B-4EC1-9356-65CCF9CCE186}" vid="{5A20F5DB-C976-49E0-A2C0-0C64FB833D4F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СБ_КомплексныйКурс</Template>
  <TotalTime>3088</TotalTime>
  <Words>2425</Words>
  <Application>Microsoft Office PowerPoint</Application>
  <PresentationFormat>Экран (4:3)</PresentationFormat>
  <Paragraphs>894</Paragraphs>
  <Slides>66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66</vt:i4>
      </vt:variant>
    </vt:vector>
  </HeadingPairs>
  <TitlesOfParts>
    <vt:vector size="74" baseType="lpstr">
      <vt:lpstr>Arial</vt:lpstr>
      <vt:lpstr>Arial Black</vt:lpstr>
      <vt:lpstr>Calibri</vt:lpstr>
      <vt:lpstr>Courier New</vt:lpstr>
      <vt:lpstr>Tahoma</vt:lpstr>
      <vt:lpstr>Verdana</vt:lpstr>
      <vt:lpstr>Wingdings</vt:lpstr>
      <vt:lpstr>СБ_КомплексныйКурс</vt:lpstr>
      <vt:lpstr>Занятие 5</vt:lpstr>
      <vt:lpstr>Задача</vt:lpstr>
      <vt:lpstr>Объектная модель доступа к данным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События записи документ объекта</vt:lpstr>
      <vt:lpstr>Последовательность событий записи документа</vt:lpstr>
      <vt:lpstr>События записи документа</vt:lpstr>
      <vt:lpstr>1) ПЕРЕД ЗАПИСЬЮ</vt:lpstr>
      <vt:lpstr>2) ПРИ ЗАПИСИ</vt:lpstr>
      <vt:lpstr>2) ПРИ ЗАПИСИ</vt:lpstr>
      <vt:lpstr>Последовательность событий проведение документа</vt:lpstr>
      <vt:lpstr>События проведения документа</vt:lpstr>
      <vt:lpstr>1) ПЕРЕД ЗАПИСЬЮ</vt:lpstr>
      <vt:lpstr>2) ПРИ ЗАПИСИ</vt:lpstr>
      <vt:lpstr>3) Обработка проведения</vt:lpstr>
      <vt:lpstr>3) Обработка проведения</vt:lpstr>
      <vt:lpstr>Последовательность событий отмена проведения документа</vt:lpstr>
      <vt:lpstr>События отмены проведения документа</vt:lpstr>
      <vt:lpstr>1) ПЕРЕД ЗАПИСЬЮ</vt:lpstr>
      <vt:lpstr>3) Обработка удаления проведения</vt:lpstr>
      <vt:lpstr>2) ПРИ ЗАПИСИ</vt:lpstr>
      <vt:lpstr>2) ПРИ ЗАПИСИ</vt:lpstr>
      <vt:lpstr>Предопределенные элементы базы данных</vt:lpstr>
      <vt:lpstr>Заполнение регистров подчиненных регистратору</vt:lpstr>
      <vt:lpstr>Объектная модель доступа к данным</vt:lpstr>
      <vt:lpstr>Обработка проведения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Свойство Движения</vt:lpstr>
      <vt:lpstr>Команды</vt:lpstr>
      <vt:lpstr>Презентация PowerPoint</vt:lpstr>
      <vt:lpstr>Презентация PowerPoint</vt:lpstr>
      <vt:lpstr>Презентация PowerPoint</vt:lpstr>
      <vt:lpstr>Классификация команд</vt:lpstr>
      <vt:lpstr>Кто создает команду</vt:lpstr>
      <vt:lpstr>Количество мест расположения</vt:lpstr>
      <vt:lpstr>Пример глобальной команды </vt:lpstr>
      <vt:lpstr>По «ожидаемому» действию</vt:lpstr>
      <vt:lpstr>Пример команды действия</vt:lpstr>
      <vt:lpstr>Пример навигационной команды </vt:lpstr>
      <vt:lpstr>По зависимости от других данных</vt:lpstr>
      <vt:lpstr>Пример независимой команды </vt:lpstr>
      <vt:lpstr>Пример параметризируемой команды </vt:lpstr>
      <vt:lpstr>Место расположение глобальных команд по умолчанию (Потом можно изменить)</vt:lpstr>
      <vt:lpstr>Запросы</vt:lpstr>
      <vt:lpstr>Объектная модель доступа к данным</vt:lpstr>
      <vt:lpstr>Достоинства и недостатки объектной модели</vt:lpstr>
      <vt:lpstr>Табличная модель доступа к данным</vt:lpstr>
      <vt:lpstr>Достоинства и недостатки табличной модели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 занятие</dc:title>
  <dc:creator>Сергей</dc:creator>
  <cp:lastModifiedBy>eugeniy sizov</cp:lastModifiedBy>
  <cp:revision>157</cp:revision>
  <dcterms:created xsi:type="dcterms:W3CDTF">2010-10-29T09:01:45Z</dcterms:created>
  <dcterms:modified xsi:type="dcterms:W3CDTF">2020-09-29T07:07:41Z</dcterms:modified>
</cp:coreProperties>
</file>