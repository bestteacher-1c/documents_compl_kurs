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56" r:id="rId3"/>
    <p:sldId id="264" r:id="rId4"/>
    <p:sldId id="265" r:id="rId5"/>
    <p:sldId id="267" r:id="rId6"/>
    <p:sldId id="268" r:id="rId7"/>
    <p:sldId id="292" r:id="rId8"/>
    <p:sldId id="293" r:id="rId9"/>
    <p:sldId id="345" r:id="rId10"/>
    <p:sldId id="294" r:id="rId11"/>
    <p:sldId id="295" r:id="rId12"/>
    <p:sldId id="346" r:id="rId13"/>
    <p:sldId id="296" r:id="rId14"/>
    <p:sldId id="297" r:id="rId15"/>
    <p:sldId id="347" r:id="rId16"/>
    <p:sldId id="298" r:id="rId17"/>
    <p:sldId id="299" r:id="rId18"/>
    <p:sldId id="348" r:id="rId19"/>
    <p:sldId id="300" r:id="rId20"/>
    <p:sldId id="301" r:id="rId21"/>
    <p:sldId id="302" r:id="rId22"/>
    <p:sldId id="303" r:id="rId23"/>
    <p:sldId id="349" r:id="rId24"/>
    <p:sldId id="304" r:id="rId25"/>
    <p:sldId id="305" r:id="rId26"/>
    <p:sldId id="350" r:id="rId27"/>
    <p:sldId id="306" r:id="rId28"/>
    <p:sldId id="307" r:id="rId29"/>
    <p:sldId id="351" r:id="rId30"/>
    <p:sldId id="308" r:id="rId31"/>
    <p:sldId id="309" r:id="rId32"/>
    <p:sldId id="352" r:id="rId33"/>
    <p:sldId id="310" r:id="rId34"/>
    <p:sldId id="311" r:id="rId35"/>
    <p:sldId id="312" r:id="rId36"/>
    <p:sldId id="278" r:id="rId37"/>
    <p:sldId id="320" r:id="rId38"/>
    <p:sldId id="336" r:id="rId39"/>
    <p:sldId id="337" r:id="rId40"/>
    <p:sldId id="329" r:id="rId41"/>
    <p:sldId id="334" r:id="rId42"/>
    <p:sldId id="338" r:id="rId43"/>
    <p:sldId id="335" r:id="rId44"/>
    <p:sldId id="332" r:id="rId45"/>
    <p:sldId id="339" r:id="rId46"/>
    <p:sldId id="333" r:id="rId47"/>
    <p:sldId id="330" r:id="rId48"/>
    <p:sldId id="340" r:id="rId49"/>
    <p:sldId id="331" r:id="rId50"/>
    <p:sldId id="321" r:id="rId51"/>
    <p:sldId id="341" r:id="rId52"/>
    <p:sldId id="322" r:id="rId53"/>
    <p:sldId id="323" r:id="rId54"/>
    <p:sldId id="342" r:id="rId55"/>
    <p:sldId id="324" r:id="rId56"/>
    <p:sldId id="325" r:id="rId57"/>
    <p:sldId id="343" r:id="rId58"/>
    <p:sldId id="326" r:id="rId59"/>
    <p:sldId id="327" r:id="rId60"/>
    <p:sldId id="344" r:id="rId61"/>
    <p:sldId id="328" r:id="rId62"/>
    <p:sldId id="284" r:id="rId63"/>
    <p:sldId id="285" r:id="rId64"/>
    <p:sldId id="286" r:id="rId65"/>
    <p:sldId id="287" r:id="rId66"/>
    <p:sldId id="288" r:id="rId67"/>
    <p:sldId id="289" r:id="rId68"/>
    <p:sldId id="290" r:id="rId69"/>
    <p:sldId id="291" r:id="rId70"/>
    <p:sldId id="353" r:id="rId71"/>
    <p:sldId id="354" r:id="rId72"/>
    <p:sldId id="355" r:id="rId73"/>
    <p:sldId id="356" r:id="rId74"/>
    <p:sldId id="357" r:id="rId75"/>
    <p:sldId id="358" r:id="rId76"/>
    <p:sldId id="359" r:id="rId77"/>
    <p:sldId id="360" r:id="rId78"/>
    <p:sldId id="361" r:id="rId79"/>
    <p:sldId id="362" r:id="rId80"/>
    <p:sldId id="363" r:id="rId81"/>
    <p:sldId id="364" r:id="rId82"/>
    <p:sldId id="365" r:id="rId8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Средний стиль 1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E25E649-3F16-4E02-A733-19D2CDBF48F0}" styleName="Средний стиль 3 -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43" autoAdjust="0"/>
    <p:restoredTop sz="94660"/>
  </p:normalViewPr>
  <p:slideViewPr>
    <p:cSldViewPr>
      <p:cViewPr varScale="1">
        <p:scale>
          <a:sx n="91" d="100"/>
          <a:sy n="91" d="100"/>
        </p:scale>
        <p:origin x="120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18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CC8D86B4-639A-451E-B2B6-D2B5679301AD}"/>
    <pc:docChg chg="undo modSld">
      <pc:chgData name="eugeniy sizov" userId="f166da1dfb7bc990" providerId="LiveId" clId="{CC8D86B4-639A-451E-B2B6-D2B5679301AD}" dt="2018-08-09T08:06:18.987" v="9" actId="14734"/>
      <pc:docMkLst>
        <pc:docMk/>
      </pc:docMkLst>
      <pc:sldChg chg="modSp">
        <pc:chgData name="eugeniy sizov" userId="f166da1dfb7bc990" providerId="LiveId" clId="{CC8D86B4-639A-451E-B2B6-D2B5679301AD}" dt="2018-08-09T08:05:28.933" v="6"/>
        <pc:sldMkLst>
          <pc:docMk/>
          <pc:sldMk cId="3278823923" sldId="323"/>
        </pc:sldMkLst>
        <pc:graphicFrameChg chg="mod">
          <ac:chgData name="eugeniy sizov" userId="f166da1dfb7bc990" providerId="LiveId" clId="{CC8D86B4-639A-451E-B2B6-D2B5679301AD}" dt="2018-08-09T08:05:28.933" v="6"/>
          <ac:graphicFrameMkLst>
            <pc:docMk/>
            <pc:sldMk cId="3278823923" sldId="323"/>
            <ac:graphicFrameMk id="6" creationId="{00000000-0000-0000-0000-000000000000}"/>
          </ac:graphicFrameMkLst>
        </pc:graphicFrameChg>
      </pc:sldChg>
      <pc:sldChg chg="modSp">
        <pc:chgData name="eugeniy sizov" userId="f166da1dfb7bc990" providerId="LiveId" clId="{CC8D86B4-639A-451E-B2B6-D2B5679301AD}" dt="2018-08-09T08:05:15.358" v="2"/>
        <pc:sldMkLst>
          <pc:docMk/>
          <pc:sldMk cId="756420373" sldId="324"/>
        </pc:sldMkLst>
        <pc:graphicFrameChg chg="mod">
          <ac:chgData name="eugeniy sizov" userId="f166da1dfb7bc990" providerId="LiveId" clId="{CC8D86B4-639A-451E-B2B6-D2B5679301AD}" dt="2018-08-09T08:05:15.358" v="2"/>
          <ac:graphicFrameMkLst>
            <pc:docMk/>
            <pc:sldMk cId="756420373" sldId="324"/>
            <ac:graphicFrameMk id="6" creationId="{00000000-0000-0000-0000-000000000000}"/>
          </ac:graphicFrameMkLst>
        </pc:graphicFrameChg>
      </pc:sldChg>
      <pc:sldChg chg="modSp">
        <pc:chgData name="eugeniy sizov" userId="f166da1dfb7bc990" providerId="LiveId" clId="{CC8D86B4-639A-451E-B2B6-D2B5679301AD}" dt="2018-08-09T08:04:55.735" v="1"/>
        <pc:sldMkLst>
          <pc:docMk/>
          <pc:sldMk cId="909584647" sldId="325"/>
        </pc:sldMkLst>
        <pc:graphicFrameChg chg="mod">
          <ac:chgData name="eugeniy sizov" userId="f166da1dfb7bc990" providerId="LiveId" clId="{CC8D86B4-639A-451E-B2B6-D2B5679301AD}" dt="2018-08-09T08:04:55.735" v="1"/>
          <ac:graphicFrameMkLst>
            <pc:docMk/>
            <pc:sldMk cId="909584647" sldId="325"/>
            <ac:graphicFrameMk id="6" creationId="{00000000-0000-0000-0000-000000000000}"/>
          </ac:graphicFrameMkLst>
        </pc:graphicFrameChg>
      </pc:sldChg>
      <pc:sldChg chg="modSp">
        <pc:chgData name="eugeniy sizov" userId="f166da1dfb7bc990" providerId="LiveId" clId="{CC8D86B4-639A-451E-B2B6-D2B5679301AD}" dt="2018-08-09T08:06:18.987" v="9" actId="14734"/>
        <pc:sldMkLst>
          <pc:docMk/>
          <pc:sldMk cId="1675557025" sldId="342"/>
        </pc:sldMkLst>
        <pc:graphicFrameChg chg="mod modGraphic">
          <ac:chgData name="eugeniy sizov" userId="f166da1dfb7bc990" providerId="LiveId" clId="{CC8D86B4-639A-451E-B2B6-D2B5679301AD}" dt="2018-08-09T08:06:18.987" v="9" actId="14734"/>
          <ac:graphicFrameMkLst>
            <pc:docMk/>
            <pc:sldMk cId="1675557025" sldId="342"/>
            <ac:graphicFrameMk id="6" creationId="{00000000-0000-0000-0000-000000000000}"/>
          </ac:graphicFrameMkLst>
        </pc:graphicFrameChg>
      </pc:sldChg>
      <pc:sldChg chg="modSp">
        <pc:chgData name="eugeniy sizov" userId="f166da1dfb7bc990" providerId="LiveId" clId="{CC8D86B4-639A-451E-B2B6-D2B5679301AD}" dt="2018-08-09T08:04:48.241" v="0"/>
        <pc:sldMkLst>
          <pc:docMk/>
          <pc:sldMk cId="60439548" sldId="343"/>
        </pc:sldMkLst>
        <pc:graphicFrameChg chg="mod">
          <ac:chgData name="eugeniy sizov" userId="f166da1dfb7bc990" providerId="LiveId" clId="{CC8D86B4-639A-451E-B2B6-D2B5679301AD}" dt="2018-08-09T08:04:48.241" v="0"/>
          <ac:graphicFrameMkLst>
            <pc:docMk/>
            <pc:sldMk cId="60439548" sldId="343"/>
            <ac:graphicFrameMk id="6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950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92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1245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4331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37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388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421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2808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/82</a:t>
            </a:r>
            <a:endParaRPr lang="ru-RU" sz="16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Оперативные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480751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Занятие 07</a:t>
            </a: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/>
              <a:t>Регистры накопления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0070C0"/>
                </a:solidFill>
              </a:rPr>
              <a:t>Зачем нужны регистры накопления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0070C0"/>
                </a:solidFill>
              </a:rPr>
              <a:t>Логика работы регистров накопления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0070C0"/>
                </a:solidFill>
              </a:rPr>
              <a:t>Таблицы регистра накопления</a:t>
            </a:r>
            <a:endParaRPr lang="en-US" sz="1700" dirty="0">
              <a:solidFill>
                <a:srgbClr val="0070C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/>
              <a:t>Система компоновки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148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Зачем нужны регистры накопления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707531"/>
          </a:xfrm>
        </p:spPr>
        <p:txBody>
          <a:bodyPr>
            <a:normAutofit fontScale="90000"/>
          </a:bodyPr>
          <a:lstStyle/>
          <a:p>
            <a:pPr algn="r"/>
            <a:r>
              <a:rPr lang="ru-RU" dirty="0"/>
              <a:t>Получение остатков из данных документов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51720" y="1204154"/>
            <a:ext cx="11922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Начало учета</a:t>
            </a:r>
          </a:p>
          <a:p>
            <a:pPr algn="ctr"/>
            <a:r>
              <a:rPr lang="ru-RU" sz="1100" dirty="0">
                <a:solidFill>
                  <a:schemeClr val="bg1">
                    <a:lumMod val="50000"/>
                  </a:schemeClr>
                </a:solidFill>
              </a:rPr>
              <a:t>2008 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0598" y="6101273"/>
            <a:ext cx="107337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Дата отч</a:t>
            </a:r>
            <a:r>
              <a:rPr lang="ru-RU" sz="1400" u="sng" dirty="0"/>
              <a:t>е</a:t>
            </a:r>
            <a:r>
              <a:rPr lang="ru-RU" sz="1400" dirty="0"/>
              <a:t>та</a:t>
            </a:r>
          </a:p>
          <a:p>
            <a:pPr lvl="0" algn="ctr"/>
            <a:r>
              <a:rPr lang="ru-RU" sz="1100" dirty="0">
                <a:solidFill>
                  <a:prstClr val="white">
                    <a:lumMod val="50000"/>
                  </a:prstClr>
                </a:solidFill>
              </a:rPr>
              <a:t>201</a:t>
            </a:r>
            <a:r>
              <a:rPr lang="en-US" sz="1100" dirty="0">
                <a:solidFill>
                  <a:prstClr val="white">
                    <a:lumMod val="50000"/>
                  </a:prstClr>
                </a:solidFill>
              </a:rPr>
              <a:t>7</a:t>
            </a:r>
            <a:r>
              <a:rPr lang="ru-RU" sz="1100" dirty="0">
                <a:solidFill>
                  <a:prstClr val="white">
                    <a:lumMod val="50000"/>
                  </a:prstClr>
                </a:solidFill>
              </a:rPr>
              <a:t> 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7651" y="1496543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+</a:t>
            </a:r>
            <a:endParaRPr lang="ru-RU" sz="20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47651" y="1820362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</a:t>
            </a:r>
            <a:endParaRPr lang="ru-RU" sz="20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47651" y="2144181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+</a:t>
            </a:r>
            <a:endParaRPr lang="ru-RU" sz="20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47651" y="2468000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</a:t>
            </a:r>
            <a:endParaRPr lang="ru-RU" sz="20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47651" y="2791819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+</a:t>
            </a:r>
            <a:endParaRPr lang="ru-RU" sz="20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47651" y="3115638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</a:t>
            </a:r>
            <a:endParaRPr lang="ru-RU" sz="20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47651" y="3439457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+</a:t>
            </a:r>
            <a:endParaRPr lang="ru-RU" sz="20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47651" y="3763276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</a:t>
            </a:r>
            <a:endParaRPr lang="ru-RU" sz="20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47651" y="4087095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+</a:t>
            </a:r>
            <a:endParaRPr lang="ru-RU" sz="20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47651" y="4410914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</a:t>
            </a:r>
            <a:endParaRPr lang="ru-RU" sz="20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47651" y="4734733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+</a:t>
            </a:r>
            <a:endParaRPr lang="ru-RU" sz="20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47651" y="5058552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</a:t>
            </a:r>
            <a:endParaRPr lang="ru-RU" sz="20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47651" y="5382371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+</a:t>
            </a:r>
            <a:endParaRPr lang="ru-RU" sz="20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47651" y="5706189"/>
            <a:ext cx="33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</a:t>
            </a:r>
            <a:endParaRPr lang="ru-RU" sz="20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69120" y="4558470"/>
            <a:ext cx="2220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1000</a:t>
            </a:r>
            <a:r>
              <a:rPr lang="ru-RU" sz="1200" dirty="0">
                <a:solidFill>
                  <a:schemeClr val="bg1">
                    <a:lumMod val="65000"/>
                  </a:schemeClr>
                </a:solidFill>
              </a:rPr>
              <a:t>0</a:t>
            </a:r>
            <a:r>
              <a:rPr lang="ru-RU" sz="1200" dirty="0">
                <a:solidFill>
                  <a:schemeClr val="bg1">
                    <a:lumMod val="75000"/>
                  </a:schemeClr>
                </a:solidFill>
              </a:rPr>
              <a:t>0</a:t>
            </a:r>
            <a:r>
              <a:rPr lang="ru-RU" sz="1200" dirty="0">
                <a:solidFill>
                  <a:schemeClr val="bg1">
                    <a:lumMod val="85000"/>
                  </a:schemeClr>
                </a:solidFill>
              </a:rPr>
              <a:t>0</a:t>
            </a:r>
            <a:r>
              <a:rPr lang="ru-RU" sz="1200" dirty="0">
                <a:solidFill>
                  <a:schemeClr val="bg1">
                    <a:lumMod val="95000"/>
                  </a:schemeClr>
                </a:solidFill>
              </a:rPr>
              <a:t>0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строк ТЧ документов</a:t>
            </a:r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7124"/>
            <a:ext cx="5131596" cy="283944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pic>
        <p:nvPicPr>
          <p:cNvPr id="39" name="Рисунок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76" y="4952689"/>
            <a:ext cx="5145905" cy="1031364"/>
          </a:xfrm>
          <a:prstGeom prst="rect">
            <a:avLst/>
          </a:prstGeom>
        </p:spPr>
      </p:pic>
      <p:cxnSp>
        <p:nvCxnSpPr>
          <p:cNvPr id="41" name="Прямая со стрелкой 40"/>
          <p:cNvCxnSpPr/>
          <p:nvPr/>
        </p:nvCxnSpPr>
        <p:spPr>
          <a:xfrm>
            <a:off x="6015869" y="1658835"/>
            <a:ext cx="0" cy="4409701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808968" y="6201088"/>
            <a:ext cx="236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Итого: 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3626" y="1090221"/>
            <a:ext cx="853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6" name="Стрелка углом 5"/>
          <p:cNvSpPr/>
          <p:nvPr/>
        </p:nvSpPr>
        <p:spPr>
          <a:xfrm rot="5400000" flipH="1">
            <a:off x="5995255" y="5750158"/>
            <a:ext cx="609873" cy="864096"/>
          </a:xfrm>
          <a:prstGeom prst="bentArrow">
            <a:avLst>
              <a:gd name="adj1" fmla="val 19916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69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7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25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25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75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25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42" grpId="0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706075"/>
          </a:xfrm>
        </p:spPr>
        <p:txBody>
          <a:bodyPr>
            <a:noAutofit/>
          </a:bodyPr>
          <a:lstStyle/>
          <a:p>
            <a:pPr algn="l"/>
            <a:r>
              <a:rPr lang="ru-RU" sz="2400" dirty="0"/>
              <a:t>Регистр накопления – средство рассчитать нарастающий итог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69120" y="1031829"/>
            <a:ext cx="11922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Начало учета</a:t>
            </a:r>
          </a:p>
          <a:p>
            <a:pPr algn="ctr"/>
            <a:r>
              <a:rPr lang="ru-RU" sz="1100" dirty="0">
                <a:solidFill>
                  <a:schemeClr val="bg1">
                    <a:lumMod val="50000"/>
                  </a:schemeClr>
                </a:solidFill>
              </a:rPr>
              <a:t>2008 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9120" y="5965726"/>
            <a:ext cx="107337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Дата отч</a:t>
            </a:r>
            <a:r>
              <a:rPr lang="ru-RU" sz="1400" u="sng" dirty="0"/>
              <a:t>е</a:t>
            </a:r>
            <a:r>
              <a:rPr lang="ru-RU" sz="1400" dirty="0"/>
              <a:t>та</a:t>
            </a:r>
          </a:p>
          <a:p>
            <a:pPr lvl="0" algn="ctr"/>
            <a:r>
              <a:rPr lang="ru-RU" sz="1100" dirty="0">
                <a:solidFill>
                  <a:prstClr val="white">
                    <a:lumMod val="50000"/>
                  </a:prstClr>
                </a:solidFill>
              </a:rPr>
              <a:t>201</a:t>
            </a:r>
            <a:r>
              <a:rPr lang="en-US" sz="1100" dirty="0">
                <a:solidFill>
                  <a:prstClr val="white">
                    <a:lumMod val="50000"/>
                  </a:prstClr>
                </a:solidFill>
              </a:rPr>
              <a:t>7</a:t>
            </a:r>
            <a:r>
              <a:rPr lang="ru-RU" sz="1100" dirty="0">
                <a:solidFill>
                  <a:prstClr val="white">
                    <a:lumMod val="50000"/>
                  </a:prstClr>
                </a:solidFill>
              </a:rPr>
              <a:t> г.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9120" y="4376969"/>
            <a:ext cx="2220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1000</a:t>
            </a:r>
            <a:r>
              <a:rPr lang="ru-RU" sz="1200" dirty="0">
                <a:solidFill>
                  <a:schemeClr val="bg1">
                    <a:lumMod val="65000"/>
                  </a:schemeClr>
                </a:solidFill>
              </a:rPr>
              <a:t>0</a:t>
            </a:r>
            <a:r>
              <a:rPr lang="ru-RU" sz="1200" dirty="0">
                <a:solidFill>
                  <a:schemeClr val="bg1">
                    <a:lumMod val="75000"/>
                  </a:schemeClr>
                </a:solidFill>
              </a:rPr>
              <a:t>0</a:t>
            </a:r>
            <a:r>
              <a:rPr lang="ru-RU" sz="1200" dirty="0">
                <a:solidFill>
                  <a:schemeClr val="bg1">
                    <a:lumMod val="85000"/>
                  </a:schemeClr>
                </a:solidFill>
              </a:rPr>
              <a:t>0</a:t>
            </a:r>
            <a:r>
              <a:rPr lang="ru-RU" sz="1200" dirty="0">
                <a:solidFill>
                  <a:schemeClr val="bg1">
                    <a:lumMod val="95000"/>
                  </a:schemeClr>
                </a:solidFill>
              </a:rPr>
              <a:t>0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строк ТЧ документов</a:t>
            </a:r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5623"/>
            <a:ext cx="5131596" cy="283944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pic>
        <p:nvPicPr>
          <p:cNvPr id="39" name="Рисунок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76" y="4771188"/>
            <a:ext cx="5145905" cy="10313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808968" y="6019587"/>
            <a:ext cx="236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Итого: 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16537" y="943243"/>
            <a:ext cx="2438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Нарастающий итог в </a:t>
            </a:r>
            <a:r>
              <a:rPr lang="ru-RU" sz="1400" b="1" dirty="0"/>
              <a:t>регистре накопления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3626" y="908720"/>
            <a:ext cx="853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937427"/>
              </p:ext>
            </p:extLst>
          </p:nvPr>
        </p:nvGraphicFramePr>
        <p:xfrm>
          <a:off x="6984498" y="1462746"/>
          <a:ext cx="1872000" cy="42325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585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/>
                        <a:t>Приращение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 dirty="0"/>
                        <a:t>Остаток</a:t>
                      </a:r>
                      <a:endParaRPr lang="ru-RU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rgbClr val="00B050"/>
                          </a:solidFill>
                        </a:rPr>
                        <a:t>+ 10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rgbClr val="FF0000"/>
                          </a:solidFill>
                        </a:rP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+10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+15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+15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ru-RU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ru-RU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ru-RU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ru-RU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+10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Стрелка углом 5"/>
          <p:cNvSpPr/>
          <p:nvPr/>
        </p:nvSpPr>
        <p:spPr>
          <a:xfrm rot="5400000" flipH="1">
            <a:off x="6936547" y="4627365"/>
            <a:ext cx="576066" cy="2712873"/>
          </a:xfrm>
          <a:prstGeom prst="bentArrow">
            <a:avLst>
              <a:gd name="adj1" fmla="val 19916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56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31" grpId="0"/>
      <p:bldP spid="42" grpId="0"/>
      <p:bldP spid="3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Логика работы регистров накопления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944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Всегда рассчитывается оперативный итог</a:t>
            </a:r>
          </a:p>
          <a:p>
            <a:r>
              <a:rPr lang="ru-RU" dirty="0"/>
              <a:t>Можно рассчитывать промежуточные итоги на конец каждого месяца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Остатки</a:t>
            </a:r>
          </a:p>
        </p:txBody>
      </p:sp>
    </p:spTree>
    <p:extLst>
      <p:ext uri="{BB962C8B-B14F-4D97-AF65-F5344CB8AC3E}">
        <p14:creationId xmlns:p14="http://schemas.microsoft.com/office/powerpoint/2010/main" val="2674584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31496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/>
          </p:nvPr>
        </p:nvGraphicFramePr>
        <p:xfrm>
          <a:off x="5309077" y="1059364"/>
          <a:ext cx="3583534" cy="31496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29718438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943646555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354588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197071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/>
          </p:nvPr>
        </p:nvGraphicFramePr>
        <p:xfrm>
          <a:off x="243666" y="846004"/>
          <a:ext cx="4570172" cy="52832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4285139489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50929450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885796851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1381244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581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21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b="1" u="sng">
                <a:solidFill>
                  <a:srgbClr val="C00000"/>
                </a:solidFill>
              </a:defRPr>
            </a:lvl1pPr>
          </a:lstStyle>
          <a:p>
            <a:r>
              <a:rPr lang="ru-RU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b="1" u="sng">
                <a:solidFill>
                  <a:srgbClr val="C00000"/>
                </a:solidFill>
              </a:defRPr>
            </a:lvl1pPr>
          </a:lstStyle>
          <a:p>
            <a:r>
              <a:rPr lang="ru-RU" dirty="0"/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31496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/>
          </p:nvPr>
        </p:nvGraphicFramePr>
        <p:xfrm>
          <a:off x="5309077" y="1059364"/>
          <a:ext cx="3583534" cy="62992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29718438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943646555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354588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197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900575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194979"/>
              </p:ext>
            </p:extLst>
          </p:nvPr>
        </p:nvGraphicFramePr>
        <p:xfrm>
          <a:off x="243666" y="846004"/>
          <a:ext cx="4570172" cy="52832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4285139489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50929450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885796851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1381244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581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73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b="1" u="sng">
                <a:solidFill>
                  <a:srgbClr val="C00000"/>
                </a:solidFill>
              </a:defRPr>
            </a:lvl1pPr>
          </a:lstStyle>
          <a:p>
            <a:r>
              <a:rPr lang="ru-RU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b="1" u="sng">
                <a:solidFill>
                  <a:srgbClr val="C00000"/>
                </a:solidFill>
              </a:defRPr>
            </a:lvl1pPr>
          </a:lstStyle>
          <a:p>
            <a:r>
              <a:rPr lang="ru-RU" dirty="0"/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31496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/>
          </p:nvPr>
        </p:nvGraphicFramePr>
        <p:xfrm>
          <a:off x="5309077" y="1059364"/>
          <a:ext cx="3583534" cy="62992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29718438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943646555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354588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197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900575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243666" y="846004"/>
          <a:ext cx="4570172" cy="8432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4285139489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50929450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885796851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1381244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58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773813"/>
                  </a:ext>
                </a:extLst>
              </a:tr>
            </a:tbl>
          </a:graphicData>
        </a:graphic>
      </p:graphicFrame>
      <p:sp>
        <p:nvSpPr>
          <p:cNvPr id="2" name="Стрелка влево 1"/>
          <p:cNvSpPr/>
          <p:nvPr/>
        </p:nvSpPr>
        <p:spPr>
          <a:xfrm>
            <a:off x="4813837" y="1395220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179513" y="1326158"/>
            <a:ext cx="4634324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65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b="1" u="sng">
                <a:solidFill>
                  <a:srgbClr val="C00000"/>
                </a:solidFill>
              </a:defRPr>
            </a:lvl1pPr>
          </a:lstStyle>
          <a:p>
            <a:r>
              <a:rPr lang="ru-RU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b="1" u="sng">
                <a:solidFill>
                  <a:srgbClr val="C00000"/>
                </a:solidFill>
              </a:defRPr>
            </a:lvl1pPr>
          </a:lstStyle>
          <a:p>
            <a:r>
              <a:rPr lang="ru-RU" dirty="0"/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62992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/>
          </p:nvPr>
        </p:nvGraphicFramePr>
        <p:xfrm>
          <a:off x="5309077" y="1059364"/>
          <a:ext cx="3583534" cy="62992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29718438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943646555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354588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197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900575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243666" y="846004"/>
          <a:ext cx="4570172" cy="8432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4285139489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50929450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885796851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1381244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58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773813"/>
                  </a:ext>
                </a:extLst>
              </a:tr>
            </a:tbl>
          </a:graphicData>
        </a:graphic>
      </p:graphicFrame>
      <p:sp>
        <p:nvSpPr>
          <p:cNvPr id="4" name="Стрелка углом 3"/>
          <p:cNvSpPr/>
          <p:nvPr/>
        </p:nvSpPr>
        <p:spPr>
          <a:xfrm rot="10800000" flipH="1">
            <a:off x="323527" y="1695839"/>
            <a:ext cx="712959" cy="318538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387184" y="4538647"/>
            <a:ext cx="367240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5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0" grpId="1" animBg="1"/>
      <p:bldP spid="10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b="1" u="sng">
                <a:solidFill>
                  <a:srgbClr val="C00000"/>
                </a:solidFill>
              </a:defRPr>
            </a:lvl1pPr>
          </a:lstStyle>
          <a:p>
            <a:r>
              <a:rPr lang="ru-RU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62992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199884"/>
              </p:ext>
            </p:extLst>
          </p:nvPr>
        </p:nvGraphicFramePr>
        <p:xfrm>
          <a:off x="243666" y="839448"/>
          <a:ext cx="4570172" cy="8432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1285468843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721138864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3824996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083569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639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66275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/>
          </p:nvPr>
        </p:nvGraphicFramePr>
        <p:xfrm>
          <a:off x="5309077" y="1052808"/>
          <a:ext cx="3583534" cy="9448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774423311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717736543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51655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210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715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152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007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b="1" u="sng">
                <a:solidFill>
                  <a:srgbClr val="C00000"/>
                </a:solidFill>
              </a:defRPr>
            </a:lvl1pPr>
          </a:lstStyle>
          <a:p>
            <a:r>
              <a:rPr lang="ru-RU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62992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243666" y="839448"/>
          <a:ext cx="4570172" cy="11582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1285468843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721138864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3824996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083569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639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6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398734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/>
          </p:nvPr>
        </p:nvGraphicFramePr>
        <p:xfrm>
          <a:off x="5309077" y="1052808"/>
          <a:ext cx="3583534" cy="9448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774423311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717736543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51655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210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715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152782"/>
                  </a:ext>
                </a:extLst>
              </a:tr>
            </a:tbl>
          </a:graphicData>
        </a:graphic>
      </p:graphicFrame>
      <p:sp>
        <p:nvSpPr>
          <p:cNvPr id="11" name="Стрелка влево 10"/>
          <p:cNvSpPr/>
          <p:nvPr/>
        </p:nvSpPr>
        <p:spPr>
          <a:xfrm>
            <a:off x="4813837" y="1703625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179512" y="1655107"/>
            <a:ext cx="4634324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41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62992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243666" y="839448"/>
          <a:ext cx="4570172" cy="11582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1285468843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721138864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3824996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083569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639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6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398734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/>
          </p:nvPr>
        </p:nvGraphicFramePr>
        <p:xfrm>
          <a:off x="5309077" y="1052808"/>
          <a:ext cx="3583534" cy="9448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774423311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717736543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51655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210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715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152782"/>
                  </a:ext>
                </a:extLst>
              </a:tr>
            </a:tbl>
          </a:graphicData>
        </a:graphic>
      </p:graphicFrame>
      <p:sp>
        <p:nvSpPr>
          <p:cNvPr id="15" name="Стрелка углом 14"/>
          <p:cNvSpPr/>
          <p:nvPr/>
        </p:nvSpPr>
        <p:spPr>
          <a:xfrm rot="10800000" flipH="1">
            <a:off x="323529" y="1997686"/>
            <a:ext cx="712959" cy="2883541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336579" y="4553372"/>
            <a:ext cx="367240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87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" grpId="0" animBg="1"/>
      <p:bldP spid="10" grpId="1" animBg="1"/>
      <p:bldP spid="10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62992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/>
          </p:nvPr>
        </p:nvGraphicFramePr>
        <p:xfrm>
          <a:off x="5309077" y="1052808"/>
          <a:ext cx="3583534" cy="12598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769677946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373048402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3658938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342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96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03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629891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384640"/>
              </p:ext>
            </p:extLst>
          </p:nvPr>
        </p:nvGraphicFramePr>
        <p:xfrm>
          <a:off x="243666" y="839448"/>
          <a:ext cx="4570172" cy="11582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925102932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1962777991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104391308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3639022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428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157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61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738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62992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/>
          </p:nvPr>
        </p:nvGraphicFramePr>
        <p:xfrm>
          <a:off x="5309077" y="1052808"/>
          <a:ext cx="3583534" cy="12598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769677946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373048402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3658938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342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96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03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629891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243666" y="839448"/>
          <a:ext cx="4570172" cy="147320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925102932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1962777991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104391308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3639022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428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157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615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850088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813838" y="2018585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79514" y="1952608"/>
            <a:ext cx="4634324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82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94488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01.11.3099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01.11.3099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/>
          </p:nvPr>
        </p:nvGraphicFramePr>
        <p:xfrm>
          <a:off x="5309077" y="1052808"/>
          <a:ext cx="3583534" cy="12598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769677946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373048402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3658938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342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96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03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629891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243666" y="839448"/>
          <a:ext cx="4570172" cy="147320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925102932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1962777991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104391308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3639022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428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157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615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850088"/>
                  </a:ext>
                </a:extLst>
              </a:tr>
            </a:tbl>
          </a:graphicData>
        </a:graphic>
      </p:graphicFrame>
      <p:sp>
        <p:nvSpPr>
          <p:cNvPr id="9" name="Стрелка углом 8"/>
          <p:cNvSpPr/>
          <p:nvPr/>
        </p:nvSpPr>
        <p:spPr>
          <a:xfrm rot="10800000" flipH="1">
            <a:off x="323527" y="2312647"/>
            <a:ext cx="712959" cy="2568579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336578" y="4863034"/>
            <a:ext cx="367240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43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94488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504106"/>
              </p:ext>
            </p:extLst>
          </p:nvPr>
        </p:nvGraphicFramePr>
        <p:xfrm>
          <a:off x="243666" y="830928"/>
          <a:ext cx="4570172" cy="147320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010730911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43846553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789659401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4212274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023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65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48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269745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5309077" y="1044288"/>
          <a:ext cx="3583534" cy="157480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36572682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767251723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575369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34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890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433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2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294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260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94488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243666" y="830928"/>
          <a:ext cx="4570172" cy="178816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010730911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43846553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789659401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4212274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023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65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48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269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454819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5309077" y="1044288"/>
          <a:ext cx="3583534" cy="157480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36572682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767251723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575369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34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890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433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2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294591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813838" y="2325025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79514" y="2279760"/>
            <a:ext cx="4634324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13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94488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243666" y="830928"/>
          <a:ext cx="4570172" cy="178816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010730911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43846553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789659401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4212274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023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65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48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269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454819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5309077" y="1044288"/>
          <a:ext cx="3583534" cy="157480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36572682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767251723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575369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34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890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433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2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294591"/>
                  </a:ext>
                </a:extLst>
              </a:tr>
            </a:tbl>
          </a:graphicData>
        </a:graphic>
      </p:graphicFrame>
      <p:sp>
        <p:nvSpPr>
          <p:cNvPr id="9" name="Стрелка углом 8"/>
          <p:cNvSpPr/>
          <p:nvPr/>
        </p:nvSpPr>
        <p:spPr>
          <a:xfrm rot="10800000" flipH="1">
            <a:off x="323527" y="2619087"/>
            <a:ext cx="712959" cy="2262139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336578" y="4521186"/>
            <a:ext cx="367240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95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94488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3125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367973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243666" y="830928"/>
          <a:ext cx="4570172" cy="178816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010730911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43846553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789659401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4212274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023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65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48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269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454819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5309077" y="1044288"/>
          <a:ext cx="3583534" cy="157480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36572682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767251723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575369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34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890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433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2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29459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220203" y="4045714"/>
            <a:ext cx="36724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rgbClr val="00B050"/>
                </a:solidFill>
              </a:rPr>
              <a:t>Расчет итогов на конец марта</a:t>
            </a:r>
          </a:p>
        </p:txBody>
      </p:sp>
    </p:spTree>
    <p:extLst>
      <p:ext uri="{BB962C8B-B14F-4D97-AF65-F5344CB8AC3E}">
        <p14:creationId xmlns:p14="http://schemas.microsoft.com/office/powerpoint/2010/main" val="1017479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3125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367973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243666" y="830928"/>
          <a:ext cx="4570172" cy="178816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010730911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43846553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789659401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4212274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023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65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48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269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454819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5309077" y="1044288"/>
          <a:ext cx="3583534" cy="157480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36572682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767251723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575369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34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890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433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2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29459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220203" y="4045714"/>
            <a:ext cx="36724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rgbClr val="00B050"/>
                </a:solidFill>
              </a:rPr>
              <a:t>Расчет итогов на конец марта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382829" y="4527412"/>
            <a:ext cx="3672408" cy="701787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00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71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661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1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6863"/>
              </p:ext>
            </p:extLst>
          </p:nvPr>
        </p:nvGraphicFramePr>
        <p:xfrm>
          <a:off x="243666" y="828814"/>
          <a:ext cx="4579316" cy="178816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181200876"/>
                    </a:ext>
                  </a:extLst>
                </a:gridCol>
                <a:gridCol w="995782">
                  <a:extLst>
                    <a:ext uri="{9D8B030D-6E8A-4147-A177-3AD203B41FA5}">
                      <a16:colId xmlns:a16="http://schemas.microsoft.com/office/drawing/2014/main" val="404601163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49804765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1400915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962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51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98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4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56039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/>
          </p:nvPr>
        </p:nvGraphicFramePr>
        <p:xfrm>
          <a:off x="5309077" y="1042174"/>
          <a:ext cx="3583534" cy="188976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3954746165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151077816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1468831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186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51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503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212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858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006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013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71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661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1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243666" y="828814"/>
          <a:ext cx="4579316" cy="210312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181200876"/>
                    </a:ext>
                  </a:extLst>
                </a:gridCol>
                <a:gridCol w="995782">
                  <a:extLst>
                    <a:ext uri="{9D8B030D-6E8A-4147-A177-3AD203B41FA5}">
                      <a16:colId xmlns:a16="http://schemas.microsoft.com/office/drawing/2014/main" val="404601163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49804765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1400915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962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51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98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4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56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324271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/>
          </p:nvPr>
        </p:nvGraphicFramePr>
        <p:xfrm>
          <a:off x="5309077" y="1042174"/>
          <a:ext cx="3583534" cy="188976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3954746165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151077816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1468831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186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51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503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212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858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006551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798267" y="2637871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203805" y="2592822"/>
            <a:ext cx="4634324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15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71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661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1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243666" y="828814"/>
          <a:ext cx="4579316" cy="210312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181200876"/>
                    </a:ext>
                  </a:extLst>
                </a:gridCol>
                <a:gridCol w="995782">
                  <a:extLst>
                    <a:ext uri="{9D8B030D-6E8A-4147-A177-3AD203B41FA5}">
                      <a16:colId xmlns:a16="http://schemas.microsoft.com/office/drawing/2014/main" val="404601163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49804765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1400915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962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51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98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4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56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324271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/>
          </p:nvPr>
        </p:nvGraphicFramePr>
        <p:xfrm>
          <a:off x="5309077" y="1042174"/>
          <a:ext cx="3583534" cy="188976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3954746165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151077816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1468831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186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51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503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212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858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006551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798267" y="2637871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углом 8"/>
          <p:cNvSpPr/>
          <p:nvPr/>
        </p:nvSpPr>
        <p:spPr>
          <a:xfrm rot="10800000" flipH="1">
            <a:off x="342221" y="2931933"/>
            <a:ext cx="712959" cy="2734391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1327946" y="5165452"/>
            <a:ext cx="367240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49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8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661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1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5309077" y="1051080"/>
          <a:ext cx="3583534" cy="220472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130333849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62483470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602223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794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911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90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755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975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581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11085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534987"/>
              </p:ext>
            </p:extLst>
          </p:nvPr>
        </p:nvGraphicFramePr>
        <p:xfrm>
          <a:off x="243666" y="837720"/>
          <a:ext cx="4589374" cy="210312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56646758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149376846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85150439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40893616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6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579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076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80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806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444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657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8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661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1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5309077" y="1051080"/>
          <a:ext cx="3583534" cy="220472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130333849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62483470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602223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794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911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90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755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975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581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11085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243666" y="837720"/>
          <a:ext cx="4589374" cy="24180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56646758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149376846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85150439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40893616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6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579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076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80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806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444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92896"/>
                  </a:ext>
                </a:extLst>
              </a:tr>
            </a:tbl>
          </a:graphicData>
        </a:graphic>
      </p:graphicFrame>
      <p:sp>
        <p:nvSpPr>
          <p:cNvPr id="10" name="Стрелка влево 9"/>
          <p:cNvSpPr/>
          <p:nvPr/>
        </p:nvSpPr>
        <p:spPr>
          <a:xfrm>
            <a:off x="4813838" y="2961737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211590" y="2904100"/>
            <a:ext cx="4634324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0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8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57283" y="4251308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661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1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5309077" y="1051080"/>
          <a:ext cx="3583534" cy="220472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130333849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62483470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602223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794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911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90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755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975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581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11085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243666" y="837720"/>
          <a:ext cx="4589374" cy="24180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256646758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149376846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85150439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40893616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6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579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076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80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806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444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92896"/>
                  </a:ext>
                </a:extLst>
              </a:tr>
            </a:tbl>
          </a:graphicData>
        </a:graphic>
      </p:graphicFrame>
      <p:sp>
        <p:nvSpPr>
          <p:cNvPr id="11" name="Стрелка углом 10"/>
          <p:cNvSpPr/>
          <p:nvPr/>
        </p:nvSpPr>
        <p:spPr>
          <a:xfrm rot="10800000" flipH="1">
            <a:off x="342221" y="3255799"/>
            <a:ext cx="712959" cy="2410524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1331640" y="5445224"/>
            <a:ext cx="367240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18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97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557283" y="4251308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661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1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29908"/>
              </p:ext>
            </p:extLst>
          </p:nvPr>
        </p:nvGraphicFramePr>
        <p:xfrm>
          <a:off x="251520" y="836712"/>
          <a:ext cx="4597604" cy="24180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876110829"/>
                    </a:ext>
                  </a:extLst>
                </a:gridCol>
                <a:gridCol w="1014070">
                  <a:extLst>
                    <a:ext uri="{9D8B030D-6E8A-4147-A177-3AD203B41FA5}">
                      <a16:colId xmlns:a16="http://schemas.microsoft.com/office/drawing/2014/main" val="35537757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179122026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4711773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162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891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705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6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164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93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99719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5309077" y="1050072"/>
          <a:ext cx="3583534" cy="25196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335643450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913589214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890256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8401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81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5357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129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387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905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75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54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22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97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557283" y="4251308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661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1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51520" y="836712"/>
          <a:ext cx="4597604" cy="27330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876110829"/>
                    </a:ext>
                  </a:extLst>
                </a:gridCol>
                <a:gridCol w="1014070">
                  <a:extLst>
                    <a:ext uri="{9D8B030D-6E8A-4147-A177-3AD203B41FA5}">
                      <a16:colId xmlns:a16="http://schemas.microsoft.com/office/drawing/2014/main" val="35537757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179122026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4711773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162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891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705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6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164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93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997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5525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5309077" y="1050072"/>
          <a:ext cx="3583534" cy="25196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335643450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913589214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890256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8401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81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5357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129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387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905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75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54672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813838" y="3274306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215517" y="3220176"/>
            <a:ext cx="4634324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33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597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557283" y="4251308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661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1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6549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51520" y="836712"/>
          <a:ext cx="4597604" cy="27330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876110829"/>
                    </a:ext>
                  </a:extLst>
                </a:gridCol>
                <a:gridCol w="1014070">
                  <a:extLst>
                    <a:ext uri="{9D8B030D-6E8A-4147-A177-3AD203B41FA5}">
                      <a16:colId xmlns:a16="http://schemas.microsoft.com/office/drawing/2014/main" val="35537757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179122026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4711773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162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891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705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6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164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93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997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5525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5309077" y="1050072"/>
          <a:ext cx="3583534" cy="251968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335643450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913589214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890256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8401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81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5357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129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387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905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75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54672"/>
                  </a:ext>
                </a:extLst>
              </a:tr>
            </a:tbl>
          </a:graphicData>
        </a:graphic>
      </p:graphicFrame>
      <p:sp>
        <p:nvSpPr>
          <p:cNvPr id="9" name="Стрелка углом 8"/>
          <p:cNvSpPr/>
          <p:nvPr/>
        </p:nvSpPr>
        <p:spPr>
          <a:xfrm rot="10800000" flipH="1">
            <a:off x="342221" y="3568368"/>
            <a:ext cx="712959" cy="2097955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331640" y="5445224"/>
            <a:ext cx="367240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43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645113"/>
              </p:ext>
            </p:extLst>
          </p:nvPr>
        </p:nvGraphicFramePr>
        <p:xfrm>
          <a:off x="251520" y="836712"/>
          <a:ext cx="4638751" cy="273304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Вид </a:t>
                      </a:r>
                      <a:b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движения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/>
          </p:nvPr>
        </p:nvGraphicFramePr>
        <p:xfrm>
          <a:off x="5275244" y="1050072"/>
          <a:ext cx="3651199" cy="283464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557728" y="4256652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233774713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577766991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2054337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472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28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221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446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36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800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251520" y="836712"/>
          <a:ext cx="4638751" cy="304800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Вид </a:t>
                      </a:r>
                      <a:b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движения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/>
          </p:nvPr>
        </p:nvGraphicFramePr>
        <p:xfrm>
          <a:off x="5275244" y="1050072"/>
          <a:ext cx="3651199" cy="283464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557728" y="4256652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233774713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577766991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2054337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472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28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221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446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36956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780005" y="3586226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75159" y="3550944"/>
            <a:ext cx="4815111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34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251520" y="836712"/>
          <a:ext cx="4638751" cy="304800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Вид </a:t>
                      </a:r>
                      <a:b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движения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/>
          </p:nvPr>
        </p:nvGraphicFramePr>
        <p:xfrm>
          <a:off x="5275244" y="1050072"/>
          <a:ext cx="3651199" cy="283464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557728" y="4256652"/>
          <a:ext cx="3332988" cy="15748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233774713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577766991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2054337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472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28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221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446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36956"/>
                  </a:ext>
                </a:extLst>
              </a:tr>
            </a:tbl>
          </a:graphicData>
        </a:graphic>
      </p:graphicFrame>
      <p:sp>
        <p:nvSpPr>
          <p:cNvPr id="9" name="Стрелка углом 8"/>
          <p:cNvSpPr/>
          <p:nvPr/>
        </p:nvSpPr>
        <p:spPr>
          <a:xfrm rot="10800000" flipH="1">
            <a:off x="342221" y="3880288"/>
            <a:ext cx="712959" cy="1786035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388018" y="5157192"/>
            <a:ext cx="367240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27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Таблица 16"/>
          <p:cNvGraphicFramePr>
            <a:graphicFrameLocks noGrp="1"/>
          </p:cNvGraphicFramePr>
          <p:nvPr>
            <p:extLst/>
          </p:nvPr>
        </p:nvGraphicFramePr>
        <p:xfrm>
          <a:off x="1475656" y="4221088"/>
          <a:ext cx="3400654" cy="1574800"/>
        </p:xfrm>
        <a:graphic>
          <a:graphicData uri="http://schemas.openxmlformats.org/drawingml/2006/table">
            <a:tbl>
              <a:tblPr/>
              <a:tblGrid>
                <a:gridCol w="1003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251520" y="836712"/>
          <a:ext cx="4638751" cy="304800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Вид </a:t>
                      </a:r>
                      <a:b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движения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/>
          </p:nvPr>
        </p:nvGraphicFramePr>
        <p:xfrm>
          <a:off x="5275244" y="1050072"/>
          <a:ext cx="3651199" cy="283464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8582" y="3789040"/>
            <a:ext cx="36724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rgbClr val="00B050"/>
                </a:solidFill>
              </a:rPr>
              <a:t>Расчет итогов на конец апреля</a:t>
            </a:r>
          </a:p>
        </p:txBody>
      </p:sp>
    </p:spTree>
    <p:extLst>
      <p:ext uri="{BB962C8B-B14F-4D97-AF65-F5344CB8AC3E}">
        <p14:creationId xmlns:p14="http://schemas.microsoft.com/office/powerpoint/2010/main" val="1597142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Таблица 16"/>
          <p:cNvGraphicFramePr>
            <a:graphicFrameLocks noGrp="1"/>
          </p:cNvGraphicFramePr>
          <p:nvPr>
            <p:extLst/>
          </p:nvPr>
        </p:nvGraphicFramePr>
        <p:xfrm>
          <a:off x="1475656" y="4221088"/>
          <a:ext cx="3400654" cy="2204720"/>
        </p:xfrm>
        <a:graphic>
          <a:graphicData uri="http://schemas.openxmlformats.org/drawingml/2006/table">
            <a:tbl>
              <a:tblPr/>
              <a:tblGrid>
                <a:gridCol w="1003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01.05.2018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01.05.2018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251520" y="836712"/>
          <a:ext cx="4638751" cy="304800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Вид </a:t>
                      </a:r>
                      <a:b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движения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  <a:endParaRPr lang="x-none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/>
          </p:nvPr>
        </p:nvGraphicFramePr>
        <p:xfrm>
          <a:off x="5275244" y="1050072"/>
          <a:ext cx="3651199" cy="283464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Документ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1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8582" y="3789040"/>
            <a:ext cx="36724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rgbClr val="00B050"/>
                </a:solidFill>
              </a:rPr>
              <a:t>Расчет итогов на конец апреля</a:t>
            </a:r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1331640" y="5157192"/>
            <a:ext cx="3672408" cy="64807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71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Итоги рассчитываются помесячно</a:t>
            </a:r>
          </a:p>
          <a:p>
            <a:r>
              <a:rPr lang="ru-RU" dirty="0"/>
              <a:t>Альтернативные периодичности рассмотрим позже в теме «Агрегаты»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Обороты</a:t>
            </a:r>
          </a:p>
        </p:txBody>
      </p:sp>
    </p:spTree>
    <p:extLst>
      <p:ext uri="{BB962C8B-B14F-4D97-AF65-F5344CB8AC3E}">
        <p14:creationId xmlns:p14="http://schemas.microsoft.com/office/powerpoint/2010/main" val="3730748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097054"/>
              </p:ext>
            </p:extLst>
          </p:nvPr>
        </p:nvGraphicFramePr>
        <p:xfrm>
          <a:off x="107504" y="911948"/>
          <a:ext cx="4294023" cy="31496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47635"/>
              </p:ext>
            </p:extLst>
          </p:nvPr>
        </p:nvGraphicFramePr>
        <p:xfrm>
          <a:off x="4716016" y="911948"/>
          <a:ext cx="4294023" cy="31496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47490"/>
              </p:ext>
            </p:extLst>
          </p:nvPr>
        </p:nvGraphicFramePr>
        <p:xfrm>
          <a:off x="1259632" y="4437112"/>
          <a:ext cx="4041648" cy="31496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142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92845"/>
              </p:ext>
            </p:extLst>
          </p:nvPr>
        </p:nvGraphicFramePr>
        <p:xfrm>
          <a:off x="107504" y="911948"/>
          <a:ext cx="4294023" cy="31496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6299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31496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001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6299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6299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31496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210945" y="1229740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5327" y="1196752"/>
            <a:ext cx="43263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65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798167"/>
              </p:ext>
            </p:extLst>
          </p:nvPr>
        </p:nvGraphicFramePr>
        <p:xfrm>
          <a:off x="107504" y="911948"/>
          <a:ext cx="4294023" cy="6299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317533"/>
              </p:ext>
            </p:extLst>
          </p:nvPr>
        </p:nvGraphicFramePr>
        <p:xfrm>
          <a:off x="4716016" y="911948"/>
          <a:ext cx="4294023" cy="6299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080883"/>
              </p:ext>
            </p:extLst>
          </p:nvPr>
        </p:nvGraphicFramePr>
        <p:xfrm>
          <a:off x="1259632" y="4437112"/>
          <a:ext cx="4041648" cy="62992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</a:tbl>
          </a:graphicData>
        </a:graphic>
      </p:graphicFrame>
      <p:sp>
        <p:nvSpPr>
          <p:cNvPr id="8" name="Стрелка углом 7"/>
          <p:cNvSpPr/>
          <p:nvPr/>
        </p:nvSpPr>
        <p:spPr>
          <a:xfrm rot="10800000" flipH="1">
            <a:off x="319532" y="1541867"/>
            <a:ext cx="712959" cy="3169111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178433" y="4710979"/>
            <a:ext cx="41586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13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784250"/>
              </p:ext>
            </p:extLst>
          </p:nvPr>
        </p:nvGraphicFramePr>
        <p:xfrm>
          <a:off x="107504" y="911948"/>
          <a:ext cx="4294023" cy="6299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9448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62992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966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9448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9448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62992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210945" y="1517772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5327" y="1484784"/>
            <a:ext cx="43263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72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9448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9448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62992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</a:tbl>
          </a:graphicData>
        </a:graphic>
      </p:graphicFrame>
      <p:sp>
        <p:nvSpPr>
          <p:cNvPr id="8" name="Стрелка углом 7"/>
          <p:cNvSpPr/>
          <p:nvPr/>
        </p:nvSpPr>
        <p:spPr>
          <a:xfrm rot="10800000" flipH="1">
            <a:off x="319532" y="1856827"/>
            <a:ext cx="712959" cy="2854151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178433" y="4710979"/>
            <a:ext cx="41586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2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20323"/>
              </p:ext>
            </p:extLst>
          </p:nvPr>
        </p:nvGraphicFramePr>
        <p:xfrm>
          <a:off x="107504" y="911948"/>
          <a:ext cx="4294023" cy="9448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125984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62992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4515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125984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125984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62992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210945" y="1877812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5327" y="1844824"/>
            <a:ext cx="43263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21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125984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125984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94488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</a:tbl>
          </a:graphicData>
        </a:graphic>
      </p:graphicFrame>
      <p:sp>
        <p:nvSpPr>
          <p:cNvPr id="8" name="Стрелка углом 7"/>
          <p:cNvSpPr/>
          <p:nvPr/>
        </p:nvSpPr>
        <p:spPr>
          <a:xfrm rot="10800000" flipH="1">
            <a:off x="319532" y="2171788"/>
            <a:ext cx="712959" cy="2841388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178433" y="5013176"/>
            <a:ext cx="41586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88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589745"/>
              </p:ext>
            </p:extLst>
          </p:nvPr>
        </p:nvGraphicFramePr>
        <p:xfrm>
          <a:off x="107504" y="911948"/>
          <a:ext cx="4294023" cy="125984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157480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94488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487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157480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157480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94488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210945" y="2165844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5327" y="2132856"/>
            <a:ext cx="43263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63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157480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157480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94488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</a:tbl>
          </a:graphicData>
        </a:graphic>
      </p:graphicFrame>
      <p:sp>
        <p:nvSpPr>
          <p:cNvPr id="8" name="Стрелка углом 7"/>
          <p:cNvSpPr/>
          <p:nvPr/>
        </p:nvSpPr>
        <p:spPr>
          <a:xfrm rot="10800000" flipH="1">
            <a:off x="319532" y="2486747"/>
            <a:ext cx="712959" cy="2224231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178433" y="4710979"/>
            <a:ext cx="41586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58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298102"/>
              </p:ext>
            </p:extLst>
          </p:nvPr>
        </p:nvGraphicFramePr>
        <p:xfrm>
          <a:off x="107504" y="911948"/>
          <a:ext cx="4294023" cy="157480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416752"/>
              </p:ext>
            </p:extLst>
          </p:nvPr>
        </p:nvGraphicFramePr>
        <p:xfrm>
          <a:off x="4716016" y="911948"/>
          <a:ext cx="4294023" cy="188976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378228"/>
              </p:ext>
            </p:extLst>
          </p:nvPr>
        </p:nvGraphicFramePr>
        <p:xfrm>
          <a:off x="1259632" y="4437112"/>
          <a:ext cx="4041648" cy="94488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7358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188976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41878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188976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94488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210945" y="2453876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5327" y="2420888"/>
            <a:ext cx="43263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14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999830"/>
              </p:ext>
            </p:extLst>
          </p:nvPr>
        </p:nvGraphicFramePr>
        <p:xfrm>
          <a:off x="107504" y="911948"/>
          <a:ext cx="4294023" cy="188976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41878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84054"/>
              </p:ext>
            </p:extLst>
          </p:nvPr>
        </p:nvGraphicFramePr>
        <p:xfrm>
          <a:off x="4716016" y="911948"/>
          <a:ext cx="4294023" cy="188976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594270"/>
              </p:ext>
            </p:extLst>
          </p:nvPr>
        </p:nvGraphicFramePr>
        <p:xfrm>
          <a:off x="1259632" y="4437112"/>
          <a:ext cx="4041648" cy="125984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95935"/>
                  </a:ext>
                </a:extLst>
              </a:tr>
            </a:tbl>
          </a:graphicData>
        </a:graphic>
      </p:graphicFrame>
      <p:sp>
        <p:nvSpPr>
          <p:cNvPr id="8" name="Стрелка углом 7"/>
          <p:cNvSpPr/>
          <p:nvPr/>
        </p:nvSpPr>
        <p:spPr>
          <a:xfrm rot="10800000" flipH="1">
            <a:off x="319532" y="2801708"/>
            <a:ext cx="712959" cy="2588440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178433" y="5390148"/>
            <a:ext cx="41586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690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707736"/>
              </p:ext>
            </p:extLst>
          </p:nvPr>
        </p:nvGraphicFramePr>
        <p:xfrm>
          <a:off x="107504" y="911948"/>
          <a:ext cx="4294023" cy="188976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41878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911759"/>
              </p:ext>
            </p:extLst>
          </p:nvPr>
        </p:nvGraphicFramePr>
        <p:xfrm>
          <a:off x="4716016" y="911948"/>
          <a:ext cx="4294023" cy="22047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576793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122157"/>
              </p:ext>
            </p:extLst>
          </p:nvPr>
        </p:nvGraphicFramePr>
        <p:xfrm>
          <a:off x="1259632" y="4437112"/>
          <a:ext cx="4041648" cy="125984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95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8239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22047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4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603478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22047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576793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583333"/>
              </p:ext>
            </p:extLst>
          </p:nvPr>
        </p:nvGraphicFramePr>
        <p:xfrm>
          <a:off x="1259632" y="4437112"/>
          <a:ext cx="4041648" cy="125984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1304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8359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95935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210945" y="2822605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5327" y="2789617"/>
            <a:ext cx="43263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55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757183"/>
              </p:ext>
            </p:extLst>
          </p:nvPr>
        </p:nvGraphicFramePr>
        <p:xfrm>
          <a:off x="107504" y="911948"/>
          <a:ext cx="4294023" cy="22047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4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603478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352620"/>
              </p:ext>
            </p:extLst>
          </p:nvPr>
        </p:nvGraphicFramePr>
        <p:xfrm>
          <a:off x="4716016" y="911948"/>
          <a:ext cx="4294023" cy="22047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576793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2924"/>
              </p:ext>
            </p:extLst>
          </p:nvPr>
        </p:nvGraphicFramePr>
        <p:xfrm>
          <a:off x="1259632" y="4437112"/>
          <a:ext cx="4041648" cy="157480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9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650680"/>
                  </a:ext>
                </a:extLst>
              </a:tr>
            </a:tbl>
          </a:graphicData>
        </a:graphic>
      </p:graphicFrame>
      <p:sp>
        <p:nvSpPr>
          <p:cNvPr id="8" name="Стрелка углом 7"/>
          <p:cNvSpPr/>
          <p:nvPr/>
        </p:nvSpPr>
        <p:spPr>
          <a:xfrm rot="10800000" flipH="1">
            <a:off x="342221" y="3116667"/>
            <a:ext cx="712959" cy="2549655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201122" y="5666323"/>
            <a:ext cx="41586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42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370129"/>
              </p:ext>
            </p:extLst>
          </p:nvPr>
        </p:nvGraphicFramePr>
        <p:xfrm>
          <a:off x="107504" y="911948"/>
          <a:ext cx="4294023" cy="220472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4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603478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243667"/>
              </p:ext>
            </p:extLst>
          </p:nvPr>
        </p:nvGraphicFramePr>
        <p:xfrm>
          <a:off x="4716016" y="911948"/>
          <a:ext cx="4294023" cy="25196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57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7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45461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087823"/>
              </p:ext>
            </p:extLst>
          </p:nvPr>
        </p:nvGraphicFramePr>
        <p:xfrm>
          <a:off x="1259632" y="4437112"/>
          <a:ext cx="4041648" cy="157480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9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650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5846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25196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4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60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7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805252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25196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57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7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45461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61186"/>
              </p:ext>
            </p:extLst>
          </p:nvPr>
        </p:nvGraphicFramePr>
        <p:xfrm>
          <a:off x="1259632" y="4437112"/>
          <a:ext cx="4041648" cy="157480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9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650680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190098" y="3101948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4480" y="3068960"/>
            <a:ext cx="43263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3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204291"/>
              </p:ext>
            </p:extLst>
          </p:nvPr>
        </p:nvGraphicFramePr>
        <p:xfrm>
          <a:off x="107504" y="911948"/>
          <a:ext cx="4294023" cy="25196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4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60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7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805252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240202"/>
              </p:ext>
            </p:extLst>
          </p:nvPr>
        </p:nvGraphicFramePr>
        <p:xfrm>
          <a:off x="4716016" y="911948"/>
          <a:ext cx="4294023" cy="25196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57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7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45461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988758"/>
              </p:ext>
            </p:extLst>
          </p:nvPr>
        </p:nvGraphicFramePr>
        <p:xfrm>
          <a:off x="1259632" y="4437112"/>
          <a:ext cx="4041648" cy="157480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9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520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650680"/>
                  </a:ext>
                </a:extLst>
              </a:tr>
            </a:tbl>
          </a:graphicData>
        </a:graphic>
      </p:graphicFrame>
      <p:sp>
        <p:nvSpPr>
          <p:cNvPr id="8" name="Стрелка углом 7"/>
          <p:cNvSpPr/>
          <p:nvPr/>
        </p:nvSpPr>
        <p:spPr>
          <a:xfrm rot="10800000" flipH="1">
            <a:off x="342221" y="3431627"/>
            <a:ext cx="712959" cy="2234695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201122" y="5666323"/>
            <a:ext cx="41586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57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409089"/>
              </p:ext>
            </p:extLst>
          </p:nvPr>
        </p:nvGraphicFramePr>
        <p:xfrm>
          <a:off x="107504" y="911948"/>
          <a:ext cx="4294023" cy="251968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4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60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7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805252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283464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57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7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45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8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934035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944318"/>
              </p:ext>
            </p:extLst>
          </p:nvPr>
        </p:nvGraphicFramePr>
        <p:xfrm>
          <a:off x="1259632" y="4437112"/>
          <a:ext cx="4041648" cy="157480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9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520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650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2316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283464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4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60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7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805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8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145473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283464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57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7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45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8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934035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157480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9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520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650680"/>
                  </a:ext>
                </a:extLst>
              </a:tr>
            </a:tbl>
          </a:graphicData>
        </a:graphic>
      </p:graphicFrame>
      <p:sp>
        <p:nvSpPr>
          <p:cNvPr id="8" name="Стрелка влево 7"/>
          <p:cNvSpPr/>
          <p:nvPr/>
        </p:nvSpPr>
        <p:spPr>
          <a:xfrm>
            <a:off x="4220777" y="3435605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75159" y="3402617"/>
            <a:ext cx="43263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00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84620" y="4766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0070C0"/>
                </a:solidFill>
              </a:rPr>
              <a:t>Таблица документа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470116"/>
            <a:ext cx="463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386104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/>
              <a:t>Таблица итогов Регистра Накопления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4" y="911948"/>
          <a:ext cx="4294023" cy="283464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722019178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3434076009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2318534404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8855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2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9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97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6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7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4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60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7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805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РН 8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145473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16016" y="911948"/>
          <a:ext cx="4294023" cy="2834640"/>
        </p:xfrm>
        <a:graphic>
          <a:graphicData uri="http://schemas.openxmlformats.org/drawingml/2006/table">
            <a:tbl>
              <a:tblPr/>
              <a:tblGrid>
                <a:gridCol w="1597457">
                  <a:extLst>
                    <a:ext uri="{9D8B030D-6E8A-4147-A177-3AD203B41FA5}">
                      <a16:colId xmlns:a16="http://schemas.microsoft.com/office/drawing/2014/main" val="3420721263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1454591054"/>
                    </a:ext>
                  </a:extLst>
                </a:gridCol>
                <a:gridCol w="737921">
                  <a:extLst>
                    <a:ext uri="{9D8B030D-6E8A-4147-A177-3AD203B41FA5}">
                      <a16:colId xmlns:a16="http://schemas.microsoft.com/office/drawing/2014/main" val="301108626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2246301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1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Н 1 от 03.03.2018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4 от 28.03.2018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0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5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6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57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7 от 22.04.2018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45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РН 8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934035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9632" y="4437112"/>
          <a:ext cx="4041648" cy="1574800"/>
        </p:xfrm>
        <a:graphic>
          <a:graphicData uri="http://schemas.openxmlformats.org/drawingml/2006/table">
            <a:tbl>
              <a:tblPr/>
              <a:tblGrid>
                <a:gridCol w="991210">
                  <a:extLst>
                    <a:ext uri="{9D8B030D-6E8A-4147-A177-3AD203B41FA5}">
                      <a16:colId xmlns:a16="http://schemas.microsoft.com/office/drawing/2014/main" val="2653960669"/>
                    </a:ext>
                  </a:extLst>
                </a:gridCol>
                <a:gridCol w="1331366">
                  <a:extLst>
                    <a:ext uri="{9D8B030D-6E8A-4147-A177-3AD203B41FA5}">
                      <a16:colId xmlns:a16="http://schemas.microsoft.com/office/drawing/2014/main" val="1721435932"/>
                    </a:ext>
                  </a:extLst>
                </a:gridCol>
                <a:gridCol w="1065276">
                  <a:extLst>
                    <a:ext uri="{9D8B030D-6E8A-4147-A177-3AD203B41FA5}">
                      <a16:colId xmlns:a16="http://schemas.microsoft.com/office/drawing/2014/main" val="1979997006"/>
                    </a:ext>
                  </a:extLst>
                </a:gridCol>
                <a:gridCol w="653796">
                  <a:extLst>
                    <a:ext uri="{9D8B030D-6E8A-4147-A177-3AD203B41FA5}">
                      <a16:colId xmlns:a16="http://schemas.microsoft.com/office/drawing/2014/main" val="3462646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  <a:endParaRPr lang="x-none" sz="14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9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303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9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520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650680"/>
                  </a:ext>
                </a:extLst>
              </a:tr>
            </a:tbl>
          </a:graphicData>
        </a:graphic>
      </p:graphicFrame>
      <p:sp>
        <p:nvSpPr>
          <p:cNvPr id="8" name="Стрелка углом 7"/>
          <p:cNvSpPr/>
          <p:nvPr/>
        </p:nvSpPr>
        <p:spPr>
          <a:xfrm rot="10800000" flipH="1">
            <a:off x="342221" y="3746587"/>
            <a:ext cx="712959" cy="1919735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205420" y="5373216"/>
            <a:ext cx="4158668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17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idx="1"/>
          </p:nvPr>
        </p:nvSpPr>
        <p:spPr>
          <a:xfrm>
            <a:off x="185862" y="1628800"/>
            <a:ext cx="8784000" cy="4608511"/>
          </a:xfrm>
        </p:spPr>
        <p:txBody>
          <a:bodyPr/>
          <a:lstStyle/>
          <a:p>
            <a:pPr algn="l"/>
            <a:r>
              <a:rPr lang="ru-RU" dirty="0"/>
              <a:t>Реальные</a:t>
            </a:r>
          </a:p>
          <a:p>
            <a:pPr algn="l"/>
            <a:r>
              <a:rPr lang="ru-RU" dirty="0"/>
              <a:t>Виртуальные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864096"/>
          </a:xfrm>
        </p:spPr>
        <p:txBody>
          <a:bodyPr/>
          <a:lstStyle/>
          <a:p>
            <a:r>
              <a:rPr lang="ru-RU" dirty="0"/>
              <a:t>Таблицы регистра накопления (остатки)</a:t>
            </a:r>
          </a:p>
        </p:txBody>
      </p:sp>
    </p:spTree>
    <p:extLst>
      <p:ext uri="{BB962C8B-B14F-4D97-AF65-F5344CB8AC3E}">
        <p14:creationId xmlns:p14="http://schemas.microsoft.com/office/powerpoint/2010/main" val="2451780666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404744"/>
              </p:ext>
            </p:extLst>
          </p:nvPr>
        </p:nvGraphicFramePr>
        <p:xfrm>
          <a:off x="327015" y="2636912"/>
          <a:ext cx="8424000" cy="2484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6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Номер</a:t>
                      </a:r>
                    </a:p>
                    <a:p>
                      <a:pPr algn="ctr"/>
                      <a:r>
                        <a:rPr lang="ru-RU" sz="1200" dirty="0"/>
                        <a:t>Строки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Активность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Вид</a:t>
                      </a:r>
                    </a:p>
                    <a:p>
                      <a:pPr algn="ctr"/>
                      <a:r>
                        <a:rPr lang="ru-RU" sz="1400"/>
                        <a:t>Движения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Бананы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 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02.03.2015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C00000"/>
                          </a:solidFill>
                          <a:latin typeface="+mn-lt"/>
                          <a:cs typeface="+mn-cs"/>
                        </a:rPr>
                        <a:t>Расход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 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02.03.2015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C00000"/>
                          </a:solidFill>
                          <a:latin typeface="+mn-lt"/>
                          <a:cs typeface="+mn-cs"/>
                        </a:rPr>
                        <a:t>Расход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Бананы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03.03.2015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1932571"/>
            <a:ext cx="6456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Таблица движений регистра «Остатки товаров»: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591" y="2371508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Измерение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960" y="2371508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Ресурс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Реальная таблица</a:t>
            </a:r>
          </a:p>
        </p:txBody>
      </p:sp>
    </p:spTree>
    <p:extLst>
      <p:ext uri="{BB962C8B-B14F-4D97-AF65-F5344CB8AC3E}">
        <p14:creationId xmlns:p14="http://schemas.microsoft.com/office/powerpoint/2010/main" val="69369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425720"/>
              </p:ext>
            </p:extLst>
          </p:nvPr>
        </p:nvGraphicFramePr>
        <p:xfrm>
          <a:off x="360000" y="4509120"/>
          <a:ext cx="5796176" cy="1404000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8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Остаток</a:t>
                      </a:r>
                      <a:endParaRPr lang="ru-RU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9641" y="1179726"/>
            <a:ext cx="2911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Таблица движений: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591" y="15105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Измерение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960" y="1510586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Ресурс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64561"/>
            <a:ext cx="8784976" cy="814600"/>
          </a:xfrm>
        </p:spPr>
        <p:txBody>
          <a:bodyPr/>
          <a:lstStyle/>
          <a:p>
            <a:r>
              <a:rPr lang="ru-RU" dirty="0"/>
              <a:t>Виртуальная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/>
              <a:t>таблица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«</a:t>
            </a:r>
            <a:r>
              <a:rPr lang="ru-RU" dirty="0"/>
              <a:t>Остатки»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30082"/>
              </p:ext>
            </p:extLst>
          </p:nvPr>
        </p:nvGraphicFramePr>
        <p:xfrm>
          <a:off x="327015" y="1772816"/>
          <a:ext cx="8424000" cy="2484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6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Номер</a:t>
                      </a:r>
                    </a:p>
                    <a:p>
                      <a:pPr algn="ctr"/>
                      <a:r>
                        <a:rPr lang="ru-RU" sz="1200" dirty="0"/>
                        <a:t>Строки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Активность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Вид</a:t>
                      </a:r>
                    </a:p>
                    <a:p>
                      <a:pPr algn="ctr"/>
                      <a:r>
                        <a:rPr lang="ru-RU" sz="1400"/>
                        <a:t>Движения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Бананы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 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02.03.2015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C00000"/>
                          </a:solidFill>
                          <a:latin typeface="+mn-lt"/>
                          <a:cs typeface="+mn-cs"/>
                        </a:rPr>
                        <a:t>Расход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 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02.03.2015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C00000"/>
                          </a:solidFill>
                          <a:latin typeface="+mn-lt"/>
                          <a:cs typeface="+mn-cs"/>
                        </a:rPr>
                        <a:t>Расход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Бананы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03.03.2015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52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732007"/>
              </p:ext>
            </p:extLst>
          </p:nvPr>
        </p:nvGraphicFramePr>
        <p:xfrm>
          <a:off x="358579" y="4509120"/>
          <a:ext cx="8426843" cy="1676400"/>
        </p:xfrm>
        <a:graphic>
          <a:graphicData uri="http://schemas.openxmlformats.org/drawingml/2006/table">
            <a:tbl>
              <a:tblPr firstRow="1">
                <a:tableStyleId>{35758FB7-9AC5-4552-8A53-C91805E547FA}</a:tableStyleId>
              </a:tblPr>
              <a:tblGrid>
                <a:gridCol w="263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1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  <a:endParaRPr lang="ru-RU" dirty="0"/>
                    </a:p>
                    <a:p>
                      <a:pPr algn="ctr"/>
                      <a:r>
                        <a:rPr lang="ru-RU" dirty="0"/>
                        <a:t>Приход</a:t>
                      </a:r>
                      <a:endParaRPr lang="ru-RU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  <a:endParaRPr lang="ru-RU" dirty="0"/>
                    </a:p>
                    <a:p>
                      <a:pPr algn="ctr"/>
                      <a:r>
                        <a:rPr lang="ru-RU" dirty="0"/>
                        <a:t>Расход</a:t>
                      </a:r>
                      <a:endParaRPr lang="ru-RU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  <a:endParaRPr lang="ru-RU" dirty="0"/>
                    </a:p>
                    <a:p>
                      <a:pPr algn="ctr"/>
                      <a:r>
                        <a:rPr lang="ru-RU" dirty="0"/>
                        <a:t>Оборот</a:t>
                      </a:r>
                      <a:endParaRPr lang="ru-RU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dirty="0"/>
                        <a:t>Бананы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67677"/>
            <a:ext cx="8784976" cy="759618"/>
          </a:xfrm>
        </p:spPr>
        <p:txBody>
          <a:bodyPr>
            <a:normAutofit/>
          </a:bodyPr>
          <a:lstStyle/>
          <a:p>
            <a:r>
              <a:rPr lang="ru-RU" dirty="0"/>
              <a:t>Виртуальная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/>
              <a:t>таблица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«</a:t>
            </a:r>
            <a:r>
              <a:rPr lang="ru-RU" dirty="0"/>
              <a:t>Обороты»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641" y="1179726"/>
            <a:ext cx="2911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Таблица движений: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5591" y="15105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Измерение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960" y="1510586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Ресурс</a:t>
            </a: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58412"/>
              </p:ext>
            </p:extLst>
          </p:nvPr>
        </p:nvGraphicFramePr>
        <p:xfrm>
          <a:off x="327015" y="1772816"/>
          <a:ext cx="8424000" cy="2484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6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Номер</a:t>
                      </a:r>
                    </a:p>
                    <a:p>
                      <a:pPr algn="ctr"/>
                      <a:r>
                        <a:rPr lang="ru-RU" sz="1200" dirty="0"/>
                        <a:t>Строки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Активность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Вид</a:t>
                      </a:r>
                    </a:p>
                    <a:p>
                      <a:pPr algn="ctr"/>
                      <a:r>
                        <a:rPr lang="ru-RU" sz="1400"/>
                        <a:t>Движения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Бананы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 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02.03.2015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C00000"/>
                          </a:solidFill>
                          <a:latin typeface="+mn-lt"/>
                          <a:cs typeface="+mn-cs"/>
                        </a:rPr>
                        <a:t>Расход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 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02.03.2015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C00000"/>
                          </a:solidFill>
                          <a:latin typeface="+mn-lt"/>
                          <a:cs typeface="+mn-cs"/>
                        </a:rPr>
                        <a:t>Расход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Бананы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03.03.2015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50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0424"/>
              </p:ext>
            </p:extLst>
          </p:nvPr>
        </p:nvGraphicFramePr>
        <p:xfrm>
          <a:off x="358579" y="4509120"/>
          <a:ext cx="8427600" cy="156972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519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Количество</a:t>
                      </a:r>
                      <a:endParaRPr kumimoji="0" lang="ru-RU" sz="14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Начальный Остаток</a:t>
                      </a:r>
                      <a:endParaRPr kumimoji="0" lang="ru-RU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504D">
                            <a:lumMod val="40000"/>
                            <a:lumOff val="60000"/>
                          </a:srgb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Количество</a:t>
                      </a:r>
                      <a:endParaRPr lang="ru-RU" sz="1400" dirty="0"/>
                    </a:p>
                    <a:p>
                      <a:pPr algn="ctr"/>
                      <a:r>
                        <a:rPr lang="ru-RU" sz="1400" dirty="0"/>
                        <a:t>Приход</a:t>
                      </a:r>
                      <a:endParaRPr lang="ru-RU" sz="14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Количество</a:t>
                      </a:r>
                      <a:endParaRPr lang="ru-RU" sz="1400" dirty="0"/>
                    </a:p>
                    <a:p>
                      <a:pPr algn="ctr"/>
                      <a:r>
                        <a:rPr lang="ru-RU" sz="1400" dirty="0"/>
                        <a:t>Расход</a:t>
                      </a:r>
                      <a:endParaRPr lang="ru-RU" sz="12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Количество</a:t>
                      </a:r>
                      <a:endParaRPr lang="ru-RU" sz="1400" dirty="0"/>
                    </a:p>
                    <a:p>
                      <a:pPr algn="ctr"/>
                      <a:r>
                        <a:rPr lang="ru-RU" sz="1400" dirty="0"/>
                        <a:t>Оборот</a:t>
                      </a:r>
                      <a:endParaRPr lang="ru-RU" sz="12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Количество</a:t>
                      </a:r>
                      <a:endParaRPr kumimoji="0" lang="ru-RU" sz="14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Конечный Остаток</a:t>
                      </a:r>
                      <a:endParaRPr kumimoji="0" lang="ru-RU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504D">
                            <a:lumMod val="40000"/>
                            <a:lumOff val="60000"/>
                          </a:srgb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dirty="0"/>
                        <a:t>Бананы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63557"/>
            <a:ext cx="8784976" cy="75961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FF0000"/>
                </a:solidFill>
              </a:rPr>
              <a:t>Виртуальная таблица «Остатки и обороты»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641" y="1179726"/>
            <a:ext cx="2911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Таблица движений: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5591" y="15105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Измерение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960" y="1510586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Ресурс</a:t>
            </a:r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58412"/>
              </p:ext>
            </p:extLst>
          </p:nvPr>
        </p:nvGraphicFramePr>
        <p:xfrm>
          <a:off x="327015" y="1772816"/>
          <a:ext cx="8424000" cy="2484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6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Номер</a:t>
                      </a:r>
                    </a:p>
                    <a:p>
                      <a:pPr algn="ctr"/>
                      <a:r>
                        <a:rPr lang="ru-RU" sz="1200" dirty="0"/>
                        <a:t>Строки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Активность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Вид</a:t>
                      </a:r>
                    </a:p>
                    <a:p>
                      <a:pPr algn="ctr"/>
                      <a:r>
                        <a:rPr lang="ru-RU" sz="1400"/>
                        <a:t>Движения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Бананы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 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02.03.2015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C00000"/>
                          </a:solidFill>
                          <a:latin typeface="+mn-lt"/>
                          <a:cs typeface="+mn-cs"/>
                        </a:rPr>
                        <a:t>Расход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 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02.03.2015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C00000"/>
                          </a:solidFill>
                          <a:latin typeface="+mn-lt"/>
                          <a:cs typeface="+mn-cs"/>
                        </a:rPr>
                        <a:t>Расход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Бананы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Поступление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03.03.2015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00B050"/>
                          </a:solidFill>
                          <a:latin typeface="+mn-lt"/>
                          <a:cs typeface="+mn-cs"/>
                        </a:rPr>
                        <a:t>Приход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56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idx="1"/>
          </p:nvPr>
        </p:nvSpPr>
        <p:spPr>
          <a:xfrm>
            <a:off x="185862" y="1628800"/>
            <a:ext cx="8784000" cy="4608511"/>
          </a:xfrm>
        </p:spPr>
        <p:txBody>
          <a:bodyPr/>
          <a:lstStyle/>
          <a:p>
            <a:pPr algn="l"/>
            <a:r>
              <a:rPr lang="ru-RU" dirty="0"/>
              <a:t>Реальные</a:t>
            </a:r>
          </a:p>
          <a:p>
            <a:pPr algn="l"/>
            <a:r>
              <a:rPr lang="ru-RU" dirty="0"/>
              <a:t>Виртуальные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936104"/>
          </a:xfrm>
        </p:spPr>
        <p:txBody>
          <a:bodyPr/>
          <a:lstStyle/>
          <a:p>
            <a:r>
              <a:rPr lang="ru-RU" dirty="0"/>
              <a:t>Таблицы регистра накопления (обороты)</a:t>
            </a:r>
          </a:p>
        </p:txBody>
      </p:sp>
    </p:spTree>
    <p:extLst>
      <p:ext uri="{BB962C8B-B14F-4D97-AF65-F5344CB8AC3E}">
        <p14:creationId xmlns:p14="http://schemas.microsoft.com/office/powerpoint/2010/main" val="737733561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53691"/>
              </p:ext>
            </p:extLst>
          </p:nvPr>
        </p:nvGraphicFramePr>
        <p:xfrm>
          <a:off x="327015" y="2636912"/>
          <a:ext cx="8424000" cy="2484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6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Номер</a:t>
                      </a:r>
                    </a:p>
                    <a:p>
                      <a:pPr algn="ctr"/>
                      <a:r>
                        <a:rPr lang="ru-RU" sz="1200" dirty="0"/>
                        <a:t>Строки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Активность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Груши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Бананы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02.03.2015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Груши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03.03.2015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Груши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03.03.2015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1909843"/>
            <a:ext cx="5520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Таблица движений регистра «Продажи»: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8969" y="235235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Измерение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960" y="2371508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Ресурс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Реальная таблица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9830" y="2352356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Ресурс</a:t>
            </a:r>
          </a:p>
        </p:txBody>
      </p:sp>
    </p:spTree>
    <p:extLst>
      <p:ext uri="{BB962C8B-B14F-4D97-AF65-F5344CB8AC3E}">
        <p14:creationId xmlns:p14="http://schemas.microsoft.com/office/powerpoint/2010/main" val="57952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557962"/>
              </p:ext>
            </p:extLst>
          </p:nvPr>
        </p:nvGraphicFramePr>
        <p:xfrm>
          <a:off x="358579" y="4509120"/>
          <a:ext cx="6495592" cy="1676400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263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</a:t>
                      </a:r>
                      <a:endParaRPr lang="ru-RU" dirty="0"/>
                    </a:p>
                    <a:p>
                      <a:pPr algn="ctr"/>
                      <a:r>
                        <a:rPr lang="ru-RU" dirty="0"/>
                        <a:t>Оборот</a:t>
                      </a:r>
                      <a:endParaRPr lang="ru-RU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  <a:endParaRPr lang="ru-RU" dirty="0"/>
                    </a:p>
                    <a:p>
                      <a:pPr algn="ctr"/>
                      <a:r>
                        <a:rPr lang="ru-RU" dirty="0"/>
                        <a:t>Оборот</a:t>
                      </a:r>
                      <a:endParaRPr lang="ru-RU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dirty="0"/>
                        <a:t>Бананы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/>
          </a:bodyPr>
          <a:lstStyle/>
          <a:p>
            <a:r>
              <a:rPr lang="ru-RU" dirty="0"/>
              <a:t>Виртуальная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/>
              <a:t>таблица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«</a:t>
            </a:r>
            <a:r>
              <a:rPr lang="ru-RU" dirty="0"/>
              <a:t>Обороты»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641" y="1179726"/>
            <a:ext cx="2911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Таблица движений: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932762"/>
              </p:ext>
            </p:extLst>
          </p:nvPr>
        </p:nvGraphicFramePr>
        <p:xfrm>
          <a:off x="327015" y="1665080"/>
          <a:ext cx="8424000" cy="2484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6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Номер</a:t>
                      </a:r>
                    </a:p>
                    <a:p>
                      <a:pPr algn="ctr"/>
                      <a:r>
                        <a:rPr lang="ru-RU" sz="1200" dirty="0"/>
                        <a:t>Строки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Активность</a:t>
                      </a:r>
                      <a:endParaRPr lang="ru-RU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Груши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01.03.2015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Бананы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02.03.2015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Груши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03.03.2015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Груши</a:t>
                      </a:r>
                      <a:endParaRPr lang="ru-RU" sz="14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Реализация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Истина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03.03.2015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78969" y="1380524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Измерение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960" y="1399676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Ресурс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9830" y="1380524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50" b="1" u="sng" dirty="0"/>
              <a:t>Ресурс</a:t>
            </a:r>
          </a:p>
        </p:txBody>
      </p:sp>
    </p:spTree>
    <p:extLst>
      <p:ext uri="{BB962C8B-B14F-4D97-AF65-F5344CB8AC3E}">
        <p14:creationId xmlns:p14="http://schemas.microsoft.com/office/powerpoint/2010/main" val="284452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0" grpId="0"/>
      <p:bldP spid="1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Табличный документ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480145"/>
            <a:ext cx="7486650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74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Программный объект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5" y="1876425"/>
            <a:ext cx="390525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26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Область (1,1,4,2)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484784"/>
            <a:ext cx="7486650" cy="482917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187624" y="1916832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01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4079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Автоматическое заполнение табличного документа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898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768791"/>
          </a:xfrm>
        </p:spPr>
        <p:txBody>
          <a:bodyPr>
            <a:noAutofit/>
          </a:bodyPr>
          <a:lstStyle/>
          <a:p>
            <a:r>
              <a:rPr lang="ru-RU" sz="2400" dirty="0" err="1" smtClean="0"/>
              <a:t>Область_Первая</a:t>
            </a:r>
            <a:r>
              <a:rPr lang="ru-RU" sz="2400" dirty="0" smtClean="0"/>
              <a:t> = </a:t>
            </a:r>
            <a:r>
              <a:rPr lang="ru-RU" sz="2400" dirty="0" err="1" smtClean="0"/>
              <a:t>ПолучитьОбласть</a:t>
            </a:r>
            <a:r>
              <a:rPr lang="ru-RU" sz="2400" dirty="0" smtClean="0"/>
              <a:t> (Первая);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90" y="2132856"/>
            <a:ext cx="4237934" cy="410445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622" y="2175719"/>
            <a:ext cx="3816424" cy="408721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099" y="1396488"/>
            <a:ext cx="15716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3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err="1" smtClean="0"/>
              <a:t>Область_Вторая</a:t>
            </a:r>
            <a:r>
              <a:rPr lang="ru-RU" sz="2400" dirty="0" smtClean="0"/>
              <a:t> = </a:t>
            </a:r>
            <a:r>
              <a:rPr lang="ru-RU" sz="2400" dirty="0" err="1" smtClean="0"/>
              <a:t>ПолучитьОбласть</a:t>
            </a:r>
            <a:r>
              <a:rPr lang="ru-RU" sz="2400" dirty="0" smtClean="0"/>
              <a:t> (Вторая);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90" y="2132856"/>
            <a:ext cx="4237934" cy="410445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622" y="2175719"/>
            <a:ext cx="3816424" cy="408721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396488"/>
            <a:ext cx="1571625" cy="6096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099" y="1396488"/>
            <a:ext cx="15716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95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Вывести(</a:t>
            </a:r>
            <a:r>
              <a:rPr lang="ru-RU" dirty="0" err="1" smtClean="0"/>
              <a:t>Область_Первая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2856"/>
            <a:ext cx="4237934" cy="410445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132857"/>
            <a:ext cx="3826768" cy="4142818"/>
          </a:xfrm>
          <a:prstGeom prst="rect">
            <a:avLst/>
          </a:prstGeom>
        </p:spPr>
      </p:pic>
      <p:sp>
        <p:nvSpPr>
          <p:cNvPr id="6" name="Стрелка вниз 5"/>
          <p:cNvSpPr/>
          <p:nvPr/>
        </p:nvSpPr>
        <p:spPr>
          <a:xfrm>
            <a:off x="2576167" y="1371552"/>
            <a:ext cx="288032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396488"/>
            <a:ext cx="1571625" cy="6096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099" y="1396488"/>
            <a:ext cx="15716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44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Присоединить(</a:t>
            </a:r>
            <a:r>
              <a:rPr lang="ru-RU" dirty="0" err="1" smtClean="0"/>
              <a:t>Область_Вторая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53" y="2060848"/>
            <a:ext cx="4237934" cy="410445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2060848"/>
            <a:ext cx="3803206" cy="4118013"/>
          </a:xfrm>
          <a:prstGeom prst="rect">
            <a:avLst/>
          </a:prstGeom>
        </p:spPr>
      </p:pic>
      <p:sp>
        <p:nvSpPr>
          <p:cNvPr id="6" name="Стрелка вправо 5"/>
          <p:cNvSpPr/>
          <p:nvPr/>
        </p:nvSpPr>
        <p:spPr>
          <a:xfrm>
            <a:off x="6596535" y="1571441"/>
            <a:ext cx="79208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396488"/>
            <a:ext cx="1571625" cy="6096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099" y="1396488"/>
            <a:ext cx="15716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8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Присоединить(</a:t>
            </a:r>
            <a:r>
              <a:rPr lang="ru-RU" dirty="0" err="1" smtClean="0"/>
              <a:t>Область_Вторая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2856"/>
            <a:ext cx="4237934" cy="410445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2132856"/>
            <a:ext cx="3829050" cy="4135374"/>
          </a:xfrm>
          <a:prstGeom prst="rect">
            <a:avLst/>
          </a:prstGeom>
        </p:spPr>
      </p:pic>
      <p:sp>
        <p:nvSpPr>
          <p:cNvPr id="6" name="Стрелка вправо 5"/>
          <p:cNvSpPr/>
          <p:nvPr/>
        </p:nvSpPr>
        <p:spPr>
          <a:xfrm>
            <a:off x="6716635" y="1563084"/>
            <a:ext cx="79208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396488"/>
            <a:ext cx="1571625" cy="6096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099" y="1396488"/>
            <a:ext cx="15716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Вывести(</a:t>
            </a:r>
            <a:r>
              <a:rPr lang="ru-RU" dirty="0" err="1" smtClean="0"/>
              <a:t>Область_Вторая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54" y="2132856"/>
            <a:ext cx="4237934" cy="41044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554" y="2132856"/>
            <a:ext cx="3848100" cy="4120532"/>
          </a:xfrm>
          <a:prstGeom prst="rect">
            <a:avLst/>
          </a:prstGeom>
        </p:spPr>
      </p:pic>
      <p:sp>
        <p:nvSpPr>
          <p:cNvPr id="7" name="Стрелка вниз 6"/>
          <p:cNvSpPr/>
          <p:nvPr/>
        </p:nvSpPr>
        <p:spPr>
          <a:xfrm>
            <a:off x="6706306" y="1361787"/>
            <a:ext cx="288032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396488"/>
            <a:ext cx="1571625" cy="6096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099" y="1396488"/>
            <a:ext cx="15716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Присоединить(</a:t>
            </a:r>
            <a:r>
              <a:rPr lang="ru-RU" dirty="0" err="1" smtClean="0"/>
              <a:t>Область_Первая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21" y="2132856"/>
            <a:ext cx="4237934" cy="41044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153" y="2132857"/>
            <a:ext cx="3833647" cy="4104456"/>
          </a:xfrm>
          <a:prstGeom prst="rect">
            <a:avLst/>
          </a:prstGeom>
        </p:spPr>
      </p:pic>
      <p:sp>
        <p:nvSpPr>
          <p:cNvPr id="6" name="Стрелка вправо 5"/>
          <p:cNvSpPr/>
          <p:nvPr/>
        </p:nvSpPr>
        <p:spPr>
          <a:xfrm>
            <a:off x="2173244" y="1592326"/>
            <a:ext cx="79208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396488"/>
            <a:ext cx="1571625" cy="6096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099" y="1396488"/>
            <a:ext cx="15716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8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Вывести(</a:t>
            </a:r>
            <a:r>
              <a:rPr lang="ru-RU" dirty="0" err="1" smtClean="0"/>
              <a:t>Область_Первая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96" y="2132856"/>
            <a:ext cx="4237934" cy="41044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528" y="2132857"/>
            <a:ext cx="3826768" cy="4114622"/>
          </a:xfrm>
          <a:prstGeom prst="rect">
            <a:avLst/>
          </a:prstGeom>
        </p:spPr>
      </p:pic>
      <p:sp>
        <p:nvSpPr>
          <p:cNvPr id="7" name="Стрелка вниз 6"/>
          <p:cNvSpPr/>
          <p:nvPr/>
        </p:nvSpPr>
        <p:spPr>
          <a:xfrm>
            <a:off x="2569663" y="1409914"/>
            <a:ext cx="288032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396488"/>
            <a:ext cx="1571625" cy="6096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099" y="1396488"/>
            <a:ext cx="15716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2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Макет табличного документа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1772816"/>
            <a:ext cx="428625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6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офтБаланс_основные_объект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основные_объекты" id="{62BD0483-928A-448D-BBAD-621E3072F039}" vid="{487075A3-1F89-4279-8755-8EA96074D5C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СофтБаланс_основные_объекты</Template>
  <TotalTime>810</TotalTime>
  <Words>6771</Words>
  <Application>Microsoft Office PowerPoint</Application>
  <PresentationFormat>Экран (4:3)</PresentationFormat>
  <Paragraphs>3418</Paragraphs>
  <Slides>82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82</vt:i4>
      </vt:variant>
    </vt:vector>
  </HeadingPairs>
  <TitlesOfParts>
    <vt:vector size="90" baseType="lpstr">
      <vt:lpstr>Arial</vt:lpstr>
      <vt:lpstr>Arial Black</vt:lpstr>
      <vt:lpstr>Calibri</vt:lpstr>
      <vt:lpstr>Courier New</vt:lpstr>
      <vt:lpstr>Tahoma</vt:lpstr>
      <vt:lpstr>Verdana</vt:lpstr>
      <vt:lpstr>Wingdings</vt:lpstr>
      <vt:lpstr>СофтБаланс_основные_объекты</vt:lpstr>
      <vt:lpstr>Занятие 07</vt:lpstr>
      <vt:lpstr>Зачем нужны регистры накопления</vt:lpstr>
      <vt:lpstr>Получение остатков из данных документов</vt:lpstr>
      <vt:lpstr>Регистр накопления – средство рассчитать нарастающий итог</vt:lpstr>
      <vt:lpstr>Логика работы регистров накопления</vt:lpstr>
      <vt:lpstr>Остатки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Обороты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Таблицы регистра накопления (остатки)</vt:lpstr>
      <vt:lpstr>Реальная таблица</vt:lpstr>
      <vt:lpstr>Виртуальная таблица «Остатки»</vt:lpstr>
      <vt:lpstr>Виртуальная таблица «Обороты»</vt:lpstr>
      <vt:lpstr>Виртуальная таблица «Остатки и обороты»</vt:lpstr>
      <vt:lpstr>Таблицы регистра накопления (обороты)</vt:lpstr>
      <vt:lpstr>Реальная таблица</vt:lpstr>
      <vt:lpstr>Виртуальная таблица «Обороты»</vt:lpstr>
      <vt:lpstr>Табличный документ</vt:lpstr>
      <vt:lpstr>Программный объект</vt:lpstr>
      <vt:lpstr>Область (1,1,4,2)</vt:lpstr>
      <vt:lpstr>Автоматическое заполнение табличного документа</vt:lpstr>
      <vt:lpstr>Область_Первая = ПолучитьОбласть (Первая);</vt:lpstr>
      <vt:lpstr>Область_Вторая = ПолучитьОбласть (Вторая);</vt:lpstr>
      <vt:lpstr>Вывести(Область_Первая)</vt:lpstr>
      <vt:lpstr>Присоединить(Область_Вторая)</vt:lpstr>
      <vt:lpstr>Присоединить(Область_Вторая)</vt:lpstr>
      <vt:lpstr>Вывести(Область_Вторая)</vt:lpstr>
      <vt:lpstr>Присоединить(Область_Первая)</vt:lpstr>
      <vt:lpstr>Вывести(Область_Первая)</vt:lpstr>
      <vt:lpstr>Макет табличного документа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Зачем нужны регистры накопления</dc:title>
  <dc:creator>Sizov</dc:creator>
  <cp:lastModifiedBy>eugeniy sizov</cp:lastModifiedBy>
  <cp:revision>51</cp:revision>
  <dcterms:created xsi:type="dcterms:W3CDTF">2012-12-06T06:53:14Z</dcterms:created>
  <dcterms:modified xsi:type="dcterms:W3CDTF">2019-04-14T11:13:54Z</dcterms:modified>
</cp:coreProperties>
</file>