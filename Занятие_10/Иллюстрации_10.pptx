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5"/>
  </p:notesMasterIdLst>
  <p:sldIdLst>
    <p:sldId id="256" r:id="rId2"/>
    <p:sldId id="359" r:id="rId3"/>
    <p:sldId id="360" r:id="rId4"/>
    <p:sldId id="438" r:id="rId5"/>
    <p:sldId id="448" r:id="rId6"/>
    <p:sldId id="449" r:id="rId7"/>
    <p:sldId id="450" r:id="rId8"/>
    <p:sldId id="451" r:id="rId9"/>
    <p:sldId id="452" r:id="rId10"/>
    <p:sldId id="453" r:id="rId11"/>
    <p:sldId id="468" r:id="rId12"/>
    <p:sldId id="454" r:id="rId13"/>
    <p:sldId id="455" r:id="rId14"/>
    <p:sldId id="456" r:id="rId15"/>
    <p:sldId id="457" r:id="rId16"/>
    <p:sldId id="434" r:id="rId17"/>
    <p:sldId id="458" r:id="rId18"/>
    <p:sldId id="459" r:id="rId19"/>
    <p:sldId id="460" r:id="rId20"/>
    <p:sldId id="462" r:id="rId21"/>
    <p:sldId id="463" r:id="rId22"/>
    <p:sldId id="469" r:id="rId23"/>
    <p:sldId id="464" r:id="rId24"/>
    <p:sldId id="465" r:id="rId25"/>
    <p:sldId id="466" r:id="rId26"/>
    <p:sldId id="467" r:id="rId27"/>
    <p:sldId id="361" r:id="rId28"/>
    <p:sldId id="362" r:id="rId29"/>
    <p:sldId id="444" r:id="rId30"/>
    <p:sldId id="440" r:id="rId31"/>
    <p:sldId id="441" r:id="rId32"/>
    <p:sldId id="442" r:id="rId33"/>
    <p:sldId id="445" r:id="rId34"/>
    <p:sldId id="363" r:id="rId35"/>
    <p:sldId id="446" r:id="rId36"/>
    <p:sldId id="447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77" r:id="rId51"/>
    <p:sldId id="378" r:id="rId52"/>
    <p:sldId id="379" r:id="rId53"/>
    <p:sldId id="388" r:id="rId54"/>
    <p:sldId id="389" r:id="rId55"/>
    <p:sldId id="390" r:id="rId56"/>
    <p:sldId id="391" r:id="rId57"/>
    <p:sldId id="392" r:id="rId58"/>
    <p:sldId id="393" r:id="rId59"/>
    <p:sldId id="394" r:id="rId60"/>
    <p:sldId id="395" r:id="rId61"/>
    <p:sldId id="396" r:id="rId62"/>
    <p:sldId id="397" r:id="rId63"/>
    <p:sldId id="398" r:id="rId64"/>
    <p:sldId id="399" r:id="rId65"/>
    <p:sldId id="400" r:id="rId66"/>
    <p:sldId id="401" r:id="rId67"/>
    <p:sldId id="402" r:id="rId68"/>
    <p:sldId id="336" r:id="rId69"/>
    <p:sldId id="337" r:id="rId70"/>
    <p:sldId id="338" r:id="rId71"/>
    <p:sldId id="339" r:id="rId72"/>
    <p:sldId id="340" r:id="rId73"/>
    <p:sldId id="341" r:id="rId74"/>
    <p:sldId id="342" r:id="rId75"/>
    <p:sldId id="343" r:id="rId76"/>
    <p:sldId id="344" r:id="rId77"/>
    <p:sldId id="345" r:id="rId78"/>
    <p:sldId id="346" r:id="rId79"/>
    <p:sldId id="347" r:id="rId80"/>
    <p:sldId id="348" r:id="rId81"/>
    <p:sldId id="349" r:id="rId82"/>
    <p:sldId id="350" r:id="rId83"/>
    <p:sldId id="351" r:id="rId8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04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116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203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89E6E76A-A04D-4143-86EB-F73C9357717D}"/>
  </pc:docChgLst>
  <pc:docChgLst>
    <pc:chgData name="eugeniy sizov" userId="f166da1dfb7bc990" providerId="LiveId" clId="{67C238DF-1860-4182-B6D1-776CF292D6B8}"/>
    <pc:docChg chg="modSld">
      <pc:chgData name="eugeniy sizov" userId="f166da1dfb7bc990" providerId="LiveId" clId="{67C238DF-1860-4182-B6D1-776CF292D6B8}" dt="2019-04-19T11:09:48.289" v="1" actId="20577"/>
      <pc:docMkLst>
        <pc:docMk/>
      </pc:docMkLst>
      <pc:sldChg chg="modSp">
        <pc:chgData name="eugeniy sizov" userId="f166da1dfb7bc990" providerId="LiveId" clId="{67C238DF-1860-4182-B6D1-776CF292D6B8}" dt="2019-04-19T11:09:48.289" v="1" actId="20577"/>
        <pc:sldMkLst>
          <pc:docMk/>
          <pc:sldMk cId="3505509770" sldId="360"/>
        </pc:sldMkLst>
        <pc:graphicFrameChg chg="modGraphic">
          <ac:chgData name="eugeniy sizov" userId="f166da1dfb7bc990" providerId="LiveId" clId="{67C238DF-1860-4182-B6D1-776CF292D6B8}" dt="2019-04-19T11:09:48.289" v="1" actId="20577"/>
          <ac:graphicFrameMkLst>
            <pc:docMk/>
            <pc:sldMk cId="3505509770" sldId="360"/>
            <ac:graphicFrameMk id="3" creationId="{00000000-0000-0000-0000-000000000000}"/>
          </ac:graphicFrameMkLst>
        </pc:graphicFrameChg>
      </pc:sldChg>
    </pc:docChg>
  </pc:docChgLst>
  <pc:docChgLst>
    <pc:chgData name="eugeniy sizov" userId="f166da1dfb7bc990" providerId="LiveId" clId="{FB562D3E-0D89-470C-A24D-FDCC02DB7C8E}"/>
    <pc:docChg chg="modSld">
      <pc:chgData name="eugeniy sizov" userId="f166da1dfb7bc990" providerId="LiveId" clId="{FB562D3E-0D89-470C-A24D-FDCC02DB7C8E}" dt="2019-09-12T16:08:27.736" v="35" actId="20577"/>
      <pc:docMkLst>
        <pc:docMk/>
      </pc:docMkLst>
      <pc:sldChg chg="modSp">
        <pc:chgData name="eugeniy sizov" userId="f166da1dfb7bc990" providerId="LiveId" clId="{FB562D3E-0D89-470C-A24D-FDCC02DB7C8E}" dt="2019-09-12T16:08:27.736" v="35" actId="20577"/>
        <pc:sldMkLst>
          <pc:docMk/>
          <pc:sldMk cId="3890482565" sldId="363"/>
        </pc:sldMkLst>
        <pc:graphicFrameChg chg="modGraphic">
          <ac:chgData name="eugeniy sizov" userId="f166da1dfb7bc990" providerId="LiveId" clId="{FB562D3E-0D89-470C-A24D-FDCC02DB7C8E}" dt="2019-09-12T16:08:27.736" v="35" actId="20577"/>
          <ac:graphicFrameMkLst>
            <pc:docMk/>
            <pc:sldMk cId="3890482565" sldId="363"/>
            <ac:graphicFrameMk id="6" creationId="{00000000-0000-0000-0000-000000000000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3F313-848B-4DB8-9D26-E3FC9A9FB055}" type="datetimeFigureOut">
              <a:rPr lang="ru-RU" smtClean="0"/>
              <a:t>15.10.2020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4F7B1-7A93-43FB-BAB9-14A91416E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87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4F7B1-7A93-43FB-BAB9-14A91416EABF}" type="slidenum">
              <a:rPr lang="ru-RU" smtClean="0"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498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892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0099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5287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068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20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78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35C04-8D5B-4386-8606-505D6580B7BD}" type="datetimeFigureOut">
              <a:rPr lang="ru-RU" smtClean="0"/>
              <a:t>15.10.2020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63D5C-6653-407C-A129-CD438BE65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45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35C04-8D5B-4386-8606-505D6580B7BD}" type="datetimeFigureOut">
              <a:rPr lang="ru-RU" smtClean="0"/>
              <a:t>15.10.2020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63D5C-6653-407C-A129-CD438BE65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47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/83</a:t>
            </a:r>
            <a:endParaRPr lang="ru-RU" sz="16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Оперативный учет</a:t>
            </a:r>
          </a:p>
        </p:txBody>
      </p:sp>
    </p:spTree>
    <p:extLst>
      <p:ext uri="{BB962C8B-B14F-4D97-AF65-F5344CB8AC3E}">
        <p14:creationId xmlns:p14="http://schemas.microsoft.com/office/powerpoint/2010/main" val="34321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Занятие 10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8"/>
            <a:ext cx="8782050" cy="263009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/>
              <a:t>Себестоимость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smtClean="0"/>
              <a:t>Проведение и </a:t>
            </a:r>
            <a:r>
              <a:rPr lang="ru-RU" dirty="0" err="1" smtClean="0"/>
              <a:t>допроведение</a:t>
            </a:r>
            <a:endParaRPr lang="ru-RU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/>
              <a:t>Традиционная технология проведения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/>
              <a:t>Блокировки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err="1"/>
              <a:t>Партионный</a:t>
            </a:r>
            <a:r>
              <a:rPr lang="ru-RU" dirty="0"/>
              <a:t> учет</a:t>
            </a:r>
          </a:p>
        </p:txBody>
      </p:sp>
    </p:spTree>
    <p:extLst>
      <p:ext uri="{BB962C8B-B14F-4D97-AF65-F5344CB8AC3E}">
        <p14:creationId xmlns:p14="http://schemas.microsoft.com/office/powerpoint/2010/main" val="298384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Себестоимость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93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Себестоимость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645366"/>
              </p:ext>
            </p:extLst>
          </p:nvPr>
        </p:nvGraphicFramePr>
        <p:xfrm>
          <a:off x="763696" y="1196752"/>
          <a:ext cx="7632845" cy="211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3">
                  <a:extLst>
                    <a:ext uri="{9D8B030D-6E8A-4147-A177-3AD203B41FA5}">
                      <a16:colId xmlns:a16="http://schemas.microsoft.com/office/drawing/2014/main" val="4030770462"/>
                    </a:ext>
                  </a:extLst>
                </a:gridCol>
                <a:gridCol w="2477075">
                  <a:extLst>
                    <a:ext uri="{9D8B030D-6E8A-4147-A177-3AD203B41FA5}">
                      <a16:colId xmlns:a16="http://schemas.microsoft.com/office/drawing/2014/main" val="606321662"/>
                    </a:ext>
                  </a:extLst>
                </a:gridCol>
                <a:gridCol w="1526569">
                  <a:extLst>
                    <a:ext uri="{9D8B030D-6E8A-4147-A177-3AD203B41FA5}">
                      <a16:colId xmlns:a16="http://schemas.microsoft.com/office/drawing/2014/main" val="1461257391"/>
                    </a:ext>
                  </a:extLst>
                </a:gridCol>
                <a:gridCol w="1526569">
                  <a:extLst>
                    <a:ext uri="{9D8B030D-6E8A-4147-A177-3AD203B41FA5}">
                      <a16:colId xmlns:a16="http://schemas.microsoft.com/office/drawing/2014/main" val="1539387788"/>
                    </a:ext>
                  </a:extLst>
                </a:gridCol>
                <a:gridCol w="1526569">
                  <a:extLst>
                    <a:ext uri="{9D8B030D-6E8A-4147-A177-3AD203B41FA5}">
                      <a16:colId xmlns:a16="http://schemas.microsoft.com/office/drawing/2014/main" val="1723431537"/>
                    </a:ext>
                  </a:extLst>
                </a:gridCol>
              </a:tblGrid>
              <a:tr h="524553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Документ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Сумма </a:t>
                      </a:r>
                      <a:r>
                        <a:rPr lang="ru-RU" sz="1200" dirty="0"/>
                        <a:t>(Себестоимость)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055630"/>
                  </a:ext>
                </a:extLst>
              </a:tr>
              <a:tr h="39092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Поступление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195972"/>
                  </a:ext>
                </a:extLst>
              </a:tr>
              <a:tr h="39092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Поступление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810343"/>
                  </a:ext>
                </a:extLst>
              </a:tr>
              <a:tr h="39092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Отгрузка </a:t>
                      </a:r>
                      <a:r>
                        <a:rPr lang="en-US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952409"/>
                  </a:ext>
                </a:extLst>
              </a:tr>
              <a:tr h="39092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Поступление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609015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763694" y="3501009"/>
          <a:ext cx="7632846" cy="18876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68146">
                  <a:extLst>
                    <a:ext uri="{9D8B030D-6E8A-4147-A177-3AD203B41FA5}">
                      <a16:colId xmlns:a16="http://schemas.microsoft.com/office/drawing/2014/main" val="1136593468"/>
                    </a:ext>
                  </a:extLst>
                </a:gridCol>
                <a:gridCol w="5264700">
                  <a:extLst>
                    <a:ext uri="{9D8B030D-6E8A-4147-A177-3AD203B41FA5}">
                      <a16:colId xmlns:a16="http://schemas.microsoft.com/office/drawing/2014/main" val="2409115090"/>
                    </a:ext>
                  </a:extLst>
                </a:gridCol>
              </a:tblGrid>
              <a:tr h="343905">
                <a:tc>
                  <a:txBody>
                    <a:bodyPr/>
                    <a:lstStyle/>
                    <a:p>
                      <a:r>
                        <a:rPr lang="ru-RU" dirty="0"/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Формула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335979"/>
                  </a:ext>
                </a:extLst>
              </a:tr>
              <a:tr h="424579">
                <a:tc>
                  <a:txBody>
                    <a:bodyPr/>
                    <a:lstStyle/>
                    <a:p>
                      <a:r>
                        <a:rPr lang="ru-RU" dirty="0"/>
                        <a:t>Средняя </a:t>
                      </a:r>
                      <a:r>
                        <a:rPr lang="ru-RU" baseline="0" dirty="0"/>
                        <a:t>скользящая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(100+200)/(10+10) * 15 = 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868877"/>
                  </a:ext>
                </a:extLst>
              </a:tr>
              <a:tr h="343905">
                <a:tc>
                  <a:txBody>
                    <a:bodyPr/>
                    <a:lstStyle/>
                    <a:p>
                      <a:r>
                        <a:rPr lang="ru-RU" dirty="0"/>
                        <a:t>Средневзвешенная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(100+200+400)/(10+10+10) * 15 = 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838615"/>
                  </a:ext>
                </a:extLst>
              </a:tr>
              <a:tr h="343905">
                <a:tc>
                  <a:txBody>
                    <a:bodyPr/>
                    <a:lstStyle/>
                    <a:p>
                      <a:r>
                        <a:rPr lang="ru-RU" dirty="0"/>
                        <a:t>ФИФО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(10 * 100/10) + (5 * 200/10) = 200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314862"/>
                  </a:ext>
                </a:extLst>
              </a:tr>
              <a:tr h="343905">
                <a:tc>
                  <a:txBody>
                    <a:bodyPr/>
                    <a:lstStyle/>
                    <a:p>
                      <a:r>
                        <a:rPr lang="ru-RU" dirty="0"/>
                        <a:t>ЛИФО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(10 * 200/10) + (5</a:t>
                      </a:r>
                      <a:r>
                        <a:rPr lang="ru-RU" baseline="0" dirty="0"/>
                        <a:t> * 100/10) = 250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538747"/>
                  </a:ext>
                </a:extLst>
              </a:tr>
            </a:tbl>
          </a:graphicData>
        </a:graphic>
      </p:graphicFrame>
      <p:cxnSp>
        <p:nvCxnSpPr>
          <p:cNvPr id="6" name="Прямая соединительная линия 5"/>
          <p:cNvCxnSpPr/>
          <p:nvPr/>
        </p:nvCxnSpPr>
        <p:spPr>
          <a:xfrm>
            <a:off x="323528" y="2492896"/>
            <a:ext cx="8424936" cy="0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323528" y="3296009"/>
            <a:ext cx="8424936" cy="0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50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22313" y="3810552"/>
            <a:ext cx="7772400" cy="1958423"/>
          </a:xfrm>
        </p:spPr>
        <p:txBody>
          <a:bodyPr/>
          <a:lstStyle/>
          <a:p>
            <a:r>
              <a:rPr lang="ru-RU" dirty="0" smtClean="0"/>
              <a:t>Проведение и </a:t>
            </a:r>
            <a:r>
              <a:rPr lang="ru-RU" dirty="0" err="1" smtClean="0"/>
              <a:t>допроведение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722313" y="2310365"/>
            <a:ext cx="7772400" cy="1500187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255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Оперативное проведение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3758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«Продажи»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«Себестоимость»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/>
          </p:nvPr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/>
          </p:nvPr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/>
          </p:nvPr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Создается </a:t>
            </a:r>
            <a:r>
              <a:rPr lang="ru-RU" dirty="0" smtClean="0"/>
              <a:t>документ объект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18259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/>
              <a:t>«Продажи»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Стрелка углом 15"/>
          <p:cNvSpPr/>
          <p:nvPr/>
        </p:nvSpPr>
        <p:spPr>
          <a:xfrm rot="10800000" flipH="1">
            <a:off x="534668" y="2897015"/>
            <a:ext cx="292921" cy="2548289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Записывается </a:t>
            </a:r>
            <a:r>
              <a:rPr lang="ru-RU" dirty="0" smtClean="0"/>
              <a:t>документ объект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909237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/>
              <a:t>«Продажи»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Стрелка углом 15"/>
          <p:cNvSpPr/>
          <p:nvPr/>
        </p:nvSpPr>
        <p:spPr>
          <a:xfrm rot="10800000" flipH="1">
            <a:off x="534668" y="2897015"/>
            <a:ext cx="292921" cy="2548289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45886" y="5137663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Записывается </a:t>
            </a:r>
            <a:r>
              <a:rPr lang="ru-RU" dirty="0"/>
              <a:t>документ объект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94986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6376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00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/>
              <a:t>«Продажи»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Стрелка углом 15"/>
          <p:cNvSpPr/>
          <p:nvPr/>
        </p:nvSpPr>
        <p:spPr>
          <a:xfrm rot="5400000" flipH="1">
            <a:off x="2502484" y="2701635"/>
            <a:ext cx="432000" cy="1763147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836597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Стрелка углом 22"/>
          <p:cNvSpPr/>
          <p:nvPr/>
        </p:nvSpPr>
        <p:spPr>
          <a:xfrm rot="10800000" flipH="1">
            <a:off x="1585374" y="3029301"/>
            <a:ext cx="432000" cy="769907"/>
          </a:xfrm>
          <a:prstGeom prst="bentArrow">
            <a:avLst>
              <a:gd name="adj1" fmla="val 27464"/>
              <a:gd name="adj2" fmla="val 14178"/>
              <a:gd name="adj3" fmla="val 25000"/>
              <a:gd name="adj4" fmla="val 43750"/>
            </a:avLst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24" name="Стрелка углом 23"/>
          <p:cNvSpPr/>
          <p:nvPr/>
        </p:nvSpPr>
        <p:spPr>
          <a:xfrm rot="5400000" flipH="1">
            <a:off x="4262769" y="2506940"/>
            <a:ext cx="432000" cy="2149688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Заполняем наборы записей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14420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73291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126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260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58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36597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Заполняем наборы записей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14215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73291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126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260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58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36597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Заполняем </a:t>
            </a:r>
            <a:r>
              <a:rPr lang="ru-RU" dirty="0"/>
              <a:t>признак «записывать» </a:t>
            </a:r>
            <a:r>
              <a:rPr lang="ru-RU" dirty="0" smtClean="0"/>
              <a:t>НЗ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2306869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80974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55079" y="1685377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Ложь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66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69483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 smtClean="0"/>
              <a:t>Записываются </a:t>
            </a:r>
            <a:r>
              <a:rPr lang="ru-RU" sz="2600" u="sng" dirty="0" smtClean="0"/>
              <a:t>помеченные</a:t>
            </a:r>
            <a:r>
              <a:rPr lang="ru-RU" sz="2600" dirty="0" smtClean="0"/>
              <a:t> </a:t>
            </a:r>
            <a:r>
              <a:rPr lang="ru-RU" sz="2600" dirty="0" smtClean="0"/>
              <a:t>наборы записей</a:t>
            </a:r>
            <a:endParaRPr lang="ru-RU" sz="2600" dirty="0"/>
          </a:p>
        </p:txBody>
      </p:sp>
      <p:sp>
        <p:nvSpPr>
          <p:cNvPr id="25" name="TextBox 24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sp>
        <p:nvSpPr>
          <p:cNvPr id="28" name="Стрелка углом 27"/>
          <p:cNvSpPr/>
          <p:nvPr/>
        </p:nvSpPr>
        <p:spPr>
          <a:xfrm rot="10800000" flipH="1">
            <a:off x="2536155" y="3535479"/>
            <a:ext cx="292921" cy="1822784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29" name="Стрелка углом 28"/>
          <p:cNvSpPr/>
          <p:nvPr/>
        </p:nvSpPr>
        <p:spPr>
          <a:xfrm rot="10800000" flipH="1">
            <a:off x="4442509" y="3535479"/>
            <a:ext cx="292921" cy="1822783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2470107" y="2250505"/>
            <a:ext cx="1800000" cy="126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4383080" y="2250505"/>
            <a:ext cx="1872000" cy="1260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6300336" y="2266158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33" name="TextBox 32"/>
          <p:cNvSpPr txBox="1"/>
          <p:nvPr/>
        </p:nvSpPr>
        <p:spPr>
          <a:xfrm>
            <a:off x="2306869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280974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55079" y="1685377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Ложь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88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6376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Стрелка углом 22"/>
          <p:cNvSpPr/>
          <p:nvPr/>
        </p:nvSpPr>
        <p:spPr>
          <a:xfrm rot="10800000" flipH="1">
            <a:off x="4442509" y="3535479"/>
            <a:ext cx="292921" cy="1822783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Записываются </a:t>
            </a:r>
            <a:r>
              <a:rPr lang="ru-RU" sz="2600" u="sng" dirty="0"/>
              <a:t>помеченные</a:t>
            </a:r>
            <a:r>
              <a:rPr lang="ru-RU" sz="2600" dirty="0"/>
              <a:t> наборы записей</a:t>
            </a:r>
            <a:endParaRPr lang="ru-RU" sz="2600" dirty="0"/>
          </a:p>
        </p:txBody>
      </p:sp>
      <p:sp>
        <p:nvSpPr>
          <p:cNvPr id="26" name="TextBox 25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2470107" y="2250505"/>
            <a:ext cx="1800000" cy="126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4383080" y="2250505"/>
            <a:ext cx="1872000" cy="1260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6300336" y="2266158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32" name="Стрелка углом 31"/>
          <p:cNvSpPr/>
          <p:nvPr/>
        </p:nvSpPr>
        <p:spPr>
          <a:xfrm rot="10800000" flipH="1">
            <a:off x="2536155" y="3535479"/>
            <a:ext cx="292921" cy="1822784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306869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280974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55079" y="1685377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Ложь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82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Скругленный прямоугольник 27"/>
          <p:cNvSpPr/>
          <p:nvPr/>
        </p:nvSpPr>
        <p:spPr>
          <a:xfrm>
            <a:off x="2470107" y="2250505"/>
            <a:ext cx="1800000" cy="1260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4383080" y="2250505"/>
            <a:ext cx="1872000" cy="1260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6300336" y="2266158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98823" y="104471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Прямая соединительная линия 4"/>
          <p:cNvCxnSpPr/>
          <p:nvPr/>
        </p:nvCxnSpPr>
        <p:spPr>
          <a:xfrm>
            <a:off x="676275" y="1752600"/>
            <a:ext cx="7933074" cy="192405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V="1">
            <a:off x="676275" y="1390650"/>
            <a:ext cx="7933074" cy="228600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Документ </a:t>
            </a:r>
            <a:r>
              <a:rPr lang="ru-RU" dirty="0" smtClean="0"/>
              <a:t>объект </a:t>
            </a:r>
            <a:r>
              <a:rPr lang="ru-RU" dirty="0" smtClean="0"/>
              <a:t>удаляется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50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4471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406064"/>
          </a:xfrm>
        </p:spPr>
        <p:txBody>
          <a:bodyPr/>
          <a:lstStyle/>
          <a:p>
            <a:r>
              <a:rPr lang="ru-RU" dirty="0" smtClean="0"/>
              <a:t>Документ оперативно проведен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6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«</a:t>
            </a:r>
            <a:r>
              <a:rPr lang="ru-RU" dirty="0" err="1" smtClean="0"/>
              <a:t>Допроведение</a:t>
            </a:r>
            <a:r>
              <a:rPr lang="ru-RU" dirty="0" smtClean="0"/>
              <a:t>» </a:t>
            </a:r>
            <a:r>
              <a:rPr lang="ru-RU" dirty="0"/>
              <a:t>документа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92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Запуск обработки «</a:t>
            </a:r>
            <a:r>
              <a:rPr lang="ru-RU" dirty="0" err="1" smtClean="0"/>
              <a:t>допроведения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31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«Продажи»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«Себестоимость»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/>
          </p:nvPr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/>
          </p:nvPr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/>
          </p:nvPr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Создается </a:t>
            </a:r>
            <a:r>
              <a:rPr lang="ru-RU" dirty="0" smtClean="0"/>
              <a:t>документ объект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54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/>
              <a:t>«Продажи»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Стрелка углом 15"/>
          <p:cNvSpPr/>
          <p:nvPr/>
        </p:nvSpPr>
        <p:spPr>
          <a:xfrm rot="10800000" flipH="1">
            <a:off x="534668" y="2897015"/>
            <a:ext cx="292921" cy="2548289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Перез</a:t>
            </a:r>
            <a:r>
              <a:rPr lang="ru-RU" dirty="0" smtClean="0"/>
              <a:t>аписывается </a:t>
            </a:r>
            <a:r>
              <a:rPr lang="ru-RU" dirty="0" smtClean="0"/>
              <a:t>документ объект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graphicFrame>
        <p:nvGraphicFramePr>
          <p:cNvPr id="25" name="Таблица 24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14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6376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00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/>
              <a:t>«Продажи»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Стрелка углом 15"/>
          <p:cNvSpPr/>
          <p:nvPr/>
        </p:nvSpPr>
        <p:spPr>
          <a:xfrm rot="5400000" flipH="1">
            <a:off x="4343431" y="860688"/>
            <a:ext cx="432000" cy="5445041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836597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Стрелка углом 22"/>
          <p:cNvSpPr/>
          <p:nvPr/>
        </p:nvSpPr>
        <p:spPr>
          <a:xfrm rot="10800000" flipH="1">
            <a:off x="1585374" y="3029301"/>
            <a:ext cx="432000" cy="769907"/>
          </a:xfrm>
          <a:prstGeom prst="bentArrow">
            <a:avLst>
              <a:gd name="adj1" fmla="val 27464"/>
              <a:gd name="adj2" fmla="val 14178"/>
              <a:gd name="adj3" fmla="val 25000"/>
              <a:gd name="adj4" fmla="val 43750"/>
            </a:avLst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Заполняем наборы записей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graphicFrame>
        <p:nvGraphicFramePr>
          <p:cNvPr id="28" name="Таблица 2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Таблица 28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71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73291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Скругленный прямоугольник 11"/>
          <p:cNvSpPr/>
          <p:nvPr/>
        </p:nvSpPr>
        <p:spPr>
          <a:xfrm>
            <a:off x="6300336" y="2266158"/>
            <a:ext cx="1800000" cy="1224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36597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Заполняем наборы записей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Скругленный прямоугольник 27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4383080" y="2250505"/>
            <a:ext cx="1800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/>
              <a:t>«Продажи»</a:t>
            </a:r>
            <a:endParaRPr lang="ru-RU" sz="1350" dirty="0"/>
          </a:p>
        </p:txBody>
      </p:sp>
    </p:spTree>
    <p:extLst>
      <p:ext uri="{BB962C8B-B14F-4D97-AF65-F5344CB8AC3E}">
        <p14:creationId xmlns:p14="http://schemas.microsoft.com/office/powerpoint/2010/main" val="362470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73291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Скругленный прямоугольник 11"/>
          <p:cNvSpPr/>
          <p:nvPr/>
        </p:nvSpPr>
        <p:spPr>
          <a:xfrm>
            <a:off x="6300336" y="2266158"/>
            <a:ext cx="1800000" cy="1224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36597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Заполняем признак </a:t>
            </a:r>
            <a:r>
              <a:rPr lang="ru-RU" dirty="0" smtClean="0"/>
              <a:t>«записывать» </a:t>
            </a:r>
            <a:r>
              <a:rPr lang="ru-RU" dirty="0"/>
              <a:t>НЗ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Скругленный прямоугольник 27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4383080" y="2250505"/>
            <a:ext cx="1800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/>
              <a:t>«Продажи»</a:t>
            </a:r>
            <a:endParaRPr lang="ru-RU" sz="1350" dirty="0"/>
          </a:p>
        </p:txBody>
      </p:sp>
      <p:sp>
        <p:nvSpPr>
          <p:cNvPr id="30" name="TextBox 29"/>
          <p:cNvSpPr txBox="1"/>
          <p:nvPr/>
        </p:nvSpPr>
        <p:spPr>
          <a:xfrm>
            <a:off x="2306869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Ложь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80974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Ложь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55079" y="1685377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49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69483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/>
          </p:nvPr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Записываются </a:t>
            </a:r>
            <a:r>
              <a:rPr lang="ru-RU" sz="2600" u="sng" dirty="0"/>
              <a:t>помеченные</a:t>
            </a:r>
            <a:r>
              <a:rPr lang="ru-RU" sz="2600" dirty="0"/>
              <a:t> наборы записей</a:t>
            </a:r>
            <a:endParaRPr lang="ru-RU" sz="2600" dirty="0"/>
          </a:p>
        </p:txBody>
      </p:sp>
      <p:sp>
        <p:nvSpPr>
          <p:cNvPr id="25" name="TextBox 24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6300336" y="2266158"/>
            <a:ext cx="1800000" cy="1224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graphicFrame>
        <p:nvGraphicFramePr>
          <p:cNvPr id="23" name="Таблица 22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" name="Скругленный прямоугольник 32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4383080" y="2250505"/>
            <a:ext cx="1800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/>
              <a:t>«Продажи»</a:t>
            </a:r>
            <a:endParaRPr lang="ru-RU" sz="1350" dirty="0"/>
          </a:p>
        </p:txBody>
      </p:sp>
      <p:sp>
        <p:nvSpPr>
          <p:cNvPr id="35" name="Стрелка углом 26">
            <a:extLst>
              <a:ext uri="{FF2B5EF4-FFF2-40B4-BE49-F238E27FC236}">
                <a16:creationId xmlns:a16="http://schemas.microsoft.com/office/drawing/2014/main" id="{E816ECEE-EA25-4B5B-8CD5-81AF043F5CA0}"/>
              </a:ext>
            </a:extLst>
          </p:cNvPr>
          <p:cNvSpPr/>
          <p:nvPr/>
        </p:nvSpPr>
        <p:spPr>
          <a:xfrm rot="10800000" flipH="1">
            <a:off x="6328610" y="3535480"/>
            <a:ext cx="292921" cy="1884146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306869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Ложь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80974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Ложь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55079" y="1685377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6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6376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Записываются </a:t>
            </a:r>
            <a:r>
              <a:rPr lang="ru-RU" sz="2600" u="sng" dirty="0"/>
              <a:t>помеченные</a:t>
            </a:r>
            <a:r>
              <a:rPr lang="ru-RU" sz="2600" dirty="0"/>
              <a:t> наборы записей</a:t>
            </a:r>
            <a:endParaRPr lang="ru-RU" sz="2600" dirty="0"/>
          </a:p>
        </p:txBody>
      </p:sp>
      <p:sp>
        <p:nvSpPr>
          <p:cNvPr id="26" name="TextBox 25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6300336" y="2266158"/>
            <a:ext cx="1800000" cy="1224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graphicFrame>
        <p:nvGraphicFramePr>
          <p:cNvPr id="33" name="Таблица 32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Таблица 33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Скругленный прямоугольник 23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4383080" y="2250505"/>
            <a:ext cx="1800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/>
              <a:t>«Продажи»</a:t>
            </a:r>
            <a:endParaRPr lang="ru-RU" sz="1350" dirty="0"/>
          </a:p>
        </p:txBody>
      </p:sp>
      <p:graphicFrame>
        <p:nvGraphicFramePr>
          <p:cNvPr id="35" name="Таблица 34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Стрелка углом 26">
            <a:extLst>
              <a:ext uri="{FF2B5EF4-FFF2-40B4-BE49-F238E27FC236}">
                <a16:creationId xmlns:a16="http://schemas.microsoft.com/office/drawing/2014/main" id="{E816ECEE-EA25-4B5B-8CD5-81AF043F5CA0}"/>
              </a:ext>
            </a:extLst>
          </p:cNvPr>
          <p:cNvSpPr/>
          <p:nvPr/>
        </p:nvSpPr>
        <p:spPr>
          <a:xfrm rot="10800000" flipH="1">
            <a:off x="6328610" y="3535480"/>
            <a:ext cx="292921" cy="1884146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06869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Ложь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280974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Ложь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55079" y="1685377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12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4471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6300336" y="2266158"/>
            <a:ext cx="1800000" cy="1224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/>
              <a:t>«Себестоимость»</a:t>
            </a:r>
            <a:endParaRPr lang="ru-RU" sz="1350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Документ </a:t>
            </a:r>
            <a:r>
              <a:rPr lang="ru-RU" dirty="0" smtClean="0"/>
              <a:t>объект </a:t>
            </a:r>
            <a:r>
              <a:rPr lang="ru-RU" dirty="0" smtClean="0"/>
              <a:t>удаляется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27" name="TextBox 26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graphicFrame>
        <p:nvGraphicFramePr>
          <p:cNvPr id="31" name="Таблица 30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Скругленный прямоугольник 24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4383080" y="2250505"/>
            <a:ext cx="1800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/>
              <a:t>«Продажи»</a:t>
            </a:r>
            <a:endParaRPr lang="ru-RU" sz="135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676275" y="1752600"/>
            <a:ext cx="7933074" cy="192405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V="1">
            <a:off x="676275" y="1390650"/>
            <a:ext cx="7933074" cy="228600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Таблица 32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8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4471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406064"/>
          </a:xfrm>
        </p:spPr>
        <p:txBody>
          <a:bodyPr/>
          <a:lstStyle/>
          <a:p>
            <a:r>
              <a:rPr lang="ru-RU" dirty="0" smtClean="0"/>
              <a:t>Документ «</a:t>
            </a:r>
            <a:r>
              <a:rPr lang="ru-RU" dirty="0" err="1" smtClean="0"/>
              <a:t>допроведен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660073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«Остатки товаров»</a:t>
            </a:r>
            <a:endParaRPr lang="ru-R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4573046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«Продажи»</a:t>
            </a:r>
            <a:endParaRPr lang="ru-RU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6471252" y="5410133"/>
            <a:ext cx="1610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Регистр накопления «Себестоимость»</a:t>
            </a:r>
            <a:endParaRPr lang="ru-RU" sz="1400" dirty="0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60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Традиционная технология  проведения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Проведение состоится при выполнении определенных условий</a:t>
            </a:r>
          </a:p>
        </p:txBody>
      </p:sp>
    </p:spTree>
    <p:extLst>
      <p:ext uri="{BB962C8B-B14F-4D97-AF65-F5344CB8AC3E}">
        <p14:creationId xmlns:p14="http://schemas.microsoft.com/office/powerpoint/2010/main" val="213820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15008" y="4268016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72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715008" y="2267752"/>
            <a:ext cx="2232000" cy="36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98823" y="1044716"/>
            <a:ext cx="8810374" cy="252000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96543" y="3672397"/>
            <a:ext cx="8812654" cy="2520000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92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15008" y="4268016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715008" y="2267752"/>
            <a:ext cx="2232000" cy="36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14" name="Стрелка вниз 13"/>
          <p:cNvSpPr/>
          <p:nvPr/>
        </p:nvSpPr>
        <p:spPr>
          <a:xfrm>
            <a:off x="2000232" y="3339322"/>
            <a:ext cx="428628" cy="857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98823" y="1044716"/>
            <a:ext cx="8810374" cy="252000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96543" y="3680708"/>
            <a:ext cx="8812654" cy="2520000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42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428992" y="1267620"/>
            <a:ext cx="2232000" cy="92869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Результат запроса</a:t>
            </a:r>
          </a:p>
        </p:txBody>
      </p:sp>
      <p:sp>
        <p:nvSpPr>
          <p:cNvPr id="16" name="Стрелка вправо 15"/>
          <p:cNvSpPr/>
          <p:nvPr/>
        </p:nvSpPr>
        <p:spPr>
          <a:xfrm>
            <a:off x="3214678" y="5328401"/>
            <a:ext cx="1000132" cy="42862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 влево 16"/>
          <p:cNvSpPr/>
          <p:nvPr/>
        </p:nvSpPr>
        <p:spPr>
          <a:xfrm>
            <a:off x="4572000" y="5328401"/>
            <a:ext cx="1071570" cy="42862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 вверх 17"/>
          <p:cNvSpPr/>
          <p:nvPr/>
        </p:nvSpPr>
        <p:spPr>
          <a:xfrm>
            <a:off x="4143372" y="2339190"/>
            <a:ext cx="500066" cy="3077636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4268016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36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98823" y="1044716"/>
            <a:ext cx="8810374" cy="252000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96543" y="3689019"/>
            <a:ext cx="8812654" cy="2520000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15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428992" y="1267620"/>
            <a:ext cx="2232000" cy="92869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Результат запроса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88" y="1196182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Анализ строк</a:t>
            </a:r>
          </a:p>
        </p:txBody>
      </p:sp>
      <p:sp>
        <p:nvSpPr>
          <p:cNvPr id="15" name="Стрелка углом 14"/>
          <p:cNvSpPr/>
          <p:nvPr/>
        </p:nvSpPr>
        <p:spPr>
          <a:xfrm rot="5400000">
            <a:off x="5786446" y="1481934"/>
            <a:ext cx="785818" cy="785818"/>
          </a:xfrm>
          <a:prstGeom prst="ben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4268016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72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98823" y="1044716"/>
            <a:ext cx="8810374" cy="252000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196543" y="3689020"/>
            <a:ext cx="8812654" cy="2520000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02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8" name="Стрелка вниз 7"/>
          <p:cNvSpPr/>
          <p:nvPr/>
        </p:nvSpPr>
        <p:spPr>
          <a:xfrm>
            <a:off x="6616694" y="3125008"/>
            <a:ext cx="428628" cy="71438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428992" y="1267620"/>
            <a:ext cx="2232000" cy="92869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Результат запроса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3862462"/>
            <a:ext cx="2232000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72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98823" y="1044717"/>
            <a:ext cx="8810374" cy="252000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96543" y="3674034"/>
            <a:ext cx="8812654" cy="2520000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75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Традиционная технология проведения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428992" y="1267620"/>
            <a:ext cx="2232000" cy="92869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Результат запроса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3862462"/>
            <a:ext cx="2232000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72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37922"/>
            <a:ext cx="2232000" cy="90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  <p:sp>
        <p:nvSpPr>
          <p:cNvPr id="4" name="Развернутая стрелка 3"/>
          <p:cNvSpPr/>
          <p:nvPr/>
        </p:nvSpPr>
        <p:spPr>
          <a:xfrm rot="5400000" flipV="1">
            <a:off x="4622532" y="4700603"/>
            <a:ext cx="1441174" cy="576000"/>
          </a:xfrm>
          <a:prstGeom prst="utur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98823" y="1044716"/>
            <a:ext cx="8810374" cy="2520000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82105" y="3682462"/>
            <a:ext cx="8812654" cy="2520000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00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в результате запроса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610305"/>
              </p:ext>
            </p:extLst>
          </p:nvPr>
        </p:nvGraphicFramePr>
        <p:xfrm>
          <a:off x="179512" y="1397000"/>
          <a:ext cx="8671095" cy="1752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98375">
                  <a:extLst>
                    <a:ext uri="{9D8B030D-6E8A-4147-A177-3AD203B41FA5}">
                      <a16:colId xmlns:a16="http://schemas.microsoft.com/office/drawing/2014/main" val="764105677"/>
                    </a:ext>
                  </a:extLst>
                </a:gridCol>
                <a:gridCol w="2143032">
                  <a:extLst>
                    <a:ext uri="{9D8B030D-6E8A-4147-A177-3AD203B41FA5}">
                      <a16:colId xmlns:a16="http://schemas.microsoft.com/office/drawing/2014/main" val="3932086939"/>
                    </a:ext>
                  </a:extLst>
                </a:gridCol>
                <a:gridCol w="2364844">
                  <a:extLst>
                    <a:ext uri="{9D8B030D-6E8A-4147-A177-3AD203B41FA5}">
                      <a16:colId xmlns:a16="http://schemas.microsoft.com/office/drawing/2014/main" val="1548726310"/>
                    </a:ext>
                  </a:extLst>
                </a:gridCol>
                <a:gridCol w="2364844">
                  <a:extLst>
                    <a:ext uri="{9D8B030D-6E8A-4147-A177-3AD203B41FA5}">
                      <a16:colId xmlns:a16="http://schemas.microsoft.com/office/drawing/2014/main" val="3642555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в документе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Сумма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8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&lt;Киви&gt;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51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48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в результате запроса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79512" y="1397000"/>
          <a:ext cx="8671095" cy="1752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98375">
                  <a:extLst>
                    <a:ext uri="{9D8B030D-6E8A-4147-A177-3AD203B41FA5}">
                      <a16:colId xmlns:a16="http://schemas.microsoft.com/office/drawing/2014/main" val="764105677"/>
                    </a:ext>
                  </a:extLst>
                </a:gridCol>
                <a:gridCol w="2143032">
                  <a:extLst>
                    <a:ext uri="{9D8B030D-6E8A-4147-A177-3AD203B41FA5}">
                      <a16:colId xmlns:a16="http://schemas.microsoft.com/office/drawing/2014/main" val="3932086939"/>
                    </a:ext>
                  </a:extLst>
                </a:gridCol>
                <a:gridCol w="2364844">
                  <a:extLst>
                    <a:ext uri="{9D8B030D-6E8A-4147-A177-3AD203B41FA5}">
                      <a16:colId xmlns:a16="http://schemas.microsoft.com/office/drawing/2014/main" val="1548726310"/>
                    </a:ext>
                  </a:extLst>
                </a:gridCol>
                <a:gridCol w="2364844">
                  <a:extLst>
                    <a:ext uri="{9D8B030D-6E8A-4147-A177-3AD203B41FA5}">
                      <a16:colId xmlns:a16="http://schemas.microsoft.com/office/drawing/2014/main" val="3642555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в документе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Сумма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8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&lt;Киви&gt;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51377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88119" y="4437112"/>
          <a:ext cx="3492388" cy="17526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746194">
                  <a:extLst>
                    <a:ext uri="{9D8B030D-6E8A-4147-A177-3AD203B41FA5}">
                      <a16:colId xmlns:a16="http://schemas.microsoft.com/office/drawing/2014/main" val="764105677"/>
                    </a:ext>
                  </a:extLst>
                </a:gridCol>
                <a:gridCol w="1746194">
                  <a:extLst>
                    <a:ext uri="{9D8B030D-6E8A-4147-A177-3AD203B41FA5}">
                      <a16:colId xmlns:a16="http://schemas.microsoft.com/office/drawing/2014/main" val="3932086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в документе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8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&lt;Киви&gt;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51377"/>
                  </a:ext>
                </a:extLst>
              </a:tr>
            </a:tbl>
          </a:graphicData>
        </a:graphic>
      </p:graphicFrame>
      <p:sp>
        <p:nvSpPr>
          <p:cNvPr id="7" name="Правая фигурная скобка 6"/>
          <p:cNvSpPr/>
          <p:nvPr/>
        </p:nvSpPr>
        <p:spPr>
          <a:xfrm rot="5400000">
            <a:off x="1920813" y="1497897"/>
            <a:ext cx="432051" cy="3862208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88119" y="3787880"/>
            <a:ext cx="3231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Табличная часть «Товары» документа «Реализация»</a:t>
            </a:r>
          </a:p>
        </p:txBody>
      </p:sp>
    </p:spTree>
    <p:extLst>
      <p:ext uri="{BB962C8B-B14F-4D97-AF65-F5344CB8AC3E}">
        <p14:creationId xmlns:p14="http://schemas.microsoft.com/office/powerpoint/2010/main" val="222939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в результате запроса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79512" y="1397000"/>
          <a:ext cx="8671095" cy="1752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98375">
                  <a:extLst>
                    <a:ext uri="{9D8B030D-6E8A-4147-A177-3AD203B41FA5}">
                      <a16:colId xmlns:a16="http://schemas.microsoft.com/office/drawing/2014/main" val="764105677"/>
                    </a:ext>
                  </a:extLst>
                </a:gridCol>
                <a:gridCol w="2143032">
                  <a:extLst>
                    <a:ext uri="{9D8B030D-6E8A-4147-A177-3AD203B41FA5}">
                      <a16:colId xmlns:a16="http://schemas.microsoft.com/office/drawing/2014/main" val="3932086939"/>
                    </a:ext>
                  </a:extLst>
                </a:gridCol>
                <a:gridCol w="2364844">
                  <a:extLst>
                    <a:ext uri="{9D8B030D-6E8A-4147-A177-3AD203B41FA5}">
                      <a16:colId xmlns:a16="http://schemas.microsoft.com/office/drawing/2014/main" val="1548726310"/>
                    </a:ext>
                  </a:extLst>
                </a:gridCol>
                <a:gridCol w="2364844">
                  <a:extLst>
                    <a:ext uri="{9D8B030D-6E8A-4147-A177-3AD203B41FA5}">
                      <a16:colId xmlns:a16="http://schemas.microsoft.com/office/drawing/2014/main" val="3642555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в документе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Сумма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8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&lt;Киви&gt;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51377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88119" y="4437112"/>
          <a:ext cx="3492388" cy="17526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746194">
                  <a:extLst>
                    <a:ext uri="{9D8B030D-6E8A-4147-A177-3AD203B41FA5}">
                      <a16:colId xmlns:a16="http://schemas.microsoft.com/office/drawing/2014/main" val="764105677"/>
                    </a:ext>
                  </a:extLst>
                </a:gridCol>
                <a:gridCol w="1746194">
                  <a:extLst>
                    <a:ext uri="{9D8B030D-6E8A-4147-A177-3AD203B41FA5}">
                      <a16:colId xmlns:a16="http://schemas.microsoft.com/office/drawing/2014/main" val="3932086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в документе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8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&lt;Киви&gt;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51377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4067943" y="4437112"/>
          <a:ext cx="4782663" cy="17526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682408">
                  <a:extLst>
                    <a:ext uri="{9D8B030D-6E8A-4147-A177-3AD203B41FA5}">
                      <a16:colId xmlns:a16="http://schemas.microsoft.com/office/drawing/2014/main" val="764105677"/>
                    </a:ext>
                  </a:extLst>
                </a:gridCol>
                <a:gridCol w="1486827">
                  <a:extLst>
                    <a:ext uri="{9D8B030D-6E8A-4147-A177-3AD203B41FA5}">
                      <a16:colId xmlns:a16="http://schemas.microsoft.com/office/drawing/2014/main" val="1548726310"/>
                    </a:ext>
                  </a:extLst>
                </a:gridCol>
                <a:gridCol w="1613428">
                  <a:extLst>
                    <a:ext uri="{9D8B030D-6E8A-4147-A177-3AD203B41FA5}">
                      <a16:colId xmlns:a16="http://schemas.microsoft.com/office/drawing/2014/main" val="104434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Сумма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7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28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&lt;Груши&gt;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</a:t>
                      </a:r>
                      <a:r>
                        <a:rPr lang="ru-RU" dirty="0"/>
                        <a:t>Бананы&gt;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131313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598729"/>
                  </a:ext>
                </a:extLst>
              </a:tr>
            </a:tbl>
          </a:graphicData>
        </a:graphic>
      </p:graphicFrame>
      <p:sp>
        <p:nvSpPr>
          <p:cNvPr id="7" name="Правая фигурная скобка 6"/>
          <p:cNvSpPr/>
          <p:nvPr/>
        </p:nvSpPr>
        <p:spPr>
          <a:xfrm rot="5400000">
            <a:off x="1920813" y="1497897"/>
            <a:ext cx="432051" cy="3862208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авая фигурная скобка 7"/>
          <p:cNvSpPr/>
          <p:nvPr/>
        </p:nvSpPr>
        <p:spPr>
          <a:xfrm rot="5400000">
            <a:off x="6243249" y="1037670"/>
            <a:ext cx="432050" cy="4782663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88119" y="3787880"/>
            <a:ext cx="3231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Табличная часть «Товары» документа «Реализация»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7943" y="3787879"/>
            <a:ext cx="4782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Виртуальная таблица «Остатки» регистра накопления «Себестоимость товаров»</a:t>
            </a:r>
          </a:p>
        </p:txBody>
      </p:sp>
    </p:spTree>
    <p:extLst>
      <p:ext uri="{BB962C8B-B14F-4D97-AF65-F5344CB8AC3E}">
        <p14:creationId xmlns:p14="http://schemas.microsoft.com/office/powerpoint/2010/main" val="9423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Объединение и соединение таблиц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16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1448" y="545072"/>
            <a:ext cx="8793040" cy="1143000"/>
          </a:xfrm>
        </p:spPr>
        <p:txBody>
          <a:bodyPr>
            <a:normAutofit/>
          </a:bodyPr>
          <a:lstStyle/>
          <a:p>
            <a:r>
              <a:rPr lang="ru-RU" dirty="0"/>
              <a:t>Варианты работы </a:t>
            </a:r>
            <a:br>
              <a:rPr lang="ru-RU" dirty="0"/>
            </a:br>
            <a:r>
              <a:rPr lang="ru-RU" sz="3100" dirty="0"/>
              <a:t>с несколькими источниками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752066" y="1662298"/>
          <a:ext cx="2880000" cy="144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043966" y="1662298"/>
          <a:ext cx="2880000" cy="144000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752066" y="3693372"/>
          <a:ext cx="2880000" cy="252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323966" y="4773372"/>
          <a:ext cx="4320000" cy="144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ru-RU" sz="10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0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4348" y="3212976"/>
            <a:ext cx="2131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rgbClr val="002060"/>
                </a:solidFill>
              </a:rPr>
              <a:t>1)  </a:t>
            </a:r>
            <a:r>
              <a:rPr lang="ru-RU" sz="2000" dirty="0">
                <a:solidFill>
                  <a:srgbClr val="002060"/>
                </a:solidFill>
              </a:rPr>
              <a:t>Объединение: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48" y="4292166"/>
            <a:ext cx="18962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rgbClr val="002060"/>
                </a:solidFill>
              </a:rPr>
              <a:t>2) </a:t>
            </a:r>
            <a:r>
              <a:rPr lang="ru-RU" sz="2000" dirty="0">
                <a:solidFill>
                  <a:srgbClr val="002060"/>
                </a:solidFill>
              </a:rPr>
              <a:t>Соединение:</a:t>
            </a:r>
          </a:p>
        </p:txBody>
      </p:sp>
    </p:spTree>
    <p:extLst>
      <p:ext uri="{BB962C8B-B14F-4D97-AF65-F5344CB8AC3E}">
        <p14:creationId xmlns:p14="http://schemas.microsoft.com/office/powerpoint/2010/main" val="221194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4810148" y="1643050"/>
          <a:ext cx="3976694" cy="4402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88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8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lnB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lnB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lnT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lnT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8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214282" y="1928802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ВЫБРАТЬ</a:t>
            </a: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	Номенклатура КАК Товар,</a:t>
            </a: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	Количество   КАК Кол</a:t>
            </a:r>
          </a:p>
          <a:p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ИЗ</a:t>
            </a: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  <a:cs typeface="Courier New" pitchFamily="49" charset="0"/>
              </a:rPr>
              <a:t>&lt;Первый источник&gt;</a:t>
            </a: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ОБЪЕДИНИТЬ ВСЕ</a:t>
            </a: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ВЫБРАТЬ</a:t>
            </a: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	Номенклатура,</a:t>
            </a: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	Количество</a:t>
            </a:r>
          </a:p>
          <a:p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ИЗ</a:t>
            </a: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  <a:cs typeface="Courier New" pitchFamily="49" charset="0"/>
              </a:rPr>
              <a:t>&lt;Второй источник&gt;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214298"/>
            <a:ext cx="8229600" cy="1143000"/>
          </a:xfrm>
        </p:spPr>
        <p:txBody>
          <a:bodyPr/>
          <a:lstStyle/>
          <a:p>
            <a:r>
              <a:rPr lang="ru-RU" dirty="0"/>
              <a:t>Объединение источников</a:t>
            </a:r>
          </a:p>
        </p:txBody>
      </p:sp>
    </p:spTree>
    <p:extLst>
      <p:ext uri="{BB962C8B-B14F-4D97-AF65-F5344CB8AC3E}">
        <p14:creationId xmlns:p14="http://schemas.microsoft.com/office/powerpoint/2010/main" val="408079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35762"/>
            <a:ext cx="8784976" cy="750098"/>
          </a:xfrm>
        </p:spPr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С</a:t>
            </a:r>
            <a:r>
              <a:rPr lang="ru-RU" dirty="0"/>
              <a:t>оединение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675" y="1196752"/>
            <a:ext cx="2009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>
                <a:solidFill>
                  <a:srgbClr val="002060"/>
                </a:solidFill>
              </a:rPr>
              <a:t>Без условия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7209" y="1196752"/>
            <a:ext cx="1925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>
                <a:solidFill>
                  <a:srgbClr val="002060"/>
                </a:solidFill>
              </a:rPr>
              <a:t>С условием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 rot="5400000">
            <a:off x="1928794" y="3929066"/>
            <a:ext cx="52864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321439" y="1821938"/>
            <a:ext cx="85011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01420" y="2193245"/>
            <a:ext cx="29996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324000">
              <a:spcBef>
                <a:spcPts val="1200"/>
              </a:spcBef>
              <a:buClr>
                <a:srgbClr val="00B050"/>
              </a:buClr>
              <a:buFont typeface="Wingdings" pitchFamily="2" charset="2"/>
              <a:buChar char="§"/>
            </a:pPr>
            <a:r>
              <a:rPr lang="ru-RU" dirty="0">
                <a:solidFill>
                  <a:srgbClr val="7030A0"/>
                </a:solidFill>
              </a:rPr>
              <a:t>ЛЕВОЕ</a:t>
            </a:r>
            <a:r>
              <a:rPr lang="ru-RU" dirty="0"/>
              <a:t> </a:t>
            </a:r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соединение</a:t>
            </a:r>
          </a:p>
          <a:p>
            <a:pPr indent="324000">
              <a:buClr>
                <a:srgbClr val="00B050"/>
              </a:buClr>
              <a:buFont typeface="Wingdings" pitchFamily="2" charset="2"/>
              <a:buChar char="§"/>
            </a:pPr>
            <a:r>
              <a:rPr lang="ru-RU" dirty="0">
                <a:solidFill>
                  <a:srgbClr val="7030A0"/>
                </a:solidFill>
              </a:rPr>
              <a:t>ПРАВОЕ</a:t>
            </a:r>
            <a:r>
              <a:rPr lang="ru-RU" dirty="0"/>
              <a:t> </a:t>
            </a:r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соединение</a:t>
            </a:r>
          </a:p>
          <a:p>
            <a:pPr indent="324000">
              <a:buClr>
                <a:srgbClr val="00B050"/>
              </a:buClr>
              <a:buFont typeface="Wingdings" pitchFamily="2" charset="2"/>
              <a:buChar char="§"/>
            </a:pPr>
            <a:r>
              <a:rPr lang="ru-RU" dirty="0">
                <a:solidFill>
                  <a:srgbClr val="7030A0"/>
                </a:solidFill>
              </a:rPr>
              <a:t>ПОЛНОЕ</a:t>
            </a:r>
            <a:r>
              <a:rPr lang="ru-RU" dirty="0"/>
              <a:t> </a:t>
            </a:r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соединение</a:t>
            </a:r>
          </a:p>
          <a:p>
            <a:pPr indent="324000">
              <a:buClr>
                <a:srgbClr val="00B050"/>
              </a:buClr>
              <a:buFont typeface="Wingdings" pitchFamily="2" charset="2"/>
              <a:buChar char="§"/>
            </a:pPr>
            <a:r>
              <a:rPr lang="ru-RU" dirty="0">
                <a:solidFill>
                  <a:srgbClr val="7030A0"/>
                </a:solidFill>
              </a:rPr>
              <a:t>ВНУТРЕННЕЕ</a:t>
            </a:r>
            <a:r>
              <a:rPr lang="ru-RU" dirty="0"/>
              <a:t> </a:t>
            </a:r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соединение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58" y="2036252"/>
            <a:ext cx="3850862" cy="5890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324000">
              <a:lnSpc>
                <a:spcPct val="150000"/>
              </a:lnSpc>
              <a:buClr>
                <a:srgbClr val="00B050"/>
              </a:buClr>
              <a:buFont typeface="Wingdings" pitchFamily="2" charset="2"/>
              <a:buChar char="§"/>
            </a:pPr>
            <a:r>
              <a:rPr lang="ru-RU" sz="2400" dirty="0"/>
              <a:t>Декартово произведение</a:t>
            </a:r>
            <a:endParaRPr lang="ru-RU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14348" y="3750764"/>
            <a:ext cx="3357586" cy="1740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ВЫБРАТЬ</a:t>
            </a:r>
          </a:p>
          <a:p>
            <a:pPr marL="360000">
              <a:lnSpc>
                <a:spcPct val="120000"/>
              </a:lnSpc>
            </a:pPr>
            <a:r>
              <a:rPr lang="ru-RU" dirty="0">
                <a:latin typeface="Courier New" pitchFamily="49" charset="0"/>
                <a:cs typeface="Courier New" pitchFamily="49" charset="0"/>
              </a:rPr>
              <a:t>*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ИЗ</a:t>
            </a:r>
          </a:p>
          <a:p>
            <a:pPr marL="360000">
              <a:lnSpc>
                <a:spcPct val="120000"/>
              </a:lnSpc>
            </a:pPr>
            <a:r>
              <a:rPr lang="ru-RU" i="1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  <a:cs typeface="Courier New" pitchFamily="49" charset="0"/>
              </a:rPr>
              <a:t>&lt;Первый источник&gt;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360000">
              <a:lnSpc>
                <a:spcPct val="120000"/>
              </a:lnSpc>
            </a:pPr>
            <a:r>
              <a:rPr lang="ru-RU" i="1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  <a:cs typeface="Courier New" pitchFamily="49" charset="0"/>
              </a:rPr>
              <a:t>&lt;Второй источник&gt;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000628" y="3786276"/>
            <a:ext cx="3714776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ВЫБРАТЬ</a:t>
            </a:r>
          </a:p>
          <a:p>
            <a:pPr marL="360000"/>
            <a:r>
              <a:rPr lang="ru-RU" dirty="0">
                <a:latin typeface="Courier New" pitchFamily="49" charset="0"/>
                <a:cs typeface="Courier New" pitchFamily="49" charset="0"/>
              </a:rPr>
              <a:t>*</a:t>
            </a:r>
          </a:p>
          <a:p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ИЗ</a:t>
            </a:r>
          </a:p>
          <a:p>
            <a:pPr marL="360000"/>
            <a:r>
              <a:rPr lang="ru-RU" i="1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  <a:cs typeface="Courier New" pitchFamily="49" charset="0"/>
              </a:rPr>
              <a:t>&lt;Первый источник&gt;</a:t>
            </a:r>
          </a:p>
          <a:p>
            <a:pPr marL="360000">
              <a:spcBef>
                <a:spcPts val="1800"/>
              </a:spcBef>
            </a:pPr>
            <a:r>
              <a:rPr lang="ru-RU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ЛЕВОЕ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СОЕДИНЕНИЕ</a:t>
            </a:r>
          </a:p>
          <a:p>
            <a:pPr marL="720000"/>
            <a:r>
              <a:rPr lang="ru-RU" i="1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  <a:cs typeface="Courier New" pitchFamily="49" charset="0"/>
              </a:rPr>
              <a:t>&lt;Второй источник&gt;</a:t>
            </a:r>
          </a:p>
          <a:p>
            <a:pPr marL="360000"/>
            <a:r>
              <a:rPr lang="ru-RU" b="1" dirty="0">
                <a:latin typeface="Courier New" pitchFamily="49" charset="0"/>
                <a:cs typeface="Courier New" pitchFamily="49" charset="0"/>
              </a:rPr>
              <a:t>ПО</a:t>
            </a:r>
          </a:p>
          <a:p>
            <a:pPr marL="720000"/>
            <a:r>
              <a:rPr lang="ru-RU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&lt;Условие соединения&gt;</a:t>
            </a:r>
          </a:p>
        </p:txBody>
      </p:sp>
    </p:spTree>
    <p:extLst>
      <p:ext uri="{BB962C8B-B14F-4D97-AF65-F5344CB8AC3E}">
        <p14:creationId xmlns:p14="http://schemas.microsoft.com/office/powerpoint/2010/main" val="32183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 build="p"/>
      <p:bldP spid="9" grpId="0"/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Соединение без условия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651343" y="1556792"/>
          <a:ext cx="3636000" cy="163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1. 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2. 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3. 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788024" y="1556792"/>
          <a:ext cx="3636000" cy="163728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800" dirty="0"/>
                        <a:t>1. 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2. 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3. 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421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27284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Результат соединения без условия. 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Каждая строка таблицы 1 соединена с каждой строкой из таблицы 2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867367" y="2204864"/>
          <a:ext cx="3636000" cy="383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800" dirty="0"/>
                        <a:t>1. 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800" dirty="0"/>
                        <a:t>2. 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800" dirty="0"/>
                        <a:t>3. 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800" dirty="0"/>
                        <a:t>1. 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800" dirty="0"/>
                        <a:t>2 .Груши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800" dirty="0"/>
                        <a:t>3. 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800" dirty="0"/>
                        <a:t>1. 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800" dirty="0"/>
                        <a:t>2. 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800" dirty="0"/>
                        <a:t>3. 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4499992" y="2204864"/>
          <a:ext cx="3636000" cy="383184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1. 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1. 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1. 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2. 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2. 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2. 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3. 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3. 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800" dirty="0"/>
                        <a:t>3. 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30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32306"/>
            <a:ext cx="8784976" cy="880470"/>
          </a:xfrm>
        </p:spPr>
        <p:txBody>
          <a:bodyPr/>
          <a:lstStyle/>
          <a:p>
            <a:r>
              <a:rPr lang="ru-RU" dirty="0"/>
              <a:t>Условие соединения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500034" y="2340570"/>
          <a:ext cx="3636000" cy="216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007966" y="1804787"/>
          <a:ext cx="3636000" cy="216000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333934" y="5157192"/>
            <a:ext cx="64761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Вид</a:t>
            </a:r>
            <a:r>
              <a:rPr lang="en-US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СОЕДИНЕНИЕ</a:t>
            </a:r>
          </a:p>
          <a:p>
            <a:pPr marL="360000"/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ПО</a:t>
            </a:r>
          </a:p>
          <a:p>
            <a:pPr marL="360000"/>
            <a:r>
              <a:rPr lang="ru-RU" b="1" dirty="0" err="1">
                <a:latin typeface="Courier New" pitchFamily="49" charset="0"/>
                <a:cs typeface="Courier New" pitchFamily="49" charset="0"/>
              </a:rPr>
              <a:t>ПервыйИсточник.Товар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ВторойИсточник.Товар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85720" y="2986084"/>
            <a:ext cx="8572560" cy="357190"/>
          </a:xfrm>
          <a:prstGeom prst="roundRect">
            <a:avLst/>
          </a:prstGeom>
          <a:solidFill>
            <a:srgbClr val="00B050">
              <a:alpha val="15000"/>
            </a:srgb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285720" y="3519488"/>
            <a:ext cx="8572560" cy="357190"/>
          </a:xfrm>
          <a:prstGeom prst="roundRect">
            <a:avLst/>
          </a:prstGeom>
          <a:solidFill>
            <a:srgbClr val="00B050">
              <a:alpha val="15000"/>
            </a:srgb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66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76828"/>
            <a:ext cx="8784976" cy="1143000"/>
          </a:xfrm>
        </p:spPr>
        <p:txBody>
          <a:bodyPr>
            <a:normAutofit/>
          </a:bodyPr>
          <a:lstStyle/>
          <a:p>
            <a:r>
              <a:rPr lang="ru-RU" sz="2800" dirty="0"/>
              <a:t>Виды соединений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b="1" dirty="0">
                <a:solidFill>
                  <a:srgbClr val="FF0000"/>
                </a:solidFill>
              </a:rPr>
              <a:t>ЛЕВОЕ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236766" y="2207000"/>
          <a:ext cx="2700000" cy="129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941585" y="1772816"/>
          <a:ext cx="2700000" cy="1296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236766" y="4477344"/>
          <a:ext cx="5407200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7158" y="2672701"/>
            <a:ext cx="21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Исходные таблицы: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158" y="4941450"/>
            <a:ext cx="246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соединения:</a:t>
            </a:r>
          </a:p>
        </p:txBody>
      </p:sp>
      <p:grpSp>
        <p:nvGrpSpPr>
          <p:cNvPr id="5" name="Группа 11"/>
          <p:cNvGrpSpPr/>
          <p:nvPr/>
        </p:nvGrpSpPr>
        <p:grpSpPr>
          <a:xfrm>
            <a:off x="4500562" y="3655923"/>
            <a:ext cx="522900" cy="512207"/>
            <a:chOff x="4500562" y="4143381"/>
            <a:chExt cx="522900" cy="512207"/>
          </a:xfrm>
        </p:grpSpPr>
        <p:sp>
          <p:nvSpPr>
            <p:cNvPr id="13" name="TextBox 12"/>
            <p:cNvSpPr txBox="1"/>
            <p:nvPr/>
          </p:nvSpPr>
          <p:spPr>
            <a:xfrm>
              <a:off x="4500562" y="4286256"/>
              <a:ext cx="5229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>
                      <a:lumMod val="75000"/>
                    </a:schemeClr>
                  </a:solidFill>
                </a:rPr>
                <a:t>Все</a:t>
              </a:r>
            </a:p>
          </p:txBody>
        </p:sp>
        <p:cxnSp>
          <p:nvCxnSpPr>
            <p:cNvPr id="14" name="Прямая со стрелкой 13"/>
            <p:cNvCxnSpPr/>
            <p:nvPr/>
          </p:nvCxnSpPr>
          <p:spPr>
            <a:xfrm rot="16200000" flipV="1">
              <a:off x="4654458" y="4250141"/>
              <a:ext cx="215108" cy="158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Прямая со стрелкой 14"/>
          <p:cNvCxnSpPr/>
          <p:nvPr/>
        </p:nvCxnSpPr>
        <p:spPr>
          <a:xfrm rot="5400000">
            <a:off x="4654458" y="4226239"/>
            <a:ext cx="215108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31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31394"/>
            <a:ext cx="8784976" cy="1143000"/>
          </a:xfrm>
        </p:spPr>
        <p:txBody>
          <a:bodyPr>
            <a:normAutofit/>
          </a:bodyPr>
          <a:lstStyle/>
          <a:p>
            <a:r>
              <a:rPr lang="ru-RU" sz="2800" dirty="0"/>
              <a:t>Виды соединений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b="1" dirty="0">
                <a:solidFill>
                  <a:srgbClr val="FF0000"/>
                </a:solidFill>
              </a:rPr>
              <a:t>ПРАВОЕ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236766" y="2207000"/>
          <a:ext cx="2700000" cy="129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941585" y="1772816"/>
          <a:ext cx="2700000" cy="1296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236766" y="4477344"/>
          <a:ext cx="5407200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7158" y="2672701"/>
            <a:ext cx="21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Исходные таблицы: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158" y="4941450"/>
            <a:ext cx="246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соединения:</a:t>
            </a:r>
          </a:p>
        </p:txBody>
      </p:sp>
      <p:grpSp>
        <p:nvGrpSpPr>
          <p:cNvPr id="5" name="Группа 25"/>
          <p:cNvGrpSpPr/>
          <p:nvPr/>
        </p:nvGrpSpPr>
        <p:grpSpPr>
          <a:xfrm>
            <a:off x="7192372" y="3655923"/>
            <a:ext cx="522900" cy="512207"/>
            <a:chOff x="4500562" y="4143381"/>
            <a:chExt cx="522900" cy="512207"/>
          </a:xfrm>
        </p:grpSpPr>
        <p:sp>
          <p:nvSpPr>
            <p:cNvPr id="20" name="TextBox 19"/>
            <p:cNvSpPr txBox="1"/>
            <p:nvPr/>
          </p:nvSpPr>
          <p:spPr>
            <a:xfrm>
              <a:off x="4500562" y="4286256"/>
              <a:ext cx="5229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>
                      <a:lumMod val="75000"/>
                    </a:schemeClr>
                  </a:solidFill>
                </a:rPr>
                <a:t>Все</a:t>
              </a:r>
            </a:p>
          </p:txBody>
        </p:sp>
        <p:cxnSp>
          <p:nvCxnSpPr>
            <p:cNvPr id="21" name="Прямая со стрелкой 20"/>
            <p:cNvCxnSpPr/>
            <p:nvPr/>
          </p:nvCxnSpPr>
          <p:spPr>
            <a:xfrm rot="16200000" flipV="1">
              <a:off x="4654458" y="4250141"/>
              <a:ext cx="215108" cy="158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Прямая со стрелкой 24"/>
          <p:cNvCxnSpPr/>
          <p:nvPr/>
        </p:nvCxnSpPr>
        <p:spPr>
          <a:xfrm rot="5400000">
            <a:off x="7346268" y="4226239"/>
            <a:ext cx="215108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27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6030"/>
            <a:ext cx="8784976" cy="1143000"/>
          </a:xfrm>
        </p:spPr>
        <p:txBody>
          <a:bodyPr>
            <a:normAutofit/>
          </a:bodyPr>
          <a:lstStyle/>
          <a:p>
            <a:r>
              <a:rPr lang="ru-RU" sz="2800" dirty="0"/>
              <a:t>Виды соединений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b="1" dirty="0">
                <a:solidFill>
                  <a:srgbClr val="FF0000"/>
                </a:solidFill>
              </a:rPr>
              <a:t>ПОЛНОЕ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236766" y="2207000"/>
          <a:ext cx="2700000" cy="129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941585" y="1772816"/>
          <a:ext cx="2700000" cy="1296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236766" y="4477344"/>
          <a:ext cx="5407200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7158" y="2672701"/>
            <a:ext cx="21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Исходные таблицы: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158" y="4941450"/>
            <a:ext cx="246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соединения:</a:t>
            </a:r>
          </a:p>
        </p:txBody>
      </p:sp>
      <p:grpSp>
        <p:nvGrpSpPr>
          <p:cNvPr id="5" name="Группа 25"/>
          <p:cNvGrpSpPr/>
          <p:nvPr/>
        </p:nvGrpSpPr>
        <p:grpSpPr>
          <a:xfrm>
            <a:off x="7192372" y="3655923"/>
            <a:ext cx="522900" cy="512207"/>
            <a:chOff x="4500562" y="4143381"/>
            <a:chExt cx="522900" cy="512207"/>
          </a:xfrm>
        </p:grpSpPr>
        <p:sp>
          <p:nvSpPr>
            <p:cNvPr id="20" name="TextBox 19"/>
            <p:cNvSpPr txBox="1"/>
            <p:nvPr/>
          </p:nvSpPr>
          <p:spPr>
            <a:xfrm>
              <a:off x="4500562" y="4286256"/>
              <a:ext cx="5229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>
                      <a:lumMod val="75000"/>
                    </a:schemeClr>
                  </a:solidFill>
                </a:rPr>
                <a:t>Все</a:t>
              </a:r>
            </a:p>
          </p:txBody>
        </p:sp>
        <p:cxnSp>
          <p:nvCxnSpPr>
            <p:cNvPr id="21" name="Прямая со стрелкой 20"/>
            <p:cNvCxnSpPr/>
            <p:nvPr/>
          </p:nvCxnSpPr>
          <p:spPr>
            <a:xfrm rot="16200000" flipV="1">
              <a:off x="4654458" y="4250141"/>
              <a:ext cx="215108" cy="158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Прямая со стрелкой 24"/>
          <p:cNvCxnSpPr/>
          <p:nvPr/>
        </p:nvCxnSpPr>
        <p:spPr>
          <a:xfrm rot="5400000">
            <a:off x="7346268" y="4226239"/>
            <a:ext cx="215108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11"/>
          <p:cNvGrpSpPr/>
          <p:nvPr/>
        </p:nvGrpSpPr>
        <p:grpSpPr>
          <a:xfrm>
            <a:off x="4500562" y="3655923"/>
            <a:ext cx="522900" cy="512207"/>
            <a:chOff x="4500562" y="4143381"/>
            <a:chExt cx="522900" cy="512207"/>
          </a:xfrm>
        </p:grpSpPr>
        <p:sp>
          <p:nvSpPr>
            <p:cNvPr id="13" name="TextBox 12"/>
            <p:cNvSpPr txBox="1"/>
            <p:nvPr/>
          </p:nvSpPr>
          <p:spPr>
            <a:xfrm>
              <a:off x="4500562" y="4286256"/>
              <a:ext cx="5229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>
                      <a:lumMod val="75000"/>
                    </a:schemeClr>
                  </a:solidFill>
                </a:rPr>
                <a:t>Все</a:t>
              </a:r>
            </a:p>
          </p:txBody>
        </p:sp>
        <p:cxnSp>
          <p:nvCxnSpPr>
            <p:cNvPr id="14" name="Прямая со стрелкой 13"/>
            <p:cNvCxnSpPr/>
            <p:nvPr/>
          </p:nvCxnSpPr>
          <p:spPr>
            <a:xfrm rot="16200000" flipV="1">
              <a:off x="4654458" y="4250141"/>
              <a:ext cx="215108" cy="158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Прямая со стрелкой 14"/>
          <p:cNvCxnSpPr/>
          <p:nvPr/>
        </p:nvCxnSpPr>
        <p:spPr>
          <a:xfrm rot="5400000">
            <a:off x="4654458" y="4226239"/>
            <a:ext cx="215108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03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31394"/>
            <a:ext cx="8784976" cy="1143000"/>
          </a:xfrm>
        </p:spPr>
        <p:txBody>
          <a:bodyPr>
            <a:normAutofit/>
          </a:bodyPr>
          <a:lstStyle/>
          <a:p>
            <a:r>
              <a:rPr lang="ru-RU" sz="2800" dirty="0"/>
              <a:t>Виды соединений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b="1" dirty="0">
                <a:solidFill>
                  <a:srgbClr val="FF0000"/>
                </a:solidFill>
              </a:rPr>
              <a:t>ВНУТРЕННЕЕ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236766" y="2207000"/>
          <a:ext cx="2700000" cy="129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941585" y="1772816"/>
          <a:ext cx="2700000" cy="1296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236766" y="4477344"/>
          <a:ext cx="5407200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7158" y="2672701"/>
            <a:ext cx="21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Исходные таблицы: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158" y="4941450"/>
            <a:ext cx="246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соединения:</a:t>
            </a:r>
          </a:p>
        </p:txBody>
      </p:sp>
    </p:spTree>
    <p:extLst>
      <p:ext uri="{BB962C8B-B14F-4D97-AF65-F5344CB8AC3E}">
        <p14:creationId xmlns:p14="http://schemas.microsoft.com/office/powerpoint/2010/main" val="2744576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34483"/>
            <a:ext cx="8784976" cy="1000124"/>
          </a:xfrm>
        </p:spPr>
        <p:txBody>
          <a:bodyPr/>
          <a:lstStyle/>
          <a:p>
            <a:r>
              <a:rPr lang="ru-RU" dirty="0"/>
              <a:t>Условие соединения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611560" y="1772816"/>
          <a:ext cx="3636000" cy="27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007966" y="1804787"/>
          <a:ext cx="3636000" cy="270000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ru-RU" sz="18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333934" y="5013176"/>
            <a:ext cx="64761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Вид</a:t>
            </a:r>
            <a:r>
              <a:rPr lang="en-US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СОЕДИНЕНИЕ</a:t>
            </a:r>
          </a:p>
          <a:p>
            <a:pPr marL="360000"/>
            <a:r>
              <a:rPr lang="ru-RU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ПО</a:t>
            </a:r>
          </a:p>
          <a:p>
            <a:pPr marL="360000"/>
            <a:r>
              <a:rPr lang="ru-RU" b="1" dirty="0" err="1">
                <a:latin typeface="Courier New" pitchFamily="49" charset="0"/>
                <a:cs typeface="Courier New" pitchFamily="49" charset="0"/>
              </a:rPr>
              <a:t>ПервыйИсточник.Товар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ВторойИсточник.Товар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61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1539"/>
            <a:ext cx="8784976" cy="1052017"/>
          </a:xfrm>
        </p:spPr>
        <p:txBody>
          <a:bodyPr>
            <a:normAutofit/>
          </a:bodyPr>
          <a:lstStyle/>
          <a:p>
            <a:r>
              <a:rPr lang="ru-RU" sz="2800" dirty="0"/>
              <a:t>Виды соединений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b="1" dirty="0">
                <a:solidFill>
                  <a:srgbClr val="FF0000"/>
                </a:solidFill>
              </a:rPr>
              <a:t>ВНУТРЕННЕЕ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65553" y="1879558"/>
          <a:ext cx="2700000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986800" y="1912886"/>
          <a:ext cx="2700000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051720" y="3916888"/>
          <a:ext cx="5407200" cy="1779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83048" y="1428728"/>
            <a:ext cx="21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Исходные таблицы: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0031" y="3501008"/>
            <a:ext cx="246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соединения: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3220031" y="2060848"/>
            <a:ext cx="2648113" cy="50405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3220031" y="2060848"/>
            <a:ext cx="2648113" cy="135886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3220031" y="2497542"/>
            <a:ext cx="2648113" cy="52465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V="1">
            <a:off x="3220031" y="3140968"/>
            <a:ext cx="2648113" cy="20107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27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1539"/>
            <a:ext cx="8784976" cy="1052017"/>
          </a:xfrm>
        </p:spPr>
        <p:txBody>
          <a:bodyPr>
            <a:normAutofit/>
          </a:bodyPr>
          <a:lstStyle/>
          <a:p>
            <a:r>
              <a:rPr lang="ru-RU" sz="2800" dirty="0"/>
              <a:t>Виды соединений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b="1" dirty="0">
                <a:solidFill>
                  <a:srgbClr val="FF0000"/>
                </a:solidFill>
              </a:rPr>
              <a:t>ЛЕВОЕ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65553" y="1879558"/>
          <a:ext cx="2700000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986800" y="1912886"/>
          <a:ext cx="2700000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057618" y="3573015"/>
          <a:ext cx="5407200" cy="2668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027289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83048" y="1428728"/>
            <a:ext cx="21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Исходные таблицы: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0031" y="3501008"/>
            <a:ext cx="246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соединения: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3220031" y="2060848"/>
            <a:ext cx="2648113" cy="50405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3220031" y="2060848"/>
            <a:ext cx="2648113" cy="135886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3220031" y="2497542"/>
            <a:ext cx="2648113" cy="52465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V="1">
            <a:off x="3220031" y="3140968"/>
            <a:ext cx="2648113" cy="20107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6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1539"/>
            <a:ext cx="8784976" cy="1052017"/>
          </a:xfrm>
        </p:spPr>
        <p:txBody>
          <a:bodyPr>
            <a:normAutofit/>
          </a:bodyPr>
          <a:lstStyle/>
          <a:p>
            <a:r>
              <a:rPr lang="ru-RU" sz="2800" dirty="0"/>
              <a:t>Виды соединений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b="1" dirty="0">
                <a:solidFill>
                  <a:srgbClr val="FF0000"/>
                </a:solidFill>
              </a:rPr>
              <a:t>ПРАВОЕ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65553" y="1879558"/>
          <a:ext cx="2700000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986800" y="1912886"/>
          <a:ext cx="2700000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051720" y="3916888"/>
          <a:ext cx="5407200" cy="2224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147054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83048" y="1428728"/>
            <a:ext cx="21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Исходные таблицы: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0031" y="3501008"/>
            <a:ext cx="246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соединения: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 flipH="1" flipV="1">
            <a:off x="3284210" y="2033632"/>
            <a:ext cx="2638412" cy="50504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 flipV="1">
            <a:off x="3284210" y="2156238"/>
            <a:ext cx="2638412" cy="118580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H="1" flipV="1">
            <a:off x="3284210" y="2538673"/>
            <a:ext cx="2583934" cy="44333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H="1">
            <a:off x="3229731" y="3041349"/>
            <a:ext cx="2638413" cy="32309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53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1539"/>
            <a:ext cx="8784976" cy="1052017"/>
          </a:xfrm>
        </p:spPr>
        <p:txBody>
          <a:bodyPr>
            <a:normAutofit/>
          </a:bodyPr>
          <a:lstStyle/>
          <a:p>
            <a:r>
              <a:rPr lang="ru-RU" sz="2800" dirty="0"/>
              <a:t>Виды соединений</a:t>
            </a:r>
            <a:r>
              <a:rPr lang="ru-RU" sz="4800" dirty="0"/>
              <a:t/>
            </a:r>
            <a:br>
              <a:rPr lang="ru-RU" sz="4800" dirty="0"/>
            </a:br>
            <a:r>
              <a:rPr lang="ru-RU" dirty="0">
                <a:solidFill>
                  <a:srgbClr val="FF0000"/>
                </a:solidFill>
              </a:rPr>
              <a:t>ПОЛНОЕ</a:t>
            </a:r>
            <a:endParaRPr lang="ru-RU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65553" y="1556792"/>
          <a:ext cx="2700000" cy="172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986800" y="1590120"/>
          <a:ext cx="2700000" cy="1728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737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051720" y="3533636"/>
          <a:ext cx="5407200" cy="2668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8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Бананы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62211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819">
                <a:tc>
                  <a:txBody>
                    <a:bodyPr/>
                    <a:lstStyle/>
                    <a:p>
                      <a:r>
                        <a:rPr lang="ru-RU" sz="1400" dirty="0"/>
                        <a:t>Киви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 Narrow" pitchFamily="34" charset="0"/>
                        </a:rPr>
                        <a:t>NULL</a:t>
                      </a:r>
                      <a:endParaRPr lang="ru-RU" sz="1100" dirty="0">
                        <a:solidFill>
                          <a:srgbClr val="FF0000"/>
                        </a:solidFill>
                        <a:latin typeface="Arial Narrow" pitchFamily="34" charset="0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83048" y="1428728"/>
            <a:ext cx="2177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Исходные таблицы: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0031" y="3203684"/>
            <a:ext cx="246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Результат соединения:</a:t>
            </a:r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3220031" y="1738082"/>
            <a:ext cx="2648113" cy="50405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3220031" y="1738082"/>
            <a:ext cx="2648113" cy="135886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3220031" y="2174776"/>
            <a:ext cx="2648113" cy="52465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V="1">
            <a:off x="3220031" y="2818202"/>
            <a:ext cx="2648113" cy="20107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3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Блокировки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Решение проблем конкурентного доступа к ресурсам</a:t>
            </a:r>
          </a:p>
        </p:txBody>
      </p:sp>
    </p:spTree>
    <p:extLst>
      <p:ext uri="{BB962C8B-B14F-4D97-AF65-F5344CB8AC3E}">
        <p14:creationId xmlns:p14="http://schemas.microsoft.com/office/powerpoint/2010/main" val="25116996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1044950"/>
          </a:xfrm>
        </p:spPr>
        <p:txBody>
          <a:bodyPr/>
          <a:lstStyle/>
          <a:p>
            <a:r>
              <a:rPr lang="ru-RU" dirty="0"/>
              <a:t>Проблема чтения данных, которые будут изменены</a:t>
            </a:r>
          </a:p>
        </p:txBody>
      </p:sp>
      <p:grpSp>
        <p:nvGrpSpPr>
          <p:cNvPr id="3" name="Группа 19"/>
          <p:cNvGrpSpPr/>
          <p:nvPr/>
        </p:nvGrpSpPr>
        <p:grpSpPr>
          <a:xfrm>
            <a:off x="285720" y="4259070"/>
            <a:ext cx="8572560" cy="428628"/>
            <a:chOff x="285720" y="3929066"/>
            <a:chExt cx="8572560" cy="428628"/>
          </a:xfrm>
        </p:grpSpPr>
        <p:cxnSp>
          <p:nvCxnSpPr>
            <p:cNvPr id="4" name="Прямая со стрелкой 3"/>
            <p:cNvCxnSpPr/>
            <p:nvPr/>
          </p:nvCxnSpPr>
          <p:spPr>
            <a:xfrm>
              <a:off x="285720" y="4144174"/>
              <a:ext cx="8572560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/>
            <p:cNvCxnSpPr/>
            <p:nvPr/>
          </p:nvCxnSpPr>
          <p:spPr>
            <a:xfrm rot="5400000">
              <a:off x="1428728" y="4143380"/>
              <a:ext cx="428628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/>
            <p:cNvCxnSpPr/>
            <p:nvPr/>
          </p:nvCxnSpPr>
          <p:spPr>
            <a:xfrm rot="5400000">
              <a:off x="7286644" y="4143380"/>
              <a:ext cx="428628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Блок-схема: задержка 12"/>
          <p:cNvSpPr/>
          <p:nvPr/>
        </p:nvSpPr>
        <p:spPr>
          <a:xfrm rot="16200000">
            <a:off x="2786051" y="2187367"/>
            <a:ext cx="1285882" cy="3286148"/>
          </a:xfrm>
          <a:prstGeom prst="flowChartDelay">
            <a:avLst/>
          </a:prstGeom>
          <a:solidFill>
            <a:srgbClr val="00B050">
              <a:alpha val="15000"/>
            </a:srgbClr>
          </a:solidFill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756000" rtlCol="0" anchor="t"/>
          <a:lstStyle/>
          <a:p>
            <a:pPr algn="ctr"/>
            <a:r>
              <a:rPr lang="ru-RU" sz="1400" dirty="0">
                <a:solidFill>
                  <a:srgbClr val="002060"/>
                </a:solidFill>
              </a:rPr>
              <a:t>Проведение</a:t>
            </a:r>
          </a:p>
          <a:p>
            <a:pPr algn="ctr"/>
            <a:r>
              <a:rPr lang="ru-RU" sz="1400" dirty="0">
                <a:solidFill>
                  <a:srgbClr val="002060"/>
                </a:solidFill>
              </a:rPr>
              <a:t>«Реализация </a:t>
            </a:r>
            <a:r>
              <a:rPr lang="ru-RU" sz="1400" b="1" dirty="0">
                <a:solidFill>
                  <a:srgbClr val="002060"/>
                </a:solidFill>
              </a:rPr>
              <a:t>00001</a:t>
            </a:r>
            <a:r>
              <a:rPr lang="ru-RU" sz="1400" dirty="0">
                <a:solidFill>
                  <a:srgbClr val="002060"/>
                </a:solidFill>
              </a:rPr>
              <a:t>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20" y="2348880"/>
            <a:ext cx="122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spc="300" dirty="0">
                <a:solidFill>
                  <a:schemeClr val="bg1">
                    <a:lumMod val="50000"/>
                  </a:schemeClr>
                </a:solidFill>
              </a:rPr>
              <a:t>16:05:00</a:t>
            </a: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8691" y="2348880"/>
            <a:ext cx="122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spc="300" dirty="0">
                <a:solidFill>
                  <a:schemeClr val="bg1">
                    <a:lumMod val="50000"/>
                  </a:schemeClr>
                </a:solidFill>
              </a:rPr>
              <a:t>16:05:0</a:t>
            </a:r>
            <a:r>
              <a:rPr lang="en-US" sz="1600" spc="300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1662" y="2348880"/>
            <a:ext cx="122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spc="300" dirty="0">
                <a:solidFill>
                  <a:schemeClr val="bg1">
                    <a:lumMod val="50000"/>
                  </a:schemeClr>
                </a:solidFill>
              </a:rPr>
              <a:t>16:05:02</a:t>
            </a: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Блок-схема: задержка 21"/>
          <p:cNvSpPr/>
          <p:nvPr/>
        </p:nvSpPr>
        <p:spPr>
          <a:xfrm rot="16200000">
            <a:off x="5071741" y="2187041"/>
            <a:ext cx="1285882" cy="3286800"/>
          </a:xfrm>
          <a:prstGeom prst="flowChartDelay">
            <a:avLst/>
          </a:prstGeom>
          <a:solidFill>
            <a:srgbClr val="0070C0">
              <a:alpha val="15000"/>
            </a:srgbClr>
          </a:solidFill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756000" rIns="0" bIns="0" rtlCol="0" anchor="t"/>
          <a:lstStyle/>
          <a:p>
            <a:pPr algn="ctr"/>
            <a:r>
              <a:rPr lang="ru-RU" sz="1400" dirty="0">
                <a:solidFill>
                  <a:srgbClr val="002060"/>
                </a:solidFill>
              </a:rPr>
              <a:t>Проведение</a:t>
            </a:r>
          </a:p>
          <a:p>
            <a:pPr algn="ctr"/>
            <a:r>
              <a:rPr lang="ru-RU" sz="1400" dirty="0">
                <a:solidFill>
                  <a:srgbClr val="002060"/>
                </a:solidFill>
              </a:rPr>
              <a:t>«Реализация </a:t>
            </a:r>
            <a:r>
              <a:rPr lang="ru-RU" sz="1400" b="1" dirty="0">
                <a:solidFill>
                  <a:srgbClr val="002060"/>
                </a:solidFill>
              </a:rPr>
              <a:t>00002</a:t>
            </a:r>
            <a:r>
              <a:rPr lang="ru-RU" sz="1400" dirty="0">
                <a:solidFill>
                  <a:srgbClr val="002060"/>
                </a:solidFill>
              </a:rPr>
              <a:t>»</a:t>
            </a:r>
          </a:p>
        </p:txBody>
      </p:sp>
      <p:grpSp>
        <p:nvGrpSpPr>
          <p:cNvPr id="6" name="Группа 117"/>
          <p:cNvGrpSpPr/>
          <p:nvPr/>
        </p:nvGrpSpPr>
        <p:grpSpPr>
          <a:xfrm>
            <a:off x="1643042" y="4401946"/>
            <a:ext cx="713657" cy="1000132"/>
            <a:chOff x="7858590" y="4643446"/>
            <a:chExt cx="713657" cy="1000132"/>
          </a:xfrm>
        </p:grpSpPr>
        <p:sp>
          <p:nvSpPr>
            <p:cNvPr id="24" name="TextBox 23"/>
            <p:cNvSpPr txBox="1"/>
            <p:nvPr/>
          </p:nvSpPr>
          <p:spPr>
            <a:xfrm>
              <a:off x="7858590" y="5335801"/>
              <a:ext cx="7136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accent3">
                      <a:lumMod val="75000"/>
                    </a:schemeClr>
                  </a:solidFill>
                </a:rPr>
                <a:t>Запрос</a:t>
              </a:r>
            </a:p>
          </p:txBody>
        </p:sp>
        <p:cxnSp>
          <p:nvCxnSpPr>
            <p:cNvPr id="25" name="Прямая со стрелкой 24"/>
            <p:cNvCxnSpPr/>
            <p:nvPr/>
          </p:nvCxnSpPr>
          <p:spPr>
            <a:xfrm rot="16200000">
              <a:off x="7966099" y="5134504"/>
              <a:ext cx="5000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6" name="Овал 25"/>
            <p:cNvSpPr/>
            <p:nvPr/>
          </p:nvSpPr>
          <p:spPr>
            <a:xfrm>
              <a:off x="8143900" y="4643446"/>
              <a:ext cx="144000" cy="144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" name="Группа 117"/>
          <p:cNvGrpSpPr/>
          <p:nvPr/>
        </p:nvGrpSpPr>
        <p:grpSpPr>
          <a:xfrm>
            <a:off x="4399495" y="4401946"/>
            <a:ext cx="917239" cy="1000132"/>
            <a:chOff x="7756800" y="4643446"/>
            <a:chExt cx="917239" cy="1000132"/>
          </a:xfrm>
        </p:grpSpPr>
        <p:sp>
          <p:nvSpPr>
            <p:cNvPr id="32" name="TextBox 31"/>
            <p:cNvSpPr txBox="1"/>
            <p:nvPr/>
          </p:nvSpPr>
          <p:spPr>
            <a:xfrm>
              <a:off x="7756800" y="5335801"/>
              <a:ext cx="9172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accent3">
                      <a:lumMod val="75000"/>
                    </a:schemeClr>
                  </a:solidFill>
                </a:rPr>
                <a:t>Списание</a:t>
              </a:r>
            </a:p>
          </p:txBody>
        </p:sp>
        <p:cxnSp>
          <p:nvCxnSpPr>
            <p:cNvPr id="33" name="Прямая со стрелкой 32"/>
            <p:cNvCxnSpPr/>
            <p:nvPr/>
          </p:nvCxnSpPr>
          <p:spPr>
            <a:xfrm rot="16200000">
              <a:off x="7966099" y="5134504"/>
              <a:ext cx="5000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4" name="Овал 33"/>
            <p:cNvSpPr/>
            <p:nvPr/>
          </p:nvSpPr>
          <p:spPr>
            <a:xfrm>
              <a:off x="8143900" y="4643446"/>
              <a:ext cx="144000" cy="144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" name="Группа 117"/>
          <p:cNvGrpSpPr/>
          <p:nvPr/>
        </p:nvGrpSpPr>
        <p:grpSpPr>
          <a:xfrm>
            <a:off x="3929058" y="4401946"/>
            <a:ext cx="713657" cy="1665099"/>
            <a:chOff x="7858590" y="4643446"/>
            <a:chExt cx="713657" cy="1665099"/>
          </a:xfrm>
        </p:grpSpPr>
        <p:sp>
          <p:nvSpPr>
            <p:cNvPr id="36" name="TextBox 35"/>
            <p:cNvSpPr txBox="1"/>
            <p:nvPr/>
          </p:nvSpPr>
          <p:spPr>
            <a:xfrm>
              <a:off x="7858590" y="6000768"/>
              <a:ext cx="7136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accent1">
                      <a:lumMod val="75000"/>
                    </a:schemeClr>
                  </a:solidFill>
                </a:rPr>
                <a:t>Запрос</a:t>
              </a:r>
            </a:p>
          </p:txBody>
        </p:sp>
        <p:cxnSp>
          <p:nvCxnSpPr>
            <p:cNvPr id="37" name="Прямая со стрелкой 36"/>
            <p:cNvCxnSpPr/>
            <p:nvPr/>
          </p:nvCxnSpPr>
          <p:spPr>
            <a:xfrm rot="5400000" flipH="1" flipV="1">
              <a:off x="7643706" y="5460076"/>
              <a:ext cx="114803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Овал 37"/>
            <p:cNvSpPr/>
            <p:nvPr/>
          </p:nvSpPr>
          <p:spPr>
            <a:xfrm>
              <a:off x="8143900" y="4643446"/>
              <a:ext cx="144000" cy="144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" name="Группа 117"/>
          <p:cNvGrpSpPr/>
          <p:nvPr/>
        </p:nvGrpSpPr>
        <p:grpSpPr>
          <a:xfrm>
            <a:off x="6685511" y="4401946"/>
            <a:ext cx="917239" cy="1665099"/>
            <a:chOff x="7756800" y="4643446"/>
            <a:chExt cx="917239" cy="1665099"/>
          </a:xfrm>
        </p:grpSpPr>
        <p:sp>
          <p:nvSpPr>
            <p:cNvPr id="40" name="TextBox 39"/>
            <p:cNvSpPr txBox="1"/>
            <p:nvPr/>
          </p:nvSpPr>
          <p:spPr>
            <a:xfrm>
              <a:off x="7756800" y="6000768"/>
              <a:ext cx="9172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accent1">
                      <a:lumMod val="75000"/>
                    </a:schemeClr>
                  </a:solidFill>
                </a:rPr>
                <a:t>Списание</a:t>
              </a:r>
            </a:p>
          </p:txBody>
        </p:sp>
        <p:cxnSp>
          <p:nvCxnSpPr>
            <p:cNvPr id="41" name="Прямая со стрелкой 40"/>
            <p:cNvCxnSpPr/>
            <p:nvPr/>
          </p:nvCxnSpPr>
          <p:spPr>
            <a:xfrm rot="5400000" flipH="1" flipV="1">
              <a:off x="7653243" y="5471192"/>
              <a:ext cx="114961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Овал 41"/>
            <p:cNvSpPr/>
            <p:nvPr/>
          </p:nvSpPr>
          <p:spPr>
            <a:xfrm>
              <a:off x="8143900" y="4643446"/>
              <a:ext cx="144000" cy="144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24484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18" grpId="0"/>
      <p:bldP spid="19" grpId="0"/>
      <p:bldP spid="2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1667168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 проблемы – не давать читать данные (заблокировать данные) до окончания транзакции по изменению данных</a:t>
            </a:r>
          </a:p>
        </p:txBody>
      </p:sp>
      <p:grpSp>
        <p:nvGrpSpPr>
          <p:cNvPr id="3" name="Группа 19"/>
          <p:cNvGrpSpPr/>
          <p:nvPr/>
        </p:nvGrpSpPr>
        <p:grpSpPr>
          <a:xfrm>
            <a:off x="285720" y="4259070"/>
            <a:ext cx="8572560" cy="428628"/>
            <a:chOff x="285720" y="3929066"/>
            <a:chExt cx="8572560" cy="428628"/>
          </a:xfrm>
        </p:grpSpPr>
        <p:cxnSp>
          <p:nvCxnSpPr>
            <p:cNvPr id="4" name="Прямая со стрелкой 3"/>
            <p:cNvCxnSpPr/>
            <p:nvPr/>
          </p:nvCxnSpPr>
          <p:spPr>
            <a:xfrm>
              <a:off x="285720" y="4144174"/>
              <a:ext cx="8572560" cy="158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Прямая соединительная линия 4"/>
            <p:cNvCxnSpPr/>
            <p:nvPr/>
          </p:nvCxnSpPr>
          <p:spPr>
            <a:xfrm rot="5400000">
              <a:off x="1428728" y="4143380"/>
              <a:ext cx="428628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/>
            <p:cNvCxnSpPr/>
            <p:nvPr/>
          </p:nvCxnSpPr>
          <p:spPr>
            <a:xfrm rot="5400000">
              <a:off x="7286644" y="4143380"/>
              <a:ext cx="428628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Блок-схема: задержка 12"/>
          <p:cNvSpPr/>
          <p:nvPr/>
        </p:nvSpPr>
        <p:spPr>
          <a:xfrm rot="16200000">
            <a:off x="2786051" y="2187367"/>
            <a:ext cx="1285882" cy="3286148"/>
          </a:xfrm>
          <a:prstGeom prst="flowChartDelay">
            <a:avLst/>
          </a:prstGeom>
          <a:solidFill>
            <a:srgbClr val="00B050">
              <a:alpha val="15000"/>
            </a:srgbClr>
          </a:solidFill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756000" rtlCol="0" anchor="t"/>
          <a:lstStyle/>
          <a:p>
            <a:pPr algn="ctr"/>
            <a:r>
              <a:rPr lang="ru-RU" sz="1400" dirty="0">
                <a:solidFill>
                  <a:srgbClr val="002060"/>
                </a:solidFill>
              </a:rPr>
              <a:t>Проведение</a:t>
            </a:r>
          </a:p>
          <a:p>
            <a:pPr algn="ctr"/>
            <a:r>
              <a:rPr lang="ru-RU" sz="1400" dirty="0">
                <a:solidFill>
                  <a:srgbClr val="002060"/>
                </a:solidFill>
              </a:rPr>
              <a:t>«Реализация </a:t>
            </a:r>
            <a:r>
              <a:rPr lang="ru-RU" sz="1400" b="1" dirty="0">
                <a:solidFill>
                  <a:srgbClr val="002060"/>
                </a:solidFill>
              </a:rPr>
              <a:t>00001</a:t>
            </a:r>
            <a:r>
              <a:rPr lang="ru-RU" sz="1400" dirty="0">
                <a:solidFill>
                  <a:srgbClr val="002060"/>
                </a:solidFill>
              </a:rPr>
              <a:t>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20" y="2348880"/>
            <a:ext cx="122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spc="300" dirty="0">
                <a:solidFill>
                  <a:schemeClr val="bg1">
                    <a:lumMod val="50000"/>
                  </a:schemeClr>
                </a:solidFill>
              </a:rPr>
              <a:t>16:05:00</a:t>
            </a: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8691" y="2348880"/>
            <a:ext cx="122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spc="300" dirty="0">
                <a:solidFill>
                  <a:schemeClr val="bg1">
                    <a:lumMod val="50000"/>
                  </a:schemeClr>
                </a:solidFill>
              </a:rPr>
              <a:t>16:05:0</a:t>
            </a:r>
            <a:r>
              <a:rPr lang="en-US" sz="1600" spc="300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1662" y="2348880"/>
            <a:ext cx="1226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spc="300" dirty="0">
                <a:solidFill>
                  <a:schemeClr val="bg1">
                    <a:lumMod val="50000"/>
                  </a:schemeClr>
                </a:solidFill>
              </a:rPr>
              <a:t>16:05:02</a:t>
            </a:r>
            <a:endParaRPr lang="ru-RU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Блок-схема: задержка 21"/>
          <p:cNvSpPr/>
          <p:nvPr/>
        </p:nvSpPr>
        <p:spPr>
          <a:xfrm rot="16200000">
            <a:off x="6057873" y="2177226"/>
            <a:ext cx="1285882" cy="3286800"/>
          </a:xfrm>
          <a:prstGeom prst="flowChartDelay">
            <a:avLst/>
          </a:prstGeom>
          <a:solidFill>
            <a:srgbClr val="0070C0">
              <a:alpha val="15000"/>
            </a:srgbClr>
          </a:solidFill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756000" rIns="0" bIns="0" rtlCol="0" anchor="t"/>
          <a:lstStyle/>
          <a:p>
            <a:pPr algn="ctr"/>
            <a:r>
              <a:rPr lang="ru-RU" sz="1400" dirty="0">
                <a:solidFill>
                  <a:srgbClr val="002060"/>
                </a:solidFill>
              </a:rPr>
              <a:t>Проведение</a:t>
            </a:r>
          </a:p>
          <a:p>
            <a:pPr algn="ctr"/>
            <a:r>
              <a:rPr lang="ru-RU" sz="1400" dirty="0">
                <a:solidFill>
                  <a:srgbClr val="002060"/>
                </a:solidFill>
              </a:rPr>
              <a:t>«Реализация </a:t>
            </a:r>
            <a:r>
              <a:rPr lang="ru-RU" sz="1400" b="1" dirty="0">
                <a:solidFill>
                  <a:srgbClr val="002060"/>
                </a:solidFill>
              </a:rPr>
              <a:t>00002</a:t>
            </a:r>
            <a:r>
              <a:rPr lang="ru-RU" sz="1400" dirty="0">
                <a:solidFill>
                  <a:srgbClr val="002060"/>
                </a:solidFill>
              </a:rPr>
              <a:t>»</a:t>
            </a:r>
          </a:p>
        </p:txBody>
      </p:sp>
      <p:grpSp>
        <p:nvGrpSpPr>
          <p:cNvPr id="6" name="Группа 117"/>
          <p:cNvGrpSpPr/>
          <p:nvPr/>
        </p:nvGrpSpPr>
        <p:grpSpPr>
          <a:xfrm>
            <a:off x="1643042" y="4401946"/>
            <a:ext cx="713657" cy="1000132"/>
            <a:chOff x="7858590" y="4643446"/>
            <a:chExt cx="713657" cy="1000132"/>
          </a:xfrm>
        </p:grpSpPr>
        <p:sp>
          <p:nvSpPr>
            <p:cNvPr id="24" name="TextBox 23"/>
            <p:cNvSpPr txBox="1"/>
            <p:nvPr/>
          </p:nvSpPr>
          <p:spPr>
            <a:xfrm>
              <a:off x="7858590" y="5335801"/>
              <a:ext cx="7136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accent3">
                      <a:lumMod val="75000"/>
                    </a:schemeClr>
                  </a:solidFill>
                </a:rPr>
                <a:t>Запрос</a:t>
              </a:r>
            </a:p>
          </p:txBody>
        </p:sp>
        <p:cxnSp>
          <p:nvCxnSpPr>
            <p:cNvPr id="25" name="Прямая со стрелкой 24"/>
            <p:cNvCxnSpPr/>
            <p:nvPr/>
          </p:nvCxnSpPr>
          <p:spPr>
            <a:xfrm rot="16200000">
              <a:off x="7966099" y="5134504"/>
              <a:ext cx="5000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6" name="Овал 25"/>
            <p:cNvSpPr/>
            <p:nvPr/>
          </p:nvSpPr>
          <p:spPr>
            <a:xfrm>
              <a:off x="8143900" y="4643446"/>
              <a:ext cx="144000" cy="144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" name="Группа 117"/>
          <p:cNvGrpSpPr/>
          <p:nvPr/>
        </p:nvGrpSpPr>
        <p:grpSpPr>
          <a:xfrm>
            <a:off x="4399495" y="4401946"/>
            <a:ext cx="917239" cy="1000132"/>
            <a:chOff x="7756800" y="4643446"/>
            <a:chExt cx="917239" cy="1000132"/>
          </a:xfrm>
        </p:grpSpPr>
        <p:sp>
          <p:nvSpPr>
            <p:cNvPr id="32" name="TextBox 31"/>
            <p:cNvSpPr txBox="1"/>
            <p:nvPr/>
          </p:nvSpPr>
          <p:spPr>
            <a:xfrm>
              <a:off x="7756800" y="5335801"/>
              <a:ext cx="9172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accent3">
                      <a:lumMod val="75000"/>
                    </a:schemeClr>
                  </a:solidFill>
                </a:rPr>
                <a:t>Списание</a:t>
              </a:r>
            </a:p>
          </p:txBody>
        </p:sp>
        <p:cxnSp>
          <p:nvCxnSpPr>
            <p:cNvPr id="33" name="Прямая со стрелкой 32"/>
            <p:cNvCxnSpPr/>
            <p:nvPr/>
          </p:nvCxnSpPr>
          <p:spPr>
            <a:xfrm rot="16200000">
              <a:off x="7966099" y="5134504"/>
              <a:ext cx="50006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34" name="Овал 33"/>
            <p:cNvSpPr/>
            <p:nvPr/>
          </p:nvSpPr>
          <p:spPr>
            <a:xfrm>
              <a:off x="8143900" y="4643446"/>
              <a:ext cx="144000" cy="144000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" name="Группа 117"/>
          <p:cNvGrpSpPr/>
          <p:nvPr/>
        </p:nvGrpSpPr>
        <p:grpSpPr>
          <a:xfrm>
            <a:off x="5086574" y="4416730"/>
            <a:ext cx="713657" cy="1665099"/>
            <a:chOff x="7858590" y="4643446"/>
            <a:chExt cx="713657" cy="1665099"/>
          </a:xfrm>
        </p:grpSpPr>
        <p:sp>
          <p:nvSpPr>
            <p:cNvPr id="36" name="TextBox 35"/>
            <p:cNvSpPr txBox="1"/>
            <p:nvPr/>
          </p:nvSpPr>
          <p:spPr>
            <a:xfrm>
              <a:off x="7858590" y="6000768"/>
              <a:ext cx="7136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accent1">
                      <a:lumMod val="75000"/>
                    </a:schemeClr>
                  </a:solidFill>
                </a:rPr>
                <a:t>Запрос</a:t>
              </a:r>
            </a:p>
          </p:txBody>
        </p:sp>
        <p:cxnSp>
          <p:nvCxnSpPr>
            <p:cNvPr id="37" name="Прямая со стрелкой 36"/>
            <p:cNvCxnSpPr/>
            <p:nvPr/>
          </p:nvCxnSpPr>
          <p:spPr>
            <a:xfrm rot="5400000" flipH="1" flipV="1">
              <a:off x="7643706" y="5460076"/>
              <a:ext cx="1148031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Овал 37"/>
            <p:cNvSpPr/>
            <p:nvPr/>
          </p:nvSpPr>
          <p:spPr>
            <a:xfrm>
              <a:off x="8143900" y="4643446"/>
              <a:ext cx="144000" cy="144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" name="Группа 117"/>
          <p:cNvGrpSpPr/>
          <p:nvPr/>
        </p:nvGrpSpPr>
        <p:grpSpPr>
          <a:xfrm>
            <a:off x="6685511" y="4401946"/>
            <a:ext cx="917239" cy="1665099"/>
            <a:chOff x="7756800" y="4643446"/>
            <a:chExt cx="917239" cy="1665099"/>
          </a:xfrm>
        </p:grpSpPr>
        <p:sp>
          <p:nvSpPr>
            <p:cNvPr id="40" name="TextBox 39"/>
            <p:cNvSpPr txBox="1"/>
            <p:nvPr/>
          </p:nvSpPr>
          <p:spPr>
            <a:xfrm>
              <a:off x="7756800" y="6000768"/>
              <a:ext cx="9172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accent1">
                      <a:lumMod val="75000"/>
                    </a:schemeClr>
                  </a:solidFill>
                </a:rPr>
                <a:t>Списание</a:t>
              </a:r>
            </a:p>
          </p:txBody>
        </p:sp>
        <p:cxnSp>
          <p:nvCxnSpPr>
            <p:cNvPr id="41" name="Прямая со стрелкой 40"/>
            <p:cNvCxnSpPr/>
            <p:nvPr/>
          </p:nvCxnSpPr>
          <p:spPr>
            <a:xfrm rot="5400000" flipH="1" flipV="1">
              <a:off x="7653243" y="5471192"/>
              <a:ext cx="114961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Овал 41"/>
            <p:cNvSpPr/>
            <p:nvPr/>
          </p:nvSpPr>
          <p:spPr>
            <a:xfrm>
              <a:off x="8143900" y="4643446"/>
              <a:ext cx="144000" cy="144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8693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18" grpId="0"/>
      <p:bldP spid="19" grpId="0"/>
      <p:bldP spid="2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Управляемые блокировки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77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188119" y="2881780"/>
            <a:ext cx="8784000" cy="2217758"/>
          </a:xfrm>
          <a:prstGeom prst="roundRect">
            <a:avLst/>
          </a:prstGeom>
          <a:solidFill>
            <a:schemeClr val="accent2">
              <a:alpha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 1 проводит реализацию 1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071273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188119" y="1193839"/>
            <a:ext cx="4015818" cy="1603672"/>
          </a:xfrm>
          <a:prstGeom prst="round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 smtClean="0">
                <a:solidFill>
                  <a:schemeClr val="tx1"/>
                </a:solidFill>
              </a:rPr>
              <a:t>Сеанс </a:t>
            </a:r>
            <a:r>
              <a:rPr lang="ru-RU" sz="1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273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1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361191"/>
              </p:ext>
            </p:extLst>
          </p:nvPr>
        </p:nvGraphicFramePr>
        <p:xfrm>
          <a:off x="428689" y="3161182"/>
          <a:ext cx="8302860" cy="3708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5715">
                  <a:extLst>
                    <a:ext uri="{9D8B030D-6E8A-4147-A177-3AD203B41FA5}">
                      <a16:colId xmlns:a16="http://schemas.microsoft.com/office/drawing/2014/main" val="2324821976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4422885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6694057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278364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9661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8689" y="2815931"/>
            <a:ext cx="830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Сервер 1с Таблица «заблокированных»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89" y="5310554"/>
            <a:ext cx="25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База данных</a:t>
            </a:r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196027" y="5327809"/>
            <a:ext cx="4464000" cy="1143329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«Остатки товаров»</a:t>
            </a:r>
          </a:p>
        </p:txBody>
      </p:sp>
    </p:spTree>
    <p:extLst>
      <p:ext uri="{BB962C8B-B14F-4D97-AF65-F5344CB8AC3E}">
        <p14:creationId xmlns:p14="http://schemas.microsoft.com/office/powerpoint/2010/main" val="172881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188119" y="2881780"/>
            <a:ext cx="8784000" cy="2217758"/>
          </a:xfrm>
          <a:prstGeom prst="roundRect">
            <a:avLst/>
          </a:prstGeom>
          <a:solidFill>
            <a:schemeClr val="accent2">
              <a:alpha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Пользователь 1 записывает данные в таблицу управляемых блокировок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071273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188119" y="1193839"/>
            <a:ext cx="4015818" cy="1603672"/>
          </a:xfrm>
          <a:prstGeom prst="round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 smtClean="0">
                <a:solidFill>
                  <a:schemeClr val="tx1"/>
                </a:solidFill>
              </a:rPr>
              <a:t>Сеанс </a:t>
            </a:r>
            <a:r>
              <a:rPr lang="ru-RU" sz="1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273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1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35368"/>
              </p:ext>
            </p:extLst>
          </p:nvPr>
        </p:nvGraphicFramePr>
        <p:xfrm>
          <a:off x="428689" y="3161182"/>
          <a:ext cx="8302860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5715">
                  <a:extLst>
                    <a:ext uri="{9D8B030D-6E8A-4147-A177-3AD203B41FA5}">
                      <a16:colId xmlns:a16="http://schemas.microsoft.com/office/drawing/2014/main" val="2324821976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4422885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6694057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278364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9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715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506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8689" y="5310554"/>
            <a:ext cx="25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База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89" y="2804208"/>
            <a:ext cx="830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Сервер 1с Таблица «заблокированных» данных</a:t>
            </a:r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196027" y="5327809"/>
            <a:ext cx="4464000" cy="1143329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«Остатки товаров»</a:t>
            </a:r>
          </a:p>
        </p:txBody>
      </p:sp>
      <p:sp>
        <p:nvSpPr>
          <p:cNvPr id="13" name="Стрелка углом 12"/>
          <p:cNvSpPr/>
          <p:nvPr/>
        </p:nvSpPr>
        <p:spPr>
          <a:xfrm rot="5400000">
            <a:off x="3914795" y="2267738"/>
            <a:ext cx="578283" cy="499683"/>
          </a:xfrm>
          <a:prstGeom prst="bentArrow">
            <a:avLst>
              <a:gd name="adj1" fmla="val 23094"/>
              <a:gd name="adj2" fmla="val 25256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47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188119" y="2881780"/>
            <a:ext cx="8784000" cy="2188396"/>
          </a:xfrm>
          <a:prstGeom prst="roundRect">
            <a:avLst/>
          </a:prstGeom>
          <a:solidFill>
            <a:schemeClr val="accent2">
              <a:alpha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В таблице блокировок нет повторов по полям – таблица – поле таблицы - значение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071273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188119" y="1193839"/>
            <a:ext cx="4015818" cy="1603672"/>
          </a:xfrm>
          <a:prstGeom prst="round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 smtClean="0">
                <a:solidFill>
                  <a:schemeClr val="tx1"/>
                </a:solidFill>
              </a:rPr>
              <a:t>Сеанс </a:t>
            </a:r>
            <a:r>
              <a:rPr lang="ru-RU" sz="1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273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1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814144"/>
              </p:ext>
            </p:extLst>
          </p:nvPr>
        </p:nvGraphicFramePr>
        <p:xfrm>
          <a:off x="428689" y="3161182"/>
          <a:ext cx="8302860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5715">
                  <a:extLst>
                    <a:ext uri="{9D8B030D-6E8A-4147-A177-3AD203B41FA5}">
                      <a16:colId xmlns:a16="http://schemas.microsoft.com/office/drawing/2014/main" val="2324821976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4422885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6694057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278364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9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715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506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8689" y="2804208"/>
            <a:ext cx="830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Сервер 1с Таблица «заблокированных»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89" y="5310554"/>
            <a:ext cx="25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База данных</a:t>
            </a:r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196027" y="5327809"/>
            <a:ext cx="4464000" cy="1143329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«Остатки товаров»</a:t>
            </a:r>
          </a:p>
        </p:txBody>
      </p:sp>
      <p:sp>
        <p:nvSpPr>
          <p:cNvPr id="4" name="Двойная стрелка вверх/вниз 3"/>
          <p:cNvSpPr/>
          <p:nvPr/>
        </p:nvSpPr>
        <p:spPr>
          <a:xfrm>
            <a:off x="2196028" y="2804208"/>
            <a:ext cx="558895" cy="2635300"/>
          </a:xfrm>
          <a:prstGeom prst="upDownArrow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Запрос</a:t>
            </a:r>
          </a:p>
        </p:txBody>
      </p:sp>
    </p:spTree>
    <p:extLst>
      <p:ext uri="{BB962C8B-B14F-4D97-AF65-F5344CB8AC3E}">
        <p14:creationId xmlns:p14="http://schemas.microsoft.com/office/powerpoint/2010/main" val="166763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188119" y="2881780"/>
            <a:ext cx="8784000" cy="2188396"/>
          </a:xfrm>
          <a:prstGeom prst="roundRect">
            <a:avLst/>
          </a:prstGeom>
          <a:solidFill>
            <a:schemeClr val="accent2">
              <a:alpha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 2 проводит реализацию 2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071273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188119" y="1193839"/>
            <a:ext cx="4015818" cy="1603672"/>
          </a:xfrm>
          <a:prstGeom prst="round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 smtClean="0">
                <a:solidFill>
                  <a:schemeClr val="tx1"/>
                </a:solidFill>
              </a:rPr>
              <a:t>Сеанс </a:t>
            </a:r>
            <a:r>
              <a:rPr lang="ru-RU" sz="1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273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1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695080"/>
              </p:ext>
            </p:extLst>
          </p:nvPr>
        </p:nvGraphicFramePr>
        <p:xfrm>
          <a:off x="428689" y="3161182"/>
          <a:ext cx="8302860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5715">
                  <a:extLst>
                    <a:ext uri="{9D8B030D-6E8A-4147-A177-3AD203B41FA5}">
                      <a16:colId xmlns:a16="http://schemas.microsoft.com/office/drawing/2014/main" val="2324821976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4422885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6694057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278364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9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715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506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8689" y="2804208"/>
            <a:ext cx="830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Сервер 1с Таблица «заблокированных»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89" y="5310554"/>
            <a:ext cx="25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База данных</a:t>
            </a:r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196027" y="5327809"/>
            <a:ext cx="4464000" cy="1143329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«Остатки товаров»</a:t>
            </a:r>
          </a:p>
        </p:txBody>
      </p:sp>
      <p:sp>
        <p:nvSpPr>
          <p:cNvPr id="4" name="Двойная стрелка вверх/вниз 3"/>
          <p:cNvSpPr/>
          <p:nvPr/>
        </p:nvSpPr>
        <p:spPr>
          <a:xfrm>
            <a:off x="2196028" y="2804208"/>
            <a:ext cx="558895" cy="2635300"/>
          </a:xfrm>
          <a:prstGeom prst="upDownArrow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Запрос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5290128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16" name="Скругленный прямоугольник 15"/>
          <p:cNvSpPr/>
          <p:nvPr/>
        </p:nvSpPr>
        <p:spPr>
          <a:xfrm>
            <a:off x="4715731" y="1193839"/>
            <a:ext cx="4015818" cy="1610369"/>
          </a:xfrm>
          <a:prstGeom prst="roundRect">
            <a:avLst/>
          </a:prstGeom>
          <a:solidFill>
            <a:schemeClr val="accent3">
              <a:lumMod val="50000"/>
              <a:alpha val="13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 smtClean="0">
                <a:solidFill>
                  <a:schemeClr val="tx1"/>
                </a:solidFill>
              </a:rPr>
              <a:t>Сеанс </a:t>
            </a:r>
            <a:r>
              <a:rPr lang="ru-RU" sz="14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0128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2</a:t>
            </a:r>
          </a:p>
        </p:txBody>
      </p:sp>
    </p:spTree>
    <p:extLst>
      <p:ext uri="{BB962C8B-B14F-4D97-AF65-F5344CB8AC3E}">
        <p14:creationId xmlns:p14="http://schemas.microsoft.com/office/powerpoint/2010/main" val="234028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 2 записывает данные в таблицу управляемых блокировок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071273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188119" y="1193839"/>
            <a:ext cx="4015818" cy="1603672"/>
          </a:xfrm>
          <a:prstGeom prst="round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 smtClean="0">
                <a:solidFill>
                  <a:schemeClr val="tx1"/>
                </a:solidFill>
              </a:rPr>
              <a:t>Сеанс </a:t>
            </a:r>
            <a:r>
              <a:rPr lang="ru-RU" sz="1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273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1</a:t>
            </a: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88119" y="2881780"/>
            <a:ext cx="8784000" cy="2188396"/>
          </a:xfrm>
          <a:prstGeom prst="roundRect">
            <a:avLst/>
          </a:prstGeom>
          <a:solidFill>
            <a:schemeClr val="accent2">
              <a:alpha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075863"/>
              </p:ext>
            </p:extLst>
          </p:nvPr>
        </p:nvGraphicFramePr>
        <p:xfrm>
          <a:off x="428689" y="3161182"/>
          <a:ext cx="8302860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5715">
                  <a:extLst>
                    <a:ext uri="{9D8B030D-6E8A-4147-A177-3AD203B41FA5}">
                      <a16:colId xmlns:a16="http://schemas.microsoft.com/office/drawing/2014/main" val="2324821976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4422885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6694057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278364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9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715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506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8689" y="2804208"/>
            <a:ext cx="830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Сервер 1с Таблица «заблокированных»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89" y="5310554"/>
            <a:ext cx="25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База данных</a:t>
            </a:r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196027" y="5327809"/>
            <a:ext cx="4464000" cy="1143329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«Остатки товаров»</a:t>
            </a:r>
          </a:p>
        </p:txBody>
      </p:sp>
      <p:sp>
        <p:nvSpPr>
          <p:cNvPr id="4" name="Двойная стрелка вверх/вниз 3"/>
          <p:cNvSpPr/>
          <p:nvPr/>
        </p:nvSpPr>
        <p:spPr>
          <a:xfrm>
            <a:off x="2196028" y="2804208"/>
            <a:ext cx="558895" cy="2635300"/>
          </a:xfrm>
          <a:prstGeom prst="upDownArrow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Запрос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5290128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16" name="Скругленный прямоугольник 15"/>
          <p:cNvSpPr/>
          <p:nvPr/>
        </p:nvSpPr>
        <p:spPr>
          <a:xfrm>
            <a:off x="4715731" y="1193839"/>
            <a:ext cx="4015818" cy="1610369"/>
          </a:xfrm>
          <a:prstGeom prst="roundRect">
            <a:avLst/>
          </a:prstGeom>
          <a:solidFill>
            <a:schemeClr val="accent3">
              <a:lumMod val="50000"/>
              <a:alpha val="13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 smtClean="0">
                <a:solidFill>
                  <a:schemeClr val="tx1"/>
                </a:solidFill>
              </a:rPr>
              <a:t>Сеанс </a:t>
            </a:r>
            <a:r>
              <a:rPr lang="ru-RU" sz="14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0128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2</a:t>
            </a:r>
          </a:p>
        </p:txBody>
      </p:sp>
      <p:sp>
        <p:nvSpPr>
          <p:cNvPr id="18" name="Стрелка углом 17"/>
          <p:cNvSpPr/>
          <p:nvPr/>
        </p:nvSpPr>
        <p:spPr>
          <a:xfrm rot="5400000" flipV="1">
            <a:off x="4411315" y="2270900"/>
            <a:ext cx="578283" cy="493360"/>
          </a:xfrm>
          <a:prstGeom prst="bentArrow">
            <a:avLst>
              <a:gd name="adj1" fmla="val 23094"/>
              <a:gd name="adj2" fmla="val 25256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18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188119" y="2881779"/>
            <a:ext cx="8784000" cy="2205651"/>
          </a:xfrm>
          <a:prstGeom prst="roundRect">
            <a:avLst/>
          </a:prstGeom>
          <a:solidFill>
            <a:schemeClr val="accent2">
              <a:alpha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В таблице блокировок есть повторы по полям – таблица – поле таблицы - значение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071273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188119" y="1193839"/>
            <a:ext cx="4015818" cy="1603672"/>
          </a:xfrm>
          <a:prstGeom prst="round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 err="1" smtClean="0">
                <a:solidFill>
                  <a:schemeClr val="tx1"/>
                </a:solidFill>
              </a:rPr>
              <a:t>Сенас</a:t>
            </a:r>
            <a:r>
              <a:rPr lang="ru-RU" sz="1400" b="1" dirty="0" smtClean="0">
                <a:solidFill>
                  <a:schemeClr val="tx1"/>
                </a:solidFill>
              </a:rPr>
              <a:t> </a:t>
            </a:r>
            <a:r>
              <a:rPr lang="ru-RU" sz="1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273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1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065331"/>
              </p:ext>
            </p:extLst>
          </p:nvPr>
        </p:nvGraphicFramePr>
        <p:xfrm>
          <a:off x="428689" y="3161182"/>
          <a:ext cx="8302860" cy="18542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5715">
                  <a:extLst>
                    <a:ext uri="{9D8B030D-6E8A-4147-A177-3AD203B41FA5}">
                      <a16:colId xmlns:a16="http://schemas.microsoft.com/office/drawing/2014/main" val="2324821976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4422885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6694057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278364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9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i="0" u="sng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i="0" u="sng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i="0" u="sng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715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5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u="sng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u="sng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u="sng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33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69308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8689" y="2804208"/>
            <a:ext cx="830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Сервер 1с Таблица «заблокированных»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89" y="5310554"/>
            <a:ext cx="25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База данных</a:t>
            </a:r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196027" y="5327809"/>
            <a:ext cx="4464000" cy="1143329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«Остатки товаров»</a:t>
            </a:r>
          </a:p>
        </p:txBody>
      </p:sp>
      <p:sp>
        <p:nvSpPr>
          <p:cNvPr id="4" name="Двойная стрелка вверх/вниз 3"/>
          <p:cNvSpPr/>
          <p:nvPr/>
        </p:nvSpPr>
        <p:spPr>
          <a:xfrm>
            <a:off x="2196028" y="2804208"/>
            <a:ext cx="558895" cy="2635300"/>
          </a:xfrm>
          <a:prstGeom prst="upDownArrow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Запрос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5290128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16" name="Скругленный прямоугольник 15"/>
          <p:cNvSpPr/>
          <p:nvPr/>
        </p:nvSpPr>
        <p:spPr>
          <a:xfrm>
            <a:off x="4715731" y="1193839"/>
            <a:ext cx="4015818" cy="1610369"/>
          </a:xfrm>
          <a:prstGeom prst="roundRect">
            <a:avLst/>
          </a:prstGeom>
          <a:solidFill>
            <a:schemeClr val="accent3">
              <a:lumMod val="50000"/>
              <a:alpha val="13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 smtClean="0">
                <a:solidFill>
                  <a:schemeClr val="tx1"/>
                </a:solidFill>
              </a:rPr>
              <a:t>Сеанс </a:t>
            </a:r>
            <a:r>
              <a:rPr lang="ru-RU" sz="14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0128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2</a:t>
            </a:r>
          </a:p>
        </p:txBody>
      </p:sp>
    </p:spTree>
    <p:extLst>
      <p:ext uri="{BB962C8B-B14F-4D97-AF65-F5344CB8AC3E}">
        <p14:creationId xmlns:p14="http://schemas.microsoft.com/office/powerpoint/2010/main" val="307384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188119" y="2881779"/>
            <a:ext cx="8784000" cy="2205651"/>
          </a:xfrm>
          <a:prstGeom prst="roundRect">
            <a:avLst/>
          </a:prstGeom>
          <a:solidFill>
            <a:schemeClr val="accent2">
              <a:alpha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Заканчивается транзакция Пользователя 1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071273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5" name="Скругленный прямоугольник 4"/>
          <p:cNvSpPr/>
          <p:nvPr/>
        </p:nvSpPr>
        <p:spPr>
          <a:xfrm>
            <a:off x="188119" y="1193839"/>
            <a:ext cx="4015818" cy="1603672"/>
          </a:xfrm>
          <a:prstGeom prst="round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Сеанс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273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1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61399"/>
              </p:ext>
            </p:extLst>
          </p:nvPr>
        </p:nvGraphicFramePr>
        <p:xfrm>
          <a:off x="428689" y="3161182"/>
          <a:ext cx="8302860" cy="18542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5715">
                  <a:extLst>
                    <a:ext uri="{9D8B030D-6E8A-4147-A177-3AD203B41FA5}">
                      <a16:colId xmlns:a16="http://schemas.microsoft.com/office/drawing/2014/main" val="2324821976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4422885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6694057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278364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9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715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5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33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69308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8689" y="2804208"/>
            <a:ext cx="830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Сервер 1с Таблица «заблокированных»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89" y="5310554"/>
            <a:ext cx="25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База данных</a:t>
            </a:r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196027" y="5327809"/>
            <a:ext cx="4464000" cy="1143329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«Остатки товаров»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5290128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16" name="Скругленный прямоугольник 15"/>
          <p:cNvSpPr/>
          <p:nvPr/>
        </p:nvSpPr>
        <p:spPr>
          <a:xfrm>
            <a:off x="4715731" y="1193839"/>
            <a:ext cx="4015818" cy="1610369"/>
          </a:xfrm>
          <a:prstGeom prst="roundRect">
            <a:avLst/>
          </a:prstGeom>
          <a:solidFill>
            <a:schemeClr val="accent3">
              <a:lumMod val="50000"/>
              <a:alpha val="13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Сеанс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0128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2</a:t>
            </a:r>
          </a:p>
        </p:txBody>
      </p:sp>
    </p:spTree>
    <p:extLst>
      <p:ext uri="{BB962C8B-B14F-4D97-AF65-F5344CB8AC3E}">
        <p14:creationId xmlns:p14="http://schemas.microsoft.com/office/powerpoint/2010/main" val="307295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188119" y="2881779"/>
            <a:ext cx="8784000" cy="2205651"/>
          </a:xfrm>
          <a:prstGeom prst="roundRect">
            <a:avLst/>
          </a:prstGeom>
          <a:solidFill>
            <a:schemeClr val="accent2">
              <a:alpha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Запись Пользователя 1 автоматически удаляется из таблицы заблокированных данных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216565"/>
              </p:ext>
            </p:extLst>
          </p:nvPr>
        </p:nvGraphicFramePr>
        <p:xfrm>
          <a:off x="428689" y="3161182"/>
          <a:ext cx="8302860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5715">
                  <a:extLst>
                    <a:ext uri="{9D8B030D-6E8A-4147-A177-3AD203B41FA5}">
                      <a16:colId xmlns:a16="http://schemas.microsoft.com/office/drawing/2014/main" val="2324821976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4422885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6694057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278364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9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33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69308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8689" y="2804208"/>
            <a:ext cx="830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Сервер 1с Таблица «заблокированных»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89" y="5310554"/>
            <a:ext cx="25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База данных</a:t>
            </a:r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196028" y="5327809"/>
            <a:ext cx="4464000" cy="1143329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«Остатки товаров»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5290128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16" name="Скругленный прямоугольник 15"/>
          <p:cNvSpPr/>
          <p:nvPr/>
        </p:nvSpPr>
        <p:spPr>
          <a:xfrm>
            <a:off x="4715731" y="1193839"/>
            <a:ext cx="4015818" cy="1610369"/>
          </a:xfrm>
          <a:prstGeom prst="roundRect">
            <a:avLst/>
          </a:prstGeom>
          <a:solidFill>
            <a:schemeClr val="accent3">
              <a:lumMod val="50000"/>
              <a:alpha val="13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Сеанс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0128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2</a:t>
            </a:r>
          </a:p>
        </p:txBody>
      </p:sp>
    </p:spTree>
    <p:extLst>
      <p:ext uri="{BB962C8B-B14F-4D97-AF65-F5344CB8AC3E}">
        <p14:creationId xmlns:p14="http://schemas.microsoft.com/office/powerpoint/2010/main" val="921456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188119" y="2881779"/>
            <a:ext cx="8784000" cy="2205651"/>
          </a:xfrm>
          <a:prstGeom prst="roundRect">
            <a:avLst/>
          </a:prstGeom>
          <a:solidFill>
            <a:schemeClr val="accent2">
              <a:alpha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В таблице блокировок нет повторов по полям – таблица – поле таблицы - значение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029967"/>
              </p:ext>
            </p:extLst>
          </p:nvPr>
        </p:nvGraphicFramePr>
        <p:xfrm>
          <a:off x="428689" y="3161182"/>
          <a:ext cx="8302860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5715">
                  <a:extLst>
                    <a:ext uri="{9D8B030D-6E8A-4147-A177-3AD203B41FA5}">
                      <a16:colId xmlns:a16="http://schemas.microsoft.com/office/drawing/2014/main" val="2324821976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4422885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6694057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278364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9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Пользователь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33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Пользователь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69308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8689" y="2804208"/>
            <a:ext cx="830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Сервер 1с Таблица «заблокированных»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89" y="5310554"/>
            <a:ext cx="25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База данных</a:t>
            </a:r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196028" y="5327809"/>
            <a:ext cx="4462680" cy="1143329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«Остатки товаров»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5290128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16" name="Скругленный прямоугольник 15"/>
          <p:cNvSpPr/>
          <p:nvPr/>
        </p:nvSpPr>
        <p:spPr>
          <a:xfrm>
            <a:off x="4715731" y="1193839"/>
            <a:ext cx="4015818" cy="1610369"/>
          </a:xfrm>
          <a:prstGeom prst="roundRect">
            <a:avLst/>
          </a:prstGeom>
          <a:solidFill>
            <a:schemeClr val="accent3">
              <a:lumMod val="50000"/>
              <a:alpha val="13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Сеанс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0128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2</a:t>
            </a:r>
          </a:p>
        </p:txBody>
      </p:sp>
      <p:sp>
        <p:nvSpPr>
          <p:cNvPr id="18" name="Двойная стрелка вверх/вниз 17"/>
          <p:cNvSpPr/>
          <p:nvPr/>
        </p:nvSpPr>
        <p:spPr>
          <a:xfrm>
            <a:off x="6263728" y="2715625"/>
            <a:ext cx="558895" cy="2635300"/>
          </a:xfrm>
          <a:prstGeom prst="upDownArrow">
            <a:avLst/>
          </a:prstGeom>
          <a:solidFill>
            <a:schemeClr val="accent1">
              <a:alpha val="3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u-RU" dirty="0">
                <a:solidFill>
                  <a:schemeClr val="tx2">
                    <a:lumMod val="50000"/>
                  </a:schemeClr>
                </a:solidFill>
              </a:rPr>
              <a:t>Запрос</a:t>
            </a:r>
          </a:p>
        </p:txBody>
      </p:sp>
    </p:spTree>
    <p:extLst>
      <p:ext uri="{BB962C8B-B14F-4D97-AF65-F5344CB8AC3E}">
        <p14:creationId xmlns:p14="http://schemas.microsoft.com/office/powerpoint/2010/main" val="311124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188119" y="2881779"/>
            <a:ext cx="8784000" cy="2205651"/>
          </a:xfrm>
          <a:prstGeom prst="roundRect">
            <a:avLst/>
          </a:prstGeom>
          <a:solidFill>
            <a:schemeClr val="accent2">
              <a:alpha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Заканчивается транзакция Пользователя 2 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686235"/>
              </p:ext>
            </p:extLst>
          </p:nvPr>
        </p:nvGraphicFramePr>
        <p:xfrm>
          <a:off x="428689" y="3161182"/>
          <a:ext cx="8302860" cy="111252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5715">
                  <a:extLst>
                    <a:ext uri="{9D8B030D-6E8A-4147-A177-3AD203B41FA5}">
                      <a16:colId xmlns:a16="http://schemas.microsoft.com/office/drawing/2014/main" val="2324821976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4422885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6694057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278364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9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33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Сеанс </a:t>
                      </a:r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«Остатки товаров»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«Номенклатура»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69308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8689" y="2804208"/>
            <a:ext cx="830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Сервер 1с Таблица «заблокированных»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89" y="5310554"/>
            <a:ext cx="25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База данных</a:t>
            </a:r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196028" y="5327809"/>
            <a:ext cx="4462680" cy="1143329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«Остатки товаров»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5290128" y="1583138"/>
          <a:ext cx="2831184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415592">
                  <a:extLst>
                    <a:ext uri="{9D8B030D-6E8A-4147-A177-3AD203B41FA5}">
                      <a16:colId xmlns:a16="http://schemas.microsoft.com/office/drawing/2014/main" val="468285455"/>
                    </a:ext>
                  </a:extLst>
                </a:gridCol>
                <a:gridCol w="1415592">
                  <a:extLst>
                    <a:ext uri="{9D8B030D-6E8A-4147-A177-3AD203B41FA5}">
                      <a16:colId xmlns:a16="http://schemas.microsoft.com/office/drawing/2014/main" val="2530426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Товар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93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67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Апельсины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91117"/>
                  </a:ext>
                </a:extLst>
              </a:tr>
            </a:tbl>
          </a:graphicData>
        </a:graphic>
      </p:graphicFrame>
      <p:sp>
        <p:nvSpPr>
          <p:cNvPr id="16" name="Скругленный прямоугольник 15"/>
          <p:cNvSpPr/>
          <p:nvPr/>
        </p:nvSpPr>
        <p:spPr>
          <a:xfrm>
            <a:off x="4715731" y="1193839"/>
            <a:ext cx="4015818" cy="1610369"/>
          </a:xfrm>
          <a:prstGeom prst="roundRect">
            <a:avLst/>
          </a:prstGeom>
          <a:solidFill>
            <a:schemeClr val="accent3">
              <a:lumMod val="50000"/>
              <a:alpha val="13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Сеанс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0128" y="1193839"/>
            <a:ext cx="283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Реализация 2</a:t>
            </a:r>
          </a:p>
        </p:txBody>
      </p:sp>
    </p:spTree>
    <p:extLst>
      <p:ext uri="{BB962C8B-B14F-4D97-AF65-F5344CB8AC3E}">
        <p14:creationId xmlns:p14="http://schemas.microsoft.com/office/powerpoint/2010/main" val="287114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/>
          <p:cNvSpPr/>
          <p:nvPr/>
        </p:nvSpPr>
        <p:spPr>
          <a:xfrm>
            <a:off x="188119" y="2881779"/>
            <a:ext cx="8784000" cy="2205651"/>
          </a:xfrm>
          <a:prstGeom prst="roundRect">
            <a:avLst/>
          </a:prstGeom>
          <a:solidFill>
            <a:schemeClr val="accent2">
              <a:alpha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400" dirty="0"/>
              <a:t>Запись Пользователя 2 автоматически удаляется из таблицы заблокированных данных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343401"/>
              </p:ext>
            </p:extLst>
          </p:nvPr>
        </p:nvGraphicFramePr>
        <p:xfrm>
          <a:off x="428689" y="3161182"/>
          <a:ext cx="8302860" cy="3708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75715">
                  <a:extLst>
                    <a:ext uri="{9D8B030D-6E8A-4147-A177-3AD203B41FA5}">
                      <a16:colId xmlns:a16="http://schemas.microsoft.com/office/drawing/2014/main" val="2324821976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4422885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1566694057"/>
                    </a:ext>
                  </a:extLst>
                </a:gridCol>
                <a:gridCol w="2075715">
                  <a:extLst>
                    <a:ext uri="{9D8B030D-6E8A-4147-A177-3AD203B41FA5}">
                      <a16:colId xmlns:a16="http://schemas.microsoft.com/office/drawing/2014/main" val="2783643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Сеансы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Поле таблицы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09661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8689" y="2804208"/>
            <a:ext cx="830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accent2"/>
                </a:solidFill>
              </a:rPr>
              <a:t>Сервер 1с Таблица «заблокированных»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89" y="5310554"/>
            <a:ext cx="258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50000"/>
                  </a:schemeClr>
                </a:solidFill>
              </a:rPr>
              <a:t>База данных</a:t>
            </a:r>
          </a:p>
        </p:txBody>
      </p:sp>
      <p:sp>
        <p:nvSpPr>
          <p:cNvPr id="15" name="Блок-схема: магнитный диск 14"/>
          <p:cNvSpPr/>
          <p:nvPr/>
        </p:nvSpPr>
        <p:spPr>
          <a:xfrm>
            <a:off x="2196028" y="5327809"/>
            <a:ext cx="4462680" cy="1143329"/>
          </a:xfrm>
          <a:prstGeom prst="flowChartMagneticDisk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 «Остатки товаров»</a:t>
            </a:r>
          </a:p>
        </p:txBody>
      </p:sp>
    </p:spTree>
    <p:extLst>
      <p:ext uri="{BB962C8B-B14F-4D97-AF65-F5344CB8AC3E}">
        <p14:creationId xmlns:p14="http://schemas.microsoft.com/office/powerpoint/2010/main" val="3812971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solidFill>
                  <a:srgbClr val="FF0000"/>
                </a:solidFill>
              </a:rPr>
              <a:t>Партионный</a:t>
            </a:r>
            <a:r>
              <a:rPr lang="ru-RU" dirty="0">
                <a:solidFill>
                  <a:srgbClr val="FF0000"/>
                </a:solidFill>
              </a:rPr>
              <a:t> учет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Списание себестоимости с учетом стоимости конкретного поступления.</a:t>
            </a:r>
          </a:p>
        </p:txBody>
      </p:sp>
    </p:spTree>
    <p:extLst>
      <p:ext uri="{BB962C8B-B14F-4D97-AF65-F5344CB8AC3E}">
        <p14:creationId xmlns:p14="http://schemas.microsoft.com/office/powerpoint/2010/main" val="40091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625" y="543549"/>
            <a:ext cx="8748944" cy="928686"/>
          </a:xfrm>
        </p:spPr>
        <p:txBody>
          <a:bodyPr>
            <a:normAutofit fontScale="90000"/>
          </a:bodyPr>
          <a:lstStyle/>
          <a:p>
            <a:r>
              <a:rPr lang="ru-RU" dirty="0"/>
              <a:t>По средней стоимости</a:t>
            </a:r>
            <a:br>
              <a:rPr lang="ru-RU" dirty="0"/>
            </a:br>
            <a:r>
              <a:rPr lang="ru-RU" sz="2700" dirty="0">
                <a:solidFill>
                  <a:srgbClr val="FF0000"/>
                </a:solidFill>
              </a:rPr>
              <a:t>расчета себестоимости при списании</a:t>
            </a:r>
            <a:endParaRPr lang="ru-RU" dirty="0">
              <a:solidFill>
                <a:srgbClr val="FF000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28597" y="1883810"/>
          <a:ext cx="8286807" cy="1188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3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2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9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9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Номенклатура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Количество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Стоимость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B05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+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Поступление</a:t>
                      </a:r>
                      <a:r>
                        <a:rPr lang="ru-RU" sz="1600" baseline="0" dirty="0"/>
                        <a:t> 1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B05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+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Поступление 2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200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57158" y="1526620"/>
            <a:ext cx="270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Поступления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(движения)</a:t>
            </a:r>
            <a:r>
              <a:rPr lang="ru-RU" dirty="0">
                <a:solidFill>
                  <a:srgbClr val="002060"/>
                </a:solidFill>
              </a:rPr>
              <a:t>: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500298" y="3860608"/>
          <a:ext cx="4143404" cy="79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0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Номенклатура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Стоимость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20 шт.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300 руб.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419716" y="3497440"/>
            <a:ext cx="1019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Остатки: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28400" y="5121798"/>
          <a:ext cx="8287200" cy="1188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3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2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9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93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Номенклатура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Количество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Стоимость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aseline="0" dirty="0"/>
                        <a:t>Реализация 1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150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aseline="0" dirty="0"/>
                        <a:t>Реализация 2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150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57158" y="4752466"/>
            <a:ext cx="233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Продажи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(движения)</a:t>
            </a:r>
            <a:r>
              <a:rPr lang="ru-RU" dirty="0">
                <a:solidFill>
                  <a:srgbClr val="002060"/>
                </a:solidFill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3734" y="5485508"/>
            <a:ext cx="1207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solidFill>
                  <a:srgbClr val="C00000"/>
                </a:solidFill>
              </a:rPr>
              <a:t>Продано за 170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3734" y="5871278"/>
            <a:ext cx="1207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solidFill>
                  <a:srgbClr val="C00000"/>
                </a:solidFill>
              </a:rPr>
              <a:t>Продано за 170</a:t>
            </a:r>
          </a:p>
        </p:txBody>
      </p:sp>
    </p:spTree>
    <p:extLst>
      <p:ext uri="{BB962C8B-B14F-4D97-AF65-F5344CB8AC3E}">
        <p14:creationId xmlns:p14="http://schemas.microsoft.com/office/powerpoint/2010/main" val="93425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6" grpId="0"/>
      <p:bldP spid="1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0869" y="557309"/>
            <a:ext cx="8766699" cy="707230"/>
          </a:xfrm>
        </p:spPr>
        <p:txBody>
          <a:bodyPr>
            <a:normAutofit/>
          </a:bodyPr>
          <a:lstStyle/>
          <a:p>
            <a:r>
              <a:rPr lang="ru-RU" dirty="0"/>
              <a:t>Партионный учет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28597" y="1883810"/>
          <a:ext cx="8286807" cy="1188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5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59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5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Номенклатура</a:t>
                      </a:r>
                    </a:p>
                  </a:txBody>
                  <a:tcPr anchor="ctr"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Партия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Стоимость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B05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+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Поступление</a:t>
                      </a:r>
                      <a:r>
                        <a:rPr lang="ru-RU" sz="1600" baseline="0" dirty="0"/>
                        <a:t> 1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B05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+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Поступление 2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200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57158" y="1526620"/>
            <a:ext cx="270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Поступления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(движения)</a:t>
            </a:r>
            <a:r>
              <a:rPr lang="ru-RU" dirty="0">
                <a:solidFill>
                  <a:srgbClr val="002060"/>
                </a:solidFill>
              </a:rPr>
              <a:t>: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071670" y="3662848"/>
          <a:ext cx="5000662" cy="1188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0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Номенклатура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Партия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Стоимость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 шт.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100 руб.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 шт.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200 руб.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00232" y="3312758"/>
            <a:ext cx="1019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Остатки: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25995" y="5112929"/>
          <a:ext cx="8292011" cy="1188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5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Номенклатура</a:t>
                      </a:r>
                    </a:p>
                  </a:txBody>
                  <a:tcPr anchor="ctr"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Партия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Стоимость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aseline="0" dirty="0"/>
                        <a:t>Реализация 1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100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aseline="0" dirty="0"/>
                        <a:t>Реализация 2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200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57158" y="4743597"/>
            <a:ext cx="233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Продажи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(движения)</a:t>
            </a:r>
            <a:r>
              <a:rPr lang="ru-RU" dirty="0">
                <a:solidFill>
                  <a:srgbClr val="002060"/>
                </a:solidFill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3734" y="5476639"/>
            <a:ext cx="1207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solidFill>
                  <a:srgbClr val="C00000"/>
                </a:solidFill>
              </a:rPr>
              <a:t>Продано за 170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3734" y="5862409"/>
            <a:ext cx="1207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solidFill>
                  <a:srgbClr val="C00000"/>
                </a:solidFill>
              </a:rPr>
              <a:t>Продано за 170</a:t>
            </a:r>
          </a:p>
        </p:txBody>
      </p:sp>
    </p:spTree>
    <p:extLst>
      <p:ext uri="{BB962C8B-B14F-4D97-AF65-F5344CB8AC3E}">
        <p14:creationId xmlns:p14="http://schemas.microsoft.com/office/powerpoint/2010/main" val="294393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6" grpId="0"/>
      <p:bldP spid="1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8624" y="535750"/>
            <a:ext cx="8731189" cy="785810"/>
          </a:xfrm>
        </p:spPr>
        <p:txBody>
          <a:bodyPr>
            <a:normAutofit/>
          </a:bodyPr>
          <a:lstStyle/>
          <a:p>
            <a:r>
              <a:rPr lang="ru-RU" sz="4000" dirty="0"/>
              <a:t>Тип измерения «Партия»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28595" y="2143116"/>
          <a:ext cx="8286810" cy="1188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5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9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9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8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Номенклатура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Партия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Количество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Стоимость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B05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+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Поступление</a:t>
                      </a:r>
                      <a:r>
                        <a:rPr lang="ru-RU" sz="1600" baseline="0" dirty="0"/>
                        <a:t> 1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Поступление</a:t>
                      </a:r>
                      <a:r>
                        <a:rPr lang="ru-RU" sz="1600" b="1" baseline="0" dirty="0"/>
                        <a:t> 1</a:t>
                      </a:r>
                      <a:endParaRPr lang="ru-RU" sz="1600" b="1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00B05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+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Поступление 2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Поступление 2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200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57158" y="1785926"/>
            <a:ext cx="270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Поступления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(движения)</a:t>
            </a:r>
            <a:r>
              <a:rPr lang="ru-RU" dirty="0">
                <a:solidFill>
                  <a:srgbClr val="002060"/>
                </a:solidFill>
              </a:rPr>
              <a:t>:</a:t>
            </a: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428595" y="4315812"/>
          <a:ext cx="8286810" cy="198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5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9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9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8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Регистратор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Номенклатура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Партия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Количество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Стоимость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Реализация </a:t>
                      </a:r>
                      <a:r>
                        <a:rPr lang="ru-RU" sz="1600" baseline="0" dirty="0"/>
                        <a:t>1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Поступление</a:t>
                      </a:r>
                      <a:r>
                        <a:rPr lang="ru-RU" sz="1600" b="1" baseline="0" dirty="0"/>
                        <a:t> 1</a:t>
                      </a:r>
                      <a:endParaRPr lang="ru-RU" sz="16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50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Реализация </a:t>
                      </a:r>
                      <a:r>
                        <a:rPr lang="ru-RU" sz="1600" baseline="0" dirty="0"/>
                        <a:t>2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Поступление</a:t>
                      </a:r>
                      <a:r>
                        <a:rPr lang="ru-RU" sz="1600" b="1" baseline="0" dirty="0"/>
                        <a:t> 1</a:t>
                      </a:r>
                      <a:endParaRPr lang="ru-RU" sz="16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50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Реализация 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Поступление 2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Реализация 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Поступление 2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100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8595" y="3795482"/>
            <a:ext cx="233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Продажи 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(движения)</a:t>
            </a:r>
            <a:r>
              <a:rPr lang="ru-RU" dirty="0">
                <a:solidFill>
                  <a:srgbClr val="00206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1189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281" y="570498"/>
            <a:ext cx="8765471" cy="633808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Авто-списание партий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785920" y="1418620"/>
          <a:ext cx="5572164" cy="129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3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Номенклатура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Партия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Количество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Стоимость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/>
                        <a:t>Поступление</a:t>
                      </a:r>
                      <a:r>
                        <a:rPr lang="ru-RU" sz="1400" b="0" baseline="0" dirty="0"/>
                        <a:t> </a:t>
                      </a:r>
                      <a:r>
                        <a:rPr lang="ru-RU" sz="1400" b="1" baseline="0" dirty="0"/>
                        <a:t>1</a:t>
                      </a:r>
                      <a:endParaRPr lang="ru-RU" sz="14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 шт.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100 руб.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/>
                        <a:t>Поступление</a:t>
                      </a:r>
                      <a:r>
                        <a:rPr lang="ru-RU" sz="1400" b="0" baseline="0" dirty="0"/>
                        <a:t> </a:t>
                      </a:r>
                      <a:r>
                        <a:rPr lang="ru-RU" sz="1400" b="1" baseline="0" dirty="0"/>
                        <a:t>2</a:t>
                      </a:r>
                      <a:endParaRPr lang="ru-RU" sz="14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 шт.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200 руб.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/>
                        <a:t>Поступление</a:t>
                      </a:r>
                      <a:r>
                        <a:rPr lang="ru-RU" sz="1400" b="0" baseline="0" dirty="0"/>
                        <a:t> </a:t>
                      </a:r>
                      <a:r>
                        <a:rPr lang="ru-RU" sz="1400" b="1" baseline="0" dirty="0"/>
                        <a:t>3</a:t>
                      </a:r>
                      <a:endParaRPr lang="ru-RU" sz="14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 шт.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400 руб.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14480" y="1058414"/>
            <a:ext cx="1019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65000"/>
                  </a:schemeClr>
                </a:solidFill>
              </a:rPr>
              <a:t>Остатки: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0383" y="3283865"/>
            <a:ext cx="5763244" cy="430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sz="2200" dirty="0">
                <a:cs typeface="Courier New" pitchFamily="49" charset="0"/>
              </a:rPr>
              <a:t>Реализация 1:   </a:t>
            </a:r>
            <a:r>
              <a:rPr lang="ru-RU" sz="2200" dirty="0">
                <a:solidFill>
                  <a:srgbClr val="C00000"/>
                </a:solidFill>
                <a:cs typeface="Courier New" pitchFamily="49" charset="0"/>
              </a:rPr>
              <a:t>-</a:t>
            </a:r>
            <a:r>
              <a:rPr lang="ru-RU" sz="2200" dirty="0">
                <a:solidFill>
                  <a:srgbClr val="C00000"/>
                </a:solidFill>
              </a:rPr>
              <a:t>25 яблок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ru-RU" sz="2200" dirty="0">
                <a:solidFill>
                  <a:schemeClr val="bg1">
                    <a:lumMod val="50000"/>
                  </a:schemeClr>
                </a:solidFill>
              </a:rPr>
              <a:t>продано за 700 </a:t>
            </a:r>
            <a:r>
              <a:rPr lang="ru-RU" sz="2200" dirty="0" err="1">
                <a:solidFill>
                  <a:schemeClr val="bg1">
                    <a:lumMod val="50000"/>
                  </a:schemeClr>
                </a:solidFill>
              </a:rPr>
              <a:t>руб</a:t>
            </a:r>
            <a:r>
              <a:rPr lang="ru-RU" sz="2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14282" y="4421502"/>
          <a:ext cx="4154643" cy="129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Рег-р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Номенкл</a:t>
                      </a:r>
                      <a:r>
                        <a:rPr lang="ru-RU" sz="1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Партия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Стоим.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Р. </a:t>
                      </a:r>
                      <a:r>
                        <a:rPr lang="ru-RU" sz="14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/>
                        <a:t>П.</a:t>
                      </a:r>
                      <a:r>
                        <a:rPr lang="ru-RU" sz="1400" b="1" baseline="0" dirty="0"/>
                        <a:t> 1</a:t>
                      </a:r>
                      <a:endParaRPr lang="ru-RU" sz="14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Р. </a:t>
                      </a:r>
                      <a:r>
                        <a:rPr lang="ru-RU" sz="14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/>
                        <a:t>П.</a:t>
                      </a:r>
                      <a:r>
                        <a:rPr lang="ru-RU" sz="1400" b="1" baseline="0" dirty="0"/>
                        <a:t> 2</a:t>
                      </a:r>
                      <a:endParaRPr lang="ru-RU" sz="14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Р. 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/>
                        <a:t>П.</a:t>
                      </a:r>
                      <a:r>
                        <a:rPr lang="ru-RU" sz="1400" b="1" dirty="0"/>
                        <a:t> 3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775075" y="4421502"/>
          <a:ext cx="4154643" cy="129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Рег-р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Номенкл</a:t>
                      </a:r>
                      <a:r>
                        <a:rPr lang="ru-RU" sz="1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Партия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Кол.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Стоим.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Р. </a:t>
                      </a:r>
                      <a:r>
                        <a:rPr lang="ru-RU" sz="14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/>
                        <a:t>П.</a:t>
                      </a:r>
                      <a:r>
                        <a:rPr lang="ru-RU" sz="1400" b="1" baseline="0" dirty="0"/>
                        <a:t> 3</a:t>
                      </a:r>
                      <a:endParaRPr lang="ru-RU" sz="14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400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Р. </a:t>
                      </a:r>
                      <a:r>
                        <a:rPr lang="ru-RU" sz="14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/>
                        <a:t>П.</a:t>
                      </a:r>
                      <a:r>
                        <a:rPr lang="ru-RU" sz="1400" b="1" baseline="0" dirty="0"/>
                        <a:t> 2</a:t>
                      </a:r>
                      <a:endParaRPr lang="ru-RU" sz="1400" b="1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-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Р. 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/>
                        <a:t>П.</a:t>
                      </a:r>
                      <a:r>
                        <a:rPr lang="ru-RU" sz="1400" b="1" dirty="0"/>
                        <a:t> 1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50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75797" y="4052170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irst 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 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irst 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ut</a:t>
            </a:r>
            <a:endParaRPr lang="ru-RU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65511" y="4052170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L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ast 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n 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irst </a:t>
            </a:r>
            <a:r>
              <a:rPr lang="en-US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</a:t>
            </a:r>
            <a:r>
              <a:rPr lang="en-US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ut</a:t>
            </a:r>
            <a:endParaRPr lang="ru-RU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 rot="5400000">
            <a:off x="3853648" y="5931022"/>
            <a:ext cx="28575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85324" y="6052667"/>
            <a:ext cx="822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500</a:t>
            </a:r>
            <a:r>
              <a:rPr lang="en-US" sz="1400" b="1" dirty="0"/>
              <a:t> </a:t>
            </a:r>
            <a:r>
              <a:rPr lang="ru-RU" sz="1400" dirty="0"/>
              <a:t>руб.</a:t>
            </a:r>
          </a:p>
        </p:txBody>
      </p:sp>
      <p:cxnSp>
        <p:nvCxnSpPr>
          <p:cNvPr id="15" name="Прямая со стрелкой 14"/>
          <p:cNvCxnSpPr/>
          <p:nvPr/>
        </p:nvCxnSpPr>
        <p:spPr>
          <a:xfrm rot="5400000">
            <a:off x="8425672" y="5931022"/>
            <a:ext cx="285752" cy="158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57347" y="6052667"/>
            <a:ext cx="822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6</a:t>
            </a:r>
            <a:r>
              <a:rPr lang="ru-RU" sz="1400" b="1" dirty="0"/>
              <a:t>50 </a:t>
            </a:r>
            <a:r>
              <a:rPr lang="ru-RU" sz="1400" dirty="0"/>
              <a:t>руб.</a:t>
            </a:r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4875612" y="3929066"/>
            <a:ext cx="714380" cy="2857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 flipH="1">
            <a:off x="3554009" y="3929066"/>
            <a:ext cx="714380" cy="2857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4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9" grpId="0"/>
      <p:bldP spid="10" grpId="0"/>
      <p:bldP spid="14" grpId="0"/>
      <p:bldP spid="1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Сборка</a:t>
            </a:r>
            <a:r>
              <a:rPr lang="ru-RU" dirty="0"/>
              <a:t> </a:t>
            </a:r>
            <a:r>
              <a:rPr lang="ru-RU" dirty="0">
                <a:solidFill>
                  <a:srgbClr val="FF0000"/>
                </a:solidFill>
              </a:rPr>
              <a:t>запроса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36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9" name="Rectangle 355"/>
          <p:cNvSpPr>
            <a:spLocks noGrp="1" noChangeArrowheads="1"/>
          </p:cNvSpPr>
          <p:nvPr>
            <p:ph type="title"/>
          </p:nvPr>
        </p:nvSpPr>
        <p:spPr>
          <a:xfrm>
            <a:off x="188119" y="571976"/>
            <a:ext cx="8784000" cy="892839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ru-RU" dirty="0"/>
              <a:t>Данные документа (Табличная часть «Товары»)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259632" y="2060848"/>
          <a:ext cx="6107136" cy="322961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87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3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851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Ссылка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Номер строки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Номенклатура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…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r>
                        <a:rPr lang="ru-RU" dirty="0"/>
                        <a:t>&lt;Расходная 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&lt;Расходная 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&lt;Груши&gt;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&lt;Расходная 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&lt;Расходная 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&lt;Киви&gt;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&lt;Расходная 2&gt;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&lt;Расходная 2&gt;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&lt;Груши&gt;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9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Rectangle 6"/>
          <p:cNvSpPr>
            <a:spLocks noGrp="1" noChangeArrowheads="1"/>
          </p:cNvSpPr>
          <p:nvPr>
            <p:ph type="title"/>
          </p:nvPr>
        </p:nvSpPr>
        <p:spPr>
          <a:xfrm>
            <a:off x="188119" y="571976"/>
            <a:ext cx="8784000" cy="92834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ru-RU" dirty="0"/>
              <a:t>Нужные строки  и поля из табличной части документа «Расходная»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563888" y="2132856"/>
          <a:ext cx="3111891" cy="211407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51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Номенклатура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9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&lt;Груши&gt;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r>
                        <a:rPr lang="ru-RU" dirty="0"/>
                        <a:t>&lt;Киви&gt;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92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2" name="Rectangle 6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ru-RU" dirty="0"/>
              <a:t>Борьба с дублями строк</a:t>
            </a:r>
          </a:p>
        </p:txBody>
      </p:sp>
      <p:sp>
        <p:nvSpPr>
          <p:cNvPr id="3" name="Двойные круглые скобки 2"/>
          <p:cNvSpPr/>
          <p:nvPr/>
        </p:nvSpPr>
        <p:spPr>
          <a:xfrm>
            <a:off x="3131840" y="1844824"/>
            <a:ext cx="3960440" cy="2592288"/>
          </a:xfrm>
          <a:prstGeom prst="bracketPair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3556114" y="2132856"/>
          <a:ext cx="3111891" cy="17441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51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Номенклатура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9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&lt;Груши&gt;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r>
                        <a:rPr lang="ru-RU" dirty="0"/>
                        <a:t>&lt;Киви&gt;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563888" y="2143244"/>
          <a:ext cx="3111891" cy="211407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51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Номенклатура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9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&lt;Груши&gt;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r>
                        <a:rPr lang="ru-RU" dirty="0"/>
                        <a:t>&lt;Киви&gt;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043608" y="4653136"/>
          <a:ext cx="3111891" cy="17441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6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51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Номенклатура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Количество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90">
                <a:tc>
                  <a:txBody>
                    <a:bodyPr/>
                    <a:lstStyle/>
                    <a:p>
                      <a:r>
                        <a:rPr lang="ru-RU" dirty="0"/>
                        <a:t>&lt;Яблоки&gt;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&lt;Груши&gt;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33">
                <a:tc>
                  <a:txBody>
                    <a:bodyPr/>
                    <a:lstStyle/>
                    <a:p>
                      <a:r>
                        <a:rPr lang="ru-RU" dirty="0"/>
                        <a:t>&lt;Киви&gt;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59632" y="213285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1) Сгруппировать</a:t>
            </a:r>
          </a:p>
        </p:txBody>
      </p:sp>
      <p:sp>
        <p:nvSpPr>
          <p:cNvPr id="6" name="Стрелка углом 5"/>
          <p:cNvSpPr/>
          <p:nvPr/>
        </p:nvSpPr>
        <p:spPr>
          <a:xfrm rot="10800000">
            <a:off x="4355976" y="4653136"/>
            <a:ext cx="1224136" cy="1440160"/>
          </a:xfrm>
          <a:prstGeom prst="bentArrow">
            <a:avLst>
              <a:gd name="adj1" fmla="val 18700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68144" y="4941168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2) Выгрузить во временную таблицу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8084" y="162880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Сумма()</a:t>
            </a:r>
          </a:p>
        </p:txBody>
      </p:sp>
    </p:spTree>
    <p:extLst>
      <p:ext uri="{BB962C8B-B14F-4D97-AF65-F5344CB8AC3E}">
        <p14:creationId xmlns:p14="http://schemas.microsoft.com/office/powerpoint/2010/main" val="377652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8" grpId="0"/>
      <p:bldP spid="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5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452563" y="2395538"/>
          <a:ext cx="6248400" cy="271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Worksheet" r:id="rId3" imgW="6248400" imgH="2714492" progId="Excel.Sheet.8">
                  <p:embed/>
                </p:oleObj>
              </mc:Choice>
              <mc:Fallback>
                <p:oleObj name="Worksheet" r:id="rId3" imgW="6248400" imgH="2714492" progId="Excel.Sheet.8">
                  <p:embed/>
                  <p:pic>
                    <p:nvPicPr>
                      <p:cNvPr id="40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2395538"/>
                        <a:ext cx="6248400" cy="271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Rectangle 6"/>
          <p:cNvSpPr>
            <a:spLocks noGrp="1" noChangeArrowheads="1"/>
          </p:cNvSpPr>
          <p:nvPr>
            <p:ph type="title"/>
          </p:nvPr>
        </p:nvSpPr>
        <p:spPr>
          <a:xfrm>
            <a:off x="199980" y="567601"/>
            <a:ext cx="8784222" cy="1545284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ru-RU" sz="4000" dirty="0"/>
              <a:t>Данные виртуальной таблицы Остатки Регистра накопления «Остатки товаров»</a:t>
            </a:r>
          </a:p>
        </p:txBody>
      </p:sp>
    </p:spTree>
    <p:extLst>
      <p:ext uri="{BB962C8B-B14F-4D97-AF65-F5344CB8AC3E}">
        <p14:creationId xmlns:p14="http://schemas.microsoft.com/office/powerpoint/2010/main" val="136632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21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488950" y="2890838"/>
          <a:ext cx="8035925" cy="246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Worksheet" r:id="rId3" imgW="5248225" imgH="1609636" progId="Excel.Sheet.8">
                  <p:embed/>
                </p:oleObj>
              </mc:Choice>
              <mc:Fallback>
                <p:oleObj name="Worksheet" r:id="rId3" imgW="5248225" imgH="1609636" progId="Excel.Sheet.8">
                  <p:embed/>
                  <p:pic>
                    <p:nvPicPr>
                      <p:cNvPr id="348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2890838"/>
                        <a:ext cx="8035925" cy="246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>
          <a:xfrm>
            <a:off x="199746" y="567601"/>
            <a:ext cx="8757823" cy="1252322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ru-RU" sz="4000" dirty="0"/>
              <a:t>Выгрузить данные виртуальной таблицы во временную таблицу</a:t>
            </a:r>
          </a:p>
        </p:txBody>
      </p:sp>
    </p:spTree>
    <p:extLst>
      <p:ext uri="{BB962C8B-B14F-4D97-AF65-F5344CB8AC3E}">
        <p14:creationId xmlns:p14="http://schemas.microsoft.com/office/powerpoint/2010/main" val="145012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4" name="Rectangle 6"/>
          <p:cNvSpPr>
            <a:spLocks noGrp="1" noChangeArrowheads="1"/>
          </p:cNvSpPr>
          <p:nvPr>
            <p:ph type="title"/>
          </p:nvPr>
        </p:nvSpPr>
        <p:spPr>
          <a:xfrm>
            <a:off x="188119" y="571977"/>
            <a:ext cx="8784000" cy="111478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ru-RU" sz="4000" dirty="0"/>
              <a:t>Схема сборки запроса для расходной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899592" y="2204864"/>
            <a:ext cx="2664296" cy="1224136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Временная таблица с данными документа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076056" y="2204864"/>
            <a:ext cx="2664296" cy="12241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Временная таблица с данными регистра</a:t>
            </a:r>
          </a:p>
        </p:txBody>
      </p:sp>
      <p:sp>
        <p:nvSpPr>
          <p:cNvPr id="4" name="Стрелка вправо 3"/>
          <p:cNvSpPr/>
          <p:nvPr/>
        </p:nvSpPr>
        <p:spPr>
          <a:xfrm>
            <a:off x="3599892" y="2654914"/>
            <a:ext cx="1440160" cy="32403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43808" y="3736277"/>
            <a:ext cx="3312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Левое соединение</a:t>
            </a:r>
          </a:p>
          <a:p>
            <a:endParaRPr lang="ru-RU" dirty="0"/>
          </a:p>
          <a:p>
            <a:r>
              <a:rPr lang="ru-RU" dirty="0"/>
              <a:t>Номенклатура = Номенклатура</a:t>
            </a:r>
          </a:p>
        </p:txBody>
      </p:sp>
    </p:spTree>
    <p:extLst>
      <p:ext uri="{BB962C8B-B14F-4D97-AF65-F5344CB8AC3E}">
        <p14:creationId xmlns:p14="http://schemas.microsoft.com/office/powerpoint/2010/main" val="201209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4" grpId="0" animBg="1"/>
      <p:bldP spid="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2" name="Rectangle 6"/>
          <p:cNvSpPr>
            <a:spLocks noGrp="1" noChangeArrowheads="1"/>
          </p:cNvSpPr>
          <p:nvPr>
            <p:ph type="title"/>
          </p:nvPr>
        </p:nvSpPr>
        <p:spPr>
          <a:xfrm>
            <a:off x="188119" y="571977"/>
            <a:ext cx="8784000" cy="1123658"/>
          </a:xfrm>
          <a:solidFill>
            <a:schemeClr val="bg1"/>
          </a:solidFill>
        </p:spPr>
        <p:txBody>
          <a:bodyPr/>
          <a:lstStyle/>
          <a:p>
            <a:r>
              <a:rPr lang="ru-RU" sz="4000" dirty="0"/>
              <a:t>Сборка запроса для расходной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57201" y="2348880"/>
          <a:ext cx="2602631" cy="1097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95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3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Номенклатура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Количество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r>
                        <a:rPr lang="ru-RU" sz="1200" dirty="0"/>
                        <a:t>&lt;Яблоки&gt;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&lt;Груши&gt;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30">
                <a:tc>
                  <a:txBody>
                    <a:bodyPr/>
                    <a:lstStyle/>
                    <a:p>
                      <a:r>
                        <a:rPr lang="ru-RU" sz="1200" dirty="0"/>
                        <a:t>&lt;Киви&gt;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4067175" y="2349500"/>
          <a:ext cx="4818063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Лист" r:id="rId3" imgW="5248397" imgH="1609830" progId="Excel.Sheet.8">
                  <p:embed/>
                </p:oleObj>
              </mc:Choice>
              <mc:Fallback>
                <p:oleObj name="Лист" r:id="rId3" imgW="5248397" imgH="1609830" progId="Excel.Sheet.8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349500"/>
                        <a:ext cx="4818063" cy="147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Стрелка вправо 8"/>
          <p:cNvSpPr/>
          <p:nvPr/>
        </p:nvSpPr>
        <p:spPr>
          <a:xfrm>
            <a:off x="3093446" y="2763757"/>
            <a:ext cx="900100" cy="32403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1979712" y="3972247"/>
            <a:ext cx="3312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Левое соединение</a:t>
            </a:r>
          </a:p>
          <a:p>
            <a:endParaRPr lang="ru-RU" dirty="0"/>
          </a:p>
          <a:p>
            <a:r>
              <a:rPr lang="ru-RU" dirty="0"/>
              <a:t>Номенклатура = Номенклатура</a:t>
            </a:r>
          </a:p>
        </p:txBody>
      </p:sp>
    </p:spTree>
    <p:extLst>
      <p:ext uri="{BB962C8B-B14F-4D97-AF65-F5344CB8AC3E}">
        <p14:creationId xmlns:p14="http://schemas.microsoft.com/office/powerpoint/2010/main" val="359897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9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471488" y="2205038"/>
          <a:ext cx="8235950" cy="305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Лист" r:id="rId3" imgW="5467269" imgH="2028814" progId="Excel.Sheet.8">
                  <p:embed/>
                </p:oleObj>
              </mc:Choice>
              <mc:Fallback>
                <p:oleObj name="Лист" r:id="rId3" imgW="5467269" imgH="2028814" progId="Excel.Sheet.8">
                  <p:embed/>
                  <p:pic>
                    <p:nvPicPr>
                      <p:cNvPr id="419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8" y="2205038"/>
                        <a:ext cx="8235950" cy="305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Rectangle 6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ru-RU"/>
              <a:t>Результат сборки.</a:t>
            </a:r>
          </a:p>
        </p:txBody>
      </p:sp>
    </p:spTree>
    <p:extLst>
      <p:ext uri="{BB962C8B-B14F-4D97-AF65-F5344CB8AC3E}">
        <p14:creationId xmlns:p14="http://schemas.microsoft.com/office/powerpoint/2010/main" val="101879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68313" y="2242964"/>
          <a:ext cx="8135937" cy="400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Лист" r:id="rId3" imgW="5667334" imgH="2790955" progId="Excel.Sheet.8">
                  <p:embed/>
                </p:oleObj>
              </mc:Choice>
              <mc:Fallback>
                <p:oleObj name="Лист" r:id="rId3" imgW="5667334" imgH="2790955" progId="Excel.Sheet.8">
                  <p:embed/>
                  <p:pic>
                    <p:nvPicPr>
                      <p:cNvPr id="634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242964"/>
                        <a:ext cx="8135937" cy="400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ru-RU"/>
              <a:t>Подведение итогов</a:t>
            </a:r>
          </a:p>
        </p:txBody>
      </p:sp>
    </p:spTree>
    <p:extLst>
      <p:ext uri="{BB962C8B-B14F-4D97-AF65-F5344CB8AC3E}">
        <p14:creationId xmlns:p14="http://schemas.microsoft.com/office/powerpoint/2010/main" val="28562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68313" y="2242964"/>
          <a:ext cx="8135937" cy="400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Лист" r:id="rId4" imgW="5667334" imgH="2790955" progId="Excel.Sheet.8">
                  <p:embed/>
                </p:oleObj>
              </mc:Choice>
              <mc:Fallback>
                <p:oleObj name="Лист" r:id="rId4" imgW="5667334" imgH="2790955" progId="Excel.Sheet.8">
                  <p:embed/>
                  <p:pic>
                    <p:nvPicPr>
                      <p:cNvPr id="655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242964"/>
                        <a:ext cx="8135937" cy="400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19737" y="563564"/>
            <a:ext cx="8782219" cy="1567078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ru-RU" sz="4000" dirty="0"/>
              <a:t>Упорядочить детальные записи по дополнительному признаку указанному в задании</a:t>
            </a:r>
          </a:p>
        </p:txBody>
      </p:sp>
      <p:sp>
        <p:nvSpPr>
          <p:cNvPr id="65540" name="Line 4"/>
          <p:cNvSpPr>
            <a:spLocks noChangeShapeType="1"/>
          </p:cNvSpPr>
          <p:nvPr/>
        </p:nvSpPr>
        <p:spPr bwMode="auto">
          <a:xfrm>
            <a:off x="5580112" y="3826520"/>
            <a:ext cx="0" cy="64807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65541" name="Line 5"/>
          <p:cNvSpPr>
            <a:spLocks noChangeShapeType="1"/>
          </p:cNvSpPr>
          <p:nvPr/>
        </p:nvSpPr>
        <p:spPr bwMode="auto">
          <a:xfrm>
            <a:off x="5580112" y="4906020"/>
            <a:ext cx="0" cy="6477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1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655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655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animBg="1"/>
      <p:bldP spid="65540" grpId="1" animBg="1"/>
      <p:bldP spid="65541" grpId="0" animBg="1"/>
      <p:bldP spid="65541" grpId="1" animBg="1"/>
    </p:bldLst>
  </p:timing>
</p:sld>
</file>

<file path=ppt/theme/theme1.xml><?xml version="1.0" encoding="utf-8"?>
<a:theme xmlns:a="http://schemas.openxmlformats.org/drawingml/2006/main" name="СофтБаланс_основные_объект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основные_объекты" id="{62BD0483-928A-448D-BBAD-621E3072F039}" vid="{487075A3-1F89-4279-8755-8EA96074D5C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СофтБаланс_основные_объекты</Template>
  <TotalTime>2438</TotalTime>
  <Words>3964</Words>
  <Application>Microsoft Office PowerPoint</Application>
  <PresentationFormat>Экран (4:3)</PresentationFormat>
  <Paragraphs>2119</Paragraphs>
  <Slides>83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83</vt:i4>
      </vt:variant>
    </vt:vector>
  </HeadingPairs>
  <TitlesOfParts>
    <vt:vector size="94" baseType="lpstr">
      <vt:lpstr>Arial</vt:lpstr>
      <vt:lpstr>Arial Black</vt:lpstr>
      <vt:lpstr>Arial Narrow</vt:lpstr>
      <vt:lpstr>Calibri</vt:lpstr>
      <vt:lpstr>Courier New</vt:lpstr>
      <vt:lpstr>Tahoma</vt:lpstr>
      <vt:lpstr>Verdana</vt:lpstr>
      <vt:lpstr>Wingdings</vt:lpstr>
      <vt:lpstr>СофтБаланс_основные_объекты</vt:lpstr>
      <vt:lpstr>Worksheet</vt:lpstr>
      <vt:lpstr>Лист</vt:lpstr>
      <vt:lpstr>Занятие 10</vt:lpstr>
      <vt:lpstr>Себестоимость</vt:lpstr>
      <vt:lpstr>Себестоимость</vt:lpstr>
      <vt:lpstr>Проведение и допроведение</vt:lpstr>
      <vt:lpstr>Оперативное проведение</vt:lpstr>
      <vt:lpstr>Создается документ объект</vt:lpstr>
      <vt:lpstr>Записывается документ объект</vt:lpstr>
      <vt:lpstr>Записывается документ объект</vt:lpstr>
      <vt:lpstr>Заполняем наборы записей</vt:lpstr>
      <vt:lpstr>Заполняем наборы записей</vt:lpstr>
      <vt:lpstr>Заполняем признак «записывать» НЗ</vt:lpstr>
      <vt:lpstr>Записываются помеченные наборы записей</vt:lpstr>
      <vt:lpstr>Записываются помеченные наборы записей</vt:lpstr>
      <vt:lpstr>Документ объект удаляется</vt:lpstr>
      <vt:lpstr>Документ оперативно проведен</vt:lpstr>
      <vt:lpstr>«Допроведение» документа</vt:lpstr>
      <vt:lpstr>Запуск обработки «допроведения»</vt:lpstr>
      <vt:lpstr>Создается документ объект</vt:lpstr>
      <vt:lpstr>Перезаписывается документ объект</vt:lpstr>
      <vt:lpstr>Заполняем наборы записей</vt:lpstr>
      <vt:lpstr>Заполняем наборы записей</vt:lpstr>
      <vt:lpstr>Заполняем признак «записывать» НЗ</vt:lpstr>
      <vt:lpstr>Записываются помеченные наборы записей</vt:lpstr>
      <vt:lpstr>Записываются помеченные наборы записей</vt:lpstr>
      <vt:lpstr>Документ объект удаляется</vt:lpstr>
      <vt:lpstr>Документ «допроведен»</vt:lpstr>
      <vt:lpstr>Традиционная технология  проведения</vt:lpstr>
      <vt:lpstr>Традиционная технология проведения</vt:lpstr>
      <vt:lpstr>Традиционная технология проведения</vt:lpstr>
      <vt:lpstr>Традиционная технология проведения</vt:lpstr>
      <vt:lpstr>Традиционная технология проведения</vt:lpstr>
      <vt:lpstr>Традиционная технология проведения</vt:lpstr>
      <vt:lpstr>Традиционная технология проведения</vt:lpstr>
      <vt:lpstr>Данные в результате запроса</vt:lpstr>
      <vt:lpstr>Данные в результате запроса</vt:lpstr>
      <vt:lpstr>Данные в результате запроса</vt:lpstr>
      <vt:lpstr>Объединение и соединение таблиц</vt:lpstr>
      <vt:lpstr>Варианты работы  с несколькими источниками</vt:lpstr>
      <vt:lpstr>Объединение источников</vt:lpstr>
      <vt:lpstr>Соединение</vt:lpstr>
      <vt:lpstr>Соединение без условия</vt:lpstr>
      <vt:lpstr>Результат соединения без условия.  Каждая строка таблицы 1 соединена с каждой строкой из таблицы 2</vt:lpstr>
      <vt:lpstr>Условие соединения</vt:lpstr>
      <vt:lpstr>Виды соединений ЛЕВОЕ</vt:lpstr>
      <vt:lpstr>Виды соединений ПРАВОЕ</vt:lpstr>
      <vt:lpstr>Виды соединений ПОЛНОЕ</vt:lpstr>
      <vt:lpstr>Виды соединений ВНУТРЕННЕЕ</vt:lpstr>
      <vt:lpstr>Условие соединения</vt:lpstr>
      <vt:lpstr>Виды соединений ВНУТРЕННЕЕ</vt:lpstr>
      <vt:lpstr>Виды соединений ЛЕВОЕ</vt:lpstr>
      <vt:lpstr>Виды соединений ПРАВОЕ</vt:lpstr>
      <vt:lpstr>Виды соединений ПОЛНОЕ</vt:lpstr>
      <vt:lpstr>Блокировки</vt:lpstr>
      <vt:lpstr>Проблема чтения данных, которые будут изменены</vt:lpstr>
      <vt:lpstr>Решение проблемы – не давать читать данные (заблокировать данные) до окончания транзакции по изменению данных</vt:lpstr>
      <vt:lpstr>Управляемые блокировки</vt:lpstr>
      <vt:lpstr>Пользователь 1 проводит реализацию 1</vt:lpstr>
      <vt:lpstr>Пользователь 1 записывает данные в таблицу управляемых блокировок</vt:lpstr>
      <vt:lpstr>В таблице блокировок нет повторов по полям – таблица – поле таблицы - значение</vt:lpstr>
      <vt:lpstr>Пользователь 2 проводит реализацию 2</vt:lpstr>
      <vt:lpstr>Пользователь 2 записывает данные в таблицу управляемых блокировок</vt:lpstr>
      <vt:lpstr>В таблице блокировок есть повторы по полям – таблица – поле таблицы - значение</vt:lpstr>
      <vt:lpstr>Заканчивается транзакция Пользователя 1 </vt:lpstr>
      <vt:lpstr>Запись Пользователя 1 автоматически удаляется из таблицы заблокированных данных</vt:lpstr>
      <vt:lpstr>В таблице блокировок нет повторов по полям – таблица – поле таблицы - значение</vt:lpstr>
      <vt:lpstr>Заканчивается транзакция Пользователя 2 </vt:lpstr>
      <vt:lpstr>Запись Пользователя 2 автоматически удаляется из таблицы заблокированных данных</vt:lpstr>
      <vt:lpstr>Партионный учет</vt:lpstr>
      <vt:lpstr>По средней стоимости расчета себестоимости при списании</vt:lpstr>
      <vt:lpstr>Партионный учет</vt:lpstr>
      <vt:lpstr>Тип измерения «Партия»</vt:lpstr>
      <vt:lpstr>Авто-списание партий</vt:lpstr>
      <vt:lpstr>Сборка запроса</vt:lpstr>
      <vt:lpstr>Данные документа (Табличная часть «Товары»)</vt:lpstr>
      <vt:lpstr>Нужные строки  и поля из табличной части документа «Расходная»</vt:lpstr>
      <vt:lpstr>Борьба с дублями строк</vt:lpstr>
      <vt:lpstr>Данные виртуальной таблицы Остатки Регистра накопления «Остатки товаров»</vt:lpstr>
      <vt:lpstr>Выгрузить данные виртуальной таблицы во временную таблицу</vt:lpstr>
      <vt:lpstr>Схема сборки запроса для расходной</vt:lpstr>
      <vt:lpstr>Сборка запроса для расходной</vt:lpstr>
      <vt:lpstr>Результат сборки.</vt:lpstr>
      <vt:lpstr>Подведение итогов</vt:lpstr>
      <vt:lpstr>Упорядочить детальные записи по дополнительному признаку указанному в задании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10</dc:title>
  <dc:creator>eugeniy sizov</dc:creator>
  <cp:lastModifiedBy>Сизов Евгений</cp:lastModifiedBy>
  <cp:revision>57</cp:revision>
  <dcterms:created xsi:type="dcterms:W3CDTF">2015-05-02T11:27:41Z</dcterms:created>
  <dcterms:modified xsi:type="dcterms:W3CDTF">2020-10-15T14:13:20Z</dcterms:modified>
</cp:coreProperties>
</file>