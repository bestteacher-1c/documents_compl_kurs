
<file path=[Content_Types].xml><?xml version="1.0" encoding="utf-8"?>
<Types xmlns="http://schemas.openxmlformats.org/package/2006/content-types">
  <Default Extension="png" ContentType="image/png"/>
  <Default Extension="bin" ContentType="application/vnd.openxmlformats-officedocument.oleObject"/>
  <Default Extension="jpeg" ContentType="image/jpeg"/>
  <Default Extension="emf" ContentType="image/x-emf"/>
  <Default Extension="rels" ContentType="application/vnd.openxmlformats-package.relationships+xml"/>
  <Default Extension="xml" ContentType="application/xml"/>
  <Default Extension="vml" ContentType="application/vnd.openxmlformats-officedocument.vmlDrawi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changesInfos/changesInfo1.xml" ContentType="application/vnd.ms-powerpoint.changesinfo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6" r:id="rId1"/>
  </p:sldMasterIdLst>
  <p:notesMasterIdLst>
    <p:notesMasterId r:id="rId76"/>
  </p:notesMasterIdLst>
  <p:sldIdLst>
    <p:sldId id="256" r:id="rId2"/>
    <p:sldId id="359" r:id="rId3"/>
    <p:sldId id="360" r:id="rId4"/>
    <p:sldId id="438" r:id="rId5"/>
    <p:sldId id="404" r:id="rId6"/>
    <p:sldId id="405" r:id="rId7"/>
    <p:sldId id="406" r:id="rId8"/>
    <p:sldId id="439" r:id="rId9"/>
    <p:sldId id="407" r:id="rId10"/>
    <p:sldId id="408" r:id="rId11"/>
    <p:sldId id="434" r:id="rId12"/>
    <p:sldId id="432" r:id="rId13"/>
    <p:sldId id="433" r:id="rId14"/>
    <p:sldId id="435" r:id="rId15"/>
    <p:sldId id="437" r:id="rId16"/>
    <p:sldId id="416" r:id="rId17"/>
    <p:sldId id="417" r:id="rId18"/>
    <p:sldId id="361" r:id="rId19"/>
    <p:sldId id="362" r:id="rId20"/>
    <p:sldId id="444" r:id="rId21"/>
    <p:sldId id="440" r:id="rId22"/>
    <p:sldId id="441" r:id="rId23"/>
    <p:sldId id="442" r:id="rId24"/>
    <p:sldId id="445" r:id="rId25"/>
    <p:sldId id="363" r:id="rId26"/>
    <p:sldId id="446" r:id="rId27"/>
    <p:sldId id="447" r:id="rId28"/>
    <p:sldId id="364" r:id="rId29"/>
    <p:sldId id="365" r:id="rId30"/>
    <p:sldId id="366" r:id="rId31"/>
    <p:sldId id="367" r:id="rId32"/>
    <p:sldId id="368" r:id="rId33"/>
    <p:sldId id="369" r:id="rId34"/>
    <p:sldId id="370" r:id="rId35"/>
    <p:sldId id="371" r:id="rId36"/>
    <p:sldId id="372" r:id="rId37"/>
    <p:sldId id="373" r:id="rId38"/>
    <p:sldId id="374" r:id="rId39"/>
    <p:sldId id="375" r:id="rId40"/>
    <p:sldId id="376" r:id="rId41"/>
    <p:sldId id="377" r:id="rId42"/>
    <p:sldId id="378" r:id="rId43"/>
    <p:sldId id="379" r:id="rId44"/>
    <p:sldId id="388" r:id="rId45"/>
    <p:sldId id="389" r:id="rId46"/>
    <p:sldId id="390" r:id="rId47"/>
    <p:sldId id="391" r:id="rId48"/>
    <p:sldId id="392" r:id="rId49"/>
    <p:sldId id="393" r:id="rId50"/>
    <p:sldId id="394" r:id="rId51"/>
    <p:sldId id="395" r:id="rId52"/>
    <p:sldId id="396" r:id="rId53"/>
    <p:sldId id="397" r:id="rId54"/>
    <p:sldId id="398" r:id="rId55"/>
    <p:sldId id="399" r:id="rId56"/>
    <p:sldId id="400" r:id="rId57"/>
    <p:sldId id="401" r:id="rId58"/>
    <p:sldId id="402" r:id="rId59"/>
    <p:sldId id="336" r:id="rId60"/>
    <p:sldId id="337" r:id="rId61"/>
    <p:sldId id="338" r:id="rId62"/>
    <p:sldId id="339" r:id="rId63"/>
    <p:sldId id="340" r:id="rId64"/>
    <p:sldId id="341" r:id="rId65"/>
    <p:sldId id="342" r:id="rId66"/>
    <p:sldId id="343" r:id="rId67"/>
    <p:sldId id="344" r:id="rId68"/>
    <p:sldId id="345" r:id="rId69"/>
    <p:sldId id="346" r:id="rId70"/>
    <p:sldId id="347" r:id="rId71"/>
    <p:sldId id="348" r:id="rId72"/>
    <p:sldId id="349" r:id="rId73"/>
    <p:sldId id="350" r:id="rId74"/>
    <p:sldId id="351" r:id="rId75"/>
  </p:sldIdLst>
  <p:sldSz cx="9144000" cy="6858000" type="screen4x3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1E4AEA4-8DFA-4A89-87EB-49C32662AFE0}" styleName="Средний стиль 2 — акцент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Средний стиль 2 — акцент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F5AB1C69-6EDB-4FF4-983F-18BD219EF322}" styleName="Средний стиль 2 — акцент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24044" autoAdjust="0"/>
    <p:restoredTop sz="94660"/>
  </p:normalViewPr>
  <p:slideViewPr>
    <p:cSldViewPr snapToGrid="0">
      <p:cViewPr varScale="1">
        <p:scale>
          <a:sx n="96" d="100"/>
          <a:sy n="96" d="100"/>
        </p:scale>
        <p:origin x="114" y="342"/>
      </p:cViewPr>
      <p:guideLst>
        <p:guide orient="horz" pos="2160"/>
        <p:guide pos="2880"/>
      </p:guideLst>
    </p:cSldViewPr>
  </p:slid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82" d="100"/>
          <a:sy n="82" d="100"/>
        </p:scale>
        <p:origin x="2034" y="9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9" Type="http://schemas.microsoft.com/office/2016/11/relationships/changesInfo" Target="changesInfos/changesInfo1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theme" Target="theme/theme1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tableStyles" Target="tableStyle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eugeniy sizov" userId="f166da1dfb7bc990" providerId="LiveId" clId="{89E6E76A-A04D-4143-86EB-F73C9357717D}"/>
  </pc:docChgLst>
  <pc:docChgLst>
    <pc:chgData name="eugeniy sizov" userId="f166da1dfb7bc990" providerId="LiveId" clId="{67C238DF-1860-4182-B6D1-776CF292D6B8}"/>
    <pc:docChg chg="modSld">
      <pc:chgData name="eugeniy sizov" userId="f166da1dfb7bc990" providerId="LiveId" clId="{67C238DF-1860-4182-B6D1-776CF292D6B8}" dt="2019-04-19T11:09:48.289" v="1" actId="20577"/>
      <pc:docMkLst>
        <pc:docMk/>
      </pc:docMkLst>
      <pc:sldChg chg="modSp">
        <pc:chgData name="eugeniy sizov" userId="f166da1dfb7bc990" providerId="LiveId" clId="{67C238DF-1860-4182-B6D1-776CF292D6B8}" dt="2019-04-19T11:09:48.289" v="1" actId="20577"/>
        <pc:sldMkLst>
          <pc:docMk/>
          <pc:sldMk cId="3505509770" sldId="360"/>
        </pc:sldMkLst>
        <pc:graphicFrameChg chg="modGraphic">
          <ac:chgData name="eugeniy sizov" userId="f166da1dfb7bc990" providerId="LiveId" clId="{67C238DF-1860-4182-B6D1-776CF292D6B8}" dt="2019-04-19T11:09:48.289" v="1" actId="20577"/>
          <ac:graphicFrameMkLst>
            <pc:docMk/>
            <pc:sldMk cId="3505509770" sldId="360"/>
            <ac:graphicFrameMk id="3" creationId="{00000000-0000-0000-0000-000000000000}"/>
          </ac:graphicFrameMkLst>
        </pc:graphicFrameChg>
      </pc:sldChg>
    </pc:docChg>
  </pc:docChgLst>
  <pc:docChgLst>
    <pc:chgData name="eugeniy sizov" userId="f166da1dfb7bc990" providerId="LiveId" clId="{FB562D3E-0D89-470C-A24D-FDCC02DB7C8E}"/>
    <pc:docChg chg="modSld">
      <pc:chgData name="eugeniy sizov" userId="f166da1dfb7bc990" providerId="LiveId" clId="{FB562D3E-0D89-470C-A24D-FDCC02DB7C8E}" dt="2019-09-12T16:08:27.736" v="35" actId="20577"/>
      <pc:docMkLst>
        <pc:docMk/>
      </pc:docMkLst>
      <pc:sldChg chg="modSp">
        <pc:chgData name="eugeniy sizov" userId="f166da1dfb7bc990" providerId="LiveId" clId="{FB562D3E-0D89-470C-A24D-FDCC02DB7C8E}" dt="2019-09-12T16:08:27.736" v="35" actId="20577"/>
        <pc:sldMkLst>
          <pc:docMk/>
          <pc:sldMk cId="3890482565" sldId="363"/>
        </pc:sldMkLst>
        <pc:graphicFrameChg chg="modGraphic">
          <ac:chgData name="eugeniy sizov" userId="f166da1dfb7bc990" providerId="LiveId" clId="{FB562D3E-0D89-470C-A24D-FDCC02DB7C8E}" dt="2019-09-12T16:08:27.736" v="35" actId="20577"/>
          <ac:graphicFrameMkLst>
            <pc:docMk/>
            <pc:sldMk cId="3890482565" sldId="363"/>
            <ac:graphicFrameMk id="6" creationId="{00000000-0000-0000-0000-000000000000}"/>
          </ac:graphicFrameMkLst>
        </pc:graphicFrameChg>
      </pc:sldChg>
    </pc:docChg>
  </pc:docChgLst>
</pc:chgInfo>
</file>

<file path=ppt/drawings/_rels/vmlDrawing1.vml.rels><?xml version="1.0" encoding="UTF-8" standalone="yes"?>
<Relationships xmlns="http://schemas.openxmlformats.org/package/2006/relationships"><Relationship Id="rId1" Type="http://schemas.openxmlformats.org/officeDocument/2006/relationships/image" Target="../media/image4.emf"/></Relationships>
</file>

<file path=ppt/drawings/_rels/vmlDrawing2.vml.rels><?xml version="1.0" encoding="UTF-8" standalone="yes"?>
<Relationships xmlns="http://schemas.openxmlformats.org/package/2006/relationships"><Relationship Id="rId1" Type="http://schemas.openxmlformats.org/officeDocument/2006/relationships/image" Target="../media/image5.emf"/></Relationships>
</file>

<file path=ppt/drawings/_rels/vmlDrawing3.vml.rels><?xml version="1.0" encoding="UTF-8" standalone="yes"?>
<Relationships xmlns="http://schemas.openxmlformats.org/package/2006/relationships"><Relationship Id="rId1" Type="http://schemas.openxmlformats.org/officeDocument/2006/relationships/image" Target="../media/image6.emf"/></Relationships>
</file>

<file path=ppt/drawings/_rels/vmlDrawing4.vml.rels><?xml version="1.0" encoding="UTF-8" standalone="yes"?>
<Relationships xmlns="http://schemas.openxmlformats.org/package/2006/relationships"><Relationship Id="rId1" Type="http://schemas.openxmlformats.org/officeDocument/2006/relationships/image" Target="../media/image7.emf"/></Relationships>
</file>

<file path=ppt/drawings/_rels/vmlDrawing5.vml.rels><?xml version="1.0" encoding="UTF-8" standalone="yes"?>
<Relationships xmlns="http://schemas.openxmlformats.org/package/2006/relationships"><Relationship Id="rId1" Type="http://schemas.openxmlformats.org/officeDocument/2006/relationships/image" Target="../media/image8.emf"/></Relationships>
</file>

<file path=ppt/drawings/_rels/vmlDrawing6.vml.rels><?xml version="1.0" encoding="UTF-8" standalone="yes"?>
<Relationships xmlns="http://schemas.openxmlformats.org/package/2006/relationships"><Relationship Id="rId1" Type="http://schemas.openxmlformats.org/officeDocument/2006/relationships/image" Target="../media/image9.emf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383F313-848B-4DB8-9D26-E3FC9A9FB055}" type="datetimeFigureOut">
              <a:rPr lang="ru-RU" smtClean="0"/>
              <a:t>22.02.2020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C94F7B1-7A93-43FB-BAB9-14A91416EAB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428702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C94F7B1-7A93-43FB-BAB9-14A91416EABF}" type="slidenum">
              <a:rPr lang="ru-RU" smtClean="0"/>
              <a:t>74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3749898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одзаголовок 2"/>
          <p:cNvSpPr txBox="1">
            <a:spLocks/>
          </p:cNvSpPr>
          <p:nvPr/>
        </p:nvSpPr>
        <p:spPr bwMode="auto">
          <a:xfrm>
            <a:off x="179388" y="115888"/>
            <a:ext cx="6768876" cy="571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20000"/>
              </a:spcBef>
              <a:buClr>
                <a:srgbClr val="C00000"/>
              </a:buClr>
              <a:defRPr/>
            </a:pPr>
            <a:r>
              <a:rPr kumimoji="0" lang="ru-RU" sz="1800" b="1" dirty="0">
                <a:solidFill>
                  <a:srgbClr val="0070C0"/>
                </a:solidFill>
                <a:latin typeface="Tahoma" panose="020B0604030504040204" pitchFamily="34" charset="0"/>
                <a:cs typeface="Tahoma" panose="020B0604030504040204" pitchFamily="34" charset="0"/>
              </a:rPr>
              <a:t>Конфигурирование</a:t>
            </a:r>
            <a:r>
              <a:rPr kumimoji="0" lang="ru-RU" sz="1800" b="1" baseline="0" dirty="0">
                <a:solidFill>
                  <a:srgbClr val="0070C0"/>
                </a:solidFill>
                <a:latin typeface="Tahoma" panose="020B0604030504040204" pitchFamily="34" charset="0"/>
                <a:cs typeface="Tahoma" panose="020B0604030504040204" pitchFamily="34" charset="0"/>
              </a:rPr>
              <a:t> в системе 1С: Предприятие 8</a:t>
            </a:r>
            <a:endParaRPr kumimoji="0" lang="ru-RU" sz="1800" b="1" dirty="0">
              <a:solidFill>
                <a:srgbClr val="0070C0"/>
              </a:solidFill>
              <a:latin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79388" y="548679"/>
            <a:ext cx="8784000" cy="720081"/>
          </a:xfrm>
        </p:spPr>
        <p:txBody>
          <a:bodyPr/>
          <a:lstStyle>
            <a:lvl1pPr algn="ctr">
              <a:defRPr sz="3200" baseline="0"/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79388" y="1293839"/>
            <a:ext cx="8782050" cy="2223398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>
                <a:solidFill>
                  <a:srgbClr val="0070C0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ru-RU"/>
              <a:t>Образец подзаголовка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85892932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Содержимое 2"/>
          <p:cNvSpPr>
            <a:spLocks noGrp="1"/>
          </p:cNvSpPr>
          <p:nvPr>
            <p:ph idx="1"/>
          </p:nvPr>
        </p:nvSpPr>
        <p:spPr>
          <a:xfrm>
            <a:off x="185862" y="1268680"/>
            <a:ext cx="8784000" cy="4968631"/>
          </a:xfrm>
          <a:prstGeom prst="rect">
            <a:avLst/>
          </a:prstGeom>
        </p:spPr>
        <p:txBody>
          <a:bodyPr>
            <a:normAutofit/>
          </a:bodyPr>
          <a:lstStyle>
            <a:lvl1pPr marL="457200" indent="-457200">
              <a:buClr>
                <a:srgbClr val="C00000"/>
              </a:buClr>
              <a:buFontTx/>
              <a:buBlip>
                <a:blip r:embed="rId2"/>
              </a:buBlip>
              <a:defRPr/>
            </a:lvl1pPr>
            <a:lvl2pPr>
              <a:buClr>
                <a:srgbClr val="FF0000"/>
              </a:buClr>
              <a:buFont typeface="Verdana" pitchFamily="34" charset="0"/>
              <a:buChar char="•"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buClr>
                <a:srgbClr val="FF0000"/>
              </a:buClr>
              <a:buFont typeface="Wingdings" pitchFamily="2" charset="2"/>
              <a:buChar char="§"/>
              <a:defRPr b="1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b="0"/>
            </a:lvl4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RU" dirty="0"/>
          </a:p>
        </p:txBody>
      </p:sp>
      <p:sp>
        <p:nvSpPr>
          <p:cNvPr id="6" name="Заголовок 5"/>
          <p:cNvSpPr>
            <a:spLocks noGrp="1"/>
          </p:cNvSpPr>
          <p:nvPr>
            <p:ph type="title"/>
          </p:nvPr>
        </p:nvSpPr>
        <p:spPr>
          <a:xfrm>
            <a:off x="185862" y="548680"/>
            <a:ext cx="8784000" cy="720000"/>
          </a:xfrm>
        </p:spPr>
        <p:txBody>
          <a:bodyPr/>
          <a:lstStyle>
            <a:lvl1pPr>
              <a:lnSpc>
                <a:spcPct val="100000"/>
              </a:lnSpc>
              <a:defRPr sz="3200"/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380099748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Содержимое 2"/>
          <p:cNvSpPr>
            <a:spLocks noGrp="1"/>
          </p:cNvSpPr>
          <p:nvPr>
            <p:ph idx="1"/>
          </p:nvPr>
        </p:nvSpPr>
        <p:spPr>
          <a:xfrm>
            <a:off x="185862" y="1340768"/>
            <a:ext cx="3954090" cy="4896543"/>
          </a:xfrm>
          <a:prstGeom prst="rect">
            <a:avLst/>
          </a:prstGeom>
        </p:spPr>
        <p:txBody>
          <a:bodyPr>
            <a:normAutofit/>
          </a:bodyPr>
          <a:lstStyle>
            <a:lvl1pPr marL="457200" indent="-457200">
              <a:buClr>
                <a:srgbClr val="C00000"/>
              </a:buClr>
              <a:buFontTx/>
              <a:buBlip>
                <a:blip r:embed="rId2"/>
              </a:buBlip>
              <a:defRPr/>
            </a:lvl1pPr>
            <a:lvl2pPr>
              <a:buClr>
                <a:srgbClr val="FF0000"/>
              </a:buClr>
              <a:buFont typeface="Verdana" pitchFamily="34" charset="0"/>
              <a:buChar char="•"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buClr>
                <a:srgbClr val="FF0000"/>
              </a:buClr>
              <a:buFont typeface="Wingdings" pitchFamily="2" charset="2"/>
              <a:buChar char="§"/>
              <a:defRPr b="1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b="0"/>
            </a:lvl4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RU" dirty="0"/>
          </a:p>
        </p:txBody>
      </p:sp>
      <p:sp>
        <p:nvSpPr>
          <p:cNvPr id="6" name="Заголовок 5"/>
          <p:cNvSpPr>
            <a:spLocks noGrp="1"/>
          </p:cNvSpPr>
          <p:nvPr>
            <p:ph type="title"/>
          </p:nvPr>
        </p:nvSpPr>
        <p:spPr>
          <a:xfrm>
            <a:off x="185862" y="548680"/>
            <a:ext cx="8784000" cy="720080"/>
          </a:xfrm>
        </p:spPr>
        <p:txBody>
          <a:bodyPr/>
          <a:lstStyle>
            <a:lvl1pPr>
              <a:lnSpc>
                <a:spcPct val="100000"/>
              </a:lnSpc>
              <a:defRPr sz="3200"/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5" name="Рисунок 2"/>
          <p:cNvSpPr>
            <a:spLocks noGrp="1"/>
          </p:cNvSpPr>
          <p:nvPr>
            <p:ph type="pic" idx="10"/>
          </p:nvPr>
        </p:nvSpPr>
        <p:spPr>
          <a:xfrm>
            <a:off x="4314207" y="1340768"/>
            <a:ext cx="4629150" cy="489654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r>
              <a:rPr lang="ru-RU" noProof="0"/>
              <a:t>Вставка рисунка</a:t>
            </a:r>
            <a:endParaRPr lang="ru-RU" noProof="0" dirty="0"/>
          </a:p>
        </p:txBody>
      </p:sp>
    </p:spTree>
    <p:extLst>
      <p:ext uri="{BB962C8B-B14F-4D97-AF65-F5344CB8AC3E}">
        <p14:creationId xmlns:p14="http://schemas.microsoft.com/office/powerpoint/2010/main" val="125287701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Содержимое 2"/>
          <p:cNvSpPr>
            <a:spLocks noGrp="1"/>
          </p:cNvSpPr>
          <p:nvPr>
            <p:ph idx="1"/>
          </p:nvPr>
        </p:nvSpPr>
        <p:spPr>
          <a:xfrm>
            <a:off x="185862" y="1268680"/>
            <a:ext cx="8784000" cy="4968631"/>
          </a:xfrm>
          <a:prstGeom prst="rect">
            <a:avLst/>
          </a:prstGeom>
        </p:spPr>
        <p:txBody>
          <a:bodyPr>
            <a:normAutofit/>
          </a:bodyPr>
          <a:lstStyle>
            <a:lvl1pPr marL="457200" indent="-457200">
              <a:buClr>
                <a:srgbClr val="C00000"/>
              </a:buClr>
              <a:buFontTx/>
              <a:buBlip>
                <a:blip r:embed="rId2"/>
              </a:buBlip>
              <a:defRPr/>
            </a:lvl1pPr>
            <a:lvl2pPr>
              <a:buClr>
                <a:srgbClr val="FF0000"/>
              </a:buClr>
              <a:buFont typeface="Verdana" pitchFamily="34" charset="0"/>
              <a:buChar char="•"/>
              <a:defRPr sz="2400">
                <a:solidFill>
                  <a:srgbClr val="FF0000"/>
                </a:solidFill>
              </a:defRPr>
            </a:lvl2pPr>
            <a:lvl3pPr>
              <a:buClr>
                <a:srgbClr val="FF0000"/>
              </a:buClr>
              <a:buFont typeface="Wingdings" pitchFamily="2" charset="2"/>
              <a:buChar char="§"/>
              <a:defRPr b="1">
                <a:solidFill>
                  <a:srgbClr val="0070C0"/>
                </a:solidFill>
              </a:defRPr>
            </a:lvl3pPr>
            <a:lvl4pPr>
              <a:defRPr b="0"/>
            </a:lvl4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RU" dirty="0"/>
          </a:p>
        </p:txBody>
      </p:sp>
      <p:sp>
        <p:nvSpPr>
          <p:cNvPr id="6" name="Заголовок 5"/>
          <p:cNvSpPr>
            <a:spLocks noGrp="1"/>
          </p:cNvSpPr>
          <p:nvPr>
            <p:ph type="title"/>
          </p:nvPr>
        </p:nvSpPr>
        <p:spPr>
          <a:xfrm>
            <a:off x="174651" y="548680"/>
            <a:ext cx="8784000" cy="720000"/>
          </a:xfrm>
        </p:spPr>
        <p:txBody>
          <a:bodyPr/>
          <a:lstStyle>
            <a:lvl1pPr>
              <a:lnSpc>
                <a:spcPct val="100000"/>
              </a:lnSpc>
              <a:defRPr sz="3200"/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68106839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4520681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74788" y="548680"/>
            <a:ext cx="8784000" cy="720000"/>
          </a:xfrm>
        </p:spPr>
        <p:txBody>
          <a:bodyPr/>
          <a:lstStyle>
            <a:lvl1pPr>
              <a:lnSpc>
                <a:spcPct val="100000"/>
              </a:lnSpc>
              <a:defRPr sz="3200"/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174788" y="1268680"/>
            <a:ext cx="8784000" cy="4968632"/>
          </a:xfrm>
          <a:prstGeom prst="rect">
            <a:avLst/>
          </a:prstGeom>
        </p:spPr>
        <p:txBody>
          <a:bodyPr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97782719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135C04-8D5B-4386-8606-505D6580B7BD}" type="datetimeFigureOut">
              <a:rPr lang="ru-RU" smtClean="0"/>
              <a:t>22.02.2020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963D5C-6653-407C-A129-CD438BE65EA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9845924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135C04-8D5B-4386-8606-505D6580B7BD}" type="datetimeFigureOut">
              <a:rPr lang="ru-RU" smtClean="0"/>
              <a:t>22.02.2020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963D5C-6653-407C-A129-CD438BE65EA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1347902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image" Target="../media/image3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image" Target="../media/image2.png"/><Relationship Id="rId5" Type="http://schemas.openxmlformats.org/officeDocument/2006/relationships/slideLayout" Target="../slideLayouts/slideLayout5.xml"/><Relationship Id="rId10" Type="http://schemas.openxmlformats.org/officeDocument/2006/relationships/image" Target="../media/image1.jpeg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26" name="Группа 3"/>
          <p:cNvGrpSpPr>
            <a:grpSpLocks/>
          </p:cNvGrpSpPr>
          <p:nvPr/>
        </p:nvGrpSpPr>
        <p:grpSpPr bwMode="auto">
          <a:xfrm>
            <a:off x="185738" y="549275"/>
            <a:ext cx="8784000" cy="0"/>
            <a:chOff x="185862" y="620688"/>
            <a:chExt cx="8775700" cy="0"/>
          </a:xfrm>
        </p:grpSpPr>
        <p:cxnSp>
          <p:nvCxnSpPr>
            <p:cNvPr id="16" name="Прямая соединительная линия 15"/>
            <p:cNvCxnSpPr/>
            <p:nvPr/>
          </p:nvCxnSpPr>
          <p:spPr>
            <a:xfrm>
              <a:off x="185862" y="620688"/>
              <a:ext cx="8775700" cy="0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Прямая соединительная линия 16"/>
            <p:cNvCxnSpPr/>
            <p:nvPr/>
          </p:nvCxnSpPr>
          <p:spPr>
            <a:xfrm>
              <a:off x="185862" y="620688"/>
              <a:ext cx="2522537" cy="0"/>
            </a:xfrm>
            <a:prstGeom prst="line">
              <a:avLst/>
            </a:prstGeom>
            <a:ln w="38100">
              <a:solidFill>
                <a:srgbClr val="0070C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>
          <a:xfrm>
            <a:off x="188119" y="571977"/>
            <a:ext cx="8784000" cy="54879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8" name="Номер слайда 5"/>
          <p:cNvSpPr txBox="1">
            <a:spLocks/>
          </p:cNvSpPr>
          <p:nvPr/>
        </p:nvSpPr>
        <p:spPr>
          <a:xfrm>
            <a:off x="-93663" y="6310313"/>
            <a:ext cx="949326" cy="293687"/>
          </a:xfrm>
          <a:prstGeom prst="rect">
            <a:avLst/>
          </a:prstGeom>
        </p:spPr>
        <p:txBody>
          <a:bodyPr/>
          <a:lstStyle>
            <a:lvl1pPr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r">
              <a:defRPr/>
            </a:pPr>
            <a:fld id="{84FD9DA7-1D53-4DDE-8D05-49E2417E29ED}" type="slidenum">
              <a:rPr lang="ru-RU" sz="1600" smtClean="0">
                <a:solidFill>
                  <a:srgbClr val="0066CC"/>
                </a:solidFill>
                <a:latin typeface="Tahoma" panose="020B0604030504040204" pitchFamily="34" charset="0"/>
                <a:cs typeface="Tahoma" panose="020B0604030504040204" pitchFamily="34" charset="0"/>
              </a:rPr>
              <a:pPr algn="r">
                <a:defRPr/>
              </a:pPr>
              <a:t>‹#›</a:t>
            </a:fld>
            <a:r>
              <a:rPr lang="ru-RU" sz="1600" dirty="0" smtClean="0">
                <a:solidFill>
                  <a:srgbClr val="FF0000"/>
                </a:solidFill>
                <a:latin typeface="Tahoma" panose="020B0604030504040204" pitchFamily="34" charset="0"/>
                <a:cs typeface="Tahoma" panose="020B0604030504040204" pitchFamily="34" charset="0"/>
              </a:rPr>
              <a:t>/74</a:t>
            </a:r>
            <a:endParaRPr lang="ru-RU" sz="1600" dirty="0">
              <a:solidFill>
                <a:srgbClr val="FF0000"/>
              </a:solidFill>
              <a:latin typeface="Tahoma" panose="020B0604030504040204" pitchFamily="34" charset="0"/>
              <a:cs typeface="Tahoma" panose="020B0604030504040204" pitchFamily="34" charset="0"/>
            </a:endParaRPr>
          </a:p>
        </p:txBody>
      </p:sp>
      <p:grpSp>
        <p:nvGrpSpPr>
          <p:cNvPr id="1029" name="Группа 17"/>
          <p:cNvGrpSpPr>
            <a:grpSpLocks/>
          </p:cNvGrpSpPr>
          <p:nvPr/>
        </p:nvGrpSpPr>
        <p:grpSpPr bwMode="auto">
          <a:xfrm>
            <a:off x="185738" y="6604000"/>
            <a:ext cx="6402387" cy="180975"/>
            <a:chOff x="185862" y="620688"/>
            <a:chExt cx="8775700" cy="0"/>
          </a:xfrm>
        </p:grpSpPr>
        <p:cxnSp>
          <p:nvCxnSpPr>
            <p:cNvPr id="19" name="Прямая соединительная линия 18"/>
            <p:cNvCxnSpPr/>
            <p:nvPr/>
          </p:nvCxnSpPr>
          <p:spPr>
            <a:xfrm>
              <a:off x="185862" y="620688"/>
              <a:ext cx="8775700" cy="0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Прямая соединительная линия 19"/>
            <p:cNvCxnSpPr/>
            <p:nvPr/>
          </p:nvCxnSpPr>
          <p:spPr>
            <a:xfrm>
              <a:off x="185862" y="620688"/>
              <a:ext cx="2521952" cy="0"/>
            </a:xfrm>
            <a:prstGeom prst="line">
              <a:avLst/>
            </a:prstGeom>
            <a:ln w="38100">
              <a:solidFill>
                <a:srgbClr val="0070C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030" name="Рисунок 1"/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32588" y="6310313"/>
            <a:ext cx="2224087" cy="4111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Подзаголовок 2"/>
          <p:cNvSpPr txBox="1">
            <a:spLocks/>
          </p:cNvSpPr>
          <p:nvPr/>
        </p:nvSpPr>
        <p:spPr bwMode="auto">
          <a:xfrm>
            <a:off x="179388" y="115888"/>
            <a:ext cx="6768876" cy="571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20000"/>
              </a:spcBef>
              <a:buClr>
                <a:srgbClr val="C00000"/>
              </a:buClr>
              <a:defRPr/>
            </a:pPr>
            <a:r>
              <a:rPr kumimoji="0" lang="ru-RU" sz="1800" b="1" dirty="0">
                <a:solidFill>
                  <a:srgbClr val="0070C0"/>
                </a:solidFill>
                <a:latin typeface="Tahoma" panose="020B0604030504040204" pitchFamily="34" charset="0"/>
                <a:cs typeface="Tahoma" panose="020B0604030504040204" pitchFamily="34" charset="0"/>
              </a:rPr>
              <a:t>Конфигурирование</a:t>
            </a:r>
            <a:r>
              <a:rPr kumimoji="0" lang="ru-RU" sz="1800" b="1" baseline="0" dirty="0">
                <a:solidFill>
                  <a:srgbClr val="0070C0"/>
                </a:solidFill>
                <a:latin typeface="Tahoma" panose="020B0604030504040204" pitchFamily="34" charset="0"/>
                <a:cs typeface="Tahoma" panose="020B0604030504040204" pitchFamily="34" charset="0"/>
              </a:rPr>
              <a:t> в системе 1С: Предприятие 8</a:t>
            </a:r>
            <a:endParaRPr kumimoji="0" lang="ru-RU" sz="1800" b="1" dirty="0">
              <a:solidFill>
                <a:srgbClr val="0070C0"/>
              </a:solidFill>
              <a:latin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12" name="TextBox 14"/>
          <p:cNvSpPr txBox="1">
            <a:spLocks noChangeArrowheads="1"/>
          </p:cNvSpPr>
          <p:nvPr/>
        </p:nvSpPr>
        <p:spPr bwMode="auto">
          <a:xfrm>
            <a:off x="5435600" y="138113"/>
            <a:ext cx="3525838" cy="3381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rial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 algn="r">
              <a:defRPr/>
            </a:pPr>
            <a:r>
              <a:rPr lang="ru-RU" sz="1600" dirty="0">
                <a:solidFill>
                  <a:srgbClr val="0070C0"/>
                </a:solidFill>
                <a:latin typeface="Tahoma" pitchFamily="34" charset="0"/>
                <a:cs typeface="Tahoma" pitchFamily="34" charset="0"/>
              </a:rPr>
              <a:t>Оперативный учет</a:t>
            </a:r>
          </a:p>
        </p:txBody>
      </p:sp>
    </p:spTree>
    <p:extLst>
      <p:ext uri="{BB962C8B-B14F-4D97-AF65-F5344CB8AC3E}">
        <p14:creationId xmlns:p14="http://schemas.microsoft.com/office/powerpoint/2010/main" val="3432155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</p:sldLayoutIdLst>
  <p:timing>
    <p:tnLst>
      <p:par>
        <p:cTn id="1" dur="indefinite" restart="never" nodeType="tmRoot"/>
      </p:par>
    </p:tnLst>
  </p:timing>
  <p:txStyles>
    <p:titleStyle>
      <a:lvl1pPr algn="ctr" rtl="0" eaLnBrk="1" fontAlgn="base" hangingPunct="1">
        <a:spcBef>
          <a:spcPct val="0"/>
        </a:spcBef>
        <a:spcAft>
          <a:spcPct val="0"/>
        </a:spcAft>
        <a:defRPr sz="3200" b="1" kern="1200">
          <a:ln>
            <a:solidFill>
              <a:schemeClr val="bg1"/>
            </a:solidFill>
          </a:ln>
          <a:gradFill>
            <a:gsLst>
              <a:gs pos="55000">
                <a:srgbClr val="F50516"/>
              </a:gs>
              <a:gs pos="86000">
                <a:srgbClr val="C00000"/>
              </a:gs>
            </a:gsLst>
            <a:lin ang="5400000" scaled="0"/>
          </a:gradFill>
          <a:effectLst>
            <a:outerShdw blurRad="38100" dist="38100" dir="5400000" algn="ctr" rotWithShape="0">
              <a:schemeClr val="bg1">
                <a:lumMod val="50000"/>
              </a:schemeClr>
            </a:outerShdw>
          </a:effectLst>
          <a:latin typeface="Arial Black" pitchFamily="34" charset="0"/>
          <a:ea typeface="Verdana" pitchFamily="34" charset="0"/>
          <a:cs typeface="Verdana" pitchFamily="34" charset="0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sz="4400" b="1">
          <a:solidFill>
            <a:schemeClr val="tx1"/>
          </a:solidFill>
          <a:latin typeface="Arial Black" pitchFamily="34" charset="0"/>
          <a:ea typeface="Verdana" pitchFamily="34" charset="0"/>
          <a:cs typeface="Verdana" pitchFamily="34" charset="0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sz="4400" b="1">
          <a:solidFill>
            <a:schemeClr val="tx1"/>
          </a:solidFill>
          <a:latin typeface="Arial Black" pitchFamily="34" charset="0"/>
          <a:ea typeface="Verdana" pitchFamily="34" charset="0"/>
          <a:cs typeface="Verdana" pitchFamily="34" charset="0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sz="4400" b="1">
          <a:solidFill>
            <a:schemeClr val="tx1"/>
          </a:solidFill>
          <a:latin typeface="Arial Black" pitchFamily="34" charset="0"/>
          <a:ea typeface="Verdana" pitchFamily="34" charset="0"/>
          <a:cs typeface="Verdana" pitchFamily="34" charset="0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sz="4400" b="1">
          <a:solidFill>
            <a:schemeClr val="tx1"/>
          </a:solidFill>
          <a:latin typeface="Arial Black" pitchFamily="34" charset="0"/>
          <a:ea typeface="Verdana" pitchFamily="34" charset="0"/>
          <a:cs typeface="Verdana" pitchFamily="34" charset="0"/>
        </a:defRPr>
      </a:lvl5pPr>
      <a:lvl6pPr marL="457200" algn="l" rtl="0" eaLnBrk="1" fontAlgn="base" hangingPunct="1">
        <a:spcBef>
          <a:spcPct val="0"/>
        </a:spcBef>
        <a:spcAft>
          <a:spcPct val="0"/>
        </a:spcAft>
        <a:defRPr sz="2800" b="1">
          <a:solidFill>
            <a:srgbClr val="C00000"/>
          </a:solidFill>
          <a:latin typeface="Verdana" pitchFamily="34" charset="0"/>
          <a:ea typeface="Verdana" pitchFamily="34" charset="0"/>
          <a:cs typeface="Verdana" pitchFamily="34" charset="0"/>
        </a:defRPr>
      </a:lvl6pPr>
      <a:lvl7pPr marL="914400" algn="l" rtl="0" eaLnBrk="1" fontAlgn="base" hangingPunct="1">
        <a:spcBef>
          <a:spcPct val="0"/>
        </a:spcBef>
        <a:spcAft>
          <a:spcPct val="0"/>
        </a:spcAft>
        <a:defRPr sz="2800" b="1">
          <a:solidFill>
            <a:srgbClr val="C00000"/>
          </a:solidFill>
          <a:latin typeface="Verdana" pitchFamily="34" charset="0"/>
          <a:ea typeface="Verdana" pitchFamily="34" charset="0"/>
          <a:cs typeface="Verdana" pitchFamily="34" charset="0"/>
        </a:defRPr>
      </a:lvl7pPr>
      <a:lvl8pPr marL="1371600" algn="l" rtl="0" eaLnBrk="1" fontAlgn="base" hangingPunct="1">
        <a:spcBef>
          <a:spcPct val="0"/>
        </a:spcBef>
        <a:spcAft>
          <a:spcPct val="0"/>
        </a:spcAft>
        <a:defRPr sz="2800" b="1">
          <a:solidFill>
            <a:srgbClr val="C00000"/>
          </a:solidFill>
          <a:latin typeface="Verdana" pitchFamily="34" charset="0"/>
          <a:ea typeface="Verdana" pitchFamily="34" charset="0"/>
          <a:cs typeface="Verdana" pitchFamily="34" charset="0"/>
        </a:defRPr>
      </a:lvl8pPr>
      <a:lvl9pPr marL="1828800" algn="l" rtl="0" eaLnBrk="1" fontAlgn="base" hangingPunct="1">
        <a:spcBef>
          <a:spcPct val="0"/>
        </a:spcBef>
        <a:spcAft>
          <a:spcPct val="0"/>
        </a:spcAft>
        <a:defRPr sz="2800" b="1">
          <a:solidFill>
            <a:srgbClr val="C00000"/>
          </a:solidFill>
          <a:latin typeface="Verdana" pitchFamily="34" charset="0"/>
          <a:ea typeface="Verdana" pitchFamily="34" charset="0"/>
          <a:cs typeface="Verdana" pitchFamily="34" charset="0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Clr>
          <a:srgbClr val="C00000"/>
        </a:buClr>
        <a:defRPr sz="2800" b="1" kern="1200">
          <a:solidFill>
            <a:srgbClr val="0070C0"/>
          </a:solidFill>
          <a:latin typeface="Tahoma" pitchFamily="34" charset="0"/>
          <a:ea typeface="Tahoma" pitchFamily="34" charset="0"/>
          <a:cs typeface="Tahoma" pitchFamily="34" charset="0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Blip>
          <a:blip r:embed="rId11"/>
        </a:buBlip>
        <a:defRPr sz="2800" b="1" kern="1200">
          <a:solidFill>
            <a:srgbClr val="FF0000"/>
          </a:solidFill>
          <a:latin typeface="Tahoma" pitchFamily="34" charset="0"/>
          <a:ea typeface="Tahoma" pitchFamily="34" charset="0"/>
          <a:cs typeface="Tahoma" pitchFamily="34" charset="0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Blip>
          <a:blip r:embed="rId12"/>
        </a:buBlip>
        <a:defRPr sz="2000" b="1" kern="1200">
          <a:solidFill>
            <a:srgbClr val="0070C0"/>
          </a:solidFill>
          <a:latin typeface="Tahoma" pitchFamily="34" charset="0"/>
          <a:ea typeface="Tahoma" pitchFamily="34" charset="0"/>
          <a:cs typeface="Tahoma" pitchFamily="34" charset="0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Clr>
          <a:srgbClr val="FF0000"/>
        </a:buClr>
        <a:buFont typeface="Wingdings" panose="05000000000000000000" pitchFamily="2" charset="2"/>
        <a:buChar char="§"/>
        <a:defRPr b="1" kern="1200">
          <a:solidFill>
            <a:srgbClr val="404040"/>
          </a:solidFill>
          <a:latin typeface="Tahoma" pitchFamily="34" charset="0"/>
          <a:ea typeface="Tahoma" pitchFamily="34" charset="0"/>
          <a:cs typeface="Tahoma" pitchFamily="34" charset="0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Clr>
          <a:srgbClr val="FF0000"/>
        </a:buClr>
        <a:buFont typeface="Arial" panose="020B0604020202020204" pitchFamily="34" charset="0"/>
        <a:buChar char="•"/>
        <a:defRPr sz="1600" kern="1200">
          <a:solidFill>
            <a:srgbClr val="404040"/>
          </a:solidFill>
          <a:latin typeface="Tahoma" pitchFamily="34" charset="0"/>
          <a:ea typeface="Tahoma" pitchFamily="34" charset="0"/>
          <a:cs typeface="Tahoma" pitchFamily="34" charset="0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.bin"/><Relationship Id="rId2" Type="http://schemas.openxmlformats.org/officeDocument/2006/relationships/slideLayout" Target="../slideLayouts/slideLayout2.xml"/><Relationship Id="rId1" Type="http://schemas.openxmlformats.org/officeDocument/2006/relationships/vmlDrawing" Target="../drawings/vmlDrawing1.vml"/><Relationship Id="rId4" Type="http://schemas.openxmlformats.org/officeDocument/2006/relationships/image" Target="../media/image4.emf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Layout" Target="../slideLayouts/slideLayout2.xml"/><Relationship Id="rId1" Type="http://schemas.openxmlformats.org/officeDocument/2006/relationships/vmlDrawing" Target="../drawings/vmlDrawing2.vml"/><Relationship Id="rId4" Type="http://schemas.openxmlformats.org/officeDocument/2006/relationships/image" Target="../media/image5.emf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3.bin"/><Relationship Id="rId2" Type="http://schemas.openxmlformats.org/officeDocument/2006/relationships/slideLayout" Target="../slideLayouts/slideLayout7.xml"/><Relationship Id="rId1" Type="http://schemas.openxmlformats.org/officeDocument/2006/relationships/vmlDrawing" Target="../drawings/vmlDrawing3.vml"/><Relationship Id="rId4" Type="http://schemas.openxmlformats.org/officeDocument/2006/relationships/image" Target="../media/image6.emf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4.bin"/><Relationship Id="rId2" Type="http://schemas.openxmlformats.org/officeDocument/2006/relationships/slideLayout" Target="../slideLayouts/slideLayout2.xml"/><Relationship Id="rId1" Type="http://schemas.openxmlformats.org/officeDocument/2006/relationships/vmlDrawing" Target="../drawings/vmlDrawing4.vml"/><Relationship Id="rId4" Type="http://schemas.openxmlformats.org/officeDocument/2006/relationships/image" Target="../media/image7.emf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5.bin"/><Relationship Id="rId2" Type="http://schemas.openxmlformats.org/officeDocument/2006/relationships/slideLayout" Target="../slideLayouts/slideLayout2.xml"/><Relationship Id="rId1" Type="http://schemas.openxmlformats.org/officeDocument/2006/relationships/vmlDrawing" Target="../drawings/vmlDrawing5.vml"/><Relationship Id="rId4" Type="http://schemas.openxmlformats.org/officeDocument/2006/relationships/image" Target="../media/image8.emf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2.xml"/><Relationship Id="rId1" Type="http://schemas.openxmlformats.org/officeDocument/2006/relationships/vmlDrawing" Target="../drawings/vmlDrawing6.vml"/><Relationship Id="rId5" Type="http://schemas.openxmlformats.org/officeDocument/2006/relationships/image" Target="../media/image9.emf"/><Relationship Id="rId4" Type="http://schemas.openxmlformats.org/officeDocument/2006/relationships/oleObject" Target="../embeddings/oleObject6.bin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ru-RU" dirty="0">
                <a:solidFill>
                  <a:srgbClr val="FF0000"/>
                </a:solidFill>
              </a:rPr>
              <a:t>Занятие 10</a:t>
            </a:r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79388" y="1293838"/>
            <a:ext cx="8782050" cy="2630091"/>
          </a:xfrm>
        </p:spPr>
        <p:txBody>
          <a:bodyPr>
            <a:norm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ru-RU" dirty="0"/>
              <a:t>Себестоимость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ru-RU" dirty="0" smtClean="0"/>
              <a:t>Проведение и </a:t>
            </a:r>
            <a:r>
              <a:rPr lang="ru-RU" dirty="0" err="1" smtClean="0"/>
              <a:t>допроведение</a:t>
            </a:r>
            <a:endParaRPr lang="ru-RU" dirty="0"/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ru-RU" dirty="0"/>
              <a:t>Традиционная технология проведения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ru-RU" dirty="0"/>
              <a:t>Блокировки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ru-RU" dirty="0" err="1"/>
              <a:t>Партионный</a:t>
            </a:r>
            <a:r>
              <a:rPr lang="ru-RU" dirty="0"/>
              <a:t> учет</a:t>
            </a:r>
          </a:p>
        </p:txBody>
      </p:sp>
    </p:spTree>
    <p:extLst>
      <p:ext uri="{BB962C8B-B14F-4D97-AF65-F5344CB8AC3E}">
        <p14:creationId xmlns:p14="http://schemas.microsoft.com/office/powerpoint/2010/main" val="298384320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Себестоимость</a:t>
            </a:r>
          </a:p>
        </p:txBody>
      </p:sp>
      <p:sp>
        <p:nvSpPr>
          <p:cNvPr id="4" name="Текст 3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9893861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Себестоимость</a:t>
            </a:r>
          </a:p>
        </p:txBody>
      </p:sp>
      <p:graphicFrame>
        <p:nvGraphicFramePr>
          <p:cNvPr id="3" name="Таблица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73645366"/>
              </p:ext>
            </p:extLst>
          </p:nvPr>
        </p:nvGraphicFramePr>
        <p:xfrm>
          <a:off x="763696" y="1196752"/>
          <a:ext cx="7632845" cy="2112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76063">
                  <a:extLst>
                    <a:ext uri="{9D8B030D-6E8A-4147-A177-3AD203B41FA5}">
                      <a16:colId xmlns:a16="http://schemas.microsoft.com/office/drawing/2014/main" val="4030770462"/>
                    </a:ext>
                  </a:extLst>
                </a:gridCol>
                <a:gridCol w="2477075">
                  <a:extLst>
                    <a:ext uri="{9D8B030D-6E8A-4147-A177-3AD203B41FA5}">
                      <a16:colId xmlns:a16="http://schemas.microsoft.com/office/drawing/2014/main" val="606321662"/>
                    </a:ext>
                  </a:extLst>
                </a:gridCol>
                <a:gridCol w="1526569">
                  <a:extLst>
                    <a:ext uri="{9D8B030D-6E8A-4147-A177-3AD203B41FA5}">
                      <a16:colId xmlns:a16="http://schemas.microsoft.com/office/drawing/2014/main" val="1461257391"/>
                    </a:ext>
                  </a:extLst>
                </a:gridCol>
                <a:gridCol w="1526569">
                  <a:extLst>
                    <a:ext uri="{9D8B030D-6E8A-4147-A177-3AD203B41FA5}">
                      <a16:colId xmlns:a16="http://schemas.microsoft.com/office/drawing/2014/main" val="1539387788"/>
                    </a:ext>
                  </a:extLst>
                </a:gridCol>
                <a:gridCol w="1526569">
                  <a:extLst>
                    <a:ext uri="{9D8B030D-6E8A-4147-A177-3AD203B41FA5}">
                      <a16:colId xmlns:a16="http://schemas.microsoft.com/office/drawing/2014/main" val="1723431537"/>
                    </a:ext>
                  </a:extLst>
                </a:gridCol>
              </a:tblGrid>
              <a:tr h="524553">
                <a:tc>
                  <a:txBody>
                    <a:bodyPr/>
                    <a:lstStyle/>
                    <a:p>
                      <a:r>
                        <a:rPr lang="ru-RU" dirty="0"/>
                        <a:t>№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Документ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Товар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Количество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Сумма </a:t>
                      </a:r>
                      <a:r>
                        <a:rPr lang="ru-RU" sz="1200" dirty="0"/>
                        <a:t>(Себестоимость)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1055630"/>
                  </a:ext>
                </a:extLst>
              </a:tr>
              <a:tr h="390920">
                <a:tc>
                  <a:txBody>
                    <a:bodyPr/>
                    <a:lstStyle/>
                    <a:p>
                      <a:r>
                        <a:rPr lang="ru-RU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Поступление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Яблоки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100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90195972"/>
                  </a:ext>
                </a:extLst>
              </a:tr>
              <a:tr h="390920">
                <a:tc>
                  <a:txBody>
                    <a:bodyPr/>
                    <a:lstStyle/>
                    <a:p>
                      <a:r>
                        <a:rPr lang="ru-RU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Поступление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Яблоки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200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52810343"/>
                  </a:ext>
                </a:extLst>
              </a:tr>
              <a:tr h="390920">
                <a:tc>
                  <a:txBody>
                    <a:bodyPr/>
                    <a:lstStyle/>
                    <a:p>
                      <a:r>
                        <a:rPr lang="ru-RU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Отгрузка </a:t>
                      </a:r>
                      <a:r>
                        <a:rPr lang="en-US"/>
                        <a:t>1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Яблоки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>
                          <a:solidFill>
                            <a:srgbClr val="FF0000"/>
                          </a:solidFill>
                        </a:rPr>
                        <a:t>?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65952409"/>
                  </a:ext>
                </a:extLst>
              </a:tr>
              <a:tr h="390920">
                <a:tc>
                  <a:txBody>
                    <a:bodyPr/>
                    <a:lstStyle/>
                    <a:p>
                      <a:r>
                        <a:rPr lang="ru-RU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Поступление 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Яблоки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400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08609015"/>
                  </a:ext>
                </a:extLst>
              </a:tr>
            </a:tbl>
          </a:graphicData>
        </a:graphic>
      </p:graphicFrame>
      <p:graphicFrame>
        <p:nvGraphicFramePr>
          <p:cNvPr id="4" name="Таблица 3"/>
          <p:cNvGraphicFramePr>
            <a:graphicFrameLocks noGrp="1"/>
          </p:cNvGraphicFramePr>
          <p:nvPr/>
        </p:nvGraphicFramePr>
        <p:xfrm>
          <a:off x="763694" y="3501009"/>
          <a:ext cx="7632846" cy="1887619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2368146">
                  <a:extLst>
                    <a:ext uri="{9D8B030D-6E8A-4147-A177-3AD203B41FA5}">
                      <a16:colId xmlns:a16="http://schemas.microsoft.com/office/drawing/2014/main" val="1136593468"/>
                    </a:ext>
                  </a:extLst>
                </a:gridCol>
                <a:gridCol w="5264700">
                  <a:extLst>
                    <a:ext uri="{9D8B030D-6E8A-4147-A177-3AD203B41FA5}">
                      <a16:colId xmlns:a16="http://schemas.microsoft.com/office/drawing/2014/main" val="2409115090"/>
                    </a:ext>
                  </a:extLst>
                </a:gridCol>
              </a:tblGrid>
              <a:tr h="343905">
                <a:tc>
                  <a:txBody>
                    <a:bodyPr/>
                    <a:lstStyle/>
                    <a:p>
                      <a:r>
                        <a:rPr lang="ru-RU" dirty="0"/>
                        <a:t>Метод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Формула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70335979"/>
                  </a:ext>
                </a:extLst>
              </a:tr>
              <a:tr h="424579">
                <a:tc>
                  <a:txBody>
                    <a:bodyPr/>
                    <a:lstStyle/>
                    <a:p>
                      <a:r>
                        <a:rPr lang="ru-RU" dirty="0"/>
                        <a:t>Средняя </a:t>
                      </a:r>
                      <a:r>
                        <a:rPr lang="ru-RU" baseline="0" dirty="0"/>
                        <a:t>скользящая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(100+200)/(10+10) * 15 = 225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90868877"/>
                  </a:ext>
                </a:extLst>
              </a:tr>
              <a:tr h="343905">
                <a:tc>
                  <a:txBody>
                    <a:bodyPr/>
                    <a:lstStyle/>
                    <a:p>
                      <a:r>
                        <a:rPr lang="ru-RU" dirty="0"/>
                        <a:t>Средневзвешенная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(100+200+400)/(10+10+10) * 15 = 350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57838615"/>
                  </a:ext>
                </a:extLst>
              </a:tr>
              <a:tr h="343905">
                <a:tc>
                  <a:txBody>
                    <a:bodyPr/>
                    <a:lstStyle/>
                    <a:p>
                      <a:r>
                        <a:rPr lang="ru-RU" dirty="0"/>
                        <a:t>ФИФО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(10 * 100/10) + (5 * 200/10) = 200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85314862"/>
                  </a:ext>
                </a:extLst>
              </a:tr>
              <a:tr h="343905">
                <a:tc>
                  <a:txBody>
                    <a:bodyPr/>
                    <a:lstStyle/>
                    <a:p>
                      <a:r>
                        <a:rPr lang="ru-RU" dirty="0"/>
                        <a:t>ЛИФО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(10 * 200/10) + (5</a:t>
                      </a:r>
                      <a:r>
                        <a:rPr lang="ru-RU" baseline="0" dirty="0"/>
                        <a:t> * 100/10) = 250</a:t>
                      </a:r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74538747"/>
                  </a:ext>
                </a:extLst>
              </a:tr>
            </a:tbl>
          </a:graphicData>
        </a:graphic>
      </p:graphicFrame>
      <p:cxnSp>
        <p:nvCxnSpPr>
          <p:cNvPr id="6" name="Прямая соединительная линия 5"/>
          <p:cNvCxnSpPr/>
          <p:nvPr/>
        </p:nvCxnSpPr>
        <p:spPr>
          <a:xfrm>
            <a:off x="323528" y="2492896"/>
            <a:ext cx="8424936" cy="0"/>
          </a:xfrm>
          <a:prstGeom prst="line">
            <a:avLst/>
          </a:prstGeom>
          <a:ln w="31750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Прямая соединительная линия 6"/>
          <p:cNvCxnSpPr/>
          <p:nvPr/>
        </p:nvCxnSpPr>
        <p:spPr>
          <a:xfrm>
            <a:off x="323528" y="3296009"/>
            <a:ext cx="8424936" cy="0"/>
          </a:xfrm>
          <a:prstGeom prst="line">
            <a:avLst/>
          </a:prstGeom>
          <a:ln w="31750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055097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74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5" dur="7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74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74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4" dur="7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74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7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/>
          <p:cNvSpPr>
            <a:spLocks noGrp="1"/>
          </p:cNvSpPr>
          <p:nvPr>
            <p:ph type="title"/>
          </p:nvPr>
        </p:nvSpPr>
        <p:spPr>
          <a:xfrm>
            <a:off x="722313" y="3810552"/>
            <a:ext cx="7772400" cy="1958423"/>
          </a:xfrm>
        </p:spPr>
        <p:txBody>
          <a:bodyPr/>
          <a:lstStyle/>
          <a:p>
            <a:r>
              <a:rPr lang="ru-RU" dirty="0" smtClean="0"/>
              <a:t>Проведение и </a:t>
            </a:r>
            <a:r>
              <a:rPr lang="ru-RU" dirty="0" err="1" smtClean="0"/>
              <a:t>допроведение</a:t>
            </a:r>
            <a:endParaRPr lang="ru-RU" dirty="0"/>
          </a:p>
        </p:txBody>
      </p:sp>
      <p:sp>
        <p:nvSpPr>
          <p:cNvPr id="4" name="Текст 3"/>
          <p:cNvSpPr>
            <a:spLocks noGrp="1"/>
          </p:cNvSpPr>
          <p:nvPr>
            <p:ph type="body" idx="1"/>
          </p:nvPr>
        </p:nvSpPr>
        <p:spPr>
          <a:xfrm>
            <a:off x="722313" y="2310365"/>
            <a:ext cx="7772400" cy="1500187"/>
          </a:xfrm>
        </p:spPr>
        <p:txBody>
          <a:bodyPr/>
          <a:lstStyle/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87255584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/>
          <p:cNvSpPr>
            <a:spLocks noGrp="1"/>
          </p:cNvSpPr>
          <p:nvPr>
            <p:ph type="title"/>
          </p:nvPr>
        </p:nvSpPr>
        <p:spPr>
          <a:xfrm>
            <a:off x="188119" y="571976"/>
            <a:ext cx="8784000" cy="999871"/>
          </a:xfrm>
        </p:spPr>
        <p:txBody>
          <a:bodyPr/>
          <a:lstStyle/>
          <a:p>
            <a:pPr algn="ctr"/>
            <a:r>
              <a:rPr lang="ru-RU" dirty="0" smtClean="0"/>
              <a:t>Первое проведения. </a:t>
            </a:r>
            <a:br>
              <a:rPr lang="ru-RU" dirty="0" smtClean="0"/>
            </a:br>
            <a:r>
              <a:rPr lang="ru-RU" dirty="0" smtClean="0"/>
              <a:t>(Оперативное проведение)</a:t>
            </a:r>
            <a:endParaRPr lang="ru-RU" dirty="0"/>
          </a:p>
        </p:txBody>
      </p:sp>
      <p:sp>
        <p:nvSpPr>
          <p:cNvPr id="5" name="Скругленный прямоугольник 4"/>
          <p:cNvSpPr/>
          <p:nvPr/>
        </p:nvSpPr>
        <p:spPr>
          <a:xfrm>
            <a:off x="661087" y="4336783"/>
            <a:ext cx="7951573" cy="1481705"/>
          </a:xfrm>
          <a:prstGeom prst="roundRect">
            <a:avLst/>
          </a:prstGeom>
          <a:noFill/>
          <a:ln w="38100">
            <a:solidFill>
              <a:schemeClr val="accent5">
                <a:lumMod val="50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sz="1350"/>
          </a:p>
        </p:txBody>
      </p:sp>
      <p:sp>
        <p:nvSpPr>
          <p:cNvPr id="6" name="Скругленный прямоугольник 5"/>
          <p:cNvSpPr/>
          <p:nvPr/>
        </p:nvSpPr>
        <p:spPr>
          <a:xfrm>
            <a:off x="628650" y="1975537"/>
            <a:ext cx="7984010" cy="2231305"/>
          </a:xfrm>
          <a:prstGeom prst="roundRect">
            <a:avLst/>
          </a:prstGeom>
          <a:noFill/>
          <a:ln w="38100">
            <a:solidFill>
              <a:schemeClr val="accent6">
                <a:shade val="50000"/>
              </a:schemeClr>
            </a:solidFill>
            <a:prstDash val="dash"/>
          </a:ln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sz="1350"/>
          </a:p>
        </p:txBody>
      </p:sp>
      <p:sp>
        <p:nvSpPr>
          <p:cNvPr id="2" name="Овал 1"/>
          <p:cNvSpPr/>
          <p:nvPr/>
        </p:nvSpPr>
        <p:spPr>
          <a:xfrm>
            <a:off x="772429" y="2532046"/>
            <a:ext cx="1739766" cy="555859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350" dirty="0"/>
              <a:t>Документ</a:t>
            </a:r>
            <a:br>
              <a:rPr lang="ru-RU" sz="1350" dirty="0"/>
            </a:br>
            <a:r>
              <a:rPr lang="ru-RU" sz="1350" dirty="0"/>
              <a:t>Объект </a:t>
            </a:r>
          </a:p>
        </p:txBody>
      </p:sp>
      <p:graphicFrame>
        <p:nvGraphicFramePr>
          <p:cNvPr id="3" name="Таблица 2"/>
          <p:cNvGraphicFramePr>
            <a:graphicFrameLocks noGrp="1"/>
          </p:cNvGraphicFramePr>
          <p:nvPr/>
        </p:nvGraphicFramePr>
        <p:xfrm>
          <a:off x="1141397" y="4510111"/>
          <a:ext cx="1442987" cy="629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553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538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207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4860">
                <a:tc>
                  <a:txBody>
                    <a:bodyPr/>
                    <a:lstStyle/>
                    <a:p>
                      <a:r>
                        <a:rPr lang="ru-RU" sz="1400" dirty="0"/>
                        <a:t>Ссылка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…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…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4860">
                <a:tc>
                  <a:txBody>
                    <a:bodyPr/>
                    <a:lstStyle/>
                    <a:p>
                      <a:r>
                        <a:rPr lang="en-US" sz="1400" dirty="0"/>
                        <a:t>&lt;</a:t>
                      </a:r>
                      <a:r>
                        <a:rPr lang="ru-RU" sz="1400" dirty="0"/>
                        <a:t>Док1</a:t>
                      </a:r>
                      <a:r>
                        <a:rPr lang="en-US" sz="1400" dirty="0"/>
                        <a:t>&gt;</a:t>
                      </a:r>
                      <a:endParaRPr lang="ru-RU" sz="1400" dirty="0"/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…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…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9" name="Скругленный прямоугольник 8"/>
          <p:cNvSpPr/>
          <p:nvPr/>
        </p:nvSpPr>
        <p:spPr>
          <a:xfrm>
            <a:off x="2570548" y="2250505"/>
            <a:ext cx="1458227" cy="594000"/>
          </a:xfrm>
          <a:prstGeom prst="round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350" dirty="0"/>
              <a:t>Набор записей по регистру 1</a:t>
            </a:r>
          </a:p>
        </p:txBody>
      </p:sp>
      <p:sp>
        <p:nvSpPr>
          <p:cNvPr id="11" name="Скругленный прямоугольник 10"/>
          <p:cNvSpPr/>
          <p:nvPr/>
        </p:nvSpPr>
        <p:spPr>
          <a:xfrm>
            <a:off x="4383081" y="2250505"/>
            <a:ext cx="1458227" cy="594000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350" dirty="0"/>
              <a:t>Набор записей по регистру 2</a:t>
            </a:r>
          </a:p>
        </p:txBody>
      </p:sp>
      <p:sp>
        <p:nvSpPr>
          <p:cNvPr id="12" name="Скругленный прямоугольник 11"/>
          <p:cNvSpPr/>
          <p:nvPr/>
        </p:nvSpPr>
        <p:spPr>
          <a:xfrm>
            <a:off x="6602472" y="2250505"/>
            <a:ext cx="1458227" cy="594000"/>
          </a:xfrm>
          <a:prstGeom prst="round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350" dirty="0"/>
              <a:t>Набор записей по регистру </a:t>
            </a:r>
            <a:r>
              <a:rPr lang="en-US" sz="1350" dirty="0"/>
              <a:t>N</a:t>
            </a:r>
            <a:endParaRPr lang="ru-RU" sz="1350" dirty="0"/>
          </a:p>
        </p:txBody>
      </p:sp>
      <p:sp>
        <p:nvSpPr>
          <p:cNvPr id="13" name="Блок-схема: узел 12"/>
          <p:cNvSpPr/>
          <p:nvPr/>
        </p:nvSpPr>
        <p:spPr>
          <a:xfrm>
            <a:off x="6105967" y="2808170"/>
            <a:ext cx="173255" cy="184084"/>
          </a:xfrm>
          <a:prstGeom prst="flowChartConnector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sz="1350"/>
          </a:p>
        </p:txBody>
      </p:sp>
      <p:sp>
        <p:nvSpPr>
          <p:cNvPr id="14" name="Блок-схема: узел 13"/>
          <p:cNvSpPr/>
          <p:nvPr/>
        </p:nvSpPr>
        <p:spPr>
          <a:xfrm>
            <a:off x="6335168" y="2808170"/>
            <a:ext cx="173255" cy="184084"/>
          </a:xfrm>
          <a:prstGeom prst="flowChartConnector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sz="1350"/>
          </a:p>
        </p:txBody>
      </p:sp>
      <p:sp>
        <p:nvSpPr>
          <p:cNvPr id="15" name="Блок-схема: узел 14"/>
          <p:cNvSpPr/>
          <p:nvPr/>
        </p:nvSpPr>
        <p:spPr>
          <a:xfrm>
            <a:off x="5864132" y="2808169"/>
            <a:ext cx="173255" cy="184084"/>
          </a:xfrm>
          <a:prstGeom prst="flowChartConnector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sz="1350"/>
          </a:p>
        </p:txBody>
      </p:sp>
      <p:graphicFrame>
        <p:nvGraphicFramePr>
          <p:cNvPr id="17" name="Таблица 16"/>
          <p:cNvGraphicFramePr>
            <a:graphicFrameLocks noGrp="1"/>
          </p:cNvGraphicFramePr>
          <p:nvPr/>
        </p:nvGraphicFramePr>
        <p:xfrm>
          <a:off x="2974206" y="4510111"/>
          <a:ext cx="1442986" cy="62972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04674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213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410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4860">
                <a:tc>
                  <a:txBody>
                    <a:bodyPr/>
                    <a:lstStyle/>
                    <a:p>
                      <a:r>
                        <a:rPr lang="ru-RU" sz="1000" dirty="0"/>
                        <a:t>Регистратор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endParaRPr lang="ru-RU" sz="1400" dirty="0"/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endParaRPr lang="ru-RU" sz="1400" dirty="0"/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486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/>
                        <a:t>&lt;</a:t>
                      </a:r>
                      <a:r>
                        <a:rPr lang="ru-RU" sz="1400" dirty="0"/>
                        <a:t>Док1</a:t>
                      </a:r>
                      <a:r>
                        <a:rPr lang="en-US" sz="1400" dirty="0"/>
                        <a:t>&gt;</a:t>
                      </a:r>
                      <a:endParaRPr lang="ru-RU" sz="1400" dirty="0"/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…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…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20" name="Таблица 19"/>
          <p:cNvGraphicFramePr>
            <a:graphicFrameLocks noGrp="1"/>
          </p:cNvGraphicFramePr>
          <p:nvPr/>
        </p:nvGraphicFramePr>
        <p:xfrm>
          <a:off x="4838300" y="4510111"/>
          <a:ext cx="1442986" cy="62972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04674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213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410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4860">
                <a:tc>
                  <a:txBody>
                    <a:bodyPr/>
                    <a:lstStyle/>
                    <a:p>
                      <a:r>
                        <a:rPr lang="ru-RU" sz="1000" dirty="0"/>
                        <a:t>Регистратор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endParaRPr lang="ru-RU" sz="1400" dirty="0"/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endParaRPr lang="ru-RU" sz="1400" dirty="0"/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486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/>
                        <a:t>&lt;</a:t>
                      </a:r>
                      <a:r>
                        <a:rPr lang="ru-RU" sz="1400" dirty="0"/>
                        <a:t>Док1</a:t>
                      </a:r>
                      <a:r>
                        <a:rPr lang="en-US" sz="1400" dirty="0"/>
                        <a:t>&gt;</a:t>
                      </a:r>
                      <a:endParaRPr lang="ru-RU" sz="1400" dirty="0"/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…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…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21" name="Таблица 20"/>
          <p:cNvGraphicFramePr>
            <a:graphicFrameLocks noGrp="1"/>
          </p:cNvGraphicFramePr>
          <p:nvPr/>
        </p:nvGraphicFramePr>
        <p:xfrm>
          <a:off x="7098432" y="4510111"/>
          <a:ext cx="1442986" cy="629720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104674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213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410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4860">
                <a:tc>
                  <a:txBody>
                    <a:bodyPr/>
                    <a:lstStyle/>
                    <a:p>
                      <a:r>
                        <a:rPr lang="ru-RU" sz="1000" dirty="0"/>
                        <a:t>Регистратор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endParaRPr lang="ru-RU" sz="1400" dirty="0"/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endParaRPr lang="ru-RU" sz="1400" dirty="0"/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486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/>
                        <a:t>&lt;</a:t>
                      </a:r>
                      <a:r>
                        <a:rPr lang="ru-RU" sz="1400" dirty="0"/>
                        <a:t>Док1</a:t>
                      </a:r>
                      <a:r>
                        <a:rPr lang="en-US" sz="1400" dirty="0"/>
                        <a:t>&gt;</a:t>
                      </a:r>
                      <a:endParaRPr lang="ru-RU" sz="1400" dirty="0"/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…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…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4140634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ru-RU" dirty="0"/>
              <a:t>При записи</a:t>
            </a:r>
          </a:p>
        </p:txBody>
      </p:sp>
      <p:sp>
        <p:nvSpPr>
          <p:cNvPr id="5" name="Скругленный прямоугольник 4"/>
          <p:cNvSpPr/>
          <p:nvPr/>
        </p:nvSpPr>
        <p:spPr>
          <a:xfrm>
            <a:off x="661087" y="4336783"/>
            <a:ext cx="7951573" cy="1481705"/>
          </a:xfrm>
          <a:prstGeom prst="roundRect">
            <a:avLst/>
          </a:prstGeom>
          <a:noFill/>
          <a:ln w="38100">
            <a:solidFill>
              <a:schemeClr val="accent5">
                <a:lumMod val="50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sz="1350"/>
          </a:p>
        </p:txBody>
      </p:sp>
      <p:sp>
        <p:nvSpPr>
          <p:cNvPr id="6" name="Скругленный прямоугольник 5"/>
          <p:cNvSpPr/>
          <p:nvPr/>
        </p:nvSpPr>
        <p:spPr>
          <a:xfrm>
            <a:off x="628650" y="1975537"/>
            <a:ext cx="7984010" cy="2231305"/>
          </a:xfrm>
          <a:prstGeom prst="roundRect">
            <a:avLst/>
          </a:prstGeom>
          <a:noFill/>
          <a:ln w="38100">
            <a:solidFill>
              <a:schemeClr val="accent6">
                <a:shade val="50000"/>
              </a:schemeClr>
            </a:solidFill>
            <a:prstDash val="dash"/>
          </a:ln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sz="1350"/>
          </a:p>
        </p:txBody>
      </p:sp>
      <p:sp>
        <p:nvSpPr>
          <p:cNvPr id="2" name="Овал 1"/>
          <p:cNvSpPr/>
          <p:nvPr/>
        </p:nvSpPr>
        <p:spPr>
          <a:xfrm>
            <a:off x="772429" y="2532046"/>
            <a:ext cx="1739766" cy="555859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350" dirty="0"/>
              <a:t>Документ</a:t>
            </a:r>
            <a:br>
              <a:rPr lang="ru-RU" sz="1350" dirty="0"/>
            </a:br>
            <a:r>
              <a:rPr lang="ru-RU" sz="1350" dirty="0"/>
              <a:t>Объект </a:t>
            </a:r>
          </a:p>
        </p:txBody>
      </p:sp>
      <p:graphicFrame>
        <p:nvGraphicFramePr>
          <p:cNvPr id="3" name="Таблица 2"/>
          <p:cNvGraphicFramePr>
            <a:graphicFrameLocks noGrp="1"/>
          </p:cNvGraphicFramePr>
          <p:nvPr/>
        </p:nvGraphicFramePr>
        <p:xfrm>
          <a:off x="1141397" y="4510111"/>
          <a:ext cx="1442987" cy="629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553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538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207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4860">
                <a:tc>
                  <a:txBody>
                    <a:bodyPr/>
                    <a:lstStyle/>
                    <a:p>
                      <a:r>
                        <a:rPr lang="ru-RU" sz="1000" dirty="0"/>
                        <a:t>Ссылка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000" dirty="0"/>
                        <a:t>…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000" dirty="0"/>
                        <a:t>…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4860">
                <a:tc>
                  <a:txBody>
                    <a:bodyPr/>
                    <a:lstStyle/>
                    <a:p>
                      <a:r>
                        <a:rPr lang="en-US" sz="1000" dirty="0"/>
                        <a:t>&lt;</a:t>
                      </a:r>
                      <a:r>
                        <a:rPr lang="ru-RU" sz="1000" dirty="0"/>
                        <a:t>Док1</a:t>
                      </a:r>
                      <a:r>
                        <a:rPr lang="en-US" sz="1000" dirty="0"/>
                        <a:t>&gt;</a:t>
                      </a:r>
                      <a:endParaRPr lang="ru-RU" sz="1000" dirty="0"/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000" dirty="0"/>
                        <a:t>…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000" dirty="0"/>
                        <a:t>…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9" name="Скругленный прямоугольник 8"/>
          <p:cNvSpPr/>
          <p:nvPr/>
        </p:nvSpPr>
        <p:spPr>
          <a:xfrm>
            <a:off x="2570548" y="2250506"/>
            <a:ext cx="1458227" cy="594000"/>
          </a:xfrm>
          <a:prstGeom prst="round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350" dirty="0"/>
              <a:t>Набор записей по регистру 1</a:t>
            </a:r>
          </a:p>
        </p:txBody>
      </p:sp>
      <p:sp>
        <p:nvSpPr>
          <p:cNvPr id="11" name="Скругленный прямоугольник 10"/>
          <p:cNvSpPr/>
          <p:nvPr/>
        </p:nvSpPr>
        <p:spPr>
          <a:xfrm>
            <a:off x="4383081" y="2250506"/>
            <a:ext cx="1458227" cy="594000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350" dirty="0"/>
              <a:t>Набор записей по регистру 2</a:t>
            </a:r>
          </a:p>
        </p:txBody>
      </p:sp>
      <p:sp>
        <p:nvSpPr>
          <p:cNvPr id="12" name="Скругленный прямоугольник 11"/>
          <p:cNvSpPr/>
          <p:nvPr/>
        </p:nvSpPr>
        <p:spPr>
          <a:xfrm>
            <a:off x="6602472" y="2250506"/>
            <a:ext cx="1458227" cy="594000"/>
          </a:xfrm>
          <a:prstGeom prst="round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350" dirty="0"/>
              <a:t>Набор записей по регистру </a:t>
            </a:r>
            <a:r>
              <a:rPr lang="en-US" sz="1350" dirty="0"/>
              <a:t>N</a:t>
            </a:r>
            <a:endParaRPr lang="ru-RU" sz="1350" dirty="0"/>
          </a:p>
        </p:txBody>
      </p:sp>
      <p:sp>
        <p:nvSpPr>
          <p:cNvPr id="13" name="Блок-схема: узел 12"/>
          <p:cNvSpPr/>
          <p:nvPr/>
        </p:nvSpPr>
        <p:spPr>
          <a:xfrm>
            <a:off x="6105967" y="2808170"/>
            <a:ext cx="173255" cy="184084"/>
          </a:xfrm>
          <a:prstGeom prst="flowChartConnector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sz="1350"/>
          </a:p>
        </p:txBody>
      </p:sp>
      <p:sp>
        <p:nvSpPr>
          <p:cNvPr id="14" name="Блок-схема: узел 13"/>
          <p:cNvSpPr/>
          <p:nvPr/>
        </p:nvSpPr>
        <p:spPr>
          <a:xfrm>
            <a:off x="6335168" y="2808170"/>
            <a:ext cx="173255" cy="184084"/>
          </a:xfrm>
          <a:prstGeom prst="flowChartConnector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sz="1350"/>
          </a:p>
        </p:txBody>
      </p:sp>
      <p:sp>
        <p:nvSpPr>
          <p:cNvPr id="15" name="Блок-схема: узел 14"/>
          <p:cNvSpPr/>
          <p:nvPr/>
        </p:nvSpPr>
        <p:spPr>
          <a:xfrm>
            <a:off x="5864132" y="2808169"/>
            <a:ext cx="173255" cy="184084"/>
          </a:xfrm>
          <a:prstGeom prst="flowChartConnector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sz="1350"/>
          </a:p>
        </p:txBody>
      </p:sp>
      <p:graphicFrame>
        <p:nvGraphicFramePr>
          <p:cNvPr id="17" name="Таблица 16"/>
          <p:cNvGraphicFramePr>
            <a:graphicFrameLocks noGrp="1"/>
          </p:cNvGraphicFramePr>
          <p:nvPr/>
        </p:nvGraphicFramePr>
        <p:xfrm>
          <a:off x="2974206" y="4510111"/>
          <a:ext cx="1442986" cy="62972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04674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213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410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4860">
                <a:tc>
                  <a:txBody>
                    <a:bodyPr/>
                    <a:lstStyle/>
                    <a:p>
                      <a:r>
                        <a:rPr lang="ru-RU" sz="1000" dirty="0"/>
                        <a:t>Регистратор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endParaRPr lang="ru-RU" sz="1000" dirty="0"/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endParaRPr lang="ru-RU" sz="1000" dirty="0"/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486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/>
                        <a:t>&lt;</a:t>
                      </a:r>
                      <a:r>
                        <a:rPr lang="ru-RU" sz="1000" dirty="0"/>
                        <a:t>Док1</a:t>
                      </a:r>
                      <a:r>
                        <a:rPr lang="en-US" sz="1000" dirty="0"/>
                        <a:t>&gt;</a:t>
                      </a:r>
                      <a:endParaRPr lang="ru-RU" sz="1000" dirty="0"/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000" dirty="0"/>
                        <a:t>…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000" dirty="0"/>
                        <a:t>…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20" name="Таблица 19"/>
          <p:cNvGraphicFramePr>
            <a:graphicFrameLocks noGrp="1"/>
          </p:cNvGraphicFramePr>
          <p:nvPr/>
        </p:nvGraphicFramePr>
        <p:xfrm>
          <a:off x="4838300" y="4510111"/>
          <a:ext cx="1442986" cy="62972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04674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213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410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4860">
                <a:tc>
                  <a:txBody>
                    <a:bodyPr/>
                    <a:lstStyle/>
                    <a:p>
                      <a:r>
                        <a:rPr lang="ru-RU" sz="1000" dirty="0"/>
                        <a:t>Регистратор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endParaRPr lang="ru-RU" sz="1000" dirty="0"/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endParaRPr lang="ru-RU" sz="1000" dirty="0"/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486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/>
                        <a:t>&lt;</a:t>
                      </a:r>
                      <a:r>
                        <a:rPr lang="ru-RU" sz="1000" dirty="0"/>
                        <a:t>Док1</a:t>
                      </a:r>
                      <a:r>
                        <a:rPr lang="en-US" sz="1000" dirty="0"/>
                        <a:t>&gt;</a:t>
                      </a:r>
                      <a:endParaRPr lang="ru-RU" sz="1000" dirty="0"/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000" dirty="0"/>
                        <a:t>…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000" dirty="0"/>
                        <a:t>…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21" name="Таблица 20"/>
          <p:cNvGraphicFramePr>
            <a:graphicFrameLocks noGrp="1"/>
          </p:cNvGraphicFramePr>
          <p:nvPr/>
        </p:nvGraphicFramePr>
        <p:xfrm>
          <a:off x="7098432" y="4510111"/>
          <a:ext cx="1442986" cy="629720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104674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213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410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4860">
                <a:tc>
                  <a:txBody>
                    <a:bodyPr/>
                    <a:lstStyle/>
                    <a:p>
                      <a:r>
                        <a:rPr lang="ru-RU" sz="1000" dirty="0"/>
                        <a:t>Регистратор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endParaRPr lang="ru-RU" sz="1000" dirty="0"/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endParaRPr lang="ru-RU" sz="1000" dirty="0"/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486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/>
                        <a:t>&lt;</a:t>
                      </a:r>
                      <a:r>
                        <a:rPr lang="ru-RU" sz="1000" dirty="0"/>
                        <a:t>Док1</a:t>
                      </a:r>
                      <a:r>
                        <a:rPr lang="en-US" sz="1000" dirty="0"/>
                        <a:t>&gt;</a:t>
                      </a:r>
                      <a:endParaRPr lang="ru-RU" sz="1000" dirty="0"/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000" dirty="0"/>
                        <a:t>…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000" dirty="0"/>
                        <a:t>…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7" name="Стрелка углом 6"/>
          <p:cNvSpPr/>
          <p:nvPr/>
        </p:nvSpPr>
        <p:spPr>
          <a:xfrm rot="10800000" flipH="1">
            <a:off x="830179" y="2900212"/>
            <a:ext cx="292921" cy="2548289"/>
          </a:xfrm>
          <a:prstGeom prst="bentArrow">
            <a:avLst>
              <a:gd name="adj1" fmla="val 27464"/>
              <a:gd name="adj2" fmla="val 25000"/>
              <a:gd name="adj3" fmla="val 25000"/>
              <a:gd name="adj4" fmla="val 43750"/>
            </a:avLst>
          </a:prstGeom>
          <a:ln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sz="1350">
              <a:solidFill>
                <a:schemeClr val="tx1"/>
              </a:solidFill>
            </a:endParaRPr>
          </a:p>
        </p:txBody>
      </p:sp>
      <p:graphicFrame>
        <p:nvGraphicFramePr>
          <p:cNvPr id="18" name="Таблица 17"/>
          <p:cNvGraphicFramePr>
            <a:graphicFrameLocks noGrp="1"/>
          </p:cNvGraphicFramePr>
          <p:nvPr/>
        </p:nvGraphicFramePr>
        <p:xfrm>
          <a:off x="1141397" y="5140860"/>
          <a:ext cx="1442987" cy="314860"/>
        </p:xfrm>
        <a:graphic>
          <a:graphicData uri="http://schemas.openxmlformats.org/drawingml/2006/table">
            <a:tbl>
              <a:tblPr firstRow="1" bandRow="1">
                <a:tableStyleId>{BC89EF96-8CEA-46FF-86C4-4CE0E7609802}</a:tableStyleId>
              </a:tblPr>
              <a:tblGrid>
                <a:gridCol w="73553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538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207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4860">
                <a:tc>
                  <a:txBody>
                    <a:bodyPr/>
                    <a:lstStyle/>
                    <a:p>
                      <a:r>
                        <a:rPr lang="en-US" sz="1000" dirty="0"/>
                        <a:t>&lt;</a:t>
                      </a:r>
                      <a:r>
                        <a:rPr lang="ru-RU" sz="1000" dirty="0"/>
                        <a:t>Док2</a:t>
                      </a:r>
                      <a:r>
                        <a:rPr lang="en-US" sz="1000" dirty="0"/>
                        <a:t>&gt;</a:t>
                      </a:r>
                      <a:endParaRPr lang="ru-RU" sz="1000" dirty="0"/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000" dirty="0"/>
                        <a:t>…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000" dirty="0"/>
                        <a:t>…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3715438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Скругленный прямоугольник 21"/>
          <p:cNvSpPr/>
          <p:nvPr/>
        </p:nvSpPr>
        <p:spPr>
          <a:xfrm>
            <a:off x="2570548" y="2250506"/>
            <a:ext cx="1458227" cy="594000"/>
          </a:xfrm>
          <a:prstGeom prst="round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350" dirty="0"/>
              <a:t>Набор записей по регистру 1</a:t>
            </a:r>
          </a:p>
        </p:txBody>
      </p:sp>
      <p:sp>
        <p:nvSpPr>
          <p:cNvPr id="25" name="Скругленный прямоугольник 24"/>
          <p:cNvSpPr/>
          <p:nvPr/>
        </p:nvSpPr>
        <p:spPr>
          <a:xfrm>
            <a:off x="4383081" y="2250506"/>
            <a:ext cx="1458227" cy="594000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350" dirty="0"/>
              <a:t>Набор записей по регистру 2</a:t>
            </a:r>
          </a:p>
        </p:txBody>
      </p:sp>
      <p:sp>
        <p:nvSpPr>
          <p:cNvPr id="26" name="Скругленный прямоугольник 25"/>
          <p:cNvSpPr/>
          <p:nvPr/>
        </p:nvSpPr>
        <p:spPr>
          <a:xfrm>
            <a:off x="6602472" y="2250506"/>
            <a:ext cx="1458227" cy="594000"/>
          </a:xfrm>
          <a:prstGeom prst="round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350" dirty="0"/>
              <a:t>Набор записей по регистру </a:t>
            </a:r>
            <a:r>
              <a:rPr lang="en-US" sz="1350" dirty="0"/>
              <a:t>N</a:t>
            </a:r>
            <a:endParaRPr lang="ru-RU" sz="1350" dirty="0"/>
          </a:p>
        </p:txBody>
      </p:sp>
      <p:sp>
        <p:nvSpPr>
          <p:cNvPr id="5" name="Скругленный прямоугольник 4"/>
          <p:cNvSpPr/>
          <p:nvPr/>
        </p:nvSpPr>
        <p:spPr>
          <a:xfrm>
            <a:off x="661087" y="4336783"/>
            <a:ext cx="7951573" cy="1481705"/>
          </a:xfrm>
          <a:prstGeom prst="roundRect">
            <a:avLst/>
          </a:prstGeom>
          <a:noFill/>
          <a:ln w="38100">
            <a:solidFill>
              <a:schemeClr val="accent5">
                <a:lumMod val="50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sz="1350"/>
          </a:p>
        </p:txBody>
      </p:sp>
      <p:sp>
        <p:nvSpPr>
          <p:cNvPr id="6" name="Скругленный прямоугольник 5"/>
          <p:cNvSpPr/>
          <p:nvPr/>
        </p:nvSpPr>
        <p:spPr>
          <a:xfrm>
            <a:off x="628650" y="1975537"/>
            <a:ext cx="7984010" cy="2231305"/>
          </a:xfrm>
          <a:prstGeom prst="roundRect">
            <a:avLst/>
          </a:prstGeom>
          <a:noFill/>
          <a:ln w="38100">
            <a:solidFill>
              <a:schemeClr val="accent6">
                <a:shade val="50000"/>
              </a:schemeClr>
            </a:solidFill>
            <a:prstDash val="dash"/>
          </a:ln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sz="1350"/>
          </a:p>
        </p:txBody>
      </p:sp>
      <p:sp>
        <p:nvSpPr>
          <p:cNvPr id="2" name="Овал 1"/>
          <p:cNvSpPr/>
          <p:nvPr/>
        </p:nvSpPr>
        <p:spPr>
          <a:xfrm>
            <a:off x="772429" y="2532046"/>
            <a:ext cx="1739766" cy="555859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350" dirty="0"/>
              <a:t>Документ</a:t>
            </a:r>
            <a:br>
              <a:rPr lang="ru-RU" sz="1350" dirty="0"/>
            </a:br>
            <a:r>
              <a:rPr lang="ru-RU" sz="1350" dirty="0"/>
              <a:t>Объект </a:t>
            </a:r>
          </a:p>
        </p:txBody>
      </p:sp>
      <p:graphicFrame>
        <p:nvGraphicFramePr>
          <p:cNvPr id="3" name="Таблица 2"/>
          <p:cNvGraphicFramePr>
            <a:graphicFrameLocks noGrp="1"/>
          </p:cNvGraphicFramePr>
          <p:nvPr/>
        </p:nvGraphicFramePr>
        <p:xfrm>
          <a:off x="1141397" y="4510111"/>
          <a:ext cx="1442987" cy="629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553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538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207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4860">
                <a:tc>
                  <a:txBody>
                    <a:bodyPr/>
                    <a:lstStyle/>
                    <a:p>
                      <a:r>
                        <a:rPr lang="ru-RU" sz="1000" dirty="0"/>
                        <a:t>Ссылка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000" dirty="0"/>
                        <a:t>…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000" dirty="0"/>
                        <a:t>…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4860">
                <a:tc>
                  <a:txBody>
                    <a:bodyPr/>
                    <a:lstStyle/>
                    <a:p>
                      <a:r>
                        <a:rPr lang="en-US" sz="1000" dirty="0"/>
                        <a:t>&lt;</a:t>
                      </a:r>
                      <a:r>
                        <a:rPr lang="ru-RU" sz="1000" dirty="0"/>
                        <a:t>Док1</a:t>
                      </a:r>
                      <a:r>
                        <a:rPr lang="en-US" sz="1000" dirty="0"/>
                        <a:t>&gt;</a:t>
                      </a:r>
                      <a:endParaRPr lang="ru-RU" sz="1000" dirty="0"/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000" dirty="0"/>
                        <a:t>…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000" dirty="0"/>
                        <a:t>…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3" name="Блок-схема: узел 12"/>
          <p:cNvSpPr/>
          <p:nvPr/>
        </p:nvSpPr>
        <p:spPr>
          <a:xfrm>
            <a:off x="6105967" y="2808170"/>
            <a:ext cx="173255" cy="184084"/>
          </a:xfrm>
          <a:prstGeom prst="flowChartConnector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sz="1350"/>
          </a:p>
        </p:txBody>
      </p:sp>
      <p:sp>
        <p:nvSpPr>
          <p:cNvPr id="14" name="Блок-схема: узел 13"/>
          <p:cNvSpPr/>
          <p:nvPr/>
        </p:nvSpPr>
        <p:spPr>
          <a:xfrm>
            <a:off x="6335168" y="2808170"/>
            <a:ext cx="173255" cy="184084"/>
          </a:xfrm>
          <a:prstGeom prst="flowChartConnector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sz="1350"/>
          </a:p>
        </p:txBody>
      </p:sp>
      <p:sp>
        <p:nvSpPr>
          <p:cNvPr id="15" name="Блок-схема: узел 14"/>
          <p:cNvSpPr/>
          <p:nvPr/>
        </p:nvSpPr>
        <p:spPr>
          <a:xfrm>
            <a:off x="5864132" y="2808169"/>
            <a:ext cx="173255" cy="184084"/>
          </a:xfrm>
          <a:prstGeom prst="flowChartConnector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sz="1350"/>
          </a:p>
        </p:txBody>
      </p:sp>
      <p:graphicFrame>
        <p:nvGraphicFramePr>
          <p:cNvPr id="17" name="Таблица 16"/>
          <p:cNvGraphicFramePr>
            <a:graphicFrameLocks noGrp="1"/>
          </p:cNvGraphicFramePr>
          <p:nvPr/>
        </p:nvGraphicFramePr>
        <p:xfrm>
          <a:off x="2974206" y="4510111"/>
          <a:ext cx="1442986" cy="62972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04674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213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410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4860">
                <a:tc>
                  <a:txBody>
                    <a:bodyPr/>
                    <a:lstStyle/>
                    <a:p>
                      <a:r>
                        <a:rPr lang="ru-RU" sz="1000" dirty="0"/>
                        <a:t>Регистратор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endParaRPr lang="ru-RU" sz="1000" dirty="0"/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endParaRPr lang="ru-RU" sz="1000" dirty="0"/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486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/>
                        <a:t>&lt;</a:t>
                      </a:r>
                      <a:r>
                        <a:rPr lang="ru-RU" sz="1000" dirty="0"/>
                        <a:t>Док1</a:t>
                      </a:r>
                      <a:r>
                        <a:rPr lang="en-US" sz="1000" dirty="0"/>
                        <a:t>&gt;</a:t>
                      </a:r>
                      <a:endParaRPr lang="ru-RU" sz="1000" dirty="0"/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000" dirty="0"/>
                        <a:t>…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000" dirty="0"/>
                        <a:t>…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20" name="Таблица 19"/>
          <p:cNvGraphicFramePr>
            <a:graphicFrameLocks noGrp="1"/>
          </p:cNvGraphicFramePr>
          <p:nvPr/>
        </p:nvGraphicFramePr>
        <p:xfrm>
          <a:off x="4838300" y="4510111"/>
          <a:ext cx="1442986" cy="62972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04674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213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410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4860">
                <a:tc>
                  <a:txBody>
                    <a:bodyPr/>
                    <a:lstStyle/>
                    <a:p>
                      <a:r>
                        <a:rPr lang="ru-RU" sz="1000" dirty="0"/>
                        <a:t>Регистратор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endParaRPr lang="ru-RU" sz="1000" dirty="0"/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endParaRPr lang="ru-RU" sz="1000" dirty="0"/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486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/>
                        <a:t>&lt;</a:t>
                      </a:r>
                      <a:r>
                        <a:rPr lang="ru-RU" sz="1000" dirty="0"/>
                        <a:t>Док1</a:t>
                      </a:r>
                      <a:r>
                        <a:rPr lang="en-US" sz="1000" dirty="0"/>
                        <a:t>&gt;</a:t>
                      </a:r>
                      <a:endParaRPr lang="ru-RU" sz="1000" dirty="0"/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000" dirty="0"/>
                        <a:t>…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000" dirty="0"/>
                        <a:t>…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21" name="Таблица 20"/>
          <p:cNvGraphicFramePr>
            <a:graphicFrameLocks noGrp="1"/>
          </p:cNvGraphicFramePr>
          <p:nvPr/>
        </p:nvGraphicFramePr>
        <p:xfrm>
          <a:off x="7098432" y="4510111"/>
          <a:ext cx="1442986" cy="629720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104674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213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410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4860">
                <a:tc>
                  <a:txBody>
                    <a:bodyPr/>
                    <a:lstStyle/>
                    <a:p>
                      <a:r>
                        <a:rPr lang="ru-RU" sz="1000" dirty="0"/>
                        <a:t>Регистратор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endParaRPr lang="ru-RU" sz="1000" dirty="0"/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endParaRPr lang="ru-RU" sz="1000" dirty="0"/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486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/>
                        <a:t>&lt;</a:t>
                      </a:r>
                      <a:r>
                        <a:rPr lang="ru-RU" sz="1000" dirty="0"/>
                        <a:t>Док1</a:t>
                      </a:r>
                      <a:r>
                        <a:rPr lang="en-US" sz="1000" dirty="0"/>
                        <a:t>&gt;</a:t>
                      </a:r>
                      <a:endParaRPr lang="ru-RU" sz="1000" dirty="0"/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000" dirty="0"/>
                        <a:t>…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000" dirty="0"/>
                        <a:t>…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7" name="Стрелка углом 6"/>
          <p:cNvSpPr/>
          <p:nvPr/>
        </p:nvSpPr>
        <p:spPr>
          <a:xfrm rot="5400000" flipH="1">
            <a:off x="2390040" y="3097072"/>
            <a:ext cx="432000" cy="1559292"/>
          </a:xfrm>
          <a:prstGeom prst="bentArrow">
            <a:avLst>
              <a:gd name="adj1" fmla="val 27464"/>
              <a:gd name="adj2" fmla="val 25000"/>
              <a:gd name="adj3" fmla="val 25000"/>
              <a:gd name="adj4" fmla="val 43750"/>
            </a:avLst>
          </a:prstGeom>
          <a:ln>
            <a:solidFill>
              <a:schemeClr val="accent1"/>
            </a:solidFill>
          </a:ln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sz="1350">
              <a:solidFill>
                <a:schemeClr val="tx1"/>
              </a:solidFill>
            </a:endParaRPr>
          </a:p>
        </p:txBody>
      </p:sp>
      <p:graphicFrame>
        <p:nvGraphicFramePr>
          <p:cNvPr id="18" name="Таблица 17"/>
          <p:cNvGraphicFramePr>
            <a:graphicFrameLocks noGrp="1"/>
          </p:cNvGraphicFramePr>
          <p:nvPr/>
        </p:nvGraphicFramePr>
        <p:xfrm>
          <a:off x="1141397" y="5140860"/>
          <a:ext cx="1442987" cy="314860"/>
        </p:xfrm>
        <a:graphic>
          <a:graphicData uri="http://schemas.openxmlformats.org/drawingml/2006/table">
            <a:tbl>
              <a:tblPr firstRow="1" bandRow="1">
                <a:tableStyleId>{BC89EF96-8CEA-46FF-86C4-4CE0E7609802}</a:tableStyleId>
              </a:tblPr>
              <a:tblGrid>
                <a:gridCol w="73553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538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207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4860">
                <a:tc>
                  <a:txBody>
                    <a:bodyPr/>
                    <a:lstStyle/>
                    <a:p>
                      <a:r>
                        <a:rPr lang="en-US" sz="1000" dirty="0"/>
                        <a:t>&lt;</a:t>
                      </a:r>
                      <a:r>
                        <a:rPr lang="ru-RU" sz="1000" dirty="0"/>
                        <a:t>Док2</a:t>
                      </a:r>
                      <a:r>
                        <a:rPr lang="en-US" sz="1000" dirty="0"/>
                        <a:t>&gt;</a:t>
                      </a:r>
                      <a:endParaRPr lang="ru-RU" sz="1000" dirty="0"/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000" dirty="0"/>
                        <a:t>…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000" dirty="0"/>
                        <a:t>…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19" name="Стрелка углом 18"/>
          <p:cNvSpPr/>
          <p:nvPr/>
        </p:nvSpPr>
        <p:spPr>
          <a:xfrm rot="10800000" flipH="1">
            <a:off x="1564077" y="3087905"/>
            <a:ext cx="432000" cy="1006227"/>
          </a:xfrm>
          <a:prstGeom prst="bentArrow">
            <a:avLst>
              <a:gd name="adj1" fmla="val 27464"/>
              <a:gd name="adj2" fmla="val 14178"/>
              <a:gd name="adj3" fmla="val 25000"/>
              <a:gd name="adj4" fmla="val 43750"/>
            </a:avLst>
          </a:prstGeom>
          <a:ln>
            <a:solidFill>
              <a:schemeClr val="accent1"/>
            </a:solidFill>
          </a:ln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sz="1350">
              <a:solidFill>
                <a:schemeClr val="tx1"/>
              </a:solidFill>
            </a:endParaRPr>
          </a:p>
        </p:txBody>
      </p:sp>
      <p:sp>
        <p:nvSpPr>
          <p:cNvPr id="23" name="Стрелка углом 22"/>
          <p:cNvSpPr/>
          <p:nvPr/>
        </p:nvSpPr>
        <p:spPr>
          <a:xfrm rot="5400000" flipH="1">
            <a:off x="4013525" y="2801874"/>
            <a:ext cx="432000" cy="2149688"/>
          </a:xfrm>
          <a:prstGeom prst="bentArrow">
            <a:avLst>
              <a:gd name="adj1" fmla="val 27464"/>
              <a:gd name="adj2" fmla="val 25000"/>
              <a:gd name="adj3" fmla="val 25000"/>
              <a:gd name="adj4" fmla="val 43750"/>
            </a:avLst>
          </a:prstGeom>
          <a:ln>
            <a:solidFill>
              <a:schemeClr val="accent1"/>
            </a:solidFill>
          </a:ln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sz="1350">
              <a:solidFill>
                <a:schemeClr val="tx1"/>
              </a:solidFill>
            </a:endParaRPr>
          </a:p>
        </p:txBody>
      </p:sp>
      <p:sp>
        <p:nvSpPr>
          <p:cNvPr id="8" name="Заголовок 7"/>
          <p:cNvSpPr>
            <a:spLocks noGrp="1"/>
          </p:cNvSpPr>
          <p:nvPr>
            <p:ph type="title"/>
          </p:nvPr>
        </p:nvSpPr>
        <p:spPr>
          <a:xfrm>
            <a:off x="188119" y="571977"/>
            <a:ext cx="8784000" cy="841132"/>
          </a:xfrm>
        </p:spPr>
        <p:txBody>
          <a:bodyPr>
            <a:normAutofit fontScale="90000"/>
          </a:bodyPr>
          <a:lstStyle/>
          <a:p>
            <a:pPr algn="ctr"/>
            <a:r>
              <a:rPr lang="ru-RU" dirty="0"/>
              <a:t>Обработка </a:t>
            </a:r>
            <a:r>
              <a:rPr lang="ru-RU" dirty="0" smtClean="0"/>
              <a:t>проведения</a:t>
            </a:r>
            <a:br>
              <a:rPr lang="ru-RU" dirty="0" smtClean="0"/>
            </a:br>
            <a:r>
              <a:rPr lang="ru-RU" dirty="0" smtClean="0"/>
              <a:t>(начало)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27466976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Скругленный прямоугольник 25"/>
          <p:cNvSpPr/>
          <p:nvPr/>
        </p:nvSpPr>
        <p:spPr>
          <a:xfrm>
            <a:off x="6602472" y="2250506"/>
            <a:ext cx="1458227" cy="594000"/>
          </a:xfrm>
          <a:prstGeom prst="round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350" dirty="0"/>
              <a:t>Набор записей по регистру </a:t>
            </a:r>
            <a:r>
              <a:rPr lang="en-US" sz="1350" dirty="0"/>
              <a:t>N</a:t>
            </a:r>
            <a:endParaRPr lang="ru-RU" sz="1350" dirty="0"/>
          </a:p>
        </p:txBody>
      </p:sp>
      <p:sp>
        <p:nvSpPr>
          <p:cNvPr id="5" name="Скругленный прямоугольник 4"/>
          <p:cNvSpPr/>
          <p:nvPr/>
        </p:nvSpPr>
        <p:spPr>
          <a:xfrm>
            <a:off x="661087" y="4336783"/>
            <a:ext cx="7951573" cy="1481705"/>
          </a:xfrm>
          <a:prstGeom prst="roundRect">
            <a:avLst/>
          </a:prstGeom>
          <a:noFill/>
          <a:ln w="38100">
            <a:solidFill>
              <a:schemeClr val="accent5">
                <a:lumMod val="50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sz="1350"/>
          </a:p>
        </p:txBody>
      </p:sp>
      <p:sp>
        <p:nvSpPr>
          <p:cNvPr id="6" name="Скругленный прямоугольник 5"/>
          <p:cNvSpPr/>
          <p:nvPr/>
        </p:nvSpPr>
        <p:spPr>
          <a:xfrm>
            <a:off x="628650" y="1975537"/>
            <a:ext cx="7984010" cy="2231305"/>
          </a:xfrm>
          <a:prstGeom prst="roundRect">
            <a:avLst/>
          </a:prstGeom>
          <a:noFill/>
          <a:ln w="38100">
            <a:solidFill>
              <a:schemeClr val="accent6">
                <a:shade val="50000"/>
              </a:schemeClr>
            </a:solidFill>
            <a:prstDash val="dash"/>
          </a:ln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sz="1350"/>
          </a:p>
        </p:txBody>
      </p:sp>
      <p:sp>
        <p:nvSpPr>
          <p:cNvPr id="2" name="Овал 1"/>
          <p:cNvSpPr/>
          <p:nvPr/>
        </p:nvSpPr>
        <p:spPr>
          <a:xfrm>
            <a:off x="772429" y="2532046"/>
            <a:ext cx="1739766" cy="555859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350" dirty="0"/>
              <a:t>Документ</a:t>
            </a:r>
            <a:br>
              <a:rPr lang="ru-RU" sz="1350" dirty="0"/>
            </a:br>
            <a:r>
              <a:rPr lang="ru-RU" sz="1350" dirty="0"/>
              <a:t>Объект </a:t>
            </a:r>
          </a:p>
        </p:txBody>
      </p:sp>
      <p:graphicFrame>
        <p:nvGraphicFramePr>
          <p:cNvPr id="3" name="Таблица 2"/>
          <p:cNvGraphicFramePr>
            <a:graphicFrameLocks noGrp="1"/>
          </p:cNvGraphicFramePr>
          <p:nvPr/>
        </p:nvGraphicFramePr>
        <p:xfrm>
          <a:off x="1141397" y="4510111"/>
          <a:ext cx="1442987" cy="629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553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538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207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4860">
                <a:tc>
                  <a:txBody>
                    <a:bodyPr/>
                    <a:lstStyle/>
                    <a:p>
                      <a:r>
                        <a:rPr lang="ru-RU" sz="1000" dirty="0"/>
                        <a:t>Ссылка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000" dirty="0"/>
                        <a:t>…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000" dirty="0"/>
                        <a:t>…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4860">
                <a:tc>
                  <a:txBody>
                    <a:bodyPr/>
                    <a:lstStyle/>
                    <a:p>
                      <a:r>
                        <a:rPr lang="en-US" sz="1000" dirty="0"/>
                        <a:t>&lt;</a:t>
                      </a:r>
                      <a:r>
                        <a:rPr lang="ru-RU" sz="1000" dirty="0"/>
                        <a:t>Док1</a:t>
                      </a:r>
                      <a:r>
                        <a:rPr lang="en-US" sz="1000" dirty="0"/>
                        <a:t>&gt;</a:t>
                      </a:r>
                      <a:endParaRPr lang="ru-RU" sz="1000" dirty="0"/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000" dirty="0"/>
                        <a:t>…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000" dirty="0"/>
                        <a:t>…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9" name="Скругленный прямоугольник 8"/>
          <p:cNvSpPr/>
          <p:nvPr/>
        </p:nvSpPr>
        <p:spPr>
          <a:xfrm>
            <a:off x="2570548" y="2250505"/>
            <a:ext cx="1458227" cy="1284974"/>
          </a:xfrm>
          <a:prstGeom prst="round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350" dirty="0"/>
              <a:t>Набор записей по регистру 1</a:t>
            </a:r>
          </a:p>
        </p:txBody>
      </p:sp>
      <p:sp>
        <p:nvSpPr>
          <p:cNvPr id="11" name="Скругленный прямоугольник 10"/>
          <p:cNvSpPr/>
          <p:nvPr/>
        </p:nvSpPr>
        <p:spPr>
          <a:xfrm>
            <a:off x="4383081" y="2250505"/>
            <a:ext cx="1458227" cy="128497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350" dirty="0"/>
              <a:t>Набор записей по регистру 2</a:t>
            </a:r>
          </a:p>
        </p:txBody>
      </p:sp>
      <p:sp>
        <p:nvSpPr>
          <p:cNvPr id="13" name="Блок-схема: узел 12"/>
          <p:cNvSpPr/>
          <p:nvPr/>
        </p:nvSpPr>
        <p:spPr>
          <a:xfrm>
            <a:off x="6105967" y="2808170"/>
            <a:ext cx="173255" cy="184084"/>
          </a:xfrm>
          <a:prstGeom prst="flowChartConnector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sz="1350"/>
          </a:p>
        </p:txBody>
      </p:sp>
      <p:sp>
        <p:nvSpPr>
          <p:cNvPr id="14" name="Блок-схема: узел 13"/>
          <p:cNvSpPr/>
          <p:nvPr/>
        </p:nvSpPr>
        <p:spPr>
          <a:xfrm>
            <a:off x="6335168" y="2808170"/>
            <a:ext cx="173255" cy="184084"/>
          </a:xfrm>
          <a:prstGeom prst="flowChartConnector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sz="1350"/>
          </a:p>
        </p:txBody>
      </p:sp>
      <p:sp>
        <p:nvSpPr>
          <p:cNvPr id="15" name="Блок-схема: узел 14"/>
          <p:cNvSpPr/>
          <p:nvPr/>
        </p:nvSpPr>
        <p:spPr>
          <a:xfrm>
            <a:off x="5864132" y="2808169"/>
            <a:ext cx="173255" cy="184084"/>
          </a:xfrm>
          <a:prstGeom prst="flowChartConnector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sz="1350"/>
          </a:p>
        </p:txBody>
      </p:sp>
      <p:graphicFrame>
        <p:nvGraphicFramePr>
          <p:cNvPr id="17" name="Таблица 16"/>
          <p:cNvGraphicFramePr>
            <a:graphicFrameLocks noGrp="1"/>
          </p:cNvGraphicFramePr>
          <p:nvPr/>
        </p:nvGraphicFramePr>
        <p:xfrm>
          <a:off x="2974206" y="4510111"/>
          <a:ext cx="1442986" cy="62972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04674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213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410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4860">
                <a:tc>
                  <a:txBody>
                    <a:bodyPr/>
                    <a:lstStyle/>
                    <a:p>
                      <a:r>
                        <a:rPr lang="ru-RU" sz="1000" dirty="0"/>
                        <a:t>Регистратор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endParaRPr lang="ru-RU" sz="1000" dirty="0"/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endParaRPr lang="ru-RU" sz="1000" dirty="0"/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486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/>
                        <a:t>&lt;</a:t>
                      </a:r>
                      <a:r>
                        <a:rPr lang="ru-RU" sz="1000" dirty="0"/>
                        <a:t>Док1</a:t>
                      </a:r>
                      <a:r>
                        <a:rPr lang="en-US" sz="1000" dirty="0"/>
                        <a:t>&gt;</a:t>
                      </a:r>
                      <a:endParaRPr lang="ru-RU" sz="1000" dirty="0"/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000" dirty="0"/>
                        <a:t>…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000" dirty="0"/>
                        <a:t>…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20" name="Таблица 19"/>
          <p:cNvGraphicFramePr>
            <a:graphicFrameLocks noGrp="1"/>
          </p:cNvGraphicFramePr>
          <p:nvPr/>
        </p:nvGraphicFramePr>
        <p:xfrm>
          <a:off x="4838300" y="4510111"/>
          <a:ext cx="1442986" cy="62972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04674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213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410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4860">
                <a:tc>
                  <a:txBody>
                    <a:bodyPr/>
                    <a:lstStyle/>
                    <a:p>
                      <a:r>
                        <a:rPr lang="ru-RU" sz="1000" dirty="0"/>
                        <a:t>Регистратор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endParaRPr lang="ru-RU" sz="1000" dirty="0"/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endParaRPr lang="ru-RU" sz="1000" dirty="0"/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486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/>
                        <a:t>&lt;</a:t>
                      </a:r>
                      <a:r>
                        <a:rPr lang="ru-RU" sz="1000" dirty="0"/>
                        <a:t>Док1</a:t>
                      </a:r>
                      <a:r>
                        <a:rPr lang="en-US" sz="1000" dirty="0"/>
                        <a:t>&gt;</a:t>
                      </a:r>
                      <a:endParaRPr lang="ru-RU" sz="1000" dirty="0"/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000" dirty="0"/>
                        <a:t>…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000" dirty="0"/>
                        <a:t>…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21" name="Таблица 20"/>
          <p:cNvGraphicFramePr>
            <a:graphicFrameLocks noGrp="1"/>
          </p:cNvGraphicFramePr>
          <p:nvPr/>
        </p:nvGraphicFramePr>
        <p:xfrm>
          <a:off x="7098432" y="4510111"/>
          <a:ext cx="1442986" cy="629720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104674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213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410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4860">
                <a:tc>
                  <a:txBody>
                    <a:bodyPr/>
                    <a:lstStyle/>
                    <a:p>
                      <a:r>
                        <a:rPr lang="ru-RU" sz="1000" dirty="0"/>
                        <a:t>Регистратор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endParaRPr lang="ru-RU" sz="1000" dirty="0"/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endParaRPr lang="ru-RU" sz="1000" dirty="0"/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486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/>
                        <a:t>&lt;</a:t>
                      </a:r>
                      <a:r>
                        <a:rPr lang="ru-RU" sz="1000" dirty="0"/>
                        <a:t>Док1</a:t>
                      </a:r>
                      <a:r>
                        <a:rPr lang="en-US" sz="1000" dirty="0"/>
                        <a:t>&gt;</a:t>
                      </a:r>
                      <a:endParaRPr lang="ru-RU" sz="1000" dirty="0"/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000" dirty="0"/>
                        <a:t>…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000" dirty="0"/>
                        <a:t>…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7" name="Стрелка углом 6"/>
          <p:cNvSpPr/>
          <p:nvPr/>
        </p:nvSpPr>
        <p:spPr>
          <a:xfrm rot="5400000" flipH="1">
            <a:off x="2390040" y="3097072"/>
            <a:ext cx="432000" cy="1559292"/>
          </a:xfrm>
          <a:prstGeom prst="bentArrow">
            <a:avLst>
              <a:gd name="adj1" fmla="val 27464"/>
              <a:gd name="adj2" fmla="val 25000"/>
              <a:gd name="adj3" fmla="val 25000"/>
              <a:gd name="adj4" fmla="val 43750"/>
            </a:avLst>
          </a:prstGeom>
          <a:ln>
            <a:solidFill>
              <a:schemeClr val="accent1"/>
            </a:solidFill>
          </a:ln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sz="1350">
              <a:solidFill>
                <a:schemeClr val="tx1"/>
              </a:solidFill>
            </a:endParaRPr>
          </a:p>
        </p:txBody>
      </p:sp>
      <p:graphicFrame>
        <p:nvGraphicFramePr>
          <p:cNvPr id="18" name="Таблица 17"/>
          <p:cNvGraphicFramePr>
            <a:graphicFrameLocks noGrp="1"/>
          </p:cNvGraphicFramePr>
          <p:nvPr/>
        </p:nvGraphicFramePr>
        <p:xfrm>
          <a:off x="1141397" y="5140860"/>
          <a:ext cx="1442987" cy="314860"/>
        </p:xfrm>
        <a:graphic>
          <a:graphicData uri="http://schemas.openxmlformats.org/drawingml/2006/table">
            <a:tbl>
              <a:tblPr firstRow="1" bandRow="1">
                <a:tableStyleId>{BC89EF96-8CEA-46FF-86C4-4CE0E7609802}</a:tableStyleId>
              </a:tblPr>
              <a:tblGrid>
                <a:gridCol w="73553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538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207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4860">
                <a:tc>
                  <a:txBody>
                    <a:bodyPr/>
                    <a:lstStyle/>
                    <a:p>
                      <a:r>
                        <a:rPr lang="en-US" sz="1000" dirty="0"/>
                        <a:t>&lt;</a:t>
                      </a:r>
                      <a:r>
                        <a:rPr lang="ru-RU" sz="1000" dirty="0"/>
                        <a:t>Док2</a:t>
                      </a:r>
                      <a:r>
                        <a:rPr lang="en-US" sz="1000" dirty="0"/>
                        <a:t>&gt;</a:t>
                      </a:r>
                      <a:endParaRPr lang="ru-RU" sz="1000" dirty="0"/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000" dirty="0"/>
                        <a:t>…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000" dirty="0"/>
                        <a:t>…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19" name="Стрелка углом 18"/>
          <p:cNvSpPr/>
          <p:nvPr/>
        </p:nvSpPr>
        <p:spPr>
          <a:xfrm rot="10800000" flipH="1">
            <a:off x="1564077" y="3087905"/>
            <a:ext cx="432000" cy="1006227"/>
          </a:xfrm>
          <a:prstGeom prst="bentArrow">
            <a:avLst>
              <a:gd name="adj1" fmla="val 27464"/>
              <a:gd name="adj2" fmla="val 14178"/>
              <a:gd name="adj3" fmla="val 25000"/>
              <a:gd name="adj4" fmla="val 43750"/>
            </a:avLst>
          </a:prstGeom>
          <a:ln>
            <a:solidFill>
              <a:schemeClr val="accent1"/>
            </a:solidFill>
          </a:ln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sz="1350">
              <a:solidFill>
                <a:schemeClr val="tx1"/>
              </a:solidFill>
            </a:endParaRPr>
          </a:p>
        </p:txBody>
      </p:sp>
      <p:sp>
        <p:nvSpPr>
          <p:cNvPr id="23" name="Стрелка углом 22"/>
          <p:cNvSpPr/>
          <p:nvPr/>
        </p:nvSpPr>
        <p:spPr>
          <a:xfrm rot="5400000" flipH="1">
            <a:off x="4013525" y="2801874"/>
            <a:ext cx="432000" cy="2149688"/>
          </a:xfrm>
          <a:prstGeom prst="bentArrow">
            <a:avLst>
              <a:gd name="adj1" fmla="val 27464"/>
              <a:gd name="adj2" fmla="val 25000"/>
              <a:gd name="adj3" fmla="val 25000"/>
              <a:gd name="adj4" fmla="val 43750"/>
            </a:avLst>
          </a:prstGeom>
          <a:ln>
            <a:solidFill>
              <a:schemeClr val="accent1"/>
            </a:solidFill>
          </a:ln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sz="1350">
              <a:solidFill>
                <a:schemeClr val="tx1"/>
              </a:solidFill>
            </a:endParaRPr>
          </a:p>
        </p:txBody>
      </p:sp>
      <p:sp>
        <p:nvSpPr>
          <p:cNvPr id="8" name="Заголовок 7"/>
          <p:cNvSpPr>
            <a:spLocks noGrp="1"/>
          </p:cNvSpPr>
          <p:nvPr>
            <p:ph type="title"/>
          </p:nvPr>
        </p:nvSpPr>
        <p:spPr>
          <a:xfrm>
            <a:off x="188119" y="571977"/>
            <a:ext cx="8784000" cy="830748"/>
          </a:xfrm>
        </p:spPr>
        <p:txBody>
          <a:bodyPr>
            <a:normAutofit fontScale="90000"/>
          </a:bodyPr>
          <a:lstStyle/>
          <a:p>
            <a:pPr algn="ctr"/>
            <a:r>
              <a:rPr lang="ru-RU" dirty="0"/>
              <a:t>Обработка </a:t>
            </a:r>
            <a:r>
              <a:rPr lang="ru-RU" dirty="0" smtClean="0"/>
              <a:t>проведения.</a:t>
            </a:r>
            <a:br>
              <a:rPr lang="ru-RU" dirty="0" smtClean="0"/>
            </a:br>
            <a:r>
              <a:rPr lang="ru-RU" dirty="0" smtClean="0"/>
              <a:t>(Заполнение наборов записей)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63814769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/>
          <p:cNvSpPr>
            <a:spLocks noGrp="1"/>
          </p:cNvSpPr>
          <p:nvPr>
            <p:ph type="title"/>
          </p:nvPr>
        </p:nvSpPr>
        <p:spPr>
          <a:xfrm>
            <a:off x="188119" y="571977"/>
            <a:ext cx="8784000" cy="841132"/>
          </a:xfrm>
        </p:spPr>
        <p:txBody>
          <a:bodyPr>
            <a:normAutofit fontScale="90000"/>
          </a:bodyPr>
          <a:lstStyle/>
          <a:p>
            <a:pPr algn="ctr"/>
            <a:r>
              <a:rPr lang="ru-RU" dirty="0"/>
              <a:t>Окончание </a:t>
            </a:r>
            <a:r>
              <a:rPr lang="ru-RU" dirty="0" smtClean="0"/>
              <a:t>обработки проведения.</a:t>
            </a:r>
            <a:br>
              <a:rPr lang="ru-RU" dirty="0" smtClean="0"/>
            </a:br>
            <a:r>
              <a:rPr lang="ru-RU" dirty="0" smtClean="0"/>
              <a:t>(Запись помеченных наборов записей)</a:t>
            </a:r>
            <a:endParaRPr lang="ru-RU" dirty="0"/>
          </a:p>
        </p:txBody>
      </p:sp>
      <p:sp>
        <p:nvSpPr>
          <p:cNvPr id="5" name="Скругленный прямоугольник 4"/>
          <p:cNvSpPr/>
          <p:nvPr/>
        </p:nvSpPr>
        <p:spPr>
          <a:xfrm>
            <a:off x="661087" y="4336783"/>
            <a:ext cx="7951573" cy="1481705"/>
          </a:xfrm>
          <a:prstGeom prst="roundRect">
            <a:avLst/>
          </a:prstGeom>
          <a:noFill/>
          <a:ln w="38100">
            <a:solidFill>
              <a:schemeClr val="accent5">
                <a:lumMod val="50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sz="1350"/>
          </a:p>
        </p:txBody>
      </p:sp>
      <p:sp>
        <p:nvSpPr>
          <p:cNvPr id="6" name="Скругленный прямоугольник 5"/>
          <p:cNvSpPr/>
          <p:nvPr/>
        </p:nvSpPr>
        <p:spPr>
          <a:xfrm>
            <a:off x="628650" y="2173018"/>
            <a:ext cx="7984010" cy="2033824"/>
          </a:xfrm>
          <a:prstGeom prst="roundRect">
            <a:avLst/>
          </a:prstGeom>
          <a:noFill/>
          <a:ln w="38100">
            <a:solidFill>
              <a:schemeClr val="accent6">
                <a:shade val="50000"/>
              </a:schemeClr>
            </a:solidFill>
            <a:prstDash val="dash"/>
          </a:ln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sz="1350"/>
          </a:p>
        </p:txBody>
      </p:sp>
      <p:sp>
        <p:nvSpPr>
          <p:cNvPr id="2" name="Овал 1"/>
          <p:cNvSpPr/>
          <p:nvPr/>
        </p:nvSpPr>
        <p:spPr>
          <a:xfrm>
            <a:off x="772429" y="2532046"/>
            <a:ext cx="1739766" cy="555859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350" dirty="0"/>
              <a:t>Документ</a:t>
            </a:r>
            <a:br>
              <a:rPr lang="ru-RU" sz="1350" dirty="0"/>
            </a:br>
            <a:r>
              <a:rPr lang="ru-RU" sz="1350" dirty="0"/>
              <a:t>Объект </a:t>
            </a:r>
          </a:p>
        </p:txBody>
      </p:sp>
      <p:graphicFrame>
        <p:nvGraphicFramePr>
          <p:cNvPr id="3" name="Таблица 2"/>
          <p:cNvGraphicFramePr>
            <a:graphicFrameLocks noGrp="1"/>
          </p:cNvGraphicFramePr>
          <p:nvPr/>
        </p:nvGraphicFramePr>
        <p:xfrm>
          <a:off x="1141397" y="4510111"/>
          <a:ext cx="1442987" cy="629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553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538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207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4860">
                <a:tc>
                  <a:txBody>
                    <a:bodyPr/>
                    <a:lstStyle/>
                    <a:p>
                      <a:r>
                        <a:rPr lang="ru-RU" sz="1000" dirty="0"/>
                        <a:t>Ссылка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000" dirty="0"/>
                        <a:t>…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000" dirty="0"/>
                        <a:t>…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4860">
                <a:tc>
                  <a:txBody>
                    <a:bodyPr/>
                    <a:lstStyle/>
                    <a:p>
                      <a:r>
                        <a:rPr lang="en-US" sz="1000" dirty="0"/>
                        <a:t>&lt;</a:t>
                      </a:r>
                      <a:r>
                        <a:rPr lang="ru-RU" sz="1000" dirty="0"/>
                        <a:t>Док1</a:t>
                      </a:r>
                      <a:r>
                        <a:rPr lang="en-US" sz="1000" dirty="0"/>
                        <a:t>&gt;</a:t>
                      </a:r>
                      <a:endParaRPr lang="ru-RU" sz="1000" dirty="0"/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000" dirty="0"/>
                        <a:t>…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000" dirty="0"/>
                        <a:t>…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9" name="Скругленный прямоугольник 8"/>
          <p:cNvSpPr/>
          <p:nvPr/>
        </p:nvSpPr>
        <p:spPr>
          <a:xfrm>
            <a:off x="2570548" y="2250505"/>
            <a:ext cx="1458227" cy="1284974"/>
          </a:xfrm>
          <a:prstGeom prst="round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350" dirty="0"/>
              <a:t>Набор записей по регистру 1</a:t>
            </a:r>
          </a:p>
        </p:txBody>
      </p:sp>
      <p:sp>
        <p:nvSpPr>
          <p:cNvPr id="11" name="Скругленный прямоугольник 10"/>
          <p:cNvSpPr/>
          <p:nvPr/>
        </p:nvSpPr>
        <p:spPr>
          <a:xfrm>
            <a:off x="4383081" y="2250505"/>
            <a:ext cx="1458227" cy="128497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350" dirty="0"/>
              <a:t>Набор записей по регистру 2</a:t>
            </a:r>
          </a:p>
        </p:txBody>
      </p:sp>
      <p:sp>
        <p:nvSpPr>
          <p:cNvPr id="13" name="Блок-схема: узел 12"/>
          <p:cNvSpPr/>
          <p:nvPr/>
        </p:nvSpPr>
        <p:spPr>
          <a:xfrm>
            <a:off x="6105967" y="2808170"/>
            <a:ext cx="173255" cy="184084"/>
          </a:xfrm>
          <a:prstGeom prst="flowChartConnector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sz="1350"/>
          </a:p>
        </p:txBody>
      </p:sp>
      <p:sp>
        <p:nvSpPr>
          <p:cNvPr id="14" name="Блок-схема: узел 13"/>
          <p:cNvSpPr/>
          <p:nvPr/>
        </p:nvSpPr>
        <p:spPr>
          <a:xfrm>
            <a:off x="6335168" y="2808170"/>
            <a:ext cx="173255" cy="184084"/>
          </a:xfrm>
          <a:prstGeom prst="flowChartConnector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sz="1350"/>
          </a:p>
        </p:txBody>
      </p:sp>
      <p:sp>
        <p:nvSpPr>
          <p:cNvPr id="15" name="Блок-схема: узел 14"/>
          <p:cNvSpPr/>
          <p:nvPr/>
        </p:nvSpPr>
        <p:spPr>
          <a:xfrm>
            <a:off x="5864132" y="2808169"/>
            <a:ext cx="173255" cy="184084"/>
          </a:xfrm>
          <a:prstGeom prst="flowChartConnector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sz="1350"/>
          </a:p>
        </p:txBody>
      </p:sp>
      <p:graphicFrame>
        <p:nvGraphicFramePr>
          <p:cNvPr id="17" name="Таблица 16"/>
          <p:cNvGraphicFramePr>
            <a:graphicFrameLocks noGrp="1"/>
          </p:cNvGraphicFramePr>
          <p:nvPr/>
        </p:nvGraphicFramePr>
        <p:xfrm>
          <a:off x="2974206" y="4510111"/>
          <a:ext cx="1442986" cy="62972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04674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213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410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4860">
                <a:tc>
                  <a:txBody>
                    <a:bodyPr/>
                    <a:lstStyle/>
                    <a:p>
                      <a:r>
                        <a:rPr lang="ru-RU" sz="1000" dirty="0"/>
                        <a:t>Регистратор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endParaRPr lang="ru-RU" sz="1000" dirty="0"/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endParaRPr lang="ru-RU" sz="1000" dirty="0"/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486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/>
                        <a:t>&lt;</a:t>
                      </a:r>
                      <a:r>
                        <a:rPr lang="ru-RU" sz="1000" dirty="0"/>
                        <a:t>Док1</a:t>
                      </a:r>
                      <a:r>
                        <a:rPr lang="en-US" sz="1000" dirty="0"/>
                        <a:t>&gt;</a:t>
                      </a:r>
                      <a:endParaRPr lang="ru-RU" sz="1000" dirty="0"/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000" dirty="0"/>
                        <a:t>…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000" dirty="0"/>
                        <a:t>…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20" name="Таблица 19"/>
          <p:cNvGraphicFramePr>
            <a:graphicFrameLocks noGrp="1"/>
          </p:cNvGraphicFramePr>
          <p:nvPr/>
        </p:nvGraphicFramePr>
        <p:xfrm>
          <a:off x="4838300" y="4510111"/>
          <a:ext cx="1442986" cy="62972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04674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213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410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4860">
                <a:tc>
                  <a:txBody>
                    <a:bodyPr/>
                    <a:lstStyle/>
                    <a:p>
                      <a:r>
                        <a:rPr lang="ru-RU" sz="1000" dirty="0"/>
                        <a:t>Регистратор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endParaRPr lang="ru-RU" sz="1000" dirty="0"/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endParaRPr lang="ru-RU" sz="1000" dirty="0"/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486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/>
                        <a:t>&lt;</a:t>
                      </a:r>
                      <a:r>
                        <a:rPr lang="ru-RU" sz="1000" dirty="0"/>
                        <a:t>Док1</a:t>
                      </a:r>
                      <a:r>
                        <a:rPr lang="en-US" sz="1000" dirty="0"/>
                        <a:t>&gt;</a:t>
                      </a:r>
                      <a:endParaRPr lang="ru-RU" sz="1000" dirty="0"/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000" dirty="0"/>
                        <a:t>…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000" dirty="0"/>
                        <a:t>…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21" name="Таблица 20"/>
          <p:cNvGraphicFramePr>
            <a:graphicFrameLocks noGrp="1"/>
          </p:cNvGraphicFramePr>
          <p:nvPr/>
        </p:nvGraphicFramePr>
        <p:xfrm>
          <a:off x="7098432" y="4510111"/>
          <a:ext cx="1442986" cy="629720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104674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213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410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4860">
                <a:tc>
                  <a:txBody>
                    <a:bodyPr/>
                    <a:lstStyle/>
                    <a:p>
                      <a:r>
                        <a:rPr lang="ru-RU" sz="1000" dirty="0"/>
                        <a:t>Регистратор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endParaRPr lang="ru-RU" sz="1000" dirty="0"/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endParaRPr lang="ru-RU" sz="1000" dirty="0"/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486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/>
                        <a:t>&lt;</a:t>
                      </a:r>
                      <a:r>
                        <a:rPr lang="ru-RU" sz="1000" dirty="0"/>
                        <a:t>Док1</a:t>
                      </a:r>
                      <a:r>
                        <a:rPr lang="en-US" sz="1000" dirty="0"/>
                        <a:t>&gt;</a:t>
                      </a:r>
                      <a:endParaRPr lang="ru-RU" sz="1000" dirty="0"/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000" dirty="0"/>
                        <a:t>…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000" dirty="0"/>
                        <a:t>…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18" name="Таблица 17"/>
          <p:cNvGraphicFramePr>
            <a:graphicFrameLocks noGrp="1"/>
          </p:cNvGraphicFramePr>
          <p:nvPr/>
        </p:nvGraphicFramePr>
        <p:xfrm>
          <a:off x="1141397" y="5140860"/>
          <a:ext cx="1442987" cy="314860"/>
        </p:xfrm>
        <a:graphic>
          <a:graphicData uri="http://schemas.openxmlformats.org/drawingml/2006/table">
            <a:tbl>
              <a:tblPr firstRow="1" bandRow="1">
                <a:tableStyleId>{BC89EF96-8CEA-46FF-86C4-4CE0E7609802}</a:tableStyleId>
              </a:tblPr>
              <a:tblGrid>
                <a:gridCol w="73553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538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207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4860">
                <a:tc>
                  <a:txBody>
                    <a:bodyPr/>
                    <a:lstStyle/>
                    <a:p>
                      <a:r>
                        <a:rPr lang="en-US" sz="1000" dirty="0"/>
                        <a:t>&lt;</a:t>
                      </a:r>
                      <a:r>
                        <a:rPr lang="ru-RU" sz="1000" dirty="0"/>
                        <a:t>Док2</a:t>
                      </a:r>
                      <a:r>
                        <a:rPr lang="en-US" sz="1000" dirty="0"/>
                        <a:t>&gt;</a:t>
                      </a:r>
                      <a:endParaRPr lang="ru-RU" sz="1000" dirty="0"/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000" dirty="0"/>
                        <a:t>…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000" dirty="0"/>
                        <a:t>…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9" name="Таблица 18"/>
          <p:cNvGraphicFramePr>
            <a:graphicFrameLocks noGrp="1"/>
          </p:cNvGraphicFramePr>
          <p:nvPr/>
        </p:nvGraphicFramePr>
        <p:xfrm>
          <a:off x="2989447" y="5133641"/>
          <a:ext cx="1442986" cy="314860"/>
        </p:xfrm>
        <a:graphic>
          <a:graphicData uri="http://schemas.openxmlformats.org/drawingml/2006/table">
            <a:tbl>
              <a:tblPr firstRow="1" bandRow="1">
                <a:tableStyleId>{E8B1032C-EA38-4F05-BA0D-38AFFFC7BED3}</a:tableStyleId>
              </a:tblPr>
              <a:tblGrid>
                <a:gridCol w="104674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213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410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486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/>
                        <a:t>&lt;</a:t>
                      </a:r>
                      <a:r>
                        <a:rPr lang="ru-RU" sz="1400" kern="1200" dirty="0"/>
                        <a:t>Док2</a:t>
                      </a:r>
                      <a:r>
                        <a:rPr lang="en-US" sz="1400" kern="1200" dirty="0"/>
                        <a:t>&gt;</a:t>
                      </a:r>
                      <a:endParaRPr lang="ru-RU" sz="1400" b="1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000" dirty="0"/>
                        <a:t>…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000" dirty="0"/>
                        <a:t>…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23" name="Таблица 22"/>
          <p:cNvGraphicFramePr>
            <a:graphicFrameLocks noGrp="1"/>
          </p:cNvGraphicFramePr>
          <p:nvPr/>
        </p:nvGraphicFramePr>
        <p:xfrm>
          <a:off x="4845921" y="5133641"/>
          <a:ext cx="1442986" cy="314860"/>
        </p:xfrm>
        <a:graphic>
          <a:graphicData uri="http://schemas.openxmlformats.org/drawingml/2006/table">
            <a:tbl>
              <a:tblPr firstRow="1" bandRow="1">
                <a:tableStyleId>{5DA37D80-6434-44D0-A028-1B22A696006F}</a:tableStyleId>
              </a:tblPr>
              <a:tblGrid>
                <a:gridCol w="104674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213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410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486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/>
                        <a:t>&lt;</a:t>
                      </a:r>
                      <a:r>
                        <a:rPr lang="ru-RU" sz="1400" kern="1200" dirty="0"/>
                        <a:t>Док2</a:t>
                      </a:r>
                      <a:r>
                        <a:rPr lang="en-US" sz="1400" kern="1200" dirty="0"/>
                        <a:t>&gt;</a:t>
                      </a:r>
                      <a:endParaRPr lang="ru-RU" sz="1400" b="1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000" dirty="0"/>
                        <a:t>…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000" dirty="0"/>
                        <a:t>…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25" name="Стрелка углом 24"/>
          <p:cNvSpPr/>
          <p:nvPr/>
        </p:nvSpPr>
        <p:spPr>
          <a:xfrm rot="10800000" flipH="1">
            <a:off x="2698080" y="3535479"/>
            <a:ext cx="292921" cy="1822784"/>
          </a:xfrm>
          <a:prstGeom prst="bentArrow">
            <a:avLst>
              <a:gd name="adj1" fmla="val 27464"/>
              <a:gd name="adj2" fmla="val 25000"/>
              <a:gd name="adj3" fmla="val 25000"/>
              <a:gd name="adj4" fmla="val 43750"/>
            </a:avLst>
          </a:prstGeom>
          <a:ln/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sz="1350">
              <a:solidFill>
                <a:schemeClr val="tx1"/>
              </a:solidFill>
            </a:endParaRPr>
          </a:p>
        </p:txBody>
      </p:sp>
      <p:sp>
        <p:nvSpPr>
          <p:cNvPr id="26" name="Стрелка углом 25"/>
          <p:cNvSpPr/>
          <p:nvPr/>
        </p:nvSpPr>
        <p:spPr>
          <a:xfrm rot="10800000" flipH="1">
            <a:off x="4537759" y="3535479"/>
            <a:ext cx="292921" cy="1822783"/>
          </a:xfrm>
          <a:prstGeom prst="bentArrow">
            <a:avLst>
              <a:gd name="adj1" fmla="val 27464"/>
              <a:gd name="adj2" fmla="val 25000"/>
              <a:gd name="adj3" fmla="val 25000"/>
              <a:gd name="adj4" fmla="val 43750"/>
            </a:avLst>
          </a:prstGeom>
          <a:ln/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sz="1350">
              <a:solidFill>
                <a:schemeClr val="tx1"/>
              </a:solidFill>
            </a:endParaRPr>
          </a:p>
        </p:txBody>
      </p:sp>
      <p:sp>
        <p:nvSpPr>
          <p:cNvPr id="28" name="Скругленный прямоугольник 27"/>
          <p:cNvSpPr/>
          <p:nvPr/>
        </p:nvSpPr>
        <p:spPr>
          <a:xfrm>
            <a:off x="6602472" y="2250506"/>
            <a:ext cx="1458227" cy="594000"/>
          </a:xfrm>
          <a:prstGeom prst="round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350" dirty="0"/>
              <a:t>Набор записей по регистру </a:t>
            </a:r>
            <a:r>
              <a:rPr lang="en-US" sz="1350" dirty="0"/>
              <a:t>N</a:t>
            </a:r>
            <a:endParaRPr lang="ru-RU" sz="1350" dirty="0"/>
          </a:p>
        </p:txBody>
      </p:sp>
      <p:sp>
        <p:nvSpPr>
          <p:cNvPr id="7" name="TextBox 6"/>
          <p:cNvSpPr txBox="1"/>
          <p:nvPr/>
        </p:nvSpPr>
        <p:spPr>
          <a:xfrm>
            <a:off x="576466" y="1831159"/>
            <a:ext cx="23153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err="1" smtClean="0">
                <a:solidFill>
                  <a:srgbClr val="0070C0"/>
                </a:solidFill>
              </a:rPr>
              <a:t>Движения</a:t>
            </a:r>
            <a:r>
              <a:rPr lang="ru-RU" dirty="0" err="1" smtClean="0">
                <a:solidFill>
                  <a:srgbClr val="FF0000"/>
                </a:solidFill>
              </a:rPr>
              <a:t>.</a:t>
            </a:r>
            <a:r>
              <a:rPr lang="ru-RU" dirty="0" err="1" smtClean="0">
                <a:solidFill>
                  <a:srgbClr val="0070C0"/>
                </a:solidFill>
              </a:rPr>
              <a:t>Записать</a:t>
            </a:r>
            <a:r>
              <a:rPr lang="ru-RU" dirty="0" smtClean="0">
                <a:solidFill>
                  <a:srgbClr val="FF0000"/>
                </a:solidFill>
              </a:rPr>
              <a:t>();</a:t>
            </a:r>
            <a:endParaRPr lang="ru-RU" dirty="0">
              <a:solidFill>
                <a:srgbClr val="FF0000"/>
              </a:solidFill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576466" y="1331886"/>
            <a:ext cx="45096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>
                <a:solidFill>
                  <a:srgbClr val="0070C0"/>
                </a:solidFill>
              </a:rPr>
              <a:t>Движения</a:t>
            </a:r>
            <a:r>
              <a:rPr lang="ru-RU" dirty="0" smtClean="0">
                <a:solidFill>
                  <a:srgbClr val="FF0000"/>
                </a:solidFill>
              </a:rPr>
              <a:t>.</a:t>
            </a:r>
            <a:r>
              <a:rPr lang="ru-RU" dirty="0" smtClean="0">
                <a:solidFill>
                  <a:srgbClr val="0070C0"/>
                </a:solidFill>
              </a:rPr>
              <a:t>Регистр1.Записывать </a:t>
            </a:r>
            <a:r>
              <a:rPr lang="ru-RU" dirty="0" smtClean="0">
                <a:solidFill>
                  <a:srgbClr val="FF0000"/>
                </a:solidFill>
              </a:rPr>
              <a:t>= ИСТИНА;</a:t>
            </a:r>
            <a:endParaRPr lang="ru-RU" dirty="0">
              <a:solidFill>
                <a:srgbClr val="FF0000"/>
              </a:solidFill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576466" y="1594039"/>
            <a:ext cx="45096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>
                <a:solidFill>
                  <a:srgbClr val="0070C0"/>
                </a:solidFill>
              </a:rPr>
              <a:t>Движения</a:t>
            </a:r>
            <a:r>
              <a:rPr lang="ru-RU" dirty="0" smtClean="0">
                <a:solidFill>
                  <a:srgbClr val="FF0000"/>
                </a:solidFill>
              </a:rPr>
              <a:t>.</a:t>
            </a:r>
            <a:r>
              <a:rPr lang="ru-RU" dirty="0" smtClean="0">
                <a:solidFill>
                  <a:srgbClr val="0070C0"/>
                </a:solidFill>
              </a:rPr>
              <a:t>Регистр2.Записывать </a:t>
            </a:r>
            <a:r>
              <a:rPr lang="ru-RU" dirty="0" smtClean="0">
                <a:solidFill>
                  <a:srgbClr val="FF0000"/>
                </a:solidFill>
              </a:rPr>
              <a:t>= ИСТИНА;</a:t>
            </a:r>
            <a:endParaRPr lang="ru-RU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3466645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ru-RU" dirty="0"/>
              <a:t>Состояние после проведения</a:t>
            </a:r>
          </a:p>
        </p:txBody>
      </p:sp>
      <p:sp>
        <p:nvSpPr>
          <p:cNvPr id="5" name="Скругленный прямоугольник 4"/>
          <p:cNvSpPr/>
          <p:nvPr/>
        </p:nvSpPr>
        <p:spPr>
          <a:xfrm>
            <a:off x="661087" y="4336783"/>
            <a:ext cx="7951573" cy="1481705"/>
          </a:xfrm>
          <a:prstGeom prst="roundRect">
            <a:avLst/>
          </a:prstGeom>
          <a:noFill/>
          <a:ln w="38100">
            <a:solidFill>
              <a:schemeClr val="accent5">
                <a:lumMod val="50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sz="1350"/>
          </a:p>
        </p:txBody>
      </p:sp>
      <p:sp>
        <p:nvSpPr>
          <p:cNvPr id="6" name="Скругленный прямоугольник 5"/>
          <p:cNvSpPr/>
          <p:nvPr/>
        </p:nvSpPr>
        <p:spPr>
          <a:xfrm>
            <a:off x="628650" y="1975537"/>
            <a:ext cx="7984010" cy="2231305"/>
          </a:xfrm>
          <a:prstGeom prst="roundRect">
            <a:avLst/>
          </a:prstGeom>
          <a:noFill/>
          <a:ln w="38100">
            <a:solidFill>
              <a:schemeClr val="accent6">
                <a:shade val="50000"/>
              </a:schemeClr>
            </a:solidFill>
            <a:prstDash val="dash"/>
          </a:ln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sz="1350"/>
          </a:p>
        </p:txBody>
      </p:sp>
      <p:sp>
        <p:nvSpPr>
          <p:cNvPr id="2" name="Овал 1"/>
          <p:cNvSpPr/>
          <p:nvPr/>
        </p:nvSpPr>
        <p:spPr>
          <a:xfrm>
            <a:off x="772429" y="2532046"/>
            <a:ext cx="1739766" cy="555859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350" dirty="0"/>
              <a:t>Документ</a:t>
            </a:r>
            <a:br>
              <a:rPr lang="ru-RU" sz="1350" dirty="0"/>
            </a:br>
            <a:r>
              <a:rPr lang="ru-RU" sz="1350" dirty="0"/>
              <a:t>Объект </a:t>
            </a:r>
          </a:p>
        </p:txBody>
      </p:sp>
      <p:graphicFrame>
        <p:nvGraphicFramePr>
          <p:cNvPr id="3" name="Таблица 2"/>
          <p:cNvGraphicFramePr>
            <a:graphicFrameLocks noGrp="1"/>
          </p:cNvGraphicFramePr>
          <p:nvPr/>
        </p:nvGraphicFramePr>
        <p:xfrm>
          <a:off x="1141397" y="4510111"/>
          <a:ext cx="1442987" cy="629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553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538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207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4860">
                <a:tc>
                  <a:txBody>
                    <a:bodyPr/>
                    <a:lstStyle/>
                    <a:p>
                      <a:r>
                        <a:rPr lang="ru-RU" sz="1000" dirty="0"/>
                        <a:t>Ссылка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000" dirty="0"/>
                        <a:t>…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000" dirty="0"/>
                        <a:t>…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4860">
                <a:tc>
                  <a:txBody>
                    <a:bodyPr/>
                    <a:lstStyle/>
                    <a:p>
                      <a:r>
                        <a:rPr lang="en-US" sz="1000" dirty="0"/>
                        <a:t>&lt;</a:t>
                      </a:r>
                      <a:r>
                        <a:rPr lang="ru-RU" sz="1000" dirty="0"/>
                        <a:t>Док1</a:t>
                      </a:r>
                      <a:r>
                        <a:rPr lang="en-US" sz="1000" dirty="0"/>
                        <a:t>&gt;</a:t>
                      </a:r>
                      <a:endParaRPr lang="ru-RU" sz="1000" dirty="0"/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000" dirty="0"/>
                        <a:t>…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000" dirty="0"/>
                        <a:t>…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9" name="Скругленный прямоугольник 8"/>
          <p:cNvSpPr/>
          <p:nvPr/>
        </p:nvSpPr>
        <p:spPr>
          <a:xfrm>
            <a:off x="2570548" y="2250505"/>
            <a:ext cx="1458227" cy="1284974"/>
          </a:xfrm>
          <a:prstGeom prst="round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350" dirty="0"/>
              <a:t>Набор записей по регистру 1</a:t>
            </a:r>
          </a:p>
        </p:txBody>
      </p:sp>
      <p:sp>
        <p:nvSpPr>
          <p:cNvPr id="11" name="Скругленный прямоугольник 10"/>
          <p:cNvSpPr/>
          <p:nvPr/>
        </p:nvSpPr>
        <p:spPr>
          <a:xfrm>
            <a:off x="4383081" y="2250505"/>
            <a:ext cx="1458227" cy="128497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350" dirty="0"/>
              <a:t>Набор записей по регистру 2</a:t>
            </a:r>
          </a:p>
        </p:txBody>
      </p:sp>
      <p:sp>
        <p:nvSpPr>
          <p:cNvPr id="13" name="Блок-схема: узел 12"/>
          <p:cNvSpPr/>
          <p:nvPr/>
        </p:nvSpPr>
        <p:spPr>
          <a:xfrm>
            <a:off x="6105967" y="2808170"/>
            <a:ext cx="173255" cy="184084"/>
          </a:xfrm>
          <a:prstGeom prst="flowChartConnector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sz="1350"/>
          </a:p>
        </p:txBody>
      </p:sp>
      <p:sp>
        <p:nvSpPr>
          <p:cNvPr id="14" name="Блок-схема: узел 13"/>
          <p:cNvSpPr/>
          <p:nvPr/>
        </p:nvSpPr>
        <p:spPr>
          <a:xfrm>
            <a:off x="6335168" y="2808170"/>
            <a:ext cx="173255" cy="184084"/>
          </a:xfrm>
          <a:prstGeom prst="flowChartConnector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sz="1350"/>
          </a:p>
        </p:txBody>
      </p:sp>
      <p:sp>
        <p:nvSpPr>
          <p:cNvPr id="15" name="Блок-схема: узел 14"/>
          <p:cNvSpPr/>
          <p:nvPr/>
        </p:nvSpPr>
        <p:spPr>
          <a:xfrm>
            <a:off x="5864132" y="2808169"/>
            <a:ext cx="173255" cy="184084"/>
          </a:xfrm>
          <a:prstGeom prst="flowChartConnector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sz="1350"/>
          </a:p>
        </p:txBody>
      </p:sp>
      <p:graphicFrame>
        <p:nvGraphicFramePr>
          <p:cNvPr id="17" name="Таблица 16"/>
          <p:cNvGraphicFramePr>
            <a:graphicFrameLocks noGrp="1"/>
          </p:cNvGraphicFramePr>
          <p:nvPr/>
        </p:nvGraphicFramePr>
        <p:xfrm>
          <a:off x="2974203" y="4510111"/>
          <a:ext cx="1442986" cy="62972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04674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213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410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4860">
                <a:tc>
                  <a:txBody>
                    <a:bodyPr/>
                    <a:lstStyle/>
                    <a:p>
                      <a:r>
                        <a:rPr lang="ru-RU" sz="1000" dirty="0"/>
                        <a:t>Регистратор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endParaRPr lang="ru-RU" sz="1000" dirty="0"/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endParaRPr lang="ru-RU" sz="1000" dirty="0"/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486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/>
                        <a:t>&lt;</a:t>
                      </a:r>
                      <a:r>
                        <a:rPr lang="ru-RU" sz="1000" dirty="0"/>
                        <a:t>Док1</a:t>
                      </a:r>
                      <a:r>
                        <a:rPr lang="en-US" sz="1000" dirty="0"/>
                        <a:t>&gt;</a:t>
                      </a:r>
                      <a:endParaRPr lang="ru-RU" sz="1000" dirty="0"/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000" dirty="0"/>
                        <a:t>…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000" dirty="0"/>
                        <a:t>…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20" name="Таблица 19"/>
          <p:cNvGraphicFramePr>
            <a:graphicFrameLocks noGrp="1"/>
          </p:cNvGraphicFramePr>
          <p:nvPr/>
        </p:nvGraphicFramePr>
        <p:xfrm>
          <a:off x="4838298" y="4510111"/>
          <a:ext cx="1442986" cy="62972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04674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213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410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4860">
                <a:tc>
                  <a:txBody>
                    <a:bodyPr/>
                    <a:lstStyle/>
                    <a:p>
                      <a:r>
                        <a:rPr lang="ru-RU" sz="1000" dirty="0"/>
                        <a:t>Регистратор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endParaRPr lang="ru-RU" sz="1000" dirty="0"/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endParaRPr lang="ru-RU" sz="1000" dirty="0"/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486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/>
                        <a:t>&lt;</a:t>
                      </a:r>
                      <a:r>
                        <a:rPr lang="ru-RU" sz="1000" dirty="0"/>
                        <a:t>Док1</a:t>
                      </a:r>
                      <a:r>
                        <a:rPr lang="en-US" sz="1000" dirty="0"/>
                        <a:t>&gt;</a:t>
                      </a:r>
                      <a:endParaRPr lang="ru-RU" sz="1000" dirty="0"/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000" dirty="0"/>
                        <a:t>…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000" dirty="0"/>
                        <a:t>…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21" name="Таблица 20"/>
          <p:cNvGraphicFramePr>
            <a:graphicFrameLocks noGrp="1"/>
          </p:cNvGraphicFramePr>
          <p:nvPr/>
        </p:nvGraphicFramePr>
        <p:xfrm>
          <a:off x="7098429" y="4510111"/>
          <a:ext cx="1442986" cy="629720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104674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213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410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4860">
                <a:tc>
                  <a:txBody>
                    <a:bodyPr/>
                    <a:lstStyle/>
                    <a:p>
                      <a:r>
                        <a:rPr lang="ru-RU" sz="1000" dirty="0"/>
                        <a:t>Регистратор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endParaRPr lang="ru-RU" sz="1000" dirty="0"/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endParaRPr lang="ru-RU" sz="1000" dirty="0"/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486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/>
                        <a:t>&lt;</a:t>
                      </a:r>
                      <a:r>
                        <a:rPr lang="ru-RU" sz="1000" dirty="0"/>
                        <a:t>Док1</a:t>
                      </a:r>
                      <a:r>
                        <a:rPr lang="en-US" sz="1000" dirty="0"/>
                        <a:t>&gt;</a:t>
                      </a:r>
                      <a:endParaRPr lang="ru-RU" sz="1000" dirty="0"/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000" dirty="0"/>
                        <a:t>…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000" dirty="0"/>
                        <a:t>…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18" name="Таблица 17"/>
          <p:cNvGraphicFramePr>
            <a:graphicFrameLocks noGrp="1"/>
          </p:cNvGraphicFramePr>
          <p:nvPr/>
        </p:nvGraphicFramePr>
        <p:xfrm>
          <a:off x="1141397" y="5140860"/>
          <a:ext cx="1442987" cy="314860"/>
        </p:xfrm>
        <a:graphic>
          <a:graphicData uri="http://schemas.openxmlformats.org/drawingml/2006/table">
            <a:tbl>
              <a:tblPr firstRow="1" bandRow="1">
                <a:tableStyleId>{BC89EF96-8CEA-46FF-86C4-4CE0E7609802}</a:tableStyleId>
              </a:tblPr>
              <a:tblGrid>
                <a:gridCol w="73553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538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207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4860">
                <a:tc>
                  <a:txBody>
                    <a:bodyPr/>
                    <a:lstStyle/>
                    <a:p>
                      <a:r>
                        <a:rPr lang="en-US" sz="1000" dirty="0"/>
                        <a:t>&lt;</a:t>
                      </a:r>
                      <a:r>
                        <a:rPr lang="ru-RU" sz="1000" dirty="0"/>
                        <a:t>Док2</a:t>
                      </a:r>
                      <a:r>
                        <a:rPr lang="en-US" sz="1000" dirty="0"/>
                        <a:t>&gt;</a:t>
                      </a:r>
                      <a:endParaRPr lang="ru-RU" sz="1000" dirty="0"/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000" dirty="0"/>
                        <a:t>…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000" dirty="0"/>
                        <a:t>…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9" name="Таблица 18"/>
          <p:cNvGraphicFramePr>
            <a:graphicFrameLocks noGrp="1"/>
          </p:cNvGraphicFramePr>
          <p:nvPr/>
        </p:nvGraphicFramePr>
        <p:xfrm>
          <a:off x="2989445" y="5133641"/>
          <a:ext cx="1442986" cy="314860"/>
        </p:xfrm>
        <a:graphic>
          <a:graphicData uri="http://schemas.openxmlformats.org/drawingml/2006/table">
            <a:tbl>
              <a:tblPr firstRow="1" bandRow="1">
                <a:tableStyleId>{E8B1032C-EA38-4F05-BA0D-38AFFFC7BED3}</a:tableStyleId>
              </a:tblPr>
              <a:tblGrid>
                <a:gridCol w="104674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213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410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486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/>
                        <a:t>&lt;</a:t>
                      </a:r>
                      <a:r>
                        <a:rPr lang="ru-RU" sz="1400" kern="1200" dirty="0"/>
                        <a:t>Док2</a:t>
                      </a:r>
                      <a:r>
                        <a:rPr lang="en-US" sz="1400" kern="1200" dirty="0"/>
                        <a:t>&gt;</a:t>
                      </a:r>
                      <a:endParaRPr lang="ru-RU" sz="1400" b="1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000" dirty="0"/>
                        <a:t>…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000" dirty="0"/>
                        <a:t>…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23" name="Таблица 22"/>
          <p:cNvGraphicFramePr>
            <a:graphicFrameLocks noGrp="1"/>
          </p:cNvGraphicFramePr>
          <p:nvPr/>
        </p:nvGraphicFramePr>
        <p:xfrm>
          <a:off x="4845919" y="5133641"/>
          <a:ext cx="1442986" cy="314860"/>
        </p:xfrm>
        <a:graphic>
          <a:graphicData uri="http://schemas.openxmlformats.org/drawingml/2006/table">
            <a:tbl>
              <a:tblPr firstRow="1" bandRow="1">
                <a:tableStyleId>{5DA37D80-6434-44D0-A028-1B22A696006F}</a:tableStyleId>
              </a:tblPr>
              <a:tblGrid>
                <a:gridCol w="104674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213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410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486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/>
                        <a:t>&lt;</a:t>
                      </a:r>
                      <a:r>
                        <a:rPr lang="ru-RU" sz="1400" kern="1200" dirty="0"/>
                        <a:t>Док2</a:t>
                      </a:r>
                      <a:r>
                        <a:rPr lang="en-US" sz="1400" kern="1200" dirty="0"/>
                        <a:t>&gt;</a:t>
                      </a:r>
                      <a:endParaRPr lang="ru-RU" sz="1400" b="1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000" dirty="0"/>
                        <a:t>…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000" dirty="0"/>
                        <a:t>…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25" name="Скругленный прямоугольник 24"/>
          <p:cNvSpPr/>
          <p:nvPr/>
        </p:nvSpPr>
        <p:spPr>
          <a:xfrm>
            <a:off x="6602472" y="2250506"/>
            <a:ext cx="1458227" cy="594000"/>
          </a:xfrm>
          <a:prstGeom prst="round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350" dirty="0"/>
              <a:t>Набор записей по регистру </a:t>
            </a:r>
            <a:r>
              <a:rPr lang="en-US" sz="1350" dirty="0"/>
              <a:t>N</a:t>
            </a:r>
            <a:endParaRPr lang="ru-RU" sz="1350" dirty="0"/>
          </a:p>
        </p:txBody>
      </p:sp>
      <p:sp>
        <p:nvSpPr>
          <p:cNvPr id="27" name="TextBox 26"/>
          <p:cNvSpPr txBox="1"/>
          <p:nvPr/>
        </p:nvSpPr>
        <p:spPr>
          <a:xfrm>
            <a:off x="2818710" y="5449156"/>
            <a:ext cx="185510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dirty="0">
                <a:solidFill>
                  <a:srgbClr val="FF0000"/>
                </a:solidFill>
              </a:rPr>
              <a:t>Пересчет </a:t>
            </a:r>
            <a:r>
              <a:rPr lang="ru-RU" dirty="0" smtClean="0">
                <a:solidFill>
                  <a:srgbClr val="FF0000"/>
                </a:solidFill>
              </a:rPr>
              <a:t>итогов</a:t>
            </a:r>
            <a:endParaRPr lang="ru-RU" dirty="0">
              <a:solidFill>
                <a:srgbClr val="FF0000"/>
              </a:solidFill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4580119" y="5455720"/>
            <a:ext cx="185510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dirty="0">
                <a:solidFill>
                  <a:srgbClr val="FF0000"/>
                </a:solidFill>
              </a:rPr>
              <a:t>Пересчет </a:t>
            </a:r>
            <a:r>
              <a:rPr lang="ru-RU" dirty="0" smtClean="0">
                <a:solidFill>
                  <a:srgbClr val="FF0000"/>
                </a:solidFill>
              </a:rPr>
              <a:t>итогов</a:t>
            </a:r>
            <a:endParaRPr lang="ru-RU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3673203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err="1"/>
              <a:t>Допроведение</a:t>
            </a:r>
            <a:r>
              <a:rPr lang="ru-RU" dirty="0"/>
              <a:t> документа</a:t>
            </a:r>
          </a:p>
        </p:txBody>
      </p:sp>
      <p:sp>
        <p:nvSpPr>
          <p:cNvPr id="4" name="Текст 3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3892279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/>
          <p:cNvSpPr>
            <a:spLocks noGrp="1"/>
          </p:cNvSpPr>
          <p:nvPr>
            <p:ph type="title"/>
          </p:nvPr>
        </p:nvSpPr>
        <p:spPr>
          <a:xfrm>
            <a:off x="188119" y="571976"/>
            <a:ext cx="8784000" cy="918893"/>
          </a:xfrm>
        </p:spPr>
        <p:txBody>
          <a:bodyPr>
            <a:normAutofit fontScale="90000"/>
          </a:bodyPr>
          <a:lstStyle/>
          <a:p>
            <a:r>
              <a:rPr lang="ru-RU" dirty="0" smtClean="0"/>
              <a:t>Второе </a:t>
            </a:r>
            <a:r>
              <a:rPr lang="ru-RU" dirty="0"/>
              <a:t>проведения. </a:t>
            </a:r>
            <a:br>
              <a:rPr lang="ru-RU" dirty="0"/>
            </a:br>
            <a:r>
              <a:rPr lang="ru-RU" dirty="0" smtClean="0"/>
              <a:t>(</a:t>
            </a:r>
            <a:r>
              <a:rPr lang="ru-RU" dirty="0" err="1" smtClean="0"/>
              <a:t>Допроведение</a:t>
            </a:r>
            <a:r>
              <a:rPr lang="ru-RU" dirty="0" smtClean="0"/>
              <a:t> документа)</a:t>
            </a:r>
            <a:endParaRPr lang="ru-RU" dirty="0"/>
          </a:p>
        </p:txBody>
      </p:sp>
      <p:sp>
        <p:nvSpPr>
          <p:cNvPr id="5" name="Скругленный прямоугольник 4"/>
          <p:cNvSpPr/>
          <p:nvPr/>
        </p:nvSpPr>
        <p:spPr>
          <a:xfrm>
            <a:off x="661087" y="4336783"/>
            <a:ext cx="7951573" cy="1481705"/>
          </a:xfrm>
          <a:prstGeom prst="roundRect">
            <a:avLst/>
          </a:prstGeom>
          <a:noFill/>
          <a:ln w="38100">
            <a:solidFill>
              <a:schemeClr val="accent5">
                <a:lumMod val="50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sz="1350"/>
          </a:p>
        </p:txBody>
      </p:sp>
      <p:sp>
        <p:nvSpPr>
          <p:cNvPr id="6" name="Скругленный прямоугольник 5"/>
          <p:cNvSpPr/>
          <p:nvPr/>
        </p:nvSpPr>
        <p:spPr>
          <a:xfrm>
            <a:off x="628650" y="1975537"/>
            <a:ext cx="7984010" cy="2231305"/>
          </a:xfrm>
          <a:prstGeom prst="roundRect">
            <a:avLst/>
          </a:prstGeom>
          <a:noFill/>
          <a:ln w="38100">
            <a:solidFill>
              <a:schemeClr val="accent6">
                <a:shade val="50000"/>
              </a:schemeClr>
            </a:solidFill>
            <a:prstDash val="dash"/>
          </a:ln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sz="1350"/>
          </a:p>
        </p:txBody>
      </p:sp>
      <p:sp>
        <p:nvSpPr>
          <p:cNvPr id="2" name="Овал 1"/>
          <p:cNvSpPr/>
          <p:nvPr/>
        </p:nvSpPr>
        <p:spPr>
          <a:xfrm>
            <a:off x="772429" y="2532046"/>
            <a:ext cx="1739766" cy="555859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350" dirty="0"/>
              <a:t>Документ</a:t>
            </a:r>
            <a:br>
              <a:rPr lang="ru-RU" sz="1350" dirty="0"/>
            </a:br>
            <a:r>
              <a:rPr lang="ru-RU" sz="1350" dirty="0"/>
              <a:t>Объект </a:t>
            </a:r>
          </a:p>
        </p:txBody>
      </p:sp>
      <p:graphicFrame>
        <p:nvGraphicFramePr>
          <p:cNvPr id="3" name="Таблица 2"/>
          <p:cNvGraphicFramePr>
            <a:graphicFrameLocks noGrp="1"/>
          </p:cNvGraphicFramePr>
          <p:nvPr/>
        </p:nvGraphicFramePr>
        <p:xfrm>
          <a:off x="1141397" y="4510111"/>
          <a:ext cx="1442987" cy="629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553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538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207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4860">
                <a:tc>
                  <a:txBody>
                    <a:bodyPr/>
                    <a:lstStyle/>
                    <a:p>
                      <a:r>
                        <a:rPr lang="ru-RU" sz="1400" dirty="0"/>
                        <a:t>Ссылка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…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…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4860">
                <a:tc>
                  <a:txBody>
                    <a:bodyPr/>
                    <a:lstStyle/>
                    <a:p>
                      <a:r>
                        <a:rPr lang="en-US" sz="1400" dirty="0"/>
                        <a:t>&lt;</a:t>
                      </a:r>
                      <a:r>
                        <a:rPr lang="ru-RU" sz="1400" dirty="0"/>
                        <a:t>Док1</a:t>
                      </a:r>
                      <a:r>
                        <a:rPr lang="en-US" sz="1400" dirty="0"/>
                        <a:t>&gt;</a:t>
                      </a:r>
                      <a:endParaRPr lang="ru-RU" sz="1400" dirty="0"/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…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…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9" name="Скругленный прямоугольник 8"/>
          <p:cNvSpPr/>
          <p:nvPr/>
        </p:nvSpPr>
        <p:spPr>
          <a:xfrm>
            <a:off x="2570548" y="2250505"/>
            <a:ext cx="1458227" cy="594000"/>
          </a:xfrm>
          <a:prstGeom prst="round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350" dirty="0"/>
              <a:t>Набор записей по регистру 1</a:t>
            </a:r>
          </a:p>
        </p:txBody>
      </p:sp>
      <p:sp>
        <p:nvSpPr>
          <p:cNvPr id="11" name="Скругленный прямоугольник 10"/>
          <p:cNvSpPr/>
          <p:nvPr/>
        </p:nvSpPr>
        <p:spPr>
          <a:xfrm>
            <a:off x="4383081" y="2250505"/>
            <a:ext cx="1458227" cy="594000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350" dirty="0"/>
              <a:t>Набор записей по регистру 2</a:t>
            </a:r>
          </a:p>
        </p:txBody>
      </p:sp>
      <p:sp>
        <p:nvSpPr>
          <p:cNvPr id="12" name="Скругленный прямоугольник 11"/>
          <p:cNvSpPr/>
          <p:nvPr/>
        </p:nvSpPr>
        <p:spPr>
          <a:xfrm>
            <a:off x="6602472" y="2250505"/>
            <a:ext cx="1458227" cy="594000"/>
          </a:xfrm>
          <a:prstGeom prst="round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350" dirty="0"/>
              <a:t>Набор записей по регистру </a:t>
            </a:r>
            <a:r>
              <a:rPr lang="en-US" sz="1350" dirty="0"/>
              <a:t>N</a:t>
            </a:r>
            <a:endParaRPr lang="ru-RU" sz="1350" dirty="0"/>
          </a:p>
        </p:txBody>
      </p:sp>
      <p:sp>
        <p:nvSpPr>
          <p:cNvPr id="13" name="Блок-схема: узел 12"/>
          <p:cNvSpPr/>
          <p:nvPr/>
        </p:nvSpPr>
        <p:spPr>
          <a:xfrm>
            <a:off x="6105967" y="2808170"/>
            <a:ext cx="173255" cy="184084"/>
          </a:xfrm>
          <a:prstGeom prst="flowChartConnector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sz="1350"/>
          </a:p>
        </p:txBody>
      </p:sp>
      <p:sp>
        <p:nvSpPr>
          <p:cNvPr id="14" name="Блок-схема: узел 13"/>
          <p:cNvSpPr/>
          <p:nvPr/>
        </p:nvSpPr>
        <p:spPr>
          <a:xfrm>
            <a:off x="6335168" y="2808170"/>
            <a:ext cx="173255" cy="184084"/>
          </a:xfrm>
          <a:prstGeom prst="flowChartConnector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sz="1350"/>
          </a:p>
        </p:txBody>
      </p:sp>
      <p:sp>
        <p:nvSpPr>
          <p:cNvPr id="15" name="Блок-схема: узел 14"/>
          <p:cNvSpPr/>
          <p:nvPr/>
        </p:nvSpPr>
        <p:spPr>
          <a:xfrm>
            <a:off x="5864132" y="2808169"/>
            <a:ext cx="173255" cy="184084"/>
          </a:xfrm>
          <a:prstGeom prst="flowChartConnector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sz="1350"/>
          </a:p>
        </p:txBody>
      </p:sp>
      <p:graphicFrame>
        <p:nvGraphicFramePr>
          <p:cNvPr id="17" name="Таблица 16"/>
          <p:cNvGraphicFramePr>
            <a:graphicFrameLocks noGrp="1"/>
          </p:cNvGraphicFramePr>
          <p:nvPr/>
        </p:nvGraphicFramePr>
        <p:xfrm>
          <a:off x="2974206" y="4510111"/>
          <a:ext cx="1442986" cy="62972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04674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213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410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4860">
                <a:tc>
                  <a:txBody>
                    <a:bodyPr/>
                    <a:lstStyle/>
                    <a:p>
                      <a:r>
                        <a:rPr lang="ru-RU" sz="1000" dirty="0"/>
                        <a:t>Регистратор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endParaRPr lang="ru-RU" sz="1400" dirty="0"/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endParaRPr lang="ru-RU" sz="1400" dirty="0"/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486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/>
                        <a:t>&lt;</a:t>
                      </a:r>
                      <a:r>
                        <a:rPr lang="ru-RU" sz="1400" dirty="0"/>
                        <a:t>Док1</a:t>
                      </a:r>
                      <a:r>
                        <a:rPr lang="en-US" sz="1400" dirty="0"/>
                        <a:t>&gt;</a:t>
                      </a:r>
                      <a:endParaRPr lang="ru-RU" sz="1400" dirty="0"/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…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…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20" name="Таблица 19"/>
          <p:cNvGraphicFramePr>
            <a:graphicFrameLocks noGrp="1"/>
          </p:cNvGraphicFramePr>
          <p:nvPr/>
        </p:nvGraphicFramePr>
        <p:xfrm>
          <a:off x="4838300" y="4510111"/>
          <a:ext cx="1442986" cy="62972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04674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213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410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4860">
                <a:tc>
                  <a:txBody>
                    <a:bodyPr/>
                    <a:lstStyle/>
                    <a:p>
                      <a:r>
                        <a:rPr lang="ru-RU" sz="1000" dirty="0"/>
                        <a:t>Регистратор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endParaRPr lang="ru-RU" sz="1400" dirty="0"/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endParaRPr lang="ru-RU" sz="1400" dirty="0"/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486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/>
                        <a:t>&lt;</a:t>
                      </a:r>
                      <a:r>
                        <a:rPr lang="ru-RU" sz="1400" dirty="0"/>
                        <a:t>Док1</a:t>
                      </a:r>
                      <a:r>
                        <a:rPr lang="en-US" sz="1400" dirty="0"/>
                        <a:t>&gt;</a:t>
                      </a:r>
                      <a:endParaRPr lang="ru-RU" sz="1400" dirty="0"/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…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…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21" name="Таблица 20"/>
          <p:cNvGraphicFramePr>
            <a:graphicFrameLocks noGrp="1"/>
          </p:cNvGraphicFramePr>
          <p:nvPr/>
        </p:nvGraphicFramePr>
        <p:xfrm>
          <a:off x="7098432" y="4510111"/>
          <a:ext cx="1442986" cy="629720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104674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213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410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4860">
                <a:tc>
                  <a:txBody>
                    <a:bodyPr/>
                    <a:lstStyle/>
                    <a:p>
                      <a:r>
                        <a:rPr lang="ru-RU" sz="1000" dirty="0"/>
                        <a:t>Регистратор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endParaRPr lang="ru-RU" sz="1400" dirty="0"/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endParaRPr lang="ru-RU" sz="1400" dirty="0"/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486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/>
                        <a:t>&lt;</a:t>
                      </a:r>
                      <a:r>
                        <a:rPr lang="ru-RU" sz="1400" dirty="0"/>
                        <a:t>Док1</a:t>
                      </a:r>
                      <a:r>
                        <a:rPr lang="en-US" sz="1400" dirty="0"/>
                        <a:t>&gt;</a:t>
                      </a:r>
                      <a:endParaRPr lang="ru-RU" sz="1400" dirty="0"/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…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…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16" name="Таблица 15"/>
          <p:cNvGraphicFramePr>
            <a:graphicFrameLocks noGrp="1"/>
          </p:cNvGraphicFramePr>
          <p:nvPr/>
        </p:nvGraphicFramePr>
        <p:xfrm>
          <a:off x="2989445" y="5133641"/>
          <a:ext cx="1442986" cy="314860"/>
        </p:xfrm>
        <a:graphic>
          <a:graphicData uri="http://schemas.openxmlformats.org/drawingml/2006/table">
            <a:tbl>
              <a:tblPr firstRow="1" bandRow="1">
                <a:tableStyleId>{E8B1032C-EA38-4F05-BA0D-38AFFFC7BED3}</a:tableStyleId>
              </a:tblPr>
              <a:tblGrid>
                <a:gridCol w="104674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213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410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486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/>
                        <a:t>&lt;</a:t>
                      </a:r>
                      <a:r>
                        <a:rPr lang="ru-RU" sz="1400" kern="1200" dirty="0"/>
                        <a:t>Док2</a:t>
                      </a:r>
                      <a:r>
                        <a:rPr lang="en-US" sz="1400" kern="1200" dirty="0"/>
                        <a:t>&gt;</a:t>
                      </a:r>
                      <a:endParaRPr lang="ru-RU" sz="1400" b="1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000" dirty="0"/>
                        <a:t>…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000" dirty="0"/>
                        <a:t>…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8" name="Таблица 17"/>
          <p:cNvGraphicFramePr>
            <a:graphicFrameLocks noGrp="1"/>
          </p:cNvGraphicFramePr>
          <p:nvPr/>
        </p:nvGraphicFramePr>
        <p:xfrm>
          <a:off x="4845919" y="5133641"/>
          <a:ext cx="1442986" cy="314860"/>
        </p:xfrm>
        <a:graphic>
          <a:graphicData uri="http://schemas.openxmlformats.org/drawingml/2006/table">
            <a:tbl>
              <a:tblPr firstRow="1" bandRow="1">
                <a:tableStyleId>{5DA37D80-6434-44D0-A028-1B22A696006F}</a:tableStyleId>
              </a:tblPr>
              <a:tblGrid>
                <a:gridCol w="104674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213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410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486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/>
                        <a:t>&lt;</a:t>
                      </a:r>
                      <a:r>
                        <a:rPr lang="ru-RU" sz="1400" kern="1200" dirty="0"/>
                        <a:t>Док2</a:t>
                      </a:r>
                      <a:r>
                        <a:rPr lang="en-US" sz="1400" kern="1200" dirty="0"/>
                        <a:t>&gt;</a:t>
                      </a:r>
                      <a:endParaRPr lang="ru-RU" sz="1400" b="1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000" dirty="0"/>
                        <a:t>…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000" dirty="0"/>
                        <a:t>…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9" name="Таблица 18"/>
          <p:cNvGraphicFramePr>
            <a:graphicFrameLocks noGrp="1"/>
          </p:cNvGraphicFramePr>
          <p:nvPr/>
        </p:nvGraphicFramePr>
        <p:xfrm>
          <a:off x="1141397" y="5140860"/>
          <a:ext cx="1442987" cy="314860"/>
        </p:xfrm>
        <a:graphic>
          <a:graphicData uri="http://schemas.openxmlformats.org/drawingml/2006/table">
            <a:tbl>
              <a:tblPr firstRow="1" bandRow="1">
                <a:tableStyleId>{BC89EF96-8CEA-46FF-86C4-4CE0E7609802}</a:tableStyleId>
              </a:tblPr>
              <a:tblGrid>
                <a:gridCol w="73553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538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207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4860">
                <a:tc>
                  <a:txBody>
                    <a:bodyPr/>
                    <a:lstStyle/>
                    <a:p>
                      <a:r>
                        <a:rPr lang="en-US" sz="1000" dirty="0"/>
                        <a:t>&lt;</a:t>
                      </a:r>
                      <a:r>
                        <a:rPr lang="ru-RU" sz="1000" dirty="0"/>
                        <a:t>Док2</a:t>
                      </a:r>
                      <a:r>
                        <a:rPr lang="en-US" sz="1000" dirty="0"/>
                        <a:t>&gt;</a:t>
                      </a:r>
                      <a:endParaRPr lang="ru-RU" sz="1000" dirty="0"/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000" dirty="0"/>
                        <a:t>…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000" dirty="0"/>
                        <a:t>…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3837984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ru-RU" dirty="0"/>
              <a:t>При записи</a:t>
            </a:r>
          </a:p>
        </p:txBody>
      </p:sp>
      <p:sp>
        <p:nvSpPr>
          <p:cNvPr id="5" name="Скругленный прямоугольник 4"/>
          <p:cNvSpPr/>
          <p:nvPr/>
        </p:nvSpPr>
        <p:spPr>
          <a:xfrm>
            <a:off x="661087" y="4336783"/>
            <a:ext cx="7951573" cy="1481705"/>
          </a:xfrm>
          <a:prstGeom prst="roundRect">
            <a:avLst/>
          </a:prstGeom>
          <a:noFill/>
          <a:ln w="38100">
            <a:solidFill>
              <a:schemeClr val="accent5">
                <a:lumMod val="50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sz="1350"/>
          </a:p>
        </p:txBody>
      </p:sp>
      <p:sp>
        <p:nvSpPr>
          <p:cNvPr id="6" name="Скругленный прямоугольник 5"/>
          <p:cNvSpPr/>
          <p:nvPr/>
        </p:nvSpPr>
        <p:spPr>
          <a:xfrm>
            <a:off x="628650" y="1975537"/>
            <a:ext cx="7984010" cy="2231305"/>
          </a:xfrm>
          <a:prstGeom prst="roundRect">
            <a:avLst/>
          </a:prstGeom>
          <a:noFill/>
          <a:ln w="38100">
            <a:solidFill>
              <a:schemeClr val="accent6">
                <a:shade val="50000"/>
              </a:schemeClr>
            </a:solidFill>
            <a:prstDash val="dash"/>
          </a:ln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sz="1350"/>
          </a:p>
        </p:txBody>
      </p:sp>
      <p:sp>
        <p:nvSpPr>
          <p:cNvPr id="2" name="Овал 1"/>
          <p:cNvSpPr/>
          <p:nvPr/>
        </p:nvSpPr>
        <p:spPr>
          <a:xfrm>
            <a:off x="772429" y="2532046"/>
            <a:ext cx="1739766" cy="555859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350" dirty="0"/>
              <a:t>Документ</a:t>
            </a:r>
            <a:br>
              <a:rPr lang="ru-RU" sz="1350" dirty="0"/>
            </a:br>
            <a:r>
              <a:rPr lang="ru-RU" sz="1350" dirty="0"/>
              <a:t>Объект </a:t>
            </a:r>
          </a:p>
        </p:txBody>
      </p:sp>
      <p:graphicFrame>
        <p:nvGraphicFramePr>
          <p:cNvPr id="3" name="Таблица 2"/>
          <p:cNvGraphicFramePr>
            <a:graphicFrameLocks noGrp="1"/>
          </p:cNvGraphicFramePr>
          <p:nvPr/>
        </p:nvGraphicFramePr>
        <p:xfrm>
          <a:off x="1141397" y="4510111"/>
          <a:ext cx="1442987" cy="629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553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538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207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4860">
                <a:tc>
                  <a:txBody>
                    <a:bodyPr/>
                    <a:lstStyle/>
                    <a:p>
                      <a:r>
                        <a:rPr lang="ru-RU" sz="1000" dirty="0"/>
                        <a:t>Ссылка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000" dirty="0"/>
                        <a:t>…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000" dirty="0"/>
                        <a:t>…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4860">
                <a:tc>
                  <a:txBody>
                    <a:bodyPr/>
                    <a:lstStyle/>
                    <a:p>
                      <a:r>
                        <a:rPr lang="en-US" sz="1000" dirty="0"/>
                        <a:t>&lt;</a:t>
                      </a:r>
                      <a:r>
                        <a:rPr lang="ru-RU" sz="1000" dirty="0"/>
                        <a:t>Док1</a:t>
                      </a:r>
                      <a:r>
                        <a:rPr lang="en-US" sz="1000" dirty="0"/>
                        <a:t>&gt;</a:t>
                      </a:r>
                      <a:endParaRPr lang="ru-RU" sz="1000" dirty="0"/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000" dirty="0"/>
                        <a:t>…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000" dirty="0"/>
                        <a:t>…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9" name="Скругленный прямоугольник 8"/>
          <p:cNvSpPr/>
          <p:nvPr/>
        </p:nvSpPr>
        <p:spPr>
          <a:xfrm>
            <a:off x="2570548" y="2250506"/>
            <a:ext cx="1458227" cy="594000"/>
          </a:xfrm>
          <a:prstGeom prst="round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350" dirty="0"/>
              <a:t>Набор записей по регистру 1</a:t>
            </a:r>
          </a:p>
        </p:txBody>
      </p:sp>
      <p:sp>
        <p:nvSpPr>
          <p:cNvPr id="11" name="Скругленный прямоугольник 10"/>
          <p:cNvSpPr/>
          <p:nvPr/>
        </p:nvSpPr>
        <p:spPr>
          <a:xfrm>
            <a:off x="4383081" y="2250506"/>
            <a:ext cx="1458227" cy="594000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350" dirty="0"/>
              <a:t>Набор записей по регистру 2</a:t>
            </a:r>
          </a:p>
        </p:txBody>
      </p:sp>
      <p:sp>
        <p:nvSpPr>
          <p:cNvPr id="12" name="Скругленный прямоугольник 11"/>
          <p:cNvSpPr/>
          <p:nvPr/>
        </p:nvSpPr>
        <p:spPr>
          <a:xfrm>
            <a:off x="6602472" y="2250506"/>
            <a:ext cx="1458227" cy="594000"/>
          </a:xfrm>
          <a:prstGeom prst="round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350" dirty="0"/>
              <a:t>Набор записей по регистру </a:t>
            </a:r>
            <a:r>
              <a:rPr lang="en-US" sz="1350" dirty="0"/>
              <a:t>N</a:t>
            </a:r>
            <a:endParaRPr lang="ru-RU" sz="1350" dirty="0"/>
          </a:p>
        </p:txBody>
      </p:sp>
      <p:sp>
        <p:nvSpPr>
          <p:cNvPr id="13" name="Блок-схема: узел 12"/>
          <p:cNvSpPr/>
          <p:nvPr/>
        </p:nvSpPr>
        <p:spPr>
          <a:xfrm>
            <a:off x="6105967" y="2808170"/>
            <a:ext cx="173255" cy="184084"/>
          </a:xfrm>
          <a:prstGeom prst="flowChartConnector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sz="1350"/>
          </a:p>
        </p:txBody>
      </p:sp>
      <p:sp>
        <p:nvSpPr>
          <p:cNvPr id="14" name="Блок-схема: узел 13"/>
          <p:cNvSpPr/>
          <p:nvPr/>
        </p:nvSpPr>
        <p:spPr>
          <a:xfrm>
            <a:off x="6335168" y="2808170"/>
            <a:ext cx="173255" cy="184084"/>
          </a:xfrm>
          <a:prstGeom prst="flowChartConnector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sz="1350"/>
          </a:p>
        </p:txBody>
      </p:sp>
      <p:sp>
        <p:nvSpPr>
          <p:cNvPr id="15" name="Блок-схема: узел 14"/>
          <p:cNvSpPr/>
          <p:nvPr/>
        </p:nvSpPr>
        <p:spPr>
          <a:xfrm>
            <a:off x="5864132" y="2808169"/>
            <a:ext cx="173255" cy="184084"/>
          </a:xfrm>
          <a:prstGeom prst="flowChartConnector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sz="1350"/>
          </a:p>
        </p:txBody>
      </p:sp>
      <p:graphicFrame>
        <p:nvGraphicFramePr>
          <p:cNvPr id="17" name="Таблица 16"/>
          <p:cNvGraphicFramePr>
            <a:graphicFrameLocks noGrp="1"/>
          </p:cNvGraphicFramePr>
          <p:nvPr/>
        </p:nvGraphicFramePr>
        <p:xfrm>
          <a:off x="2974206" y="4510111"/>
          <a:ext cx="1442986" cy="62972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04674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213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410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4860">
                <a:tc>
                  <a:txBody>
                    <a:bodyPr/>
                    <a:lstStyle/>
                    <a:p>
                      <a:r>
                        <a:rPr lang="ru-RU" sz="1000" dirty="0"/>
                        <a:t>Регистратор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endParaRPr lang="ru-RU" sz="1000" dirty="0"/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endParaRPr lang="ru-RU" sz="1000" dirty="0"/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486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/>
                        <a:t>&lt;</a:t>
                      </a:r>
                      <a:r>
                        <a:rPr lang="ru-RU" sz="1000" dirty="0"/>
                        <a:t>Док1</a:t>
                      </a:r>
                      <a:r>
                        <a:rPr lang="en-US" sz="1000" dirty="0"/>
                        <a:t>&gt;</a:t>
                      </a:r>
                      <a:endParaRPr lang="ru-RU" sz="1000" dirty="0"/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000" dirty="0"/>
                        <a:t>…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000" dirty="0"/>
                        <a:t>…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20" name="Таблица 19"/>
          <p:cNvGraphicFramePr>
            <a:graphicFrameLocks noGrp="1"/>
          </p:cNvGraphicFramePr>
          <p:nvPr/>
        </p:nvGraphicFramePr>
        <p:xfrm>
          <a:off x="4838300" y="4510111"/>
          <a:ext cx="1442986" cy="62972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04674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213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410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4860">
                <a:tc>
                  <a:txBody>
                    <a:bodyPr/>
                    <a:lstStyle/>
                    <a:p>
                      <a:r>
                        <a:rPr lang="ru-RU" sz="1000" dirty="0"/>
                        <a:t>Регистратор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endParaRPr lang="ru-RU" sz="1000" dirty="0"/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endParaRPr lang="ru-RU" sz="1000" dirty="0"/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486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/>
                        <a:t>&lt;</a:t>
                      </a:r>
                      <a:r>
                        <a:rPr lang="ru-RU" sz="1000" dirty="0"/>
                        <a:t>Док1</a:t>
                      </a:r>
                      <a:r>
                        <a:rPr lang="en-US" sz="1000" dirty="0"/>
                        <a:t>&gt;</a:t>
                      </a:r>
                      <a:endParaRPr lang="ru-RU" sz="1000" dirty="0"/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000" dirty="0"/>
                        <a:t>…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000" dirty="0"/>
                        <a:t>…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21" name="Таблица 20"/>
          <p:cNvGraphicFramePr>
            <a:graphicFrameLocks noGrp="1"/>
          </p:cNvGraphicFramePr>
          <p:nvPr/>
        </p:nvGraphicFramePr>
        <p:xfrm>
          <a:off x="7098432" y="4510111"/>
          <a:ext cx="1442986" cy="629720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104674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213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410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4860">
                <a:tc>
                  <a:txBody>
                    <a:bodyPr/>
                    <a:lstStyle/>
                    <a:p>
                      <a:r>
                        <a:rPr lang="ru-RU" sz="1000" dirty="0"/>
                        <a:t>Регистратор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endParaRPr lang="ru-RU" sz="1000" dirty="0"/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endParaRPr lang="ru-RU" sz="1000" dirty="0"/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486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/>
                        <a:t>&lt;</a:t>
                      </a:r>
                      <a:r>
                        <a:rPr lang="ru-RU" sz="1000" dirty="0"/>
                        <a:t>Док1</a:t>
                      </a:r>
                      <a:r>
                        <a:rPr lang="en-US" sz="1000" dirty="0"/>
                        <a:t>&gt;</a:t>
                      </a:r>
                      <a:endParaRPr lang="ru-RU" sz="1000" dirty="0"/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000" dirty="0"/>
                        <a:t>…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000" dirty="0"/>
                        <a:t>…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7" name="Стрелка углом 6"/>
          <p:cNvSpPr/>
          <p:nvPr/>
        </p:nvSpPr>
        <p:spPr>
          <a:xfrm rot="10800000" flipH="1">
            <a:off x="830179" y="2900212"/>
            <a:ext cx="292921" cy="2548289"/>
          </a:xfrm>
          <a:prstGeom prst="bentArrow">
            <a:avLst>
              <a:gd name="adj1" fmla="val 27464"/>
              <a:gd name="adj2" fmla="val 25000"/>
              <a:gd name="adj3" fmla="val 25000"/>
              <a:gd name="adj4" fmla="val 43750"/>
            </a:avLst>
          </a:prstGeom>
          <a:ln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sz="1350">
              <a:solidFill>
                <a:schemeClr val="tx1"/>
              </a:solidFill>
            </a:endParaRPr>
          </a:p>
        </p:txBody>
      </p:sp>
      <p:graphicFrame>
        <p:nvGraphicFramePr>
          <p:cNvPr id="18" name="Таблица 17"/>
          <p:cNvGraphicFramePr>
            <a:graphicFrameLocks noGrp="1"/>
          </p:cNvGraphicFramePr>
          <p:nvPr/>
        </p:nvGraphicFramePr>
        <p:xfrm>
          <a:off x="1141397" y="5140860"/>
          <a:ext cx="1442987" cy="314860"/>
        </p:xfrm>
        <a:graphic>
          <a:graphicData uri="http://schemas.openxmlformats.org/drawingml/2006/table">
            <a:tbl>
              <a:tblPr firstRow="1" bandRow="1">
                <a:tableStyleId>{BC89EF96-8CEA-46FF-86C4-4CE0E7609802}</a:tableStyleId>
              </a:tblPr>
              <a:tblGrid>
                <a:gridCol w="73553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538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207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4860">
                <a:tc>
                  <a:txBody>
                    <a:bodyPr/>
                    <a:lstStyle/>
                    <a:p>
                      <a:r>
                        <a:rPr lang="en-US" sz="1000" dirty="0"/>
                        <a:t>&lt;</a:t>
                      </a:r>
                      <a:r>
                        <a:rPr lang="ru-RU" sz="1000" dirty="0"/>
                        <a:t>Док2</a:t>
                      </a:r>
                      <a:r>
                        <a:rPr lang="en-US" sz="1000" dirty="0"/>
                        <a:t>&gt;</a:t>
                      </a:r>
                      <a:endParaRPr lang="ru-RU" sz="1000" dirty="0"/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000" dirty="0"/>
                        <a:t>…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000" dirty="0"/>
                        <a:t>…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9" name="Таблица 18"/>
          <p:cNvGraphicFramePr>
            <a:graphicFrameLocks noGrp="1"/>
          </p:cNvGraphicFramePr>
          <p:nvPr/>
        </p:nvGraphicFramePr>
        <p:xfrm>
          <a:off x="2989445" y="5133641"/>
          <a:ext cx="1442986" cy="314860"/>
        </p:xfrm>
        <a:graphic>
          <a:graphicData uri="http://schemas.openxmlformats.org/drawingml/2006/table">
            <a:tbl>
              <a:tblPr firstRow="1" bandRow="1">
                <a:tableStyleId>{E8B1032C-EA38-4F05-BA0D-38AFFFC7BED3}</a:tableStyleId>
              </a:tblPr>
              <a:tblGrid>
                <a:gridCol w="104674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213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410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486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/>
                        <a:t>&lt;</a:t>
                      </a:r>
                      <a:r>
                        <a:rPr lang="ru-RU" sz="1400" kern="1200" dirty="0"/>
                        <a:t>Док2</a:t>
                      </a:r>
                      <a:r>
                        <a:rPr lang="en-US" sz="1400" kern="1200" dirty="0"/>
                        <a:t>&gt;</a:t>
                      </a:r>
                      <a:endParaRPr lang="ru-RU" sz="1400" b="1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000" dirty="0"/>
                        <a:t>…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000" dirty="0"/>
                        <a:t>…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22" name="Таблица 21"/>
          <p:cNvGraphicFramePr>
            <a:graphicFrameLocks noGrp="1"/>
          </p:cNvGraphicFramePr>
          <p:nvPr/>
        </p:nvGraphicFramePr>
        <p:xfrm>
          <a:off x="4845919" y="5133641"/>
          <a:ext cx="1442986" cy="314860"/>
        </p:xfrm>
        <a:graphic>
          <a:graphicData uri="http://schemas.openxmlformats.org/drawingml/2006/table">
            <a:tbl>
              <a:tblPr firstRow="1" bandRow="1">
                <a:tableStyleId>{5DA37D80-6434-44D0-A028-1B22A696006F}</a:tableStyleId>
              </a:tblPr>
              <a:tblGrid>
                <a:gridCol w="104674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213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410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486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/>
                        <a:t>&lt;</a:t>
                      </a:r>
                      <a:r>
                        <a:rPr lang="ru-RU" sz="1400" kern="1200" dirty="0"/>
                        <a:t>Док2</a:t>
                      </a:r>
                      <a:r>
                        <a:rPr lang="en-US" sz="1400" kern="1200" dirty="0"/>
                        <a:t>&gt;</a:t>
                      </a:r>
                      <a:endParaRPr lang="ru-RU" sz="1400" b="1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000" dirty="0"/>
                        <a:t>…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000" dirty="0"/>
                        <a:t>…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9955319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Скругленный прямоугольник 21"/>
          <p:cNvSpPr/>
          <p:nvPr/>
        </p:nvSpPr>
        <p:spPr>
          <a:xfrm>
            <a:off x="2570548" y="2250506"/>
            <a:ext cx="1458227" cy="594000"/>
          </a:xfrm>
          <a:prstGeom prst="round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350" dirty="0"/>
              <a:t>Набор записей по регистру 1</a:t>
            </a:r>
          </a:p>
        </p:txBody>
      </p:sp>
      <p:sp>
        <p:nvSpPr>
          <p:cNvPr id="25" name="Скругленный прямоугольник 24"/>
          <p:cNvSpPr/>
          <p:nvPr/>
        </p:nvSpPr>
        <p:spPr>
          <a:xfrm>
            <a:off x="4383081" y="2250506"/>
            <a:ext cx="1458227" cy="594000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350" dirty="0"/>
              <a:t>Набор записей по регистру 2</a:t>
            </a:r>
          </a:p>
        </p:txBody>
      </p:sp>
      <p:sp>
        <p:nvSpPr>
          <p:cNvPr id="26" name="Скругленный прямоугольник 25"/>
          <p:cNvSpPr/>
          <p:nvPr/>
        </p:nvSpPr>
        <p:spPr>
          <a:xfrm>
            <a:off x="6602472" y="2250506"/>
            <a:ext cx="1458227" cy="594000"/>
          </a:xfrm>
          <a:prstGeom prst="round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350" dirty="0"/>
              <a:t>Набор записей по регистру </a:t>
            </a:r>
            <a:r>
              <a:rPr lang="en-US" sz="1350" dirty="0"/>
              <a:t>N</a:t>
            </a:r>
            <a:endParaRPr lang="ru-RU" sz="1350" dirty="0"/>
          </a:p>
        </p:txBody>
      </p:sp>
      <p:sp>
        <p:nvSpPr>
          <p:cNvPr id="5" name="Скругленный прямоугольник 4"/>
          <p:cNvSpPr/>
          <p:nvPr/>
        </p:nvSpPr>
        <p:spPr>
          <a:xfrm>
            <a:off x="661087" y="4336783"/>
            <a:ext cx="7951573" cy="1481705"/>
          </a:xfrm>
          <a:prstGeom prst="roundRect">
            <a:avLst/>
          </a:prstGeom>
          <a:noFill/>
          <a:ln w="38100">
            <a:solidFill>
              <a:schemeClr val="accent5">
                <a:lumMod val="50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sz="1350"/>
          </a:p>
        </p:txBody>
      </p:sp>
      <p:sp>
        <p:nvSpPr>
          <p:cNvPr id="6" name="Скругленный прямоугольник 5"/>
          <p:cNvSpPr/>
          <p:nvPr/>
        </p:nvSpPr>
        <p:spPr>
          <a:xfrm>
            <a:off x="628650" y="1975537"/>
            <a:ext cx="7984010" cy="2231305"/>
          </a:xfrm>
          <a:prstGeom prst="roundRect">
            <a:avLst/>
          </a:prstGeom>
          <a:noFill/>
          <a:ln w="38100">
            <a:solidFill>
              <a:schemeClr val="accent6">
                <a:shade val="50000"/>
              </a:schemeClr>
            </a:solidFill>
            <a:prstDash val="dash"/>
          </a:ln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sz="1350"/>
          </a:p>
        </p:txBody>
      </p:sp>
      <p:sp>
        <p:nvSpPr>
          <p:cNvPr id="2" name="Овал 1"/>
          <p:cNvSpPr/>
          <p:nvPr/>
        </p:nvSpPr>
        <p:spPr>
          <a:xfrm>
            <a:off x="772429" y="2532046"/>
            <a:ext cx="1739766" cy="555859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350" dirty="0"/>
              <a:t>Документ</a:t>
            </a:r>
            <a:br>
              <a:rPr lang="ru-RU" sz="1350" dirty="0"/>
            </a:br>
            <a:r>
              <a:rPr lang="ru-RU" sz="1350" dirty="0"/>
              <a:t>Объект </a:t>
            </a:r>
          </a:p>
        </p:txBody>
      </p:sp>
      <p:graphicFrame>
        <p:nvGraphicFramePr>
          <p:cNvPr id="3" name="Таблица 2"/>
          <p:cNvGraphicFramePr>
            <a:graphicFrameLocks noGrp="1"/>
          </p:cNvGraphicFramePr>
          <p:nvPr/>
        </p:nvGraphicFramePr>
        <p:xfrm>
          <a:off x="1141397" y="4510111"/>
          <a:ext cx="1442987" cy="629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553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538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207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4860">
                <a:tc>
                  <a:txBody>
                    <a:bodyPr/>
                    <a:lstStyle/>
                    <a:p>
                      <a:r>
                        <a:rPr lang="ru-RU" sz="1000" dirty="0"/>
                        <a:t>Ссылка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000" dirty="0"/>
                        <a:t>…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000" dirty="0"/>
                        <a:t>…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4860">
                <a:tc>
                  <a:txBody>
                    <a:bodyPr/>
                    <a:lstStyle/>
                    <a:p>
                      <a:r>
                        <a:rPr lang="en-US" sz="1000" dirty="0"/>
                        <a:t>&lt;</a:t>
                      </a:r>
                      <a:r>
                        <a:rPr lang="ru-RU" sz="1000" dirty="0"/>
                        <a:t>Док1</a:t>
                      </a:r>
                      <a:r>
                        <a:rPr lang="en-US" sz="1000" dirty="0"/>
                        <a:t>&gt;</a:t>
                      </a:r>
                      <a:endParaRPr lang="ru-RU" sz="1000" dirty="0"/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000" dirty="0"/>
                        <a:t>…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000" dirty="0"/>
                        <a:t>…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3" name="Блок-схема: узел 12"/>
          <p:cNvSpPr/>
          <p:nvPr/>
        </p:nvSpPr>
        <p:spPr>
          <a:xfrm>
            <a:off x="6105967" y="2808170"/>
            <a:ext cx="173255" cy="184084"/>
          </a:xfrm>
          <a:prstGeom prst="flowChartConnector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sz="1350"/>
          </a:p>
        </p:txBody>
      </p:sp>
      <p:sp>
        <p:nvSpPr>
          <p:cNvPr id="14" name="Блок-схема: узел 13"/>
          <p:cNvSpPr/>
          <p:nvPr/>
        </p:nvSpPr>
        <p:spPr>
          <a:xfrm>
            <a:off x="6335168" y="2808170"/>
            <a:ext cx="173255" cy="184084"/>
          </a:xfrm>
          <a:prstGeom prst="flowChartConnector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sz="1350"/>
          </a:p>
        </p:txBody>
      </p:sp>
      <p:sp>
        <p:nvSpPr>
          <p:cNvPr id="15" name="Блок-схема: узел 14"/>
          <p:cNvSpPr/>
          <p:nvPr/>
        </p:nvSpPr>
        <p:spPr>
          <a:xfrm>
            <a:off x="5864132" y="2808169"/>
            <a:ext cx="173255" cy="184084"/>
          </a:xfrm>
          <a:prstGeom prst="flowChartConnector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sz="1350"/>
          </a:p>
        </p:txBody>
      </p:sp>
      <p:graphicFrame>
        <p:nvGraphicFramePr>
          <p:cNvPr id="17" name="Таблица 16"/>
          <p:cNvGraphicFramePr>
            <a:graphicFrameLocks noGrp="1"/>
          </p:cNvGraphicFramePr>
          <p:nvPr/>
        </p:nvGraphicFramePr>
        <p:xfrm>
          <a:off x="2974206" y="4510111"/>
          <a:ext cx="1442986" cy="62972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04674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213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410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4860">
                <a:tc>
                  <a:txBody>
                    <a:bodyPr/>
                    <a:lstStyle/>
                    <a:p>
                      <a:r>
                        <a:rPr lang="ru-RU" sz="1000" dirty="0"/>
                        <a:t>Регистратор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endParaRPr lang="ru-RU" sz="1000" dirty="0"/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endParaRPr lang="ru-RU" sz="1000" dirty="0"/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486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/>
                        <a:t>&lt;</a:t>
                      </a:r>
                      <a:r>
                        <a:rPr lang="ru-RU" sz="1000" dirty="0"/>
                        <a:t>Док1</a:t>
                      </a:r>
                      <a:r>
                        <a:rPr lang="en-US" sz="1000" dirty="0"/>
                        <a:t>&gt;</a:t>
                      </a:r>
                      <a:endParaRPr lang="ru-RU" sz="1000" dirty="0"/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000" dirty="0"/>
                        <a:t>…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000" dirty="0"/>
                        <a:t>…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20" name="Таблица 19"/>
          <p:cNvGraphicFramePr>
            <a:graphicFrameLocks noGrp="1"/>
          </p:cNvGraphicFramePr>
          <p:nvPr/>
        </p:nvGraphicFramePr>
        <p:xfrm>
          <a:off x="4838300" y="4510111"/>
          <a:ext cx="1442986" cy="62972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04674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213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410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4860">
                <a:tc>
                  <a:txBody>
                    <a:bodyPr/>
                    <a:lstStyle/>
                    <a:p>
                      <a:r>
                        <a:rPr lang="ru-RU" sz="1000" dirty="0"/>
                        <a:t>Регистратор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endParaRPr lang="ru-RU" sz="1000" dirty="0"/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endParaRPr lang="ru-RU" sz="1000" dirty="0"/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486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/>
                        <a:t>&lt;</a:t>
                      </a:r>
                      <a:r>
                        <a:rPr lang="ru-RU" sz="1000" dirty="0"/>
                        <a:t>Док1</a:t>
                      </a:r>
                      <a:r>
                        <a:rPr lang="en-US" sz="1000" dirty="0"/>
                        <a:t>&gt;</a:t>
                      </a:r>
                      <a:endParaRPr lang="ru-RU" sz="1000" dirty="0"/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000" dirty="0"/>
                        <a:t>…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000" dirty="0"/>
                        <a:t>…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21" name="Таблица 20"/>
          <p:cNvGraphicFramePr>
            <a:graphicFrameLocks noGrp="1"/>
          </p:cNvGraphicFramePr>
          <p:nvPr/>
        </p:nvGraphicFramePr>
        <p:xfrm>
          <a:off x="7098432" y="4510111"/>
          <a:ext cx="1442986" cy="629720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104674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213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410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4860">
                <a:tc>
                  <a:txBody>
                    <a:bodyPr/>
                    <a:lstStyle/>
                    <a:p>
                      <a:r>
                        <a:rPr lang="ru-RU" sz="1000" dirty="0"/>
                        <a:t>Регистратор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endParaRPr lang="ru-RU" sz="1000" dirty="0"/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endParaRPr lang="ru-RU" sz="1000" dirty="0"/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486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/>
                        <a:t>&lt;</a:t>
                      </a:r>
                      <a:r>
                        <a:rPr lang="ru-RU" sz="1000" dirty="0"/>
                        <a:t>Док1</a:t>
                      </a:r>
                      <a:r>
                        <a:rPr lang="en-US" sz="1000" dirty="0"/>
                        <a:t>&gt;</a:t>
                      </a:r>
                      <a:endParaRPr lang="ru-RU" sz="1000" dirty="0"/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000" dirty="0"/>
                        <a:t>…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000" dirty="0"/>
                        <a:t>…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7" name="Стрелка углом 6"/>
          <p:cNvSpPr/>
          <p:nvPr/>
        </p:nvSpPr>
        <p:spPr>
          <a:xfrm rot="5400000" flipH="1">
            <a:off x="4439969" y="1047142"/>
            <a:ext cx="430620" cy="5657771"/>
          </a:xfrm>
          <a:prstGeom prst="bentArrow">
            <a:avLst>
              <a:gd name="adj1" fmla="val 27464"/>
              <a:gd name="adj2" fmla="val 25000"/>
              <a:gd name="adj3" fmla="val 25000"/>
              <a:gd name="adj4" fmla="val 43750"/>
            </a:avLst>
          </a:prstGeom>
          <a:ln>
            <a:solidFill>
              <a:schemeClr val="accent1"/>
            </a:solidFill>
          </a:ln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sz="1350">
              <a:solidFill>
                <a:schemeClr val="tx1"/>
              </a:solidFill>
            </a:endParaRPr>
          </a:p>
        </p:txBody>
      </p:sp>
      <p:graphicFrame>
        <p:nvGraphicFramePr>
          <p:cNvPr id="18" name="Таблица 17"/>
          <p:cNvGraphicFramePr>
            <a:graphicFrameLocks noGrp="1"/>
          </p:cNvGraphicFramePr>
          <p:nvPr/>
        </p:nvGraphicFramePr>
        <p:xfrm>
          <a:off x="1141397" y="5140860"/>
          <a:ext cx="1442987" cy="314860"/>
        </p:xfrm>
        <a:graphic>
          <a:graphicData uri="http://schemas.openxmlformats.org/drawingml/2006/table">
            <a:tbl>
              <a:tblPr firstRow="1" bandRow="1">
                <a:tableStyleId>{BC89EF96-8CEA-46FF-86C4-4CE0E7609802}</a:tableStyleId>
              </a:tblPr>
              <a:tblGrid>
                <a:gridCol w="73553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538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207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4860">
                <a:tc>
                  <a:txBody>
                    <a:bodyPr/>
                    <a:lstStyle/>
                    <a:p>
                      <a:r>
                        <a:rPr lang="en-US" sz="1000" dirty="0"/>
                        <a:t>&lt;</a:t>
                      </a:r>
                      <a:r>
                        <a:rPr lang="ru-RU" sz="1000" dirty="0"/>
                        <a:t>Док2</a:t>
                      </a:r>
                      <a:r>
                        <a:rPr lang="en-US" sz="1000" dirty="0"/>
                        <a:t>&gt;</a:t>
                      </a:r>
                      <a:endParaRPr lang="ru-RU" sz="1000" dirty="0"/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000" dirty="0"/>
                        <a:t>…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000" dirty="0"/>
                        <a:t>…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19" name="Стрелка углом 18"/>
          <p:cNvSpPr/>
          <p:nvPr/>
        </p:nvSpPr>
        <p:spPr>
          <a:xfrm rot="10800000" flipH="1">
            <a:off x="1564077" y="3087905"/>
            <a:ext cx="432000" cy="1006227"/>
          </a:xfrm>
          <a:prstGeom prst="bentArrow">
            <a:avLst>
              <a:gd name="adj1" fmla="val 27464"/>
              <a:gd name="adj2" fmla="val 14178"/>
              <a:gd name="adj3" fmla="val 25000"/>
              <a:gd name="adj4" fmla="val 43750"/>
            </a:avLst>
          </a:prstGeom>
          <a:ln>
            <a:solidFill>
              <a:schemeClr val="accent1"/>
            </a:solidFill>
          </a:ln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sz="1350">
              <a:solidFill>
                <a:schemeClr val="tx1"/>
              </a:solidFill>
            </a:endParaRPr>
          </a:p>
        </p:txBody>
      </p:sp>
      <p:sp>
        <p:nvSpPr>
          <p:cNvPr id="8" name="Заголовок 7"/>
          <p:cNvSpPr>
            <a:spLocks noGrp="1"/>
          </p:cNvSpPr>
          <p:nvPr>
            <p:ph type="title"/>
          </p:nvPr>
        </p:nvSpPr>
        <p:spPr>
          <a:xfrm>
            <a:off x="188119" y="571977"/>
            <a:ext cx="8784000" cy="862318"/>
          </a:xfrm>
        </p:spPr>
        <p:txBody>
          <a:bodyPr>
            <a:normAutofit fontScale="90000"/>
          </a:bodyPr>
          <a:lstStyle/>
          <a:p>
            <a:r>
              <a:rPr lang="ru-RU" dirty="0"/>
              <a:t>Обработка проведения</a:t>
            </a:r>
            <a:br>
              <a:rPr lang="ru-RU" dirty="0"/>
            </a:br>
            <a:r>
              <a:rPr lang="ru-RU" dirty="0"/>
              <a:t>(начало)</a:t>
            </a:r>
            <a:endParaRPr lang="ru-RU" dirty="0"/>
          </a:p>
        </p:txBody>
      </p:sp>
      <p:graphicFrame>
        <p:nvGraphicFramePr>
          <p:cNvPr id="24" name="Таблица 23"/>
          <p:cNvGraphicFramePr>
            <a:graphicFrameLocks noGrp="1"/>
          </p:cNvGraphicFramePr>
          <p:nvPr/>
        </p:nvGraphicFramePr>
        <p:xfrm>
          <a:off x="2989445" y="5133641"/>
          <a:ext cx="1442986" cy="314860"/>
        </p:xfrm>
        <a:graphic>
          <a:graphicData uri="http://schemas.openxmlformats.org/drawingml/2006/table">
            <a:tbl>
              <a:tblPr firstRow="1" bandRow="1">
                <a:tableStyleId>{E8B1032C-EA38-4F05-BA0D-38AFFFC7BED3}</a:tableStyleId>
              </a:tblPr>
              <a:tblGrid>
                <a:gridCol w="104674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213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410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486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/>
                        <a:t>&lt;</a:t>
                      </a:r>
                      <a:r>
                        <a:rPr lang="ru-RU" sz="1400" kern="1200" dirty="0"/>
                        <a:t>Док2</a:t>
                      </a:r>
                      <a:r>
                        <a:rPr lang="en-US" sz="1400" kern="1200" dirty="0"/>
                        <a:t>&gt;</a:t>
                      </a:r>
                      <a:endParaRPr lang="ru-RU" sz="1400" b="1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000" dirty="0"/>
                        <a:t>…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000" dirty="0"/>
                        <a:t>…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27" name="Таблица 26"/>
          <p:cNvGraphicFramePr>
            <a:graphicFrameLocks noGrp="1"/>
          </p:cNvGraphicFramePr>
          <p:nvPr/>
        </p:nvGraphicFramePr>
        <p:xfrm>
          <a:off x="4845919" y="5133641"/>
          <a:ext cx="1442986" cy="314860"/>
        </p:xfrm>
        <a:graphic>
          <a:graphicData uri="http://schemas.openxmlformats.org/drawingml/2006/table">
            <a:tbl>
              <a:tblPr firstRow="1" bandRow="1">
                <a:tableStyleId>{5DA37D80-6434-44D0-A028-1B22A696006F}</a:tableStyleId>
              </a:tblPr>
              <a:tblGrid>
                <a:gridCol w="104674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213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410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486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/>
                        <a:t>&lt;</a:t>
                      </a:r>
                      <a:r>
                        <a:rPr lang="ru-RU" sz="1400" kern="1200" dirty="0"/>
                        <a:t>Док2</a:t>
                      </a:r>
                      <a:r>
                        <a:rPr lang="en-US" sz="1400" kern="1200" dirty="0"/>
                        <a:t>&gt;</a:t>
                      </a:r>
                      <a:endParaRPr lang="ru-RU" sz="1400" b="1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000" dirty="0"/>
                        <a:t>…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000" dirty="0"/>
                        <a:t>…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049049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Скругленный прямоугольник 21"/>
          <p:cNvSpPr/>
          <p:nvPr/>
        </p:nvSpPr>
        <p:spPr>
          <a:xfrm>
            <a:off x="2570548" y="2250506"/>
            <a:ext cx="1458227" cy="594000"/>
          </a:xfrm>
          <a:prstGeom prst="round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350" dirty="0"/>
              <a:t>Набор записей по регистру 1</a:t>
            </a:r>
          </a:p>
        </p:txBody>
      </p:sp>
      <p:sp>
        <p:nvSpPr>
          <p:cNvPr id="25" name="Скругленный прямоугольник 24"/>
          <p:cNvSpPr/>
          <p:nvPr/>
        </p:nvSpPr>
        <p:spPr>
          <a:xfrm>
            <a:off x="4383081" y="2250506"/>
            <a:ext cx="1458227" cy="594000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350" dirty="0"/>
              <a:t>Набор записей по регистру 2</a:t>
            </a:r>
          </a:p>
        </p:txBody>
      </p:sp>
      <p:sp>
        <p:nvSpPr>
          <p:cNvPr id="5" name="Скругленный прямоугольник 4"/>
          <p:cNvSpPr/>
          <p:nvPr/>
        </p:nvSpPr>
        <p:spPr>
          <a:xfrm>
            <a:off x="661087" y="4336783"/>
            <a:ext cx="7951573" cy="1481705"/>
          </a:xfrm>
          <a:prstGeom prst="roundRect">
            <a:avLst/>
          </a:prstGeom>
          <a:noFill/>
          <a:ln w="38100">
            <a:solidFill>
              <a:schemeClr val="accent5">
                <a:lumMod val="50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sz="1350"/>
          </a:p>
        </p:txBody>
      </p:sp>
      <p:sp>
        <p:nvSpPr>
          <p:cNvPr id="6" name="Скругленный прямоугольник 5"/>
          <p:cNvSpPr/>
          <p:nvPr/>
        </p:nvSpPr>
        <p:spPr>
          <a:xfrm>
            <a:off x="628650" y="1975537"/>
            <a:ext cx="7984010" cy="2231305"/>
          </a:xfrm>
          <a:prstGeom prst="roundRect">
            <a:avLst/>
          </a:prstGeom>
          <a:noFill/>
          <a:ln w="38100">
            <a:solidFill>
              <a:schemeClr val="accent6">
                <a:shade val="50000"/>
              </a:schemeClr>
            </a:solidFill>
            <a:prstDash val="dash"/>
          </a:ln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sz="1350"/>
          </a:p>
        </p:txBody>
      </p:sp>
      <p:sp>
        <p:nvSpPr>
          <p:cNvPr id="2" name="Овал 1"/>
          <p:cNvSpPr/>
          <p:nvPr/>
        </p:nvSpPr>
        <p:spPr>
          <a:xfrm>
            <a:off x="772429" y="2532046"/>
            <a:ext cx="1739766" cy="555859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350" dirty="0"/>
              <a:t>Документ</a:t>
            </a:r>
            <a:br>
              <a:rPr lang="ru-RU" sz="1350" dirty="0"/>
            </a:br>
            <a:r>
              <a:rPr lang="ru-RU" sz="1350" dirty="0"/>
              <a:t>Объект </a:t>
            </a:r>
          </a:p>
        </p:txBody>
      </p:sp>
      <p:graphicFrame>
        <p:nvGraphicFramePr>
          <p:cNvPr id="3" name="Таблица 2"/>
          <p:cNvGraphicFramePr>
            <a:graphicFrameLocks noGrp="1"/>
          </p:cNvGraphicFramePr>
          <p:nvPr/>
        </p:nvGraphicFramePr>
        <p:xfrm>
          <a:off x="1141397" y="4510111"/>
          <a:ext cx="1442987" cy="629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553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538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207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4860">
                <a:tc>
                  <a:txBody>
                    <a:bodyPr/>
                    <a:lstStyle/>
                    <a:p>
                      <a:r>
                        <a:rPr lang="ru-RU" sz="1000" dirty="0"/>
                        <a:t>Ссылка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000" dirty="0"/>
                        <a:t>…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000" dirty="0"/>
                        <a:t>…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4860">
                <a:tc>
                  <a:txBody>
                    <a:bodyPr/>
                    <a:lstStyle/>
                    <a:p>
                      <a:r>
                        <a:rPr lang="en-US" sz="1000" dirty="0"/>
                        <a:t>&lt;</a:t>
                      </a:r>
                      <a:r>
                        <a:rPr lang="ru-RU" sz="1000" dirty="0"/>
                        <a:t>Док1</a:t>
                      </a:r>
                      <a:r>
                        <a:rPr lang="en-US" sz="1000" dirty="0"/>
                        <a:t>&gt;</a:t>
                      </a:r>
                      <a:endParaRPr lang="ru-RU" sz="1000" dirty="0"/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000" dirty="0"/>
                        <a:t>…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000" dirty="0"/>
                        <a:t>…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3" name="Блок-схема: узел 12"/>
          <p:cNvSpPr/>
          <p:nvPr/>
        </p:nvSpPr>
        <p:spPr>
          <a:xfrm>
            <a:off x="6105967" y="2808170"/>
            <a:ext cx="173255" cy="184084"/>
          </a:xfrm>
          <a:prstGeom prst="flowChartConnector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sz="1350"/>
          </a:p>
        </p:txBody>
      </p:sp>
      <p:sp>
        <p:nvSpPr>
          <p:cNvPr id="14" name="Блок-схема: узел 13"/>
          <p:cNvSpPr/>
          <p:nvPr/>
        </p:nvSpPr>
        <p:spPr>
          <a:xfrm>
            <a:off x="6335168" y="2808170"/>
            <a:ext cx="173255" cy="184084"/>
          </a:xfrm>
          <a:prstGeom prst="flowChartConnector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sz="1350"/>
          </a:p>
        </p:txBody>
      </p:sp>
      <p:sp>
        <p:nvSpPr>
          <p:cNvPr id="15" name="Блок-схема: узел 14"/>
          <p:cNvSpPr/>
          <p:nvPr/>
        </p:nvSpPr>
        <p:spPr>
          <a:xfrm>
            <a:off x="5864132" y="2808169"/>
            <a:ext cx="173255" cy="184084"/>
          </a:xfrm>
          <a:prstGeom prst="flowChartConnector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sz="1350"/>
          </a:p>
        </p:txBody>
      </p:sp>
      <p:graphicFrame>
        <p:nvGraphicFramePr>
          <p:cNvPr id="17" name="Таблица 16"/>
          <p:cNvGraphicFramePr>
            <a:graphicFrameLocks noGrp="1"/>
          </p:cNvGraphicFramePr>
          <p:nvPr/>
        </p:nvGraphicFramePr>
        <p:xfrm>
          <a:off x="2974206" y="4510111"/>
          <a:ext cx="1442986" cy="62972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04674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213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410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4860">
                <a:tc>
                  <a:txBody>
                    <a:bodyPr/>
                    <a:lstStyle/>
                    <a:p>
                      <a:r>
                        <a:rPr lang="ru-RU" sz="1000" dirty="0"/>
                        <a:t>Регистратор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endParaRPr lang="ru-RU" sz="1000" dirty="0"/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endParaRPr lang="ru-RU" sz="1000" dirty="0"/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486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/>
                        <a:t>&lt;</a:t>
                      </a:r>
                      <a:r>
                        <a:rPr lang="ru-RU" sz="1000" dirty="0"/>
                        <a:t>Док1</a:t>
                      </a:r>
                      <a:r>
                        <a:rPr lang="en-US" sz="1000" dirty="0"/>
                        <a:t>&gt;</a:t>
                      </a:r>
                      <a:endParaRPr lang="ru-RU" sz="1000" dirty="0"/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000" dirty="0"/>
                        <a:t>…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000" dirty="0"/>
                        <a:t>…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20" name="Таблица 19"/>
          <p:cNvGraphicFramePr>
            <a:graphicFrameLocks noGrp="1"/>
          </p:cNvGraphicFramePr>
          <p:nvPr/>
        </p:nvGraphicFramePr>
        <p:xfrm>
          <a:off x="4838300" y="4510111"/>
          <a:ext cx="1442986" cy="62972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04674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213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410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4860">
                <a:tc>
                  <a:txBody>
                    <a:bodyPr/>
                    <a:lstStyle/>
                    <a:p>
                      <a:r>
                        <a:rPr lang="ru-RU" sz="1000" dirty="0"/>
                        <a:t>Регистратор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endParaRPr lang="ru-RU" sz="1000" dirty="0"/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endParaRPr lang="ru-RU" sz="1000" dirty="0"/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486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/>
                        <a:t>&lt;</a:t>
                      </a:r>
                      <a:r>
                        <a:rPr lang="ru-RU" sz="1000" dirty="0"/>
                        <a:t>Док1</a:t>
                      </a:r>
                      <a:r>
                        <a:rPr lang="en-US" sz="1000" dirty="0"/>
                        <a:t>&gt;</a:t>
                      </a:r>
                      <a:endParaRPr lang="ru-RU" sz="1000" dirty="0"/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000" dirty="0"/>
                        <a:t>…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000" dirty="0"/>
                        <a:t>…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21" name="Таблица 20"/>
          <p:cNvGraphicFramePr>
            <a:graphicFrameLocks noGrp="1"/>
          </p:cNvGraphicFramePr>
          <p:nvPr/>
        </p:nvGraphicFramePr>
        <p:xfrm>
          <a:off x="7098432" y="4510111"/>
          <a:ext cx="1442986" cy="629720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104674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213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410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4860">
                <a:tc>
                  <a:txBody>
                    <a:bodyPr/>
                    <a:lstStyle/>
                    <a:p>
                      <a:r>
                        <a:rPr lang="ru-RU" sz="1000" dirty="0"/>
                        <a:t>Регистратор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endParaRPr lang="ru-RU" sz="1000" dirty="0"/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endParaRPr lang="ru-RU" sz="1000" dirty="0"/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486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/>
                        <a:t>&lt;</a:t>
                      </a:r>
                      <a:r>
                        <a:rPr lang="ru-RU" sz="1000" dirty="0"/>
                        <a:t>Док1</a:t>
                      </a:r>
                      <a:r>
                        <a:rPr lang="en-US" sz="1000" dirty="0"/>
                        <a:t>&gt;</a:t>
                      </a:r>
                      <a:endParaRPr lang="ru-RU" sz="1000" dirty="0"/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000" dirty="0"/>
                        <a:t>…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000" dirty="0"/>
                        <a:t>…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7" name="Стрелка углом 6"/>
          <p:cNvSpPr/>
          <p:nvPr/>
        </p:nvSpPr>
        <p:spPr>
          <a:xfrm rot="5400000" flipH="1">
            <a:off x="4439969" y="1047142"/>
            <a:ext cx="430620" cy="5657771"/>
          </a:xfrm>
          <a:prstGeom prst="bentArrow">
            <a:avLst>
              <a:gd name="adj1" fmla="val 27464"/>
              <a:gd name="adj2" fmla="val 25000"/>
              <a:gd name="adj3" fmla="val 25000"/>
              <a:gd name="adj4" fmla="val 43750"/>
            </a:avLst>
          </a:prstGeom>
          <a:ln>
            <a:solidFill>
              <a:schemeClr val="accent1"/>
            </a:solidFill>
          </a:ln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sz="1350">
              <a:solidFill>
                <a:schemeClr val="tx1"/>
              </a:solidFill>
            </a:endParaRPr>
          </a:p>
        </p:txBody>
      </p:sp>
      <p:graphicFrame>
        <p:nvGraphicFramePr>
          <p:cNvPr id="18" name="Таблица 17"/>
          <p:cNvGraphicFramePr>
            <a:graphicFrameLocks noGrp="1"/>
          </p:cNvGraphicFramePr>
          <p:nvPr/>
        </p:nvGraphicFramePr>
        <p:xfrm>
          <a:off x="1141397" y="5140860"/>
          <a:ext cx="1442987" cy="314860"/>
        </p:xfrm>
        <a:graphic>
          <a:graphicData uri="http://schemas.openxmlformats.org/drawingml/2006/table">
            <a:tbl>
              <a:tblPr firstRow="1" bandRow="1">
                <a:tableStyleId>{BC89EF96-8CEA-46FF-86C4-4CE0E7609802}</a:tableStyleId>
              </a:tblPr>
              <a:tblGrid>
                <a:gridCol w="73553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538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207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4860">
                <a:tc>
                  <a:txBody>
                    <a:bodyPr/>
                    <a:lstStyle/>
                    <a:p>
                      <a:r>
                        <a:rPr lang="en-US" sz="1000" dirty="0"/>
                        <a:t>&lt;</a:t>
                      </a:r>
                      <a:r>
                        <a:rPr lang="ru-RU" sz="1000" dirty="0"/>
                        <a:t>Док2</a:t>
                      </a:r>
                      <a:r>
                        <a:rPr lang="en-US" sz="1000" dirty="0"/>
                        <a:t>&gt;</a:t>
                      </a:r>
                      <a:endParaRPr lang="ru-RU" sz="1000" dirty="0"/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000" dirty="0"/>
                        <a:t>…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000" dirty="0"/>
                        <a:t>…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19" name="Стрелка углом 18"/>
          <p:cNvSpPr/>
          <p:nvPr/>
        </p:nvSpPr>
        <p:spPr>
          <a:xfrm rot="10800000" flipH="1">
            <a:off x="1564077" y="3087905"/>
            <a:ext cx="432000" cy="1006227"/>
          </a:xfrm>
          <a:prstGeom prst="bentArrow">
            <a:avLst>
              <a:gd name="adj1" fmla="val 27464"/>
              <a:gd name="adj2" fmla="val 14178"/>
              <a:gd name="adj3" fmla="val 25000"/>
              <a:gd name="adj4" fmla="val 43750"/>
            </a:avLst>
          </a:prstGeom>
          <a:ln>
            <a:solidFill>
              <a:schemeClr val="accent1"/>
            </a:solidFill>
          </a:ln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sz="1350">
              <a:solidFill>
                <a:schemeClr val="tx1"/>
              </a:solidFill>
            </a:endParaRPr>
          </a:p>
        </p:txBody>
      </p:sp>
      <p:sp>
        <p:nvSpPr>
          <p:cNvPr id="8" name="Заголовок 7"/>
          <p:cNvSpPr>
            <a:spLocks noGrp="1"/>
          </p:cNvSpPr>
          <p:nvPr>
            <p:ph type="title"/>
          </p:nvPr>
        </p:nvSpPr>
        <p:spPr>
          <a:xfrm>
            <a:off x="188119" y="571977"/>
            <a:ext cx="8784000" cy="830748"/>
          </a:xfrm>
        </p:spPr>
        <p:txBody>
          <a:bodyPr>
            <a:normAutofit fontScale="90000"/>
          </a:bodyPr>
          <a:lstStyle/>
          <a:p>
            <a:r>
              <a:rPr lang="ru-RU" dirty="0"/>
              <a:t>Обработка проведения.</a:t>
            </a:r>
            <a:br>
              <a:rPr lang="ru-RU" dirty="0"/>
            </a:br>
            <a:r>
              <a:rPr lang="ru-RU" dirty="0"/>
              <a:t>(Заполнение наборов записей)</a:t>
            </a:r>
            <a:endParaRPr lang="ru-RU" dirty="0"/>
          </a:p>
        </p:txBody>
      </p:sp>
      <p:graphicFrame>
        <p:nvGraphicFramePr>
          <p:cNvPr id="24" name="Таблица 23"/>
          <p:cNvGraphicFramePr>
            <a:graphicFrameLocks noGrp="1"/>
          </p:cNvGraphicFramePr>
          <p:nvPr/>
        </p:nvGraphicFramePr>
        <p:xfrm>
          <a:off x="2989445" y="5133641"/>
          <a:ext cx="1442986" cy="314860"/>
        </p:xfrm>
        <a:graphic>
          <a:graphicData uri="http://schemas.openxmlformats.org/drawingml/2006/table">
            <a:tbl>
              <a:tblPr firstRow="1" bandRow="1">
                <a:tableStyleId>{E8B1032C-EA38-4F05-BA0D-38AFFFC7BED3}</a:tableStyleId>
              </a:tblPr>
              <a:tblGrid>
                <a:gridCol w="104674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213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410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486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/>
                        <a:t>&lt;</a:t>
                      </a:r>
                      <a:r>
                        <a:rPr lang="ru-RU" sz="1400" kern="1200" dirty="0"/>
                        <a:t>Док2</a:t>
                      </a:r>
                      <a:r>
                        <a:rPr lang="en-US" sz="1400" kern="1200" dirty="0"/>
                        <a:t>&gt;</a:t>
                      </a:r>
                      <a:endParaRPr lang="ru-RU" sz="1400" b="1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000" dirty="0"/>
                        <a:t>…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000" dirty="0"/>
                        <a:t>…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27" name="Таблица 26"/>
          <p:cNvGraphicFramePr>
            <a:graphicFrameLocks noGrp="1"/>
          </p:cNvGraphicFramePr>
          <p:nvPr/>
        </p:nvGraphicFramePr>
        <p:xfrm>
          <a:off x="4845919" y="5133641"/>
          <a:ext cx="1442986" cy="314860"/>
        </p:xfrm>
        <a:graphic>
          <a:graphicData uri="http://schemas.openxmlformats.org/drawingml/2006/table">
            <a:tbl>
              <a:tblPr firstRow="1" bandRow="1">
                <a:tableStyleId>{5DA37D80-6434-44D0-A028-1B22A696006F}</a:tableStyleId>
              </a:tblPr>
              <a:tblGrid>
                <a:gridCol w="104674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213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410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486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/>
                        <a:t>&lt;</a:t>
                      </a:r>
                      <a:r>
                        <a:rPr lang="ru-RU" sz="1400" kern="1200" dirty="0"/>
                        <a:t>Док2</a:t>
                      </a:r>
                      <a:r>
                        <a:rPr lang="en-US" sz="1400" kern="1200" dirty="0"/>
                        <a:t>&gt;</a:t>
                      </a:r>
                      <a:endParaRPr lang="ru-RU" sz="1400" b="1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000" dirty="0"/>
                        <a:t>…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000" dirty="0"/>
                        <a:t>…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23" name="Скругленный прямоугольник 22"/>
          <p:cNvSpPr/>
          <p:nvPr/>
        </p:nvSpPr>
        <p:spPr>
          <a:xfrm>
            <a:off x="6602472" y="2250505"/>
            <a:ext cx="1458227" cy="1284974"/>
          </a:xfrm>
          <a:prstGeom prst="round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350" dirty="0"/>
              <a:t>Набор записей по регистру </a:t>
            </a:r>
            <a:r>
              <a:rPr lang="en-US" sz="1350" dirty="0"/>
              <a:t>N</a:t>
            </a:r>
            <a:endParaRPr lang="ru-RU" sz="1350" dirty="0"/>
          </a:p>
        </p:txBody>
      </p:sp>
    </p:spTree>
    <p:extLst>
      <p:ext uri="{BB962C8B-B14F-4D97-AF65-F5344CB8AC3E}">
        <p14:creationId xmlns:p14="http://schemas.microsoft.com/office/powerpoint/2010/main" val="136714085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/>
          <p:cNvSpPr>
            <a:spLocks noGrp="1"/>
          </p:cNvSpPr>
          <p:nvPr>
            <p:ph type="title"/>
          </p:nvPr>
        </p:nvSpPr>
        <p:spPr>
          <a:xfrm>
            <a:off x="188119" y="571977"/>
            <a:ext cx="8784000" cy="745480"/>
          </a:xfrm>
        </p:spPr>
        <p:txBody>
          <a:bodyPr>
            <a:normAutofit fontScale="90000"/>
          </a:bodyPr>
          <a:lstStyle/>
          <a:p>
            <a:r>
              <a:rPr lang="ru-RU" sz="2800" dirty="0"/>
              <a:t>Окончание обработки проведения.</a:t>
            </a:r>
            <a:br>
              <a:rPr lang="ru-RU" sz="2800" dirty="0"/>
            </a:br>
            <a:r>
              <a:rPr lang="ru-RU" sz="2800" dirty="0"/>
              <a:t>(Запись помеченных наборов записей)</a:t>
            </a:r>
            <a:endParaRPr lang="ru-RU" sz="3000" dirty="0"/>
          </a:p>
        </p:txBody>
      </p:sp>
      <p:sp>
        <p:nvSpPr>
          <p:cNvPr id="5" name="Скругленный прямоугольник 4"/>
          <p:cNvSpPr/>
          <p:nvPr/>
        </p:nvSpPr>
        <p:spPr>
          <a:xfrm>
            <a:off x="661087" y="4336783"/>
            <a:ext cx="7951573" cy="1481705"/>
          </a:xfrm>
          <a:prstGeom prst="roundRect">
            <a:avLst/>
          </a:prstGeom>
          <a:noFill/>
          <a:ln w="38100">
            <a:solidFill>
              <a:schemeClr val="accent5">
                <a:lumMod val="50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sz="1350"/>
          </a:p>
        </p:txBody>
      </p:sp>
      <p:sp>
        <p:nvSpPr>
          <p:cNvPr id="6" name="Скругленный прямоугольник 5"/>
          <p:cNvSpPr/>
          <p:nvPr/>
        </p:nvSpPr>
        <p:spPr>
          <a:xfrm>
            <a:off x="628650" y="1975537"/>
            <a:ext cx="7984010" cy="2231305"/>
          </a:xfrm>
          <a:prstGeom prst="roundRect">
            <a:avLst/>
          </a:prstGeom>
          <a:noFill/>
          <a:ln w="38100">
            <a:solidFill>
              <a:schemeClr val="accent6">
                <a:shade val="50000"/>
              </a:schemeClr>
            </a:solidFill>
            <a:prstDash val="dash"/>
          </a:ln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sz="1350"/>
          </a:p>
        </p:txBody>
      </p:sp>
      <p:sp>
        <p:nvSpPr>
          <p:cNvPr id="2" name="Овал 1"/>
          <p:cNvSpPr/>
          <p:nvPr/>
        </p:nvSpPr>
        <p:spPr>
          <a:xfrm>
            <a:off x="772429" y="2532046"/>
            <a:ext cx="1739766" cy="555859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350" dirty="0"/>
              <a:t>Документ</a:t>
            </a:r>
            <a:br>
              <a:rPr lang="ru-RU" sz="1350" dirty="0"/>
            </a:br>
            <a:r>
              <a:rPr lang="ru-RU" sz="1350" dirty="0"/>
              <a:t>Объект </a:t>
            </a:r>
          </a:p>
        </p:txBody>
      </p:sp>
      <p:graphicFrame>
        <p:nvGraphicFramePr>
          <p:cNvPr id="3" name="Таблица 2"/>
          <p:cNvGraphicFramePr>
            <a:graphicFrameLocks noGrp="1"/>
          </p:cNvGraphicFramePr>
          <p:nvPr/>
        </p:nvGraphicFramePr>
        <p:xfrm>
          <a:off x="1141397" y="4510111"/>
          <a:ext cx="1442987" cy="629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553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538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207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4860">
                <a:tc>
                  <a:txBody>
                    <a:bodyPr/>
                    <a:lstStyle/>
                    <a:p>
                      <a:r>
                        <a:rPr lang="ru-RU" sz="1000" dirty="0"/>
                        <a:t>Ссылка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000" dirty="0"/>
                        <a:t>…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000" dirty="0"/>
                        <a:t>…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4860">
                <a:tc>
                  <a:txBody>
                    <a:bodyPr/>
                    <a:lstStyle/>
                    <a:p>
                      <a:r>
                        <a:rPr lang="en-US" sz="1000" dirty="0"/>
                        <a:t>&lt;</a:t>
                      </a:r>
                      <a:r>
                        <a:rPr lang="ru-RU" sz="1000" dirty="0"/>
                        <a:t>Док1</a:t>
                      </a:r>
                      <a:r>
                        <a:rPr lang="en-US" sz="1000" dirty="0"/>
                        <a:t>&gt;</a:t>
                      </a:r>
                      <a:endParaRPr lang="ru-RU" sz="1000" dirty="0"/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000" dirty="0"/>
                        <a:t>…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000" dirty="0"/>
                        <a:t>…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2" name="Скругленный прямоугольник 11"/>
          <p:cNvSpPr/>
          <p:nvPr/>
        </p:nvSpPr>
        <p:spPr>
          <a:xfrm>
            <a:off x="6602472" y="2250505"/>
            <a:ext cx="1458227" cy="1284974"/>
          </a:xfrm>
          <a:prstGeom prst="round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350" dirty="0"/>
              <a:t>Набор записей по регистру </a:t>
            </a:r>
            <a:r>
              <a:rPr lang="en-US" sz="1350" dirty="0"/>
              <a:t>N</a:t>
            </a:r>
            <a:endParaRPr lang="ru-RU" sz="1350" dirty="0"/>
          </a:p>
        </p:txBody>
      </p:sp>
      <p:sp>
        <p:nvSpPr>
          <p:cNvPr id="13" name="Блок-схема: узел 12"/>
          <p:cNvSpPr/>
          <p:nvPr/>
        </p:nvSpPr>
        <p:spPr>
          <a:xfrm>
            <a:off x="6105967" y="2808170"/>
            <a:ext cx="173255" cy="184084"/>
          </a:xfrm>
          <a:prstGeom prst="flowChartConnector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sz="1350"/>
          </a:p>
        </p:txBody>
      </p:sp>
      <p:sp>
        <p:nvSpPr>
          <p:cNvPr id="14" name="Блок-схема: узел 13"/>
          <p:cNvSpPr/>
          <p:nvPr/>
        </p:nvSpPr>
        <p:spPr>
          <a:xfrm>
            <a:off x="6335168" y="2808170"/>
            <a:ext cx="173255" cy="184084"/>
          </a:xfrm>
          <a:prstGeom prst="flowChartConnector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sz="1350"/>
          </a:p>
        </p:txBody>
      </p:sp>
      <p:sp>
        <p:nvSpPr>
          <p:cNvPr id="15" name="Блок-схема: узел 14"/>
          <p:cNvSpPr/>
          <p:nvPr/>
        </p:nvSpPr>
        <p:spPr>
          <a:xfrm>
            <a:off x="5864132" y="2808169"/>
            <a:ext cx="173255" cy="184084"/>
          </a:xfrm>
          <a:prstGeom prst="flowChartConnector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sz="1350"/>
          </a:p>
        </p:txBody>
      </p:sp>
      <p:graphicFrame>
        <p:nvGraphicFramePr>
          <p:cNvPr id="17" name="Таблица 16"/>
          <p:cNvGraphicFramePr>
            <a:graphicFrameLocks noGrp="1"/>
          </p:cNvGraphicFramePr>
          <p:nvPr/>
        </p:nvGraphicFramePr>
        <p:xfrm>
          <a:off x="2974206" y="4510111"/>
          <a:ext cx="1442986" cy="62972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04674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213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410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4860">
                <a:tc>
                  <a:txBody>
                    <a:bodyPr/>
                    <a:lstStyle/>
                    <a:p>
                      <a:r>
                        <a:rPr lang="ru-RU" sz="1000" dirty="0"/>
                        <a:t>Регистратор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endParaRPr lang="ru-RU" sz="1000" dirty="0"/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endParaRPr lang="ru-RU" sz="1000" dirty="0"/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486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/>
                        <a:t>&lt;</a:t>
                      </a:r>
                      <a:r>
                        <a:rPr lang="ru-RU" sz="1000" dirty="0"/>
                        <a:t>Док1</a:t>
                      </a:r>
                      <a:r>
                        <a:rPr lang="en-US" sz="1000" dirty="0"/>
                        <a:t>&gt;</a:t>
                      </a:r>
                      <a:endParaRPr lang="ru-RU" sz="1000" dirty="0"/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000" dirty="0"/>
                        <a:t>…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000" dirty="0"/>
                        <a:t>…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20" name="Таблица 19"/>
          <p:cNvGraphicFramePr>
            <a:graphicFrameLocks noGrp="1"/>
          </p:cNvGraphicFramePr>
          <p:nvPr/>
        </p:nvGraphicFramePr>
        <p:xfrm>
          <a:off x="4838300" y="4510111"/>
          <a:ext cx="1442986" cy="62972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04674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213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410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4860">
                <a:tc>
                  <a:txBody>
                    <a:bodyPr/>
                    <a:lstStyle/>
                    <a:p>
                      <a:r>
                        <a:rPr lang="ru-RU" sz="1000" dirty="0"/>
                        <a:t>Регистратор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endParaRPr lang="ru-RU" sz="1000" dirty="0"/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endParaRPr lang="ru-RU" sz="1000" dirty="0"/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486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/>
                        <a:t>&lt;</a:t>
                      </a:r>
                      <a:r>
                        <a:rPr lang="ru-RU" sz="1000" dirty="0"/>
                        <a:t>Док1</a:t>
                      </a:r>
                      <a:r>
                        <a:rPr lang="en-US" sz="1000" dirty="0"/>
                        <a:t>&gt;</a:t>
                      </a:r>
                      <a:endParaRPr lang="ru-RU" sz="1000" dirty="0"/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000" dirty="0"/>
                        <a:t>…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000" dirty="0"/>
                        <a:t>…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21" name="Таблица 20"/>
          <p:cNvGraphicFramePr>
            <a:graphicFrameLocks noGrp="1"/>
          </p:cNvGraphicFramePr>
          <p:nvPr/>
        </p:nvGraphicFramePr>
        <p:xfrm>
          <a:off x="7098432" y="4510111"/>
          <a:ext cx="1442986" cy="629720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104674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213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410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4860">
                <a:tc>
                  <a:txBody>
                    <a:bodyPr/>
                    <a:lstStyle/>
                    <a:p>
                      <a:r>
                        <a:rPr lang="ru-RU" sz="1000" dirty="0"/>
                        <a:t>Регистратор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endParaRPr lang="ru-RU" sz="1000" dirty="0"/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endParaRPr lang="ru-RU" sz="1000" dirty="0"/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486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/>
                        <a:t>&lt;</a:t>
                      </a:r>
                      <a:r>
                        <a:rPr lang="ru-RU" sz="1000" dirty="0"/>
                        <a:t>Док1</a:t>
                      </a:r>
                      <a:r>
                        <a:rPr lang="en-US" sz="1000" dirty="0"/>
                        <a:t>&gt;</a:t>
                      </a:r>
                      <a:endParaRPr lang="ru-RU" sz="1000" dirty="0"/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000" dirty="0"/>
                        <a:t>…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000" dirty="0"/>
                        <a:t>…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18" name="Таблица 17"/>
          <p:cNvGraphicFramePr>
            <a:graphicFrameLocks noGrp="1"/>
          </p:cNvGraphicFramePr>
          <p:nvPr/>
        </p:nvGraphicFramePr>
        <p:xfrm>
          <a:off x="1141397" y="5140860"/>
          <a:ext cx="1442987" cy="314860"/>
        </p:xfrm>
        <a:graphic>
          <a:graphicData uri="http://schemas.openxmlformats.org/drawingml/2006/table">
            <a:tbl>
              <a:tblPr firstRow="1" bandRow="1">
                <a:tableStyleId>{BC89EF96-8CEA-46FF-86C4-4CE0E7609802}</a:tableStyleId>
              </a:tblPr>
              <a:tblGrid>
                <a:gridCol w="73553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538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207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4860">
                <a:tc>
                  <a:txBody>
                    <a:bodyPr/>
                    <a:lstStyle/>
                    <a:p>
                      <a:r>
                        <a:rPr lang="en-US" sz="1000" dirty="0"/>
                        <a:t>&lt;</a:t>
                      </a:r>
                      <a:r>
                        <a:rPr lang="ru-RU" sz="1000" dirty="0"/>
                        <a:t>Док2</a:t>
                      </a:r>
                      <a:r>
                        <a:rPr lang="en-US" sz="1000" dirty="0"/>
                        <a:t>&gt;</a:t>
                      </a:r>
                      <a:endParaRPr lang="ru-RU" sz="1000" dirty="0"/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000" dirty="0"/>
                        <a:t>…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000" dirty="0"/>
                        <a:t>…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9" name="Таблица 18"/>
          <p:cNvGraphicFramePr>
            <a:graphicFrameLocks noGrp="1"/>
          </p:cNvGraphicFramePr>
          <p:nvPr/>
        </p:nvGraphicFramePr>
        <p:xfrm>
          <a:off x="2989447" y="5133641"/>
          <a:ext cx="1442986" cy="314860"/>
        </p:xfrm>
        <a:graphic>
          <a:graphicData uri="http://schemas.openxmlformats.org/drawingml/2006/table">
            <a:tbl>
              <a:tblPr firstRow="1" bandRow="1">
                <a:tableStyleId>{E8B1032C-EA38-4F05-BA0D-38AFFFC7BED3}</a:tableStyleId>
              </a:tblPr>
              <a:tblGrid>
                <a:gridCol w="104674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213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410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486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/>
                        <a:t>&lt;</a:t>
                      </a:r>
                      <a:r>
                        <a:rPr lang="ru-RU" sz="1400" kern="1200" dirty="0"/>
                        <a:t>Док2</a:t>
                      </a:r>
                      <a:r>
                        <a:rPr lang="en-US" sz="1400" kern="1200" dirty="0"/>
                        <a:t>&gt;</a:t>
                      </a:r>
                      <a:endParaRPr lang="ru-RU" sz="1400" b="1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000" dirty="0"/>
                        <a:t>…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000" dirty="0"/>
                        <a:t>…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23" name="Таблица 22"/>
          <p:cNvGraphicFramePr>
            <a:graphicFrameLocks noGrp="1"/>
          </p:cNvGraphicFramePr>
          <p:nvPr/>
        </p:nvGraphicFramePr>
        <p:xfrm>
          <a:off x="4845921" y="5133641"/>
          <a:ext cx="1442986" cy="314860"/>
        </p:xfrm>
        <a:graphic>
          <a:graphicData uri="http://schemas.openxmlformats.org/drawingml/2006/table">
            <a:tbl>
              <a:tblPr firstRow="1" bandRow="1">
                <a:tableStyleId>{5DA37D80-6434-44D0-A028-1B22A696006F}</a:tableStyleId>
              </a:tblPr>
              <a:tblGrid>
                <a:gridCol w="104674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213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410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486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/>
                        <a:t>&lt;</a:t>
                      </a:r>
                      <a:r>
                        <a:rPr lang="ru-RU" sz="1400" kern="1200" dirty="0"/>
                        <a:t>Док2</a:t>
                      </a:r>
                      <a:r>
                        <a:rPr lang="en-US" sz="1400" kern="1200" dirty="0"/>
                        <a:t>&gt;</a:t>
                      </a:r>
                      <a:endParaRPr lang="ru-RU" sz="1400" b="1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000" dirty="0"/>
                        <a:t>…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000" dirty="0"/>
                        <a:t>…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24" name="Таблица 23"/>
          <p:cNvGraphicFramePr>
            <a:graphicFrameLocks noGrp="1"/>
          </p:cNvGraphicFramePr>
          <p:nvPr/>
        </p:nvGraphicFramePr>
        <p:xfrm>
          <a:off x="7098432" y="5133641"/>
          <a:ext cx="1442986" cy="314860"/>
        </p:xfrm>
        <a:graphic>
          <a:graphicData uri="http://schemas.openxmlformats.org/drawingml/2006/table">
            <a:tbl>
              <a:tblPr firstRow="1" bandRow="1">
                <a:tableStyleId>{ED083AE6-46FA-4A59-8FB0-9F97EB10719F}</a:tableStyleId>
              </a:tblPr>
              <a:tblGrid>
                <a:gridCol w="104674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213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410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486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/>
                        <a:t>&lt;</a:t>
                      </a:r>
                      <a:r>
                        <a:rPr lang="ru-RU" sz="1400" kern="1200" dirty="0"/>
                        <a:t>Док2</a:t>
                      </a:r>
                      <a:r>
                        <a:rPr lang="en-US" sz="1400" kern="1200" dirty="0"/>
                        <a:t>&gt;</a:t>
                      </a:r>
                      <a:endParaRPr lang="ru-RU" sz="1400" b="1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000" dirty="0"/>
                        <a:t>…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000" dirty="0"/>
                        <a:t>…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27" name="Стрелка углом 26"/>
          <p:cNvSpPr/>
          <p:nvPr/>
        </p:nvSpPr>
        <p:spPr>
          <a:xfrm rot="10800000" flipH="1">
            <a:off x="6785810" y="3535480"/>
            <a:ext cx="292921" cy="1884146"/>
          </a:xfrm>
          <a:prstGeom prst="bentArrow">
            <a:avLst>
              <a:gd name="adj1" fmla="val 27464"/>
              <a:gd name="adj2" fmla="val 25000"/>
              <a:gd name="adj3" fmla="val 25000"/>
              <a:gd name="adj4" fmla="val 43750"/>
            </a:avLst>
          </a:prstGeom>
          <a:ln/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sz="1350">
              <a:solidFill>
                <a:schemeClr val="tx1"/>
              </a:solidFill>
            </a:endParaRPr>
          </a:p>
        </p:txBody>
      </p:sp>
      <p:sp>
        <p:nvSpPr>
          <p:cNvPr id="28" name="Скругленный прямоугольник 27"/>
          <p:cNvSpPr/>
          <p:nvPr/>
        </p:nvSpPr>
        <p:spPr>
          <a:xfrm>
            <a:off x="2570548" y="2250506"/>
            <a:ext cx="1458227" cy="594000"/>
          </a:xfrm>
          <a:prstGeom prst="round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350" dirty="0"/>
              <a:t>Набор записей по регистру 1</a:t>
            </a:r>
          </a:p>
        </p:txBody>
      </p:sp>
      <p:sp>
        <p:nvSpPr>
          <p:cNvPr id="29" name="Скругленный прямоугольник 28"/>
          <p:cNvSpPr/>
          <p:nvPr/>
        </p:nvSpPr>
        <p:spPr>
          <a:xfrm>
            <a:off x="4383081" y="2250506"/>
            <a:ext cx="1458227" cy="594000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350" dirty="0"/>
              <a:t>Набор записей по регистру 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26770" y="1543239"/>
            <a:ext cx="23153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err="1" smtClean="0">
                <a:solidFill>
                  <a:srgbClr val="0070C0"/>
                </a:solidFill>
              </a:rPr>
              <a:t>Движения</a:t>
            </a:r>
            <a:r>
              <a:rPr lang="ru-RU" dirty="0" err="1" smtClean="0">
                <a:solidFill>
                  <a:srgbClr val="FF0000"/>
                </a:solidFill>
              </a:rPr>
              <a:t>.</a:t>
            </a:r>
            <a:r>
              <a:rPr lang="ru-RU" dirty="0" err="1" smtClean="0">
                <a:solidFill>
                  <a:srgbClr val="0070C0"/>
                </a:solidFill>
              </a:rPr>
              <a:t>Записать</a:t>
            </a:r>
            <a:r>
              <a:rPr lang="ru-RU" dirty="0" smtClean="0">
                <a:solidFill>
                  <a:srgbClr val="FF0000"/>
                </a:solidFill>
              </a:rPr>
              <a:t>();</a:t>
            </a:r>
            <a:endParaRPr lang="ru-RU" dirty="0">
              <a:solidFill>
                <a:srgbClr val="FF0000"/>
              </a:solidFill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526770" y="1306119"/>
            <a:ext cx="45096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>
                <a:solidFill>
                  <a:srgbClr val="0070C0"/>
                </a:solidFill>
              </a:rPr>
              <a:t>Движения</a:t>
            </a:r>
            <a:r>
              <a:rPr lang="ru-RU" dirty="0" smtClean="0">
                <a:solidFill>
                  <a:srgbClr val="FF0000"/>
                </a:solidFill>
              </a:rPr>
              <a:t>.</a:t>
            </a:r>
            <a:r>
              <a:rPr lang="ru-RU" dirty="0" smtClean="0">
                <a:solidFill>
                  <a:srgbClr val="0070C0"/>
                </a:solidFill>
              </a:rPr>
              <a:t>Регистр3.Записывать </a:t>
            </a:r>
            <a:r>
              <a:rPr lang="ru-RU" dirty="0" smtClean="0">
                <a:solidFill>
                  <a:srgbClr val="FF0000"/>
                </a:solidFill>
              </a:rPr>
              <a:t>= ИСТИНА;</a:t>
            </a:r>
            <a:endParaRPr lang="ru-RU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1007954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/>
          <p:cNvSpPr>
            <a:spLocks noGrp="1"/>
          </p:cNvSpPr>
          <p:nvPr>
            <p:ph type="title"/>
          </p:nvPr>
        </p:nvSpPr>
        <p:spPr>
          <a:xfrm>
            <a:off x="188119" y="571976"/>
            <a:ext cx="8784000" cy="999871"/>
          </a:xfrm>
        </p:spPr>
        <p:txBody>
          <a:bodyPr/>
          <a:lstStyle/>
          <a:p>
            <a:pPr algn="ctr"/>
            <a:r>
              <a:rPr lang="ru-RU" dirty="0"/>
              <a:t>Состояние после повторного проведения</a:t>
            </a:r>
          </a:p>
        </p:txBody>
      </p:sp>
      <p:sp>
        <p:nvSpPr>
          <p:cNvPr id="5" name="Скругленный прямоугольник 4"/>
          <p:cNvSpPr/>
          <p:nvPr/>
        </p:nvSpPr>
        <p:spPr>
          <a:xfrm>
            <a:off x="661087" y="4336783"/>
            <a:ext cx="7951573" cy="1481705"/>
          </a:xfrm>
          <a:prstGeom prst="roundRect">
            <a:avLst/>
          </a:prstGeom>
          <a:noFill/>
          <a:ln w="38100">
            <a:solidFill>
              <a:schemeClr val="accent5">
                <a:lumMod val="50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sz="1350"/>
          </a:p>
        </p:txBody>
      </p:sp>
      <p:sp>
        <p:nvSpPr>
          <p:cNvPr id="6" name="Скругленный прямоугольник 5"/>
          <p:cNvSpPr/>
          <p:nvPr/>
        </p:nvSpPr>
        <p:spPr>
          <a:xfrm>
            <a:off x="628650" y="1975537"/>
            <a:ext cx="7984010" cy="2231305"/>
          </a:xfrm>
          <a:prstGeom prst="roundRect">
            <a:avLst/>
          </a:prstGeom>
          <a:noFill/>
          <a:ln w="38100">
            <a:solidFill>
              <a:schemeClr val="accent6">
                <a:shade val="50000"/>
              </a:schemeClr>
            </a:solidFill>
            <a:prstDash val="dash"/>
          </a:ln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sz="1350"/>
          </a:p>
        </p:txBody>
      </p:sp>
      <p:sp>
        <p:nvSpPr>
          <p:cNvPr id="2" name="Овал 1"/>
          <p:cNvSpPr/>
          <p:nvPr/>
        </p:nvSpPr>
        <p:spPr>
          <a:xfrm>
            <a:off x="772429" y="2532046"/>
            <a:ext cx="1739766" cy="555859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350" dirty="0"/>
              <a:t>Документ</a:t>
            </a:r>
            <a:br>
              <a:rPr lang="ru-RU" sz="1350" dirty="0"/>
            </a:br>
            <a:r>
              <a:rPr lang="ru-RU" sz="1350" dirty="0"/>
              <a:t>Объект </a:t>
            </a:r>
          </a:p>
        </p:txBody>
      </p:sp>
      <p:graphicFrame>
        <p:nvGraphicFramePr>
          <p:cNvPr id="3" name="Таблица 2"/>
          <p:cNvGraphicFramePr>
            <a:graphicFrameLocks noGrp="1"/>
          </p:cNvGraphicFramePr>
          <p:nvPr/>
        </p:nvGraphicFramePr>
        <p:xfrm>
          <a:off x="1141397" y="4510111"/>
          <a:ext cx="1442987" cy="629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553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538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207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4860">
                <a:tc>
                  <a:txBody>
                    <a:bodyPr/>
                    <a:lstStyle/>
                    <a:p>
                      <a:r>
                        <a:rPr lang="ru-RU" sz="1000" dirty="0"/>
                        <a:t>Ссылка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000" dirty="0"/>
                        <a:t>…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000" dirty="0"/>
                        <a:t>…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4860">
                <a:tc>
                  <a:txBody>
                    <a:bodyPr/>
                    <a:lstStyle/>
                    <a:p>
                      <a:r>
                        <a:rPr lang="en-US" sz="1000" dirty="0"/>
                        <a:t>&lt;</a:t>
                      </a:r>
                      <a:r>
                        <a:rPr lang="ru-RU" sz="1000" dirty="0"/>
                        <a:t>Док1</a:t>
                      </a:r>
                      <a:r>
                        <a:rPr lang="en-US" sz="1000" dirty="0"/>
                        <a:t>&gt;</a:t>
                      </a:r>
                      <a:endParaRPr lang="ru-RU" sz="1000" dirty="0"/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000" dirty="0"/>
                        <a:t>…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000" dirty="0"/>
                        <a:t>…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2" name="Скругленный прямоугольник 11"/>
          <p:cNvSpPr/>
          <p:nvPr/>
        </p:nvSpPr>
        <p:spPr>
          <a:xfrm>
            <a:off x="6602472" y="2250505"/>
            <a:ext cx="1458227" cy="1284974"/>
          </a:xfrm>
          <a:prstGeom prst="round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350" dirty="0"/>
              <a:t>Набор записей по регистру </a:t>
            </a:r>
            <a:r>
              <a:rPr lang="en-US" sz="1350" dirty="0"/>
              <a:t>N</a:t>
            </a:r>
            <a:endParaRPr lang="ru-RU" sz="1350" dirty="0"/>
          </a:p>
        </p:txBody>
      </p:sp>
      <p:sp>
        <p:nvSpPr>
          <p:cNvPr id="13" name="Блок-схема: узел 12"/>
          <p:cNvSpPr/>
          <p:nvPr/>
        </p:nvSpPr>
        <p:spPr>
          <a:xfrm>
            <a:off x="6105967" y="2808170"/>
            <a:ext cx="173255" cy="184084"/>
          </a:xfrm>
          <a:prstGeom prst="flowChartConnector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sz="1350"/>
          </a:p>
        </p:txBody>
      </p:sp>
      <p:sp>
        <p:nvSpPr>
          <p:cNvPr id="14" name="Блок-схема: узел 13"/>
          <p:cNvSpPr/>
          <p:nvPr/>
        </p:nvSpPr>
        <p:spPr>
          <a:xfrm>
            <a:off x="6335168" y="2808170"/>
            <a:ext cx="173255" cy="184084"/>
          </a:xfrm>
          <a:prstGeom prst="flowChartConnector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sz="1350"/>
          </a:p>
        </p:txBody>
      </p:sp>
      <p:sp>
        <p:nvSpPr>
          <p:cNvPr id="15" name="Блок-схема: узел 14"/>
          <p:cNvSpPr/>
          <p:nvPr/>
        </p:nvSpPr>
        <p:spPr>
          <a:xfrm>
            <a:off x="5864132" y="2808169"/>
            <a:ext cx="173255" cy="184084"/>
          </a:xfrm>
          <a:prstGeom prst="flowChartConnector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sz="1350"/>
          </a:p>
        </p:txBody>
      </p:sp>
      <p:graphicFrame>
        <p:nvGraphicFramePr>
          <p:cNvPr id="17" name="Таблица 16"/>
          <p:cNvGraphicFramePr>
            <a:graphicFrameLocks noGrp="1"/>
          </p:cNvGraphicFramePr>
          <p:nvPr/>
        </p:nvGraphicFramePr>
        <p:xfrm>
          <a:off x="2974203" y="4510111"/>
          <a:ext cx="1442986" cy="62972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04674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213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410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4860">
                <a:tc>
                  <a:txBody>
                    <a:bodyPr/>
                    <a:lstStyle/>
                    <a:p>
                      <a:r>
                        <a:rPr lang="ru-RU" sz="1000" dirty="0"/>
                        <a:t>Регистратор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endParaRPr lang="ru-RU" sz="1000" dirty="0"/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endParaRPr lang="ru-RU" sz="1000" dirty="0"/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486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/>
                        <a:t>&lt;</a:t>
                      </a:r>
                      <a:r>
                        <a:rPr lang="ru-RU" sz="1000" dirty="0"/>
                        <a:t>Док1</a:t>
                      </a:r>
                      <a:r>
                        <a:rPr lang="en-US" sz="1000" dirty="0"/>
                        <a:t>&gt;</a:t>
                      </a:r>
                      <a:endParaRPr lang="ru-RU" sz="1000" dirty="0"/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000" dirty="0"/>
                        <a:t>…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000" dirty="0"/>
                        <a:t>…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20" name="Таблица 19"/>
          <p:cNvGraphicFramePr>
            <a:graphicFrameLocks noGrp="1"/>
          </p:cNvGraphicFramePr>
          <p:nvPr/>
        </p:nvGraphicFramePr>
        <p:xfrm>
          <a:off x="4838298" y="4510111"/>
          <a:ext cx="1442986" cy="62972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04674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213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410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4860">
                <a:tc>
                  <a:txBody>
                    <a:bodyPr/>
                    <a:lstStyle/>
                    <a:p>
                      <a:r>
                        <a:rPr lang="ru-RU" sz="1000" dirty="0"/>
                        <a:t>Регистратор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endParaRPr lang="ru-RU" sz="1000" dirty="0"/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endParaRPr lang="ru-RU" sz="1000" dirty="0"/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486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/>
                        <a:t>&lt;</a:t>
                      </a:r>
                      <a:r>
                        <a:rPr lang="ru-RU" sz="1000" dirty="0"/>
                        <a:t>Док1</a:t>
                      </a:r>
                      <a:r>
                        <a:rPr lang="en-US" sz="1000" dirty="0"/>
                        <a:t>&gt;</a:t>
                      </a:r>
                      <a:endParaRPr lang="ru-RU" sz="1000" dirty="0"/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000" dirty="0"/>
                        <a:t>…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000" dirty="0"/>
                        <a:t>…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21" name="Таблица 20"/>
          <p:cNvGraphicFramePr>
            <a:graphicFrameLocks noGrp="1"/>
          </p:cNvGraphicFramePr>
          <p:nvPr/>
        </p:nvGraphicFramePr>
        <p:xfrm>
          <a:off x="7098429" y="4510111"/>
          <a:ext cx="1442986" cy="629720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104674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213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410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4860">
                <a:tc>
                  <a:txBody>
                    <a:bodyPr/>
                    <a:lstStyle/>
                    <a:p>
                      <a:r>
                        <a:rPr lang="ru-RU" sz="1000" dirty="0"/>
                        <a:t>Регистратор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endParaRPr lang="ru-RU" sz="1000" dirty="0"/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endParaRPr lang="ru-RU" sz="1000" dirty="0"/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486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/>
                        <a:t>&lt;</a:t>
                      </a:r>
                      <a:r>
                        <a:rPr lang="ru-RU" sz="1000" dirty="0"/>
                        <a:t>Док1</a:t>
                      </a:r>
                      <a:r>
                        <a:rPr lang="en-US" sz="1000" dirty="0"/>
                        <a:t>&gt;</a:t>
                      </a:r>
                      <a:endParaRPr lang="ru-RU" sz="1000" dirty="0"/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000" dirty="0"/>
                        <a:t>…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000" dirty="0"/>
                        <a:t>…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18" name="Таблица 17"/>
          <p:cNvGraphicFramePr>
            <a:graphicFrameLocks noGrp="1"/>
          </p:cNvGraphicFramePr>
          <p:nvPr/>
        </p:nvGraphicFramePr>
        <p:xfrm>
          <a:off x="1141397" y="5140860"/>
          <a:ext cx="1442987" cy="314860"/>
        </p:xfrm>
        <a:graphic>
          <a:graphicData uri="http://schemas.openxmlformats.org/drawingml/2006/table">
            <a:tbl>
              <a:tblPr firstRow="1" bandRow="1">
                <a:tableStyleId>{BC89EF96-8CEA-46FF-86C4-4CE0E7609802}</a:tableStyleId>
              </a:tblPr>
              <a:tblGrid>
                <a:gridCol w="73553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538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207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4860">
                <a:tc>
                  <a:txBody>
                    <a:bodyPr/>
                    <a:lstStyle/>
                    <a:p>
                      <a:r>
                        <a:rPr lang="en-US" sz="1000" dirty="0"/>
                        <a:t>&lt;</a:t>
                      </a:r>
                      <a:r>
                        <a:rPr lang="ru-RU" sz="1000" dirty="0"/>
                        <a:t>Док2</a:t>
                      </a:r>
                      <a:r>
                        <a:rPr lang="en-US" sz="1000" dirty="0"/>
                        <a:t>&gt;</a:t>
                      </a:r>
                      <a:endParaRPr lang="ru-RU" sz="1000" dirty="0"/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000" dirty="0"/>
                        <a:t>…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000" dirty="0"/>
                        <a:t>…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9" name="Таблица 18"/>
          <p:cNvGraphicFramePr>
            <a:graphicFrameLocks noGrp="1"/>
          </p:cNvGraphicFramePr>
          <p:nvPr/>
        </p:nvGraphicFramePr>
        <p:xfrm>
          <a:off x="2989445" y="5133641"/>
          <a:ext cx="1442986" cy="314860"/>
        </p:xfrm>
        <a:graphic>
          <a:graphicData uri="http://schemas.openxmlformats.org/drawingml/2006/table">
            <a:tbl>
              <a:tblPr firstRow="1" bandRow="1">
                <a:tableStyleId>{E8B1032C-EA38-4F05-BA0D-38AFFFC7BED3}</a:tableStyleId>
              </a:tblPr>
              <a:tblGrid>
                <a:gridCol w="104674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213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410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486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/>
                        <a:t>&lt;</a:t>
                      </a:r>
                      <a:r>
                        <a:rPr lang="ru-RU" sz="1400" kern="1200" dirty="0"/>
                        <a:t>Док2</a:t>
                      </a:r>
                      <a:r>
                        <a:rPr lang="en-US" sz="1400" kern="1200" dirty="0"/>
                        <a:t>&gt;</a:t>
                      </a:r>
                      <a:endParaRPr lang="ru-RU" sz="1400" b="1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000" dirty="0"/>
                        <a:t>…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000" dirty="0"/>
                        <a:t>…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23" name="Таблица 22"/>
          <p:cNvGraphicFramePr>
            <a:graphicFrameLocks noGrp="1"/>
          </p:cNvGraphicFramePr>
          <p:nvPr/>
        </p:nvGraphicFramePr>
        <p:xfrm>
          <a:off x="4845919" y="5133641"/>
          <a:ext cx="1442986" cy="314860"/>
        </p:xfrm>
        <a:graphic>
          <a:graphicData uri="http://schemas.openxmlformats.org/drawingml/2006/table">
            <a:tbl>
              <a:tblPr firstRow="1" bandRow="1">
                <a:tableStyleId>{5DA37D80-6434-44D0-A028-1B22A696006F}</a:tableStyleId>
              </a:tblPr>
              <a:tblGrid>
                <a:gridCol w="104674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213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410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486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/>
                        <a:t>&lt;</a:t>
                      </a:r>
                      <a:r>
                        <a:rPr lang="ru-RU" sz="1400" kern="1200" dirty="0"/>
                        <a:t>Док2</a:t>
                      </a:r>
                      <a:r>
                        <a:rPr lang="en-US" sz="1400" kern="1200" dirty="0"/>
                        <a:t>&gt;</a:t>
                      </a:r>
                      <a:endParaRPr lang="ru-RU" sz="1400" b="1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000" dirty="0"/>
                        <a:t>…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000" dirty="0"/>
                        <a:t>…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24" name="Таблица 23"/>
          <p:cNvGraphicFramePr>
            <a:graphicFrameLocks noGrp="1"/>
          </p:cNvGraphicFramePr>
          <p:nvPr/>
        </p:nvGraphicFramePr>
        <p:xfrm>
          <a:off x="7098429" y="5133641"/>
          <a:ext cx="1442986" cy="314860"/>
        </p:xfrm>
        <a:graphic>
          <a:graphicData uri="http://schemas.openxmlformats.org/drawingml/2006/table">
            <a:tbl>
              <a:tblPr firstRow="1" bandRow="1">
                <a:tableStyleId>{ED083AE6-46FA-4A59-8FB0-9F97EB10719F}</a:tableStyleId>
              </a:tblPr>
              <a:tblGrid>
                <a:gridCol w="104674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213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410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486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/>
                        <a:t>&lt;</a:t>
                      </a:r>
                      <a:r>
                        <a:rPr lang="ru-RU" sz="1400" kern="1200" dirty="0"/>
                        <a:t>Док2</a:t>
                      </a:r>
                      <a:r>
                        <a:rPr lang="en-US" sz="1400" kern="1200" dirty="0"/>
                        <a:t>&gt;</a:t>
                      </a:r>
                      <a:endParaRPr lang="ru-RU" sz="1400" b="1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000" dirty="0"/>
                        <a:t>…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ru-RU" sz="1000" dirty="0"/>
                        <a:t>…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28" name="TextBox 27"/>
          <p:cNvSpPr txBox="1"/>
          <p:nvPr/>
        </p:nvSpPr>
        <p:spPr>
          <a:xfrm>
            <a:off x="6602472" y="5449156"/>
            <a:ext cx="185510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dirty="0">
                <a:solidFill>
                  <a:srgbClr val="FF0000"/>
                </a:solidFill>
              </a:rPr>
              <a:t>Пересчет </a:t>
            </a:r>
            <a:r>
              <a:rPr lang="ru-RU" dirty="0" smtClean="0">
                <a:solidFill>
                  <a:srgbClr val="FF0000"/>
                </a:solidFill>
              </a:rPr>
              <a:t>итогов</a:t>
            </a:r>
            <a:endParaRPr lang="ru-RU" dirty="0">
              <a:solidFill>
                <a:srgbClr val="FF0000"/>
              </a:solidFill>
            </a:endParaRPr>
          </a:p>
        </p:txBody>
      </p:sp>
      <p:sp>
        <p:nvSpPr>
          <p:cNvPr id="29" name="Скругленный прямоугольник 28"/>
          <p:cNvSpPr/>
          <p:nvPr/>
        </p:nvSpPr>
        <p:spPr>
          <a:xfrm>
            <a:off x="2570548" y="2250506"/>
            <a:ext cx="1458227" cy="594000"/>
          </a:xfrm>
          <a:prstGeom prst="round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350" dirty="0"/>
              <a:t>Набор записей по регистру 1</a:t>
            </a:r>
          </a:p>
        </p:txBody>
      </p:sp>
      <p:sp>
        <p:nvSpPr>
          <p:cNvPr id="30" name="Скругленный прямоугольник 29"/>
          <p:cNvSpPr/>
          <p:nvPr/>
        </p:nvSpPr>
        <p:spPr>
          <a:xfrm>
            <a:off x="4383081" y="2250506"/>
            <a:ext cx="1458227" cy="594000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350" dirty="0"/>
              <a:t>Набор записей по регистру 2</a:t>
            </a:r>
          </a:p>
        </p:txBody>
      </p:sp>
    </p:spTree>
    <p:extLst>
      <p:ext uri="{BB962C8B-B14F-4D97-AF65-F5344CB8AC3E}">
        <p14:creationId xmlns:p14="http://schemas.microsoft.com/office/powerpoint/2010/main" val="233744609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Традиционная технология  проведения</a:t>
            </a:r>
          </a:p>
        </p:txBody>
      </p:sp>
      <p:sp>
        <p:nvSpPr>
          <p:cNvPr id="4" name="Текст 3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Проведение состоится при выполнении определенных условий</a:t>
            </a:r>
          </a:p>
        </p:txBody>
      </p:sp>
    </p:spTree>
    <p:extLst>
      <p:ext uri="{BB962C8B-B14F-4D97-AF65-F5344CB8AC3E}">
        <p14:creationId xmlns:p14="http://schemas.microsoft.com/office/powerpoint/2010/main" val="213820717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Скругленный прямоугольник 12"/>
          <p:cNvSpPr/>
          <p:nvPr/>
        </p:nvSpPr>
        <p:spPr>
          <a:xfrm>
            <a:off x="500034" y="1124744"/>
            <a:ext cx="8143932" cy="2500330"/>
          </a:xfrm>
          <a:prstGeom prst="roundRect">
            <a:avLst/>
          </a:prstGeom>
          <a:gradFill>
            <a:gsLst>
              <a:gs pos="0">
                <a:srgbClr val="5E9EFF"/>
              </a:gs>
              <a:gs pos="39999">
                <a:srgbClr val="85C2FF"/>
              </a:gs>
              <a:gs pos="70000">
                <a:srgbClr val="C4D6EB"/>
              </a:gs>
              <a:gs pos="100000">
                <a:srgbClr val="FFEBFA"/>
              </a:gs>
            </a:gsLst>
            <a:lin ang="16200000" scaled="0"/>
          </a:gradFill>
          <a:ln>
            <a:solidFill>
              <a:schemeClr val="tx2"/>
            </a:solidFill>
            <a:prstDash val="dash"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t" anchorCtr="0"/>
          <a:lstStyle/>
          <a:p>
            <a:r>
              <a:rPr lang="ru-RU" dirty="0"/>
              <a:t>Оперативная память</a:t>
            </a:r>
          </a:p>
        </p:txBody>
      </p:sp>
      <p:sp>
        <p:nvSpPr>
          <p:cNvPr id="12" name="Скругленный прямоугольник 11"/>
          <p:cNvSpPr/>
          <p:nvPr/>
        </p:nvSpPr>
        <p:spPr>
          <a:xfrm>
            <a:off x="500034" y="3767950"/>
            <a:ext cx="8143932" cy="2500330"/>
          </a:xfrm>
          <a:prstGeom prst="roundRect">
            <a:avLst/>
          </a:prstGeom>
          <a:gradFill>
            <a:gsLst>
              <a:gs pos="0">
                <a:schemeClr val="dk1">
                  <a:tint val="50000"/>
                  <a:satMod val="300000"/>
                </a:schemeClr>
              </a:gs>
              <a:gs pos="35000">
                <a:schemeClr val="dk1">
                  <a:tint val="37000"/>
                  <a:satMod val="300000"/>
                </a:schemeClr>
              </a:gs>
              <a:gs pos="100000">
                <a:schemeClr val="dk1">
                  <a:tint val="15000"/>
                  <a:satMod val="350000"/>
                </a:schemeClr>
              </a:gs>
            </a:gsLst>
            <a:lin ang="16200000" scaled="1"/>
          </a:gradFill>
          <a:ln>
            <a:prstDash val="dash"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t" anchorCtr="0"/>
          <a:lstStyle/>
          <a:p>
            <a:r>
              <a:rPr lang="ru-RU" dirty="0"/>
              <a:t>База данных</a:t>
            </a:r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z="2800" dirty="0"/>
              <a:t>Традиционная технология проведения</a:t>
            </a:r>
          </a:p>
        </p:txBody>
      </p:sp>
      <p:sp>
        <p:nvSpPr>
          <p:cNvPr id="3" name="Скругленный прямоугольник 2"/>
          <p:cNvSpPr/>
          <p:nvPr/>
        </p:nvSpPr>
        <p:spPr>
          <a:xfrm>
            <a:off x="928662" y="2339190"/>
            <a:ext cx="2232000" cy="72000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Документ объект</a:t>
            </a:r>
          </a:p>
        </p:txBody>
      </p:sp>
      <p:sp>
        <p:nvSpPr>
          <p:cNvPr id="4" name="Прямоугольник 3"/>
          <p:cNvSpPr/>
          <p:nvPr/>
        </p:nvSpPr>
        <p:spPr>
          <a:xfrm>
            <a:off x="5715008" y="4268016"/>
            <a:ext cx="2232000" cy="651854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/>
              <a:t>Таблица движения </a:t>
            </a:r>
            <a:r>
              <a:rPr lang="ru-RU" dirty="0"/>
              <a:t>регистра</a:t>
            </a:r>
          </a:p>
        </p:txBody>
      </p:sp>
      <p:sp>
        <p:nvSpPr>
          <p:cNvPr id="5" name="Прямоугольник 4"/>
          <p:cNvSpPr/>
          <p:nvPr/>
        </p:nvSpPr>
        <p:spPr>
          <a:xfrm>
            <a:off x="928662" y="4268016"/>
            <a:ext cx="2232000" cy="720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Таблица документа</a:t>
            </a:r>
          </a:p>
        </p:txBody>
      </p:sp>
      <p:sp>
        <p:nvSpPr>
          <p:cNvPr id="6" name="Скругленный прямоугольник 5"/>
          <p:cNvSpPr/>
          <p:nvPr/>
        </p:nvSpPr>
        <p:spPr>
          <a:xfrm>
            <a:off x="5715008" y="2267752"/>
            <a:ext cx="2232000" cy="360000"/>
          </a:xfrm>
          <a:prstGeom prst="round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Набор записей</a:t>
            </a:r>
          </a:p>
        </p:txBody>
      </p:sp>
      <p:sp>
        <p:nvSpPr>
          <p:cNvPr id="19" name="Прямоугольник 18"/>
          <p:cNvSpPr/>
          <p:nvPr/>
        </p:nvSpPr>
        <p:spPr>
          <a:xfrm>
            <a:off x="5715008" y="5268148"/>
            <a:ext cx="2232000" cy="651854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/>
              <a:t>Таблица итогов </a:t>
            </a:r>
            <a:r>
              <a:rPr lang="ru-RU" dirty="0"/>
              <a:t>регистра</a:t>
            </a:r>
          </a:p>
        </p:txBody>
      </p:sp>
    </p:spTree>
    <p:extLst>
      <p:ext uri="{BB962C8B-B14F-4D97-AF65-F5344CB8AC3E}">
        <p14:creationId xmlns:p14="http://schemas.microsoft.com/office/powerpoint/2010/main" val="339992670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Скругленный прямоугольник 12"/>
          <p:cNvSpPr/>
          <p:nvPr/>
        </p:nvSpPr>
        <p:spPr>
          <a:xfrm>
            <a:off x="500034" y="1124744"/>
            <a:ext cx="8143932" cy="2500330"/>
          </a:xfrm>
          <a:prstGeom prst="roundRect">
            <a:avLst/>
          </a:prstGeom>
          <a:gradFill>
            <a:gsLst>
              <a:gs pos="0">
                <a:srgbClr val="5E9EFF"/>
              </a:gs>
              <a:gs pos="39999">
                <a:srgbClr val="85C2FF"/>
              </a:gs>
              <a:gs pos="70000">
                <a:srgbClr val="C4D6EB"/>
              </a:gs>
              <a:gs pos="100000">
                <a:srgbClr val="FFEBFA"/>
              </a:gs>
            </a:gsLst>
            <a:lin ang="16200000" scaled="0"/>
          </a:gradFill>
          <a:ln>
            <a:solidFill>
              <a:schemeClr val="tx2"/>
            </a:solidFill>
            <a:prstDash val="dash"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t" anchorCtr="0"/>
          <a:lstStyle/>
          <a:p>
            <a:r>
              <a:rPr lang="ru-RU" dirty="0"/>
              <a:t>Оперативная память</a:t>
            </a:r>
          </a:p>
        </p:txBody>
      </p:sp>
      <p:sp>
        <p:nvSpPr>
          <p:cNvPr id="12" name="Скругленный прямоугольник 11"/>
          <p:cNvSpPr/>
          <p:nvPr/>
        </p:nvSpPr>
        <p:spPr>
          <a:xfrm>
            <a:off x="500034" y="3767950"/>
            <a:ext cx="8143932" cy="2500330"/>
          </a:xfrm>
          <a:prstGeom prst="roundRect">
            <a:avLst/>
          </a:prstGeom>
          <a:gradFill>
            <a:gsLst>
              <a:gs pos="0">
                <a:schemeClr val="dk1">
                  <a:tint val="50000"/>
                  <a:satMod val="300000"/>
                </a:schemeClr>
              </a:gs>
              <a:gs pos="35000">
                <a:schemeClr val="dk1">
                  <a:tint val="37000"/>
                  <a:satMod val="300000"/>
                </a:schemeClr>
              </a:gs>
              <a:gs pos="100000">
                <a:schemeClr val="dk1">
                  <a:tint val="15000"/>
                  <a:satMod val="350000"/>
                </a:schemeClr>
              </a:gs>
            </a:gsLst>
            <a:lin ang="16200000" scaled="1"/>
          </a:gradFill>
          <a:ln>
            <a:prstDash val="dash"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t" anchorCtr="0"/>
          <a:lstStyle/>
          <a:p>
            <a:r>
              <a:rPr lang="ru-RU" dirty="0"/>
              <a:t>База данных</a:t>
            </a:r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z="2800" dirty="0"/>
              <a:t>Традиционная технология проведения</a:t>
            </a:r>
          </a:p>
        </p:txBody>
      </p:sp>
      <p:sp>
        <p:nvSpPr>
          <p:cNvPr id="3" name="Скругленный прямоугольник 2"/>
          <p:cNvSpPr/>
          <p:nvPr/>
        </p:nvSpPr>
        <p:spPr>
          <a:xfrm>
            <a:off x="928662" y="2339190"/>
            <a:ext cx="2232000" cy="72000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Документ объект</a:t>
            </a:r>
          </a:p>
        </p:txBody>
      </p:sp>
      <p:sp>
        <p:nvSpPr>
          <p:cNvPr id="4" name="Прямоугольник 3"/>
          <p:cNvSpPr/>
          <p:nvPr/>
        </p:nvSpPr>
        <p:spPr>
          <a:xfrm>
            <a:off x="5715008" y="4268016"/>
            <a:ext cx="2232000" cy="651854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/>
              <a:t>Таблица движения </a:t>
            </a:r>
            <a:r>
              <a:rPr lang="ru-RU" dirty="0"/>
              <a:t>регистра</a:t>
            </a:r>
          </a:p>
        </p:txBody>
      </p:sp>
      <p:sp>
        <p:nvSpPr>
          <p:cNvPr id="5" name="Прямоугольник 4"/>
          <p:cNvSpPr/>
          <p:nvPr/>
        </p:nvSpPr>
        <p:spPr>
          <a:xfrm>
            <a:off x="928662" y="4268016"/>
            <a:ext cx="2232000" cy="1440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Таблица документа</a:t>
            </a:r>
          </a:p>
        </p:txBody>
      </p:sp>
      <p:sp>
        <p:nvSpPr>
          <p:cNvPr id="6" name="Скругленный прямоугольник 5"/>
          <p:cNvSpPr/>
          <p:nvPr/>
        </p:nvSpPr>
        <p:spPr>
          <a:xfrm>
            <a:off x="5715008" y="2267752"/>
            <a:ext cx="2232000" cy="360000"/>
          </a:xfrm>
          <a:prstGeom prst="round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Набор записей</a:t>
            </a:r>
          </a:p>
        </p:txBody>
      </p:sp>
      <p:sp>
        <p:nvSpPr>
          <p:cNvPr id="14" name="Стрелка вниз 13"/>
          <p:cNvSpPr/>
          <p:nvPr/>
        </p:nvSpPr>
        <p:spPr>
          <a:xfrm>
            <a:off x="2000232" y="3339322"/>
            <a:ext cx="428628" cy="857256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9" name="Прямоугольник 18"/>
          <p:cNvSpPr/>
          <p:nvPr/>
        </p:nvSpPr>
        <p:spPr>
          <a:xfrm>
            <a:off x="5715008" y="5268148"/>
            <a:ext cx="2232000" cy="651854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/>
              <a:t>Таблица итогов </a:t>
            </a:r>
            <a:r>
              <a:rPr lang="ru-RU" dirty="0"/>
              <a:t>регистра</a:t>
            </a:r>
          </a:p>
        </p:txBody>
      </p:sp>
    </p:spTree>
    <p:extLst>
      <p:ext uri="{BB962C8B-B14F-4D97-AF65-F5344CB8AC3E}">
        <p14:creationId xmlns:p14="http://schemas.microsoft.com/office/powerpoint/2010/main" val="226242938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Скругленный прямоугольник 12"/>
          <p:cNvSpPr/>
          <p:nvPr/>
        </p:nvSpPr>
        <p:spPr>
          <a:xfrm>
            <a:off x="500034" y="1124744"/>
            <a:ext cx="8143932" cy="2500330"/>
          </a:xfrm>
          <a:prstGeom prst="roundRect">
            <a:avLst/>
          </a:prstGeom>
          <a:gradFill>
            <a:gsLst>
              <a:gs pos="0">
                <a:srgbClr val="5E9EFF"/>
              </a:gs>
              <a:gs pos="39999">
                <a:srgbClr val="85C2FF"/>
              </a:gs>
              <a:gs pos="70000">
                <a:srgbClr val="C4D6EB"/>
              </a:gs>
              <a:gs pos="100000">
                <a:srgbClr val="FFEBFA"/>
              </a:gs>
            </a:gsLst>
            <a:lin ang="16200000" scaled="0"/>
          </a:gradFill>
          <a:ln>
            <a:solidFill>
              <a:schemeClr val="tx2"/>
            </a:solidFill>
            <a:prstDash val="dash"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t" anchorCtr="0"/>
          <a:lstStyle/>
          <a:p>
            <a:r>
              <a:rPr lang="ru-RU" dirty="0"/>
              <a:t>Оперативная память</a:t>
            </a:r>
          </a:p>
        </p:txBody>
      </p:sp>
      <p:sp>
        <p:nvSpPr>
          <p:cNvPr id="12" name="Скругленный прямоугольник 11"/>
          <p:cNvSpPr/>
          <p:nvPr/>
        </p:nvSpPr>
        <p:spPr>
          <a:xfrm>
            <a:off x="500034" y="3767950"/>
            <a:ext cx="8143932" cy="2500330"/>
          </a:xfrm>
          <a:prstGeom prst="roundRect">
            <a:avLst/>
          </a:prstGeom>
          <a:gradFill>
            <a:gsLst>
              <a:gs pos="0">
                <a:schemeClr val="dk1">
                  <a:tint val="50000"/>
                  <a:satMod val="300000"/>
                </a:schemeClr>
              </a:gs>
              <a:gs pos="35000">
                <a:schemeClr val="dk1">
                  <a:tint val="37000"/>
                  <a:satMod val="300000"/>
                </a:schemeClr>
              </a:gs>
              <a:gs pos="100000">
                <a:schemeClr val="dk1">
                  <a:tint val="15000"/>
                  <a:satMod val="350000"/>
                </a:schemeClr>
              </a:gs>
            </a:gsLst>
            <a:lin ang="16200000" scaled="1"/>
          </a:gradFill>
          <a:ln>
            <a:prstDash val="dash"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t" anchorCtr="0"/>
          <a:lstStyle/>
          <a:p>
            <a:r>
              <a:rPr lang="ru-RU" dirty="0"/>
              <a:t>База данных</a:t>
            </a:r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z="2800" dirty="0"/>
              <a:t>Традиционная технология проведения</a:t>
            </a:r>
          </a:p>
        </p:txBody>
      </p:sp>
      <p:sp>
        <p:nvSpPr>
          <p:cNvPr id="3" name="Скругленный прямоугольник 2"/>
          <p:cNvSpPr/>
          <p:nvPr/>
        </p:nvSpPr>
        <p:spPr>
          <a:xfrm>
            <a:off x="928662" y="2339190"/>
            <a:ext cx="2232000" cy="72000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Документ объект</a:t>
            </a:r>
          </a:p>
        </p:txBody>
      </p:sp>
      <p:sp>
        <p:nvSpPr>
          <p:cNvPr id="5" name="Прямоугольник 4"/>
          <p:cNvSpPr/>
          <p:nvPr/>
        </p:nvSpPr>
        <p:spPr>
          <a:xfrm>
            <a:off x="928662" y="4268016"/>
            <a:ext cx="2232000" cy="1440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Таблица документа</a:t>
            </a:r>
          </a:p>
        </p:txBody>
      </p:sp>
      <p:sp>
        <p:nvSpPr>
          <p:cNvPr id="10" name="Скругленный прямоугольник 9"/>
          <p:cNvSpPr/>
          <p:nvPr/>
        </p:nvSpPr>
        <p:spPr>
          <a:xfrm>
            <a:off x="3428992" y="1267620"/>
            <a:ext cx="2232000" cy="928694"/>
          </a:xfrm>
          <a:prstGeom prst="round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Результат запроса</a:t>
            </a:r>
          </a:p>
        </p:txBody>
      </p:sp>
      <p:sp>
        <p:nvSpPr>
          <p:cNvPr id="16" name="Стрелка вправо 15"/>
          <p:cNvSpPr/>
          <p:nvPr/>
        </p:nvSpPr>
        <p:spPr>
          <a:xfrm>
            <a:off x="3214678" y="5328401"/>
            <a:ext cx="1000132" cy="428628"/>
          </a:xfrm>
          <a:prstGeom prst="rightArrow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7" name="Стрелка влево 16"/>
          <p:cNvSpPr/>
          <p:nvPr/>
        </p:nvSpPr>
        <p:spPr>
          <a:xfrm>
            <a:off x="4572000" y="5328401"/>
            <a:ext cx="1071570" cy="428628"/>
          </a:xfrm>
          <a:prstGeom prst="leftArrow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" name="Стрелка вверх 17"/>
          <p:cNvSpPr/>
          <p:nvPr/>
        </p:nvSpPr>
        <p:spPr>
          <a:xfrm>
            <a:off x="4143372" y="2339190"/>
            <a:ext cx="500066" cy="3077636"/>
          </a:xfrm>
          <a:prstGeom prst="upArrow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9" name="Прямоугольник 18"/>
          <p:cNvSpPr/>
          <p:nvPr/>
        </p:nvSpPr>
        <p:spPr>
          <a:xfrm>
            <a:off x="5715008" y="4268016"/>
            <a:ext cx="2232000" cy="651854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/>
              <a:t>Таблица движения </a:t>
            </a:r>
            <a:r>
              <a:rPr lang="ru-RU" dirty="0"/>
              <a:t>регистра</a:t>
            </a:r>
          </a:p>
        </p:txBody>
      </p:sp>
      <p:sp>
        <p:nvSpPr>
          <p:cNvPr id="20" name="Скругленный прямоугольник 19"/>
          <p:cNvSpPr/>
          <p:nvPr/>
        </p:nvSpPr>
        <p:spPr>
          <a:xfrm>
            <a:off x="5715008" y="2267752"/>
            <a:ext cx="2232000" cy="360000"/>
          </a:xfrm>
          <a:prstGeom prst="round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Набор записей</a:t>
            </a:r>
          </a:p>
        </p:txBody>
      </p:sp>
      <p:sp>
        <p:nvSpPr>
          <p:cNvPr id="21" name="Прямоугольник 20"/>
          <p:cNvSpPr/>
          <p:nvPr/>
        </p:nvSpPr>
        <p:spPr>
          <a:xfrm>
            <a:off x="5715008" y="5268148"/>
            <a:ext cx="2232000" cy="651854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/>
              <a:t>Таблица итогов </a:t>
            </a:r>
            <a:r>
              <a:rPr lang="ru-RU" dirty="0"/>
              <a:t>регистра</a:t>
            </a:r>
          </a:p>
        </p:txBody>
      </p:sp>
    </p:spTree>
    <p:extLst>
      <p:ext uri="{BB962C8B-B14F-4D97-AF65-F5344CB8AC3E}">
        <p14:creationId xmlns:p14="http://schemas.microsoft.com/office/powerpoint/2010/main" val="92015554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Скругленный прямоугольник 12"/>
          <p:cNvSpPr/>
          <p:nvPr/>
        </p:nvSpPr>
        <p:spPr>
          <a:xfrm>
            <a:off x="500034" y="1124744"/>
            <a:ext cx="8143932" cy="2500330"/>
          </a:xfrm>
          <a:prstGeom prst="roundRect">
            <a:avLst/>
          </a:prstGeom>
          <a:gradFill>
            <a:gsLst>
              <a:gs pos="0">
                <a:srgbClr val="5E9EFF"/>
              </a:gs>
              <a:gs pos="39999">
                <a:srgbClr val="85C2FF"/>
              </a:gs>
              <a:gs pos="70000">
                <a:srgbClr val="C4D6EB"/>
              </a:gs>
              <a:gs pos="100000">
                <a:srgbClr val="FFEBFA"/>
              </a:gs>
            </a:gsLst>
            <a:lin ang="16200000" scaled="0"/>
          </a:gradFill>
          <a:ln>
            <a:solidFill>
              <a:schemeClr val="tx2"/>
            </a:solidFill>
            <a:prstDash val="dash"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t" anchorCtr="0"/>
          <a:lstStyle/>
          <a:p>
            <a:r>
              <a:rPr lang="ru-RU" dirty="0"/>
              <a:t>Оперативная память</a:t>
            </a:r>
          </a:p>
        </p:txBody>
      </p:sp>
      <p:sp>
        <p:nvSpPr>
          <p:cNvPr id="12" name="Скругленный прямоугольник 11"/>
          <p:cNvSpPr/>
          <p:nvPr/>
        </p:nvSpPr>
        <p:spPr>
          <a:xfrm>
            <a:off x="500034" y="3767950"/>
            <a:ext cx="8143932" cy="2500330"/>
          </a:xfrm>
          <a:prstGeom prst="roundRect">
            <a:avLst/>
          </a:prstGeom>
          <a:gradFill>
            <a:gsLst>
              <a:gs pos="0">
                <a:schemeClr val="dk1">
                  <a:tint val="50000"/>
                  <a:satMod val="300000"/>
                </a:schemeClr>
              </a:gs>
              <a:gs pos="35000">
                <a:schemeClr val="dk1">
                  <a:tint val="37000"/>
                  <a:satMod val="300000"/>
                </a:schemeClr>
              </a:gs>
              <a:gs pos="100000">
                <a:schemeClr val="dk1">
                  <a:tint val="15000"/>
                  <a:satMod val="350000"/>
                </a:schemeClr>
              </a:gs>
            </a:gsLst>
            <a:lin ang="16200000" scaled="1"/>
          </a:gradFill>
          <a:ln>
            <a:prstDash val="dash"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t" anchorCtr="0"/>
          <a:lstStyle/>
          <a:p>
            <a:r>
              <a:rPr lang="ru-RU" dirty="0"/>
              <a:t>База данных</a:t>
            </a:r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z="2800" dirty="0"/>
              <a:t>Традиционная технология проведения</a:t>
            </a:r>
          </a:p>
        </p:txBody>
      </p:sp>
      <p:sp>
        <p:nvSpPr>
          <p:cNvPr id="3" name="Скругленный прямоугольник 2"/>
          <p:cNvSpPr/>
          <p:nvPr/>
        </p:nvSpPr>
        <p:spPr>
          <a:xfrm>
            <a:off x="928662" y="2339190"/>
            <a:ext cx="2232000" cy="72000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Документ объект</a:t>
            </a:r>
          </a:p>
        </p:txBody>
      </p:sp>
      <p:sp>
        <p:nvSpPr>
          <p:cNvPr id="5" name="Прямоугольник 4"/>
          <p:cNvSpPr/>
          <p:nvPr/>
        </p:nvSpPr>
        <p:spPr>
          <a:xfrm>
            <a:off x="928662" y="4268016"/>
            <a:ext cx="2232000" cy="1440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Таблица документа</a:t>
            </a:r>
          </a:p>
        </p:txBody>
      </p:sp>
      <p:sp>
        <p:nvSpPr>
          <p:cNvPr id="10" name="Скругленный прямоугольник 9"/>
          <p:cNvSpPr/>
          <p:nvPr/>
        </p:nvSpPr>
        <p:spPr>
          <a:xfrm>
            <a:off x="3428992" y="1267620"/>
            <a:ext cx="2232000" cy="928694"/>
          </a:xfrm>
          <a:prstGeom prst="round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Результат запроса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29388" y="1196182"/>
            <a:ext cx="1483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>
                <a:solidFill>
                  <a:srgbClr val="FF0000"/>
                </a:solidFill>
              </a:rPr>
              <a:t>Анализ строк</a:t>
            </a:r>
          </a:p>
        </p:txBody>
      </p:sp>
      <p:sp>
        <p:nvSpPr>
          <p:cNvPr id="15" name="Стрелка углом 14"/>
          <p:cNvSpPr/>
          <p:nvPr/>
        </p:nvSpPr>
        <p:spPr>
          <a:xfrm rot="5400000">
            <a:off x="5786446" y="1481934"/>
            <a:ext cx="785818" cy="785818"/>
          </a:xfrm>
          <a:prstGeom prst="bentArrow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tx1"/>
              </a:solidFill>
            </a:endParaRPr>
          </a:p>
        </p:txBody>
      </p:sp>
      <p:sp>
        <p:nvSpPr>
          <p:cNvPr id="19" name="Прямоугольник 18"/>
          <p:cNvSpPr/>
          <p:nvPr/>
        </p:nvSpPr>
        <p:spPr>
          <a:xfrm>
            <a:off x="5715008" y="4268016"/>
            <a:ext cx="2232000" cy="651854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/>
              <a:t>Таблица движения </a:t>
            </a:r>
            <a:r>
              <a:rPr lang="ru-RU" dirty="0"/>
              <a:t>регистра</a:t>
            </a:r>
          </a:p>
        </p:txBody>
      </p:sp>
      <p:sp>
        <p:nvSpPr>
          <p:cNvPr id="20" name="Скругленный прямоугольник 19"/>
          <p:cNvSpPr/>
          <p:nvPr/>
        </p:nvSpPr>
        <p:spPr>
          <a:xfrm>
            <a:off x="5715008" y="2267752"/>
            <a:ext cx="2232000" cy="720000"/>
          </a:xfrm>
          <a:prstGeom prst="round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Набор записей</a:t>
            </a:r>
          </a:p>
        </p:txBody>
      </p:sp>
      <p:sp>
        <p:nvSpPr>
          <p:cNvPr id="21" name="Прямоугольник 20"/>
          <p:cNvSpPr/>
          <p:nvPr/>
        </p:nvSpPr>
        <p:spPr>
          <a:xfrm>
            <a:off x="5715008" y="5268148"/>
            <a:ext cx="2232000" cy="651854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/>
              <a:t>Таблица итогов </a:t>
            </a:r>
            <a:r>
              <a:rPr lang="ru-RU" dirty="0"/>
              <a:t>регистра</a:t>
            </a:r>
          </a:p>
        </p:txBody>
      </p:sp>
    </p:spTree>
    <p:extLst>
      <p:ext uri="{BB962C8B-B14F-4D97-AF65-F5344CB8AC3E}">
        <p14:creationId xmlns:p14="http://schemas.microsoft.com/office/powerpoint/2010/main" val="376202586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Скругленный прямоугольник 12"/>
          <p:cNvSpPr/>
          <p:nvPr/>
        </p:nvSpPr>
        <p:spPr>
          <a:xfrm>
            <a:off x="500034" y="1124744"/>
            <a:ext cx="8143932" cy="2500330"/>
          </a:xfrm>
          <a:prstGeom prst="roundRect">
            <a:avLst/>
          </a:prstGeom>
          <a:gradFill>
            <a:gsLst>
              <a:gs pos="0">
                <a:srgbClr val="5E9EFF"/>
              </a:gs>
              <a:gs pos="39999">
                <a:srgbClr val="85C2FF"/>
              </a:gs>
              <a:gs pos="70000">
                <a:srgbClr val="C4D6EB"/>
              </a:gs>
              <a:gs pos="100000">
                <a:srgbClr val="FFEBFA"/>
              </a:gs>
            </a:gsLst>
            <a:lin ang="16200000" scaled="0"/>
          </a:gradFill>
          <a:ln>
            <a:solidFill>
              <a:schemeClr val="tx2"/>
            </a:solidFill>
            <a:prstDash val="dash"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t" anchorCtr="0"/>
          <a:lstStyle/>
          <a:p>
            <a:r>
              <a:rPr lang="ru-RU" dirty="0"/>
              <a:t>Оперативная память</a:t>
            </a:r>
          </a:p>
        </p:txBody>
      </p:sp>
      <p:sp>
        <p:nvSpPr>
          <p:cNvPr id="12" name="Скругленный прямоугольник 11"/>
          <p:cNvSpPr/>
          <p:nvPr/>
        </p:nvSpPr>
        <p:spPr>
          <a:xfrm>
            <a:off x="500034" y="3767950"/>
            <a:ext cx="8143932" cy="2500330"/>
          </a:xfrm>
          <a:prstGeom prst="roundRect">
            <a:avLst/>
          </a:prstGeom>
          <a:gradFill>
            <a:gsLst>
              <a:gs pos="0">
                <a:schemeClr val="dk1">
                  <a:tint val="50000"/>
                  <a:satMod val="300000"/>
                </a:schemeClr>
              </a:gs>
              <a:gs pos="35000">
                <a:schemeClr val="dk1">
                  <a:tint val="37000"/>
                  <a:satMod val="300000"/>
                </a:schemeClr>
              </a:gs>
              <a:gs pos="100000">
                <a:schemeClr val="dk1">
                  <a:tint val="15000"/>
                  <a:satMod val="350000"/>
                </a:schemeClr>
              </a:gs>
            </a:gsLst>
            <a:lin ang="16200000" scaled="1"/>
          </a:gradFill>
          <a:ln>
            <a:prstDash val="dash"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t" anchorCtr="0"/>
          <a:lstStyle/>
          <a:p>
            <a:r>
              <a:rPr lang="ru-RU" dirty="0"/>
              <a:t>База данных</a:t>
            </a:r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z="2800" dirty="0"/>
              <a:t>Традиционная технология проведения</a:t>
            </a:r>
          </a:p>
        </p:txBody>
      </p:sp>
      <p:sp>
        <p:nvSpPr>
          <p:cNvPr id="3" name="Скругленный прямоугольник 2"/>
          <p:cNvSpPr/>
          <p:nvPr/>
        </p:nvSpPr>
        <p:spPr>
          <a:xfrm>
            <a:off x="928662" y="2339190"/>
            <a:ext cx="2232000" cy="72000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Документ объект</a:t>
            </a:r>
          </a:p>
        </p:txBody>
      </p:sp>
      <p:sp>
        <p:nvSpPr>
          <p:cNvPr id="5" name="Прямоугольник 4"/>
          <p:cNvSpPr/>
          <p:nvPr/>
        </p:nvSpPr>
        <p:spPr>
          <a:xfrm>
            <a:off x="928662" y="4268016"/>
            <a:ext cx="2232000" cy="1440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Таблица документа</a:t>
            </a:r>
          </a:p>
        </p:txBody>
      </p:sp>
      <p:sp>
        <p:nvSpPr>
          <p:cNvPr id="8" name="Стрелка вниз 7"/>
          <p:cNvSpPr/>
          <p:nvPr/>
        </p:nvSpPr>
        <p:spPr>
          <a:xfrm>
            <a:off x="6616694" y="3125008"/>
            <a:ext cx="428628" cy="714380"/>
          </a:xfrm>
          <a:prstGeom prst="downArrow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0" name="Скругленный прямоугольник 9"/>
          <p:cNvSpPr/>
          <p:nvPr/>
        </p:nvSpPr>
        <p:spPr>
          <a:xfrm>
            <a:off x="3428992" y="1267620"/>
            <a:ext cx="2232000" cy="928694"/>
          </a:xfrm>
          <a:prstGeom prst="round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Результат запроса</a:t>
            </a:r>
          </a:p>
        </p:txBody>
      </p:sp>
      <p:sp>
        <p:nvSpPr>
          <p:cNvPr id="19" name="Прямоугольник 18"/>
          <p:cNvSpPr/>
          <p:nvPr/>
        </p:nvSpPr>
        <p:spPr>
          <a:xfrm>
            <a:off x="5715008" y="3862462"/>
            <a:ext cx="2232000" cy="1080000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/>
              <a:t>Таблица движения </a:t>
            </a:r>
            <a:r>
              <a:rPr lang="ru-RU" dirty="0"/>
              <a:t>регистра</a:t>
            </a:r>
          </a:p>
        </p:txBody>
      </p:sp>
      <p:sp>
        <p:nvSpPr>
          <p:cNvPr id="20" name="Скругленный прямоугольник 19"/>
          <p:cNvSpPr/>
          <p:nvPr/>
        </p:nvSpPr>
        <p:spPr>
          <a:xfrm>
            <a:off x="5715008" y="2267752"/>
            <a:ext cx="2232000" cy="720000"/>
          </a:xfrm>
          <a:prstGeom prst="round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Набор записей</a:t>
            </a:r>
          </a:p>
        </p:txBody>
      </p:sp>
      <p:sp>
        <p:nvSpPr>
          <p:cNvPr id="21" name="Прямоугольник 20"/>
          <p:cNvSpPr/>
          <p:nvPr/>
        </p:nvSpPr>
        <p:spPr>
          <a:xfrm>
            <a:off x="5715008" y="5268148"/>
            <a:ext cx="2232000" cy="651854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/>
              <a:t>Таблица итогов </a:t>
            </a:r>
            <a:r>
              <a:rPr lang="ru-RU" dirty="0"/>
              <a:t>регистра</a:t>
            </a:r>
          </a:p>
        </p:txBody>
      </p:sp>
    </p:spTree>
    <p:extLst>
      <p:ext uri="{BB962C8B-B14F-4D97-AF65-F5344CB8AC3E}">
        <p14:creationId xmlns:p14="http://schemas.microsoft.com/office/powerpoint/2010/main" val="191875064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Скругленный прямоугольник 12"/>
          <p:cNvSpPr/>
          <p:nvPr/>
        </p:nvSpPr>
        <p:spPr>
          <a:xfrm>
            <a:off x="500034" y="1124744"/>
            <a:ext cx="8143932" cy="2500330"/>
          </a:xfrm>
          <a:prstGeom prst="roundRect">
            <a:avLst/>
          </a:prstGeom>
          <a:gradFill>
            <a:gsLst>
              <a:gs pos="0">
                <a:srgbClr val="5E9EFF"/>
              </a:gs>
              <a:gs pos="39999">
                <a:srgbClr val="85C2FF"/>
              </a:gs>
              <a:gs pos="70000">
                <a:srgbClr val="C4D6EB"/>
              </a:gs>
              <a:gs pos="100000">
                <a:srgbClr val="FFEBFA"/>
              </a:gs>
            </a:gsLst>
            <a:lin ang="16200000" scaled="0"/>
          </a:gradFill>
          <a:ln>
            <a:solidFill>
              <a:schemeClr val="tx2"/>
            </a:solidFill>
            <a:prstDash val="dash"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t" anchorCtr="0"/>
          <a:lstStyle/>
          <a:p>
            <a:r>
              <a:rPr lang="ru-RU" dirty="0"/>
              <a:t>Оперативная память</a:t>
            </a:r>
          </a:p>
        </p:txBody>
      </p:sp>
      <p:sp>
        <p:nvSpPr>
          <p:cNvPr id="12" name="Скругленный прямоугольник 11"/>
          <p:cNvSpPr/>
          <p:nvPr/>
        </p:nvSpPr>
        <p:spPr>
          <a:xfrm>
            <a:off x="500034" y="3767950"/>
            <a:ext cx="8143932" cy="2500330"/>
          </a:xfrm>
          <a:prstGeom prst="roundRect">
            <a:avLst/>
          </a:prstGeom>
          <a:gradFill>
            <a:gsLst>
              <a:gs pos="0">
                <a:schemeClr val="dk1">
                  <a:tint val="50000"/>
                  <a:satMod val="300000"/>
                </a:schemeClr>
              </a:gs>
              <a:gs pos="35000">
                <a:schemeClr val="dk1">
                  <a:tint val="37000"/>
                  <a:satMod val="300000"/>
                </a:schemeClr>
              </a:gs>
              <a:gs pos="100000">
                <a:schemeClr val="dk1">
                  <a:tint val="15000"/>
                  <a:satMod val="350000"/>
                </a:schemeClr>
              </a:gs>
            </a:gsLst>
            <a:lin ang="16200000" scaled="1"/>
          </a:gradFill>
          <a:ln>
            <a:prstDash val="dash"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t" anchorCtr="0"/>
          <a:lstStyle/>
          <a:p>
            <a:r>
              <a:rPr lang="ru-RU" dirty="0"/>
              <a:t>База данных</a:t>
            </a:r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z="2800" dirty="0"/>
              <a:t>Традиционная технология проведения</a:t>
            </a:r>
          </a:p>
        </p:txBody>
      </p:sp>
      <p:sp>
        <p:nvSpPr>
          <p:cNvPr id="3" name="Скругленный прямоугольник 2"/>
          <p:cNvSpPr/>
          <p:nvPr/>
        </p:nvSpPr>
        <p:spPr>
          <a:xfrm>
            <a:off x="928662" y="2339190"/>
            <a:ext cx="2232000" cy="72000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Документ объект</a:t>
            </a:r>
          </a:p>
        </p:txBody>
      </p:sp>
      <p:sp>
        <p:nvSpPr>
          <p:cNvPr id="5" name="Прямоугольник 4"/>
          <p:cNvSpPr/>
          <p:nvPr/>
        </p:nvSpPr>
        <p:spPr>
          <a:xfrm>
            <a:off x="928662" y="4268016"/>
            <a:ext cx="2232000" cy="1440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Таблица документа</a:t>
            </a:r>
          </a:p>
        </p:txBody>
      </p:sp>
      <p:sp>
        <p:nvSpPr>
          <p:cNvPr id="10" name="Скругленный прямоугольник 9"/>
          <p:cNvSpPr/>
          <p:nvPr/>
        </p:nvSpPr>
        <p:spPr>
          <a:xfrm>
            <a:off x="3428992" y="1267620"/>
            <a:ext cx="2232000" cy="928694"/>
          </a:xfrm>
          <a:prstGeom prst="round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Результат запроса</a:t>
            </a:r>
          </a:p>
        </p:txBody>
      </p:sp>
      <p:sp>
        <p:nvSpPr>
          <p:cNvPr id="19" name="Прямоугольник 18"/>
          <p:cNvSpPr/>
          <p:nvPr/>
        </p:nvSpPr>
        <p:spPr>
          <a:xfrm>
            <a:off x="5715008" y="3862462"/>
            <a:ext cx="2232000" cy="1080000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/>
              <a:t>Таблица движения </a:t>
            </a:r>
            <a:r>
              <a:rPr lang="ru-RU" dirty="0"/>
              <a:t>регистра</a:t>
            </a:r>
          </a:p>
        </p:txBody>
      </p:sp>
      <p:sp>
        <p:nvSpPr>
          <p:cNvPr id="20" name="Скругленный прямоугольник 19"/>
          <p:cNvSpPr/>
          <p:nvPr/>
        </p:nvSpPr>
        <p:spPr>
          <a:xfrm>
            <a:off x="5715008" y="2267752"/>
            <a:ext cx="2232000" cy="720000"/>
          </a:xfrm>
          <a:prstGeom prst="round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Набор записей</a:t>
            </a:r>
          </a:p>
        </p:txBody>
      </p:sp>
      <p:sp>
        <p:nvSpPr>
          <p:cNvPr id="21" name="Прямоугольник 20"/>
          <p:cNvSpPr/>
          <p:nvPr/>
        </p:nvSpPr>
        <p:spPr>
          <a:xfrm>
            <a:off x="5715008" y="5237922"/>
            <a:ext cx="2232000" cy="900000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/>
              <a:t>Таблица итогов </a:t>
            </a:r>
            <a:r>
              <a:rPr lang="ru-RU" dirty="0"/>
              <a:t>регистра</a:t>
            </a:r>
          </a:p>
        </p:txBody>
      </p:sp>
      <p:sp>
        <p:nvSpPr>
          <p:cNvPr id="4" name="Развернутая стрелка 3"/>
          <p:cNvSpPr/>
          <p:nvPr/>
        </p:nvSpPr>
        <p:spPr>
          <a:xfrm rot="5400000" flipV="1">
            <a:off x="4622532" y="4700603"/>
            <a:ext cx="1441174" cy="576000"/>
          </a:xfrm>
          <a:prstGeom prst="uturnArrow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0500205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Данные в результате запроса</a:t>
            </a:r>
          </a:p>
        </p:txBody>
      </p:sp>
      <p:graphicFrame>
        <p:nvGraphicFramePr>
          <p:cNvPr id="3" name="Таблица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92610305"/>
              </p:ext>
            </p:extLst>
          </p:nvPr>
        </p:nvGraphicFramePr>
        <p:xfrm>
          <a:off x="179512" y="1397000"/>
          <a:ext cx="8671095" cy="1752600"/>
        </p:xfrm>
        <a:graphic>
          <a:graphicData uri="http://schemas.openxmlformats.org/drawingml/2006/table">
            <a:tbl>
              <a:tblPr firstRow="1" bandRow="1">
                <a:tableStyleId>{BC89EF96-8CEA-46FF-86C4-4CE0E7609802}</a:tableStyleId>
              </a:tblPr>
              <a:tblGrid>
                <a:gridCol w="1798375">
                  <a:extLst>
                    <a:ext uri="{9D8B030D-6E8A-4147-A177-3AD203B41FA5}">
                      <a16:colId xmlns:a16="http://schemas.microsoft.com/office/drawing/2014/main" val="764105677"/>
                    </a:ext>
                  </a:extLst>
                </a:gridCol>
                <a:gridCol w="2143032">
                  <a:extLst>
                    <a:ext uri="{9D8B030D-6E8A-4147-A177-3AD203B41FA5}">
                      <a16:colId xmlns:a16="http://schemas.microsoft.com/office/drawing/2014/main" val="3932086939"/>
                    </a:ext>
                  </a:extLst>
                </a:gridCol>
                <a:gridCol w="2364844">
                  <a:extLst>
                    <a:ext uri="{9D8B030D-6E8A-4147-A177-3AD203B41FA5}">
                      <a16:colId xmlns:a16="http://schemas.microsoft.com/office/drawing/2014/main" val="1548726310"/>
                    </a:ext>
                  </a:extLst>
                </a:gridCol>
                <a:gridCol w="2364844">
                  <a:extLst>
                    <a:ext uri="{9D8B030D-6E8A-4147-A177-3AD203B41FA5}">
                      <a16:colId xmlns:a16="http://schemas.microsoft.com/office/drawing/2014/main" val="364255570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Номенклатура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Количество в документе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Количество остаток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Сумма остаток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3187837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&lt;Яблоки&gt;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500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600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6500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712811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&lt;Груши&gt;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500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400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7500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95008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&lt;Киви&gt;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4085137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9048256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Данные в результате запроса</a:t>
            </a:r>
          </a:p>
        </p:txBody>
      </p:sp>
      <p:graphicFrame>
        <p:nvGraphicFramePr>
          <p:cNvPr id="3" name="Таблица 2"/>
          <p:cNvGraphicFramePr>
            <a:graphicFrameLocks noGrp="1"/>
          </p:cNvGraphicFramePr>
          <p:nvPr/>
        </p:nvGraphicFramePr>
        <p:xfrm>
          <a:off x="179512" y="1397000"/>
          <a:ext cx="8671095" cy="1752600"/>
        </p:xfrm>
        <a:graphic>
          <a:graphicData uri="http://schemas.openxmlformats.org/drawingml/2006/table">
            <a:tbl>
              <a:tblPr firstRow="1" bandRow="1">
                <a:tableStyleId>{BC89EF96-8CEA-46FF-86C4-4CE0E7609802}</a:tableStyleId>
              </a:tblPr>
              <a:tblGrid>
                <a:gridCol w="1798375">
                  <a:extLst>
                    <a:ext uri="{9D8B030D-6E8A-4147-A177-3AD203B41FA5}">
                      <a16:colId xmlns:a16="http://schemas.microsoft.com/office/drawing/2014/main" val="764105677"/>
                    </a:ext>
                  </a:extLst>
                </a:gridCol>
                <a:gridCol w="2143032">
                  <a:extLst>
                    <a:ext uri="{9D8B030D-6E8A-4147-A177-3AD203B41FA5}">
                      <a16:colId xmlns:a16="http://schemas.microsoft.com/office/drawing/2014/main" val="3932086939"/>
                    </a:ext>
                  </a:extLst>
                </a:gridCol>
                <a:gridCol w="2364844">
                  <a:extLst>
                    <a:ext uri="{9D8B030D-6E8A-4147-A177-3AD203B41FA5}">
                      <a16:colId xmlns:a16="http://schemas.microsoft.com/office/drawing/2014/main" val="1548726310"/>
                    </a:ext>
                  </a:extLst>
                </a:gridCol>
                <a:gridCol w="2364844">
                  <a:extLst>
                    <a:ext uri="{9D8B030D-6E8A-4147-A177-3AD203B41FA5}">
                      <a16:colId xmlns:a16="http://schemas.microsoft.com/office/drawing/2014/main" val="364255570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Номенклатура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Количество в документе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Количество остаток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Сумма остаток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3187837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&lt;Яблоки&gt;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500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600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6500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712811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&lt;Груши&gt;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500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400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7500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95008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&lt;Киви&gt;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40851377"/>
                  </a:ext>
                </a:extLst>
              </a:tr>
            </a:tbl>
          </a:graphicData>
        </a:graphic>
      </p:graphicFrame>
      <p:graphicFrame>
        <p:nvGraphicFramePr>
          <p:cNvPr id="4" name="Таблица 3"/>
          <p:cNvGraphicFramePr>
            <a:graphicFrameLocks noGrp="1"/>
          </p:cNvGraphicFramePr>
          <p:nvPr/>
        </p:nvGraphicFramePr>
        <p:xfrm>
          <a:off x="188119" y="4437112"/>
          <a:ext cx="3492388" cy="1752600"/>
        </p:xfrm>
        <a:graphic>
          <a:graphicData uri="http://schemas.openxmlformats.org/drawingml/2006/table">
            <a:tbl>
              <a:tblPr firstRow="1" bandRow="1">
                <a:tableStyleId>{5DA37D80-6434-44D0-A028-1B22A696006F}</a:tableStyleId>
              </a:tblPr>
              <a:tblGrid>
                <a:gridCol w="1746194">
                  <a:extLst>
                    <a:ext uri="{9D8B030D-6E8A-4147-A177-3AD203B41FA5}">
                      <a16:colId xmlns:a16="http://schemas.microsoft.com/office/drawing/2014/main" val="764105677"/>
                    </a:ext>
                  </a:extLst>
                </a:gridCol>
                <a:gridCol w="1746194">
                  <a:extLst>
                    <a:ext uri="{9D8B030D-6E8A-4147-A177-3AD203B41FA5}">
                      <a16:colId xmlns:a16="http://schemas.microsoft.com/office/drawing/2014/main" val="393208693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Номенклатура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Количество в документе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3187837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&lt;Яблоки&gt;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500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712811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&lt;Груши&gt;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500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95008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&lt;Киви&gt;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40851377"/>
                  </a:ext>
                </a:extLst>
              </a:tr>
            </a:tbl>
          </a:graphicData>
        </a:graphic>
      </p:graphicFrame>
      <p:sp>
        <p:nvSpPr>
          <p:cNvPr id="7" name="Правая фигурная скобка 6"/>
          <p:cNvSpPr/>
          <p:nvPr/>
        </p:nvSpPr>
        <p:spPr>
          <a:xfrm rot="5400000">
            <a:off x="1920813" y="1497897"/>
            <a:ext cx="432051" cy="3862208"/>
          </a:xfrm>
          <a:prstGeom prst="rightBrac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" name="TextBox 8"/>
          <p:cNvSpPr txBox="1"/>
          <p:nvPr/>
        </p:nvSpPr>
        <p:spPr>
          <a:xfrm>
            <a:off x="188119" y="3787880"/>
            <a:ext cx="323175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dirty="0">
                <a:solidFill>
                  <a:srgbClr val="C00000"/>
                </a:solidFill>
              </a:rPr>
              <a:t>Табличная часть «Товары» документа «Реализация»</a:t>
            </a:r>
          </a:p>
        </p:txBody>
      </p:sp>
    </p:spTree>
    <p:extLst>
      <p:ext uri="{BB962C8B-B14F-4D97-AF65-F5344CB8AC3E}">
        <p14:creationId xmlns:p14="http://schemas.microsoft.com/office/powerpoint/2010/main" val="222939587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Данные в результате запроса</a:t>
            </a:r>
          </a:p>
        </p:txBody>
      </p:sp>
      <p:graphicFrame>
        <p:nvGraphicFramePr>
          <p:cNvPr id="3" name="Таблица 2"/>
          <p:cNvGraphicFramePr>
            <a:graphicFrameLocks noGrp="1"/>
          </p:cNvGraphicFramePr>
          <p:nvPr/>
        </p:nvGraphicFramePr>
        <p:xfrm>
          <a:off x="179512" y="1397000"/>
          <a:ext cx="8671095" cy="1752600"/>
        </p:xfrm>
        <a:graphic>
          <a:graphicData uri="http://schemas.openxmlformats.org/drawingml/2006/table">
            <a:tbl>
              <a:tblPr firstRow="1" bandRow="1">
                <a:tableStyleId>{BC89EF96-8CEA-46FF-86C4-4CE0E7609802}</a:tableStyleId>
              </a:tblPr>
              <a:tblGrid>
                <a:gridCol w="1798375">
                  <a:extLst>
                    <a:ext uri="{9D8B030D-6E8A-4147-A177-3AD203B41FA5}">
                      <a16:colId xmlns:a16="http://schemas.microsoft.com/office/drawing/2014/main" val="764105677"/>
                    </a:ext>
                  </a:extLst>
                </a:gridCol>
                <a:gridCol w="2143032">
                  <a:extLst>
                    <a:ext uri="{9D8B030D-6E8A-4147-A177-3AD203B41FA5}">
                      <a16:colId xmlns:a16="http://schemas.microsoft.com/office/drawing/2014/main" val="3932086939"/>
                    </a:ext>
                  </a:extLst>
                </a:gridCol>
                <a:gridCol w="2364844">
                  <a:extLst>
                    <a:ext uri="{9D8B030D-6E8A-4147-A177-3AD203B41FA5}">
                      <a16:colId xmlns:a16="http://schemas.microsoft.com/office/drawing/2014/main" val="1548726310"/>
                    </a:ext>
                  </a:extLst>
                </a:gridCol>
                <a:gridCol w="2364844">
                  <a:extLst>
                    <a:ext uri="{9D8B030D-6E8A-4147-A177-3AD203B41FA5}">
                      <a16:colId xmlns:a16="http://schemas.microsoft.com/office/drawing/2014/main" val="364255570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Номенклатура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Количество в документе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Количество остаток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Сумма остаток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3187837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&lt;Яблоки&gt;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500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600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6500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712811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&lt;Груши&gt;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500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400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7500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95008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&lt;Киви&gt;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40851377"/>
                  </a:ext>
                </a:extLst>
              </a:tr>
            </a:tbl>
          </a:graphicData>
        </a:graphic>
      </p:graphicFrame>
      <p:graphicFrame>
        <p:nvGraphicFramePr>
          <p:cNvPr id="4" name="Таблица 3"/>
          <p:cNvGraphicFramePr>
            <a:graphicFrameLocks noGrp="1"/>
          </p:cNvGraphicFramePr>
          <p:nvPr/>
        </p:nvGraphicFramePr>
        <p:xfrm>
          <a:off x="188119" y="4437112"/>
          <a:ext cx="3492388" cy="1752600"/>
        </p:xfrm>
        <a:graphic>
          <a:graphicData uri="http://schemas.openxmlformats.org/drawingml/2006/table">
            <a:tbl>
              <a:tblPr firstRow="1" bandRow="1">
                <a:tableStyleId>{5DA37D80-6434-44D0-A028-1B22A696006F}</a:tableStyleId>
              </a:tblPr>
              <a:tblGrid>
                <a:gridCol w="1746194">
                  <a:extLst>
                    <a:ext uri="{9D8B030D-6E8A-4147-A177-3AD203B41FA5}">
                      <a16:colId xmlns:a16="http://schemas.microsoft.com/office/drawing/2014/main" val="764105677"/>
                    </a:ext>
                  </a:extLst>
                </a:gridCol>
                <a:gridCol w="1746194">
                  <a:extLst>
                    <a:ext uri="{9D8B030D-6E8A-4147-A177-3AD203B41FA5}">
                      <a16:colId xmlns:a16="http://schemas.microsoft.com/office/drawing/2014/main" val="393208693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Номенклатура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Количество в документе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3187837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&lt;Яблоки&gt;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500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712811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&lt;Груши&gt;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500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95008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&lt;Киви&gt;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40851377"/>
                  </a:ext>
                </a:extLst>
              </a:tr>
            </a:tbl>
          </a:graphicData>
        </a:graphic>
      </p:graphicFrame>
      <p:graphicFrame>
        <p:nvGraphicFramePr>
          <p:cNvPr id="6" name="Таблица 5"/>
          <p:cNvGraphicFramePr>
            <a:graphicFrameLocks noGrp="1"/>
          </p:cNvGraphicFramePr>
          <p:nvPr>
            <p:extLst/>
          </p:nvPr>
        </p:nvGraphicFramePr>
        <p:xfrm>
          <a:off x="4067943" y="4437112"/>
          <a:ext cx="4782663" cy="1752600"/>
        </p:xfrm>
        <a:graphic>
          <a:graphicData uri="http://schemas.openxmlformats.org/drawingml/2006/table">
            <a:tbl>
              <a:tblPr firstRow="1" bandRow="1">
                <a:tableStyleId>{E8B1032C-EA38-4F05-BA0D-38AFFFC7BED3}</a:tableStyleId>
              </a:tblPr>
              <a:tblGrid>
                <a:gridCol w="1682408">
                  <a:extLst>
                    <a:ext uri="{9D8B030D-6E8A-4147-A177-3AD203B41FA5}">
                      <a16:colId xmlns:a16="http://schemas.microsoft.com/office/drawing/2014/main" val="764105677"/>
                    </a:ext>
                  </a:extLst>
                </a:gridCol>
                <a:gridCol w="1486827">
                  <a:extLst>
                    <a:ext uri="{9D8B030D-6E8A-4147-A177-3AD203B41FA5}">
                      <a16:colId xmlns:a16="http://schemas.microsoft.com/office/drawing/2014/main" val="1548726310"/>
                    </a:ext>
                  </a:extLst>
                </a:gridCol>
                <a:gridCol w="1613428">
                  <a:extLst>
                    <a:ext uri="{9D8B030D-6E8A-4147-A177-3AD203B41FA5}">
                      <a16:colId xmlns:a16="http://schemas.microsoft.com/office/drawing/2014/main" val="10443460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Номенклатура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Количество остаток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Сумма остаток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3187837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&lt;Яблоки&gt;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600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6500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712811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&lt;Груши&gt;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400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7500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95008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&lt;</a:t>
                      </a:r>
                      <a:r>
                        <a:rPr lang="ru-RU" dirty="0"/>
                        <a:t>Бананы&gt;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666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131313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61598729"/>
                  </a:ext>
                </a:extLst>
              </a:tr>
            </a:tbl>
          </a:graphicData>
        </a:graphic>
      </p:graphicFrame>
      <p:sp>
        <p:nvSpPr>
          <p:cNvPr id="7" name="Правая фигурная скобка 6"/>
          <p:cNvSpPr/>
          <p:nvPr/>
        </p:nvSpPr>
        <p:spPr>
          <a:xfrm rot="5400000">
            <a:off x="1920813" y="1497897"/>
            <a:ext cx="432051" cy="3862208"/>
          </a:xfrm>
          <a:prstGeom prst="rightBrac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Правая фигурная скобка 7"/>
          <p:cNvSpPr/>
          <p:nvPr/>
        </p:nvSpPr>
        <p:spPr>
          <a:xfrm rot="5400000">
            <a:off x="6243249" y="1037670"/>
            <a:ext cx="432050" cy="4782663"/>
          </a:xfrm>
          <a:prstGeom prst="rightBrace">
            <a:avLst/>
          </a:prstGeom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" name="TextBox 8"/>
          <p:cNvSpPr txBox="1"/>
          <p:nvPr/>
        </p:nvSpPr>
        <p:spPr>
          <a:xfrm>
            <a:off x="188119" y="3787880"/>
            <a:ext cx="323175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dirty="0">
                <a:solidFill>
                  <a:srgbClr val="C00000"/>
                </a:solidFill>
              </a:rPr>
              <a:t>Табличная часть «Товары» документа «Реализация»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67943" y="3787879"/>
            <a:ext cx="478266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dirty="0">
                <a:solidFill>
                  <a:schemeClr val="accent6">
                    <a:lumMod val="50000"/>
                  </a:schemeClr>
                </a:solidFill>
              </a:rPr>
              <a:t>Виртуальная таблица «Остатки» регистра накопления «Себестоимость товаров»</a:t>
            </a:r>
          </a:p>
        </p:txBody>
      </p:sp>
    </p:spTree>
    <p:extLst>
      <p:ext uri="{BB962C8B-B14F-4D97-AF65-F5344CB8AC3E}">
        <p14:creationId xmlns:p14="http://schemas.microsoft.com/office/powerpoint/2010/main" val="9423685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Объединение и соединение таблиц</a:t>
            </a:r>
          </a:p>
        </p:txBody>
      </p:sp>
      <p:sp>
        <p:nvSpPr>
          <p:cNvPr id="4" name="Текст 3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6416261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71448" y="545072"/>
            <a:ext cx="8793040" cy="1143000"/>
          </a:xfrm>
        </p:spPr>
        <p:txBody>
          <a:bodyPr>
            <a:normAutofit/>
          </a:bodyPr>
          <a:lstStyle/>
          <a:p>
            <a:r>
              <a:rPr lang="ru-RU" dirty="0"/>
              <a:t>Варианты работы </a:t>
            </a:r>
            <a:br>
              <a:rPr lang="ru-RU" dirty="0"/>
            </a:br>
            <a:r>
              <a:rPr lang="ru-RU" sz="3100" dirty="0"/>
              <a:t>с несколькими источниками</a:t>
            </a:r>
            <a:endParaRPr lang="ru-RU" dirty="0"/>
          </a:p>
        </p:txBody>
      </p:sp>
      <p:graphicFrame>
        <p:nvGraphicFramePr>
          <p:cNvPr id="3" name="Таблица 2"/>
          <p:cNvGraphicFramePr>
            <a:graphicFrameLocks noGrp="1"/>
          </p:cNvGraphicFramePr>
          <p:nvPr/>
        </p:nvGraphicFramePr>
        <p:xfrm>
          <a:off x="752066" y="1662298"/>
          <a:ext cx="2880000" cy="14400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96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6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6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endParaRPr lang="ru-RU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 lang="ru-RU" sz="1000" dirty="0"/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sz="1000" dirty="0"/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sz="1000"/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 lang="ru-RU" sz="1000" dirty="0"/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sz="1000" dirty="0"/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sz="1000"/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 lang="ru-RU" sz="1000" dirty="0"/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sz="1000" dirty="0"/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sz="1000" dirty="0"/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5" name="Таблица 4"/>
          <p:cNvGraphicFramePr>
            <a:graphicFrameLocks noGrp="1"/>
          </p:cNvGraphicFramePr>
          <p:nvPr/>
        </p:nvGraphicFramePr>
        <p:xfrm>
          <a:off x="5043966" y="1662298"/>
          <a:ext cx="2880000" cy="1440000"/>
        </p:xfrm>
        <a:graphic>
          <a:graphicData uri="http://schemas.openxmlformats.org/drawingml/2006/table">
            <a:tbl>
              <a:tblPr firstRow="1">
                <a:tableStyleId>{21E4AEA4-8DFA-4A89-87EB-49C32662AFE0}</a:tableStyleId>
              </a:tblPr>
              <a:tblGrid>
                <a:gridCol w="96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6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6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endParaRPr lang="ru-RU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sz="10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 lang="ru-RU" sz="1000" dirty="0"/>
                    </a:p>
                  </a:txBody>
                  <a:tcP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sz="1000" dirty="0"/>
                    </a:p>
                  </a:txBody>
                  <a:tcP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sz="1000"/>
                    </a:p>
                  </a:txBody>
                  <a:tcP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 lang="ru-RU" sz="1000" dirty="0"/>
                    </a:p>
                  </a:txBody>
                  <a:tcP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sz="1000" dirty="0"/>
                    </a:p>
                  </a:txBody>
                  <a:tcP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sz="1000" dirty="0"/>
                    </a:p>
                  </a:txBody>
                  <a:tcP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 lang="ru-RU" sz="1000"/>
                    </a:p>
                  </a:txBody>
                  <a:tcP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sz="1000" dirty="0"/>
                    </a:p>
                  </a:txBody>
                  <a:tcP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sz="1000" dirty="0"/>
                    </a:p>
                  </a:txBody>
                  <a:tcP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6" name="Таблица 5"/>
          <p:cNvGraphicFramePr>
            <a:graphicFrameLocks noGrp="1"/>
          </p:cNvGraphicFramePr>
          <p:nvPr/>
        </p:nvGraphicFramePr>
        <p:xfrm>
          <a:off x="752066" y="3693372"/>
          <a:ext cx="2880000" cy="25200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96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6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6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endParaRPr lang="ru-RU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 lang="ru-RU" sz="1000" dirty="0"/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sz="1000"/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sz="1000"/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 lang="ru-RU" sz="1000" dirty="0"/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sz="1000" dirty="0"/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sz="1000"/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 lang="ru-RU" sz="1000" dirty="0"/>
                    </a:p>
                  </a:txBody>
                  <a:tcPr>
                    <a:lnB w="28575" cap="flat" cmpd="sng" algn="ctr">
                      <a:solidFill>
                        <a:schemeClr val="tx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sz="1000" dirty="0"/>
                    </a:p>
                  </a:txBody>
                  <a:tcPr>
                    <a:lnB w="28575" cap="flat" cmpd="sng" algn="ctr">
                      <a:solidFill>
                        <a:schemeClr val="tx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sz="1000" dirty="0"/>
                    </a:p>
                  </a:txBody>
                  <a:tcPr>
                    <a:lnB w="28575" cap="flat" cmpd="sng" algn="ctr">
                      <a:solidFill>
                        <a:schemeClr val="tx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 lang="ru-RU" sz="1000" dirty="0"/>
                    </a:p>
                  </a:txBody>
                  <a:tcPr>
                    <a:lnT w="28575" cap="flat" cmpd="sng" algn="ctr">
                      <a:solidFill>
                        <a:schemeClr val="tx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sz="1000" dirty="0"/>
                    </a:p>
                  </a:txBody>
                  <a:tcPr>
                    <a:lnT w="28575" cap="flat" cmpd="sng" algn="ctr">
                      <a:solidFill>
                        <a:schemeClr val="tx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sz="1000" dirty="0"/>
                    </a:p>
                  </a:txBody>
                  <a:tcPr>
                    <a:lnT w="28575" cap="flat" cmpd="sng" algn="ctr">
                      <a:solidFill>
                        <a:schemeClr val="tx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 lang="ru-RU" sz="1000" dirty="0"/>
                    </a:p>
                  </a:txBody>
                  <a:tcP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sz="1000" dirty="0"/>
                    </a:p>
                  </a:txBody>
                  <a:tcP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sz="1000" dirty="0"/>
                    </a:p>
                  </a:txBody>
                  <a:tcP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 lang="ru-RU" sz="1000" dirty="0"/>
                    </a:p>
                  </a:txBody>
                  <a:tcP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sz="1000" dirty="0"/>
                    </a:p>
                  </a:txBody>
                  <a:tcP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sz="1000" dirty="0"/>
                    </a:p>
                  </a:txBody>
                  <a:tcP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7" name="Таблица 6"/>
          <p:cNvGraphicFramePr>
            <a:graphicFrameLocks noGrp="1"/>
          </p:cNvGraphicFramePr>
          <p:nvPr/>
        </p:nvGraphicFramePr>
        <p:xfrm>
          <a:off x="4323966" y="4773372"/>
          <a:ext cx="4320000" cy="14400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72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endParaRPr lang="ru-RU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sz="1000" dirty="0"/>
                    </a:p>
                  </a:txBody>
                  <a:tcPr>
                    <a:lnR w="28575" cap="flat" cmpd="sng" algn="ctr">
                      <a:solidFill>
                        <a:schemeClr val="tx1"/>
                      </a:solidFill>
                      <a:prstDash val="dash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endParaRPr lang="ru-RU" sz="1000" dirty="0"/>
                    </a:p>
                  </a:txBody>
                  <a:tcPr>
                    <a:lnL w="28575" cap="flat" cmpd="sng" algn="ctr">
                      <a:solidFill>
                        <a:schemeClr val="tx1"/>
                      </a:solidFill>
                      <a:prstDash val="dash"/>
                      <a:round/>
                      <a:headEnd type="none" w="med" len="med"/>
                      <a:tailEnd type="none" w="med" len="med"/>
                    </a:lnL>
                    <a:solidFill>
                      <a:srgbClr val="C0504D"/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sz="1000" dirty="0"/>
                    </a:p>
                  </a:txBody>
                  <a:tcPr>
                    <a:solidFill>
                      <a:srgbClr val="C0504D"/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sz="1000" dirty="0"/>
                    </a:p>
                  </a:txBody>
                  <a:tcPr>
                    <a:solidFill>
                      <a:srgbClr val="C0504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 lang="ru-RU" sz="1000" dirty="0"/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sz="1000" dirty="0"/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sz="1000" dirty="0"/>
                    </a:p>
                  </a:txBody>
                  <a:tcPr>
                    <a:lnR w="28575" cap="flat" cmpd="sng" algn="ctr">
                      <a:solidFill>
                        <a:schemeClr val="tx1"/>
                      </a:solidFill>
                      <a:prstDash val="dash"/>
                      <a:round/>
                      <a:headEnd type="none" w="med" len="med"/>
                      <a:tailEnd type="none" w="med" len="med"/>
                    </a:ln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sz="1000" dirty="0"/>
                    </a:p>
                  </a:txBody>
                  <a:tcPr>
                    <a:lnL w="28575" cap="flat" cmpd="sng" algn="ctr">
                      <a:solidFill>
                        <a:schemeClr val="tx1"/>
                      </a:solidFill>
                      <a:prstDash val="dash"/>
                      <a:round/>
                      <a:headEnd type="none" w="med" len="med"/>
                      <a:tailEnd type="none" w="med" len="med"/>
                    </a:lnL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sz="1000" dirty="0"/>
                    </a:p>
                  </a:txBody>
                  <a:tcP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sz="1000"/>
                    </a:p>
                  </a:txBody>
                  <a:tcP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 lang="ru-RU" sz="1000" dirty="0"/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sz="1000" dirty="0"/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sz="1000" dirty="0"/>
                    </a:p>
                  </a:txBody>
                  <a:tcPr>
                    <a:lnR w="28575" cap="flat" cmpd="sng" algn="ctr">
                      <a:solidFill>
                        <a:schemeClr val="tx1"/>
                      </a:solidFill>
                      <a:prstDash val="dash"/>
                      <a:round/>
                      <a:headEnd type="none" w="med" len="med"/>
                      <a:tailEnd type="none" w="med" len="med"/>
                    </a:ln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sz="1000" dirty="0"/>
                    </a:p>
                  </a:txBody>
                  <a:tcPr>
                    <a:lnL w="28575" cap="flat" cmpd="sng" algn="ctr">
                      <a:solidFill>
                        <a:schemeClr val="tx1"/>
                      </a:solidFill>
                      <a:prstDash val="dash"/>
                      <a:round/>
                      <a:headEnd type="none" w="med" len="med"/>
                      <a:tailEnd type="none" w="med" len="med"/>
                    </a:lnL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sz="1000" dirty="0"/>
                    </a:p>
                  </a:txBody>
                  <a:tcP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sz="1000"/>
                    </a:p>
                  </a:txBody>
                  <a:tcP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 lang="ru-RU" sz="1000"/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sz="1000" dirty="0"/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sz="1000" dirty="0"/>
                    </a:p>
                  </a:txBody>
                  <a:tcPr>
                    <a:lnR w="28575" cap="flat" cmpd="sng" algn="ctr">
                      <a:solidFill>
                        <a:schemeClr val="tx1"/>
                      </a:solidFill>
                      <a:prstDash val="dash"/>
                      <a:round/>
                      <a:headEnd type="none" w="med" len="med"/>
                      <a:tailEnd type="none" w="med" len="med"/>
                    </a:ln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sz="1000" dirty="0"/>
                    </a:p>
                  </a:txBody>
                  <a:tcPr>
                    <a:lnL w="28575" cap="flat" cmpd="sng" algn="ctr">
                      <a:solidFill>
                        <a:schemeClr val="tx1"/>
                      </a:solidFill>
                      <a:prstDash val="dash"/>
                      <a:round/>
                      <a:headEnd type="none" w="med" len="med"/>
                      <a:tailEnd type="none" w="med" len="med"/>
                    </a:lnL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sz="1000" dirty="0"/>
                    </a:p>
                  </a:txBody>
                  <a:tcP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sz="1000" dirty="0"/>
                    </a:p>
                  </a:txBody>
                  <a:tcP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14348" y="3212976"/>
            <a:ext cx="213186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000" b="1" dirty="0">
                <a:solidFill>
                  <a:srgbClr val="002060"/>
                </a:solidFill>
              </a:rPr>
              <a:t>1)  </a:t>
            </a:r>
            <a:r>
              <a:rPr lang="ru-RU" sz="2000" dirty="0">
                <a:solidFill>
                  <a:srgbClr val="002060"/>
                </a:solidFill>
              </a:rPr>
              <a:t>Объединение: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86248" y="4292166"/>
            <a:ext cx="189622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000" b="1" dirty="0">
                <a:solidFill>
                  <a:srgbClr val="002060"/>
                </a:solidFill>
              </a:rPr>
              <a:t>2) </a:t>
            </a:r>
            <a:r>
              <a:rPr lang="ru-RU" sz="2000" dirty="0">
                <a:solidFill>
                  <a:srgbClr val="002060"/>
                </a:solidFill>
              </a:rPr>
              <a:t>Соединение:</a:t>
            </a:r>
          </a:p>
        </p:txBody>
      </p:sp>
    </p:spTree>
    <p:extLst>
      <p:ext uri="{BB962C8B-B14F-4D97-AF65-F5344CB8AC3E}">
        <p14:creationId xmlns:p14="http://schemas.microsoft.com/office/powerpoint/2010/main" val="22119435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500"/>
                            </p:stCondLst>
                            <p:childTnLst>
                              <p:par>
                                <p:cTn id="1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500"/>
                            </p:stCondLst>
                            <p:childTnLst>
                              <p:par>
                                <p:cTn id="2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Таблица 3"/>
          <p:cNvGraphicFramePr>
            <a:graphicFrameLocks noGrp="1"/>
          </p:cNvGraphicFramePr>
          <p:nvPr/>
        </p:nvGraphicFramePr>
        <p:xfrm>
          <a:off x="4810148" y="1643050"/>
          <a:ext cx="3976694" cy="440284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98834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8834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Товар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Кол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endParaRPr lang="ru-RU" sz="800" dirty="0"/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sz="800" dirty="0"/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endParaRPr lang="ru-RU" sz="800" dirty="0"/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sz="800" dirty="0"/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endParaRPr lang="ru-RU" sz="800" dirty="0"/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sz="800" dirty="0"/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endParaRPr lang="ru-RU" sz="800" dirty="0"/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sz="800" dirty="0"/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endParaRPr lang="ru-RU" sz="800" dirty="0"/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sz="800" dirty="0"/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endParaRPr lang="ru-RU" sz="800" dirty="0"/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sz="800" dirty="0"/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endParaRPr lang="ru-RU" sz="800" dirty="0"/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sz="800" dirty="0"/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endParaRPr lang="ru-RU" sz="800" dirty="0"/>
                    </a:p>
                  </a:txBody>
                  <a:tcPr anchor="ctr">
                    <a:lnB w="19050" cap="flat" cmpd="sng" algn="ctr">
                      <a:solidFill>
                        <a:srgbClr val="FF0000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sz="800" dirty="0"/>
                    </a:p>
                  </a:txBody>
                  <a:tcPr anchor="ctr">
                    <a:lnB w="19050" cap="flat" cmpd="sng" algn="ctr">
                      <a:solidFill>
                        <a:srgbClr val="FF0000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endParaRPr lang="ru-RU" sz="800" dirty="0"/>
                    </a:p>
                  </a:txBody>
                  <a:tcPr anchor="ctr">
                    <a:lnT w="19050" cap="flat" cmpd="sng" algn="ctr">
                      <a:solidFill>
                        <a:srgbClr val="FF0000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sz="800" dirty="0"/>
                    </a:p>
                  </a:txBody>
                  <a:tcPr anchor="ctr">
                    <a:lnT w="19050" cap="flat" cmpd="sng" algn="ctr">
                      <a:solidFill>
                        <a:srgbClr val="FF0000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endParaRPr lang="ru-RU" sz="800" dirty="0"/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sz="800" dirty="0"/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endParaRPr lang="ru-RU" sz="800" dirty="0"/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sz="800" dirty="0"/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endParaRPr lang="ru-RU" sz="800" dirty="0"/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sz="800" dirty="0"/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endParaRPr lang="ru-RU" sz="800" dirty="0"/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sz="800" dirty="0"/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endParaRPr lang="ru-RU" sz="800" dirty="0"/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sz="800" dirty="0"/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endParaRPr lang="ru-RU" sz="800" dirty="0"/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sz="800" dirty="0"/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endParaRPr lang="ru-RU" sz="800" dirty="0"/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sz="800" dirty="0"/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</a:tbl>
          </a:graphicData>
        </a:graphic>
      </p:graphicFrame>
      <p:sp>
        <p:nvSpPr>
          <p:cNvPr id="3" name="Прямоугольник 2"/>
          <p:cNvSpPr/>
          <p:nvPr/>
        </p:nvSpPr>
        <p:spPr>
          <a:xfrm>
            <a:off x="214282" y="1928802"/>
            <a:ext cx="4572000" cy="4247317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ru-RU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ВЫБРАТЬ</a:t>
            </a:r>
          </a:p>
          <a:p>
            <a:r>
              <a:rPr lang="ru-RU" dirty="0">
                <a:latin typeface="Courier New" pitchFamily="49" charset="0"/>
                <a:cs typeface="Courier New" pitchFamily="49" charset="0"/>
              </a:rPr>
              <a:t>	Номенклатура КАК Товар,</a:t>
            </a:r>
          </a:p>
          <a:p>
            <a:r>
              <a:rPr lang="ru-RU" dirty="0">
                <a:latin typeface="Courier New" pitchFamily="49" charset="0"/>
                <a:cs typeface="Courier New" pitchFamily="49" charset="0"/>
              </a:rPr>
              <a:t>	Количество   КАК Кол</a:t>
            </a:r>
          </a:p>
          <a:p>
            <a:r>
              <a:rPr lang="ru-RU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ИЗ</a:t>
            </a:r>
          </a:p>
          <a:p>
            <a:r>
              <a:rPr lang="ru-RU" dirty="0">
                <a:latin typeface="Courier New" pitchFamily="49" charset="0"/>
                <a:cs typeface="Courier New" pitchFamily="49" charset="0"/>
              </a:rPr>
              <a:t>	</a:t>
            </a:r>
            <a:r>
              <a:rPr lang="ru-RU" i="1" dirty="0">
                <a:solidFill>
                  <a:schemeClr val="bg1">
                    <a:lumMod val="65000"/>
                  </a:schemeClr>
                </a:solidFill>
                <a:latin typeface="Courier New" pitchFamily="49" charset="0"/>
                <a:cs typeface="Courier New" pitchFamily="49" charset="0"/>
              </a:rPr>
              <a:t>&lt;Первый источник&gt;</a:t>
            </a:r>
          </a:p>
          <a:p>
            <a:endParaRPr lang="ru-RU" dirty="0">
              <a:latin typeface="Courier New" pitchFamily="49" charset="0"/>
              <a:cs typeface="Courier New" pitchFamily="49" charset="0"/>
            </a:endParaRPr>
          </a:p>
          <a:p>
            <a:endParaRPr lang="ru-RU" dirty="0">
              <a:latin typeface="Courier New" pitchFamily="49" charset="0"/>
              <a:cs typeface="Courier New" pitchFamily="49" charset="0"/>
            </a:endParaRPr>
          </a:p>
          <a:p>
            <a:r>
              <a:rPr lang="ru-RU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ОБЪЕДИНИТЬ ВСЕ</a:t>
            </a:r>
          </a:p>
          <a:p>
            <a:endParaRPr lang="ru-RU" dirty="0">
              <a:latin typeface="Courier New" pitchFamily="49" charset="0"/>
              <a:cs typeface="Courier New" pitchFamily="49" charset="0"/>
            </a:endParaRPr>
          </a:p>
          <a:p>
            <a:endParaRPr lang="ru-RU" dirty="0">
              <a:latin typeface="Courier New" pitchFamily="49" charset="0"/>
              <a:cs typeface="Courier New" pitchFamily="49" charset="0"/>
            </a:endParaRPr>
          </a:p>
          <a:p>
            <a:r>
              <a:rPr lang="ru-RU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ВЫБРАТЬ</a:t>
            </a:r>
          </a:p>
          <a:p>
            <a:r>
              <a:rPr lang="ru-RU" dirty="0">
                <a:latin typeface="Courier New" pitchFamily="49" charset="0"/>
                <a:cs typeface="Courier New" pitchFamily="49" charset="0"/>
              </a:rPr>
              <a:t>	Номенклатура,</a:t>
            </a:r>
          </a:p>
          <a:p>
            <a:r>
              <a:rPr lang="ru-RU" dirty="0">
                <a:latin typeface="Courier New" pitchFamily="49" charset="0"/>
                <a:cs typeface="Courier New" pitchFamily="49" charset="0"/>
              </a:rPr>
              <a:t>	Количество</a:t>
            </a:r>
          </a:p>
          <a:p>
            <a:r>
              <a:rPr lang="ru-RU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ИЗ</a:t>
            </a:r>
          </a:p>
          <a:p>
            <a:r>
              <a:rPr lang="ru-RU" dirty="0">
                <a:latin typeface="Courier New" pitchFamily="49" charset="0"/>
                <a:cs typeface="Courier New" pitchFamily="49" charset="0"/>
              </a:rPr>
              <a:t>	</a:t>
            </a:r>
            <a:r>
              <a:rPr lang="ru-RU" i="1" dirty="0">
                <a:solidFill>
                  <a:schemeClr val="bg1">
                    <a:lumMod val="65000"/>
                  </a:schemeClr>
                </a:solidFill>
                <a:latin typeface="Courier New" pitchFamily="49" charset="0"/>
                <a:cs typeface="Courier New" pitchFamily="49" charset="0"/>
              </a:rPr>
              <a:t>&lt;Второй источник&gt;</a:t>
            </a:r>
          </a:p>
        </p:txBody>
      </p:sp>
      <p:sp>
        <p:nvSpPr>
          <p:cNvPr id="5" name="Заголовок 4"/>
          <p:cNvSpPr>
            <a:spLocks noGrp="1"/>
          </p:cNvSpPr>
          <p:nvPr>
            <p:ph type="title"/>
          </p:nvPr>
        </p:nvSpPr>
        <p:spPr>
          <a:xfrm>
            <a:off x="457200" y="214298"/>
            <a:ext cx="8229600" cy="1143000"/>
          </a:xfrm>
        </p:spPr>
        <p:txBody>
          <a:bodyPr/>
          <a:lstStyle/>
          <a:p>
            <a:r>
              <a:rPr lang="ru-RU" dirty="0"/>
              <a:t>Объединение источников</a:t>
            </a:r>
          </a:p>
        </p:txBody>
      </p:sp>
    </p:spTree>
    <p:extLst>
      <p:ext uri="{BB962C8B-B14F-4D97-AF65-F5344CB8AC3E}">
        <p14:creationId xmlns:p14="http://schemas.microsoft.com/office/powerpoint/2010/main" val="40807965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1500"/>
                            </p:stCondLst>
                            <p:childTnLst>
                              <p:par>
                                <p:cTn id="2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25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10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1000"/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1000"/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1000"/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79512" y="535762"/>
            <a:ext cx="8784976" cy="750098"/>
          </a:xfrm>
        </p:spPr>
        <p:txBody>
          <a:bodyPr/>
          <a:lstStyle/>
          <a:p>
            <a:r>
              <a:rPr lang="ru-RU" dirty="0">
                <a:solidFill>
                  <a:srgbClr val="FF0000"/>
                </a:solidFill>
              </a:rPr>
              <a:t>С</a:t>
            </a:r>
            <a:r>
              <a:rPr lang="ru-RU" dirty="0"/>
              <a:t>оединение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98675" y="1196752"/>
            <a:ext cx="200907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800" dirty="0">
                <a:solidFill>
                  <a:srgbClr val="002060"/>
                </a:solidFill>
              </a:rPr>
              <a:t>Без условия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97209" y="1196752"/>
            <a:ext cx="192520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800" dirty="0">
                <a:solidFill>
                  <a:srgbClr val="002060"/>
                </a:solidFill>
              </a:rPr>
              <a:t>С условием</a:t>
            </a:r>
          </a:p>
        </p:txBody>
      </p:sp>
      <p:cxnSp>
        <p:nvCxnSpPr>
          <p:cNvPr id="5" name="Прямая соединительная линия 4"/>
          <p:cNvCxnSpPr/>
          <p:nvPr/>
        </p:nvCxnSpPr>
        <p:spPr>
          <a:xfrm rot="5400000">
            <a:off x="1928794" y="3929066"/>
            <a:ext cx="5286412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Прямая соединительная линия 5"/>
          <p:cNvCxnSpPr/>
          <p:nvPr/>
        </p:nvCxnSpPr>
        <p:spPr>
          <a:xfrm>
            <a:off x="321439" y="1821938"/>
            <a:ext cx="8501122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001420" y="2193245"/>
            <a:ext cx="2999604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indent="324000">
              <a:spcBef>
                <a:spcPts val="1200"/>
              </a:spcBef>
              <a:buClr>
                <a:srgbClr val="00B050"/>
              </a:buClr>
              <a:buFont typeface="Wingdings" pitchFamily="2" charset="2"/>
              <a:buChar char="§"/>
            </a:pPr>
            <a:r>
              <a:rPr lang="ru-RU" dirty="0">
                <a:solidFill>
                  <a:srgbClr val="7030A0"/>
                </a:solidFill>
              </a:rPr>
              <a:t>ЛЕВОЕ</a:t>
            </a:r>
            <a:r>
              <a:rPr lang="ru-RU" dirty="0"/>
              <a:t> </a:t>
            </a:r>
            <a:r>
              <a:rPr lang="ru-RU" dirty="0">
                <a:solidFill>
                  <a:schemeClr val="bg1">
                    <a:lumMod val="65000"/>
                  </a:schemeClr>
                </a:solidFill>
              </a:rPr>
              <a:t>соединение</a:t>
            </a:r>
          </a:p>
          <a:p>
            <a:pPr indent="324000">
              <a:buClr>
                <a:srgbClr val="00B050"/>
              </a:buClr>
              <a:buFont typeface="Wingdings" pitchFamily="2" charset="2"/>
              <a:buChar char="§"/>
            </a:pPr>
            <a:r>
              <a:rPr lang="ru-RU" dirty="0">
                <a:solidFill>
                  <a:srgbClr val="7030A0"/>
                </a:solidFill>
              </a:rPr>
              <a:t>ПРАВОЕ</a:t>
            </a:r>
            <a:r>
              <a:rPr lang="ru-RU" dirty="0"/>
              <a:t> </a:t>
            </a:r>
            <a:r>
              <a:rPr lang="ru-RU" dirty="0">
                <a:solidFill>
                  <a:schemeClr val="bg1">
                    <a:lumMod val="65000"/>
                  </a:schemeClr>
                </a:solidFill>
              </a:rPr>
              <a:t>соединение</a:t>
            </a:r>
          </a:p>
          <a:p>
            <a:pPr indent="324000">
              <a:buClr>
                <a:srgbClr val="00B050"/>
              </a:buClr>
              <a:buFont typeface="Wingdings" pitchFamily="2" charset="2"/>
              <a:buChar char="§"/>
            </a:pPr>
            <a:r>
              <a:rPr lang="ru-RU" dirty="0">
                <a:solidFill>
                  <a:srgbClr val="7030A0"/>
                </a:solidFill>
              </a:rPr>
              <a:t>ПОЛНОЕ</a:t>
            </a:r>
            <a:r>
              <a:rPr lang="ru-RU" dirty="0"/>
              <a:t> </a:t>
            </a:r>
            <a:r>
              <a:rPr lang="ru-RU" dirty="0">
                <a:solidFill>
                  <a:schemeClr val="bg1">
                    <a:lumMod val="65000"/>
                  </a:schemeClr>
                </a:solidFill>
              </a:rPr>
              <a:t>соединение</a:t>
            </a:r>
          </a:p>
          <a:p>
            <a:pPr indent="324000">
              <a:buClr>
                <a:srgbClr val="00B050"/>
              </a:buClr>
              <a:buFont typeface="Wingdings" pitchFamily="2" charset="2"/>
              <a:buChar char="§"/>
            </a:pPr>
            <a:r>
              <a:rPr lang="ru-RU" dirty="0">
                <a:solidFill>
                  <a:srgbClr val="7030A0"/>
                </a:solidFill>
              </a:rPr>
              <a:t>ВНУТРЕННЕЕ</a:t>
            </a:r>
            <a:r>
              <a:rPr lang="ru-RU" dirty="0"/>
              <a:t> </a:t>
            </a:r>
            <a:r>
              <a:rPr lang="ru-RU" dirty="0">
                <a:solidFill>
                  <a:schemeClr val="bg1">
                    <a:lumMod val="65000"/>
                  </a:schemeClr>
                </a:solidFill>
              </a:rPr>
              <a:t>соединение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7158" y="2036252"/>
            <a:ext cx="3850862" cy="58907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indent="324000">
              <a:lnSpc>
                <a:spcPct val="150000"/>
              </a:lnSpc>
              <a:buClr>
                <a:srgbClr val="00B050"/>
              </a:buClr>
              <a:buFont typeface="Wingdings" pitchFamily="2" charset="2"/>
              <a:buChar char="§"/>
            </a:pPr>
            <a:r>
              <a:rPr lang="ru-RU" sz="2400" dirty="0"/>
              <a:t>Декартово произведение</a:t>
            </a:r>
            <a:endParaRPr lang="ru-RU" sz="2400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9" name="Прямоугольник 8"/>
          <p:cNvSpPr/>
          <p:nvPr/>
        </p:nvSpPr>
        <p:spPr>
          <a:xfrm>
            <a:off x="714348" y="3750764"/>
            <a:ext cx="3357586" cy="174047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lang="ru-RU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ВЫБРАТЬ</a:t>
            </a:r>
          </a:p>
          <a:p>
            <a:pPr marL="360000">
              <a:lnSpc>
                <a:spcPct val="120000"/>
              </a:lnSpc>
            </a:pPr>
            <a:r>
              <a:rPr lang="ru-RU" dirty="0">
                <a:latin typeface="Courier New" pitchFamily="49" charset="0"/>
                <a:cs typeface="Courier New" pitchFamily="49" charset="0"/>
              </a:rPr>
              <a:t>*</a:t>
            </a:r>
          </a:p>
          <a:p>
            <a:pPr>
              <a:lnSpc>
                <a:spcPct val="120000"/>
              </a:lnSpc>
            </a:pPr>
            <a:r>
              <a:rPr lang="ru-RU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ИЗ</a:t>
            </a:r>
          </a:p>
          <a:p>
            <a:pPr marL="360000">
              <a:lnSpc>
                <a:spcPct val="120000"/>
              </a:lnSpc>
            </a:pPr>
            <a:r>
              <a:rPr lang="ru-RU" i="1" dirty="0">
                <a:solidFill>
                  <a:schemeClr val="bg1">
                    <a:lumMod val="65000"/>
                  </a:schemeClr>
                </a:solidFill>
                <a:latin typeface="Courier New" pitchFamily="49" charset="0"/>
                <a:cs typeface="Courier New" pitchFamily="49" charset="0"/>
              </a:rPr>
              <a:t>&lt;Первый источник&gt;</a:t>
            </a:r>
            <a:r>
              <a:rPr lang="ru-RU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,</a:t>
            </a:r>
          </a:p>
          <a:p>
            <a:pPr marL="360000">
              <a:lnSpc>
                <a:spcPct val="120000"/>
              </a:lnSpc>
            </a:pPr>
            <a:r>
              <a:rPr lang="ru-RU" i="1" dirty="0">
                <a:solidFill>
                  <a:schemeClr val="bg1">
                    <a:lumMod val="65000"/>
                  </a:schemeClr>
                </a:solidFill>
                <a:latin typeface="Courier New" pitchFamily="49" charset="0"/>
                <a:cs typeface="Courier New" pitchFamily="49" charset="0"/>
              </a:rPr>
              <a:t>&lt;Второй источник&gt;</a:t>
            </a:r>
          </a:p>
        </p:txBody>
      </p:sp>
      <p:sp>
        <p:nvSpPr>
          <p:cNvPr id="10" name="Прямоугольник 9"/>
          <p:cNvSpPr/>
          <p:nvPr/>
        </p:nvSpPr>
        <p:spPr>
          <a:xfrm>
            <a:off x="5000628" y="3786276"/>
            <a:ext cx="3714776" cy="253915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ВЫБРАТЬ</a:t>
            </a:r>
          </a:p>
          <a:p>
            <a:pPr marL="360000"/>
            <a:r>
              <a:rPr lang="ru-RU" dirty="0">
                <a:latin typeface="Courier New" pitchFamily="49" charset="0"/>
                <a:cs typeface="Courier New" pitchFamily="49" charset="0"/>
              </a:rPr>
              <a:t>*</a:t>
            </a:r>
          </a:p>
          <a:p>
            <a:r>
              <a:rPr lang="ru-RU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ИЗ</a:t>
            </a:r>
          </a:p>
          <a:p>
            <a:pPr marL="360000"/>
            <a:r>
              <a:rPr lang="ru-RU" i="1" dirty="0">
                <a:solidFill>
                  <a:schemeClr val="bg1">
                    <a:lumMod val="65000"/>
                  </a:schemeClr>
                </a:solidFill>
                <a:latin typeface="Courier New" pitchFamily="49" charset="0"/>
                <a:cs typeface="Courier New" pitchFamily="49" charset="0"/>
              </a:rPr>
              <a:t>&lt;Первый источник&gt;</a:t>
            </a:r>
          </a:p>
          <a:p>
            <a:pPr marL="360000">
              <a:spcBef>
                <a:spcPts val="1800"/>
              </a:spcBef>
            </a:pPr>
            <a:r>
              <a:rPr lang="ru-RU" b="1" dirty="0">
                <a:solidFill>
                  <a:srgbClr val="7030A0"/>
                </a:solidFill>
                <a:latin typeface="Courier New" pitchFamily="49" charset="0"/>
                <a:cs typeface="Courier New" pitchFamily="49" charset="0"/>
              </a:rPr>
              <a:t>ЛЕВОЕ</a:t>
            </a:r>
            <a:r>
              <a:rPr lang="ru-RU" b="1" dirty="0">
                <a:latin typeface="Courier New" pitchFamily="49" charset="0"/>
                <a:cs typeface="Courier New" pitchFamily="49" charset="0"/>
              </a:rPr>
              <a:t> СОЕДИНЕНИЕ</a:t>
            </a:r>
          </a:p>
          <a:p>
            <a:pPr marL="720000"/>
            <a:r>
              <a:rPr lang="ru-RU" i="1" dirty="0">
                <a:solidFill>
                  <a:schemeClr val="bg1">
                    <a:lumMod val="65000"/>
                  </a:schemeClr>
                </a:solidFill>
                <a:latin typeface="Courier New" pitchFamily="49" charset="0"/>
                <a:cs typeface="Courier New" pitchFamily="49" charset="0"/>
              </a:rPr>
              <a:t>&lt;Второй источник&gt;</a:t>
            </a:r>
          </a:p>
          <a:p>
            <a:pPr marL="360000"/>
            <a:r>
              <a:rPr lang="ru-RU" b="1" dirty="0">
                <a:latin typeface="Courier New" pitchFamily="49" charset="0"/>
                <a:cs typeface="Courier New" pitchFamily="49" charset="0"/>
              </a:rPr>
              <a:t>ПО</a:t>
            </a:r>
          </a:p>
          <a:p>
            <a:pPr marL="720000"/>
            <a:r>
              <a:rPr lang="ru-RU" i="1" dirty="0">
                <a:solidFill>
                  <a:srgbClr val="7030A0"/>
                </a:solidFill>
                <a:latin typeface="Courier New" pitchFamily="49" charset="0"/>
                <a:cs typeface="Courier New" pitchFamily="49" charset="0"/>
              </a:rPr>
              <a:t>&lt;Условие соединения&gt;</a:t>
            </a:r>
          </a:p>
        </p:txBody>
      </p:sp>
    </p:spTree>
    <p:extLst>
      <p:ext uri="{BB962C8B-B14F-4D97-AF65-F5344CB8AC3E}">
        <p14:creationId xmlns:p14="http://schemas.microsoft.com/office/powerpoint/2010/main" val="3218332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500"/>
                            </p:stCondLst>
                            <p:childTnLst>
                              <p:par>
                                <p:cTn id="1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500"/>
                            </p:stCondLst>
                            <p:childTnLst>
                              <p:par>
                                <p:cTn id="2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4" grpId="0"/>
      <p:bldP spid="7" grpId="0"/>
      <p:bldP spid="8" grpId="0" build="p"/>
      <p:bldP spid="9" grpId="0"/>
      <p:bldP spid="10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Соединение без условия</a:t>
            </a:r>
          </a:p>
        </p:txBody>
      </p:sp>
      <p:graphicFrame>
        <p:nvGraphicFramePr>
          <p:cNvPr id="4" name="Таблица 3"/>
          <p:cNvGraphicFramePr>
            <a:graphicFrameLocks noGrp="1"/>
          </p:cNvGraphicFramePr>
          <p:nvPr/>
        </p:nvGraphicFramePr>
        <p:xfrm>
          <a:off x="651343" y="1556792"/>
          <a:ext cx="3636000" cy="163728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34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40000">
                <a:tc>
                  <a:txBody>
                    <a:bodyPr/>
                    <a:lstStyle/>
                    <a:p>
                      <a:pPr algn="ctr"/>
                      <a:r>
                        <a:rPr lang="ru-RU" sz="1800" dirty="0"/>
                        <a:t>Товар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800" dirty="0"/>
                        <a:t>…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800" dirty="0"/>
                        <a:t>…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r>
                        <a:rPr lang="ru-RU" sz="1800" dirty="0"/>
                        <a:t>1. Яблоки</a:t>
                      </a: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8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8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r>
                        <a:rPr lang="ru-RU" sz="1800" dirty="0"/>
                        <a:t>2. Груши</a:t>
                      </a: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8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8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r>
                        <a:rPr lang="ru-RU" sz="1800" dirty="0"/>
                        <a:t>3. Киви</a:t>
                      </a: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80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  <a:endParaRPr lang="ru-RU" sz="1800" dirty="0">
                        <a:solidFill>
                          <a:schemeClr val="bg1">
                            <a:lumMod val="65000"/>
                          </a:schemeClr>
                        </a:solidFill>
                      </a:endParaRP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8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5" name="Таблица 4"/>
          <p:cNvGraphicFramePr>
            <a:graphicFrameLocks noGrp="1"/>
          </p:cNvGraphicFramePr>
          <p:nvPr/>
        </p:nvGraphicFramePr>
        <p:xfrm>
          <a:off x="4788024" y="1556792"/>
          <a:ext cx="3636000" cy="1637280"/>
        </p:xfrm>
        <a:graphic>
          <a:graphicData uri="http://schemas.openxmlformats.org/drawingml/2006/table">
            <a:tbl>
              <a:tblPr firstRow="1">
                <a:tableStyleId>{21E4AEA4-8DFA-4A89-87EB-49C32662AFE0}</a:tableStyleId>
              </a:tblPr>
              <a:tblGrid>
                <a:gridCol w="234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40000">
                <a:tc>
                  <a:txBody>
                    <a:bodyPr/>
                    <a:lstStyle/>
                    <a:p>
                      <a:pPr algn="ctr"/>
                      <a:r>
                        <a:rPr lang="ru-RU" sz="1800" dirty="0"/>
                        <a:t>Товар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800" dirty="0"/>
                        <a:t>…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800" dirty="0"/>
                        <a:t>…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ru-RU" sz="1800" dirty="0"/>
                        <a:t>1. Бананы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80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  <a:endParaRPr lang="ru-RU" sz="1800" dirty="0">
                        <a:solidFill>
                          <a:schemeClr val="bg1">
                            <a:lumMod val="65000"/>
                          </a:schemeClr>
                        </a:solidFill>
                      </a:endParaRP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80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  <a:endParaRPr lang="ru-RU" sz="1800" dirty="0">
                        <a:solidFill>
                          <a:schemeClr val="bg1">
                            <a:lumMod val="65000"/>
                          </a:schemeClr>
                        </a:solidFill>
                      </a:endParaRP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r>
                        <a:rPr lang="ru-RU" sz="1800" dirty="0"/>
                        <a:t>2. Яблоки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8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80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  <a:endParaRPr lang="ru-RU" sz="1800" dirty="0">
                        <a:solidFill>
                          <a:schemeClr val="bg1">
                            <a:lumMod val="65000"/>
                          </a:schemeClr>
                        </a:solidFill>
                      </a:endParaRP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r>
                        <a:rPr lang="ru-RU" sz="1800" dirty="0"/>
                        <a:t>3. Груши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80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  <a:endParaRPr lang="ru-RU" sz="1800" dirty="0">
                        <a:solidFill>
                          <a:schemeClr val="bg1">
                            <a:lumMod val="65000"/>
                          </a:schemeClr>
                        </a:solidFill>
                      </a:endParaRP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8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142121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88119" y="571976"/>
            <a:ext cx="8784000" cy="1272847"/>
          </a:xfrm>
        </p:spPr>
        <p:txBody>
          <a:bodyPr>
            <a:normAutofit fontScale="90000"/>
          </a:bodyPr>
          <a:lstStyle/>
          <a:p>
            <a:r>
              <a:rPr lang="ru-RU" b="1" dirty="0"/>
              <a:t>Результат соединения без условия. </a:t>
            </a:r>
            <a:r>
              <a:rPr lang="ru-RU" dirty="0"/>
              <a:t/>
            </a:r>
            <a:br>
              <a:rPr lang="ru-RU" dirty="0"/>
            </a:br>
            <a:r>
              <a:rPr lang="ru-RU" dirty="0"/>
              <a:t>Каждая строка таблицы 1 соединена с каждой строкой из таблицы 2</a:t>
            </a:r>
          </a:p>
        </p:txBody>
      </p:sp>
      <p:graphicFrame>
        <p:nvGraphicFramePr>
          <p:cNvPr id="4" name="Таблица 3"/>
          <p:cNvGraphicFramePr>
            <a:graphicFrameLocks noGrp="1"/>
          </p:cNvGraphicFramePr>
          <p:nvPr/>
        </p:nvGraphicFramePr>
        <p:xfrm>
          <a:off x="867367" y="2204864"/>
          <a:ext cx="3636000" cy="383184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34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40000">
                <a:tc>
                  <a:txBody>
                    <a:bodyPr/>
                    <a:lstStyle/>
                    <a:p>
                      <a:pPr algn="ctr"/>
                      <a:r>
                        <a:rPr lang="ru-RU" sz="1800" dirty="0"/>
                        <a:t>Товар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800" dirty="0"/>
                        <a:t>…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800" dirty="0"/>
                        <a:t>…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r>
                        <a:rPr lang="ru-RU" sz="1800" dirty="0"/>
                        <a:t>1. Яблоки</a:t>
                      </a: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8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8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r>
                        <a:rPr lang="ru-RU" sz="1800" dirty="0"/>
                        <a:t>2. Груши</a:t>
                      </a: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8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80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  <a:endParaRPr lang="ru-RU" sz="1800" dirty="0">
                        <a:solidFill>
                          <a:schemeClr val="bg1">
                            <a:lumMod val="65000"/>
                          </a:schemeClr>
                        </a:solidFill>
                      </a:endParaRP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r>
                        <a:rPr lang="ru-RU" sz="1800" dirty="0"/>
                        <a:t>3. Киви</a:t>
                      </a: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8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8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r>
                        <a:rPr lang="ru-RU" sz="1800" dirty="0"/>
                        <a:t>1. Яблоки</a:t>
                      </a: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8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8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r>
                        <a:rPr lang="ru-RU" sz="1800" dirty="0"/>
                        <a:t>2 .Груши</a:t>
                      </a: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8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80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  <a:endParaRPr lang="ru-RU" sz="1800" dirty="0">
                        <a:solidFill>
                          <a:schemeClr val="bg1">
                            <a:lumMod val="65000"/>
                          </a:schemeClr>
                        </a:solidFill>
                      </a:endParaRP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r>
                        <a:rPr lang="ru-RU" sz="1800" dirty="0"/>
                        <a:t>3. Киви</a:t>
                      </a: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8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8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r>
                        <a:rPr lang="ru-RU" sz="1800" dirty="0"/>
                        <a:t>1. Яблоки</a:t>
                      </a: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8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8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r>
                        <a:rPr lang="ru-RU" sz="1800" dirty="0"/>
                        <a:t>2. Груши</a:t>
                      </a: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8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8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r>
                        <a:rPr lang="ru-RU" sz="1800" dirty="0"/>
                        <a:t>3. Киви</a:t>
                      </a: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8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8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graphicFrame>
        <p:nvGraphicFramePr>
          <p:cNvPr id="5" name="Таблица 4"/>
          <p:cNvGraphicFramePr>
            <a:graphicFrameLocks noGrp="1"/>
          </p:cNvGraphicFramePr>
          <p:nvPr/>
        </p:nvGraphicFramePr>
        <p:xfrm>
          <a:off x="4499992" y="2204864"/>
          <a:ext cx="3636000" cy="3831840"/>
        </p:xfrm>
        <a:graphic>
          <a:graphicData uri="http://schemas.openxmlformats.org/drawingml/2006/table">
            <a:tbl>
              <a:tblPr firstRow="1">
                <a:tableStyleId>{21E4AEA4-8DFA-4A89-87EB-49C32662AFE0}</a:tableStyleId>
              </a:tblPr>
              <a:tblGrid>
                <a:gridCol w="234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40000">
                <a:tc>
                  <a:txBody>
                    <a:bodyPr/>
                    <a:lstStyle/>
                    <a:p>
                      <a:pPr algn="ctr"/>
                      <a:r>
                        <a:rPr lang="ru-RU" sz="1800" dirty="0"/>
                        <a:t>Товар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800" dirty="0"/>
                        <a:t>…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800" dirty="0"/>
                        <a:t>…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r>
                        <a:rPr lang="ru-RU" sz="1800" dirty="0"/>
                        <a:t>1. Бананы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80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  <a:endParaRPr lang="ru-RU" sz="1800" dirty="0">
                        <a:solidFill>
                          <a:schemeClr val="bg1">
                            <a:lumMod val="65000"/>
                          </a:schemeClr>
                        </a:solidFill>
                      </a:endParaRP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80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  <a:endParaRPr lang="ru-RU" sz="1800" dirty="0">
                        <a:solidFill>
                          <a:schemeClr val="bg1">
                            <a:lumMod val="65000"/>
                          </a:schemeClr>
                        </a:solidFill>
                      </a:endParaRP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r>
                        <a:rPr lang="ru-RU" sz="1800" dirty="0"/>
                        <a:t>1. Бананы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8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80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  <a:endParaRPr lang="ru-RU" sz="1800" dirty="0">
                        <a:solidFill>
                          <a:schemeClr val="bg1">
                            <a:lumMod val="65000"/>
                          </a:schemeClr>
                        </a:solidFill>
                      </a:endParaRP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r>
                        <a:rPr lang="ru-RU" sz="1800" dirty="0"/>
                        <a:t>1. Бананы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8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8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r>
                        <a:rPr lang="ru-RU" sz="1800" dirty="0"/>
                        <a:t>2. Яблоки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80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  <a:endParaRPr lang="ru-RU" sz="1800" dirty="0">
                        <a:solidFill>
                          <a:schemeClr val="bg1">
                            <a:lumMod val="65000"/>
                          </a:schemeClr>
                        </a:solidFill>
                      </a:endParaRP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80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  <a:endParaRPr lang="ru-RU" sz="1800" dirty="0">
                        <a:solidFill>
                          <a:schemeClr val="bg1">
                            <a:lumMod val="65000"/>
                          </a:schemeClr>
                        </a:solidFill>
                      </a:endParaRP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r>
                        <a:rPr lang="ru-RU" sz="1800" dirty="0"/>
                        <a:t>2. Яблоки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8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80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  <a:endParaRPr lang="ru-RU" sz="1800" dirty="0">
                        <a:solidFill>
                          <a:schemeClr val="bg1">
                            <a:lumMod val="65000"/>
                          </a:schemeClr>
                        </a:solidFill>
                      </a:endParaRP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r>
                        <a:rPr lang="ru-RU" sz="1800" dirty="0"/>
                        <a:t>2. Яблоки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8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8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r>
                        <a:rPr lang="ru-RU" sz="1800" dirty="0"/>
                        <a:t>3. Груши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80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  <a:endParaRPr lang="ru-RU" sz="1800" dirty="0">
                        <a:solidFill>
                          <a:schemeClr val="bg1">
                            <a:lumMod val="65000"/>
                          </a:schemeClr>
                        </a:solidFill>
                      </a:endParaRP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80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  <a:endParaRPr lang="ru-RU" sz="1800" dirty="0">
                        <a:solidFill>
                          <a:schemeClr val="bg1">
                            <a:lumMod val="65000"/>
                          </a:schemeClr>
                        </a:solidFill>
                      </a:endParaRP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r>
                        <a:rPr lang="ru-RU" sz="1800" dirty="0"/>
                        <a:t>3. Груши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8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80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  <a:endParaRPr lang="ru-RU" sz="1800" dirty="0">
                        <a:solidFill>
                          <a:schemeClr val="bg1">
                            <a:lumMod val="65000"/>
                          </a:schemeClr>
                        </a:solidFill>
                      </a:endParaRP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r>
                        <a:rPr lang="ru-RU" sz="1800" dirty="0"/>
                        <a:t>3. Груши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8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8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663086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79512" y="532306"/>
            <a:ext cx="8784976" cy="880470"/>
          </a:xfrm>
        </p:spPr>
        <p:txBody>
          <a:bodyPr/>
          <a:lstStyle/>
          <a:p>
            <a:r>
              <a:rPr lang="ru-RU" dirty="0"/>
              <a:t>Условие соединения</a:t>
            </a:r>
          </a:p>
        </p:txBody>
      </p:sp>
      <p:graphicFrame>
        <p:nvGraphicFramePr>
          <p:cNvPr id="3" name="Таблица 2"/>
          <p:cNvGraphicFramePr>
            <a:graphicFrameLocks noGrp="1"/>
          </p:cNvGraphicFramePr>
          <p:nvPr/>
        </p:nvGraphicFramePr>
        <p:xfrm>
          <a:off x="500034" y="2340570"/>
          <a:ext cx="3636000" cy="21600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34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40000">
                <a:tc>
                  <a:txBody>
                    <a:bodyPr/>
                    <a:lstStyle/>
                    <a:p>
                      <a:pPr algn="ctr"/>
                      <a:r>
                        <a:rPr lang="ru-RU" sz="1800" dirty="0"/>
                        <a:t>Товар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800" dirty="0"/>
                        <a:t>…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800" dirty="0"/>
                        <a:t>…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0000">
                <a:tc>
                  <a:txBody>
                    <a:bodyPr/>
                    <a:lstStyle/>
                    <a:p>
                      <a:r>
                        <a:rPr lang="ru-RU" sz="1800" dirty="0"/>
                        <a:t>Яблоки</a:t>
                      </a: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8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8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0000">
                <a:tc>
                  <a:txBody>
                    <a:bodyPr/>
                    <a:lstStyle/>
                    <a:p>
                      <a:r>
                        <a:rPr lang="ru-RU" sz="1800" dirty="0"/>
                        <a:t>Груши</a:t>
                      </a: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80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  <a:endParaRPr lang="ru-RU" sz="1800" dirty="0">
                        <a:solidFill>
                          <a:schemeClr val="bg1">
                            <a:lumMod val="65000"/>
                          </a:schemeClr>
                        </a:solidFill>
                      </a:endParaRP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80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  <a:endParaRPr lang="ru-RU" sz="1800" dirty="0">
                        <a:solidFill>
                          <a:schemeClr val="bg1">
                            <a:lumMod val="65000"/>
                          </a:schemeClr>
                        </a:solidFill>
                      </a:endParaRP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0000">
                <a:tc>
                  <a:txBody>
                    <a:bodyPr/>
                    <a:lstStyle/>
                    <a:p>
                      <a:r>
                        <a:rPr lang="ru-RU" sz="1800" dirty="0"/>
                        <a:t>Киви</a:t>
                      </a: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80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  <a:endParaRPr lang="ru-RU" sz="1800" dirty="0">
                        <a:solidFill>
                          <a:schemeClr val="bg1">
                            <a:lumMod val="65000"/>
                          </a:schemeClr>
                        </a:solidFill>
                      </a:endParaRP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8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4" name="Таблица 3"/>
          <p:cNvGraphicFramePr>
            <a:graphicFrameLocks noGrp="1"/>
          </p:cNvGraphicFramePr>
          <p:nvPr/>
        </p:nvGraphicFramePr>
        <p:xfrm>
          <a:off x="5007966" y="1804787"/>
          <a:ext cx="3636000" cy="2160000"/>
        </p:xfrm>
        <a:graphic>
          <a:graphicData uri="http://schemas.openxmlformats.org/drawingml/2006/table">
            <a:tbl>
              <a:tblPr firstRow="1">
                <a:tableStyleId>{21E4AEA4-8DFA-4A89-87EB-49C32662AFE0}</a:tableStyleId>
              </a:tblPr>
              <a:tblGrid>
                <a:gridCol w="234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40000">
                <a:tc>
                  <a:txBody>
                    <a:bodyPr/>
                    <a:lstStyle/>
                    <a:p>
                      <a:pPr algn="ctr"/>
                      <a:r>
                        <a:rPr lang="ru-RU" sz="1800" dirty="0"/>
                        <a:t>Товар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800" dirty="0"/>
                        <a:t>…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800" dirty="0"/>
                        <a:t>…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0000">
                <a:tc>
                  <a:txBody>
                    <a:bodyPr/>
                    <a:lstStyle/>
                    <a:p>
                      <a:r>
                        <a:rPr lang="ru-RU" sz="1800" dirty="0"/>
                        <a:t>Бананы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80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  <a:endParaRPr lang="ru-RU" sz="1800" dirty="0">
                        <a:solidFill>
                          <a:schemeClr val="bg1">
                            <a:lumMod val="65000"/>
                          </a:schemeClr>
                        </a:solidFill>
                      </a:endParaRP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80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  <a:endParaRPr lang="ru-RU" sz="1800" dirty="0">
                        <a:solidFill>
                          <a:schemeClr val="bg1">
                            <a:lumMod val="65000"/>
                          </a:schemeClr>
                        </a:solidFill>
                      </a:endParaRP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0000">
                <a:tc>
                  <a:txBody>
                    <a:bodyPr/>
                    <a:lstStyle/>
                    <a:p>
                      <a:r>
                        <a:rPr lang="ru-RU" sz="1800" dirty="0"/>
                        <a:t>Яблоки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80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  <a:endParaRPr lang="ru-RU" sz="1800" dirty="0">
                        <a:solidFill>
                          <a:schemeClr val="bg1">
                            <a:lumMod val="65000"/>
                          </a:schemeClr>
                        </a:solidFill>
                      </a:endParaRP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80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  <a:endParaRPr lang="ru-RU" sz="1800" dirty="0">
                        <a:solidFill>
                          <a:schemeClr val="bg1">
                            <a:lumMod val="65000"/>
                          </a:schemeClr>
                        </a:solidFill>
                      </a:endParaRP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0000">
                <a:tc>
                  <a:txBody>
                    <a:bodyPr/>
                    <a:lstStyle/>
                    <a:p>
                      <a:r>
                        <a:rPr lang="ru-RU" sz="1800" dirty="0"/>
                        <a:t>Груши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80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  <a:endParaRPr lang="ru-RU" sz="1800" dirty="0">
                        <a:solidFill>
                          <a:schemeClr val="bg1">
                            <a:lumMod val="65000"/>
                          </a:schemeClr>
                        </a:solidFill>
                      </a:endParaRP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8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1333934" y="5157192"/>
            <a:ext cx="6476132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&lt;</a:t>
            </a:r>
            <a:r>
              <a:rPr lang="ru-RU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Вид</a:t>
            </a:r>
            <a:r>
              <a:rPr lang="en-US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&gt;</a:t>
            </a:r>
            <a:r>
              <a:rPr lang="ru-RU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 СОЕДИНЕНИЕ</a:t>
            </a:r>
          </a:p>
          <a:p>
            <a:pPr marL="360000"/>
            <a:r>
              <a:rPr lang="ru-RU" dirty="0">
                <a:solidFill>
                  <a:schemeClr val="bg1">
                    <a:lumMod val="65000"/>
                  </a:schemeClr>
                </a:solidFill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ru-RU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ПО</a:t>
            </a:r>
          </a:p>
          <a:p>
            <a:pPr marL="360000"/>
            <a:r>
              <a:rPr lang="ru-RU" b="1" dirty="0" err="1">
                <a:latin typeface="Courier New" pitchFamily="49" charset="0"/>
                <a:cs typeface="Courier New" pitchFamily="49" charset="0"/>
              </a:rPr>
              <a:t>ПервыйИсточник.Товар</a:t>
            </a:r>
            <a:r>
              <a:rPr lang="ru-RU" b="1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ru-RU" b="1" dirty="0" err="1">
                <a:latin typeface="Courier New" pitchFamily="49" charset="0"/>
                <a:cs typeface="Courier New" pitchFamily="49" charset="0"/>
              </a:rPr>
              <a:t>ВторойИсточник.Товар</a:t>
            </a:r>
            <a:endParaRPr lang="ru-RU" b="1" dirty="0"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15" name="Скругленный прямоугольник 14"/>
          <p:cNvSpPr/>
          <p:nvPr/>
        </p:nvSpPr>
        <p:spPr>
          <a:xfrm>
            <a:off x="285720" y="2986084"/>
            <a:ext cx="8572560" cy="357190"/>
          </a:xfrm>
          <a:prstGeom prst="roundRect">
            <a:avLst/>
          </a:prstGeom>
          <a:solidFill>
            <a:srgbClr val="00B050">
              <a:alpha val="15000"/>
            </a:srgbClr>
          </a:solidFill>
          <a:ln w="9525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6" name="Скругленный прямоугольник 15"/>
          <p:cNvSpPr/>
          <p:nvPr/>
        </p:nvSpPr>
        <p:spPr>
          <a:xfrm>
            <a:off x="285720" y="3519488"/>
            <a:ext cx="8572560" cy="357190"/>
          </a:xfrm>
          <a:prstGeom prst="roundRect">
            <a:avLst/>
          </a:prstGeom>
          <a:solidFill>
            <a:srgbClr val="00B050">
              <a:alpha val="15000"/>
            </a:srgbClr>
          </a:solidFill>
          <a:ln w="9525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826653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500"/>
                            </p:stCondLst>
                            <p:childTnLst>
                              <p:par>
                                <p:cTn id="1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000"/>
                            </p:stCondLst>
                            <p:childTnLst>
                              <p:par>
                                <p:cTn id="1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1500"/>
                            </p:stCondLst>
                            <p:childTnLst>
                              <p:par>
                                <p:cTn id="2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5" grpId="0" animBg="1"/>
      <p:bldP spid="16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79512" y="576828"/>
            <a:ext cx="8784976" cy="1143000"/>
          </a:xfrm>
        </p:spPr>
        <p:txBody>
          <a:bodyPr>
            <a:normAutofit/>
          </a:bodyPr>
          <a:lstStyle/>
          <a:p>
            <a:r>
              <a:rPr lang="ru-RU" sz="2800" dirty="0"/>
              <a:t>Виды соединений</a:t>
            </a:r>
            <a:r>
              <a:rPr lang="ru-RU" sz="4800" dirty="0"/>
              <a:t/>
            </a:r>
            <a:br>
              <a:rPr lang="ru-RU" sz="4800" dirty="0"/>
            </a:br>
            <a:r>
              <a:rPr lang="ru-RU" b="1" dirty="0">
                <a:solidFill>
                  <a:srgbClr val="FF0000"/>
                </a:solidFill>
              </a:rPr>
              <a:t>ЛЕВОЕ</a:t>
            </a:r>
          </a:p>
        </p:txBody>
      </p:sp>
      <p:graphicFrame>
        <p:nvGraphicFramePr>
          <p:cNvPr id="3" name="Таблица 2"/>
          <p:cNvGraphicFramePr>
            <a:graphicFrameLocks noGrp="1"/>
          </p:cNvGraphicFramePr>
          <p:nvPr/>
        </p:nvGraphicFramePr>
        <p:xfrm>
          <a:off x="3236766" y="2207000"/>
          <a:ext cx="2700000" cy="1296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73763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8118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8118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32000">
                <a:tc>
                  <a:txBody>
                    <a:bodyPr/>
                    <a:lstStyle/>
                    <a:p>
                      <a:r>
                        <a:rPr lang="ru-RU" sz="1400" dirty="0"/>
                        <a:t>Яблоки</a:t>
                      </a: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r>
                        <a:rPr lang="ru-RU" sz="1400" dirty="0"/>
                        <a:t>Груши</a:t>
                      </a: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r>
                        <a:rPr lang="ru-RU" sz="1400" dirty="0"/>
                        <a:t>Киви</a:t>
                      </a: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4" name="Таблица 3"/>
          <p:cNvGraphicFramePr>
            <a:graphicFrameLocks noGrp="1"/>
          </p:cNvGraphicFramePr>
          <p:nvPr/>
        </p:nvGraphicFramePr>
        <p:xfrm>
          <a:off x="5941585" y="1772816"/>
          <a:ext cx="2700000" cy="1296000"/>
        </p:xfrm>
        <a:graphic>
          <a:graphicData uri="http://schemas.openxmlformats.org/drawingml/2006/table">
            <a:tbl>
              <a:tblPr>
                <a:tableStyleId>{21E4AEA4-8DFA-4A89-87EB-49C32662AFE0}</a:tableStyleId>
              </a:tblPr>
              <a:tblGrid>
                <a:gridCol w="173762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8118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8118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32000">
                <a:tc>
                  <a:txBody>
                    <a:bodyPr/>
                    <a:lstStyle/>
                    <a:p>
                      <a:r>
                        <a:rPr lang="ru-RU" sz="1400" dirty="0"/>
                        <a:t>Бананы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r>
                        <a:rPr lang="ru-RU" sz="1400" dirty="0"/>
                        <a:t>Яблоки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  <a:endParaRPr lang="ru-RU" sz="1400" dirty="0">
                        <a:solidFill>
                          <a:schemeClr val="bg1">
                            <a:lumMod val="65000"/>
                          </a:schemeClr>
                        </a:solidFill>
                      </a:endParaRP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r>
                        <a:rPr lang="ru-RU" sz="1400" dirty="0"/>
                        <a:t>Груши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7" name="Таблица 6"/>
          <p:cNvGraphicFramePr>
            <a:graphicFrameLocks noGrp="1"/>
          </p:cNvGraphicFramePr>
          <p:nvPr/>
        </p:nvGraphicFramePr>
        <p:xfrm>
          <a:off x="3236766" y="4477344"/>
          <a:ext cx="5407200" cy="1728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73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82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82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38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824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824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32000">
                <a:tc>
                  <a:txBody>
                    <a:bodyPr/>
                    <a:lstStyle/>
                    <a:p>
                      <a:pPr algn="ctr"/>
                      <a:endParaRPr lang="ru-RU" sz="1100" dirty="0">
                        <a:solidFill>
                          <a:srgbClr val="FF0000"/>
                        </a:solidFill>
                        <a:latin typeface="Arial Narrow" pitchFamily="34" charset="0"/>
                      </a:endParaRP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ru-RU" sz="1100" dirty="0">
                        <a:solidFill>
                          <a:srgbClr val="FF0000"/>
                        </a:solidFill>
                        <a:latin typeface="Arial Narrow" pitchFamily="34" charset="0"/>
                      </a:endParaRP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ru-RU" sz="1100" dirty="0">
                        <a:solidFill>
                          <a:srgbClr val="FF0000"/>
                        </a:solidFill>
                        <a:latin typeface="Arial Narrow" pitchFamily="34" charset="0"/>
                      </a:endParaRP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endParaRPr lang="ru-RU" sz="1400" dirty="0"/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ru-RU" sz="1400" dirty="0">
                        <a:solidFill>
                          <a:schemeClr val="bg1">
                            <a:lumMod val="65000"/>
                          </a:schemeClr>
                        </a:solidFill>
                      </a:endParaRP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ru-RU" sz="1400" dirty="0">
                        <a:solidFill>
                          <a:schemeClr val="bg1">
                            <a:lumMod val="65000"/>
                          </a:schemeClr>
                        </a:solidFill>
                      </a:endParaRPr>
                    </a:p>
                  </a:txBody>
                  <a:tcPr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r>
                        <a:rPr lang="ru-RU" sz="1400" dirty="0"/>
                        <a:t>Яблоки</a:t>
                      </a: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Яблоки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  <a:endParaRPr lang="ru-RU" sz="1400" dirty="0">
                        <a:solidFill>
                          <a:schemeClr val="bg1">
                            <a:lumMod val="65000"/>
                          </a:schemeClr>
                        </a:solidFill>
                      </a:endParaRP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r>
                        <a:rPr lang="ru-RU" sz="1400" dirty="0"/>
                        <a:t>Груши</a:t>
                      </a: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Груши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r>
                        <a:rPr lang="ru-RU" sz="1400" dirty="0"/>
                        <a:t>Киви</a:t>
                      </a: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dirty="0">
                          <a:solidFill>
                            <a:srgbClr val="FF0000"/>
                          </a:solidFill>
                          <a:latin typeface="Arial Narrow" pitchFamily="34" charset="0"/>
                        </a:rPr>
                        <a:t>NULL</a:t>
                      </a:r>
                      <a:endParaRPr lang="ru-RU" sz="1100" dirty="0">
                        <a:solidFill>
                          <a:srgbClr val="FF0000"/>
                        </a:solidFill>
                        <a:latin typeface="Arial Narrow" pitchFamily="34" charset="0"/>
                      </a:endParaRPr>
                    </a:p>
                  </a:txBody>
                  <a:tcPr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dirty="0">
                          <a:solidFill>
                            <a:srgbClr val="FF0000"/>
                          </a:solidFill>
                          <a:latin typeface="Arial Narrow" pitchFamily="34" charset="0"/>
                        </a:rPr>
                        <a:t>NULL</a:t>
                      </a:r>
                      <a:endParaRPr lang="ru-RU" sz="1100" dirty="0">
                        <a:solidFill>
                          <a:srgbClr val="FF0000"/>
                        </a:solidFill>
                        <a:latin typeface="Arial Narrow" pitchFamily="34" charset="0"/>
                      </a:endParaRPr>
                    </a:p>
                  </a:txBody>
                  <a:tcPr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dirty="0">
                          <a:solidFill>
                            <a:srgbClr val="FF0000"/>
                          </a:solidFill>
                          <a:latin typeface="Arial Narrow" pitchFamily="34" charset="0"/>
                        </a:rPr>
                        <a:t>NULL</a:t>
                      </a:r>
                      <a:endParaRPr lang="ru-RU" sz="1100" dirty="0">
                        <a:solidFill>
                          <a:srgbClr val="FF0000"/>
                        </a:solidFill>
                        <a:latin typeface="Arial Narrow" pitchFamily="34" charset="0"/>
                      </a:endParaRPr>
                    </a:p>
                  </a:txBody>
                  <a:tcPr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57158" y="2672701"/>
            <a:ext cx="21779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b="1" dirty="0">
                <a:solidFill>
                  <a:srgbClr val="002060"/>
                </a:solidFill>
              </a:rPr>
              <a:t>Исходные таблицы: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7158" y="4941450"/>
            <a:ext cx="24637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b="1" dirty="0">
                <a:solidFill>
                  <a:srgbClr val="002060"/>
                </a:solidFill>
              </a:rPr>
              <a:t>Результат соединения:</a:t>
            </a:r>
          </a:p>
        </p:txBody>
      </p:sp>
      <p:grpSp>
        <p:nvGrpSpPr>
          <p:cNvPr id="5" name="Группа 11"/>
          <p:cNvGrpSpPr/>
          <p:nvPr/>
        </p:nvGrpSpPr>
        <p:grpSpPr>
          <a:xfrm>
            <a:off x="4500562" y="3655923"/>
            <a:ext cx="522900" cy="512207"/>
            <a:chOff x="4500562" y="4143381"/>
            <a:chExt cx="522900" cy="512207"/>
          </a:xfrm>
        </p:grpSpPr>
        <p:sp>
          <p:nvSpPr>
            <p:cNvPr id="13" name="TextBox 12"/>
            <p:cNvSpPr txBox="1"/>
            <p:nvPr/>
          </p:nvSpPr>
          <p:spPr>
            <a:xfrm>
              <a:off x="4500562" y="4286256"/>
              <a:ext cx="52290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ru-RU" dirty="0">
                  <a:solidFill>
                    <a:schemeClr val="bg1">
                      <a:lumMod val="75000"/>
                    </a:schemeClr>
                  </a:solidFill>
                </a:rPr>
                <a:t>Все</a:t>
              </a:r>
            </a:p>
          </p:txBody>
        </p:sp>
        <p:cxnSp>
          <p:nvCxnSpPr>
            <p:cNvPr id="14" name="Прямая со стрелкой 13"/>
            <p:cNvCxnSpPr/>
            <p:nvPr/>
          </p:nvCxnSpPr>
          <p:spPr>
            <a:xfrm rot="16200000" flipV="1">
              <a:off x="4654458" y="4250141"/>
              <a:ext cx="215108" cy="1588"/>
            </a:xfrm>
            <a:prstGeom prst="straightConnector1">
              <a:avLst/>
            </a:prstGeom>
            <a:ln>
              <a:solidFill>
                <a:schemeClr val="bg1">
                  <a:lumMod val="75000"/>
                </a:schemeClr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5" name="Прямая со стрелкой 14"/>
          <p:cNvCxnSpPr/>
          <p:nvPr/>
        </p:nvCxnSpPr>
        <p:spPr>
          <a:xfrm rot="5400000">
            <a:off x="4654458" y="4226239"/>
            <a:ext cx="215108" cy="1588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843162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500"/>
                            </p:stCondLst>
                            <p:childTnLst>
                              <p:par>
                                <p:cTn id="1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000"/>
                            </p:stCondLst>
                            <p:childTnLst>
                              <p:par>
                                <p:cTn id="1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1500"/>
                            </p:stCondLst>
                            <p:childTnLst>
                              <p:par>
                                <p:cTn id="2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1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79512" y="531394"/>
            <a:ext cx="8784976" cy="1143000"/>
          </a:xfrm>
        </p:spPr>
        <p:txBody>
          <a:bodyPr>
            <a:normAutofit/>
          </a:bodyPr>
          <a:lstStyle/>
          <a:p>
            <a:r>
              <a:rPr lang="ru-RU" sz="2800" dirty="0"/>
              <a:t>Виды соединений</a:t>
            </a:r>
            <a:r>
              <a:rPr lang="ru-RU" sz="4800" dirty="0"/>
              <a:t/>
            </a:r>
            <a:br>
              <a:rPr lang="ru-RU" sz="4800" dirty="0"/>
            </a:br>
            <a:r>
              <a:rPr lang="ru-RU" b="1" dirty="0">
                <a:solidFill>
                  <a:srgbClr val="FF0000"/>
                </a:solidFill>
              </a:rPr>
              <a:t>ПРАВОЕ</a:t>
            </a:r>
          </a:p>
        </p:txBody>
      </p:sp>
      <p:graphicFrame>
        <p:nvGraphicFramePr>
          <p:cNvPr id="3" name="Таблица 2"/>
          <p:cNvGraphicFramePr>
            <a:graphicFrameLocks noGrp="1"/>
          </p:cNvGraphicFramePr>
          <p:nvPr/>
        </p:nvGraphicFramePr>
        <p:xfrm>
          <a:off x="3236766" y="2207000"/>
          <a:ext cx="2700000" cy="1296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73763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8118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8118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32000">
                <a:tc>
                  <a:txBody>
                    <a:bodyPr/>
                    <a:lstStyle/>
                    <a:p>
                      <a:r>
                        <a:rPr lang="ru-RU" sz="1400" dirty="0"/>
                        <a:t>Яблоки</a:t>
                      </a: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r>
                        <a:rPr lang="ru-RU" sz="1400" dirty="0"/>
                        <a:t>Груши</a:t>
                      </a: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r>
                        <a:rPr lang="ru-RU" sz="1400" dirty="0"/>
                        <a:t>Киви</a:t>
                      </a: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4" name="Таблица 3"/>
          <p:cNvGraphicFramePr>
            <a:graphicFrameLocks noGrp="1"/>
          </p:cNvGraphicFramePr>
          <p:nvPr/>
        </p:nvGraphicFramePr>
        <p:xfrm>
          <a:off x="5941585" y="1772816"/>
          <a:ext cx="2700000" cy="1296000"/>
        </p:xfrm>
        <a:graphic>
          <a:graphicData uri="http://schemas.openxmlformats.org/drawingml/2006/table">
            <a:tbl>
              <a:tblPr>
                <a:tableStyleId>{21E4AEA4-8DFA-4A89-87EB-49C32662AFE0}</a:tableStyleId>
              </a:tblPr>
              <a:tblGrid>
                <a:gridCol w="173762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8118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8118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32000">
                <a:tc>
                  <a:txBody>
                    <a:bodyPr/>
                    <a:lstStyle/>
                    <a:p>
                      <a:r>
                        <a:rPr lang="ru-RU" sz="1400" dirty="0"/>
                        <a:t>Бананы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r>
                        <a:rPr lang="ru-RU" sz="1400" dirty="0"/>
                        <a:t>Яблоки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  <a:endParaRPr lang="ru-RU" sz="1400" dirty="0">
                        <a:solidFill>
                          <a:schemeClr val="bg1">
                            <a:lumMod val="65000"/>
                          </a:schemeClr>
                        </a:solidFill>
                      </a:endParaRP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r>
                        <a:rPr lang="ru-RU" sz="1400" dirty="0"/>
                        <a:t>Груши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7" name="Таблица 6"/>
          <p:cNvGraphicFramePr>
            <a:graphicFrameLocks noGrp="1"/>
          </p:cNvGraphicFramePr>
          <p:nvPr/>
        </p:nvGraphicFramePr>
        <p:xfrm>
          <a:off x="3236766" y="4477344"/>
          <a:ext cx="5407200" cy="1728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73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82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82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38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824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824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32000">
                <a:tc>
                  <a:txBody>
                    <a:bodyPr/>
                    <a:lstStyle/>
                    <a:p>
                      <a:pPr algn="ctr"/>
                      <a:r>
                        <a:rPr lang="en-US" sz="1100" dirty="0">
                          <a:solidFill>
                            <a:srgbClr val="FF0000"/>
                          </a:solidFill>
                          <a:latin typeface="Arial Narrow" pitchFamily="34" charset="0"/>
                        </a:rPr>
                        <a:t>NULL</a:t>
                      </a:r>
                      <a:endParaRPr lang="ru-RU" sz="1100" dirty="0">
                        <a:solidFill>
                          <a:srgbClr val="FF0000"/>
                        </a:solidFill>
                        <a:latin typeface="Arial Narrow" pitchFamily="34" charset="0"/>
                      </a:endParaRPr>
                    </a:p>
                  </a:txBody>
                  <a:tcPr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dirty="0">
                          <a:solidFill>
                            <a:srgbClr val="FF0000"/>
                          </a:solidFill>
                          <a:latin typeface="Arial Narrow" pitchFamily="34" charset="0"/>
                        </a:rPr>
                        <a:t>NULL</a:t>
                      </a:r>
                      <a:endParaRPr lang="ru-RU" sz="1100" dirty="0">
                        <a:solidFill>
                          <a:srgbClr val="FF0000"/>
                        </a:solidFill>
                        <a:latin typeface="Arial Narrow" pitchFamily="34" charset="0"/>
                      </a:endParaRPr>
                    </a:p>
                  </a:txBody>
                  <a:tcPr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dirty="0">
                          <a:solidFill>
                            <a:srgbClr val="FF0000"/>
                          </a:solidFill>
                          <a:latin typeface="Arial Narrow" pitchFamily="34" charset="0"/>
                        </a:rPr>
                        <a:t>NULL</a:t>
                      </a:r>
                      <a:endParaRPr lang="ru-RU" sz="1100" dirty="0">
                        <a:solidFill>
                          <a:srgbClr val="FF0000"/>
                        </a:solidFill>
                        <a:latin typeface="Arial Narrow" pitchFamily="34" charset="0"/>
                      </a:endParaRPr>
                    </a:p>
                  </a:txBody>
                  <a:tcPr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Бананы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r>
                        <a:rPr lang="ru-RU" sz="1400" dirty="0"/>
                        <a:t>Яблоки</a:t>
                      </a: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Яблоки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  <a:endParaRPr lang="ru-RU" sz="1400" dirty="0">
                        <a:solidFill>
                          <a:schemeClr val="bg1">
                            <a:lumMod val="65000"/>
                          </a:schemeClr>
                        </a:solidFill>
                      </a:endParaRP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r>
                        <a:rPr lang="ru-RU" sz="1400" dirty="0"/>
                        <a:t>Груши</a:t>
                      </a: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Груши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endParaRPr lang="ru-RU" sz="1400" dirty="0"/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ru-RU" sz="1400" dirty="0">
                        <a:solidFill>
                          <a:schemeClr val="bg1">
                            <a:lumMod val="65000"/>
                          </a:schemeClr>
                        </a:solidFill>
                      </a:endParaRP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ru-RU" sz="1400" dirty="0">
                        <a:solidFill>
                          <a:schemeClr val="bg1">
                            <a:lumMod val="65000"/>
                          </a:schemeClr>
                        </a:solidFill>
                      </a:endParaRP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ru-RU" sz="1100" dirty="0">
                        <a:solidFill>
                          <a:srgbClr val="FF0000"/>
                        </a:solidFill>
                        <a:latin typeface="Arial Narrow" pitchFamily="34" charset="0"/>
                      </a:endParaRP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ru-RU" sz="1100" dirty="0">
                        <a:solidFill>
                          <a:srgbClr val="FF0000"/>
                        </a:solidFill>
                        <a:latin typeface="Arial Narrow" pitchFamily="34" charset="0"/>
                      </a:endParaRP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ru-RU" sz="1100" dirty="0">
                        <a:solidFill>
                          <a:srgbClr val="FF0000"/>
                        </a:solidFill>
                        <a:latin typeface="Arial Narrow" pitchFamily="34" charset="0"/>
                      </a:endParaRPr>
                    </a:p>
                  </a:txBody>
                  <a:tcPr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57158" y="2672701"/>
            <a:ext cx="21779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b="1" dirty="0">
                <a:solidFill>
                  <a:srgbClr val="002060"/>
                </a:solidFill>
              </a:rPr>
              <a:t>Исходные таблицы: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7158" y="4941450"/>
            <a:ext cx="24637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b="1" dirty="0">
                <a:solidFill>
                  <a:srgbClr val="002060"/>
                </a:solidFill>
              </a:rPr>
              <a:t>Результат соединения:</a:t>
            </a:r>
          </a:p>
        </p:txBody>
      </p:sp>
      <p:grpSp>
        <p:nvGrpSpPr>
          <p:cNvPr id="5" name="Группа 25"/>
          <p:cNvGrpSpPr/>
          <p:nvPr/>
        </p:nvGrpSpPr>
        <p:grpSpPr>
          <a:xfrm>
            <a:off x="7192372" y="3655923"/>
            <a:ext cx="522900" cy="512207"/>
            <a:chOff x="4500562" y="4143381"/>
            <a:chExt cx="522900" cy="512207"/>
          </a:xfrm>
        </p:grpSpPr>
        <p:sp>
          <p:nvSpPr>
            <p:cNvPr id="20" name="TextBox 19"/>
            <p:cNvSpPr txBox="1"/>
            <p:nvPr/>
          </p:nvSpPr>
          <p:spPr>
            <a:xfrm>
              <a:off x="4500562" y="4286256"/>
              <a:ext cx="52290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ru-RU" dirty="0">
                  <a:solidFill>
                    <a:schemeClr val="bg1">
                      <a:lumMod val="75000"/>
                    </a:schemeClr>
                  </a:solidFill>
                </a:rPr>
                <a:t>Все</a:t>
              </a:r>
            </a:p>
          </p:txBody>
        </p:sp>
        <p:cxnSp>
          <p:nvCxnSpPr>
            <p:cNvPr id="21" name="Прямая со стрелкой 20"/>
            <p:cNvCxnSpPr/>
            <p:nvPr/>
          </p:nvCxnSpPr>
          <p:spPr>
            <a:xfrm rot="16200000" flipV="1">
              <a:off x="4654458" y="4250141"/>
              <a:ext cx="215108" cy="1588"/>
            </a:xfrm>
            <a:prstGeom prst="straightConnector1">
              <a:avLst/>
            </a:prstGeom>
            <a:ln>
              <a:solidFill>
                <a:schemeClr val="bg1">
                  <a:lumMod val="75000"/>
                </a:schemeClr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5" name="Прямая со стрелкой 24"/>
          <p:cNvCxnSpPr/>
          <p:nvPr/>
        </p:nvCxnSpPr>
        <p:spPr>
          <a:xfrm rot="5400000">
            <a:off x="7346268" y="4226239"/>
            <a:ext cx="215108" cy="1588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102766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79512" y="556030"/>
            <a:ext cx="8784976" cy="1143000"/>
          </a:xfrm>
        </p:spPr>
        <p:txBody>
          <a:bodyPr>
            <a:normAutofit/>
          </a:bodyPr>
          <a:lstStyle/>
          <a:p>
            <a:r>
              <a:rPr lang="ru-RU" sz="2800" dirty="0"/>
              <a:t>Виды соединений</a:t>
            </a:r>
            <a:r>
              <a:rPr lang="ru-RU" sz="4800" dirty="0"/>
              <a:t/>
            </a:r>
            <a:br>
              <a:rPr lang="ru-RU" sz="4800" dirty="0"/>
            </a:br>
            <a:r>
              <a:rPr lang="ru-RU" b="1" dirty="0">
                <a:solidFill>
                  <a:srgbClr val="FF0000"/>
                </a:solidFill>
              </a:rPr>
              <a:t>ПОЛНОЕ</a:t>
            </a:r>
          </a:p>
        </p:txBody>
      </p:sp>
      <p:graphicFrame>
        <p:nvGraphicFramePr>
          <p:cNvPr id="3" name="Таблица 2"/>
          <p:cNvGraphicFramePr>
            <a:graphicFrameLocks noGrp="1"/>
          </p:cNvGraphicFramePr>
          <p:nvPr/>
        </p:nvGraphicFramePr>
        <p:xfrm>
          <a:off x="3236766" y="2207000"/>
          <a:ext cx="2700000" cy="1296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73763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8118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8118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32000">
                <a:tc>
                  <a:txBody>
                    <a:bodyPr/>
                    <a:lstStyle/>
                    <a:p>
                      <a:r>
                        <a:rPr lang="ru-RU" sz="1400" dirty="0"/>
                        <a:t>Яблоки</a:t>
                      </a: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r>
                        <a:rPr lang="ru-RU" sz="1400" dirty="0"/>
                        <a:t>Груши</a:t>
                      </a: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r>
                        <a:rPr lang="ru-RU" sz="1400" dirty="0"/>
                        <a:t>Киви</a:t>
                      </a: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4" name="Таблица 3"/>
          <p:cNvGraphicFramePr>
            <a:graphicFrameLocks noGrp="1"/>
          </p:cNvGraphicFramePr>
          <p:nvPr/>
        </p:nvGraphicFramePr>
        <p:xfrm>
          <a:off x="5941585" y="1772816"/>
          <a:ext cx="2700000" cy="1296000"/>
        </p:xfrm>
        <a:graphic>
          <a:graphicData uri="http://schemas.openxmlformats.org/drawingml/2006/table">
            <a:tbl>
              <a:tblPr>
                <a:tableStyleId>{21E4AEA4-8DFA-4A89-87EB-49C32662AFE0}</a:tableStyleId>
              </a:tblPr>
              <a:tblGrid>
                <a:gridCol w="173762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8118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8118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32000">
                <a:tc>
                  <a:txBody>
                    <a:bodyPr/>
                    <a:lstStyle/>
                    <a:p>
                      <a:r>
                        <a:rPr lang="ru-RU" sz="1400" dirty="0"/>
                        <a:t>Бананы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r>
                        <a:rPr lang="ru-RU" sz="1400" dirty="0"/>
                        <a:t>Яблоки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  <a:endParaRPr lang="ru-RU" sz="1400" dirty="0">
                        <a:solidFill>
                          <a:schemeClr val="bg1">
                            <a:lumMod val="65000"/>
                          </a:schemeClr>
                        </a:solidFill>
                      </a:endParaRP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r>
                        <a:rPr lang="ru-RU" sz="1400" dirty="0"/>
                        <a:t>Груши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7" name="Таблица 6"/>
          <p:cNvGraphicFramePr>
            <a:graphicFrameLocks noGrp="1"/>
          </p:cNvGraphicFramePr>
          <p:nvPr/>
        </p:nvGraphicFramePr>
        <p:xfrm>
          <a:off x="3236766" y="4477344"/>
          <a:ext cx="5407200" cy="1728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73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82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82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38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824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824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32000">
                <a:tc>
                  <a:txBody>
                    <a:bodyPr/>
                    <a:lstStyle/>
                    <a:p>
                      <a:pPr algn="ctr"/>
                      <a:r>
                        <a:rPr lang="en-US" sz="1100" dirty="0">
                          <a:solidFill>
                            <a:srgbClr val="FF0000"/>
                          </a:solidFill>
                          <a:latin typeface="Arial Narrow" pitchFamily="34" charset="0"/>
                        </a:rPr>
                        <a:t>NULL</a:t>
                      </a:r>
                      <a:endParaRPr lang="ru-RU" sz="1100" dirty="0">
                        <a:solidFill>
                          <a:srgbClr val="FF0000"/>
                        </a:solidFill>
                        <a:latin typeface="Arial Narrow" pitchFamily="34" charset="0"/>
                      </a:endParaRPr>
                    </a:p>
                  </a:txBody>
                  <a:tcPr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dirty="0">
                          <a:solidFill>
                            <a:srgbClr val="FF0000"/>
                          </a:solidFill>
                          <a:latin typeface="Arial Narrow" pitchFamily="34" charset="0"/>
                        </a:rPr>
                        <a:t>NULL</a:t>
                      </a:r>
                      <a:endParaRPr lang="ru-RU" sz="1100" dirty="0">
                        <a:solidFill>
                          <a:srgbClr val="FF0000"/>
                        </a:solidFill>
                        <a:latin typeface="Arial Narrow" pitchFamily="34" charset="0"/>
                      </a:endParaRPr>
                    </a:p>
                  </a:txBody>
                  <a:tcPr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dirty="0">
                          <a:solidFill>
                            <a:srgbClr val="FF0000"/>
                          </a:solidFill>
                          <a:latin typeface="Arial Narrow" pitchFamily="34" charset="0"/>
                        </a:rPr>
                        <a:t>NULL</a:t>
                      </a:r>
                      <a:endParaRPr lang="ru-RU" sz="1100" dirty="0">
                        <a:solidFill>
                          <a:srgbClr val="FF0000"/>
                        </a:solidFill>
                        <a:latin typeface="Arial Narrow" pitchFamily="34" charset="0"/>
                      </a:endParaRPr>
                    </a:p>
                  </a:txBody>
                  <a:tcPr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Бананы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r>
                        <a:rPr lang="ru-RU" sz="1400" dirty="0"/>
                        <a:t>Яблоки</a:t>
                      </a: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Яблоки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  <a:endParaRPr lang="ru-RU" sz="1400" dirty="0">
                        <a:solidFill>
                          <a:schemeClr val="bg1">
                            <a:lumMod val="65000"/>
                          </a:schemeClr>
                        </a:solidFill>
                      </a:endParaRP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r>
                        <a:rPr lang="ru-RU" sz="1400" dirty="0"/>
                        <a:t>Груши</a:t>
                      </a: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Груши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r>
                        <a:rPr lang="ru-RU" sz="1400" dirty="0"/>
                        <a:t>Киви</a:t>
                      </a: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dirty="0">
                          <a:solidFill>
                            <a:srgbClr val="FF0000"/>
                          </a:solidFill>
                          <a:latin typeface="Arial Narrow" pitchFamily="34" charset="0"/>
                        </a:rPr>
                        <a:t>NULL</a:t>
                      </a:r>
                      <a:endParaRPr lang="ru-RU" sz="1100" dirty="0">
                        <a:solidFill>
                          <a:srgbClr val="FF0000"/>
                        </a:solidFill>
                        <a:latin typeface="Arial Narrow" pitchFamily="34" charset="0"/>
                      </a:endParaRPr>
                    </a:p>
                  </a:txBody>
                  <a:tcPr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dirty="0">
                          <a:solidFill>
                            <a:srgbClr val="FF0000"/>
                          </a:solidFill>
                          <a:latin typeface="Arial Narrow" pitchFamily="34" charset="0"/>
                        </a:rPr>
                        <a:t>NULL</a:t>
                      </a:r>
                      <a:endParaRPr lang="ru-RU" sz="1100" dirty="0">
                        <a:solidFill>
                          <a:srgbClr val="FF0000"/>
                        </a:solidFill>
                        <a:latin typeface="Arial Narrow" pitchFamily="34" charset="0"/>
                      </a:endParaRPr>
                    </a:p>
                  </a:txBody>
                  <a:tcPr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dirty="0">
                          <a:solidFill>
                            <a:srgbClr val="FF0000"/>
                          </a:solidFill>
                          <a:latin typeface="Arial Narrow" pitchFamily="34" charset="0"/>
                        </a:rPr>
                        <a:t>NULL</a:t>
                      </a:r>
                      <a:endParaRPr lang="ru-RU" sz="1100" dirty="0">
                        <a:solidFill>
                          <a:srgbClr val="FF0000"/>
                        </a:solidFill>
                        <a:latin typeface="Arial Narrow" pitchFamily="34" charset="0"/>
                      </a:endParaRPr>
                    </a:p>
                  </a:txBody>
                  <a:tcPr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57158" y="2672701"/>
            <a:ext cx="21779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b="1" dirty="0">
                <a:solidFill>
                  <a:srgbClr val="002060"/>
                </a:solidFill>
              </a:rPr>
              <a:t>Исходные таблицы: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7158" y="4941450"/>
            <a:ext cx="24637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b="1" dirty="0">
                <a:solidFill>
                  <a:srgbClr val="002060"/>
                </a:solidFill>
              </a:rPr>
              <a:t>Результат соединения:</a:t>
            </a:r>
          </a:p>
        </p:txBody>
      </p:sp>
      <p:grpSp>
        <p:nvGrpSpPr>
          <p:cNvPr id="5" name="Группа 25"/>
          <p:cNvGrpSpPr/>
          <p:nvPr/>
        </p:nvGrpSpPr>
        <p:grpSpPr>
          <a:xfrm>
            <a:off x="7192372" y="3655923"/>
            <a:ext cx="522900" cy="512207"/>
            <a:chOff x="4500562" y="4143381"/>
            <a:chExt cx="522900" cy="512207"/>
          </a:xfrm>
        </p:grpSpPr>
        <p:sp>
          <p:nvSpPr>
            <p:cNvPr id="20" name="TextBox 19"/>
            <p:cNvSpPr txBox="1"/>
            <p:nvPr/>
          </p:nvSpPr>
          <p:spPr>
            <a:xfrm>
              <a:off x="4500562" y="4286256"/>
              <a:ext cx="52290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ru-RU" dirty="0">
                  <a:solidFill>
                    <a:schemeClr val="bg1">
                      <a:lumMod val="75000"/>
                    </a:schemeClr>
                  </a:solidFill>
                </a:rPr>
                <a:t>Все</a:t>
              </a:r>
            </a:p>
          </p:txBody>
        </p:sp>
        <p:cxnSp>
          <p:nvCxnSpPr>
            <p:cNvPr id="21" name="Прямая со стрелкой 20"/>
            <p:cNvCxnSpPr/>
            <p:nvPr/>
          </p:nvCxnSpPr>
          <p:spPr>
            <a:xfrm rot="16200000" flipV="1">
              <a:off x="4654458" y="4250141"/>
              <a:ext cx="215108" cy="1588"/>
            </a:xfrm>
            <a:prstGeom prst="straightConnector1">
              <a:avLst/>
            </a:prstGeom>
            <a:ln>
              <a:solidFill>
                <a:schemeClr val="bg1">
                  <a:lumMod val="75000"/>
                </a:schemeClr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5" name="Прямая со стрелкой 24"/>
          <p:cNvCxnSpPr/>
          <p:nvPr/>
        </p:nvCxnSpPr>
        <p:spPr>
          <a:xfrm rot="5400000">
            <a:off x="7346268" y="4226239"/>
            <a:ext cx="215108" cy="1588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" name="Группа 11"/>
          <p:cNvGrpSpPr/>
          <p:nvPr/>
        </p:nvGrpSpPr>
        <p:grpSpPr>
          <a:xfrm>
            <a:off x="4500562" y="3655923"/>
            <a:ext cx="522900" cy="512207"/>
            <a:chOff x="4500562" y="4143381"/>
            <a:chExt cx="522900" cy="512207"/>
          </a:xfrm>
        </p:grpSpPr>
        <p:sp>
          <p:nvSpPr>
            <p:cNvPr id="13" name="TextBox 12"/>
            <p:cNvSpPr txBox="1"/>
            <p:nvPr/>
          </p:nvSpPr>
          <p:spPr>
            <a:xfrm>
              <a:off x="4500562" y="4286256"/>
              <a:ext cx="52290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ru-RU" dirty="0">
                  <a:solidFill>
                    <a:schemeClr val="bg1">
                      <a:lumMod val="75000"/>
                    </a:schemeClr>
                  </a:solidFill>
                </a:rPr>
                <a:t>Все</a:t>
              </a:r>
            </a:p>
          </p:txBody>
        </p:sp>
        <p:cxnSp>
          <p:nvCxnSpPr>
            <p:cNvPr id="14" name="Прямая со стрелкой 13"/>
            <p:cNvCxnSpPr/>
            <p:nvPr/>
          </p:nvCxnSpPr>
          <p:spPr>
            <a:xfrm rot="16200000" flipV="1">
              <a:off x="4654458" y="4250141"/>
              <a:ext cx="215108" cy="1588"/>
            </a:xfrm>
            <a:prstGeom prst="straightConnector1">
              <a:avLst/>
            </a:prstGeom>
            <a:ln>
              <a:solidFill>
                <a:schemeClr val="bg1">
                  <a:lumMod val="75000"/>
                </a:schemeClr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5" name="Прямая со стрелкой 14"/>
          <p:cNvCxnSpPr/>
          <p:nvPr/>
        </p:nvCxnSpPr>
        <p:spPr>
          <a:xfrm rot="5400000">
            <a:off x="4654458" y="4226239"/>
            <a:ext cx="215108" cy="1588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930362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79512" y="531394"/>
            <a:ext cx="8784976" cy="1143000"/>
          </a:xfrm>
        </p:spPr>
        <p:txBody>
          <a:bodyPr>
            <a:normAutofit/>
          </a:bodyPr>
          <a:lstStyle/>
          <a:p>
            <a:r>
              <a:rPr lang="ru-RU" sz="2800" dirty="0"/>
              <a:t>Виды соединений</a:t>
            </a:r>
            <a:r>
              <a:rPr lang="ru-RU" sz="4800" dirty="0"/>
              <a:t/>
            </a:r>
            <a:br>
              <a:rPr lang="ru-RU" sz="4800" dirty="0"/>
            </a:br>
            <a:r>
              <a:rPr lang="ru-RU" b="1" dirty="0">
                <a:solidFill>
                  <a:srgbClr val="FF0000"/>
                </a:solidFill>
              </a:rPr>
              <a:t>ВНУТРЕННЕЕ</a:t>
            </a:r>
          </a:p>
        </p:txBody>
      </p:sp>
      <p:graphicFrame>
        <p:nvGraphicFramePr>
          <p:cNvPr id="3" name="Таблица 2"/>
          <p:cNvGraphicFramePr>
            <a:graphicFrameLocks noGrp="1"/>
          </p:cNvGraphicFramePr>
          <p:nvPr/>
        </p:nvGraphicFramePr>
        <p:xfrm>
          <a:off x="3236766" y="2207000"/>
          <a:ext cx="2700000" cy="1296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73763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8118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8118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32000">
                <a:tc>
                  <a:txBody>
                    <a:bodyPr/>
                    <a:lstStyle/>
                    <a:p>
                      <a:r>
                        <a:rPr lang="ru-RU" sz="1400" dirty="0"/>
                        <a:t>Яблоки</a:t>
                      </a: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r>
                        <a:rPr lang="ru-RU" sz="1400" dirty="0"/>
                        <a:t>Груши</a:t>
                      </a: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r>
                        <a:rPr lang="ru-RU" sz="1400" dirty="0"/>
                        <a:t>Киви</a:t>
                      </a: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4" name="Таблица 3"/>
          <p:cNvGraphicFramePr>
            <a:graphicFrameLocks noGrp="1"/>
          </p:cNvGraphicFramePr>
          <p:nvPr/>
        </p:nvGraphicFramePr>
        <p:xfrm>
          <a:off x="5941585" y="1772816"/>
          <a:ext cx="2700000" cy="1296000"/>
        </p:xfrm>
        <a:graphic>
          <a:graphicData uri="http://schemas.openxmlformats.org/drawingml/2006/table">
            <a:tbl>
              <a:tblPr>
                <a:tableStyleId>{21E4AEA4-8DFA-4A89-87EB-49C32662AFE0}</a:tableStyleId>
              </a:tblPr>
              <a:tblGrid>
                <a:gridCol w="173762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8118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8118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32000">
                <a:tc>
                  <a:txBody>
                    <a:bodyPr/>
                    <a:lstStyle/>
                    <a:p>
                      <a:r>
                        <a:rPr lang="ru-RU" sz="1400" dirty="0"/>
                        <a:t>Бананы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r>
                        <a:rPr lang="ru-RU" sz="1400" dirty="0"/>
                        <a:t>Яблоки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  <a:endParaRPr lang="ru-RU" sz="1400" dirty="0">
                        <a:solidFill>
                          <a:schemeClr val="bg1">
                            <a:lumMod val="65000"/>
                          </a:schemeClr>
                        </a:solidFill>
                      </a:endParaRP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r>
                        <a:rPr lang="ru-RU" sz="1400" dirty="0"/>
                        <a:t>Груши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7" name="Таблица 6"/>
          <p:cNvGraphicFramePr>
            <a:graphicFrameLocks noGrp="1"/>
          </p:cNvGraphicFramePr>
          <p:nvPr/>
        </p:nvGraphicFramePr>
        <p:xfrm>
          <a:off x="3236766" y="4477344"/>
          <a:ext cx="5407200" cy="1728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73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82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82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38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824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824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32000">
                <a:tc>
                  <a:txBody>
                    <a:bodyPr/>
                    <a:lstStyle/>
                    <a:p>
                      <a:pPr algn="ctr"/>
                      <a:endParaRPr lang="ru-RU" sz="1100" dirty="0">
                        <a:solidFill>
                          <a:srgbClr val="FF0000"/>
                        </a:solidFill>
                        <a:latin typeface="Arial Narrow" pitchFamily="34" charset="0"/>
                      </a:endParaRP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ru-RU" sz="1100" dirty="0">
                        <a:solidFill>
                          <a:srgbClr val="FF0000"/>
                        </a:solidFill>
                        <a:latin typeface="Arial Narrow" pitchFamily="34" charset="0"/>
                      </a:endParaRP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ru-RU" sz="1100" dirty="0">
                        <a:solidFill>
                          <a:srgbClr val="FF0000"/>
                        </a:solidFill>
                        <a:latin typeface="Arial Narrow" pitchFamily="34" charset="0"/>
                      </a:endParaRP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endParaRPr lang="ru-RU" sz="1400" dirty="0"/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ru-RU" sz="1400" dirty="0">
                        <a:solidFill>
                          <a:schemeClr val="bg1">
                            <a:lumMod val="65000"/>
                          </a:schemeClr>
                        </a:solidFill>
                      </a:endParaRP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ru-RU" sz="1400" dirty="0">
                        <a:solidFill>
                          <a:schemeClr val="bg1">
                            <a:lumMod val="65000"/>
                          </a:schemeClr>
                        </a:solidFill>
                      </a:endParaRPr>
                    </a:p>
                  </a:txBody>
                  <a:tcPr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r>
                        <a:rPr lang="ru-RU" sz="1400" dirty="0"/>
                        <a:t>Яблоки</a:t>
                      </a: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Яблоки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  <a:endParaRPr lang="ru-RU" sz="1400" dirty="0">
                        <a:solidFill>
                          <a:schemeClr val="bg1">
                            <a:lumMod val="65000"/>
                          </a:schemeClr>
                        </a:solidFill>
                      </a:endParaRP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r>
                        <a:rPr lang="ru-RU" sz="1400" dirty="0"/>
                        <a:t>Груши</a:t>
                      </a: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Груши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endParaRPr lang="ru-RU" sz="1400" dirty="0"/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ru-RU" sz="1400" dirty="0">
                        <a:solidFill>
                          <a:schemeClr val="bg1">
                            <a:lumMod val="65000"/>
                          </a:schemeClr>
                        </a:solidFill>
                      </a:endParaRP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ru-RU" sz="1400" dirty="0">
                        <a:solidFill>
                          <a:schemeClr val="bg1">
                            <a:lumMod val="65000"/>
                          </a:schemeClr>
                        </a:solidFill>
                      </a:endParaRP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ru-RU" sz="1100" dirty="0">
                        <a:solidFill>
                          <a:srgbClr val="FF0000"/>
                        </a:solidFill>
                        <a:latin typeface="Arial Narrow" pitchFamily="34" charset="0"/>
                      </a:endParaRP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ru-RU" sz="1100" dirty="0">
                        <a:solidFill>
                          <a:srgbClr val="FF0000"/>
                        </a:solidFill>
                        <a:latin typeface="Arial Narrow" pitchFamily="34" charset="0"/>
                      </a:endParaRP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ru-RU" sz="1100" dirty="0">
                        <a:solidFill>
                          <a:srgbClr val="FF0000"/>
                        </a:solidFill>
                        <a:latin typeface="Arial Narrow" pitchFamily="34" charset="0"/>
                      </a:endParaRPr>
                    </a:p>
                  </a:txBody>
                  <a:tcPr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57158" y="2672701"/>
            <a:ext cx="21779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b="1" dirty="0">
                <a:solidFill>
                  <a:srgbClr val="002060"/>
                </a:solidFill>
              </a:rPr>
              <a:t>Исходные таблицы: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7158" y="4941450"/>
            <a:ext cx="24637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b="1" dirty="0">
                <a:solidFill>
                  <a:srgbClr val="002060"/>
                </a:solidFill>
              </a:rPr>
              <a:t>Результат соединения:</a:t>
            </a:r>
          </a:p>
        </p:txBody>
      </p:sp>
    </p:spTree>
    <p:extLst>
      <p:ext uri="{BB962C8B-B14F-4D97-AF65-F5344CB8AC3E}">
        <p14:creationId xmlns:p14="http://schemas.microsoft.com/office/powerpoint/2010/main" val="27445765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79512" y="534483"/>
            <a:ext cx="8784976" cy="1000124"/>
          </a:xfrm>
        </p:spPr>
        <p:txBody>
          <a:bodyPr/>
          <a:lstStyle/>
          <a:p>
            <a:r>
              <a:rPr lang="ru-RU" dirty="0"/>
              <a:t>Условие соединения</a:t>
            </a:r>
          </a:p>
        </p:txBody>
      </p:sp>
      <p:graphicFrame>
        <p:nvGraphicFramePr>
          <p:cNvPr id="3" name="Таблица 2"/>
          <p:cNvGraphicFramePr>
            <a:graphicFrameLocks noGrp="1"/>
          </p:cNvGraphicFramePr>
          <p:nvPr/>
        </p:nvGraphicFramePr>
        <p:xfrm>
          <a:off x="611560" y="1772816"/>
          <a:ext cx="3636000" cy="27000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34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40000">
                <a:tc>
                  <a:txBody>
                    <a:bodyPr/>
                    <a:lstStyle/>
                    <a:p>
                      <a:pPr algn="ctr"/>
                      <a:r>
                        <a:rPr lang="ru-RU" sz="1800" dirty="0"/>
                        <a:t>Товар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800" dirty="0"/>
                        <a:t>…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800" dirty="0"/>
                        <a:t>…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0000">
                <a:tc>
                  <a:txBody>
                    <a:bodyPr/>
                    <a:lstStyle/>
                    <a:p>
                      <a:r>
                        <a:rPr lang="ru-RU" sz="1800" dirty="0"/>
                        <a:t>Яблоки</a:t>
                      </a: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8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8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0000">
                <a:tc>
                  <a:txBody>
                    <a:bodyPr/>
                    <a:lstStyle/>
                    <a:p>
                      <a:r>
                        <a:rPr lang="ru-RU" sz="1800" dirty="0"/>
                        <a:t>Груши</a:t>
                      </a: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80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  <a:endParaRPr lang="ru-RU" sz="1800" dirty="0">
                        <a:solidFill>
                          <a:schemeClr val="bg1">
                            <a:lumMod val="65000"/>
                          </a:schemeClr>
                        </a:solidFill>
                      </a:endParaRP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80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  <a:endParaRPr lang="ru-RU" sz="1800" dirty="0">
                        <a:solidFill>
                          <a:schemeClr val="bg1">
                            <a:lumMod val="65000"/>
                          </a:schemeClr>
                        </a:solidFill>
                      </a:endParaRP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0000">
                <a:tc>
                  <a:txBody>
                    <a:bodyPr/>
                    <a:lstStyle/>
                    <a:p>
                      <a:r>
                        <a:rPr lang="ru-RU" sz="1800" dirty="0"/>
                        <a:t>Киви</a:t>
                      </a: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80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  <a:endParaRPr lang="ru-RU" sz="1800" dirty="0">
                        <a:solidFill>
                          <a:schemeClr val="bg1">
                            <a:lumMod val="65000"/>
                          </a:schemeClr>
                        </a:solidFill>
                      </a:endParaRP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8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0000">
                <a:tc>
                  <a:txBody>
                    <a:bodyPr/>
                    <a:lstStyle/>
                    <a:p>
                      <a:r>
                        <a:rPr lang="ru-RU" sz="1800" dirty="0"/>
                        <a:t>Груши</a:t>
                      </a: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8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8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4" name="Таблица 3"/>
          <p:cNvGraphicFramePr>
            <a:graphicFrameLocks noGrp="1"/>
          </p:cNvGraphicFramePr>
          <p:nvPr/>
        </p:nvGraphicFramePr>
        <p:xfrm>
          <a:off x="5007966" y="1804787"/>
          <a:ext cx="3636000" cy="2700000"/>
        </p:xfrm>
        <a:graphic>
          <a:graphicData uri="http://schemas.openxmlformats.org/drawingml/2006/table">
            <a:tbl>
              <a:tblPr firstRow="1">
                <a:tableStyleId>{21E4AEA4-8DFA-4A89-87EB-49C32662AFE0}</a:tableStyleId>
              </a:tblPr>
              <a:tblGrid>
                <a:gridCol w="234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40000">
                <a:tc>
                  <a:txBody>
                    <a:bodyPr/>
                    <a:lstStyle/>
                    <a:p>
                      <a:pPr algn="ctr"/>
                      <a:r>
                        <a:rPr lang="ru-RU" sz="1800" dirty="0"/>
                        <a:t>Товар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800" dirty="0"/>
                        <a:t>…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800" dirty="0"/>
                        <a:t>…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0000">
                <a:tc>
                  <a:txBody>
                    <a:bodyPr/>
                    <a:lstStyle/>
                    <a:p>
                      <a:r>
                        <a:rPr lang="ru-RU" sz="1800" dirty="0"/>
                        <a:t>Бананы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80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  <a:endParaRPr lang="ru-RU" sz="1800" dirty="0">
                        <a:solidFill>
                          <a:schemeClr val="bg1">
                            <a:lumMod val="65000"/>
                          </a:schemeClr>
                        </a:solidFill>
                      </a:endParaRP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80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  <a:endParaRPr lang="ru-RU" sz="1800" dirty="0">
                        <a:solidFill>
                          <a:schemeClr val="bg1">
                            <a:lumMod val="65000"/>
                          </a:schemeClr>
                        </a:solidFill>
                      </a:endParaRP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0000">
                <a:tc>
                  <a:txBody>
                    <a:bodyPr/>
                    <a:lstStyle/>
                    <a:p>
                      <a:r>
                        <a:rPr lang="ru-RU" sz="1800" dirty="0"/>
                        <a:t>Яблоки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80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  <a:endParaRPr lang="ru-RU" sz="1800" dirty="0">
                        <a:solidFill>
                          <a:schemeClr val="bg1">
                            <a:lumMod val="65000"/>
                          </a:schemeClr>
                        </a:solidFill>
                      </a:endParaRP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80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  <a:endParaRPr lang="ru-RU" sz="1800" dirty="0">
                        <a:solidFill>
                          <a:schemeClr val="bg1">
                            <a:lumMod val="65000"/>
                          </a:schemeClr>
                        </a:solidFill>
                      </a:endParaRP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0000">
                <a:tc>
                  <a:txBody>
                    <a:bodyPr/>
                    <a:lstStyle/>
                    <a:p>
                      <a:r>
                        <a:rPr lang="ru-RU" sz="1800" dirty="0"/>
                        <a:t>Груши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80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  <a:endParaRPr lang="ru-RU" sz="1800" dirty="0">
                        <a:solidFill>
                          <a:schemeClr val="bg1">
                            <a:lumMod val="65000"/>
                          </a:schemeClr>
                        </a:solidFill>
                      </a:endParaRP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8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0000">
                <a:tc>
                  <a:txBody>
                    <a:bodyPr/>
                    <a:lstStyle/>
                    <a:p>
                      <a:r>
                        <a:rPr lang="ru-RU" sz="1800" dirty="0"/>
                        <a:t>Яблоки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8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8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1333934" y="5013176"/>
            <a:ext cx="6476132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&lt;</a:t>
            </a:r>
            <a:r>
              <a:rPr lang="ru-RU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Вид</a:t>
            </a:r>
            <a:r>
              <a:rPr lang="en-US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&gt;</a:t>
            </a:r>
            <a:r>
              <a:rPr lang="ru-RU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 СОЕДИНЕНИЕ</a:t>
            </a:r>
          </a:p>
          <a:p>
            <a:pPr marL="360000"/>
            <a:r>
              <a:rPr lang="ru-RU" dirty="0">
                <a:solidFill>
                  <a:schemeClr val="bg1">
                    <a:lumMod val="65000"/>
                  </a:schemeClr>
                </a:solidFill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ru-RU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ПО</a:t>
            </a:r>
          </a:p>
          <a:p>
            <a:pPr marL="360000"/>
            <a:r>
              <a:rPr lang="ru-RU" b="1" dirty="0" err="1">
                <a:latin typeface="Courier New" pitchFamily="49" charset="0"/>
                <a:cs typeface="Courier New" pitchFamily="49" charset="0"/>
              </a:rPr>
              <a:t>ПервыйИсточник.Товар</a:t>
            </a:r>
            <a:r>
              <a:rPr lang="ru-RU" b="1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ru-RU" b="1" dirty="0" err="1">
                <a:latin typeface="Courier New" pitchFamily="49" charset="0"/>
                <a:cs typeface="Courier New" pitchFamily="49" charset="0"/>
              </a:rPr>
              <a:t>ВторойИсточник.Товар</a:t>
            </a:r>
            <a:endParaRPr lang="ru-RU" b="1" dirty="0">
              <a:latin typeface="Courier New" pitchFamily="49" charset="0"/>
              <a:cs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636163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500"/>
                            </p:stCondLst>
                            <p:childTnLst>
                              <p:par>
                                <p:cTn id="1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79512" y="551539"/>
            <a:ext cx="8784976" cy="1052017"/>
          </a:xfrm>
        </p:spPr>
        <p:txBody>
          <a:bodyPr>
            <a:normAutofit/>
          </a:bodyPr>
          <a:lstStyle/>
          <a:p>
            <a:r>
              <a:rPr lang="ru-RU" sz="2800" dirty="0"/>
              <a:t>Виды соединений</a:t>
            </a:r>
            <a:r>
              <a:rPr lang="ru-RU" sz="4800" dirty="0"/>
              <a:t/>
            </a:r>
            <a:br>
              <a:rPr lang="ru-RU" sz="4800" dirty="0"/>
            </a:br>
            <a:r>
              <a:rPr lang="ru-RU" b="1" dirty="0">
                <a:solidFill>
                  <a:srgbClr val="FF0000"/>
                </a:solidFill>
              </a:rPr>
              <a:t>ВНУТРЕННЕЕ</a:t>
            </a:r>
          </a:p>
        </p:txBody>
      </p:sp>
      <p:graphicFrame>
        <p:nvGraphicFramePr>
          <p:cNvPr id="3" name="Таблица 2"/>
          <p:cNvGraphicFramePr>
            <a:graphicFrameLocks noGrp="1"/>
          </p:cNvGraphicFramePr>
          <p:nvPr/>
        </p:nvGraphicFramePr>
        <p:xfrm>
          <a:off x="465553" y="1879558"/>
          <a:ext cx="2700000" cy="1728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73763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8118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8118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32000">
                <a:tc>
                  <a:txBody>
                    <a:bodyPr/>
                    <a:lstStyle/>
                    <a:p>
                      <a:r>
                        <a:rPr lang="ru-RU" sz="1400" dirty="0"/>
                        <a:t>Яблоки</a:t>
                      </a: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r>
                        <a:rPr lang="ru-RU" sz="1400" dirty="0"/>
                        <a:t>Груши</a:t>
                      </a: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r>
                        <a:rPr lang="ru-RU" sz="1400" dirty="0"/>
                        <a:t>Киви</a:t>
                      </a: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r>
                        <a:rPr lang="ru-RU" sz="1400" dirty="0"/>
                        <a:t>Груши</a:t>
                      </a: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4" name="Таблица 3"/>
          <p:cNvGraphicFramePr>
            <a:graphicFrameLocks noGrp="1"/>
          </p:cNvGraphicFramePr>
          <p:nvPr/>
        </p:nvGraphicFramePr>
        <p:xfrm>
          <a:off x="5986800" y="1912886"/>
          <a:ext cx="2700000" cy="1728000"/>
        </p:xfrm>
        <a:graphic>
          <a:graphicData uri="http://schemas.openxmlformats.org/drawingml/2006/table">
            <a:tbl>
              <a:tblPr>
                <a:tableStyleId>{21E4AEA4-8DFA-4A89-87EB-49C32662AFE0}</a:tableStyleId>
              </a:tblPr>
              <a:tblGrid>
                <a:gridCol w="173762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8118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8118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32000">
                <a:tc>
                  <a:txBody>
                    <a:bodyPr/>
                    <a:lstStyle/>
                    <a:p>
                      <a:r>
                        <a:rPr lang="ru-RU" sz="1400" dirty="0"/>
                        <a:t>Бананы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r>
                        <a:rPr lang="ru-RU" sz="1400" dirty="0"/>
                        <a:t>Яблоки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  <a:endParaRPr lang="ru-RU" sz="1400" dirty="0">
                        <a:solidFill>
                          <a:schemeClr val="bg1">
                            <a:lumMod val="65000"/>
                          </a:schemeClr>
                        </a:solidFill>
                      </a:endParaRP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r>
                        <a:rPr lang="ru-RU" sz="1400" dirty="0"/>
                        <a:t>Груши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r>
                        <a:rPr lang="ru-RU" sz="1400" dirty="0"/>
                        <a:t>Яблоки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7" name="Таблица 6"/>
          <p:cNvGraphicFramePr>
            <a:graphicFrameLocks noGrp="1"/>
          </p:cNvGraphicFramePr>
          <p:nvPr/>
        </p:nvGraphicFramePr>
        <p:xfrm>
          <a:off x="2051720" y="3916888"/>
          <a:ext cx="5407200" cy="177927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73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82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82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38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824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824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44819">
                <a:tc>
                  <a:txBody>
                    <a:bodyPr/>
                    <a:lstStyle/>
                    <a:p>
                      <a:r>
                        <a:rPr lang="ru-RU" sz="1400" dirty="0"/>
                        <a:t>Яблоки</a:t>
                      </a: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Яблоки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  <a:endParaRPr lang="ru-RU" sz="1400" dirty="0">
                        <a:solidFill>
                          <a:schemeClr val="bg1">
                            <a:lumMod val="65000"/>
                          </a:schemeClr>
                        </a:solidFill>
                      </a:endParaRP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44819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400" dirty="0"/>
                        <a:t>Яблоки</a:t>
                      </a: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Яблоки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44819">
                <a:tc>
                  <a:txBody>
                    <a:bodyPr/>
                    <a:lstStyle/>
                    <a:p>
                      <a:r>
                        <a:rPr lang="ru-RU" sz="1400" dirty="0"/>
                        <a:t>Груши</a:t>
                      </a: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Груши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44819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400" dirty="0"/>
                        <a:t>Груши</a:t>
                      </a: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Груши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483048" y="1428728"/>
            <a:ext cx="21779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b="1" dirty="0">
                <a:solidFill>
                  <a:srgbClr val="002060"/>
                </a:solidFill>
              </a:rPr>
              <a:t>Исходные таблицы: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20031" y="3501008"/>
            <a:ext cx="24637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b="1" dirty="0">
                <a:solidFill>
                  <a:srgbClr val="002060"/>
                </a:solidFill>
              </a:rPr>
              <a:t>Результат соединения:</a:t>
            </a:r>
          </a:p>
        </p:txBody>
      </p:sp>
      <p:cxnSp>
        <p:nvCxnSpPr>
          <p:cNvPr id="8" name="Прямая со стрелкой 7"/>
          <p:cNvCxnSpPr/>
          <p:nvPr/>
        </p:nvCxnSpPr>
        <p:spPr>
          <a:xfrm>
            <a:off x="3220031" y="2060848"/>
            <a:ext cx="2648113" cy="504056"/>
          </a:xfrm>
          <a:prstGeom prst="straightConnector1">
            <a:avLst/>
          </a:prstGeom>
          <a:ln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Прямая со стрелкой 11"/>
          <p:cNvCxnSpPr/>
          <p:nvPr/>
        </p:nvCxnSpPr>
        <p:spPr>
          <a:xfrm>
            <a:off x="3220031" y="2060848"/>
            <a:ext cx="2648113" cy="1358860"/>
          </a:xfrm>
          <a:prstGeom prst="straightConnector1">
            <a:avLst/>
          </a:prstGeom>
          <a:ln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Прямая со стрелкой 16"/>
          <p:cNvCxnSpPr/>
          <p:nvPr/>
        </p:nvCxnSpPr>
        <p:spPr>
          <a:xfrm>
            <a:off x="3220031" y="2497542"/>
            <a:ext cx="2648113" cy="524654"/>
          </a:xfrm>
          <a:prstGeom prst="straightConnector1">
            <a:avLst/>
          </a:prstGeom>
          <a:ln>
            <a:prstDash val="sysDash"/>
            <a:tailEnd type="triangle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19" name="Прямая со стрелкой 18"/>
          <p:cNvCxnSpPr/>
          <p:nvPr/>
        </p:nvCxnSpPr>
        <p:spPr>
          <a:xfrm flipV="1">
            <a:off x="3220031" y="3140968"/>
            <a:ext cx="2648113" cy="201079"/>
          </a:xfrm>
          <a:prstGeom prst="straightConnector1">
            <a:avLst/>
          </a:prstGeom>
          <a:ln>
            <a:prstDash val="sysDash"/>
            <a:tailEnd type="triangle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472720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1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79512" y="551539"/>
            <a:ext cx="8784976" cy="1052017"/>
          </a:xfrm>
        </p:spPr>
        <p:txBody>
          <a:bodyPr>
            <a:normAutofit/>
          </a:bodyPr>
          <a:lstStyle/>
          <a:p>
            <a:r>
              <a:rPr lang="ru-RU" sz="2800" dirty="0"/>
              <a:t>Виды соединений</a:t>
            </a:r>
            <a:r>
              <a:rPr lang="ru-RU" sz="4800" dirty="0"/>
              <a:t/>
            </a:r>
            <a:br>
              <a:rPr lang="ru-RU" sz="4800" dirty="0"/>
            </a:br>
            <a:r>
              <a:rPr lang="ru-RU" b="1" dirty="0">
                <a:solidFill>
                  <a:srgbClr val="FF0000"/>
                </a:solidFill>
              </a:rPr>
              <a:t>ЛЕВОЕ</a:t>
            </a:r>
          </a:p>
        </p:txBody>
      </p:sp>
      <p:graphicFrame>
        <p:nvGraphicFramePr>
          <p:cNvPr id="3" name="Таблица 2"/>
          <p:cNvGraphicFramePr>
            <a:graphicFrameLocks noGrp="1"/>
          </p:cNvGraphicFramePr>
          <p:nvPr/>
        </p:nvGraphicFramePr>
        <p:xfrm>
          <a:off x="465553" y="1879558"/>
          <a:ext cx="2700000" cy="1728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73763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8118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8118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32000">
                <a:tc>
                  <a:txBody>
                    <a:bodyPr/>
                    <a:lstStyle/>
                    <a:p>
                      <a:r>
                        <a:rPr lang="ru-RU" sz="1400" dirty="0"/>
                        <a:t>Яблоки</a:t>
                      </a: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r>
                        <a:rPr lang="ru-RU" sz="1400" dirty="0"/>
                        <a:t>Груши</a:t>
                      </a: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r>
                        <a:rPr lang="ru-RU" sz="1400" dirty="0"/>
                        <a:t>Киви</a:t>
                      </a: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r>
                        <a:rPr lang="ru-RU" sz="1400" dirty="0"/>
                        <a:t>Груши</a:t>
                      </a: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4" name="Таблица 3"/>
          <p:cNvGraphicFramePr>
            <a:graphicFrameLocks noGrp="1"/>
          </p:cNvGraphicFramePr>
          <p:nvPr/>
        </p:nvGraphicFramePr>
        <p:xfrm>
          <a:off x="5986800" y="1912886"/>
          <a:ext cx="2700000" cy="1728000"/>
        </p:xfrm>
        <a:graphic>
          <a:graphicData uri="http://schemas.openxmlformats.org/drawingml/2006/table">
            <a:tbl>
              <a:tblPr>
                <a:tableStyleId>{21E4AEA4-8DFA-4A89-87EB-49C32662AFE0}</a:tableStyleId>
              </a:tblPr>
              <a:tblGrid>
                <a:gridCol w="173762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8118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8118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32000">
                <a:tc>
                  <a:txBody>
                    <a:bodyPr/>
                    <a:lstStyle/>
                    <a:p>
                      <a:r>
                        <a:rPr lang="ru-RU" sz="1400" dirty="0"/>
                        <a:t>Бананы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r>
                        <a:rPr lang="ru-RU" sz="1400" dirty="0"/>
                        <a:t>Яблоки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  <a:endParaRPr lang="ru-RU" sz="1400" dirty="0">
                        <a:solidFill>
                          <a:schemeClr val="bg1">
                            <a:lumMod val="65000"/>
                          </a:schemeClr>
                        </a:solidFill>
                      </a:endParaRP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r>
                        <a:rPr lang="ru-RU" sz="1400" dirty="0"/>
                        <a:t>Груши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r>
                        <a:rPr lang="ru-RU" sz="1400" dirty="0"/>
                        <a:t>Яблоки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7" name="Таблица 6"/>
          <p:cNvGraphicFramePr>
            <a:graphicFrameLocks noGrp="1"/>
          </p:cNvGraphicFramePr>
          <p:nvPr/>
        </p:nvGraphicFramePr>
        <p:xfrm>
          <a:off x="2057618" y="3573015"/>
          <a:ext cx="5407200" cy="266891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73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82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82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38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824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824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44819">
                <a:tc>
                  <a:txBody>
                    <a:bodyPr/>
                    <a:lstStyle/>
                    <a:p>
                      <a:pPr algn="ctr"/>
                      <a:endParaRPr lang="ru-RU" sz="1100" dirty="0">
                        <a:solidFill>
                          <a:srgbClr val="FF0000"/>
                        </a:solidFill>
                        <a:latin typeface="Arial Narrow" pitchFamily="34" charset="0"/>
                      </a:endParaRP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ru-RU" sz="1100" dirty="0">
                        <a:solidFill>
                          <a:srgbClr val="FF0000"/>
                        </a:solidFill>
                        <a:latin typeface="Arial Narrow" pitchFamily="34" charset="0"/>
                      </a:endParaRP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ru-RU" sz="1100" dirty="0">
                        <a:solidFill>
                          <a:srgbClr val="FF0000"/>
                        </a:solidFill>
                        <a:latin typeface="Arial Narrow" pitchFamily="34" charset="0"/>
                      </a:endParaRP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endParaRPr lang="ru-RU" sz="1400" dirty="0"/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ru-RU" sz="1400" dirty="0">
                        <a:solidFill>
                          <a:schemeClr val="bg1">
                            <a:lumMod val="65000"/>
                          </a:schemeClr>
                        </a:solidFill>
                      </a:endParaRP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ru-RU" sz="1400" dirty="0">
                        <a:solidFill>
                          <a:schemeClr val="bg1">
                            <a:lumMod val="65000"/>
                          </a:schemeClr>
                        </a:solidFill>
                      </a:endParaRPr>
                    </a:p>
                  </a:txBody>
                  <a:tcPr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44819">
                <a:tc>
                  <a:txBody>
                    <a:bodyPr/>
                    <a:lstStyle/>
                    <a:p>
                      <a:r>
                        <a:rPr lang="ru-RU" sz="1400" dirty="0"/>
                        <a:t>Яблоки</a:t>
                      </a: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Яблоки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  <a:endParaRPr lang="ru-RU" sz="1400" dirty="0">
                        <a:solidFill>
                          <a:schemeClr val="bg1">
                            <a:lumMod val="65000"/>
                          </a:schemeClr>
                        </a:solidFill>
                      </a:endParaRP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44819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400" dirty="0"/>
                        <a:t>Яблоки</a:t>
                      </a: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Яблоки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44819">
                <a:tc>
                  <a:txBody>
                    <a:bodyPr/>
                    <a:lstStyle/>
                    <a:p>
                      <a:r>
                        <a:rPr lang="ru-RU" sz="1400" dirty="0"/>
                        <a:t>Груши</a:t>
                      </a: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Груши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44819">
                <a:tc>
                  <a:txBody>
                    <a:bodyPr/>
                    <a:lstStyle/>
                    <a:p>
                      <a:r>
                        <a:rPr lang="ru-RU" sz="1400" dirty="0"/>
                        <a:t>Киви</a:t>
                      </a: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dirty="0">
                          <a:solidFill>
                            <a:srgbClr val="FF0000"/>
                          </a:solidFill>
                          <a:latin typeface="Arial Narrow" pitchFamily="34" charset="0"/>
                        </a:rPr>
                        <a:t>NULL</a:t>
                      </a:r>
                      <a:endParaRPr lang="ru-RU" sz="1100" dirty="0">
                        <a:solidFill>
                          <a:srgbClr val="FF0000"/>
                        </a:solidFill>
                        <a:latin typeface="Arial Narrow" pitchFamily="34" charset="0"/>
                      </a:endParaRP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dirty="0">
                          <a:solidFill>
                            <a:srgbClr val="FF0000"/>
                          </a:solidFill>
                          <a:latin typeface="Arial Narrow" pitchFamily="34" charset="0"/>
                        </a:rPr>
                        <a:t>NULL</a:t>
                      </a:r>
                      <a:endParaRPr lang="ru-RU" sz="1100" dirty="0">
                        <a:solidFill>
                          <a:srgbClr val="FF0000"/>
                        </a:solidFill>
                        <a:latin typeface="Arial Narrow" pitchFamily="34" charset="0"/>
                      </a:endParaRP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dirty="0">
                          <a:solidFill>
                            <a:srgbClr val="FF0000"/>
                          </a:solidFill>
                          <a:latin typeface="Arial Narrow" pitchFamily="34" charset="0"/>
                        </a:rPr>
                        <a:t>NULL</a:t>
                      </a:r>
                      <a:endParaRPr lang="ru-RU" sz="1100" dirty="0">
                        <a:solidFill>
                          <a:srgbClr val="FF0000"/>
                        </a:solidFill>
                        <a:latin typeface="Arial Narrow" pitchFamily="34" charset="0"/>
                      </a:endParaRP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9027289"/>
                  </a:ext>
                </a:extLst>
              </a:tr>
              <a:tr h="444819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400" dirty="0"/>
                        <a:t>Груши</a:t>
                      </a: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Груши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483048" y="1428728"/>
            <a:ext cx="21779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b="1" dirty="0">
                <a:solidFill>
                  <a:srgbClr val="002060"/>
                </a:solidFill>
              </a:rPr>
              <a:t>Исходные таблицы: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20031" y="3501008"/>
            <a:ext cx="24637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b="1" dirty="0">
                <a:solidFill>
                  <a:srgbClr val="002060"/>
                </a:solidFill>
              </a:rPr>
              <a:t>Результат соединения:</a:t>
            </a:r>
          </a:p>
        </p:txBody>
      </p:sp>
      <p:cxnSp>
        <p:nvCxnSpPr>
          <p:cNvPr id="8" name="Прямая со стрелкой 7"/>
          <p:cNvCxnSpPr/>
          <p:nvPr/>
        </p:nvCxnSpPr>
        <p:spPr>
          <a:xfrm>
            <a:off x="3220031" y="2060848"/>
            <a:ext cx="2648113" cy="504056"/>
          </a:xfrm>
          <a:prstGeom prst="straightConnector1">
            <a:avLst/>
          </a:prstGeom>
          <a:ln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Прямая со стрелкой 11"/>
          <p:cNvCxnSpPr/>
          <p:nvPr/>
        </p:nvCxnSpPr>
        <p:spPr>
          <a:xfrm>
            <a:off x="3220031" y="2060848"/>
            <a:ext cx="2648113" cy="1358860"/>
          </a:xfrm>
          <a:prstGeom prst="straightConnector1">
            <a:avLst/>
          </a:prstGeom>
          <a:ln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Прямая со стрелкой 16"/>
          <p:cNvCxnSpPr/>
          <p:nvPr/>
        </p:nvCxnSpPr>
        <p:spPr>
          <a:xfrm>
            <a:off x="3220031" y="2497542"/>
            <a:ext cx="2648113" cy="524654"/>
          </a:xfrm>
          <a:prstGeom prst="straightConnector1">
            <a:avLst/>
          </a:prstGeom>
          <a:ln>
            <a:prstDash val="sysDash"/>
            <a:tailEnd type="triangle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19" name="Прямая со стрелкой 18"/>
          <p:cNvCxnSpPr/>
          <p:nvPr/>
        </p:nvCxnSpPr>
        <p:spPr>
          <a:xfrm flipV="1">
            <a:off x="3220031" y="3140968"/>
            <a:ext cx="2648113" cy="201079"/>
          </a:xfrm>
          <a:prstGeom prst="straightConnector1">
            <a:avLst/>
          </a:prstGeom>
          <a:ln>
            <a:prstDash val="sysDash"/>
            <a:tailEnd type="triangle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29679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1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79512" y="551539"/>
            <a:ext cx="8784976" cy="1052017"/>
          </a:xfrm>
        </p:spPr>
        <p:txBody>
          <a:bodyPr>
            <a:normAutofit/>
          </a:bodyPr>
          <a:lstStyle/>
          <a:p>
            <a:r>
              <a:rPr lang="ru-RU" sz="2800" dirty="0"/>
              <a:t>Виды соединений</a:t>
            </a:r>
            <a:r>
              <a:rPr lang="ru-RU" sz="4800" dirty="0"/>
              <a:t/>
            </a:r>
            <a:br>
              <a:rPr lang="ru-RU" sz="4800" dirty="0"/>
            </a:br>
            <a:r>
              <a:rPr lang="ru-RU" b="1" dirty="0">
                <a:solidFill>
                  <a:srgbClr val="FF0000"/>
                </a:solidFill>
              </a:rPr>
              <a:t>ПРАВОЕ</a:t>
            </a:r>
          </a:p>
        </p:txBody>
      </p:sp>
      <p:graphicFrame>
        <p:nvGraphicFramePr>
          <p:cNvPr id="3" name="Таблица 2"/>
          <p:cNvGraphicFramePr>
            <a:graphicFrameLocks noGrp="1"/>
          </p:cNvGraphicFramePr>
          <p:nvPr/>
        </p:nvGraphicFramePr>
        <p:xfrm>
          <a:off x="465553" y="1879558"/>
          <a:ext cx="2700000" cy="1728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73763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8118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8118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32000">
                <a:tc>
                  <a:txBody>
                    <a:bodyPr/>
                    <a:lstStyle/>
                    <a:p>
                      <a:r>
                        <a:rPr lang="ru-RU" sz="1400" dirty="0"/>
                        <a:t>Яблоки</a:t>
                      </a: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r>
                        <a:rPr lang="ru-RU" sz="1400" dirty="0"/>
                        <a:t>Груши</a:t>
                      </a: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r>
                        <a:rPr lang="ru-RU" sz="1400" dirty="0"/>
                        <a:t>Киви</a:t>
                      </a: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r>
                        <a:rPr lang="ru-RU" sz="1400" dirty="0"/>
                        <a:t>Груши</a:t>
                      </a: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4" name="Таблица 3"/>
          <p:cNvGraphicFramePr>
            <a:graphicFrameLocks noGrp="1"/>
          </p:cNvGraphicFramePr>
          <p:nvPr/>
        </p:nvGraphicFramePr>
        <p:xfrm>
          <a:off x="5986800" y="1912886"/>
          <a:ext cx="2700000" cy="1728000"/>
        </p:xfrm>
        <a:graphic>
          <a:graphicData uri="http://schemas.openxmlformats.org/drawingml/2006/table">
            <a:tbl>
              <a:tblPr>
                <a:tableStyleId>{21E4AEA4-8DFA-4A89-87EB-49C32662AFE0}</a:tableStyleId>
              </a:tblPr>
              <a:tblGrid>
                <a:gridCol w="173762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8118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8118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32000">
                <a:tc>
                  <a:txBody>
                    <a:bodyPr/>
                    <a:lstStyle/>
                    <a:p>
                      <a:r>
                        <a:rPr lang="ru-RU" sz="1400" dirty="0"/>
                        <a:t>Бананы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r>
                        <a:rPr lang="ru-RU" sz="1400" dirty="0"/>
                        <a:t>Яблоки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  <a:endParaRPr lang="ru-RU" sz="1400" dirty="0">
                        <a:solidFill>
                          <a:schemeClr val="bg1">
                            <a:lumMod val="65000"/>
                          </a:schemeClr>
                        </a:solidFill>
                      </a:endParaRP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r>
                        <a:rPr lang="ru-RU" sz="1400" dirty="0"/>
                        <a:t>Груши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r>
                        <a:rPr lang="ru-RU" sz="1400" dirty="0"/>
                        <a:t>Яблоки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7" name="Таблица 6"/>
          <p:cNvGraphicFramePr>
            <a:graphicFrameLocks noGrp="1"/>
          </p:cNvGraphicFramePr>
          <p:nvPr/>
        </p:nvGraphicFramePr>
        <p:xfrm>
          <a:off x="2051720" y="3916888"/>
          <a:ext cx="5407200" cy="2224095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73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82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82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38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824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824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4481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>
                          <a:solidFill>
                            <a:srgbClr val="FF0000"/>
                          </a:solidFill>
                          <a:latin typeface="Arial Narrow" pitchFamily="34" charset="0"/>
                        </a:rPr>
                        <a:t>NULL</a:t>
                      </a:r>
                      <a:endParaRPr lang="ru-RU" sz="1100" dirty="0">
                        <a:solidFill>
                          <a:srgbClr val="FF0000"/>
                        </a:solidFill>
                        <a:latin typeface="Arial Narrow" pitchFamily="34" charset="0"/>
                      </a:endParaRPr>
                    </a:p>
                  </a:txBody>
                  <a:tcPr anchor="ctr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>
                          <a:solidFill>
                            <a:srgbClr val="FF0000"/>
                          </a:solidFill>
                          <a:latin typeface="Arial Narrow" pitchFamily="34" charset="0"/>
                        </a:rPr>
                        <a:t>NULL</a:t>
                      </a:r>
                      <a:endParaRPr lang="ru-RU" sz="1100" dirty="0">
                        <a:solidFill>
                          <a:srgbClr val="FF0000"/>
                        </a:solidFill>
                        <a:latin typeface="Arial Narrow" pitchFamily="34" charset="0"/>
                      </a:endParaRPr>
                    </a:p>
                  </a:txBody>
                  <a:tcPr anchor="ctr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>
                          <a:solidFill>
                            <a:srgbClr val="FF0000"/>
                          </a:solidFill>
                          <a:latin typeface="Arial Narrow" pitchFamily="34" charset="0"/>
                        </a:rPr>
                        <a:t>NULL</a:t>
                      </a:r>
                      <a:endParaRPr lang="ru-RU" sz="1100" dirty="0">
                        <a:solidFill>
                          <a:srgbClr val="FF0000"/>
                        </a:solidFill>
                        <a:latin typeface="Arial Narrow" pitchFamily="34" charset="0"/>
                      </a:endParaRPr>
                    </a:p>
                  </a:txBody>
                  <a:tcPr anchor="ctr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400" dirty="0"/>
                        <a:t>Бананы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ru-RU" sz="1400" dirty="0">
                        <a:solidFill>
                          <a:schemeClr val="bg1">
                            <a:lumMod val="65000"/>
                          </a:schemeClr>
                        </a:solidFill>
                      </a:endParaRP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ru-RU" sz="1400" dirty="0">
                        <a:solidFill>
                          <a:schemeClr val="bg1">
                            <a:lumMod val="65000"/>
                          </a:schemeClr>
                        </a:solidFill>
                      </a:endParaRP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64147054"/>
                  </a:ext>
                </a:extLst>
              </a:tr>
              <a:tr h="444819">
                <a:tc>
                  <a:txBody>
                    <a:bodyPr/>
                    <a:lstStyle/>
                    <a:p>
                      <a:r>
                        <a:rPr lang="ru-RU" sz="1400" dirty="0"/>
                        <a:t>Яблоки</a:t>
                      </a: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Яблоки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  <a:endParaRPr lang="ru-RU" sz="1400" dirty="0">
                        <a:solidFill>
                          <a:schemeClr val="bg1">
                            <a:lumMod val="65000"/>
                          </a:schemeClr>
                        </a:solidFill>
                      </a:endParaRP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44819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400" dirty="0"/>
                        <a:t>Яблоки</a:t>
                      </a: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Яблоки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44819">
                <a:tc>
                  <a:txBody>
                    <a:bodyPr/>
                    <a:lstStyle/>
                    <a:p>
                      <a:r>
                        <a:rPr lang="ru-RU" sz="1400" dirty="0"/>
                        <a:t>Груши</a:t>
                      </a: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Груши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44819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400" dirty="0"/>
                        <a:t>Груши</a:t>
                      </a: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Груши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483048" y="1428728"/>
            <a:ext cx="21779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b="1" dirty="0">
                <a:solidFill>
                  <a:srgbClr val="002060"/>
                </a:solidFill>
              </a:rPr>
              <a:t>Исходные таблицы: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20031" y="3501008"/>
            <a:ext cx="24637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b="1" dirty="0">
                <a:solidFill>
                  <a:srgbClr val="002060"/>
                </a:solidFill>
              </a:rPr>
              <a:t>Результат соединения:</a:t>
            </a:r>
          </a:p>
        </p:txBody>
      </p:sp>
      <p:cxnSp>
        <p:nvCxnSpPr>
          <p:cNvPr id="8" name="Прямая со стрелкой 7"/>
          <p:cNvCxnSpPr/>
          <p:nvPr/>
        </p:nvCxnSpPr>
        <p:spPr>
          <a:xfrm flipH="1" flipV="1">
            <a:off x="3284210" y="2033632"/>
            <a:ext cx="2638412" cy="505041"/>
          </a:xfrm>
          <a:prstGeom prst="straightConnector1">
            <a:avLst/>
          </a:prstGeom>
          <a:ln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Прямая со стрелкой 11"/>
          <p:cNvCxnSpPr/>
          <p:nvPr/>
        </p:nvCxnSpPr>
        <p:spPr>
          <a:xfrm flipH="1" flipV="1">
            <a:off x="3284210" y="2156238"/>
            <a:ext cx="2638412" cy="1185809"/>
          </a:xfrm>
          <a:prstGeom prst="straightConnector1">
            <a:avLst/>
          </a:prstGeom>
          <a:ln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Прямая со стрелкой 16"/>
          <p:cNvCxnSpPr/>
          <p:nvPr/>
        </p:nvCxnSpPr>
        <p:spPr>
          <a:xfrm flipH="1" flipV="1">
            <a:off x="3284210" y="2538673"/>
            <a:ext cx="2583934" cy="443334"/>
          </a:xfrm>
          <a:prstGeom prst="straightConnector1">
            <a:avLst/>
          </a:prstGeom>
          <a:ln>
            <a:prstDash val="sysDash"/>
            <a:tailEnd type="triangle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19" name="Прямая со стрелкой 18"/>
          <p:cNvCxnSpPr/>
          <p:nvPr/>
        </p:nvCxnSpPr>
        <p:spPr>
          <a:xfrm flipH="1">
            <a:off x="3229731" y="3041349"/>
            <a:ext cx="2638413" cy="323093"/>
          </a:xfrm>
          <a:prstGeom prst="straightConnector1">
            <a:avLst/>
          </a:prstGeom>
          <a:ln>
            <a:prstDash val="sysDash"/>
            <a:tailEnd type="triangle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665384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1" grpId="0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79512" y="551539"/>
            <a:ext cx="8784976" cy="1052017"/>
          </a:xfrm>
        </p:spPr>
        <p:txBody>
          <a:bodyPr>
            <a:normAutofit/>
          </a:bodyPr>
          <a:lstStyle/>
          <a:p>
            <a:r>
              <a:rPr lang="ru-RU" sz="2800" dirty="0"/>
              <a:t>Виды соединений</a:t>
            </a:r>
            <a:r>
              <a:rPr lang="ru-RU" sz="4800" dirty="0"/>
              <a:t/>
            </a:r>
            <a:br>
              <a:rPr lang="ru-RU" sz="4800" dirty="0"/>
            </a:br>
            <a:r>
              <a:rPr lang="ru-RU" dirty="0">
                <a:solidFill>
                  <a:srgbClr val="FF0000"/>
                </a:solidFill>
              </a:rPr>
              <a:t>ПОЛНОЕ</a:t>
            </a:r>
            <a:endParaRPr lang="ru-RU" b="1" dirty="0">
              <a:solidFill>
                <a:srgbClr val="FF0000"/>
              </a:solidFill>
            </a:endParaRPr>
          </a:p>
        </p:txBody>
      </p:sp>
      <p:graphicFrame>
        <p:nvGraphicFramePr>
          <p:cNvPr id="3" name="Таблица 2"/>
          <p:cNvGraphicFramePr>
            <a:graphicFrameLocks noGrp="1"/>
          </p:cNvGraphicFramePr>
          <p:nvPr/>
        </p:nvGraphicFramePr>
        <p:xfrm>
          <a:off x="465553" y="1556792"/>
          <a:ext cx="2700000" cy="1728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73763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8118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8118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32000">
                <a:tc>
                  <a:txBody>
                    <a:bodyPr/>
                    <a:lstStyle/>
                    <a:p>
                      <a:r>
                        <a:rPr lang="ru-RU" sz="1400" dirty="0"/>
                        <a:t>Яблоки</a:t>
                      </a: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r>
                        <a:rPr lang="ru-RU" sz="1400" dirty="0"/>
                        <a:t>Груши</a:t>
                      </a: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r>
                        <a:rPr lang="ru-RU" sz="1400" dirty="0"/>
                        <a:t>Киви</a:t>
                      </a: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r>
                        <a:rPr lang="ru-RU" sz="1400" dirty="0"/>
                        <a:t>Груши</a:t>
                      </a: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4" name="Таблица 3"/>
          <p:cNvGraphicFramePr>
            <a:graphicFrameLocks noGrp="1"/>
          </p:cNvGraphicFramePr>
          <p:nvPr/>
        </p:nvGraphicFramePr>
        <p:xfrm>
          <a:off x="5986800" y="1590120"/>
          <a:ext cx="2700000" cy="1728000"/>
        </p:xfrm>
        <a:graphic>
          <a:graphicData uri="http://schemas.openxmlformats.org/drawingml/2006/table">
            <a:tbl>
              <a:tblPr>
                <a:tableStyleId>{21E4AEA4-8DFA-4A89-87EB-49C32662AFE0}</a:tableStyleId>
              </a:tblPr>
              <a:tblGrid>
                <a:gridCol w="173762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8118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8118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32000">
                <a:tc>
                  <a:txBody>
                    <a:bodyPr/>
                    <a:lstStyle/>
                    <a:p>
                      <a:r>
                        <a:rPr lang="ru-RU" sz="1400" dirty="0"/>
                        <a:t>Бананы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r>
                        <a:rPr lang="ru-RU" sz="1400" dirty="0"/>
                        <a:t>Яблоки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  <a:endParaRPr lang="ru-RU" sz="1400" dirty="0">
                        <a:solidFill>
                          <a:schemeClr val="bg1">
                            <a:lumMod val="65000"/>
                          </a:schemeClr>
                        </a:solidFill>
                      </a:endParaRP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r>
                        <a:rPr lang="ru-RU" sz="1400" dirty="0"/>
                        <a:t>Груши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r>
                        <a:rPr lang="ru-RU" sz="1400" dirty="0"/>
                        <a:t>Яблоки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7" name="Таблица 6"/>
          <p:cNvGraphicFramePr>
            <a:graphicFrameLocks noGrp="1"/>
          </p:cNvGraphicFramePr>
          <p:nvPr/>
        </p:nvGraphicFramePr>
        <p:xfrm>
          <a:off x="2051720" y="3533636"/>
          <a:ext cx="5407200" cy="266891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73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82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82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38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824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824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4481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>
                          <a:solidFill>
                            <a:srgbClr val="FF0000"/>
                          </a:solidFill>
                          <a:latin typeface="Arial Narrow" pitchFamily="34" charset="0"/>
                        </a:rPr>
                        <a:t>NULL</a:t>
                      </a:r>
                      <a:endParaRPr lang="ru-RU" sz="1100" dirty="0">
                        <a:solidFill>
                          <a:srgbClr val="FF0000"/>
                        </a:solidFill>
                        <a:latin typeface="Arial Narrow" pitchFamily="34" charset="0"/>
                      </a:endParaRPr>
                    </a:p>
                  </a:txBody>
                  <a:tcPr anchor="ctr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>
                          <a:solidFill>
                            <a:srgbClr val="FF0000"/>
                          </a:solidFill>
                          <a:latin typeface="Arial Narrow" pitchFamily="34" charset="0"/>
                        </a:rPr>
                        <a:t>NULL</a:t>
                      </a:r>
                      <a:endParaRPr lang="ru-RU" sz="1100" dirty="0">
                        <a:solidFill>
                          <a:srgbClr val="FF0000"/>
                        </a:solidFill>
                        <a:latin typeface="Arial Narrow" pitchFamily="34" charset="0"/>
                      </a:endParaRPr>
                    </a:p>
                  </a:txBody>
                  <a:tcPr anchor="ctr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>
                          <a:solidFill>
                            <a:srgbClr val="FF0000"/>
                          </a:solidFill>
                          <a:latin typeface="Arial Narrow" pitchFamily="34" charset="0"/>
                        </a:rPr>
                        <a:t>NULL</a:t>
                      </a:r>
                      <a:endParaRPr lang="ru-RU" sz="1100" dirty="0">
                        <a:solidFill>
                          <a:srgbClr val="FF0000"/>
                        </a:solidFill>
                        <a:latin typeface="Arial Narrow" pitchFamily="34" charset="0"/>
                      </a:endParaRPr>
                    </a:p>
                  </a:txBody>
                  <a:tcPr anchor="ctr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400" dirty="0"/>
                        <a:t>Бананы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ru-RU" sz="1400" dirty="0">
                        <a:solidFill>
                          <a:schemeClr val="bg1">
                            <a:lumMod val="65000"/>
                          </a:schemeClr>
                        </a:solidFill>
                      </a:endParaRP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ru-RU" sz="1400" dirty="0">
                        <a:solidFill>
                          <a:schemeClr val="bg1">
                            <a:lumMod val="65000"/>
                          </a:schemeClr>
                        </a:solidFill>
                      </a:endParaRP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59622113"/>
                  </a:ext>
                </a:extLst>
              </a:tr>
              <a:tr h="444819">
                <a:tc>
                  <a:txBody>
                    <a:bodyPr/>
                    <a:lstStyle/>
                    <a:p>
                      <a:r>
                        <a:rPr lang="ru-RU" sz="1400" dirty="0"/>
                        <a:t>Яблоки</a:t>
                      </a: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Яблоки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  <a:endParaRPr lang="ru-RU" sz="1400" dirty="0">
                        <a:solidFill>
                          <a:schemeClr val="bg1">
                            <a:lumMod val="65000"/>
                          </a:schemeClr>
                        </a:solidFill>
                      </a:endParaRP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44819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400" dirty="0"/>
                        <a:t>Яблоки</a:t>
                      </a: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Яблоки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44819">
                <a:tc>
                  <a:txBody>
                    <a:bodyPr/>
                    <a:lstStyle/>
                    <a:p>
                      <a:r>
                        <a:rPr lang="ru-RU" sz="1400" dirty="0"/>
                        <a:t>Груши</a:t>
                      </a: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Груши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44819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400" dirty="0"/>
                        <a:t>Груши</a:t>
                      </a: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Груши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44819">
                <a:tc>
                  <a:txBody>
                    <a:bodyPr/>
                    <a:lstStyle/>
                    <a:p>
                      <a:r>
                        <a:rPr lang="ru-RU" sz="1400" dirty="0"/>
                        <a:t>Киви</a:t>
                      </a: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dirty="0">
                          <a:solidFill>
                            <a:srgbClr val="FF0000"/>
                          </a:solidFill>
                          <a:latin typeface="Arial Narrow" pitchFamily="34" charset="0"/>
                        </a:rPr>
                        <a:t>NULL</a:t>
                      </a:r>
                      <a:endParaRPr lang="ru-RU" sz="1100" dirty="0">
                        <a:solidFill>
                          <a:srgbClr val="FF0000"/>
                        </a:solidFill>
                        <a:latin typeface="Arial Narrow" pitchFamily="34" charset="0"/>
                      </a:endParaRPr>
                    </a:p>
                  </a:txBody>
                  <a:tcPr anchor="ctr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dirty="0">
                          <a:solidFill>
                            <a:srgbClr val="FF0000"/>
                          </a:solidFill>
                          <a:latin typeface="Arial Narrow" pitchFamily="34" charset="0"/>
                        </a:rPr>
                        <a:t>NULL</a:t>
                      </a:r>
                      <a:endParaRPr lang="ru-RU" sz="1100" dirty="0">
                        <a:solidFill>
                          <a:srgbClr val="FF0000"/>
                        </a:solidFill>
                        <a:latin typeface="Arial Narrow" pitchFamily="34" charset="0"/>
                      </a:endParaRPr>
                    </a:p>
                  </a:txBody>
                  <a:tcPr anchor="ctr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dirty="0">
                          <a:solidFill>
                            <a:srgbClr val="FF0000"/>
                          </a:solidFill>
                          <a:latin typeface="Arial Narrow" pitchFamily="34" charset="0"/>
                        </a:rPr>
                        <a:t>NULL</a:t>
                      </a:r>
                      <a:endParaRPr lang="ru-RU" sz="1100" dirty="0">
                        <a:solidFill>
                          <a:srgbClr val="FF0000"/>
                        </a:solidFill>
                        <a:latin typeface="Arial Narrow" pitchFamily="34" charset="0"/>
                      </a:endParaRPr>
                    </a:p>
                  </a:txBody>
                  <a:tcPr anchor="ctr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483048" y="1428728"/>
            <a:ext cx="21779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b="1" dirty="0">
                <a:solidFill>
                  <a:srgbClr val="002060"/>
                </a:solidFill>
              </a:rPr>
              <a:t>Исходные таблицы: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20031" y="3203684"/>
            <a:ext cx="24637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b="1" dirty="0">
                <a:solidFill>
                  <a:srgbClr val="002060"/>
                </a:solidFill>
              </a:rPr>
              <a:t>Результат соединения:</a:t>
            </a:r>
          </a:p>
        </p:txBody>
      </p:sp>
      <p:cxnSp>
        <p:nvCxnSpPr>
          <p:cNvPr id="8" name="Прямая со стрелкой 7"/>
          <p:cNvCxnSpPr/>
          <p:nvPr/>
        </p:nvCxnSpPr>
        <p:spPr>
          <a:xfrm>
            <a:off x="3220031" y="1738082"/>
            <a:ext cx="2648113" cy="504056"/>
          </a:xfrm>
          <a:prstGeom prst="straightConnector1">
            <a:avLst/>
          </a:prstGeom>
          <a:ln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Прямая со стрелкой 11"/>
          <p:cNvCxnSpPr/>
          <p:nvPr/>
        </p:nvCxnSpPr>
        <p:spPr>
          <a:xfrm>
            <a:off x="3220031" y="1738082"/>
            <a:ext cx="2648113" cy="1358860"/>
          </a:xfrm>
          <a:prstGeom prst="straightConnector1">
            <a:avLst/>
          </a:prstGeom>
          <a:ln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Прямая со стрелкой 16"/>
          <p:cNvCxnSpPr/>
          <p:nvPr/>
        </p:nvCxnSpPr>
        <p:spPr>
          <a:xfrm>
            <a:off x="3220031" y="2174776"/>
            <a:ext cx="2648113" cy="524654"/>
          </a:xfrm>
          <a:prstGeom prst="straightConnector1">
            <a:avLst/>
          </a:prstGeom>
          <a:ln>
            <a:prstDash val="sysDash"/>
            <a:tailEnd type="triangle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19" name="Прямая со стрелкой 18"/>
          <p:cNvCxnSpPr/>
          <p:nvPr/>
        </p:nvCxnSpPr>
        <p:spPr>
          <a:xfrm flipV="1">
            <a:off x="3220031" y="2818202"/>
            <a:ext cx="2648113" cy="201079"/>
          </a:xfrm>
          <a:prstGeom prst="straightConnector1">
            <a:avLst/>
          </a:prstGeom>
          <a:ln>
            <a:prstDash val="sysDash"/>
            <a:tailEnd type="triangle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22393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1" grpId="0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Блокировки</a:t>
            </a:r>
          </a:p>
        </p:txBody>
      </p:sp>
      <p:sp>
        <p:nvSpPr>
          <p:cNvPr id="4" name="Текст 3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Решение проблем конкурентного доступа к ресурсам</a:t>
            </a:r>
          </a:p>
        </p:txBody>
      </p:sp>
    </p:spTree>
    <p:extLst>
      <p:ext uri="{BB962C8B-B14F-4D97-AF65-F5344CB8AC3E}">
        <p14:creationId xmlns:p14="http://schemas.microsoft.com/office/powerpoint/2010/main" val="2511699682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88119" y="571977"/>
            <a:ext cx="8784000" cy="1044950"/>
          </a:xfrm>
        </p:spPr>
        <p:txBody>
          <a:bodyPr/>
          <a:lstStyle/>
          <a:p>
            <a:r>
              <a:rPr lang="ru-RU" dirty="0"/>
              <a:t>Проблема чтения данных, которые будут изменены</a:t>
            </a:r>
          </a:p>
        </p:txBody>
      </p:sp>
      <p:grpSp>
        <p:nvGrpSpPr>
          <p:cNvPr id="3" name="Группа 19"/>
          <p:cNvGrpSpPr/>
          <p:nvPr/>
        </p:nvGrpSpPr>
        <p:grpSpPr>
          <a:xfrm>
            <a:off x="285720" y="4259070"/>
            <a:ext cx="8572560" cy="428628"/>
            <a:chOff x="285720" y="3929066"/>
            <a:chExt cx="8572560" cy="428628"/>
          </a:xfrm>
        </p:grpSpPr>
        <p:cxnSp>
          <p:nvCxnSpPr>
            <p:cNvPr id="4" name="Прямая со стрелкой 3"/>
            <p:cNvCxnSpPr/>
            <p:nvPr/>
          </p:nvCxnSpPr>
          <p:spPr>
            <a:xfrm>
              <a:off x="285720" y="4144174"/>
              <a:ext cx="8572560" cy="1588"/>
            </a:xfrm>
            <a:prstGeom prst="straightConnector1">
              <a:avLst/>
            </a:prstGeom>
            <a:ln w="19050"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" name="Прямая соединительная линия 4"/>
            <p:cNvCxnSpPr/>
            <p:nvPr/>
          </p:nvCxnSpPr>
          <p:spPr>
            <a:xfrm rot="5400000">
              <a:off x="1428728" y="4143380"/>
              <a:ext cx="428628" cy="0"/>
            </a:xfrm>
            <a:prstGeom prst="line">
              <a:avLst/>
            </a:prstGeom>
            <a:ln w="571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Прямая соединительная линия 6"/>
            <p:cNvCxnSpPr/>
            <p:nvPr/>
          </p:nvCxnSpPr>
          <p:spPr>
            <a:xfrm rot="5400000">
              <a:off x="7286644" y="4143380"/>
              <a:ext cx="428628" cy="0"/>
            </a:xfrm>
            <a:prstGeom prst="line">
              <a:avLst/>
            </a:prstGeom>
            <a:ln w="571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3" name="Блок-схема: задержка 12"/>
          <p:cNvSpPr/>
          <p:nvPr/>
        </p:nvSpPr>
        <p:spPr>
          <a:xfrm rot="16200000">
            <a:off x="2786051" y="2187367"/>
            <a:ext cx="1285882" cy="3286148"/>
          </a:xfrm>
          <a:prstGeom prst="flowChartDelay">
            <a:avLst/>
          </a:prstGeom>
          <a:solidFill>
            <a:srgbClr val="00B050">
              <a:alpha val="15000"/>
            </a:srgbClr>
          </a:solidFill>
          <a:ln w="127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lIns="0" tIns="0" rIns="0" bIns="756000" rtlCol="0" anchor="t"/>
          <a:lstStyle/>
          <a:p>
            <a:pPr algn="ctr"/>
            <a:r>
              <a:rPr lang="ru-RU" sz="1400" dirty="0">
                <a:solidFill>
                  <a:srgbClr val="002060"/>
                </a:solidFill>
              </a:rPr>
              <a:t>Проведение</a:t>
            </a:r>
          </a:p>
          <a:p>
            <a:pPr algn="ctr"/>
            <a:r>
              <a:rPr lang="ru-RU" sz="1400" dirty="0">
                <a:solidFill>
                  <a:srgbClr val="002060"/>
                </a:solidFill>
              </a:rPr>
              <a:t>«Реализация </a:t>
            </a:r>
            <a:r>
              <a:rPr lang="ru-RU" sz="1400" b="1" dirty="0">
                <a:solidFill>
                  <a:srgbClr val="002060"/>
                </a:solidFill>
              </a:rPr>
              <a:t>00001</a:t>
            </a:r>
            <a:r>
              <a:rPr lang="ru-RU" sz="1400" dirty="0">
                <a:solidFill>
                  <a:srgbClr val="002060"/>
                </a:solidFill>
              </a:rPr>
              <a:t>»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5720" y="2348880"/>
            <a:ext cx="122661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1600" spc="300" dirty="0">
                <a:solidFill>
                  <a:schemeClr val="bg1">
                    <a:lumMod val="50000"/>
                  </a:schemeClr>
                </a:solidFill>
              </a:rPr>
              <a:t>16:05:00</a:t>
            </a:r>
            <a:endParaRPr lang="ru-RU" sz="16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3958691" y="2348880"/>
            <a:ext cx="122661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1600" spc="300" dirty="0">
                <a:solidFill>
                  <a:schemeClr val="bg1">
                    <a:lumMod val="50000"/>
                  </a:schemeClr>
                </a:solidFill>
              </a:rPr>
              <a:t>16:05:0</a:t>
            </a:r>
            <a:r>
              <a:rPr lang="en-US" sz="1600" spc="300" dirty="0">
                <a:solidFill>
                  <a:schemeClr val="bg1">
                    <a:lumMod val="50000"/>
                  </a:schemeClr>
                </a:solidFill>
              </a:rPr>
              <a:t>1</a:t>
            </a:r>
            <a:endParaRPr lang="ru-RU" sz="16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7631662" y="2348880"/>
            <a:ext cx="122661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1600" spc="300" dirty="0">
                <a:solidFill>
                  <a:schemeClr val="bg1">
                    <a:lumMod val="50000"/>
                  </a:schemeClr>
                </a:solidFill>
              </a:rPr>
              <a:t>16:05:02</a:t>
            </a:r>
            <a:endParaRPr lang="ru-RU" sz="16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22" name="Блок-схема: задержка 21"/>
          <p:cNvSpPr/>
          <p:nvPr/>
        </p:nvSpPr>
        <p:spPr>
          <a:xfrm rot="16200000">
            <a:off x="5071741" y="2187041"/>
            <a:ext cx="1285882" cy="3286800"/>
          </a:xfrm>
          <a:prstGeom prst="flowChartDelay">
            <a:avLst/>
          </a:prstGeom>
          <a:solidFill>
            <a:srgbClr val="0070C0">
              <a:alpha val="15000"/>
            </a:srgbClr>
          </a:solidFill>
          <a:ln w="127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lIns="0" tIns="756000" rIns="0" bIns="0" rtlCol="0" anchor="t"/>
          <a:lstStyle/>
          <a:p>
            <a:pPr algn="ctr"/>
            <a:r>
              <a:rPr lang="ru-RU" sz="1400" dirty="0">
                <a:solidFill>
                  <a:srgbClr val="002060"/>
                </a:solidFill>
              </a:rPr>
              <a:t>Проведение</a:t>
            </a:r>
          </a:p>
          <a:p>
            <a:pPr algn="ctr"/>
            <a:r>
              <a:rPr lang="ru-RU" sz="1400" dirty="0">
                <a:solidFill>
                  <a:srgbClr val="002060"/>
                </a:solidFill>
              </a:rPr>
              <a:t>«Реализация </a:t>
            </a:r>
            <a:r>
              <a:rPr lang="ru-RU" sz="1400" b="1" dirty="0">
                <a:solidFill>
                  <a:srgbClr val="002060"/>
                </a:solidFill>
              </a:rPr>
              <a:t>00002</a:t>
            </a:r>
            <a:r>
              <a:rPr lang="ru-RU" sz="1400" dirty="0">
                <a:solidFill>
                  <a:srgbClr val="002060"/>
                </a:solidFill>
              </a:rPr>
              <a:t>»</a:t>
            </a:r>
          </a:p>
        </p:txBody>
      </p:sp>
      <p:grpSp>
        <p:nvGrpSpPr>
          <p:cNvPr id="6" name="Группа 117"/>
          <p:cNvGrpSpPr/>
          <p:nvPr/>
        </p:nvGrpSpPr>
        <p:grpSpPr>
          <a:xfrm>
            <a:off x="1643042" y="4401946"/>
            <a:ext cx="713657" cy="1000132"/>
            <a:chOff x="7858590" y="4643446"/>
            <a:chExt cx="713657" cy="1000132"/>
          </a:xfrm>
        </p:grpSpPr>
        <p:sp>
          <p:nvSpPr>
            <p:cNvPr id="24" name="TextBox 23"/>
            <p:cNvSpPr txBox="1"/>
            <p:nvPr/>
          </p:nvSpPr>
          <p:spPr>
            <a:xfrm>
              <a:off x="7858590" y="5335801"/>
              <a:ext cx="713657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ru-RU" sz="1400" dirty="0">
                  <a:solidFill>
                    <a:schemeClr val="accent3">
                      <a:lumMod val="75000"/>
                    </a:schemeClr>
                  </a:solidFill>
                </a:rPr>
                <a:t>Запрос</a:t>
              </a:r>
            </a:p>
          </p:txBody>
        </p:sp>
        <p:cxnSp>
          <p:nvCxnSpPr>
            <p:cNvPr id="25" name="Прямая со стрелкой 24"/>
            <p:cNvCxnSpPr/>
            <p:nvPr/>
          </p:nvCxnSpPr>
          <p:spPr>
            <a:xfrm rot="16200000">
              <a:off x="7966099" y="5134504"/>
              <a:ext cx="500066" cy="1588"/>
            </a:xfrm>
            <a:prstGeom prst="straightConnector1">
              <a:avLst/>
            </a:prstGeom>
            <a:ln>
              <a:tailEnd type="arrow"/>
            </a:ln>
          </p:spPr>
          <p:style>
            <a:lnRef idx="1">
              <a:schemeClr val="accent3"/>
            </a:lnRef>
            <a:fillRef idx="0">
              <a:schemeClr val="accent3"/>
            </a:fillRef>
            <a:effectRef idx="0">
              <a:schemeClr val="accent3"/>
            </a:effectRef>
            <a:fontRef idx="minor">
              <a:schemeClr val="tx1"/>
            </a:fontRef>
          </p:style>
        </p:cxnSp>
        <p:sp>
          <p:nvSpPr>
            <p:cNvPr id="26" name="Овал 25"/>
            <p:cNvSpPr/>
            <p:nvPr/>
          </p:nvSpPr>
          <p:spPr>
            <a:xfrm>
              <a:off x="8143900" y="4643446"/>
              <a:ext cx="144000" cy="144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grpSp>
        <p:nvGrpSpPr>
          <p:cNvPr id="8" name="Группа 117"/>
          <p:cNvGrpSpPr/>
          <p:nvPr/>
        </p:nvGrpSpPr>
        <p:grpSpPr>
          <a:xfrm>
            <a:off x="4399495" y="4401946"/>
            <a:ext cx="917239" cy="1000132"/>
            <a:chOff x="7756800" y="4643446"/>
            <a:chExt cx="917239" cy="1000132"/>
          </a:xfrm>
        </p:grpSpPr>
        <p:sp>
          <p:nvSpPr>
            <p:cNvPr id="32" name="TextBox 31"/>
            <p:cNvSpPr txBox="1"/>
            <p:nvPr/>
          </p:nvSpPr>
          <p:spPr>
            <a:xfrm>
              <a:off x="7756800" y="5335801"/>
              <a:ext cx="91723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ru-RU" sz="1400" dirty="0">
                  <a:solidFill>
                    <a:schemeClr val="accent3">
                      <a:lumMod val="75000"/>
                    </a:schemeClr>
                  </a:solidFill>
                </a:rPr>
                <a:t>Списание</a:t>
              </a:r>
            </a:p>
          </p:txBody>
        </p:sp>
        <p:cxnSp>
          <p:nvCxnSpPr>
            <p:cNvPr id="33" name="Прямая со стрелкой 32"/>
            <p:cNvCxnSpPr/>
            <p:nvPr/>
          </p:nvCxnSpPr>
          <p:spPr>
            <a:xfrm rot="16200000">
              <a:off x="7966099" y="5134504"/>
              <a:ext cx="500066" cy="1588"/>
            </a:xfrm>
            <a:prstGeom prst="straightConnector1">
              <a:avLst/>
            </a:prstGeom>
            <a:ln>
              <a:tailEnd type="arrow"/>
            </a:ln>
          </p:spPr>
          <p:style>
            <a:lnRef idx="1">
              <a:schemeClr val="accent3"/>
            </a:lnRef>
            <a:fillRef idx="0">
              <a:schemeClr val="accent3"/>
            </a:fillRef>
            <a:effectRef idx="0">
              <a:schemeClr val="accent3"/>
            </a:effectRef>
            <a:fontRef idx="minor">
              <a:schemeClr val="tx1"/>
            </a:fontRef>
          </p:style>
        </p:cxnSp>
        <p:sp>
          <p:nvSpPr>
            <p:cNvPr id="34" name="Овал 33"/>
            <p:cNvSpPr/>
            <p:nvPr/>
          </p:nvSpPr>
          <p:spPr>
            <a:xfrm>
              <a:off x="8143900" y="4643446"/>
              <a:ext cx="144000" cy="144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grpSp>
        <p:nvGrpSpPr>
          <p:cNvPr id="9" name="Группа 117"/>
          <p:cNvGrpSpPr/>
          <p:nvPr/>
        </p:nvGrpSpPr>
        <p:grpSpPr>
          <a:xfrm>
            <a:off x="3929058" y="4401946"/>
            <a:ext cx="713657" cy="1665099"/>
            <a:chOff x="7858590" y="4643446"/>
            <a:chExt cx="713657" cy="1665099"/>
          </a:xfrm>
        </p:grpSpPr>
        <p:sp>
          <p:nvSpPr>
            <p:cNvPr id="36" name="TextBox 35"/>
            <p:cNvSpPr txBox="1"/>
            <p:nvPr/>
          </p:nvSpPr>
          <p:spPr>
            <a:xfrm>
              <a:off x="7858590" y="6000768"/>
              <a:ext cx="713657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ru-RU" sz="1400" dirty="0">
                  <a:solidFill>
                    <a:schemeClr val="accent1">
                      <a:lumMod val="75000"/>
                    </a:schemeClr>
                  </a:solidFill>
                </a:rPr>
                <a:t>Запрос</a:t>
              </a:r>
            </a:p>
          </p:txBody>
        </p:sp>
        <p:cxnSp>
          <p:nvCxnSpPr>
            <p:cNvPr id="37" name="Прямая со стрелкой 36"/>
            <p:cNvCxnSpPr/>
            <p:nvPr/>
          </p:nvCxnSpPr>
          <p:spPr>
            <a:xfrm rot="5400000" flipH="1" flipV="1">
              <a:off x="7643706" y="5460076"/>
              <a:ext cx="1148031" cy="1588"/>
            </a:xfrm>
            <a:prstGeom prst="straightConnector1">
              <a:avLst/>
            </a:prstGeom>
            <a:ln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8" name="Овал 37"/>
            <p:cNvSpPr/>
            <p:nvPr/>
          </p:nvSpPr>
          <p:spPr>
            <a:xfrm>
              <a:off x="8143900" y="4643446"/>
              <a:ext cx="144000" cy="144000"/>
            </a:xfrm>
            <a:prstGeom prst="ellipse">
              <a:avLst/>
            </a:prstGeom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grpSp>
        <p:nvGrpSpPr>
          <p:cNvPr id="10" name="Группа 117"/>
          <p:cNvGrpSpPr/>
          <p:nvPr/>
        </p:nvGrpSpPr>
        <p:grpSpPr>
          <a:xfrm>
            <a:off x="6685511" y="4401946"/>
            <a:ext cx="917239" cy="1665099"/>
            <a:chOff x="7756800" y="4643446"/>
            <a:chExt cx="917239" cy="1665099"/>
          </a:xfrm>
        </p:grpSpPr>
        <p:sp>
          <p:nvSpPr>
            <p:cNvPr id="40" name="TextBox 39"/>
            <p:cNvSpPr txBox="1"/>
            <p:nvPr/>
          </p:nvSpPr>
          <p:spPr>
            <a:xfrm>
              <a:off x="7756800" y="6000768"/>
              <a:ext cx="91723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ru-RU" sz="1400" dirty="0">
                  <a:solidFill>
                    <a:schemeClr val="accent1">
                      <a:lumMod val="75000"/>
                    </a:schemeClr>
                  </a:solidFill>
                </a:rPr>
                <a:t>Списание</a:t>
              </a:r>
            </a:p>
          </p:txBody>
        </p:sp>
        <p:cxnSp>
          <p:nvCxnSpPr>
            <p:cNvPr id="41" name="Прямая со стрелкой 40"/>
            <p:cNvCxnSpPr/>
            <p:nvPr/>
          </p:nvCxnSpPr>
          <p:spPr>
            <a:xfrm rot="5400000" flipH="1" flipV="1">
              <a:off x="7653243" y="5471192"/>
              <a:ext cx="1149610" cy="1588"/>
            </a:xfrm>
            <a:prstGeom prst="straightConnector1">
              <a:avLst/>
            </a:prstGeom>
            <a:ln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2" name="Овал 41"/>
            <p:cNvSpPr/>
            <p:nvPr/>
          </p:nvSpPr>
          <p:spPr>
            <a:xfrm>
              <a:off x="8143900" y="4643446"/>
              <a:ext cx="144000" cy="144000"/>
            </a:xfrm>
            <a:prstGeom prst="ellipse">
              <a:avLst/>
            </a:prstGeom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</p:spTree>
    <p:extLst>
      <p:ext uri="{BB962C8B-B14F-4D97-AF65-F5344CB8AC3E}">
        <p14:creationId xmlns:p14="http://schemas.microsoft.com/office/powerpoint/2010/main" val="28244845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500"/>
                            </p:stCondLst>
                            <p:childTnLst>
                              <p:par>
                                <p:cTn id="2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1000"/>
                            </p:stCondLst>
                            <p:childTnLst>
                              <p:par>
                                <p:cTn id="3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500"/>
                            </p:stCondLst>
                            <p:childTnLst>
                              <p:par>
                                <p:cTn id="3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1000"/>
                            </p:stCondLst>
                            <p:childTnLst>
                              <p:par>
                                <p:cTn id="4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7" grpId="0"/>
      <p:bldP spid="18" grpId="0"/>
      <p:bldP spid="19" grpId="0"/>
      <p:bldP spid="22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88119" y="571977"/>
            <a:ext cx="8784000" cy="1667168"/>
          </a:xfrm>
        </p:spPr>
        <p:txBody>
          <a:bodyPr>
            <a:normAutofit fontScale="90000"/>
          </a:bodyPr>
          <a:lstStyle/>
          <a:p>
            <a:r>
              <a:rPr lang="ru-RU" dirty="0"/>
              <a:t>Решение проблемы – не давать читать данные (заблокировать данные) до окончания транзакции по изменению данных</a:t>
            </a:r>
          </a:p>
        </p:txBody>
      </p:sp>
      <p:grpSp>
        <p:nvGrpSpPr>
          <p:cNvPr id="3" name="Группа 19"/>
          <p:cNvGrpSpPr/>
          <p:nvPr/>
        </p:nvGrpSpPr>
        <p:grpSpPr>
          <a:xfrm>
            <a:off x="285720" y="4259070"/>
            <a:ext cx="8572560" cy="428628"/>
            <a:chOff x="285720" y="3929066"/>
            <a:chExt cx="8572560" cy="428628"/>
          </a:xfrm>
        </p:grpSpPr>
        <p:cxnSp>
          <p:nvCxnSpPr>
            <p:cNvPr id="4" name="Прямая со стрелкой 3"/>
            <p:cNvCxnSpPr/>
            <p:nvPr/>
          </p:nvCxnSpPr>
          <p:spPr>
            <a:xfrm>
              <a:off x="285720" y="4144174"/>
              <a:ext cx="8572560" cy="1588"/>
            </a:xfrm>
            <a:prstGeom prst="straightConnector1">
              <a:avLst/>
            </a:prstGeom>
            <a:ln w="19050"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" name="Прямая соединительная линия 4"/>
            <p:cNvCxnSpPr/>
            <p:nvPr/>
          </p:nvCxnSpPr>
          <p:spPr>
            <a:xfrm rot="5400000">
              <a:off x="1428728" y="4143380"/>
              <a:ext cx="428628" cy="0"/>
            </a:xfrm>
            <a:prstGeom prst="line">
              <a:avLst/>
            </a:prstGeom>
            <a:ln w="571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Прямая соединительная линия 6"/>
            <p:cNvCxnSpPr/>
            <p:nvPr/>
          </p:nvCxnSpPr>
          <p:spPr>
            <a:xfrm rot="5400000">
              <a:off x="7286644" y="4143380"/>
              <a:ext cx="428628" cy="0"/>
            </a:xfrm>
            <a:prstGeom prst="line">
              <a:avLst/>
            </a:prstGeom>
            <a:ln w="571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3" name="Блок-схема: задержка 12"/>
          <p:cNvSpPr/>
          <p:nvPr/>
        </p:nvSpPr>
        <p:spPr>
          <a:xfrm rot="16200000">
            <a:off x="2786051" y="2187367"/>
            <a:ext cx="1285882" cy="3286148"/>
          </a:xfrm>
          <a:prstGeom prst="flowChartDelay">
            <a:avLst/>
          </a:prstGeom>
          <a:solidFill>
            <a:srgbClr val="00B050">
              <a:alpha val="15000"/>
            </a:srgbClr>
          </a:solidFill>
          <a:ln w="127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lIns="0" tIns="0" rIns="0" bIns="756000" rtlCol="0" anchor="t"/>
          <a:lstStyle/>
          <a:p>
            <a:pPr algn="ctr"/>
            <a:r>
              <a:rPr lang="ru-RU" sz="1400" dirty="0">
                <a:solidFill>
                  <a:srgbClr val="002060"/>
                </a:solidFill>
              </a:rPr>
              <a:t>Проведение</a:t>
            </a:r>
          </a:p>
          <a:p>
            <a:pPr algn="ctr"/>
            <a:r>
              <a:rPr lang="ru-RU" sz="1400" dirty="0">
                <a:solidFill>
                  <a:srgbClr val="002060"/>
                </a:solidFill>
              </a:rPr>
              <a:t>«Реализация </a:t>
            </a:r>
            <a:r>
              <a:rPr lang="ru-RU" sz="1400" b="1" dirty="0">
                <a:solidFill>
                  <a:srgbClr val="002060"/>
                </a:solidFill>
              </a:rPr>
              <a:t>00001</a:t>
            </a:r>
            <a:r>
              <a:rPr lang="ru-RU" sz="1400" dirty="0">
                <a:solidFill>
                  <a:srgbClr val="002060"/>
                </a:solidFill>
              </a:rPr>
              <a:t>»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5720" y="2348880"/>
            <a:ext cx="122661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1600" spc="300" dirty="0">
                <a:solidFill>
                  <a:schemeClr val="bg1">
                    <a:lumMod val="50000"/>
                  </a:schemeClr>
                </a:solidFill>
              </a:rPr>
              <a:t>16:05:00</a:t>
            </a:r>
            <a:endParaRPr lang="ru-RU" sz="16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3958691" y="2348880"/>
            <a:ext cx="122661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1600" spc="300" dirty="0">
                <a:solidFill>
                  <a:schemeClr val="bg1">
                    <a:lumMod val="50000"/>
                  </a:schemeClr>
                </a:solidFill>
              </a:rPr>
              <a:t>16:05:0</a:t>
            </a:r>
            <a:r>
              <a:rPr lang="en-US" sz="1600" spc="300" dirty="0">
                <a:solidFill>
                  <a:schemeClr val="bg1">
                    <a:lumMod val="50000"/>
                  </a:schemeClr>
                </a:solidFill>
              </a:rPr>
              <a:t>1</a:t>
            </a:r>
            <a:endParaRPr lang="ru-RU" sz="16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7631662" y="2348880"/>
            <a:ext cx="122661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1600" spc="300" dirty="0">
                <a:solidFill>
                  <a:schemeClr val="bg1">
                    <a:lumMod val="50000"/>
                  </a:schemeClr>
                </a:solidFill>
              </a:rPr>
              <a:t>16:05:02</a:t>
            </a:r>
            <a:endParaRPr lang="ru-RU" sz="16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22" name="Блок-схема: задержка 21"/>
          <p:cNvSpPr/>
          <p:nvPr/>
        </p:nvSpPr>
        <p:spPr>
          <a:xfrm rot="16200000">
            <a:off x="6057873" y="2177226"/>
            <a:ext cx="1285882" cy="3286800"/>
          </a:xfrm>
          <a:prstGeom prst="flowChartDelay">
            <a:avLst/>
          </a:prstGeom>
          <a:solidFill>
            <a:srgbClr val="0070C0">
              <a:alpha val="15000"/>
            </a:srgbClr>
          </a:solidFill>
          <a:ln w="127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lIns="0" tIns="756000" rIns="0" bIns="0" rtlCol="0" anchor="t"/>
          <a:lstStyle/>
          <a:p>
            <a:pPr algn="ctr"/>
            <a:r>
              <a:rPr lang="ru-RU" sz="1400" dirty="0">
                <a:solidFill>
                  <a:srgbClr val="002060"/>
                </a:solidFill>
              </a:rPr>
              <a:t>Проведение</a:t>
            </a:r>
          </a:p>
          <a:p>
            <a:pPr algn="ctr"/>
            <a:r>
              <a:rPr lang="ru-RU" sz="1400" dirty="0">
                <a:solidFill>
                  <a:srgbClr val="002060"/>
                </a:solidFill>
              </a:rPr>
              <a:t>«Реализация </a:t>
            </a:r>
            <a:r>
              <a:rPr lang="ru-RU" sz="1400" b="1" dirty="0">
                <a:solidFill>
                  <a:srgbClr val="002060"/>
                </a:solidFill>
              </a:rPr>
              <a:t>00002</a:t>
            </a:r>
            <a:r>
              <a:rPr lang="ru-RU" sz="1400" dirty="0">
                <a:solidFill>
                  <a:srgbClr val="002060"/>
                </a:solidFill>
              </a:rPr>
              <a:t>»</a:t>
            </a:r>
          </a:p>
        </p:txBody>
      </p:sp>
      <p:grpSp>
        <p:nvGrpSpPr>
          <p:cNvPr id="6" name="Группа 117"/>
          <p:cNvGrpSpPr/>
          <p:nvPr/>
        </p:nvGrpSpPr>
        <p:grpSpPr>
          <a:xfrm>
            <a:off x="1643042" y="4401946"/>
            <a:ext cx="713657" cy="1000132"/>
            <a:chOff x="7858590" y="4643446"/>
            <a:chExt cx="713657" cy="1000132"/>
          </a:xfrm>
        </p:grpSpPr>
        <p:sp>
          <p:nvSpPr>
            <p:cNvPr id="24" name="TextBox 23"/>
            <p:cNvSpPr txBox="1"/>
            <p:nvPr/>
          </p:nvSpPr>
          <p:spPr>
            <a:xfrm>
              <a:off x="7858590" y="5335801"/>
              <a:ext cx="713657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ru-RU" sz="1400" dirty="0">
                  <a:solidFill>
                    <a:schemeClr val="accent3">
                      <a:lumMod val="75000"/>
                    </a:schemeClr>
                  </a:solidFill>
                </a:rPr>
                <a:t>Запрос</a:t>
              </a:r>
            </a:p>
          </p:txBody>
        </p:sp>
        <p:cxnSp>
          <p:nvCxnSpPr>
            <p:cNvPr id="25" name="Прямая со стрелкой 24"/>
            <p:cNvCxnSpPr/>
            <p:nvPr/>
          </p:nvCxnSpPr>
          <p:spPr>
            <a:xfrm rot="16200000">
              <a:off x="7966099" y="5134504"/>
              <a:ext cx="500066" cy="1588"/>
            </a:xfrm>
            <a:prstGeom prst="straightConnector1">
              <a:avLst/>
            </a:prstGeom>
            <a:ln>
              <a:tailEnd type="arrow"/>
            </a:ln>
          </p:spPr>
          <p:style>
            <a:lnRef idx="1">
              <a:schemeClr val="accent3"/>
            </a:lnRef>
            <a:fillRef idx="0">
              <a:schemeClr val="accent3"/>
            </a:fillRef>
            <a:effectRef idx="0">
              <a:schemeClr val="accent3"/>
            </a:effectRef>
            <a:fontRef idx="minor">
              <a:schemeClr val="tx1"/>
            </a:fontRef>
          </p:style>
        </p:cxnSp>
        <p:sp>
          <p:nvSpPr>
            <p:cNvPr id="26" name="Овал 25"/>
            <p:cNvSpPr/>
            <p:nvPr/>
          </p:nvSpPr>
          <p:spPr>
            <a:xfrm>
              <a:off x="8143900" y="4643446"/>
              <a:ext cx="144000" cy="144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grpSp>
        <p:nvGrpSpPr>
          <p:cNvPr id="8" name="Группа 117"/>
          <p:cNvGrpSpPr/>
          <p:nvPr/>
        </p:nvGrpSpPr>
        <p:grpSpPr>
          <a:xfrm>
            <a:off x="4399495" y="4401946"/>
            <a:ext cx="917239" cy="1000132"/>
            <a:chOff x="7756800" y="4643446"/>
            <a:chExt cx="917239" cy="1000132"/>
          </a:xfrm>
        </p:grpSpPr>
        <p:sp>
          <p:nvSpPr>
            <p:cNvPr id="32" name="TextBox 31"/>
            <p:cNvSpPr txBox="1"/>
            <p:nvPr/>
          </p:nvSpPr>
          <p:spPr>
            <a:xfrm>
              <a:off x="7756800" y="5335801"/>
              <a:ext cx="91723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ru-RU" sz="1400" dirty="0">
                  <a:solidFill>
                    <a:schemeClr val="accent3">
                      <a:lumMod val="75000"/>
                    </a:schemeClr>
                  </a:solidFill>
                </a:rPr>
                <a:t>Списание</a:t>
              </a:r>
            </a:p>
          </p:txBody>
        </p:sp>
        <p:cxnSp>
          <p:nvCxnSpPr>
            <p:cNvPr id="33" name="Прямая со стрелкой 32"/>
            <p:cNvCxnSpPr/>
            <p:nvPr/>
          </p:nvCxnSpPr>
          <p:spPr>
            <a:xfrm rot="16200000">
              <a:off x="7966099" y="5134504"/>
              <a:ext cx="500066" cy="1588"/>
            </a:xfrm>
            <a:prstGeom prst="straightConnector1">
              <a:avLst/>
            </a:prstGeom>
            <a:ln>
              <a:tailEnd type="arrow"/>
            </a:ln>
          </p:spPr>
          <p:style>
            <a:lnRef idx="1">
              <a:schemeClr val="accent3"/>
            </a:lnRef>
            <a:fillRef idx="0">
              <a:schemeClr val="accent3"/>
            </a:fillRef>
            <a:effectRef idx="0">
              <a:schemeClr val="accent3"/>
            </a:effectRef>
            <a:fontRef idx="minor">
              <a:schemeClr val="tx1"/>
            </a:fontRef>
          </p:style>
        </p:cxnSp>
        <p:sp>
          <p:nvSpPr>
            <p:cNvPr id="34" name="Овал 33"/>
            <p:cNvSpPr/>
            <p:nvPr/>
          </p:nvSpPr>
          <p:spPr>
            <a:xfrm>
              <a:off x="8143900" y="4643446"/>
              <a:ext cx="144000" cy="144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grpSp>
        <p:nvGrpSpPr>
          <p:cNvPr id="9" name="Группа 117"/>
          <p:cNvGrpSpPr/>
          <p:nvPr/>
        </p:nvGrpSpPr>
        <p:grpSpPr>
          <a:xfrm>
            <a:off x="5086574" y="4416730"/>
            <a:ext cx="713657" cy="1665099"/>
            <a:chOff x="7858590" y="4643446"/>
            <a:chExt cx="713657" cy="1665099"/>
          </a:xfrm>
        </p:grpSpPr>
        <p:sp>
          <p:nvSpPr>
            <p:cNvPr id="36" name="TextBox 35"/>
            <p:cNvSpPr txBox="1"/>
            <p:nvPr/>
          </p:nvSpPr>
          <p:spPr>
            <a:xfrm>
              <a:off x="7858590" y="6000768"/>
              <a:ext cx="713657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ru-RU" sz="1400" dirty="0">
                  <a:solidFill>
                    <a:schemeClr val="accent1">
                      <a:lumMod val="75000"/>
                    </a:schemeClr>
                  </a:solidFill>
                </a:rPr>
                <a:t>Запрос</a:t>
              </a:r>
            </a:p>
          </p:txBody>
        </p:sp>
        <p:cxnSp>
          <p:nvCxnSpPr>
            <p:cNvPr id="37" name="Прямая со стрелкой 36"/>
            <p:cNvCxnSpPr/>
            <p:nvPr/>
          </p:nvCxnSpPr>
          <p:spPr>
            <a:xfrm rot="5400000" flipH="1" flipV="1">
              <a:off x="7643706" y="5460076"/>
              <a:ext cx="1148031" cy="1588"/>
            </a:xfrm>
            <a:prstGeom prst="straightConnector1">
              <a:avLst/>
            </a:prstGeom>
            <a:ln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8" name="Овал 37"/>
            <p:cNvSpPr/>
            <p:nvPr/>
          </p:nvSpPr>
          <p:spPr>
            <a:xfrm>
              <a:off x="8143900" y="4643446"/>
              <a:ext cx="144000" cy="144000"/>
            </a:xfrm>
            <a:prstGeom prst="ellipse">
              <a:avLst/>
            </a:prstGeom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grpSp>
        <p:nvGrpSpPr>
          <p:cNvPr id="10" name="Группа 117"/>
          <p:cNvGrpSpPr/>
          <p:nvPr/>
        </p:nvGrpSpPr>
        <p:grpSpPr>
          <a:xfrm>
            <a:off x="6685511" y="4401946"/>
            <a:ext cx="917239" cy="1665099"/>
            <a:chOff x="7756800" y="4643446"/>
            <a:chExt cx="917239" cy="1665099"/>
          </a:xfrm>
        </p:grpSpPr>
        <p:sp>
          <p:nvSpPr>
            <p:cNvPr id="40" name="TextBox 39"/>
            <p:cNvSpPr txBox="1"/>
            <p:nvPr/>
          </p:nvSpPr>
          <p:spPr>
            <a:xfrm>
              <a:off x="7756800" y="6000768"/>
              <a:ext cx="91723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ru-RU" sz="1400" dirty="0">
                  <a:solidFill>
                    <a:schemeClr val="accent1">
                      <a:lumMod val="75000"/>
                    </a:schemeClr>
                  </a:solidFill>
                </a:rPr>
                <a:t>Списание</a:t>
              </a:r>
            </a:p>
          </p:txBody>
        </p:sp>
        <p:cxnSp>
          <p:nvCxnSpPr>
            <p:cNvPr id="41" name="Прямая со стрелкой 40"/>
            <p:cNvCxnSpPr/>
            <p:nvPr/>
          </p:nvCxnSpPr>
          <p:spPr>
            <a:xfrm rot="5400000" flipH="1" flipV="1">
              <a:off x="7653243" y="5471192"/>
              <a:ext cx="1149610" cy="1588"/>
            </a:xfrm>
            <a:prstGeom prst="straightConnector1">
              <a:avLst/>
            </a:prstGeom>
            <a:ln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2" name="Овал 41"/>
            <p:cNvSpPr/>
            <p:nvPr/>
          </p:nvSpPr>
          <p:spPr>
            <a:xfrm>
              <a:off x="8143900" y="4643446"/>
              <a:ext cx="144000" cy="144000"/>
            </a:xfrm>
            <a:prstGeom prst="ellipse">
              <a:avLst/>
            </a:prstGeom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</p:spTree>
    <p:extLst>
      <p:ext uri="{BB962C8B-B14F-4D97-AF65-F5344CB8AC3E}">
        <p14:creationId xmlns:p14="http://schemas.microsoft.com/office/powerpoint/2010/main" val="37869319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500"/>
                            </p:stCondLst>
                            <p:childTnLst>
                              <p:par>
                                <p:cTn id="2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1000"/>
                            </p:stCondLst>
                            <p:childTnLst>
                              <p:par>
                                <p:cTn id="3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500"/>
                            </p:stCondLst>
                            <p:childTnLst>
                              <p:par>
                                <p:cTn id="3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1000"/>
                            </p:stCondLst>
                            <p:childTnLst>
                              <p:par>
                                <p:cTn id="4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7" grpId="0"/>
      <p:bldP spid="18" grpId="0"/>
      <p:bldP spid="19" grpId="0"/>
      <p:bldP spid="22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Управляемые блокировки</a:t>
            </a:r>
          </a:p>
        </p:txBody>
      </p:sp>
      <p:sp>
        <p:nvSpPr>
          <p:cNvPr id="4" name="Текст 3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867787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Скругленный прямоугольник 10"/>
          <p:cNvSpPr/>
          <p:nvPr/>
        </p:nvSpPr>
        <p:spPr>
          <a:xfrm>
            <a:off x="188119" y="2881780"/>
            <a:ext cx="8784000" cy="2217758"/>
          </a:xfrm>
          <a:prstGeom prst="roundRect">
            <a:avLst/>
          </a:prstGeom>
          <a:solidFill>
            <a:schemeClr val="accent2">
              <a:alpha val="5000"/>
            </a:schemeClr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/>
              <a:t>Пользователь 1 проводит реализацию 1</a:t>
            </a:r>
          </a:p>
        </p:txBody>
      </p:sp>
      <p:graphicFrame>
        <p:nvGraphicFramePr>
          <p:cNvPr id="3" name="Таблица 2"/>
          <p:cNvGraphicFramePr>
            <a:graphicFrameLocks noGrp="1"/>
          </p:cNvGraphicFramePr>
          <p:nvPr/>
        </p:nvGraphicFramePr>
        <p:xfrm>
          <a:off x="1071273" y="1583138"/>
          <a:ext cx="2831184" cy="1112520"/>
        </p:xfrm>
        <a:graphic>
          <a:graphicData uri="http://schemas.openxmlformats.org/drawingml/2006/table">
            <a:tbl>
              <a:tblPr firstRow="1" bandRow="1">
                <a:tableStyleId>{BC89EF96-8CEA-46FF-86C4-4CE0E7609802}</a:tableStyleId>
              </a:tblPr>
              <a:tblGrid>
                <a:gridCol w="1415592">
                  <a:extLst>
                    <a:ext uri="{9D8B030D-6E8A-4147-A177-3AD203B41FA5}">
                      <a16:colId xmlns:a16="http://schemas.microsoft.com/office/drawing/2014/main" val="468285455"/>
                    </a:ext>
                  </a:extLst>
                </a:gridCol>
                <a:gridCol w="1415592">
                  <a:extLst>
                    <a:ext uri="{9D8B030D-6E8A-4147-A177-3AD203B41FA5}">
                      <a16:colId xmlns:a16="http://schemas.microsoft.com/office/drawing/2014/main" val="253042638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Товар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Количество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6893805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Яблоки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9867608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Груши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15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06191117"/>
                  </a:ext>
                </a:extLst>
              </a:tr>
            </a:tbl>
          </a:graphicData>
        </a:graphic>
      </p:graphicFrame>
      <p:sp>
        <p:nvSpPr>
          <p:cNvPr id="5" name="Скругленный прямоугольник 4"/>
          <p:cNvSpPr/>
          <p:nvPr/>
        </p:nvSpPr>
        <p:spPr>
          <a:xfrm>
            <a:off x="188119" y="1193839"/>
            <a:ext cx="4015818" cy="1603672"/>
          </a:xfrm>
          <a:prstGeom prst="roundRect">
            <a:avLst/>
          </a:prstGeom>
          <a:solidFill>
            <a:schemeClr val="accent1">
              <a:alpha val="13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t"/>
          <a:lstStyle/>
          <a:p>
            <a:pPr algn="ctr"/>
            <a:r>
              <a:rPr lang="ru-RU" sz="1400" b="1" dirty="0" smtClean="0">
                <a:solidFill>
                  <a:schemeClr val="tx1"/>
                </a:solidFill>
              </a:rPr>
              <a:t>Сеанс </a:t>
            </a:r>
            <a:r>
              <a:rPr lang="ru-RU" sz="1400" b="1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273" y="1193839"/>
            <a:ext cx="28311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dirty="0"/>
              <a:t>Реализация 1</a:t>
            </a:r>
          </a:p>
        </p:txBody>
      </p:sp>
      <p:graphicFrame>
        <p:nvGraphicFramePr>
          <p:cNvPr id="9" name="Таблица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26361191"/>
              </p:ext>
            </p:extLst>
          </p:nvPr>
        </p:nvGraphicFramePr>
        <p:xfrm>
          <a:off x="428689" y="3161182"/>
          <a:ext cx="8302860" cy="370840"/>
        </p:xfrm>
        <a:graphic>
          <a:graphicData uri="http://schemas.openxmlformats.org/drawingml/2006/table">
            <a:tbl>
              <a:tblPr firstRow="1" bandRow="1">
                <a:tableStyleId>{5DA37D80-6434-44D0-A028-1B22A696006F}</a:tableStyleId>
              </a:tblPr>
              <a:tblGrid>
                <a:gridCol w="2075715">
                  <a:extLst>
                    <a:ext uri="{9D8B030D-6E8A-4147-A177-3AD203B41FA5}">
                      <a16:colId xmlns:a16="http://schemas.microsoft.com/office/drawing/2014/main" val="2324821976"/>
                    </a:ext>
                  </a:extLst>
                </a:gridCol>
                <a:gridCol w="2075715">
                  <a:extLst>
                    <a:ext uri="{9D8B030D-6E8A-4147-A177-3AD203B41FA5}">
                      <a16:colId xmlns:a16="http://schemas.microsoft.com/office/drawing/2014/main" val="1564422885"/>
                    </a:ext>
                  </a:extLst>
                </a:gridCol>
                <a:gridCol w="2075715">
                  <a:extLst>
                    <a:ext uri="{9D8B030D-6E8A-4147-A177-3AD203B41FA5}">
                      <a16:colId xmlns:a16="http://schemas.microsoft.com/office/drawing/2014/main" val="1566694057"/>
                    </a:ext>
                  </a:extLst>
                </a:gridCol>
                <a:gridCol w="2075715">
                  <a:extLst>
                    <a:ext uri="{9D8B030D-6E8A-4147-A177-3AD203B41FA5}">
                      <a16:colId xmlns:a16="http://schemas.microsoft.com/office/drawing/2014/main" val="278364325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ru-RU" dirty="0" smtClean="0"/>
                        <a:t>Сеансы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Таблица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Поле таблицы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Значение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36096610"/>
                  </a:ext>
                </a:extLst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428689" y="2815931"/>
            <a:ext cx="83028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b="1" dirty="0">
                <a:solidFill>
                  <a:schemeClr val="accent2"/>
                </a:solidFill>
              </a:rPr>
              <a:t>Сервер 1с Таблица «заблокированных» данных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8689" y="5310554"/>
            <a:ext cx="25841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solidFill>
                  <a:schemeClr val="accent5">
                    <a:lumMod val="50000"/>
                  </a:schemeClr>
                </a:solidFill>
              </a:rPr>
              <a:t>База данных</a:t>
            </a:r>
          </a:p>
        </p:txBody>
      </p:sp>
      <p:sp>
        <p:nvSpPr>
          <p:cNvPr id="15" name="Блок-схема: магнитный диск 14"/>
          <p:cNvSpPr/>
          <p:nvPr/>
        </p:nvSpPr>
        <p:spPr>
          <a:xfrm>
            <a:off x="2196027" y="5327809"/>
            <a:ext cx="4464000" cy="1143329"/>
          </a:xfrm>
          <a:prstGeom prst="flowChartMagneticDisk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Регистр «Остатки товаров»</a:t>
            </a:r>
          </a:p>
        </p:txBody>
      </p:sp>
    </p:spTree>
    <p:extLst>
      <p:ext uri="{BB962C8B-B14F-4D97-AF65-F5344CB8AC3E}">
        <p14:creationId xmlns:p14="http://schemas.microsoft.com/office/powerpoint/2010/main" val="172881615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Скругленный прямоугольник 10"/>
          <p:cNvSpPr/>
          <p:nvPr/>
        </p:nvSpPr>
        <p:spPr>
          <a:xfrm>
            <a:off x="188119" y="2881780"/>
            <a:ext cx="8784000" cy="2217758"/>
          </a:xfrm>
          <a:prstGeom prst="roundRect">
            <a:avLst/>
          </a:prstGeom>
          <a:solidFill>
            <a:schemeClr val="accent2">
              <a:alpha val="5000"/>
            </a:schemeClr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ru-RU" sz="2400" dirty="0"/>
              <a:t>Пользователь 1 записывает данные в таблицу управляемых блокировок</a:t>
            </a:r>
          </a:p>
        </p:txBody>
      </p:sp>
      <p:graphicFrame>
        <p:nvGraphicFramePr>
          <p:cNvPr id="3" name="Таблица 2"/>
          <p:cNvGraphicFramePr>
            <a:graphicFrameLocks noGrp="1"/>
          </p:cNvGraphicFramePr>
          <p:nvPr/>
        </p:nvGraphicFramePr>
        <p:xfrm>
          <a:off x="1071273" y="1583138"/>
          <a:ext cx="2831184" cy="1112520"/>
        </p:xfrm>
        <a:graphic>
          <a:graphicData uri="http://schemas.openxmlformats.org/drawingml/2006/table">
            <a:tbl>
              <a:tblPr firstRow="1" bandRow="1">
                <a:tableStyleId>{BC89EF96-8CEA-46FF-86C4-4CE0E7609802}</a:tableStyleId>
              </a:tblPr>
              <a:tblGrid>
                <a:gridCol w="1415592">
                  <a:extLst>
                    <a:ext uri="{9D8B030D-6E8A-4147-A177-3AD203B41FA5}">
                      <a16:colId xmlns:a16="http://schemas.microsoft.com/office/drawing/2014/main" val="468285455"/>
                    </a:ext>
                  </a:extLst>
                </a:gridCol>
                <a:gridCol w="1415592">
                  <a:extLst>
                    <a:ext uri="{9D8B030D-6E8A-4147-A177-3AD203B41FA5}">
                      <a16:colId xmlns:a16="http://schemas.microsoft.com/office/drawing/2014/main" val="253042638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Товар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Количество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6893805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Яблоки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9867608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Груши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15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06191117"/>
                  </a:ext>
                </a:extLst>
              </a:tr>
            </a:tbl>
          </a:graphicData>
        </a:graphic>
      </p:graphicFrame>
      <p:sp>
        <p:nvSpPr>
          <p:cNvPr id="5" name="Скругленный прямоугольник 4"/>
          <p:cNvSpPr/>
          <p:nvPr/>
        </p:nvSpPr>
        <p:spPr>
          <a:xfrm>
            <a:off x="188119" y="1193839"/>
            <a:ext cx="4015818" cy="1603672"/>
          </a:xfrm>
          <a:prstGeom prst="roundRect">
            <a:avLst/>
          </a:prstGeom>
          <a:solidFill>
            <a:schemeClr val="accent1">
              <a:alpha val="13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t"/>
          <a:lstStyle/>
          <a:p>
            <a:pPr algn="ctr"/>
            <a:r>
              <a:rPr lang="ru-RU" sz="1400" b="1" dirty="0" smtClean="0">
                <a:solidFill>
                  <a:schemeClr val="tx1"/>
                </a:solidFill>
              </a:rPr>
              <a:t>Сеанс </a:t>
            </a:r>
            <a:r>
              <a:rPr lang="ru-RU" sz="1400" b="1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273" y="1193839"/>
            <a:ext cx="28311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dirty="0"/>
              <a:t>Реализация 1</a:t>
            </a:r>
          </a:p>
        </p:txBody>
      </p:sp>
      <p:graphicFrame>
        <p:nvGraphicFramePr>
          <p:cNvPr id="9" name="Таблица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55035368"/>
              </p:ext>
            </p:extLst>
          </p:nvPr>
        </p:nvGraphicFramePr>
        <p:xfrm>
          <a:off x="428689" y="3161182"/>
          <a:ext cx="8302860" cy="1112520"/>
        </p:xfrm>
        <a:graphic>
          <a:graphicData uri="http://schemas.openxmlformats.org/drawingml/2006/table">
            <a:tbl>
              <a:tblPr firstRow="1" bandRow="1">
                <a:tableStyleId>{5DA37D80-6434-44D0-A028-1B22A696006F}</a:tableStyleId>
              </a:tblPr>
              <a:tblGrid>
                <a:gridCol w="2075715">
                  <a:extLst>
                    <a:ext uri="{9D8B030D-6E8A-4147-A177-3AD203B41FA5}">
                      <a16:colId xmlns:a16="http://schemas.microsoft.com/office/drawing/2014/main" val="2324821976"/>
                    </a:ext>
                  </a:extLst>
                </a:gridCol>
                <a:gridCol w="2075715">
                  <a:extLst>
                    <a:ext uri="{9D8B030D-6E8A-4147-A177-3AD203B41FA5}">
                      <a16:colId xmlns:a16="http://schemas.microsoft.com/office/drawing/2014/main" val="1564422885"/>
                    </a:ext>
                  </a:extLst>
                </a:gridCol>
                <a:gridCol w="2075715">
                  <a:extLst>
                    <a:ext uri="{9D8B030D-6E8A-4147-A177-3AD203B41FA5}">
                      <a16:colId xmlns:a16="http://schemas.microsoft.com/office/drawing/2014/main" val="1566694057"/>
                    </a:ext>
                  </a:extLst>
                </a:gridCol>
                <a:gridCol w="2075715">
                  <a:extLst>
                    <a:ext uri="{9D8B030D-6E8A-4147-A177-3AD203B41FA5}">
                      <a16:colId xmlns:a16="http://schemas.microsoft.com/office/drawing/2014/main" val="278364325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ru-RU" dirty="0" smtClean="0"/>
                        <a:t>Сеансы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Таблица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Поле таблицы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Значение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360966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 smtClean="0"/>
                        <a:t>Сеанс </a:t>
                      </a:r>
                      <a:r>
                        <a:rPr lang="ru-RU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«Остатки товаров»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«Номенклатура»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Яблоки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8571571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 smtClean="0"/>
                        <a:t>Сеанс </a:t>
                      </a:r>
                      <a:r>
                        <a:rPr lang="ru-RU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«Остатки товаров»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«Номенклатура»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Груши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65985065"/>
                  </a:ext>
                </a:extLst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428689" y="5310554"/>
            <a:ext cx="25841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solidFill>
                  <a:schemeClr val="accent5">
                    <a:lumMod val="50000"/>
                  </a:schemeClr>
                </a:solidFill>
              </a:rPr>
              <a:t>База данных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8689" y="2804208"/>
            <a:ext cx="83028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b="1" dirty="0">
                <a:solidFill>
                  <a:schemeClr val="accent2"/>
                </a:solidFill>
              </a:rPr>
              <a:t>Сервер 1с Таблица «заблокированных» данных</a:t>
            </a:r>
          </a:p>
        </p:txBody>
      </p:sp>
      <p:sp>
        <p:nvSpPr>
          <p:cNvPr id="15" name="Блок-схема: магнитный диск 14"/>
          <p:cNvSpPr/>
          <p:nvPr/>
        </p:nvSpPr>
        <p:spPr>
          <a:xfrm>
            <a:off x="2196027" y="5327809"/>
            <a:ext cx="4464000" cy="1143329"/>
          </a:xfrm>
          <a:prstGeom prst="flowChartMagneticDisk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Регистр «Остатки товаров»</a:t>
            </a:r>
          </a:p>
        </p:txBody>
      </p:sp>
      <p:sp>
        <p:nvSpPr>
          <p:cNvPr id="13" name="Стрелка углом 12"/>
          <p:cNvSpPr/>
          <p:nvPr/>
        </p:nvSpPr>
        <p:spPr>
          <a:xfrm rot="5400000">
            <a:off x="3914795" y="2267738"/>
            <a:ext cx="578283" cy="499683"/>
          </a:xfrm>
          <a:prstGeom prst="bentArrow">
            <a:avLst>
              <a:gd name="adj1" fmla="val 23094"/>
              <a:gd name="adj2" fmla="val 25256"/>
              <a:gd name="adj3" fmla="val 25000"/>
              <a:gd name="adj4" fmla="val 43750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3147262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Скругленный прямоугольник 10"/>
          <p:cNvSpPr/>
          <p:nvPr/>
        </p:nvSpPr>
        <p:spPr>
          <a:xfrm>
            <a:off x="188119" y="2881780"/>
            <a:ext cx="8784000" cy="2188396"/>
          </a:xfrm>
          <a:prstGeom prst="roundRect">
            <a:avLst/>
          </a:prstGeom>
          <a:solidFill>
            <a:schemeClr val="accent2">
              <a:alpha val="5000"/>
            </a:schemeClr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ru-RU" sz="2400" dirty="0"/>
              <a:t>В таблице блокировок нет повторов по полям – таблица – поле таблицы - значение</a:t>
            </a:r>
          </a:p>
        </p:txBody>
      </p:sp>
      <p:graphicFrame>
        <p:nvGraphicFramePr>
          <p:cNvPr id="3" name="Таблица 2"/>
          <p:cNvGraphicFramePr>
            <a:graphicFrameLocks noGrp="1"/>
          </p:cNvGraphicFramePr>
          <p:nvPr/>
        </p:nvGraphicFramePr>
        <p:xfrm>
          <a:off x="1071273" y="1583138"/>
          <a:ext cx="2831184" cy="1112520"/>
        </p:xfrm>
        <a:graphic>
          <a:graphicData uri="http://schemas.openxmlformats.org/drawingml/2006/table">
            <a:tbl>
              <a:tblPr firstRow="1" bandRow="1">
                <a:tableStyleId>{BC89EF96-8CEA-46FF-86C4-4CE0E7609802}</a:tableStyleId>
              </a:tblPr>
              <a:tblGrid>
                <a:gridCol w="1415592">
                  <a:extLst>
                    <a:ext uri="{9D8B030D-6E8A-4147-A177-3AD203B41FA5}">
                      <a16:colId xmlns:a16="http://schemas.microsoft.com/office/drawing/2014/main" val="468285455"/>
                    </a:ext>
                  </a:extLst>
                </a:gridCol>
                <a:gridCol w="1415592">
                  <a:extLst>
                    <a:ext uri="{9D8B030D-6E8A-4147-A177-3AD203B41FA5}">
                      <a16:colId xmlns:a16="http://schemas.microsoft.com/office/drawing/2014/main" val="253042638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Товар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Количество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6893805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Яблоки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9867608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Груши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15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06191117"/>
                  </a:ext>
                </a:extLst>
              </a:tr>
            </a:tbl>
          </a:graphicData>
        </a:graphic>
      </p:graphicFrame>
      <p:sp>
        <p:nvSpPr>
          <p:cNvPr id="5" name="Скругленный прямоугольник 4"/>
          <p:cNvSpPr/>
          <p:nvPr/>
        </p:nvSpPr>
        <p:spPr>
          <a:xfrm>
            <a:off x="188119" y="1193839"/>
            <a:ext cx="4015818" cy="1603672"/>
          </a:xfrm>
          <a:prstGeom prst="roundRect">
            <a:avLst/>
          </a:prstGeom>
          <a:solidFill>
            <a:schemeClr val="accent1">
              <a:alpha val="13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t"/>
          <a:lstStyle/>
          <a:p>
            <a:pPr algn="ctr"/>
            <a:r>
              <a:rPr lang="ru-RU" sz="1400" b="1" dirty="0" smtClean="0">
                <a:solidFill>
                  <a:schemeClr val="tx1"/>
                </a:solidFill>
              </a:rPr>
              <a:t>Сеанс </a:t>
            </a:r>
            <a:r>
              <a:rPr lang="ru-RU" sz="1400" b="1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273" y="1193839"/>
            <a:ext cx="28311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dirty="0"/>
              <a:t>Реализация 1</a:t>
            </a:r>
          </a:p>
        </p:txBody>
      </p:sp>
      <p:graphicFrame>
        <p:nvGraphicFramePr>
          <p:cNvPr id="9" name="Таблица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91814144"/>
              </p:ext>
            </p:extLst>
          </p:nvPr>
        </p:nvGraphicFramePr>
        <p:xfrm>
          <a:off x="428689" y="3161182"/>
          <a:ext cx="8302860" cy="1112520"/>
        </p:xfrm>
        <a:graphic>
          <a:graphicData uri="http://schemas.openxmlformats.org/drawingml/2006/table">
            <a:tbl>
              <a:tblPr firstRow="1" bandRow="1">
                <a:tableStyleId>{5DA37D80-6434-44D0-A028-1B22A696006F}</a:tableStyleId>
              </a:tblPr>
              <a:tblGrid>
                <a:gridCol w="2075715">
                  <a:extLst>
                    <a:ext uri="{9D8B030D-6E8A-4147-A177-3AD203B41FA5}">
                      <a16:colId xmlns:a16="http://schemas.microsoft.com/office/drawing/2014/main" val="2324821976"/>
                    </a:ext>
                  </a:extLst>
                </a:gridCol>
                <a:gridCol w="2075715">
                  <a:extLst>
                    <a:ext uri="{9D8B030D-6E8A-4147-A177-3AD203B41FA5}">
                      <a16:colId xmlns:a16="http://schemas.microsoft.com/office/drawing/2014/main" val="1564422885"/>
                    </a:ext>
                  </a:extLst>
                </a:gridCol>
                <a:gridCol w="2075715">
                  <a:extLst>
                    <a:ext uri="{9D8B030D-6E8A-4147-A177-3AD203B41FA5}">
                      <a16:colId xmlns:a16="http://schemas.microsoft.com/office/drawing/2014/main" val="1566694057"/>
                    </a:ext>
                  </a:extLst>
                </a:gridCol>
                <a:gridCol w="2075715">
                  <a:extLst>
                    <a:ext uri="{9D8B030D-6E8A-4147-A177-3AD203B41FA5}">
                      <a16:colId xmlns:a16="http://schemas.microsoft.com/office/drawing/2014/main" val="278364325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ru-RU" dirty="0" smtClean="0"/>
                        <a:t>Сеансы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Таблица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Поле таблицы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Значение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360966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 smtClean="0"/>
                        <a:t>Сеанс </a:t>
                      </a:r>
                      <a:r>
                        <a:rPr lang="ru-RU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«Остатки товаров»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«Номенклатура»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Яблоки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8571571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 smtClean="0"/>
                        <a:t>Сеанс </a:t>
                      </a:r>
                      <a:r>
                        <a:rPr lang="ru-RU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«Остатки товаров»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«Номенклатура»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Груши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65985065"/>
                  </a:ext>
                </a:extLst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428689" y="2804208"/>
            <a:ext cx="83028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b="1" dirty="0">
                <a:solidFill>
                  <a:schemeClr val="accent2"/>
                </a:solidFill>
              </a:rPr>
              <a:t>Сервер 1с Таблица «заблокированных» данных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8689" y="5310554"/>
            <a:ext cx="25841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solidFill>
                  <a:schemeClr val="accent5">
                    <a:lumMod val="50000"/>
                  </a:schemeClr>
                </a:solidFill>
              </a:rPr>
              <a:t>База данных</a:t>
            </a:r>
          </a:p>
        </p:txBody>
      </p:sp>
      <p:sp>
        <p:nvSpPr>
          <p:cNvPr id="15" name="Блок-схема: магнитный диск 14"/>
          <p:cNvSpPr/>
          <p:nvPr/>
        </p:nvSpPr>
        <p:spPr>
          <a:xfrm>
            <a:off x="2196027" y="5327809"/>
            <a:ext cx="4464000" cy="1143329"/>
          </a:xfrm>
          <a:prstGeom prst="flowChartMagneticDisk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Регистр «Остатки товаров»</a:t>
            </a:r>
          </a:p>
        </p:txBody>
      </p:sp>
      <p:sp>
        <p:nvSpPr>
          <p:cNvPr id="4" name="Двойная стрелка вверх/вниз 3"/>
          <p:cNvSpPr/>
          <p:nvPr/>
        </p:nvSpPr>
        <p:spPr>
          <a:xfrm>
            <a:off x="2196028" y="2804208"/>
            <a:ext cx="558895" cy="2635300"/>
          </a:xfrm>
          <a:prstGeom prst="upDownArrow">
            <a:avLst/>
          </a:prstGeom>
          <a:solidFill>
            <a:schemeClr val="accent1">
              <a:alpha val="39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ru-RU" dirty="0">
                <a:solidFill>
                  <a:schemeClr val="tx2">
                    <a:lumMod val="50000"/>
                  </a:schemeClr>
                </a:solidFill>
              </a:rPr>
              <a:t>Запрос</a:t>
            </a:r>
          </a:p>
        </p:txBody>
      </p:sp>
    </p:spTree>
    <p:extLst>
      <p:ext uri="{BB962C8B-B14F-4D97-AF65-F5344CB8AC3E}">
        <p14:creationId xmlns:p14="http://schemas.microsoft.com/office/powerpoint/2010/main" val="166763836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Скругленный прямоугольник 10"/>
          <p:cNvSpPr/>
          <p:nvPr/>
        </p:nvSpPr>
        <p:spPr>
          <a:xfrm>
            <a:off x="188119" y="2881780"/>
            <a:ext cx="8784000" cy="2188396"/>
          </a:xfrm>
          <a:prstGeom prst="roundRect">
            <a:avLst/>
          </a:prstGeom>
          <a:solidFill>
            <a:schemeClr val="accent2">
              <a:alpha val="5000"/>
            </a:schemeClr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/>
              <a:t>Пользователь 2 проводит реализацию 2</a:t>
            </a:r>
          </a:p>
        </p:txBody>
      </p:sp>
      <p:graphicFrame>
        <p:nvGraphicFramePr>
          <p:cNvPr id="3" name="Таблица 2"/>
          <p:cNvGraphicFramePr>
            <a:graphicFrameLocks noGrp="1"/>
          </p:cNvGraphicFramePr>
          <p:nvPr/>
        </p:nvGraphicFramePr>
        <p:xfrm>
          <a:off x="1071273" y="1583138"/>
          <a:ext cx="2831184" cy="1112520"/>
        </p:xfrm>
        <a:graphic>
          <a:graphicData uri="http://schemas.openxmlformats.org/drawingml/2006/table">
            <a:tbl>
              <a:tblPr firstRow="1" bandRow="1">
                <a:tableStyleId>{BC89EF96-8CEA-46FF-86C4-4CE0E7609802}</a:tableStyleId>
              </a:tblPr>
              <a:tblGrid>
                <a:gridCol w="1415592">
                  <a:extLst>
                    <a:ext uri="{9D8B030D-6E8A-4147-A177-3AD203B41FA5}">
                      <a16:colId xmlns:a16="http://schemas.microsoft.com/office/drawing/2014/main" val="468285455"/>
                    </a:ext>
                  </a:extLst>
                </a:gridCol>
                <a:gridCol w="1415592">
                  <a:extLst>
                    <a:ext uri="{9D8B030D-6E8A-4147-A177-3AD203B41FA5}">
                      <a16:colId xmlns:a16="http://schemas.microsoft.com/office/drawing/2014/main" val="253042638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Товар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Количество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6893805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Яблоки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9867608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Груши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15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06191117"/>
                  </a:ext>
                </a:extLst>
              </a:tr>
            </a:tbl>
          </a:graphicData>
        </a:graphic>
      </p:graphicFrame>
      <p:sp>
        <p:nvSpPr>
          <p:cNvPr id="5" name="Скругленный прямоугольник 4"/>
          <p:cNvSpPr/>
          <p:nvPr/>
        </p:nvSpPr>
        <p:spPr>
          <a:xfrm>
            <a:off x="188119" y="1193839"/>
            <a:ext cx="4015818" cy="1603672"/>
          </a:xfrm>
          <a:prstGeom prst="roundRect">
            <a:avLst/>
          </a:prstGeom>
          <a:solidFill>
            <a:schemeClr val="accent1">
              <a:alpha val="13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t"/>
          <a:lstStyle/>
          <a:p>
            <a:pPr algn="ctr"/>
            <a:r>
              <a:rPr lang="ru-RU" sz="1400" b="1" dirty="0" smtClean="0">
                <a:solidFill>
                  <a:schemeClr val="tx1"/>
                </a:solidFill>
              </a:rPr>
              <a:t>Сеанс </a:t>
            </a:r>
            <a:r>
              <a:rPr lang="ru-RU" sz="1400" b="1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273" y="1193839"/>
            <a:ext cx="28311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dirty="0"/>
              <a:t>Реализация 1</a:t>
            </a:r>
          </a:p>
        </p:txBody>
      </p:sp>
      <p:graphicFrame>
        <p:nvGraphicFramePr>
          <p:cNvPr id="9" name="Таблица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22695080"/>
              </p:ext>
            </p:extLst>
          </p:nvPr>
        </p:nvGraphicFramePr>
        <p:xfrm>
          <a:off x="428689" y="3161182"/>
          <a:ext cx="8302860" cy="1112520"/>
        </p:xfrm>
        <a:graphic>
          <a:graphicData uri="http://schemas.openxmlformats.org/drawingml/2006/table">
            <a:tbl>
              <a:tblPr firstRow="1" bandRow="1">
                <a:tableStyleId>{5DA37D80-6434-44D0-A028-1B22A696006F}</a:tableStyleId>
              </a:tblPr>
              <a:tblGrid>
                <a:gridCol w="2075715">
                  <a:extLst>
                    <a:ext uri="{9D8B030D-6E8A-4147-A177-3AD203B41FA5}">
                      <a16:colId xmlns:a16="http://schemas.microsoft.com/office/drawing/2014/main" val="2324821976"/>
                    </a:ext>
                  </a:extLst>
                </a:gridCol>
                <a:gridCol w="2075715">
                  <a:extLst>
                    <a:ext uri="{9D8B030D-6E8A-4147-A177-3AD203B41FA5}">
                      <a16:colId xmlns:a16="http://schemas.microsoft.com/office/drawing/2014/main" val="1564422885"/>
                    </a:ext>
                  </a:extLst>
                </a:gridCol>
                <a:gridCol w="2075715">
                  <a:extLst>
                    <a:ext uri="{9D8B030D-6E8A-4147-A177-3AD203B41FA5}">
                      <a16:colId xmlns:a16="http://schemas.microsoft.com/office/drawing/2014/main" val="1566694057"/>
                    </a:ext>
                  </a:extLst>
                </a:gridCol>
                <a:gridCol w="2075715">
                  <a:extLst>
                    <a:ext uri="{9D8B030D-6E8A-4147-A177-3AD203B41FA5}">
                      <a16:colId xmlns:a16="http://schemas.microsoft.com/office/drawing/2014/main" val="278364325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ru-RU" dirty="0" smtClean="0"/>
                        <a:t>Сеансы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Таблица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Поле таблицы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Значение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360966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 smtClean="0"/>
                        <a:t>Сеанс </a:t>
                      </a:r>
                      <a:r>
                        <a:rPr lang="ru-RU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«Остатки товаров»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«Номенклатура»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Яблоки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8571571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 smtClean="0"/>
                        <a:t>Сеанс </a:t>
                      </a:r>
                      <a:r>
                        <a:rPr lang="ru-RU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«Остатки товаров»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«Номенклатура»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Груши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65985065"/>
                  </a:ext>
                </a:extLst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428689" y="2804208"/>
            <a:ext cx="83028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b="1" dirty="0">
                <a:solidFill>
                  <a:schemeClr val="accent2"/>
                </a:solidFill>
              </a:rPr>
              <a:t>Сервер 1с Таблица «заблокированных» данных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8689" y="5310554"/>
            <a:ext cx="25841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solidFill>
                  <a:schemeClr val="accent5">
                    <a:lumMod val="50000"/>
                  </a:schemeClr>
                </a:solidFill>
              </a:rPr>
              <a:t>База данных</a:t>
            </a:r>
          </a:p>
        </p:txBody>
      </p:sp>
      <p:sp>
        <p:nvSpPr>
          <p:cNvPr id="15" name="Блок-схема: магнитный диск 14"/>
          <p:cNvSpPr/>
          <p:nvPr/>
        </p:nvSpPr>
        <p:spPr>
          <a:xfrm>
            <a:off x="2196027" y="5327809"/>
            <a:ext cx="4464000" cy="1143329"/>
          </a:xfrm>
          <a:prstGeom prst="flowChartMagneticDisk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Регистр «Остатки товаров»</a:t>
            </a:r>
          </a:p>
        </p:txBody>
      </p:sp>
      <p:sp>
        <p:nvSpPr>
          <p:cNvPr id="4" name="Двойная стрелка вверх/вниз 3"/>
          <p:cNvSpPr/>
          <p:nvPr/>
        </p:nvSpPr>
        <p:spPr>
          <a:xfrm>
            <a:off x="2196028" y="2804208"/>
            <a:ext cx="558895" cy="2635300"/>
          </a:xfrm>
          <a:prstGeom prst="upDownArrow">
            <a:avLst/>
          </a:prstGeom>
          <a:solidFill>
            <a:schemeClr val="accent1">
              <a:alpha val="39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ru-RU" dirty="0">
                <a:solidFill>
                  <a:schemeClr val="tx2">
                    <a:lumMod val="50000"/>
                  </a:schemeClr>
                </a:solidFill>
              </a:rPr>
              <a:t>Запрос</a:t>
            </a:r>
          </a:p>
        </p:txBody>
      </p:sp>
      <p:graphicFrame>
        <p:nvGraphicFramePr>
          <p:cNvPr id="13" name="Таблица 12"/>
          <p:cNvGraphicFramePr>
            <a:graphicFrameLocks noGrp="1"/>
          </p:cNvGraphicFramePr>
          <p:nvPr/>
        </p:nvGraphicFramePr>
        <p:xfrm>
          <a:off x="5290128" y="1583138"/>
          <a:ext cx="2831184" cy="1112520"/>
        </p:xfrm>
        <a:graphic>
          <a:graphicData uri="http://schemas.openxmlformats.org/drawingml/2006/table">
            <a:tbl>
              <a:tblPr firstRow="1" bandRow="1">
                <a:tableStyleId>{8799B23B-EC83-4686-B30A-512413B5E67A}</a:tableStyleId>
              </a:tblPr>
              <a:tblGrid>
                <a:gridCol w="1415592">
                  <a:extLst>
                    <a:ext uri="{9D8B030D-6E8A-4147-A177-3AD203B41FA5}">
                      <a16:colId xmlns:a16="http://schemas.microsoft.com/office/drawing/2014/main" val="468285455"/>
                    </a:ext>
                  </a:extLst>
                </a:gridCol>
                <a:gridCol w="1415592">
                  <a:extLst>
                    <a:ext uri="{9D8B030D-6E8A-4147-A177-3AD203B41FA5}">
                      <a16:colId xmlns:a16="http://schemas.microsoft.com/office/drawing/2014/main" val="253042638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Товар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Количество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6893805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Яблоки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13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9867608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Апельсины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12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06191117"/>
                  </a:ext>
                </a:extLst>
              </a:tr>
            </a:tbl>
          </a:graphicData>
        </a:graphic>
      </p:graphicFrame>
      <p:sp>
        <p:nvSpPr>
          <p:cNvPr id="16" name="Скругленный прямоугольник 15"/>
          <p:cNvSpPr/>
          <p:nvPr/>
        </p:nvSpPr>
        <p:spPr>
          <a:xfrm>
            <a:off x="4715731" y="1193839"/>
            <a:ext cx="4015818" cy="1610369"/>
          </a:xfrm>
          <a:prstGeom prst="roundRect">
            <a:avLst/>
          </a:prstGeom>
          <a:solidFill>
            <a:schemeClr val="accent3">
              <a:lumMod val="50000"/>
              <a:alpha val="13000"/>
            </a:schemeClr>
          </a:solidFill>
          <a:ln>
            <a:solidFill>
              <a:schemeClr val="accent3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t"/>
          <a:lstStyle/>
          <a:p>
            <a:pPr algn="ctr"/>
            <a:r>
              <a:rPr lang="ru-RU" sz="1400" b="1" dirty="0" smtClean="0">
                <a:solidFill>
                  <a:schemeClr val="tx1"/>
                </a:solidFill>
              </a:rPr>
              <a:t>Сеанс </a:t>
            </a:r>
            <a:r>
              <a:rPr lang="ru-RU" sz="1400" b="1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90128" y="1193839"/>
            <a:ext cx="28311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dirty="0"/>
              <a:t>Реализация 2</a:t>
            </a:r>
          </a:p>
        </p:txBody>
      </p:sp>
    </p:spTree>
    <p:extLst>
      <p:ext uri="{BB962C8B-B14F-4D97-AF65-F5344CB8AC3E}">
        <p14:creationId xmlns:p14="http://schemas.microsoft.com/office/powerpoint/2010/main" val="234028323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/>
              <a:t>Пользователь 2 записывает данные в таблицу управляемых блокировок</a:t>
            </a:r>
          </a:p>
        </p:txBody>
      </p:sp>
      <p:graphicFrame>
        <p:nvGraphicFramePr>
          <p:cNvPr id="3" name="Таблица 2"/>
          <p:cNvGraphicFramePr>
            <a:graphicFrameLocks noGrp="1"/>
          </p:cNvGraphicFramePr>
          <p:nvPr/>
        </p:nvGraphicFramePr>
        <p:xfrm>
          <a:off x="1071273" y="1583138"/>
          <a:ext cx="2831184" cy="1112520"/>
        </p:xfrm>
        <a:graphic>
          <a:graphicData uri="http://schemas.openxmlformats.org/drawingml/2006/table">
            <a:tbl>
              <a:tblPr firstRow="1" bandRow="1">
                <a:tableStyleId>{BC89EF96-8CEA-46FF-86C4-4CE0E7609802}</a:tableStyleId>
              </a:tblPr>
              <a:tblGrid>
                <a:gridCol w="1415592">
                  <a:extLst>
                    <a:ext uri="{9D8B030D-6E8A-4147-A177-3AD203B41FA5}">
                      <a16:colId xmlns:a16="http://schemas.microsoft.com/office/drawing/2014/main" val="468285455"/>
                    </a:ext>
                  </a:extLst>
                </a:gridCol>
                <a:gridCol w="1415592">
                  <a:extLst>
                    <a:ext uri="{9D8B030D-6E8A-4147-A177-3AD203B41FA5}">
                      <a16:colId xmlns:a16="http://schemas.microsoft.com/office/drawing/2014/main" val="253042638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Товар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Количество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6893805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Яблоки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9867608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Груши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15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06191117"/>
                  </a:ext>
                </a:extLst>
              </a:tr>
            </a:tbl>
          </a:graphicData>
        </a:graphic>
      </p:graphicFrame>
      <p:sp>
        <p:nvSpPr>
          <p:cNvPr id="5" name="Скругленный прямоугольник 4"/>
          <p:cNvSpPr/>
          <p:nvPr/>
        </p:nvSpPr>
        <p:spPr>
          <a:xfrm>
            <a:off x="188119" y="1193839"/>
            <a:ext cx="4015818" cy="1603672"/>
          </a:xfrm>
          <a:prstGeom prst="roundRect">
            <a:avLst/>
          </a:prstGeom>
          <a:solidFill>
            <a:schemeClr val="accent1">
              <a:alpha val="13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t"/>
          <a:lstStyle/>
          <a:p>
            <a:pPr algn="ctr"/>
            <a:r>
              <a:rPr lang="ru-RU" sz="1400" b="1" dirty="0" smtClean="0">
                <a:solidFill>
                  <a:schemeClr val="tx1"/>
                </a:solidFill>
              </a:rPr>
              <a:t>Сеанс </a:t>
            </a:r>
            <a:r>
              <a:rPr lang="ru-RU" sz="1400" b="1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273" y="1193839"/>
            <a:ext cx="28311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dirty="0"/>
              <a:t>Реализация 1</a:t>
            </a:r>
          </a:p>
        </p:txBody>
      </p:sp>
      <p:sp>
        <p:nvSpPr>
          <p:cNvPr id="11" name="Скругленный прямоугольник 10"/>
          <p:cNvSpPr/>
          <p:nvPr/>
        </p:nvSpPr>
        <p:spPr>
          <a:xfrm>
            <a:off x="188119" y="2881780"/>
            <a:ext cx="8784000" cy="2188396"/>
          </a:xfrm>
          <a:prstGeom prst="roundRect">
            <a:avLst/>
          </a:prstGeom>
          <a:solidFill>
            <a:schemeClr val="accent2">
              <a:alpha val="5000"/>
            </a:schemeClr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graphicFrame>
        <p:nvGraphicFramePr>
          <p:cNvPr id="9" name="Таблица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20075863"/>
              </p:ext>
            </p:extLst>
          </p:nvPr>
        </p:nvGraphicFramePr>
        <p:xfrm>
          <a:off x="428689" y="3161182"/>
          <a:ext cx="8302860" cy="1112520"/>
        </p:xfrm>
        <a:graphic>
          <a:graphicData uri="http://schemas.openxmlformats.org/drawingml/2006/table">
            <a:tbl>
              <a:tblPr firstRow="1" bandRow="1">
                <a:tableStyleId>{5DA37D80-6434-44D0-A028-1B22A696006F}</a:tableStyleId>
              </a:tblPr>
              <a:tblGrid>
                <a:gridCol w="2075715">
                  <a:extLst>
                    <a:ext uri="{9D8B030D-6E8A-4147-A177-3AD203B41FA5}">
                      <a16:colId xmlns:a16="http://schemas.microsoft.com/office/drawing/2014/main" val="2324821976"/>
                    </a:ext>
                  </a:extLst>
                </a:gridCol>
                <a:gridCol w="2075715">
                  <a:extLst>
                    <a:ext uri="{9D8B030D-6E8A-4147-A177-3AD203B41FA5}">
                      <a16:colId xmlns:a16="http://schemas.microsoft.com/office/drawing/2014/main" val="1564422885"/>
                    </a:ext>
                  </a:extLst>
                </a:gridCol>
                <a:gridCol w="2075715">
                  <a:extLst>
                    <a:ext uri="{9D8B030D-6E8A-4147-A177-3AD203B41FA5}">
                      <a16:colId xmlns:a16="http://schemas.microsoft.com/office/drawing/2014/main" val="1566694057"/>
                    </a:ext>
                  </a:extLst>
                </a:gridCol>
                <a:gridCol w="2075715">
                  <a:extLst>
                    <a:ext uri="{9D8B030D-6E8A-4147-A177-3AD203B41FA5}">
                      <a16:colId xmlns:a16="http://schemas.microsoft.com/office/drawing/2014/main" val="278364325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ru-RU" dirty="0" smtClean="0"/>
                        <a:t>Сеансы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Таблица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Поле таблицы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Значение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360966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 smtClean="0"/>
                        <a:t>Сеанс </a:t>
                      </a:r>
                      <a:r>
                        <a:rPr lang="ru-RU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«Остатки товаров»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«Номенклатура»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Яблоки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8571571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 smtClean="0"/>
                        <a:t>Сеанс </a:t>
                      </a:r>
                      <a:r>
                        <a:rPr lang="ru-RU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«Остатки товаров»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«Номенклатура»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Груши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65985065"/>
                  </a:ext>
                </a:extLst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428689" y="2804208"/>
            <a:ext cx="83028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b="1" dirty="0">
                <a:solidFill>
                  <a:schemeClr val="accent2"/>
                </a:solidFill>
              </a:rPr>
              <a:t>Сервер 1с Таблица «заблокированных» данных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8689" y="5310554"/>
            <a:ext cx="25841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solidFill>
                  <a:schemeClr val="accent5">
                    <a:lumMod val="50000"/>
                  </a:schemeClr>
                </a:solidFill>
              </a:rPr>
              <a:t>База данных</a:t>
            </a:r>
          </a:p>
        </p:txBody>
      </p:sp>
      <p:sp>
        <p:nvSpPr>
          <p:cNvPr id="15" name="Блок-схема: магнитный диск 14"/>
          <p:cNvSpPr/>
          <p:nvPr/>
        </p:nvSpPr>
        <p:spPr>
          <a:xfrm>
            <a:off x="2196027" y="5327809"/>
            <a:ext cx="4464000" cy="1143329"/>
          </a:xfrm>
          <a:prstGeom prst="flowChartMagneticDisk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Регистр «Остатки товаров»</a:t>
            </a:r>
          </a:p>
        </p:txBody>
      </p:sp>
      <p:sp>
        <p:nvSpPr>
          <p:cNvPr id="4" name="Двойная стрелка вверх/вниз 3"/>
          <p:cNvSpPr/>
          <p:nvPr/>
        </p:nvSpPr>
        <p:spPr>
          <a:xfrm>
            <a:off x="2196028" y="2804208"/>
            <a:ext cx="558895" cy="2635300"/>
          </a:xfrm>
          <a:prstGeom prst="upDownArrow">
            <a:avLst/>
          </a:prstGeom>
          <a:solidFill>
            <a:schemeClr val="accent1">
              <a:alpha val="39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ru-RU" dirty="0">
                <a:solidFill>
                  <a:schemeClr val="tx2">
                    <a:lumMod val="50000"/>
                  </a:schemeClr>
                </a:solidFill>
              </a:rPr>
              <a:t>Запрос</a:t>
            </a:r>
          </a:p>
        </p:txBody>
      </p:sp>
      <p:graphicFrame>
        <p:nvGraphicFramePr>
          <p:cNvPr id="13" name="Таблица 12"/>
          <p:cNvGraphicFramePr>
            <a:graphicFrameLocks noGrp="1"/>
          </p:cNvGraphicFramePr>
          <p:nvPr/>
        </p:nvGraphicFramePr>
        <p:xfrm>
          <a:off x="5290128" y="1583138"/>
          <a:ext cx="2831184" cy="1112520"/>
        </p:xfrm>
        <a:graphic>
          <a:graphicData uri="http://schemas.openxmlformats.org/drawingml/2006/table">
            <a:tbl>
              <a:tblPr firstRow="1" bandRow="1">
                <a:tableStyleId>{8799B23B-EC83-4686-B30A-512413B5E67A}</a:tableStyleId>
              </a:tblPr>
              <a:tblGrid>
                <a:gridCol w="1415592">
                  <a:extLst>
                    <a:ext uri="{9D8B030D-6E8A-4147-A177-3AD203B41FA5}">
                      <a16:colId xmlns:a16="http://schemas.microsoft.com/office/drawing/2014/main" val="468285455"/>
                    </a:ext>
                  </a:extLst>
                </a:gridCol>
                <a:gridCol w="1415592">
                  <a:extLst>
                    <a:ext uri="{9D8B030D-6E8A-4147-A177-3AD203B41FA5}">
                      <a16:colId xmlns:a16="http://schemas.microsoft.com/office/drawing/2014/main" val="253042638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Товар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Количество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6893805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Яблоки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13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9867608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Апельсины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12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06191117"/>
                  </a:ext>
                </a:extLst>
              </a:tr>
            </a:tbl>
          </a:graphicData>
        </a:graphic>
      </p:graphicFrame>
      <p:sp>
        <p:nvSpPr>
          <p:cNvPr id="16" name="Скругленный прямоугольник 15"/>
          <p:cNvSpPr/>
          <p:nvPr/>
        </p:nvSpPr>
        <p:spPr>
          <a:xfrm>
            <a:off x="4715731" y="1193839"/>
            <a:ext cx="4015818" cy="1610369"/>
          </a:xfrm>
          <a:prstGeom prst="roundRect">
            <a:avLst/>
          </a:prstGeom>
          <a:solidFill>
            <a:schemeClr val="accent3">
              <a:lumMod val="50000"/>
              <a:alpha val="13000"/>
            </a:schemeClr>
          </a:solidFill>
          <a:ln>
            <a:solidFill>
              <a:schemeClr val="accent3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t"/>
          <a:lstStyle/>
          <a:p>
            <a:pPr algn="ctr"/>
            <a:r>
              <a:rPr lang="ru-RU" sz="1400" b="1" dirty="0" smtClean="0">
                <a:solidFill>
                  <a:schemeClr val="tx1"/>
                </a:solidFill>
              </a:rPr>
              <a:t>Сеанс </a:t>
            </a:r>
            <a:r>
              <a:rPr lang="ru-RU" sz="1400" b="1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90128" y="1193839"/>
            <a:ext cx="28311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dirty="0"/>
              <a:t>Реализация 2</a:t>
            </a:r>
          </a:p>
        </p:txBody>
      </p:sp>
      <p:sp>
        <p:nvSpPr>
          <p:cNvPr id="18" name="Стрелка углом 17"/>
          <p:cNvSpPr/>
          <p:nvPr/>
        </p:nvSpPr>
        <p:spPr>
          <a:xfrm rot="5400000" flipV="1">
            <a:off x="4411315" y="2270900"/>
            <a:ext cx="578283" cy="493360"/>
          </a:xfrm>
          <a:prstGeom prst="bentArrow">
            <a:avLst>
              <a:gd name="adj1" fmla="val 23094"/>
              <a:gd name="adj2" fmla="val 25256"/>
              <a:gd name="adj3" fmla="val 25000"/>
              <a:gd name="adj4" fmla="val 43750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0818812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Скругленный прямоугольник 10"/>
          <p:cNvSpPr/>
          <p:nvPr/>
        </p:nvSpPr>
        <p:spPr>
          <a:xfrm>
            <a:off x="188119" y="2881779"/>
            <a:ext cx="8784000" cy="2205651"/>
          </a:xfrm>
          <a:prstGeom prst="roundRect">
            <a:avLst/>
          </a:prstGeom>
          <a:solidFill>
            <a:schemeClr val="accent2">
              <a:alpha val="5000"/>
            </a:schemeClr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ru-RU" sz="2400" dirty="0"/>
              <a:t>В таблице блокировок есть повторы по полям – таблица – поле таблицы - значение</a:t>
            </a:r>
          </a:p>
        </p:txBody>
      </p:sp>
      <p:graphicFrame>
        <p:nvGraphicFramePr>
          <p:cNvPr id="3" name="Таблица 2"/>
          <p:cNvGraphicFramePr>
            <a:graphicFrameLocks noGrp="1"/>
          </p:cNvGraphicFramePr>
          <p:nvPr/>
        </p:nvGraphicFramePr>
        <p:xfrm>
          <a:off x="1071273" y="1583138"/>
          <a:ext cx="2831184" cy="1112520"/>
        </p:xfrm>
        <a:graphic>
          <a:graphicData uri="http://schemas.openxmlformats.org/drawingml/2006/table">
            <a:tbl>
              <a:tblPr firstRow="1" bandRow="1">
                <a:tableStyleId>{BC89EF96-8CEA-46FF-86C4-4CE0E7609802}</a:tableStyleId>
              </a:tblPr>
              <a:tblGrid>
                <a:gridCol w="1415592">
                  <a:extLst>
                    <a:ext uri="{9D8B030D-6E8A-4147-A177-3AD203B41FA5}">
                      <a16:colId xmlns:a16="http://schemas.microsoft.com/office/drawing/2014/main" val="468285455"/>
                    </a:ext>
                  </a:extLst>
                </a:gridCol>
                <a:gridCol w="1415592">
                  <a:extLst>
                    <a:ext uri="{9D8B030D-6E8A-4147-A177-3AD203B41FA5}">
                      <a16:colId xmlns:a16="http://schemas.microsoft.com/office/drawing/2014/main" val="253042638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Товар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Количество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6893805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Яблоки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9867608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Груши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15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06191117"/>
                  </a:ext>
                </a:extLst>
              </a:tr>
            </a:tbl>
          </a:graphicData>
        </a:graphic>
      </p:graphicFrame>
      <p:sp>
        <p:nvSpPr>
          <p:cNvPr id="5" name="Скругленный прямоугольник 4"/>
          <p:cNvSpPr/>
          <p:nvPr/>
        </p:nvSpPr>
        <p:spPr>
          <a:xfrm>
            <a:off x="188119" y="1193839"/>
            <a:ext cx="4015818" cy="1603672"/>
          </a:xfrm>
          <a:prstGeom prst="roundRect">
            <a:avLst/>
          </a:prstGeom>
          <a:solidFill>
            <a:schemeClr val="accent1">
              <a:alpha val="13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t"/>
          <a:lstStyle/>
          <a:p>
            <a:pPr algn="ctr"/>
            <a:r>
              <a:rPr lang="ru-RU" sz="1400" b="1" dirty="0" err="1" smtClean="0">
                <a:solidFill>
                  <a:schemeClr val="tx1"/>
                </a:solidFill>
              </a:rPr>
              <a:t>Сенас</a:t>
            </a:r>
            <a:r>
              <a:rPr lang="ru-RU" sz="1400" b="1" dirty="0" smtClean="0">
                <a:solidFill>
                  <a:schemeClr val="tx1"/>
                </a:solidFill>
              </a:rPr>
              <a:t> </a:t>
            </a:r>
            <a:r>
              <a:rPr lang="ru-RU" sz="1400" b="1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273" y="1193839"/>
            <a:ext cx="28311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dirty="0"/>
              <a:t>Реализация 1</a:t>
            </a:r>
          </a:p>
        </p:txBody>
      </p:sp>
      <p:graphicFrame>
        <p:nvGraphicFramePr>
          <p:cNvPr id="9" name="Таблица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74065331"/>
              </p:ext>
            </p:extLst>
          </p:nvPr>
        </p:nvGraphicFramePr>
        <p:xfrm>
          <a:off x="428689" y="3161182"/>
          <a:ext cx="8302860" cy="1854200"/>
        </p:xfrm>
        <a:graphic>
          <a:graphicData uri="http://schemas.openxmlformats.org/drawingml/2006/table">
            <a:tbl>
              <a:tblPr firstRow="1" bandRow="1">
                <a:tableStyleId>{5DA37D80-6434-44D0-A028-1B22A696006F}</a:tableStyleId>
              </a:tblPr>
              <a:tblGrid>
                <a:gridCol w="2075715">
                  <a:extLst>
                    <a:ext uri="{9D8B030D-6E8A-4147-A177-3AD203B41FA5}">
                      <a16:colId xmlns:a16="http://schemas.microsoft.com/office/drawing/2014/main" val="2324821976"/>
                    </a:ext>
                  </a:extLst>
                </a:gridCol>
                <a:gridCol w="2075715">
                  <a:extLst>
                    <a:ext uri="{9D8B030D-6E8A-4147-A177-3AD203B41FA5}">
                      <a16:colId xmlns:a16="http://schemas.microsoft.com/office/drawing/2014/main" val="1564422885"/>
                    </a:ext>
                  </a:extLst>
                </a:gridCol>
                <a:gridCol w="2075715">
                  <a:extLst>
                    <a:ext uri="{9D8B030D-6E8A-4147-A177-3AD203B41FA5}">
                      <a16:colId xmlns:a16="http://schemas.microsoft.com/office/drawing/2014/main" val="1566694057"/>
                    </a:ext>
                  </a:extLst>
                </a:gridCol>
                <a:gridCol w="2075715">
                  <a:extLst>
                    <a:ext uri="{9D8B030D-6E8A-4147-A177-3AD203B41FA5}">
                      <a16:colId xmlns:a16="http://schemas.microsoft.com/office/drawing/2014/main" val="278364325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ru-RU" dirty="0" smtClean="0"/>
                        <a:t>Сеансы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Таблица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Поле таблицы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Значение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360966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 smtClean="0"/>
                        <a:t>Сеанс </a:t>
                      </a:r>
                      <a:r>
                        <a:rPr lang="ru-RU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b="0" i="0" u="sng" dirty="0"/>
                        <a:t>«Остатки товаров»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b="0" i="0" u="sng" dirty="0"/>
                        <a:t>«Номенклатура»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b="0" i="0" u="sng" dirty="0"/>
                        <a:t>Яблоки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8571571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 smtClean="0"/>
                        <a:t>Сеанс </a:t>
                      </a:r>
                      <a:r>
                        <a:rPr lang="ru-RU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«Остатки товаров»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«Номенклатура»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Груши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6598506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dirty="0" smtClean="0"/>
                        <a:t>Сеанс </a:t>
                      </a:r>
                      <a:r>
                        <a:rPr lang="ru-RU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u="sng" dirty="0"/>
                        <a:t>«Остатки товаров»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u="sng" dirty="0"/>
                        <a:t>«Номенклатура»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u="sng" dirty="0"/>
                        <a:t>Яблоки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793343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 smtClean="0"/>
                        <a:t>Сеанс 2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«Остатки товаров»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«Номенклатура»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Апельсины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74693088"/>
                  </a:ext>
                </a:extLst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428689" y="2804208"/>
            <a:ext cx="83028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b="1" dirty="0">
                <a:solidFill>
                  <a:schemeClr val="accent2"/>
                </a:solidFill>
              </a:rPr>
              <a:t>Сервер 1с Таблица «заблокированных» данных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8689" y="5310554"/>
            <a:ext cx="25841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solidFill>
                  <a:schemeClr val="accent5">
                    <a:lumMod val="50000"/>
                  </a:schemeClr>
                </a:solidFill>
              </a:rPr>
              <a:t>База данных</a:t>
            </a:r>
          </a:p>
        </p:txBody>
      </p:sp>
      <p:sp>
        <p:nvSpPr>
          <p:cNvPr id="15" name="Блок-схема: магнитный диск 14"/>
          <p:cNvSpPr/>
          <p:nvPr/>
        </p:nvSpPr>
        <p:spPr>
          <a:xfrm>
            <a:off x="2196027" y="5327809"/>
            <a:ext cx="4464000" cy="1143329"/>
          </a:xfrm>
          <a:prstGeom prst="flowChartMagneticDisk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Регистр «Остатки товаров»</a:t>
            </a:r>
          </a:p>
        </p:txBody>
      </p:sp>
      <p:sp>
        <p:nvSpPr>
          <p:cNvPr id="4" name="Двойная стрелка вверх/вниз 3"/>
          <p:cNvSpPr/>
          <p:nvPr/>
        </p:nvSpPr>
        <p:spPr>
          <a:xfrm>
            <a:off x="2196028" y="2804208"/>
            <a:ext cx="558895" cy="2635300"/>
          </a:xfrm>
          <a:prstGeom prst="upDownArrow">
            <a:avLst/>
          </a:prstGeom>
          <a:solidFill>
            <a:schemeClr val="accent1">
              <a:alpha val="39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ru-RU" dirty="0">
                <a:solidFill>
                  <a:schemeClr val="tx2">
                    <a:lumMod val="50000"/>
                  </a:schemeClr>
                </a:solidFill>
              </a:rPr>
              <a:t>Запрос</a:t>
            </a:r>
          </a:p>
        </p:txBody>
      </p:sp>
      <p:graphicFrame>
        <p:nvGraphicFramePr>
          <p:cNvPr id="13" name="Таблица 12"/>
          <p:cNvGraphicFramePr>
            <a:graphicFrameLocks noGrp="1"/>
          </p:cNvGraphicFramePr>
          <p:nvPr/>
        </p:nvGraphicFramePr>
        <p:xfrm>
          <a:off x="5290128" y="1583138"/>
          <a:ext cx="2831184" cy="1112520"/>
        </p:xfrm>
        <a:graphic>
          <a:graphicData uri="http://schemas.openxmlformats.org/drawingml/2006/table">
            <a:tbl>
              <a:tblPr firstRow="1" bandRow="1">
                <a:tableStyleId>{8799B23B-EC83-4686-B30A-512413B5E67A}</a:tableStyleId>
              </a:tblPr>
              <a:tblGrid>
                <a:gridCol w="1415592">
                  <a:extLst>
                    <a:ext uri="{9D8B030D-6E8A-4147-A177-3AD203B41FA5}">
                      <a16:colId xmlns:a16="http://schemas.microsoft.com/office/drawing/2014/main" val="468285455"/>
                    </a:ext>
                  </a:extLst>
                </a:gridCol>
                <a:gridCol w="1415592">
                  <a:extLst>
                    <a:ext uri="{9D8B030D-6E8A-4147-A177-3AD203B41FA5}">
                      <a16:colId xmlns:a16="http://schemas.microsoft.com/office/drawing/2014/main" val="253042638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Товар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Количество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6893805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Яблоки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13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9867608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Апельсины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12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06191117"/>
                  </a:ext>
                </a:extLst>
              </a:tr>
            </a:tbl>
          </a:graphicData>
        </a:graphic>
      </p:graphicFrame>
      <p:sp>
        <p:nvSpPr>
          <p:cNvPr id="16" name="Скругленный прямоугольник 15"/>
          <p:cNvSpPr/>
          <p:nvPr/>
        </p:nvSpPr>
        <p:spPr>
          <a:xfrm>
            <a:off x="4715731" y="1193839"/>
            <a:ext cx="4015818" cy="1610369"/>
          </a:xfrm>
          <a:prstGeom prst="roundRect">
            <a:avLst/>
          </a:prstGeom>
          <a:solidFill>
            <a:schemeClr val="accent3">
              <a:lumMod val="50000"/>
              <a:alpha val="13000"/>
            </a:schemeClr>
          </a:solidFill>
          <a:ln>
            <a:solidFill>
              <a:schemeClr val="accent3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t"/>
          <a:lstStyle/>
          <a:p>
            <a:pPr algn="ctr"/>
            <a:r>
              <a:rPr lang="ru-RU" sz="1400" b="1" dirty="0" smtClean="0">
                <a:solidFill>
                  <a:schemeClr val="tx1"/>
                </a:solidFill>
              </a:rPr>
              <a:t>Сеанс </a:t>
            </a:r>
            <a:r>
              <a:rPr lang="ru-RU" sz="1400" b="1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90128" y="1193839"/>
            <a:ext cx="28311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dirty="0"/>
              <a:t>Реализация 2</a:t>
            </a:r>
          </a:p>
        </p:txBody>
      </p:sp>
    </p:spTree>
    <p:extLst>
      <p:ext uri="{BB962C8B-B14F-4D97-AF65-F5344CB8AC3E}">
        <p14:creationId xmlns:p14="http://schemas.microsoft.com/office/powerpoint/2010/main" val="307384748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Скругленный прямоугольник 10"/>
          <p:cNvSpPr/>
          <p:nvPr/>
        </p:nvSpPr>
        <p:spPr>
          <a:xfrm>
            <a:off x="188119" y="2881779"/>
            <a:ext cx="8784000" cy="2205651"/>
          </a:xfrm>
          <a:prstGeom prst="roundRect">
            <a:avLst/>
          </a:prstGeom>
          <a:solidFill>
            <a:schemeClr val="accent2">
              <a:alpha val="5000"/>
            </a:schemeClr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sz="2400" dirty="0"/>
              <a:t>Заканчивается транзакция Пользователя 1 </a:t>
            </a:r>
          </a:p>
        </p:txBody>
      </p:sp>
      <p:graphicFrame>
        <p:nvGraphicFramePr>
          <p:cNvPr id="3" name="Таблица 2"/>
          <p:cNvGraphicFramePr>
            <a:graphicFrameLocks noGrp="1"/>
          </p:cNvGraphicFramePr>
          <p:nvPr/>
        </p:nvGraphicFramePr>
        <p:xfrm>
          <a:off x="1071273" y="1583138"/>
          <a:ext cx="2831184" cy="1112520"/>
        </p:xfrm>
        <a:graphic>
          <a:graphicData uri="http://schemas.openxmlformats.org/drawingml/2006/table">
            <a:tbl>
              <a:tblPr firstRow="1" bandRow="1">
                <a:tableStyleId>{BC89EF96-8CEA-46FF-86C4-4CE0E7609802}</a:tableStyleId>
              </a:tblPr>
              <a:tblGrid>
                <a:gridCol w="1415592">
                  <a:extLst>
                    <a:ext uri="{9D8B030D-6E8A-4147-A177-3AD203B41FA5}">
                      <a16:colId xmlns:a16="http://schemas.microsoft.com/office/drawing/2014/main" val="468285455"/>
                    </a:ext>
                  </a:extLst>
                </a:gridCol>
                <a:gridCol w="1415592">
                  <a:extLst>
                    <a:ext uri="{9D8B030D-6E8A-4147-A177-3AD203B41FA5}">
                      <a16:colId xmlns:a16="http://schemas.microsoft.com/office/drawing/2014/main" val="253042638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Товар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Количество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6893805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Яблоки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9867608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Груши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15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06191117"/>
                  </a:ext>
                </a:extLst>
              </a:tr>
            </a:tbl>
          </a:graphicData>
        </a:graphic>
      </p:graphicFrame>
      <p:sp>
        <p:nvSpPr>
          <p:cNvPr id="5" name="Скругленный прямоугольник 4"/>
          <p:cNvSpPr/>
          <p:nvPr/>
        </p:nvSpPr>
        <p:spPr>
          <a:xfrm>
            <a:off x="188119" y="1193839"/>
            <a:ext cx="4015818" cy="1603672"/>
          </a:xfrm>
          <a:prstGeom prst="roundRect">
            <a:avLst/>
          </a:prstGeom>
          <a:solidFill>
            <a:schemeClr val="accent1">
              <a:alpha val="13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t"/>
          <a:lstStyle/>
          <a:p>
            <a:pPr algn="ctr"/>
            <a:r>
              <a:rPr lang="ru-RU" sz="1400" b="1" dirty="0">
                <a:solidFill>
                  <a:schemeClr val="tx1"/>
                </a:solidFill>
              </a:rPr>
              <a:t>Сеанс </a:t>
            </a:r>
            <a:r>
              <a:rPr lang="ru-RU" sz="1400" b="1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273" y="1193839"/>
            <a:ext cx="28311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dirty="0"/>
              <a:t>Реализация 1</a:t>
            </a:r>
          </a:p>
        </p:txBody>
      </p:sp>
      <p:graphicFrame>
        <p:nvGraphicFramePr>
          <p:cNvPr id="9" name="Таблица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8461399"/>
              </p:ext>
            </p:extLst>
          </p:nvPr>
        </p:nvGraphicFramePr>
        <p:xfrm>
          <a:off x="428689" y="3161182"/>
          <a:ext cx="8302860" cy="1854200"/>
        </p:xfrm>
        <a:graphic>
          <a:graphicData uri="http://schemas.openxmlformats.org/drawingml/2006/table">
            <a:tbl>
              <a:tblPr firstRow="1" bandRow="1">
                <a:tableStyleId>{5DA37D80-6434-44D0-A028-1B22A696006F}</a:tableStyleId>
              </a:tblPr>
              <a:tblGrid>
                <a:gridCol w="2075715">
                  <a:extLst>
                    <a:ext uri="{9D8B030D-6E8A-4147-A177-3AD203B41FA5}">
                      <a16:colId xmlns:a16="http://schemas.microsoft.com/office/drawing/2014/main" val="2324821976"/>
                    </a:ext>
                  </a:extLst>
                </a:gridCol>
                <a:gridCol w="2075715">
                  <a:extLst>
                    <a:ext uri="{9D8B030D-6E8A-4147-A177-3AD203B41FA5}">
                      <a16:colId xmlns:a16="http://schemas.microsoft.com/office/drawing/2014/main" val="1564422885"/>
                    </a:ext>
                  </a:extLst>
                </a:gridCol>
                <a:gridCol w="2075715">
                  <a:extLst>
                    <a:ext uri="{9D8B030D-6E8A-4147-A177-3AD203B41FA5}">
                      <a16:colId xmlns:a16="http://schemas.microsoft.com/office/drawing/2014/main" val="1566694057"/>
                    </a:ext>
                  </a:extLst>
                </a:gridCol>
                <a:gridCol w="2075715">
                  <a:extLst>
                    <a:ext uri="{9D8B030D-6E8A-4147-A177-3AD203B41FA5}">
                      <a16:colId xmlns:a16="http://schemas.microsoft.com/office/drawing/2014/main" val="278364325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ru-RU" dirty="0" smtClean="0"/>
                        <a:t>Сеансы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Таблица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Поле таблицы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Значение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360966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 smtClean="0"/>
                        <a:t>Сеанс </a:t>
                      </a:r>
                      <a:r>
                        <a:rPr lang="ru-RU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«Остатки товаров»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«Номенклатура»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Яблоки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8571571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 smtClean="0"/>
                        <a:t>Сеанс </a:t>
                      </a:r>
                      <a:r>
                        <a:rPr lang="ru-RU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«Остатки товаров»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«Номенклатура»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Груши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6598506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dirty="0" smtClean="0"/>
                        <a:t>Сеанс </a:t>
                      </a:r>
                      <a:r>
                        <a:rPr lang="ru-RU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«Остатки товаров»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«Номенклатура»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Яблоки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793343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 smtClean="0"/>
                        <a:t>Сеанс </a:t>
                      </a:r>
                      <a:r>
                        <a:rPr lang="ru-RU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«Остатки товаров»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«Номенклатура»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Апельсины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74693088"/>
                  </a:ext>
                </a:extLst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428689" y="2804208"/>
            <a:ext cx="83028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b="1" dirty="0">
                <a:solidFill>
                  <a:schemeClr val="accent2"/>
                </a:solidFill>
              </a:rPr>
              <a:t>Сервер 1с Таблица «заблокированных» данных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8689" y="5310554"/>
            <a:ext cx="25841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solidFill>
                  <a:schemeClr val="accent5">
                    <a:lumMod val="50000"/>
                  </a:schemeClr>
                </a:solidFill>
              </a:rPr>
              <a:t>База данных</a:t>
            </a:r>
          </a:p>
        </p:txBody>
      </p:sp>
      <p:sp>
        <p:nvSpPr>
          <p:cNvPr id="15" name="Блок-схема: магнитный диск 14"/>
          <p:cNvSpPr/>
          <p:nvPr/>
        </p:nvSpPr>
        <p:spPr>
          <a:xfrm>
            <a:off x="2196027" y="5327809"/>
            <a:ext cx="4464000" cy="1143329"/>
          </a:xfrm>
          <a:prstGeom prst="flowChartMagneticDisk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Регистр «Остатки товаров»</a:t>
            </a:r>
          </a:p>
        </p:txBody>
      </p:sp>
      <p:graphicFrame>
        <p:nvGraphicFramePr>
          <p:cNvPr id="13" name="Таблица 12"/>
          <p:cNvGraphicFramePr>
            <a:graphicFrameLocks noGrp="1"/>
          </p:cNvGraphicFramePr>
          <p:nvPr/>
        </p:nvGraphicFramePr>
        <p:xfrm>
          <a:off x="5290128" y="1583138"/>
          <a:ext cx="2831184" cy="1112520"/>
        </p:xfrm>
        <a:graphic>
          <a:graphicData uri="http://schemas.openxmlformats.org/drawingml/2006/table">
            <a:tbl>
              <a:tblPr firstRow="1" bandRow="1">
                <a:tableStyleId>{8799B23B-EC83-4686-B30A-512413B5E67A}</a:tableStyleId>
              </a:tblPr>
              <a:tblGrid>
                <a:gridCol w="1415592">
                  <a:extLst>
                    <a:ext uri="{9D8B030D-6E8A-4147-A177-3AD203B41FA5}">
                      <a16:colId xmlns:a16="http://schemas.microsoft.com/office/drawing/2014/main" val="468285455"/>
                    </a:ext>
                  </a:extLst>
                </a:gridCol>
                <a:gridCol w="1415592">
                  <a:extLst>
                    <a:ext uri="{9D8B030D-6E8A-4147-A177-3AD203B41FA5}">
                      <a16:colId xmlns:a16="http://schemas.microsoft.com/office/drawing/2014/main" val="253042638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Товар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Количество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6893805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Яблоки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13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9867608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Апельсины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12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06191117"/>
                  </a:ext>
                </a:extLst>
              </a:tr>
            </a:tbl>
          </a:graphicData>
        </a:graphic>
      </p:graphicFrame>
      <p:sp>
        <p:nvSpPr>
          <p:cNvPr id="16" name="Скругленный прямоугольник 15"/>
          <p:cNvSpPr/>
          <p:nvPr/>
        </p:nvSpPr>
        <p:spPr>
          <a:xfrm>
            <a:off x="4715731" y="1193839"/>
            <a:ext cx="4015818" cy="1610369"/>
          </a:xfrm>
          <a:prstGeom prst="roundRect">
            <a:avLst/>
          </a:prstGeom>
          <a:solidFill>
            <a:schemeClr val="accent3">
              <a:lumMod val="50000"/>
              <a:alpha val="13000"/>
            </a:schemeClr>
          </a:solidFill>
          <a:ln>
            <a:solidFill>
              <a:schemeClr val="accent3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t"/>
          <a:lstStyle/>
          <a:p>
            <a:pPr algn="ctr"/>
            <a:r>
              <a:rPr lang="ru-RU" sz="1400" b="1" dirty="0">
                <a:solidFill>
                  <a:schemeClr val="tx1"/>
                </a:solidFill>
              </a:rPr>
              <a:t>Сеанс </a:t>
            </a:r>
            <a:r>
              <a:rPr lang="ru-RU" sz="1400" b="1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90128" y="1193839"/>
            <a:ext cx="28311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dirty="0"/>
              <a:t>Реализация 2</a:t>
            </a:r>
          </a:p>
        </p:txBody>
      </p:sp>
    </p:spTree>
    <p:extLst>
      <p:ext uri="{BB962C8B-B14F-4D97-AF65-F5344CB8AC3E}">
        <p14:creationId xmlns:p14="http://schemas.microsoft.com/office/powerpoint/2010/main" val="307295325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Скругленный прямоугольник 10"/>
          <p:cNvSpPr/>
          <p:nvPr/>
        </p:nvSpPr>
        <p:spPr>
          <a:xfrm>
            <a:off x="188119" y="2881779"/>
            <a:ext cx="8784000" cy="2205651"/>
          </a:xfrm>
          <a:prstGeom prst="roundRect">
            <a:avLst/>
          </a:prstGeom>
          <a:solidFill>
            <a:schemeClr val="accent2">
              <a:alpha val="5000"/>
            </a:schemeClr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ru-RU" sz="2400" dirty="0"/>
              <a:t>Запись Пользователя 1 автоматически удаляется из таблицы заблокированных данных</a:t>
            </a:r>
          </a:p>
        </p:txBody>
      </p:sp>
      <p:graphicFrame>
        <p:nvGraphicFramePr>
          <p:cNvPr id="9" name="Таблица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76216565"/>
              </p:ext>
            </p:extLst>
          </p:nvPr>
        </p:nvGraphicFramePr>
        <p:xfrm>
          <a:off x="428689" y="3161182"/>
          <a:ext cx="8302860" cy="1112520"/>
        </p:xfrm>
        <a:graphic>
          <a:graphicData uri="http://schemas.openxmlformats.org/drawingml/2006/table">
            <a:tbl>
              <a:tblPr firstRow="1" bandRow="1">
                <a:tableStyleId>{5DA37D80-6434-44D0-A028-1B22A696006F}</a:tableStyleId>
              </a:tblPr>
              <a:tblGrid>
                <a:gridCol w="2075715">
                  <a:extLst>
                    <a:ext uri="{9D8B030D-6E8A-4147-A177-3AD203B41FA5}">
                      <a16:colId xmlns:a16="http://schemas.microsoft.com/office/drawing/2014/main" val="2324821976"/>
                    </a:ext>
                  </a:extLst>
                </a:gridCol>
                <a:gridCol w="2075715">
                  <a:extLst>
                    <a:ext uri="{9D8B030D-6E8A-4147-A177-3AD203B41FA5}">
                      <a16:colId xmlns:a16="http://schemas.microsoft.com/office/drawing/2014/main" val="1564422885"/>
                    </a:ext>
                  </a:extLst>
                </a:gridCol>
                <a:gridCol w="2075715">
                  <a:extLst>
                    <a:ext uri="{9D8B030D-6E8A-4147-A177-3AD203B41FA5}">
                      <a16:colId xmlns:a16="http://schemas.microsoft.com/office/drawing/2014/main" val="1566694057"/>
                    </a:ext>
                  </a:extLst>
                </a:gridCol>
                <a:gridCol w="2075715">
                  <a:extLst>
                    <a:ext uri="{9D8B030D-6E8A-4147-A177-3AD203B41FA5}">
                      <a16:colId xmlns:a16="http://schemas.microsoft.com/office/drawing/2014/main" val="278364325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ru-RU" dirty="0" smtClean="0"/>
                        <a:t>Сеансы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Таблица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Поле таблицы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Значение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360966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dirty="0" smtClean="0"/>
                        <a:t>Сеанс </a:t>
                      </a:r>
                      <a:r>
                        <a:rPr lang="ru-RU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«Остатки товаров»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«Номенклатура»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Яблоки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793343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 smtClean="0"/>
                        <a:t>Сеанс </a:t>
                      </a:r>
                      <a:r>
                        <a:rPr lang="ru-RU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«Остатки товаров»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«Номенклатура»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Апельсины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74693088"/>
                  </a:ext>
                </a:extLst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428689" y="2804208"/>
            <a:ext cx="83028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b="1" dirty="0">
                <a:solidFill>
                  <a:schemeClr val="accent2"/>
                </a:solidFill>
              </a:rPr>
              <a:t>Сервер 1с Таблица «заблокированных» данных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8689" y="5310554"/>
            <a:ext cx="25841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solidFill>
                  <a:schemeClr val="accent5">
                    <a:lumMod val="50000"/>
                  </a:schemeClr>
                </a:solidFill>
              </a:rPr>
              <a:t>База данных</a:t>
            </a:r>
          </a:p>
        </p:txBody>
      </p:sp>
      <p:sp>
        <p:nvSpPr>
          <p:cNvPr id="15" name="Блок-схема: магнитный диск 14"/>
          <p:cNvSpPr/>
          <p:nvPr/>
        </p:nvSpPr>
        <p:spPr>
          <a:xfrm>
            <a:off x="2196028" y="5327809"/>
            <a:ext cx="4464000" cy="1143329"/>
          </a:xfrm>
          <a:prstGeom prst="flowChartMagneticDisk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Регистр «Остатки товаров»</a:t>
            </a:r>
          </a:p>
        </p:txBody>
      </p:sp>
      <p:graphicFrame>
        <p:nvGraphicFramePr>
          <p:cNvPr id="13" name="Таблица 12"/>
          <p:cNvGraphicFramePr>
            <a:graphicFrameLocks noGrp="1"/>
          </p:cNvGraphicFramePr>
          <p:nvPr/>
        </p:nvGraphicFramePr>
        <p:xfrm>
          <a:off x="5290128" y="1583138"/>
          <a:ext cx="2831184" cy="1112520"/>
        </p:xfrm>
        <a:graphic>
          <a:graphicData uri="http://schemas.openxmlformats.org/drawingml/2006/table">
            <a:tbl>
              <a:tblPr firstRow="1" bandRow="1">
                <a:tableStyleId>{8799B23B-EC83-4686-B30A-512413B5E67A}</a:tableStyleId>
              </a:tblPr>
              <a:tblGrid>
                <a:gridCol w="1415592">
                  <a:extLst>
                    <a:ext uri="{9D8B030D-6E8A-4147-A177-3AD203B41FA5}">
                      <a16:colId xmlns:a16="http://schemas.microsoft.com/office/drawing/2014/main" val="468285455"/>
                    </a:ext>
                  </a:extLst>
                </a:gridCol>
                <a:gridCol w="1415592">
                  <a:extLst>
                    <a:ext uri="{9D8B030D-6E8A-4147-A177-3AD203B41FA5}">
                      <a16:colId xmlns:a16="http://schemas.microsoft.com/office/drawing/2014/main" val="253042638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Товар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Количество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6893805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Яблоки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13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9867608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Апельсины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12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06191117"/>
                  </a:ext>
                </a:extLst>
              </a:tr>
            </a:tbl>
          </a:graphicData>
        </a:graphic>
      </p:graphicFrame>
      <p:sp>
        <p:nvSpPr>
          <p:cNvPr id="16" name="Скругленный прямоугольник 15"/>
          <p:cNvSpPr/>
          <p:nvPr/>
        </p:nvSpPr>
        <p:spPr>
          <a:xfrm>
            <a:off x="4715731" y="1193839"/>
            <a:ext cx="4015818" cy="1610369"/>
          </a:xfrm>
          <a:prstGeom prst="roundRect">
            <a:avLst/>
          </a:prstGeom>
          <a:solidFill>
            <a:schemeClr val="accent3">
              <a:lumMod val="50000"/>
              <a:alpha val="13000"/>
            </a:schemeClr>
          </a:solidFill>
          <a:ln>
            <a:solidFill>
              <a:schemeClr val="accent3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t"/>
          <a:lstStyle/>
          <a:p>
            <a:pPr algn="ctr"/>
            <a:r>
              <a:rPr lang="ru-RU" sz="1400" b="1" dirty="0">
                <a:solidFill>
                  <a:schemeClr val="tx1"/>
                </a:solidFill>
              </a:rPr>
              <a:t>Сеанс </a:t>
            </a:r>
            <a:r>
              <a:rPr lang="ru-RU" sz="1400" b="1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90128" y="1193839"/>
            <a:ext cx="28311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dirty="0"/>
              <a:t>Реализация 2</a:t>
            </a:r>
          </a:p>
        </p:txBody>
      </p:sp>
    </p:spTree>
    <p:extLst>
      <p:ext uri="{BB962C8B-B14F-4D97-AF65-F5344CB8AC3E}">
        <p14:creationId xmlns:p14="http://schemas.microsoft.com/office/powerpoint/2010/main" val="92145672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Скругленный прямоугольник 10"/>
          <p:cNvSpPr/>
          <p:nvPr/>
        </p:nvSpPr>
        <p:spPr>
          <a:xfrm>
            <a:off x="188119" y="2881779"/>
            <a:ext cx="8784000" cy="2205651"/>
          </a:xfrm>
          <a:prstGeom prst="roundRect">
            <a:avLst/>
          </a:prstGeom>
          <a:solidFill>
            <a:schemeClr val="accent2">
              <a:alpha val="5000"/>
            </a:schemeClr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ru-RU" sz="2400" dirty="0"/>
              <a:t>В таблице блокировок нет повторов по полям – таблица – поле таблицы - значение</a:t>
            </a:r>
          </a:p>
        </p:txBody>
      </p:sp>
      <p:graphicFrame>
        <p:nvGraphicFramePr>
          <p:cNvPr id="9" name="Таблица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29029967"/>
              </p:ext>
            </p:extLst>
          </p:nvPr>
        </p:nvGraphicFramePr>
        <p:xfrm>
          <a:off x="428689" y="3161182"/>
          <a:ext cx="8302860" cy="1112520"/>
        </p:xfrm>
        <a:graphic>
          <a:graphicData uri="http://schemas.openxmlformats.org/drawingml/2006/table">
            <a:tbl>
              <a:tblPr firstRow="1" bandRow="1">
                <a:tableStyleId>{5DA37D80-6434-44D0-A028-1B22A696006F}</a:tableStyleId>
              </a:tblPr>
              <a:tblGrid>
                <a:gridCol w="2075715">
                  <a:extLst>
                    <a:ext uri="{9D8B030D-6E8A-4147-A177-3AD203B41FA5}">
                      <a16:colId xmlns:a16="http://schemas.microsoft.com/office/drawing/2014/main" val="2324821976"/>
                    </a:ext>
                  </a:extLst>
                </a:gridCol>
                <a:gridCol w="2075715">
                  <a:extLst>
                    <a:ext uri="{9D8B030D-6E8A-4147-A177-3AD203B41FA5}">
                      <a16:colId xmlns:a16="http://schemas.microsoft.com/office/drawing/2014/main" val="1564422885"/>
                    </a:ext>
                  </a:extLst>
                </a:gridCol>
                <a:gridCol w="2075715">
                  <a:extLst>
                    <a:ext uri="{9D8B030D-6E8A-4147-A177-3AD203B41FA5}">
                      <a16:colId xmlns:a16="http://schemas.microsoft.com/office/drawing/2014/main" val="1566694057"/>
                    </a:ext>
                  </a:extLst>
                </a:gridCol>
                <a:gridCol w="2075715">
                  <a:extLst>
                    <a:ext uri="{9D8B030D-6E8A-4147-A177-3AD203B41FA5}">
                      <a16:colId xmlns:a16="http://schemas.microsoft.com/office/drawing/2014/main" val="278364325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ru-RU" dirty="0" smtClean="0"/>
                        <a:t>Сеансы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Таблица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Поле таблицы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Значение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360966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dirty="0"/>
                        <a:t>Пользователь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«Остатки товаров»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«Номенклатура»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Яблоки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793343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Пользователь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«Остатки товаров»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«Номенклатура»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Апельсины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74693088"/>
                  </a:ext>
                </a:extLst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428689" y="2804208"/>
            <a:ext cx="83028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b="1" dirty="0">
                <a:solidFill>
                  <a:schemeClr val="accent2"/>
                </a:solidFill>
              </a:rPr>
              <a:t>Сервер 1с Таблица «заблокированных» данных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8689" y="5310554"/>
            <a:ext cx="25841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solidFill>
                  <a:schemeClr val="accent5">
                    <a:lumMod val="50000"/>
                  </a:schemeClr>
                </a:solidFill>
              </a:rPr>
              <a:t>База данных</a:t>
            </a:r>
          </a:p>
        </p:txBody>
      </p:sp>
      <p:sp>
        <p:nvSpPr>
          <p:cNvPr id="15" name="Блок-схема: магнитный диск 14"/>
          <p:cNvSpPr/>
          <p:nvPr/>
        </p:nvSpPr>
        <p:spPr>
          <a:xfrm>
            <a:off x="2196028" y="5327809"/>
            <a:ext cx="4462680" cy="1143329"/>
          </a:xfrm>
          <a:prstGeom prst="flowChartMagneticDisk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Регистр «Остатки товаров»</a:t>
            </a:r>
          </a:p>
        </p:txBody>
      </p:sp>
      <p:graphicFrame>
        <p:nvGraphicFramePr>
          <p:cNvPr id="13" name="Таблица 12"/>
          <p:cNvGraphicFramePr>
            <a:graphicFrameLocks noGrp="1"/>
          </p:cNvGraphicFramePr>
          <p:nvPr/>
        </p:nvGraphicFramePr>
        <p:xfrm>
          <a:off x="5290128" y="1583138"/>
          <a:ext cx="2831184" cy="1112520"/>
        </p:xfrm>
        <a:graphic>
          <a:graphicData uri="http://schemas.openxmlformats.org/drawingml/2006/table">
            <a:tbl>
              <a:tblPr firstRow="1" bandRow="1">
                <a:tableStyleId>{8799B23B-EC83-4686-B30A-512413B5E67A}</a:tableStyleId>
              </a:tblPr>
              <a:tblGrid>
                <a:gridCol w="1415592">
                  <a:extLst>
                    <a:ext uri="{9D8B030D-6E8A-4147-A177-3AD203B41FA5}">
                      <a16:colId xmlns:a16="http://schemas.microsoft.com/office/drawing/2014/main" val="468285455"/>
                    </a:ext>
                  </a:extLst>
                </a:gridCol>
                <a:gridCol w="1415592">
                  <a:extLst>
                    <a:ext uri="{9D8B030D-6E8A-4147-A177-3AD203B41FA5}">
                      <a16:colId xmlns:a16="http://schemas.microsoft.com/office/drawing/2014/main" val="253042638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Товар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Количество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6893805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Яблоки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13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9867608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Апельсины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12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06191117"/>
                  </a:ext>
                </a:extLst>
              </a:tr>
            </a:tbl>
          </a:graphicData>
        </a:graphic>
      </p:graphicFrame>
      <p:sp>
        <p:nvSpPr>
          <p:cNvPr id="16" name="Скругленный прямоугольник 15"/>
          <p:cNvSpPr/>
          <p:nvPr/>
        </p:nvSpPr>
        <p:spPr>
          <a:xfrm>
            <a:off x="4715731" y="1193839"/>
            <a:ext cx="4015818" cy="1610369"/>
          </a:xfrm>
          <a:prstGeom prst="roundRect">
            <a:avLst/>
          </a:prstGeom>
          <a:solidFill>
            <a:schemeClr val="accent3">
              <a:lumMod val="50000"/>
              <a:alpha val="13000"/>
            </a:schemeClr>
          </a:solidFill>
          <a:ln>
            <a:solidFill>
              <a:schemeClr val="accent3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t"/>
          <a:lstStyle/>
          <a:p>
            <a:pPr algn="ctr"/>
            <a:r>
              <a:rPr lang="ru-RU" sz="1400" b="1" dirty="0">
                <a:solidFill>
                  <a:schemeClr val="tx1"/>
                </a:solidFill>
              </a:rPr>
              <a:t>Сеанс </a:t>
            </a:r>
            <a:r>
              <a:rPr lang="ru-RU" sz="1400" b="1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90128" y="1193839"/>
            <a:ext cx="28311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dirty="0"/>
              <a:t>Реализация 2</a:t>
            </a:r>
          </a:p>
        </p:txBody>
      </p:sp>
      <p:sp>
        <p:nvSpPr>
          <p:cNvPr id="18" name="Двойная стрелка вверх/вниз 17"/>
          <p:cNvSpPr/>
          <p:nvPr/>
        </p:nvSpPr>
        <p:spPr>
          <a:xfrm>
            <a:off x="6263728" y="2715625"/>
            <a:ext cx="558895" cy="2635300"/>
          </a:xfrm>
          <a:prstGeom prst="upDownArrow">
            <a:avLst/>
          </a:prstGeom>
          <a:solidFill>
            <a:schemeClr val="accent1">
              <a:alpha val="39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ru-RU" dirty="0">
                <a:solidFill>
                  <a:schemeClr val="tx2">
                    <a:lumMod val="50000"/>
                  </a:schemeClr>
                </a:solidFill>
              </a:rPr>
              <a:t>Запрос</a:t>
            </a:r>
          </a:p>
        </p:txBody>
      </p:sp>
    </p:spTree>
    <p:extLst>
      <p:ext uri="{BB962C8B-B14F-4D97-AF65-F5344CB8AC3E}">
        <p14:creationId xmlns:p14="http://schemas.microsoft.com/office/powerpoint/2010/main" val="311124715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Скругленный прямоугольник 10"/>
          <p:cNvSpPr/>
          <p:nvPr/>
        </p:nvSpPr>
        <p:spPr>
          <a:xfrm>
            <a:off x="188119" y="2881779"/>
            <a:ext cx="8784000" cy="2205651"/>
          </a:xfrm>
          <a:prstGeom prst="roundRect">
            <a:avLst/>
          </a:prstGeom>
          <a:solidFill>
            <a:schemeClr val="accent2">
              <a:alpha val="5000"/>
            </a:schemeClr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ru-RU" sz="2400" dirty="0"/>
              <a:t>Заканчивается транзакция Пользователя 2 </a:t>
            </a:r>
          </a:p>
        </p:txBody>
      </p:sp>
      <p:graphicFrame>
        <p:nvGraphicFramePr>
          <p:cNvPr id="9" name="Таблица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74686235"/>
              </p:ext>
            </p:extLst>
          </p:nvPr>
        </p:nvGraphicFramePr>
        <p:xfrm>
          <a:off x="428689" y="3161182"/>
          <a:ext cx="8302860" cy="1112520"/>
        </p:xfrm>
        <a:graphic>
          <a:graphicData uri="http://schemas.openxmlformats.org/drawingml/2006/table">
            <a:tbl>
              <a:tblPr firstRow="1" bandRow="1">
                <a:tableStyleId>{5DA37D80-6434-44D0-A028-1B22A696006F}</a:tableStyleId>
              </a:tblPr>
              <a:tblGrid>
                <a:gridCol w="2075715">
                  <a:extLst>
                    <a:ext uri="{9D8B030D-6E8A-4147-A177-3AD203B41FA5}">
                      <a16:colId xmlns:a16="http://schemas.microsoft.com/office/drawing/2014/main" val="2324821976"/>
                    </a:ext>
                  </a:extLst>
                </a:gridCol>
                <a:gridCol w="2075715">
                  <a:extLst>
                    <a:ext uri="{9D8B030D-6E8A-4147-A177-3AD203B41FA5}">
                      <a16:colId xmlns:a16="http://schemas.microsoft.com/office/drawing/2014/main" val="1564422885"/>
                    </a:ext>
                  </a:extLst>
                </a:gridCol>
                <a:gridCol w="2075715">
                  <a:extLst>
                    <a:ext uri="{9D8B030D-6E8A-4147-A177-3AD203B41FA5}">
                      <a16:colId xmlns:a16="http://schemas.microsoft.com/office/drawing/2014/main" val="1566694057"/>
                    </a:ext>
                  </a:extLst>
                </a:gridCol>
                <a:gridCol w="2075715">
                  <a:extLst>
                    <a:ext uri="{9D8B030D-6E8A-4147-A177-3AD203B41FA5}">
                      <a16:colId xmlns:a16="http://schemas.microsoft.com/office/drawing/2014/main" val="278364325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ru-RU" dirty="0" smtClean="0"/>
                        <a:t>Сеансы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Таблица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Поле таблицы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Значение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360966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dirty="0" smtClean="0"/>
                        <a:t>Сеанс </a:t>
                      </a:r>
                      <a:r>
                        <a:rPr lang="ru-RU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«Остатки товаров»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«Номенклатура»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Яблоки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793343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 smtClean="0"/>
                        <a:t>Сеанс </a:t>
                      </a:r>
                      <a:r>
                        <a:rPr lang="ru-RU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«Остатки товаров»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«Номенклатура»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Апельсины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74693088"/>
                  </a:ext>
                </a:extLst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428689" y="2804208"/>
            <a:ext cx="83028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b="1" dirty="0">
                <a:solidFill>
                  <a:schemeClr val="accent2"/>
                </a:solidFill>
              </a:rPr>
              <a:t>Сервер 1с Таблица «заблокированных» данных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8689" y="5310554"/>
            <a:ext cx="25841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solidFill>
                  <a:schemeClr val="accent5">
                    <a:lumMod val="50000"/>
                  </a:schemeClr>
                </a:solidFill>
              </a:rPr>
              <a:t>База данных</a:t>
            </a:r>
          </a:p>
        </p:txBody>
      </p:sp>
      <p:sp>
        <p:nvSpPr>
          <p:cNvPr id="15" name="Блок-схема: магнитный диск 14"/>
          <p:cNvSpPr/>
          <p:nvPr/>
        </p:nvSpPr>
        <p:spPr>
          <a:xfrm>
            <a:off x="2196028" y="5327809"/>
            <a:ext cx="4462680" cy="1143329"/>
          </a:xfrm>
          <a:prstGeom prst="flowChartMagneticDisk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Регистр «Остатки товаров»</a:t>
            </a:r>
          </a:p>
        </p:txBody>
      </p:sp>
      <p:graphicFrame>
        <p:nvGraphicFramePr>
          <p:cNvPr id="13" name="Таблица 12"/>
          <p:cNvGraphicFramePr>
            <a:graphicFrameLocks noGrp="1"/>
          </p:cNvGraphicFramePr>
          <p:nvPr/>
        </p:nvGraphicFramePr>
        <p:xfrm>
          <a:off x="5290128" y="1583138"/>
          <a:ext cx="2831184" cy="1112520"/>
        </p:xfrm>
        <a:graphic>
          <a:graphicData uri="http://schemas.openxmlformats.org/drawingml/2006/table">
            <a:tbl>
              <a:tblPr firstRow="1" bandRow="1">
                <a:tableStyleId>{8799B23B-EC83-4686-B30A-512413B5E67A}</a:tableStyleId>
              </a:tblPr>
              <a:tblGrid>
                <a:gridCol w="1415592">
                  <a:extLst>
                    <a:ext uri="{9D8B030D-6E8A-4147-A177-3AD203B41FA5}">
                      <a16:colId xmlns:a16="http://schemas.microsoft.com/office/drawing/2014/main" val="468285455"/>
                    </a:ext>
                  </a:extLst>
                </a:gridCol>
                <a:gridCol w="1415592">
                  <a:extLst>
                    <a:ext uri="{9D8B030D-6E8A-4147-A177-3AD203B41FA5}">
                      <a16:colId xmlns:a16="http://schemas.microsoft.com/office/drawing/2014/main" val="253042638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Товар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Количество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6893805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Яблоки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13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9867608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Апельсины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12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06191117"/>
                  </a:ext>
                </a:extLst>
              </a:tr>
            </a:tbl>
          </a:graphicData>
        </a:graphic>
      </p:graphicFrame>
      <p:sp>
        <p:nvSpPr>
          <p:cNvPr id="16" name="Скругленный прямоугольник 15"/>
          <p:cNvSpPr/>
          <p:nvPr/>
        </p:nvSpPr>
        <p:spPr>
          <a:xfrm>
            <a:off x="4715731" y="1193839"/>
            <a:ext cx="4015818" cy="1610369"/>
          </a:xfrm>
          <a:prstGeom prst="roundRect">
            <a:avLst/>
          </a:prstGeom>
          <a:solidFill>
            <a:schemeClr val="accent3">
              <a:lumMod val="50000"/>
              <a:alpha val="13000"/>
            </a:schemeClr>
          </a:solidFill>
          <a:ln>
            <a:solidFill>
              <a:schemeClr val="accent3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t"/>
          <a:lstStyle/>
          <a:p>
            <a:pPr algn="ctr"/>
            <a:r>
              <a:rPr lang="ru-RU" sz="1400" b="1" dirty="0">
                <a:solidFill>
                  <a:schemeClr val="tx1"/>
                </a:solidFill>
              </a:rPr>
              <a:t>Сеанс </a:t>
            </a:r>
            <a:r>
              <a:rPr lang="ru-RU" sz="1400" b="1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90128" y="1193839"/>
            <a:ext cx="28311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dirty="0"/>
              <a:t>Реализация 2</a:t>
            </a:r>
          </a:p>
        </p:txBody>
      </p:sp>
    </p:spTree>
    <p:extLst>
      <p:ext uri="{BB962C8B-B14F-4D97-AF65-F5344CB8AC3E}">
        <p14:creationId xmlns:p14="http://schemas.microsoft.com/office/powerpoint/2010/main" val="287114757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Скругленный прямоугольник 10"/>
          <p:cNvSpPr/>
          <p:nvPr/>
        </p:nvSpPr>
        <p:spPr>
          <a:xfrm>
            <a:off x="188119" y="2881779"/>
            <a:ext cx="8784000" cy="2205651"/>
          </a:xfrm>
          <a:prstGeom prst="roundRect">
            <a:avLst/>
          </a:prstGeom>
          <a:solidFill>
            <a:schemeClr val="accent2">
              <a:alpha val="5000"/>
            </a:schemeClr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sz="2400" dirty="0"/>
              <a:t>Запись Пользователя 2 автоматически удаляется из таблицы заблокированных данных</a:t>
            </a:r>
          </a:p>
        </p:txBody>
      </p:sp>
      <p:graphicFrame>
        <p:nvGraphicFramePr>
          <p:cNvPr id="9" name="Таблица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70343401"/>
              </p:ext>
            </p:extLst>
          </p:nvPr>
        </p:nvGraphicFramePr>
        <p:xfrm>
          <a:off x="428689" y="3161182"/>
          <a:ext cx="8302860" cy="370840"/>
        </p:xfrm>
        <a:graphic>
          <a:graphicData uri="http://schemas.openxmlformats.org/drawingml/2006/table">
            <a:tbl>
              <a:tblPr firstRow="1" bandRow="1">
                <a:tableStyleId>{5DA37D80-6434-44D0-A028-1B22A696006F}</a:tableStyleId>
              </a:tblPr>
              <a:tblGrid>
                <a:gridCol w="2075715">
                  <a:extLst>
                    <a:ext uri="{9D8B030D-6E8A-4147-A177-3AD203B41FA5}">
                      <a16:colId xmlns:a16="http://schemas.microsoft.com/office/drawing/2014/main" val="2324821976"/>
                    </a:ext>
                  </a:extLst>
                </a:gridCol>
                <a:gridCol w="2075715">
                  <a:extLst>
                    <a:ext uri="{9D8B030D-6E8A-4147-A177-3AD203B41FA5}">
                      <a16:colId xmlns:a16="http://schemas.microsoft.com/office/drawing/2014/main" val="1564422885"/>
                    </a:ext>
                  </a:extLst>
                </a:gridCol>
                <a:gridCol w="2075715">
                  <a:extLst>
                    <a:ext uri="{9D8B030D-6E8A-4147-A177-3AD203B41FA5}">
                      <a16:colId xmlns:a16="http://schemas.microsoft.com/office/drawing/2014/main" val="1566694057"/>
                    </a:ext>
                  </a:extLst>
                </a:gridCol>
                <a:gridCol w="2075715">
                  <a:extLst>
                    <a:ext uri="{9D8B030D-6E8A-4147-A177-3AD203B41FA5}">
                      <a16:colId xmlns:a16="http://schemas.microsoft.com/office/drawing/2014/main" val="278364325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ru-RU" dirty="0" smtClean="0"/>
                        <a:t>Сеансы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Таблица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Поле таблицы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Значение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36096610"/>
                  </a:ext>
                </a:extLst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428689" y="2804208"/>
            <a:ext cx="83028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b="1" dirty="0">
                <a:solidFill>
                  <a:schemeClr val="accent2"/>
                </a:solidFill>
              </a:rPr>
              <a:t>Сервер 1с Таблица «заблокированных» данных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8689" y="5310554"/>
            <a:ext cx="25841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solidFill>
                  <a:schemeClr val="accent5">
                    <a:lumMod val="50000"/>
                  </a:schemeClr>
                </a:solidFill>
              </a:rPr>
              <a:t>База данных</a:t>
            </a:r>
          </a:p>
        </p:txBody>
      </p:sp>
      <p:sp>
        <p:nvSpPr>
          <p:cNvPr id="15" name="Блок-схема: магнитный диск 14"/>
          <p:cNvSpPr/>
          <p:nvPr/>
        </p:nvSpPr>
        <p:spPr>
          <a:xfrm>
            <a:off x="2196028" y="5327809"/>
            <a:ext cx="4462680" cy="1143329"/>
          </a:xfrm>
          <a:prstGeom prst="flowChartMagneticDisk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Регистр «Остатки товаров»</a:t>
            </a:r>
          </a:p>
        </p:txBody>
      </p:sp>
    </p:spTree>
    <p:extLst>
      <p:ext uri="{BB962C8B-B14F-4D97-AF65-F5344CB8AC3E}">
        <p14:creationId xmlns:p14="http://schemas.microsoft.com/office/powerpoint/2010/main" val="381297100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err="1">
                <a:solidFill>
                  <a:srgbClr val="FF0000"/>
                </a:solidFill>
              </a:rPr>
              <a:t>Партионный</a:t>
            </a:r>
            <a:r>
              <a:rPr lang="ru-RU" dirty="0">
                <a:solidFill>
                  <a:srgbClr val="FF0000"/>
                </a:solidFill>
              </a:rPr>
              <a:t> учет</a:t>
            </a:r>
          </a:p>
        </p:txBody>
      </p:sp>
      <p:sp>
        <p:nvSpPr>
          <p:cNvPr id="4" name="Текст 3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Списание себестоимости с учетом стоимости конкретного поступления.</a:t>
            </a:r>
          </a:p>
        </p:txBody>
      </p:sp>
    </p:spTree>
    <p:extLst>
      <p:ext uri="{BB962C8B-B14F-4D97-AF65-F5344CB8AC3E}">
        <p14:creationId xmlns:p14="http://schemas.microsoft.com/office/powerpoint/2010/main" val="40091098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08625" y="543549"/>
            <a:ext cx="8748944" cy="928686"/>
          </a:xfrm>
        </p:spPr>
        <p:txBody>
          <a:bodyPr>
            <a:normAutofit fontScale="90000"/>
          </a:bodyPr>
          <a:lstStyle/>
          <a:p>
            <a:r>
              <a:rPr lang="ru-RU" dirty="0"/>
              <a:t>По средней стоимости</a:t>
            </a:r>
            <a:br>
              <a:rPr lang="ru-RU" dirty="0"/>
            </a:br>
            <a:r>
              <a:rPr lang="ru-RU" sz="2700" dirty="0">
                <a:solidFill>
                  <a:srgbClr val="FF0000"/>
                </a:solidFill>
              </a:rPr>
              <a:t>расчета себестоимости при списании</a:t>
            </a:r>
            <a:endParaRPr lang="ru-RU" dirty="0">
              <a:solidFill>
                <a:srgbClr val="FF0000"/>
              </a:solidFill>
            </a:endParaRPr>
          </a:p>
        </p:txBody>
      </p:sp>
      <p:graphicFrame>
        <p:nvGraphicFramePr>
          <p:cNvPr id="3" name="Таблица 2"/>
          <p:cNvGraphicFramePr>
            <a:graphicFrameLocks noGrp="1"/>
          </p:cNvGraphicFramePr>
          <p:nvPr/>
        </p:nvGraphicFramePr>
        <p:xfrm>
          <a:off x="428597" y="1883810"/>
          <a:ext cx="8286807" cy="11880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48339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8245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8245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1924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1924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96000">
                <a:tc>
                  <a:txBody>
                    <a:bodyPr/>
                    <a:lstStyle/>
                    <a:p>
                      <a:pPr algn="ctr"/>
                      <a:endParaRPr lang="ru-RU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600" dirty="0"/>
                        <a:t>Регистратор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600" dirty="0"/>
                        <a:t>Номенклатура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600" dirty="0"/>
                        <a:t>Количество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600" dirty="0"/>
                        <a:t>Стоимость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6000">
                <a:tc>
                  <a:txBody>
                    <a:bodyPr/>
                    <a:lstStyle/>
                    <a:p>
                      <a:pPr algn="ctr"/>
                      <a:r>
                        <a:rPr lang="ru-RU" sz="2000" b="1" dirty="0">
                          <a:solidFill>
                            <a:srgbClr val="00B050"/>
                          </a:solidFill>
                          <a:latin typeface="Courier New" pitchFamily="49" charset="0"/>
                          <a:cs typeface="Courier New" pitchFamily="49" charset="0"/>
                        </a:rPr>
                        <a:t>+</a:t>
                      </a:r>
                    </a:p>
                  </a:txBody>
                  <a:tcPr marL="0" marR="0" marT="0" marB="0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Поступление</a:t>
                      </a:r>
                      <a:r>
                        <a:rPr lang="ru-RU" sz="1600" baseline="0" dirty="0"/>
                        <a:t> 1</a:t>
                      </a:r>
                      <a:endParaRPr lang="ru-RU" sz="1600" dirty="0"/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Яблоки</a:t>
                      </a: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600" dirty="0"/>
                        <a:t>10</a:t>
                      </a: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600" dirty="0"/>
                        <a:t>100</a:t>
                      </a: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6000">
                <a:tc>
                  <a:txBody>
                    <a:bodyPr/>
                    <a:lstStyle/>
                    <a:p>
                      <a:pPr algn="ctr"/>
                      <a:r>
                        <a:rPr lang="ru-RU" sz="2000" b="1" dirty="0">
                          <a:solidFill>
                            <a:srgbClr val="00B050"/>
                          </a:solidFill>
                          <a:latin typeface="Courier New" pitchFamily="49" charset="0"/>
                          <a:cs typeface="Courier New" pitchFamily="49" charset="0"/>
                        </a:rPr>
                        <a:t>+</a:t>
                      </a:r>
                    </a:p>
                  </a:txBody>
                  <a:tcPr marL="0" marR="0" marT="0" marB="0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Поступление 2</a:t>
                      </a: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Яблоки</a:t>
                      </a: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600" dirty="0"/>
                        <a:t>10</a:t>
                      </a: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600" dirty="0"/>
                        <a:t>200</a:t>
                      </a: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357158" y="1526620"/>
            <a:ext cx="27018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>
                <a:solidFill>
                  <a:srgbClr val="002060"/>
                </a:solidFill>
              </a:rPr>
              <a:t>Поступления </a:t>
            </a:r>
            <a:r>
              <a:rPr lang="ru-RU" dirty="0">
                <a:solidFill>
                  <a:schemeClr val="bg1">
                    <a:lumMod val="75000"/>
                  </a:schemeClr>
                </a:solidFill>
              </a:rPr>
              <a:t>(движения)</a:t>
            </a:r>
            <a:r>
              <a:rPr lang="ru-RU" dirty="0">
                <a:solidFill>
                  <a:srgbClr val="002060"/>
                </a:solidFill>
              </a:rPr>
              <a:t>:</a:t>
            </a:r>
          </a:p>
        </p:txBody>
      </p:sp>
      <p:graphicFrame>
        <p:nvGraphicFramePr>
          <p:cNvPr id="5" name="Таблица 4"/>
          <p:cNvGraphicFramePr>
            <a:graphicFrameLocks noGrp="1"/>
          </p:cNvGraphicFramePr>
          <p:nvPr/>
        </p:nvGraphicFramePr>
        <p:xfrm>
          <a:off x="2500298" y="3860608"/>
          <a:ext cx="4143404" cy="7920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82098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120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6120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96000">
                <a:tc>
                  <a:txBody>
                    <a:bodyPr/>
                    <a:lstStyle/>
                    <a:p>
                      <a:pPr algn="ctr"/>
                      <a:r>
                        <a:rPr lang="ru-RU" sz="1400" dirty="0"/>
                        <a:t>Номенклатура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/>
                        <a:t>Количество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/>
                        <a:t>Стоимость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6000">
                <a:tc>
                  <a:txBody>
                    <a:bodyPr/>
                    <a:lstStyle/>
                    <a:p>
                      <a:r>
                        <a:rPr lang="ru-RU" sz="1400" dirty="0"/>
                        <a:t>Яблоки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/>
                        <a:t>20 шт.</a:t>
                      </a:r>
                    </a:p>
                  </a:txBody>
                  <a:tcPr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/>
                        <a:t>300 руб.</a:t>
                      </a:r>
                    </a:p>
                  </a:txBody>
                  <a:tcPr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2419716" y="3497440"/>
            <a:ext cx="10191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>
                <a:solidFill>
                  <a:srgbClr val="002060"/>
                </a:solidFill>
              </a:rPr>
              <a:t>Остатки:</a:t>
            </a:r>
          </a:p>
        </p:txBody>
      </p:sp>
      <p:graphicFrame>
        <p:nvGraphicFramePr>
          <p:cNvPr id="7" name="Таблица 6"/>
          <p:cNvGraphicFramePr>
            <a:graphicFrameLocks noGrp="1"/>
          </p:cNvGraphicFramePr>
          <p:nvPr/>
        </p:nvGraphicFramePr>
        <p:xfrm>
          <a:off x="428400" y="5121798"/>
          <a:ext cx="8287200" cy="11880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4834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8256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8256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1932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1932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96000">
                <a:tc>
                  <a:txBody>
                    <a:bodyPr/>
                    <a:lstStyle/>
                    <a:p>
                      <a:pPr algn="ctr"/>
                      <a:endParaRPr lang="ru-RU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600" dirty="0"/>
                        <a:t>Регистратор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600" dirty="0"/>
                        <a:t>Номенклатура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600" dirty="0"/>
                        <a:t>Количество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600" dirty="0"/>
                        <a:t>Стоимость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6000">
                <a:tc>
                  <a:txBody>
                    <a:bodyPr/>
                    <a:lstStyle/>
                    <a:p>
                      <a:pPr algn="ctr"/>
                      <a:r>
                        <a:rPr lang="ru-RU" sz="2000" b="1" dirty="0">
                          <a:solidFill>
                            <a:srgbClr val="C00000"/>
                          </a:solidFill>
                          <a:latin typeface="Courier New" pitchFamily="49" charset="0"/>
                          <a:cs typeface="Courier New" pitchFamily="49" charset="0"/>
                        </a:rPr>
                        <a:t>-</a:t>
                      </a:r>
                    </a:p>
                  </a:txBody>
                  <a:tcPr marL="0" marR="0" marT="0" marB="0"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600" baseline="0" dirty="0"/>
                        <a:t>Реализация 1</a:t>
                      </a:r>
                      <a:endParaRPr lang="ru-RU" sz="1600" dirty="0"/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Яблоки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600" dirty="0"/>
                        <a:t>10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600" dirty="0"/>
                        <a:t>150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6000">
                <a:tc>
                  <a:txBody>
                    <a:bodyPr/>
                    <a:lstStyle/>
                    <a:p>
                      <a:pPr algn="ctr"/>
                      <a:r>
                        <a:rPr lang="ru-RU" sz="2000" b="1" dirty="0">
                          <a:solidFill>
                            <a:srgbClr val="C00000"/>
                          </a:solidFill>
                          <a:latin typeface="Courier New" pitchFamily="49" charset="0"/>
                          <a:cs typeface="Courier New" pitchFamily="49" charset="0"/>
                        </a:rPr>
                        <a:t>-</a:t>
                      </a:r>
                    </a:p>
                  </a:txBody>
                  <a:tcPr marL="0" marR="0" marT="0" marB="0"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600" baseline="0" dirty="0"/>
                        <a:t>Реализация 2</a:t>
                      </a:r>
                      <a:endParaRPr lang="ru-RU" sz="1600" dirty="0"/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Яблоки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600" dirty="0"/>
                        <a:t>10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600" dirty="0"/>
                        <a:t>150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57158" y="4752466"/>
            <a:ext cx="23373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>
                <a:solidFill>
                  <a:srgbClr val="002060"/>
                </a:solidFill>
              </a:rPr>
              <a:t>Продажи </a:t>
            </a:r>
            <a:r>
              <a:rPr lang="ru-RU" dirty="0">
                <a:solidFill>
                  <a:schemeClr val="bg1">
                    <a:lumMod val="75000"/>
                  </a:schemeClr>
                </a:solidFill>
              </a:rPr>
              <a:t>(движения)</a:t>
            </a:r>
            <a:r>
              <a:rPr lang="ru-RU" dirty="0">
                <a:solidFill>
                  <a:srgbClr val="002060"/>
                </a:solidFill>
              </a:rPr>
              <a:t>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53734" y="5485508"/>
            <a:ext cx="120789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1200" dirty="0">
                <a:solidFill>
                  <a:srgbClr val="C00000"/>
                </a:solidFill>
              </a:rPr>
              <a:t>Продано за 170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553734" y="5871278"/>
            <a:ext cx="120789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1200" dirty="0">
                <a:solidFill>
                  <a:srgbClr val="C00000"/>
                </a:solidFill>
              </a:rPr>
              <a:t>Продано за 170</a:t>
            </a:r>
          </a:p>
        </p:txBody>
      </p:sp>
    </p:spTree>
    <p:extLst>
      <p:ext uri="{BB962C8B-B14F-4D97-AF65-F5344CB8AC3E}">
        <p14:creationId xmlns:p14="http://schemas.microsoft.com/office/powerpoint/2010/main" val="9342518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500"/>
                            </p:stCondLst>
                            <p:childTnLst>
                              <p:par>
                                <p:cTn id="2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100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6" grpId="0"/>
      <p:bldP spid="8" grpId="0"/>
      <p:bldP spid="16" grpId="0"/>
      <p:bldP spid="17" grpId="0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90869" y="557309"/>
            <a:ext cx="8766699" cy="707230"/>
          </a:xfrm>
        </p:spPr>
        <p:txBody>
          <a:bodyPr>
            <a:normAutofit/>
          </a:bodyPr>
          <a:lstStyle/>
          <a:p>
            <a:r>
              <a:rPr lang="ru-RU" dirty="0"/>
              <a:t>Партионный учет</a:t>
            </a:r>
          </a:p>
        </p:txBody>
      </p:sp>
      <p:graphicFrame>
        <p:nvGraphicFramePr>
          <p:cNvPr id="3" name="Таблица 2"/>
          <p:cNvGraphicFramePr>
            <a:graphicFrameLocks noGrp="1"/>
          </p:cNvGraphicFramePr>
          <p:nvPr/>
        </p:nvGraphicFramePr>
        <p:xfrm>
          <a:off x="428597" y="1883810"/>
          <a:ext cx="8286807" cy="118848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7545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5045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4605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4300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3591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3591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96000">
                <a:tc>
                  <a:txBody>
                    <a:bodyPr/>
                    <a:lstStyle/>
                    <a:p>
                      <a:pPr algn="ctr"/>
                      <a:endParaRPr lang="ru-RU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600" dirty="0"/>
                        <a:t>Регистратор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600" dirty="0"/>
                        <a:t>Номенклатура</a:t>
                      </a:r>
                    </a:p>
                  </a:txBody>
                  <a:tcPr anchor="ctr">
                    <a:lnR w="19050" cap="flat" cmpd="sng" algn="ctr">
                      <a:solidFill>
                        <a:srgbClr val="FF0000"/>
                      </a:solidFill>
                      <a:prstDash val="dash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600" dirty="0"/>
                        <a:t>Партия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FF0000"/>
                      </a:solidFill>
                      <a:prstDash val="dash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0000"/>
                      </a:solidFill>
                      <a:prstDash val="dash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0000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600" dirty="0"/>
                        <a:t>Количество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FF0000"/>
                      </a:solidFill>
                      <a:prstDash val="dash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600" dirty="0"/>
                        <a:t>Стоимость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6000">
                <a:tc>
                  <a:txBody>
                    <a:bodyPr/>
                    <a:lstStyle/>
                    <a:p>
                      <a:pPr algn="ctr"/>
                      <a:r>
                        <a:rPr lang="ru-RU" sz="2000" b="1" dirty="0">
                          <a:solidFill>
                            <a:srgbClr val="00B050"/>
                          </a:solidFill>
                          <a:latin typeface="Courier New" pitchFamily="49" charset="0"/>
                          <a:cs typeface="Courier New" pitchFamily="49" charset="0"/>
                        </a:rPr>
                        <a:t>+</a:t>
                      </a:r>
                    </a:p>
                  </a:txBody>
                  <a:tcPr marL="0" marR="0" marT="0" marB="0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Поступление</a:t>
                      </a:r>
                      <a:r>
                        <a:rPr lang="ru-RU" sz="1600" baseline="0" dirty="0"/>
                        <a:t> 1</a:t>
                      </a:r>
                      <a:endParaRPr lang="ru-RU" sz="1600" dirty="0"/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Яблоки</a:t>
                      </a:r>
                    </a:p>
                  </a:txBody>
                  <a:tcPr anchor="ctr">
                    <a:lnR w="19050" cap="flat" cmpd="sng" algn="ctr">
                      <a:solidFill>
                        <a:srgbClr val="FF0000"/>
                      </a:solidFill>
                      <a:prstDash val="dash"/>
                      <a:round/>
                      <a:headEnd type="none" w="med" len="med"/>
                      <a:tailEnd type="none" w="med" len="med"/>
                    </a:ln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000" b="1" dirty="0">
                          <a:solidFill>
                            <a:srgbClr val="0070C0"/>
                          </a:solidFill>
                        </a:rPr>
                        <a:t>1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FF0000"/>
                      </a:solidFill>
                      <a:prstDash val="dash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0000"/>
                      </a:solidFill>
                      <a:prstDash val="dash"/>
                      <a:round/>
                      <a:headEnd type="none" w="med" len="med"/>
                      <a:tailEnd type="none" w="med" len="med"/>
                    </a:ln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600" dirty="0"/>
                        <a:t>10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FF0000"/>
                      </a:solidFill>
                      <a:prstDash val="dash"/>
                      <a:round/>
                      <a:headEnd type="none" w="med" len="med"/>
                      <a:tailEnd type="none" w="med" len="med"/>
                    </a:lnL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600" dirty="0"/>
                        <a:t>100</a:t>
                      </a: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6000">
                <a:tc>
                  <a:txBody>
                    <a:bodyPr/>
                    <a:lstStyle/>
                    <a:p>
                      <a:pPr algn="ctr"/>
                      <a:r>
                        <a:rPr lang="ru-RU" sz="2000" b="1" dirty="0">
                          <a:solidFill>
                            <a:srgbClr val="00B050"/>
                          </a:solidFill>
                          <a:latin typeface="Courier New" pitchFamily="49" charset="0"/>
                          <a:cs typeface="Courier New" pitchFamily="49" charset="0"/>
                        </a:rPr>
                        <a:t>+</a:t>
                      </a:r>
                    </a:p>
                  </a:txBody>
                  <a:tcPr marL="0" marR="0" marT="0" marB="0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Поступление 2</a:t>
                      </a: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Яблоки</a:t>
                      </a:r>
                    </a:p>
                  </a:txBody>
                  <a:tcPr anchor="ctr">
                    <a:lnR w="19050" cap="flat" cmpd="sng" algn="ctr">
                      <a:solidFill>
                        <a:srgbClr val="FF0000"/>
                      </a:solidFill>
                      <a:prstDash val="dash"/>
                      <a:round/>
                      <a:headEnd type="none" w="med" len="med"/>
                      <a:tailEnd type="none" w="med" len="med"/>
                    </a:ln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000" b="1" dirty="0">
                          <a:solidFill>
                            <a:srgbClr val="0070C0"/>
                          </a:solidFill>
                        </a:rPr>
                        <a:t>2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FF0000"/>
                      </a:solidFill>
                      <a:prstDash val="dash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0000"/>
                      </a:solidFill>
                      <a:prstDash val="dash"/>
                      <a:round/>
                      <a:headEnd type="none" w="med" len="med"/>
                      <a:tailEnd type="none" w="med" len="med"/>
                    </a:lnR>
                    <a:lnB w="19050" cap="flat" cmpd="sng" algn="ctr">
                      <a:solidFill>
                        <a:srgbClr val="FF0000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600" dirty="0"/>
                        <a:t>10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FF0000"/>
                      </a:solidFill>
                      <a:prstDash val="dash"/>
                      <a:round/>
                      <a:headEnd type="none" w="med" len="med"/>
                      <a:tailEnd type="none" w="med" len="med"/>
                    </a:lnL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600" dirty="0"/>
                        <a:t>200</a:t>
                      </a: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357158" y="1526620"/>
            <a:ext cx="27018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>
                <a:solidFill>
                  <a:srgbClr val="002060"/>
                </a:solidFill>
              </a:rPr>
              <a:t>Поступления </a:t>
            </a:r>
            <a:r>
              <a:rPr lang="ru-RU" dirty="0">
                <a:solidFill>
                  <a:schemeClr val="bg1">
                    <a:lumMod val="75000"/>
                  </a:schemeClr>
                </a:solidFill>
              </a:rPr>
              <a:t>(движения)</a:t>
            </a:r>
            <a:r>
              <a:rPr lang="ru-RU" dirty="0">
                <a:solidFill>
                  <a:srgbClr val="002060"/>
                </a:solidFill>
              </a:rPr>
              <a:t>:</a:t>
            </a:r>
          </a:p>
        </p:txBody>
      </p:sp>
      <p:graphicFrame>
        <p:nvGraphicFramePr>
          <p:cNvPr id="5" name="Таблица 4"/>
          <p:cNvGraphicFramePr>
            <a:graphicFrameLocks noGrp="1"/>
          </p:cNvGraphicFramePr>
          <p:nvPr/>
        </p:nvGraphicFramePr>
        <p:xfrm>
          <a:off x="2071670" y="3662848"/>
          <a:ext cx="5000662" cy="11880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50019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286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8588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8588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96000">
                <a:tc>
                  <a:txBody>
                    <a:bodyPr/>
                    <a:lstStyle/>
                    <a:p>
                      <a:pPr algn="ctr"/>
                      <a:r>
                        <a:rPr lang="ru-RU" sz="1400" dirty="0"/>
                        <a:t>Номенклатура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/>
                        <a:t>Партия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/>
                        <a:t>Количество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/>
                        <a:t>Стоимость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6000">
                <a:tc>
                  <a:txBody>
                    <a:bodyPr/>
                    <a:lstStyle/>
                    <a:p>
                      <a:r>
                        <a:rPr lang="ru-RU" sz="1400" dirty="0"/>
                        <a:t>Яблоки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600" b="1" dirty="0">
                          <a:solidFill>
                            <a:srgbClr val="0070C0"/>
                          </a:solidFill>
                        </a:rPr>
                        <a:t>1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/>
                        <a:t>10 шт.</a:t>
                      </a:r>
                    </a:p>
                  </a:txBody>
                  <a:tcPr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/>
                        <a:t>100 руб.</a:t>
                      </a:r>
                    </a:p>
                  </a:txBody>
                  <a:tcPr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6000">
                <a:tc>
                  <a:txBody>
                    <a:bodyPr/>
                    <a:lstStyle/>
                    <a:p>
                      <a:r>
                        <a:rPr lang="ru-RU" sz="1400" dirty="0"/>
                        <a:t>Яблоки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600" b="1" dirty="0">
                          <a:solidFill>
                            <a:srgbClr val="0070C0"/>
                          </a:solidFill>
                        </a:rPr>
                        <a:t>2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/>
                        <a:t>10 шт.</a:t>
                      </a:r>
                    </a:p>
                  </a:txBody>
                  <a:tcPr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/>
                        <a:t>200 руб.</a:t>
                      </a:r>
                    </a:p>
                  </a:txBody>
                  <a:tcPr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2000232" y="3312758"/>
            <a:ext cx="10191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>
                <a:solidFill>
                  <a:srgbClr val="002060"/>
                </a:solidFill>
              </a:rPr>
              <a:t>Остатки:</a:t>
            </a:r>
          </a:p>
        </p:txBody>
      </p:sp>
      <p:graphicFrame>
        <p:nvGraphicFramePr>
          <p:cNvPr id="7" name="Таблица 6"/>
          <p:cNvGraphicFramePr>
            <a:graphicFrameLocks noGrp="1"/>
          </p:cNvGraphicFramePr>
          <p:nvPr/>
        </p:nvGraphicFramePr>
        <p:xfrm>
          <a:off x="425995" y="5112929"/>
          <a:ext cx="8292011" cy="118848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7547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5053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46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44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372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372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96000">
                <a:tc>
                  <a:txBody>
                    <a:bodyPr/>
                    <a:lstStyle/>
                    <a:p>
                      <a:pPr algn="ctr"/>
                      <a:endParaRPr lang="ru-RU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600" dirty="0"/>
                        <a:t>Регистратор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600" dirty="0"/>
                        <a:t>Номенклатура</a:t>
                      </a:r>
                    </a:p>
                  </a:txBody>
                  <a:tcPr anchor="ctr">
                    <a:lnR w="19050" cap="flat" cmpd="sng" algn="ctr">
                      <a:solidFill>
                        <a:srgbClr val="FF0000"/>
                      </a:solidFill>
                      <a:prstDash val="dash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600" dirty="0"/>
                        <a:t>Партия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FF0000"/>
                      </a:solidFill>
                      <a:prstDash val="dash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0000"/>
                      </a:solidFill>
                      <a:prstDash val="dash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0000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600" dirty="0"/>
                        <a:t>Количество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FF0000"/>
                      </a:solidFill>
                      <a:prstDash val="dash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600" dirty="0"/>
                        <a:t>Стоимость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6000">
                <a:tc>
                  <a:txBody>
                    <a:bodyPr/>
                    <a:lstStyle/>
                    <a:p>
                      <a:pPr algn="ctr"/>
                      <a:r>
                        <a:rPr lang="ru-RU" sz="2000" b="1" dirty="0">
                          <a:solidFill>
                            <a:srgbClr val="C00000"/>
                          </a:solidFill>
                          <a:latin typeface="Courier New" pitchFamily="49" charset="0"/>
                          <a:cs typeface="Courier New" pitchFamily="49" charset="0"/>
                        </a:rPr>
                        <a:t>-</a:t>
                      </a:r>
                    </a:p>
                  </a:txBody>
                  <a:tcPr marL="0" marR="0" marT="0" marB="0"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600" baseline="0" dirty="0"/>
                        <a:t>Реализация 1</a:t>
                      </a:r>
                      <a:endParaRPr lang="ru-RU" sz="1600" dirty="0"/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Яблоки</a:t>
                      </a:r>
                    </a:p>
                  </a:txBody>
                  <a:tcPr anchor="ctr">
                    <a:lnR w="19050" cap="flat" cmpd="sng" algn="ctr">
                      <a:solidFill>
                        <a:srgbClr val="FF0000"/>
                      </a:solidFill>
                      <a:prstDash val="dash"/>
                      <a:round/>
                      <a:headEnd type="none" w="med" len="med"/>
                      <a:tailEnd type="none" w="med" len="med"/>
                    </a:ln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000" b="1" dirty="0">
                          <a:solidFill>
                            <a:srgbClr val="0070C0"/>
                          </a:solidFill>
                        </a:rPr>
                        <a:t>1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FF0000"/>
                      </a:solidFill>
                      <a:prstDash val="dash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0000"/>
                      </a:solidFill>
                      <a:prstDash val="dash"/>
                      <a:round/>
                      <a:headEnd type="none" w="med" len="med"/>
                      <a:tailEnd type="none" w="med" len="med"/>
                    </a:ln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600" dirty="0"/>
                        <a:t>10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FF0000"/>
                      </a:solidFill>
                      <a:prstDash val="dash"/>
                      <a:round/>
                      <a:headEnd type="none" w="med" len="med"/>
                      <a:tailEnd type="none" w="med" len="med"/>
                    </a:lnL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600" dirty="0"/>
                        <a:t>100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6000">
                <a:tc>
                  <a:txBody>
                    <a:bodyPr/>
                    <a:lstStyle/>
                    <a:p>
                      <a:pPr algn="ctr"/>
                      <a:r>
                        <a:rPr lang="ru-RU" sz="2000" b="1" dirty="0">
                          <a:solidFill>
                            <a:srgbClr val="C00000"/>
                          </a:solidFill>
                          <a:latin typeface="Courier New" pitchFamily="49" charset="0"/>
                          <a:cs typeface="Courier New" pitchFamily="49" charset="0"/>
                        </a:rPr>
                        <a:t>-</a:t>
                      </a:r>
                    </a:p>
                  </a:txBody>
                  <a:tcPr marL="0" marR="0" marT="0" marB="0"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600" baseline="0" dirty="0"/>
                        <a:t>Реализация 2</a:t>
                      </a:r>
                      <a:endParaRPr lang="ru-RU" sz="1600" dirty="0"/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Яблоки</a:t>
                      </a:r>
                    </a:p>
                  </a:txBody>
                  <a:tcPr anchor="ctr">
                    <a:lnR w="19050" cap="flat" cmpd="sng" algn="ctr">
                      <a:solidFill>
                        <a:srgbClr val="FF0000"/>
                      </a:solidFill>
                      <a:prstDash val="dash"/>
                      <a:round/>
                      <a:headEnd type="none" w="med" len="med"/>
                      <a:tailEnd type="none" w="med" len="med"/>
                    </a:ln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000" b="1" dirty="0">
                          <a:solidFill>
                            <a:srgbClr val="0070C0"/>
                          </a:solidFill>
                        </a:rPr>
                        <a:t>2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FF0000"/>
                      </a:solidFill>
                      <a:prstDash val="dash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0000"/>
                      </a:solidFill>
                      <a:prstDash val="dash"/>
                      <a:round/>
                      <a:headEnd type="none" w="med" len="med"/>
                      <a:tailEnd type="none" w="med" len="med"/>
                    </a:lnR>
                    <a:lnB w="19050" cap="flat" cmpd="sng" algn="ctr">
                      <a:solidFill>
                        <a:srgbClr val="FF0000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600" dirty="0"/>
                        <a:t>10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FF0000"/>
                      </a:solidFill>
                      <a:prstDash val="dash"/>
                      <a:round/>
                      <a:headEnd type="none" w="med" len="med"/>
                      <a:tailEnd type="none" w="med" len="med"/>
                    </a:lnL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600" dirty="0"/>
                        <a:t>200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57158" y="4743597"/>
            <a:ext cx="23373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>
                <a:solidFill>
                  <a:srgbClr val="002060"/>
                </a:solidFill>
              </a:rPr>
              <a:t>Продажи </a:t>
            </a:r>
            <a:r>
              <a:rPr lang="ru-RU" dirty="0">
                <a:solidFill>
                  <a:schemeClr val="bg1">
                    <a:lumMod val="75000"/>
                  </a:schemeClr>
                </a:solidFill>
              </a:rPr>
              <a:t>(движения)</a:t>
            </a:r>
            <a:r>
              <a:rPr lang="ru-RU" dirty="0">
                <a:solidFill>
                  <a:srgbClr val="002060"/>
                </a:solidFill>
              </a:rPr>
              <a:t>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53734" y="5476639"/>
            <a:ext cx="120789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1200" dirty="0">
                <a:solidFill>
                  <a:srgbClr val="C00000"/>
                </a:solidFill>
              </a:rPr>
              <a:t>Продано за 170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553734" y="5862409"/>
            <a:ext cx="120789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1200" dirty="0">
                <a:solidFill>
                  <a:srgbClr val="C00000"/>
                </a:solidFill>
              </a:rPr>
              <a:t>Продано за 170</a:t>
            </a:r>
          </a:p>
        </p:txBody>
      </p:sp>
    </p:spTree>
    <p:extLst>
      <p:ext uri="{BB962C8B-B14F-4D97-AF65-F5344CB8AC3E}">
        <p14:creationId xmlns:p14="http://schemas.microsoft.com/office/powerpoint/2010/main" val="29439301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500"/>
                            </p:stCondLst>
                            <p:childTnLst>
                              <p:par>
                                <p:cTn id="2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100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6" grpId="0"/>
      <p:bldP spid="8" grpId="0"/>
      <p:bldP spid="16" grpId="0"/>
      <p:bldP spid="17" grpId="0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08624" y="535750"/>
            <a:ext cx="8731189" cy="785810"/>
          </a:xfrm>
        </p:spPr>
        <p:txBody>
          <a:bodyPr>
            <a:normAutofit/>
          </a:bodyPr>
          <a:lstStyle/>
          <a:p>
            <a:r>
              <a:rPr lang="ru-RU" sz="4000" dirty="0"/>
              <a:t>Тип измерения «Партия»</a:t>
            </a:r>
          </a:p>
        </p:txBody>
      </p:sp>
      <p:graphicFrame>
        <p:nvGraphicFramePr>
          <p:cNvPr id="3" name="Таблица 2"/>
          <p:cNvGraphicFramePr>
            <a:graphicFrameLocks noGrp="1"/>
          </p:cNvGraphicFramePr>
          <p:nvPr/>
        </p:nvGraphicFramePr>
        <p:xfrm>
          <a:off x="428595" y="2143116"/>
          <a:ext cx="8286810" cy="11880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7545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7986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7986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7986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588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28588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96000">
                <a:tc>
                  <a:txBody>
                    <a:bodyPr/>
                    <a:lstStyle/>
                    <a:p>
                      <a:pPr algn="ctr"/>
                      <a:endParaRPr lang="ru-RU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600" dirty="0"/>
                        <a:t>Регистратор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600" dirty="0"/>
                        <a:t>Номенклатура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600" dirty="0"/>
                        <a:t>Партия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600" dirty="0"/>
                        <a:t>Количество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600" dirty="0"/>
                        <a:t>Стоимость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6000">
                <a:tc>
                  <a:txBody>
                    <a:bodyPr/>
                    <a:lstStyle/>
                    <a:p>
                      <a:pPr algn="ctr"/>
                      <a:r>
                        <a:rPr lang="ru-RU" sz="2000" b="1" dirty="0">
                          <a:solidFill>
                            <a:srgbClr val="00B050"/>
                          </a:solidFill>
                          <a:latin typeface="Courier New" pitchFamily="49" charset="0"/>
                          <a:cs typeface="Courier New" pitchFamily="49" charset="0"/>
                        </a:rPr>
                        <a:t>+</a:t>
                      </a:r>
                    </a:p>
                  </a:txBody>
                  <a:tcPr marL="0" marR="0" marT="0" marB="0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Поступление</a:t>
                      </a:r>
                      <a:r>
                        <a:rPr lang="ru-RU" sz="1600" baseline="0" dirty="0"/>
                        <a:t> 1</a:t>
                      </a:r>
                      <a:endParaRPr lang="ru-RU" sz="1600" dirty="0"/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Яблоки</a:t>
                      </a:r>
                    </a:p>
                  </a:txBody>
                  <a:tcPr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600" b="1" dirty="0"/>
                        <a:t>Поступление</a:t>
                      </a:r>
                      <a:r>
                        <a:rPr lang="ru-RU" sz="1600" b="1" baseline="0" dirty="0"/>
                        <a:t> 1</a:t>
                      </a:r>
                      <a:endParaRPr lang="ru-RU" sz="1600" b="1" dirty="0"/>
                    </a:p>
                  </a:txBody>
                  <a:tcPr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600" dirty="0"/>
                        <a:t>10</a:t>
                      </a: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600" dirty="0"/>
                        <a:t>100</a:t>
                      </a: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6000">
                <a:tc>
                  <a:txBody>
                    <a:bodyPr/>
                    <a:lstStyle/>
                    <a:p>
                      <a:pPr algn="ctr"/>
                      <a:r>
                        <a:rPr lang="ru-RU" sz="2000" b="1" dirty="0">
                          <a:solidFill>
                            <a:srgbClr val="00B050"/>
                          </a:solidFill>
                          <a:latin typeface="Courier New" pitchFamily="49" charset="0"/>
                          <a:cs typeface="Courier New" pitchFamily="49" charset="0"/>
                        </a:rPr>
                        <a:t>+</a:t>
                      </a:r>
                    </a:p>
                  </a:txBody>
                  <a:tcPr marL="0" marR="0" marT="0" marB="0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Поступление 2</a:t>
                      </a: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Яблоки</a:t>
                      </a:r>
                    </a:p>
                  </a:txBody>
                  <a:tcPr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600" b="1" dirty="0"/>
                        <a:t>Поступление 2</a:t>
                      </a:r>
                    </a:p>
                  </a:txBody>
                  <a:tcPr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600" dirty="0"/>
                        <a:t>10</a:t>
                      </a: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600" dirty="0"/>
                        <a:t>200</a:t>
                      </a: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357158" y="1785926"/>
            <a:ext cx="27018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>
                <a:solidFill>
                  <a:srgbClr val="002060"/>
                </a:solidFill>
              </a:rPr>
              <a:t>Поступления </a:t>
            </a:r>
            <a:r>
              <a:rPr lang="ru-RU" dirty="0">
                <a:solidFill>
                  <a:schemeClr val="bg1">
                    <a:lumMod val="75000"/>
                  </a:schemeClr>
                </a:solidFill>
              </a:rPr>
              <a:t>(движения)</a:t>
            </a:r>
            <a:r>
              <a:rPr lang="ru-RU" dirty="0">
                <a:solidFill>
                  <a:srgbClr val="002060"/>
                </a:solidFill>
              </a:rPr>
              <a:t>:</a:t>
            </a:r>
          </a:p>
        </p:txBody>
      </p:sp>
      <p:graphicFrame>
        <p:nvGraphicFramePr>
          <p:cNvPr id="11" name="Таблица 10"/>
          <p:cNvGraphicFramePr>
            <a:graphicFrameLocks noGrp="1"/>
          </p:cNvGraphicFramePr>
          <p:nvPr/>
        </p:nvGraphicFramePr>
        <p:xfrm>
          <a:off x="428595" y="4315812"/>
          <a:ext cx="8286810" cy="19800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7545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7986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7986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7986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588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28588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96000">
                <a:tc>
                  <a:txBody>
                    <a:bodyPr/>
                    <a:lstStyle/>
                    <a:p>
                      <a:pPr algn="ctr"/>
                      <a:endParaRPr lang="ru-RU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600" dirty="0"/>
                        <a:t>Регистратор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600" dirty="0"/>
                        <a:t>Номенклатура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600" dirty="0"/>
                        <a:t>Партия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600" dirty="0"/>
                        <a:t>Количество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600" dirty="0"/>
                        <a:t>Стоимость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6000">
                <a:tc>
                  <a:txBody>
                    <a:bodyPr/>
                    <a:lstStyle/>
                    <a:p>
                      <a:pPr algn="ctr"/>
                      <a:r>
                        <a:rPr lang="ru-RU" sz="2000" b="1" dirty="0">
                          <a:solidFill>
                            <a:srgbClr val="C00000"/>
                          </a:solidFill>
                          <a:latin typeface="Courier New" pitchFamily="49" charset="0"/>
                          <a:cs typeface="Courier New" pitchFamily="49" charset="0"/>
                        </a:rPr>
                        <a:t>-</a:t>
                      </a:r>
                    </a:p>
                  </a:txBody>
                  <a:tcPr marL="0" marR="0" marT="0" marB="0"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Реализация </a:t>
                      </a:r>
                      <a:r>
                        <a:rPr lang="ru-RU" sz="1600" baseline="0" dirty="0"/>
                        <a:t>1</a:t>
                      </a:r>
                      <a:endParaRPr lang="ru-RU" sz="1600" dirty="0"/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Яблоки</a:t>
                      </a:r>
                    </a:p>
                  </a:txBody>
                  <a:tcPr anchor="ctr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600" b="1" dirty="0"/>
                        <a:t>Поступление</a:t>
                      </a:r>
                      <a:r>
                        <a:rPr lang="ru-RU" sz="1600" b="1" baseline="0" dirty="0"/>
                        <a:t> 1</a:t>
                      </a:r>
                      <a:endParaRPr lang="ru-RU" sz="1600" b="1" dirty="0"/>
                    </a:p>
                  </a:txBody>
                  <a:tcPr anchor="ctr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600" dirty="0"/>
                        <a:t>5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600" dirty="0"/>
                        <a:t>50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6000">
                <a:tc>
                  <a:txBody>
                    <a:bodyPr/>
                    <a:lstStyle/>
                    <a:p>
                      <a:pPr algn="ctr"/>
                      <a:r>
                        <a:rPr lang="ru-RU" sz="2000" b="1" dirty="0">
                          <a:solidFill>
                            <a:srgbClr val="C00000"/>
                          </a:solidFill>
                          <a:latin typeface="Courier New" pitchFamily="49" charset="0"/>
                          <a:cs typeface="Courier New" pitchFamily="49" charset="0"/>
                        </a:rPr>
                        <a:t>-</a:t>
                      </a:r>
                    </a:p>
                  </a:txBody>
                  <a:tcPr marL="0" marR="0" marT="0" marB="0"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Реализация </a:t>
                      </a:r>
                      <a:r>
                        <a:rPr lang="ru-RU" sz="1600" baseline="0" dirty="0"/>
                        <a:t>2</a:t>
                      </a:r>
                      <a:endParaRPr lang="ru-RU" sz="1600" dirty="0"/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Яблоки</a:t>
                      </a:r>
                    </a:p>
                  </a:txBody>
                  <a:tcPr anchor="ctr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600" b="1" dirty="0"/>
                        <a:t>Поступление</a:t>
                      </a:r>
                      <a:r>
                        <a:rPr lang="ru-RU" sz="1600" b="1" baseline="0" dirty="0"/>
                        <a:t> 1</a:t>
                      </a:r>
                      <a:endParaRPr lang="ru-RU" sz="1600" b="1" dirty="0"/>
                    </a:p>
                  </a:txBody>
                  <a:tcPr anchor="ctr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600" dirty="0"/>
                        <a:t>5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600" dirty="0"/>
                        <a:t>50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96000">
                <a:tc>
                  <a:txBody>
                    <a:bodyPr/>
                    <a:lstStyle/>
                    <a:p>
                      <a:pPr algn="ctr"/>
                      <a:r>
                        <a:rPr lang="ru-RU" sz="2000" b="1" dirty="0">
                          <a:solidFill>
                            <a:srgbClr val="C00000"/>
                          </a:solidFill>
                          <a:latin typeface="Courier New" pitchFamily="49" charset="0"/>
                          <a:cs typeface="Courier New" pitchFamily="49" charset="0"/>
                        </a:rPr>
                        <a:t>-</a:t>
                      </a:r>
                    </a:p>
                  </a:txBody>
                  <a:tcPr marL="0" marR="0" marT="0" marB="0"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Реализация 3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Яблоки</a:t>
                      </a:r>
                    </a:p>
                  </a:txBody>
                  <a:tcPr anchor="ctr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600" b="1" dirty="0"/>
                        <a:t>Поступление 2</a:t>
                      </a:r>
                    </a:p>
                  </a:txBody>
                  <a:tcPr anchor="ctr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600" dirty="0"/>
                        <a:t>5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600" dirty="0"/>
                        <a:t>100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96000">
                <a:tc>
                  <a:txBody>
                    <a:bodyPr/>
                    <a:lstStyle/>
                    <a:p>
                      <a:pPr algn="ctr"/>
                      <a:r>
                        <a:rPr lang="ru-RU" sz="2000" b="1" dirty="0">
                          <a:solidFill>
                            <a:srgbClr val="C00000"/>
                          </a:solidFill>
                          <a:latin typeface="Courier New" pitchFamily="49" charset="0"/>
                          <a:cs typeface="Courier New" pitchFamily="49" charset="0"/>
                        </a:rPr>
                        <a:t>-</a:t>
                      </a:r>
                    </a:p>
                  </a:txBody>
                  <a:tcPr marL="0" marR="0" marT="0" marB="0"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Реализация 4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Яблоки</a:t>
                      </a:r>
                    </a:p>
                  </a:txBody>
                  <a:tcPr anchor="ctr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600" b="1" dirty="0"/>
                        <a:t>Поступление 2</a:t>
                      </a:r>
                    </a:p>
                  </a:txBody>
                  <a:tcPr anchor="ctr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600" dirty="0"/>
                        <a:t>5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600" dirty="0"/>
                        <a:t>100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428595" y="3795482"/>
            <a:ext cx="23373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>
                <a:solidFill>
                  <a:srgbClr val="002060"/>
                </a:solidFill>
              </a:rPr>
              <a:t>Продажи </a:t>
            </a:r>
            <a:r>
              <a:rPr lang="ru-RU" dirty="0">
                <a:solidFill>
                  <a:schemeClr val="bg1">
                    <a:lumMod val="75000"/>
                  </a:schemeClr>
                </a:solidFill>
              </a:rPr>
              <a:t>(движения)</a:t>
            </a:r>
            <a:r>
              <a:rPr lang="ru-RU" dirty="0">
                <a:solidFill>
                  <a:srgbClr val="002060"/>
                </a:solidFill>
              </a:rPr>
              <a:t>:</a:t>
            </a:r>
          </a:p>
        </p:txBody>
      </p:sp>
    </p:spTree>
    <p:extLst>
      <p:ext uri="{BB962C8B-B14F-4D97-AF65-F5344CB8AC3E}">
        <p14:creationId xmlns:p14="http://schemas.microsoft.com/office/powerpoint/2010/main" val="21118902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12" grpId="0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14281" y="570498"/>
            <a:ext cx="8765471" cy="633808"/>
          </a:xfrm>
        </p:spPr>
        <p:txBody>
          <a:bodyPr>
            <a:normAutofit fontScale="90000"/>
          </a:bodyPr>
          <a:lstStyle/>
          <a:p>
            <a:r>
              <a:rPr lang="ru-RU" sz="4000" dirty="0"/>
              <a:t>Авто-списание партий</a:t>
            </a:r>
          </a:p>
        </p:txBody>
      </p:sp>
      <p:graphicFrame>
        <p:nvGraphicFramePr>
          <p:cNvPr id="3" name="Таблица 2"/>
          <p:cNvGraphicFramePr>
            <a:graphicFrameLocks noGrp="1"/>
          </p:cNvGraphicFramePr>
          <p:nvPr/>
        </p:nvGraphicFramePr>
        <p:xfrm>
          <a:off x="1785920" y="1418620"/>
          <a:ext cx="5572164" cy="12960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64307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4307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4300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4300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24000">
                <a:tc>
                  <a:txBody>
                    <a:bodyPr/>
                    <a:lstStyle/>
                    <a:p>
                      <a:pPr algn="ctr"/>
                      <a:r>
                        <a:rPr lang="ru-RU" sz="1400" dirty="0"/>
                        <a:t>Номенклатура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/>
                        <a:t>Партия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/>
                        <a:t>Количество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/>
                        <a:t>Стоимость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r>
                        <a:rPr lang="ru-RU" sz="1400" dirty="0"/>
                        <a:t>Яблоки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400" b="0" dirty="0"/>
                        <a:t>Поступление</a:t>
                      </a:r>
                      <a:r>
                        <a:rPr lang="ru-RU" sz="1400" b="0" baseline="0" dirty="0"/>
                        <a:t> </a:t>
                      </a:r>
                      <a:r>
                        <a:rPr lang="ru-RU" sz="1400" b="1" baseline="0" dirty="0"/>
                        <a:t>1</a:t>
                      </a:r>
                      <a:endParaRPr lang="ru-RU" sz="1400" b="1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/>
                        <a:t>10 шт.</a:t>
                      </a:r>
                    </a:p>
                  </a:txBody>
                  <a:tcPr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/>
                        <a:t>100 руб.</a:t>
                      </a:r>
                    </a:p>
                  </a:txBody>
                  <a:tcPr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r>
                        <a:rPr lang="ru-RU" sz="1400" dirty="0"/>
                        <a:t>Яблоки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400" b="0" dirty="0"/>
                        <a:t>Поступление</a:t>
                      </a:r>
                      <a:r>
                        <a:rPr lang="ru-RU" sz="1400" b="0" baseline="0" dirty="0"/>
                        <a:t> </a:t>
                      </a:r>
                      <a:r>
                        <a:rPr lang="ru-RU" sz="1400" b="1" baseline="0" dirty="0"/>
                        <a:t>2</a:t>
                      </a:r>
                      <a:endParaRPr lang="ru-RU" sz="1400" b="1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/>
                        <a:t>10 шт.</a:t>
                      </a:r>
                    </a:p>
                  </a:txBody>
                  <a:tcPr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/>
                        <a:t>200 руб.</a:t>
                      </a:r>
                    </a:p>
                  </a:txBody>
                  <a:tcPr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r>
                        <a:rPr lang="ru-RU" sz="1400" dirty="0"/>
                        <a:t>Яблоки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400" b="0" dirty="0"/>
                        <a:t>Поступление</a:t>
                      </a:r>
                      <a:r>
                        <a:rPr lang="ru-RU" sz="1400" b="0" baseline="0" dirty="0"/>
                        <a:t> </a:t>
                      </a:r>
                      <a:r>
                        <a:rPr lang="ru-RU" sz="1400" b="1" baseline="0" dirty="0"/>
                        <a:t>3</a:t>
                      </a:r>
                      <a:endParaRPr lang="ru-RU" sz="1400" b="1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/>
                        <a:t>10 шт.</a:t>
                      </a:r>
                    </a:p>
                  </a:txBody>
                  <a:tcPr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/>
                        <a:t>400 руб.</a:t>
                      </a:r>
                    </a:p>
                  </a:txBody>
                  <a:tcPr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1714480" y="1058414"/>
            <a:ext cx="10191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>
                <a:solidFill>
                  <a:schemeClr val="bg1">
                    <a:lumMod val="65000"/>
                  </a:schemeClr>
                </a:solidFill>
              </a:rPr>
              <a:t>Остатки: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90383" y="3283865"/>
            <a:ext cx="5763244" cy="430887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pPr algn="ctr"/>
            <a:r>
              <a:rPr lang="ru-RU" sz="2200" dirty="0">
                <a:cs typeface="Courier New" pitchFamily="49" charset="0"/>
              </a:rPr>
              <a:t>Реализация 1:   </a:t>
            </a:r>
            <a:r>
              <a:rPr lang="ru-RU" sz="2200" dirty="0">
                <a:solidFill>
                  <a:srgbClr val="C00000"/>
                </a:solidFill>
                <a:cs typeface="Courier New" pitchFamily="49" charset="0"/>
              </a:rPr>
              <a:t>-</a:t>
            </a:r>
            <a:r>
              <a:rPr lang="ru-RU" sz="2200" dirty="0">
                <a:solidFill>
                  <a:srgbClr val="C00000"/>
                </a:solidFill>
              </a:rPr>
              <a:t>25 яблок</a:t>
            </a:r>
            <a:r>
              <a:rPr lang="en-US" sz="2200" dirty="0">
                <a:solidFill>
                  <a:srgbClr val="C00000"/>
                </a:solidFill>
              </a:rPr>
              <a:t> </a:t>
            </a:r>
            <a:r>
              <a:rPr lang="en-US" sz="2200" dirty="0">
                <a:solidFill>
                  <a:schemeClr val="bg1">
                    <a:lumMod val="50000"/>
                  </a:schemeClr>
                </a:solidFill>
              </a:rPr>
              <a:t>(</a:t>
            </a:r>
            <a:r>
              <a:rPr lang="ru-RU" sz="2200" dirty="0">
                <a:solidFill>
                  <a:schemeClr val="bg1">
                    <a:lumMod val="50000"/>
                  </a:schemeClr>
                </a:solidFill>
              </a:rPr>
              <a:t>продано за 700 </a:t>
            </a:r>
            <a:r>
              <a:rPr lang="ru-RU" sz="2200" dirty="0" err="1">
                <a:solidFill>
                  <a:schemeClr val="bg1">
                    <a:lumMod val="50000"/>
                  </a:schemeClr>
                </a:solidFill>
              </a:rPr>
              <a:t>руб</a:t>
            </a:r>
            <a:r>
              <a:rPr lang="ru-RU" sz="2200" dirty="0">
                <a:solidFill>
                  <a:schemeClr val="bg1">
                    <a:lumMod val="50000"/>
                  </a:schemeClr>
                </a:solidFill>
              </a:rPr>
              <a:t>)</a:t>
            </a:r>
          </a:p>
        </p:txBody>
      </p:sp>
      <p:graphicFrame>
        <p:nvGraphicFramePr>
          <p:cNvPr id="6" name="Таблица 5"/>
          <p:cNvGraphicFramePr>
            <a:graphicFrameLocks noGrp="1"/>
          </p:cNvGraphicFramePr>
          <p:nvPr/>
        </p:nvGraphicFramePr>
        <p:xfrm>
          <a:off x="214282" y="4421502"/>
          <a:ext cx="4154643" cy="12960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2160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3565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7157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4193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4193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4193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24000">
                <a:tc>
                  <a:txBody>
                    <a:bodyPr/>
                    <a:lstStyle/>
                    <a:p>
                      <a:pPr algn="ctr"/>
                      <a:endParaRPr lang="ru-RU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 err="1"/>
                        <a:t>Рег-р</a:t>
                      </a:r>
                      <a:endParaRPr lang="ru-RU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 err="1"/>
                        <a:t>Номенкл</a:t>
                      </a:r>
                      <a:r>
                        <a:rPr lang="ru-RU" sz="1400" dirty="0"/>
                        <a:t>.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/>
                        <a:t>Партия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/>
                        <a:t>Кол.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/>
                        <a:t>Стоим.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pPr algn="ctr"/>
                      <a:r>
                        <a:rPr lang="ru-RU" sz="1400" b="1" dirty="0">
                          <a:solidFill>
                            <a:srgbClr val="C00000"/>
                          </a:solidFill>
                          <a:latin typeface="Courier New" pitchFamily="49" charset="0"/>
                          <a:cs typeface="Courier New" pitchFamily="49" charset="0"/>
                        </a:rPr>
                        <a:t>-</a:t>
                      </a:r>
                    </a:p>
                  </a:txBody>
                  <a:tcPr marL="0" marR="0" marT="0" marB="0"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Р. </a:t>
                      </a:r>
                      <a:r>
                        <a:rPr lang="ru-RU" sz="1400" baseline="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1</a:t>
                      </a:r>
                      <a:endParaRPr lang="ru-RU" sz="1400" dirty="0">
                        <a:solidFill>
                          <a:schemeClr val="bg1">
                            <a:lumMod val="50000"/>
                          </a:schemeClr>
                        </a:solidFill>
                      </a:endParaRP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Яблоки</a:t>
                      </a:r>
                    </a:p>
                  </a:txBody>
                  <a:tcPr anchor="ctr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b="0" dirty="0"/>
                        <a:t>П.</a:t>
                      </a:r>
                      <a:r>
                        <a:rPr lang="ru-RU" sz="1400" b="1" baseline="0" dirty="0"/>
                        <a:t> 1</a:t>
                      </a:r>
                      <a:endParaRPr lang="ru-RU" sz="1400" b="1" dirty="0"/>
                    </a:p>
                  </a:txBody>
                  <a:tcPr anchor="ctr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/>
                        <a:t>10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/>
                        <a:t>100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pPr algn="ctr"/>
                      <a:r>
                        <a:rPr lang="ru-RU" sz="1400" b="1" dirty="0">
                          <a:solidFill>
                            <a:srgbClr val="C00000"/>
                          </a:solidFill>
                          <a:latin typeface="Courier New" pitchFamily="49" charset="0"/>
                          <a:cs typeface="Courier New" pitchFamily="49" charset="0"/>
                        </a:rPr>
                        <a:t>-</a:t>
                      </a:r>
                    </a:p>
                  </a:txBody>
                  <a:tcPr marL="0" marR="0" marT="0" marB="0"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Р. </a:t>
                      </a:r>
                      <a:r>
                        <a:rPr lang="ru-RU" sz="1400" baseline="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1</a:t>
                      </a:r>
                      <a:endParaRPr lang="ru-RU" sz="1400" dirty="0">
                        <a:solidFill>
                          <a:schemeClr val="bg1">
                            <a:lumMod val="50000"/>
                          </a:schemeClr>
                        </a:solidFill>
                      </a:endParaRP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Яблоки</a:t>
                      </a:r>
                    </a:p>
                  </a:txBody>
                  <a:tcPr anchor="ctr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b="0" dirty="0"/>
                        <a:t>П.</a:t>
                      </a:r>
                      <a:r>
                        <a:rPr lang="ru-RU" sz="1400" b="1" baseline="0" dirty="0"/>
                        <a:t> 2</a:t>
                      </a:r>
                      <a:endParaRPr lang="ru-RU" sz="1400" b="1" dirty="0"/>
                    </a:p>
                  </a:txBody>
                  <a:tcPr anchor="ctr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/>
                        <a:t>10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/>
                        <a:t>200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pPr algn="ctr"/>
                      <a:r>
                        <a:rPr lang="ru-RU" sz="1400" b="1" dirty="0">
                          <a:solidFill>
                            <a:srgbClr val="C00000"/>
                          </a:solidFill>
                          <a:latin typeface="Courier New" pitchFamily="49" charset="0"/>
                          <a:cs typeface="Courier New" pitchFamily="49" charset="0"/>
                        </a:rPr>
                        <a:t>-</a:t>
                      </a:r>
                    </a:p>
                  </a:txBody>
                  <a:tcPr marL="0" marR="0" marT="0" marB="0"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Р. 1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Яблоки</a:t>
                      </a:r>
                    </a:p>
                  </a:txBody>
                  <a:tcPr anchor="ctr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b="0" dirty="0"/>
                        <a:t>П.</a:t>
                      </a:r>
                      <a:r>
                        <a:rPr lang="ru-RU" sz="1400" b="1" dirty="0"/>
                        <a:t> 3</a:t>
                      </a:r>
                    </a:p>
                  </a:txBody>
                  <a:tcPr anchor="ctr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/>
                        <a:t>5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/>
                        <a:t>200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8" name="Таблица 7"/>
          <p:cNvGraphicFramePr>
            <a:graphicFrameLocks noGrp="1"/>
          </p:cNvGraphicFramePr>
          <p:nvPr/>
        </p:nvGraphicFramePr>
        <p:xfrm>
          <a:off x="4775075" y="4421502"/>
          <a:ext cx="4154643" cy="12960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2160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3565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7157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4193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4193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4193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24000">
                <a:tc>
                  <a:txBody>
                    <a:bodyPr/>
                    <a:lstStyle/>
                    <a:p>
                      <a:pPr algn="ctr"/>
                      <a:endParaRPr lang="ru-RU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 err="1"/>
                        <a:t>Рег-р</a:t>
                      </a:r>
                      <a:endParaRPr lang="ru-RU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 err="1"/>
                        <a:t>Номенкл</a:t>
                      </a:r>
                      <a:r>
                        <a:rPr lang="ru-RU" sz="1400" dirty="0"/>
                        <a:t>.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/>
                        <a:t>Партия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/>
                        <a:t>Кол.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/>
                        <a:t>Стоим.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pPr algn="ctr"/>
                      <a:r>
                        <a:rPr lang="ru-RU" sz="1400" b="1" dirty="0">
                          <a:solidFill>
                            <a:srgbClr val="C00000"/>
                          </a:solidFill>
                          <a:latin typeface="Courier New" pitchFamily="49" charset="0"/>
                          <a:cs typeface="Courier New" pitchFamily="49" charset="0"/>
                        </a:rPr>
                        <a:t>-</a:t>
                      </a:r>
                    </a:p>
                  </a:txBody>
                  <a:tcPr marL="0" marR="0" marT="0" marB="0"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Р. </a:t>
                      </a:r>
                      <a:r>
                        <a:rPr lang="ru-RU" sz="1400" baseline="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1</a:t>
                      </a:r>
                      <a:endParaRPr lang="ru-RU" sz="1400" dirty="0">
                        <a:solidFill>
                          <a:schemeClr val="bg1">
                            <a:lumMod val="50000"/>
                          </a:schemeClr>
                        </a:solidFill>
                      </a:endParaRP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Яблоки</a:t>
                      </a:r>
                    </a:p>
                  </a:txBody>
                  <a:tcPr anchor="ctr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b="0" dirty="0"/>
                        <a:t>П.</a:t>
                      </a:r>
                      <a:r>
                        <a:rPr lang="ru-RU" sz="1400" b="1" baseline="0" dirty="0"/>
                        <a:t> 3</a:t>
                      </a:r>
                      <a:endParaRPr lang="ru-RU" sz="1400" b="1" dirty="0"/>
                    </a:p>
                  </a:txBody>
                  <a:tcPr anchor="ctr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/>
                        <a:t>10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/>
                        <a:t>400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pPr algn="ctr"/>
                      <a:r>
                        <a:rPr lang="ru-RU" sz="1400" b="1" dirty="0">
                          <a:solidFill>
                            <a:srgbClr val="C00000"/>
                          </a:solidFill>
                          <a:latin typeface="Courier New" pitchFamily="49" charset="0"/>
                          <a:cs typeface="Courier New" pitchFamily="49" charset="0"/>
                        </a:rPr>
                        <a:t>-</a:t>
                      </a:r>
                    </a:p>
                  </a:txBody>
                  <a:tcPr marL="0" marR="0" marT="0" marB="0"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Р. </a:t>
                      </a:r>
                      <a:r>
                        <a:rPr lang="ru-RU" sz="1400" baseline="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1</a:t>
                      </a:r>
                      <a:endParaRPr lang="ru-RU" sz="1400" dirty="0">
                        <a:solidFill>
                          <a:schemeClr val="bg1">
                            <a:lumMod val="50000"/>
                          </a:schemeClr>
                        </a:solidFill>
                      </a:endParaRP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Яблоки</a:t>
                      </a:r>
                    </a:p>
                  </a:txBody>
                  <a:tcPr anchor="ctr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b="0" dirty="0"/>
                        <a:t>П.</a:t>
                      </a:r>
                      <a:r>
                        <a:rPr lang="ru-RU" sz="1400" b="1" baseline="0" dirty="0"/>
                        <a:t> 2</a:t>
                      </a:r>
                      <a:endParaRPr lang="ru-RU" sz="1400" b="1" dirty="0"/>
                    </a:p>
                  </a:txBody>
                  <a:tcPr anchor="ctr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/>
                        <a:t>10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/>
                        <a:t>200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pPr algn="ctr"/>
                      <a:r>
                        <a:rPr lang="ru-RU" sz="1400" b="1" dirty="0">
                          <a:solidFill>
                            <a:srgbClr val="C00000"/>
                          </a:solidFill>
                          <a:latin typeface="Courier New" pitchFamily="49" charset="0"/>
                          <a:cs typeface="Courier New" pitchFamily="49" charset="0"/>
                        </a:rPr>
                        <a:t>-</a:t>
                      </a:r>
                    </a:p>
                  </a:txBody>
                  <a:tcPr marL="0" marR="0" marT="0" marB="0"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Р. 1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Яблоки</a:t>
                      </a:r>
                    </a:p>
                  </a:txBody>
                  <a:tcPr anchor="ctr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b="0" dirty="0"/>
                        <a:t>П.</a:t>
                      </a:r>
                      <a:r>
                        <a:rPr lang="ru-RU" sz="1400" b="1" dirty="0"/>
                        <a:t> 1</a:t>
                      </a:r>
                    </a:p>
                  </a:txBody>
                  <a:tcPr anchor="ctr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/>
                        <a:t>5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/>
                        <a:t>50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975797" y="4052170"/>
            <a:ext cx="26661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dirty="0">
                <a:solidFill>
                  <a:srgbClr val="002060"/>
                </a:solidFill>
                <a:latin typeface="Courier New" pitchFamily="49" charset="0"/>
                <a:cs typeface="Courier New" pitchFamily="49" charset="0"/>
              </a:rPr>
              <a:t>F</a:t>
            </a:r>
            <a:r>
              <a:rPr lang="en-US" dirty="0">
                <a:solidFill>
                  <a:srgbClr val="002060"/>
                </a:solidFill>
                <a:latin typeface="Courier New" pitchFamily="49" charset="0"/>
                <a:cs typeface="Courier New" pitchFamily="49" charset="0"/>
              </a:rPr>
              <a:t>irst </a:t>
            </a:r>
            <a:r>
              <a:rPr lang="en-US" b="1" dirty="0">
                <a:solidFill>
                  <a:srgbClr val="002060"/>
                </a:solidFill>
                <a:latin typeface="Courier New" pitchFamily="49" charset="0"/>
                <a:cs typeface="Courier New" pitchFamily="49" charset="0"/>
              </a:rPr>
              <a:t>I</a:t>
            </a:r>
            <a:r>
              <a:rPr lang="en-US" dirty="0">
                <a:solidFill>
                  <a:srgbClr val="002060"/>
                </a:solidFill>
                <a:latin typeface="Courier New" pitchFamily="49" charset="0"/>
                <a:cs typeface="Courier New" pitchFamily="49" charset="0"/>
              </a:rPr>
              <a:t>n </a:t>
            </a:r>
            <a:r>
              <a:rPr lang="en-US" b="1" dirty="0">
                <a:solidFill>
                  <a:srgbClr val="002060"/>
                </a:solidFill>
                <a:latin typeface="Courier New" pitchFamily="49" charset="0"/>
                <a:cs typeface="Courier New" pitchFamily="49" charset="0"/>
              </a:rPr>
              <a:t>F</a:t>
            </a:r>
            <a:r>
              <a:rPr lang="en-US" dirty="0">
                <a:solidFill>
                  <a:srgbClr val="002060"/>
                </a:solidFill>
                <a:latin typeface="Courier New" pitchFamily="49" charset="0"/>
                <a:cs typeface="Courier New" pitchFamily="49" charset="0"/>
              </a:rPr>
              <a:t>irst </a:t>
            </a:r>
            <a:r>
              <a:rPr lang="en-US" b="1" dirty="0">
                <a:solidFill>
                  <a:srgbClr val="002060"/>
                </a:solidFill>
                <a:latin typeface="Courier New" pitchFamily="49" charset="0"/>
                <a:cs typeface="Courier New" pitchFamily="49" charset="0"/>
              </a:rPr>
              <a:t>O</a:t>
            </a:r>
            <a:r>
              <a:rPr lang="en-US" dirty="0">
                <a:solidFill>
                  <a:srgbClr val="002060"/>
                </a:solidFill>
                <a:latin typeface="Courier New" pitchFamily="49" charset="0"/>
                <a:cs typeface="Courier New" pitchFamily="49" charset="0"/>
              </a:rPr>
              <a:t>ut</a:t>
            </a:r>
            <a:endParaRPr lang="ru-RU" dirty="0">
              <a:solidFill>
                <a:srgbClr val="002060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565511" y="4052170"/>
            <a:ext cx="25282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dirty="0">
                <a:solidFill>
                  <a:srgbClr val="002060"/>
                </a:solidFill>
                <a:latin typeface="Courier New" pitchFamily="49" charset="0"/>
                <a:cs typeface="Courier New" pitchFamily="49" charset="0"/>
              </a:rPr>
              <a:t>L</a:t>
            </a:r>
            <a:r>
              <a:rPr lang="en-US" dirty="0">
                <a:solidFill>
                  <a:srgbClr val="002060"/>
                </a:solidFill>
                <a:latin typeface="Courier New" pitchFamily="49" charset="0"/>
                <a:cs typeface="Courier New" pitchFamily="49" charset="0"/>
              </a:rPr>
              <a:t>ast </a:t>
            </a:r>
            <a:r>
              <a:rPr lang="en-US" b="1" dirty="0">
                <a:solidFill>
                  <a:srgbClr val="002060"/>
                </a:solidFill>
                <a:latin typeface="Courier New" pitchFamily="49" charset="0"/>
                <a:cs typeface="Courier New" pitchFamily="49" charset="0"/>
              </a:rPr>
              <a:t>I</a:t>
            </a:r>
            <a:r>
              <a:rPr lang="en-US" dirty="0">
                <a:solidFill>
                  <a:srgbClr val="002060"/>
                </a:solidFill>
                <a:latin typeface="Courier New" pitchFamily="49" charset="0"/>
                <a:cs typeface="Courier New" pitchFamily="49" charset="0"/>
              </a:rPr>
              <a:t>n </a:t>
            </a:r>
            <a:r>
              <a:rPr lang="en-US" b="1" dirty="0">
                <a:solidFill>
                  <a:srgbClr val="002060"/>
                </a:solidFill>
                <a:latin typeface="Courier New" pitchFamily="49" charset="0"/>
                <a:cs typeface="Courier New" pitchFamily="49" charset="0"/>
              </a:rPr>
              <a:t>F</a:t>
            </a:r>
            <a:r>
              <a:rPr lang="en-US" dirty="0">
                <a:solidFill>
                  <a:srgbClr val="002060"/>
                </a:solidFill>
                <a:latin typeface="Courier New" pitchFamily="49" charset="0"/>
                <a:cs typeface="Courier New" pitchFamily="49" charset="0"/>
              </a:rPr>
              <a:t>irst </a:t>
            </a:r>
            <a:r>
              <a:rPr lang="en-US" b="1" dirty="0">
                <a:solidFill>
                  <a:srgbClr val="002060"/>
                </a:solidFill>
                <a:latin typeface="Courier New" pitchFamily="49" charset="0"/>
                <a:cs typeface="Courier New" pitchFamily="49" charset="0"/>
              </a:rPr>
              <a:t>O</a:t>
            </a:r>
            <a:r>
              <a:rPr lang="en-US" dirty="0">
                <a:solidFill>
                  <a:srgbClr val="002060"/>
                </a:solidFill>
                <a:latin typeface="Courier New" pitchFamily="49" charset="0"/>
                <a:cs typeface="Courier New" pitchFamily="49" charset="0"/>
              </a:rPr>
              <a:t>ut</a:t>
            </a:r>
            <a:endParaRPr lang="ru-RU" dirty="0">
              <a:solidFill>
                <a:srgbClr val="002060"/>
              </a:solidFill>
              <a:latin typeface="Courier New" pitchFamily="49" charset="0"/>
              <a:cs typeface="Courier New" pitchFamily="49" charset="0"/>
            </a:endParaRPr>
          </a:p>
        </p:txBody>
      </p:sp>
      <p:cxnSp>
        <p:nvCxnSpPr>
          <p:cNvPr id="13" name="Прямая со стрелкой 12"/>
          <p:cNvCxnSpPr/>
          <p:nvPr/>
        </p:nvCxnSpPr>
        <p:spPr>
          <a:xfrm rot="5400000">
            <a:off x="3853648" y="5931022"/>
            <a:ext cx="285752" cy="1588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3585324" y="6052667"/>
            <a:ext cx="82240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1400" b="1" dirty="0"/>
              <a:t>500</a:t>
            </a:r>
            <a:r>
              <a:rPr lang="en-US" sz="1400" b="1" dirty="0"/>
              <a:t> </a:t>
            </a:r>
            <a:r>
              <a:rPr lang="ru-RU" sz="1400" dirty="0"/>
              <a:t>руб.</a:t>
            </a:r>
          </a:p>
        </p:txBody>
      </p:sp>
      <p:cxnSp>
        <p:nvCxnSpPr>
          <p:cNvPr id="15" name="Прямая со стрелкой 14"/>
          <p:cNvCxnSpPr/>
          <p:nvPr/>
        </p:nvCxnSpPr>
        <p:spPr>
          <a:xfrm rot="5400000">
            <a:off x="8425672" y="5931022"/>
            <a:ext cx="285752" cy="1588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8157347" y="6052667"/>
            <a:ext cx="82240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b="1" dirty="0"/>
              <a:t>6</a:t>
            </a:r>
            <a:r>
              <a:rPr lang="ru-RU" sz="1400" b="1" dirty="0"/>
              <a:t>50 </a:t>
            </a:r>
            <a:r>
              <a:rPr lang="ru-RU" sz="1400" dirty="0"/>
              <a:t>руб.</a:t>
            </a:r>
          </a:p>
        </p:txBody>
      </p:sp>
      <p:cxnSp>
        <p:nvCxnSpPr>
          <p:cNvPr id="18" name="Прямая со стрелкой 17"/>
          <p:cNvCxnSpPr/>
          <p:nvPr/>
        </p:nvCxnSpPr>
        <p:spPr>
          <a:xfrm>
            <a:off x="4875612" y="3929066"/>
            <a:ext cx="714380" cy="285752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Прямая со стрелкой 18"/>
          <p:cNvCxnSpPr/>
          <p:nvPr/>
        </p:nvCxnSpPr>
        <p:spPr>
          <a:xfrm flipH="1">
            <a:off x="3554009" y="3929066"/>
            <a:ext cx="714380" cy="285752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17448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500"/>
                            </p:stCondLst>
                            <p:childTnLst>
                              <p:par>
                                <p:cTn id="1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500"/>
                            </p:stCondLst>
                            <p:childTnLst>
                              <p:par>
                                <p:cTn id="3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1000"/>
                            </p:stCondLst>
                            <p:childTnLst>
                              <p:par>
                                <p:cTn id="4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1500"/>
                            </p:stCondLst>
                            <p:childTnLst>
                              <p:par>
                                <p:cTn id="4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9" grpId="0"/>
      <p:bldP spid="10" grpId="0"/>
      <p:bldP spid="14" grpId="0"/>
      <p:bldP spid="16" grpId="0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>
                <a:solidFill>
                  <a:srgbClr val="0070C0"/>
                </a:solidFill>
              </a:rPr>
              <a:t>Сборка</a:t>
            </a:r>
            <a:r>
              <a:rPr lang="ru-RU" dirty="0"/>
              <a:t> </a:t>
            </a:r>
            <a:r>
              <a:rPr lang="ru-RU" dirty="0">
                <a:solidFill>
                  <a:srgbClr val="FF0000"/>
                </a:solidFill>
              </a:rPr>
              <a:t>запроса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753609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59" name="Rectangle 355"/>
          <p:cNvSpPr>
            <a:spLocks noGrp="1" noChangeArrowheads="1"/>
          </p:cNvSpPr>
          <p:nvPr>
            <p:ph type="title"/>
          </p:nvPr>
        </p:nvSpPr>
        <p:spPr>
          <a:xfrm>
            <a:off x="188119" y="571976"/>
            <a:ext cx="8784000" cy="892839"/>
          </a:xfrm>
          <a:solidFill>
            <a:schemeClr val="bg1"/>
          </a:solidFill>
        </p:spPr>
        <p:txBody>
          <a:bodyPr>
            <a:noAutofit/>
          </a:bodyPr>
          <a:lstStyle/>
          <a:p>
            <a:r>
              <a:rPr lang="ru-RU" dirty="0"/>
              <a:t>Данные документа (Табличная часть «Товары»)</a:t>
            </a:r>
          </a:p>
        </p:txBody>
      </p:sp>
      <p:graphicFrame>
        <p:nvGraphicFramePr>
          <p:cNvPr id="2" name="Таблица 1"/>
          <p:cNvGraphicFramePr>
            <a:graphicFrameLocks noGrp="1"/>
          </p:cNvGraphicFramePr>
          <p:nvPr/>
        </p:nvGraphicFramePr>
        <p:xfrm>
          <a:off x="1259632" y="2060848"/>
          <a:ext cx="6107136" cy="3229611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58707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5578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691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4279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5239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638514"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Ссылка</a:t>
                      </a: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Номер строки</a:t>
                      </a: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Номенклатура</a:t>
                      </a: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Количество</a:t>
                      </a: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…</a:t>
                      </a: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9933">
                <a:tc>
                  <a:txBody>
                    <a:bodyPr/>
                    <a:lstStyle/>
                    <a:p>
                      <a:r>
                        <a:rPr lang="ru-RU" dirty="0"/>
                        <a:t>&lt;Расходная 1&gt;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&lt;Яблоки&gt;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10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9933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dirty="0"/>
                        <a:t>&lt;Расходная 1&gt;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dirty="0"/>
                        <a:t>&lt;Груши&gt;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15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9933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dirty="0"/>
                        <a:t>&lt;Расходная 1&gt;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&lt;Яблоки&gt;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15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9933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dirty="0"/>
                        <a:t>&lt;Расходная 1&gt;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&lt;Киви&gt;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8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9933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dirty="0"/>
                        <a:t>&lt;Расходная 2&gt;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&lt;Яблоки&gt;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15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9933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dirty="0"/>
                        <a:t>&lt;Расходная 2&gt;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dirty="0"/>
                        <a:t>&lt;Груши&gt;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13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69933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dirty="0"/>
                        <a:t>…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009580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6" name="Rectangle 6"/>
          <p:cNvSpPr>
            <a:spLocks noGrp="1" noChangeArrowheads="1"/>
          </p:cNvSpPr>
          <p:nvPr>
            <p:ph type="title"/>
          </p:nvPr>
        </p:nvSpPr>
        <p:spPr>
          <a:xfrm>
            <a:off x="188119" y="571976"/>
            <a:ext cx="8784000" cy="928349"/>
          </a:xfrm>
          <a:solidFill>
            <a:schemeClr val="bg1"/>
          </a:solidFill>
        </p:spPr>
        <p:txBody>
          <a:bodyPr>
            <a:normAutofit fontScale="90000"/>
          </a:bodyPr>
          <a:lstStyle/>
          <a:p>
            <a:r>
              <a:rPr lang="ru-RU" dirty="0"/>
              <a:t>Нужные строки  и поля из табличной части документа «Расходная»</a:t>
            </a:r>
          </a:p>
        </p:txBody>
      </p:sp>
      <p:graphicFrame>
        <p:nvGraphicFramePr>
          <p:cNvPr id="6" name="Таблица 5"/>
          <p:cNvGraphicFramePr>
            <a:graphicFrameLocks noGrp="1"/>
          </p:cNvGraphicFramePr>
          <p:nvPr/>
        </p:nvGraphicFramePr>
        <p:xfrm>
          <a:off x="3563888" y="2132856"/>
          <a:ext cx="3111891" cy="2114073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6691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4279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638514"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Номенклатура</a:t>
                      </a: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Количество</a:t>
                      </a: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7590">
                <a:tc>
                  <a:txBody>
                    <a:bodyPr/>
                    <a:lstStyle/>
                    <a:p>
                      <a:r>
                        <a:rPr lang="ru-RU" dirty="0"/>
                        <a:t>&lt;Яблоки&gt;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10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9933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dirty="0"/>
                        <a:t>&lt;Груши&gt;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15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9933">
                <a:tc>
                  <a:txBody>
                    <a:bodyPr/>
                    <a:lstStyle/>
                    <a:p>
                      <a:r>
                        <a:rPr lang="ru-RU" dirty="0"/>
                        <a:t>&lt;Яблоки&gt;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15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9933">
                <a:tc>
                  <a:txBody>
                    <a:bodyPr/>
                    <a:lstStyle/>
                    <a:p>
                      <a:r>
                        <a:rPr lang="ru-RU" dirty="0"/>
                        <a:t>&lt;Киви&gt;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8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489202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02" name="Rectangle 6"/>
          <p:cNvSpPr>
            <a:spLocks noGrp="1" noChangeArrowheads="1"/>
          </p:cNvSpPr>
          <p:nvPr>
            <p:ph type="title"/>
          </p:nvPr>
        </p:nvSpPr>
        <p:spPr>
          <a:solidFill>
            <a:schemeClr val="bg1"/>
          </a:solidFill>
        </p:spPr>
        <p:txBody>
          <a:bodyPr/>
          <a:lstStyle/>
          <a:p>
            <a:r>
              <a:rPr lang="ru-RU" dirty="0"/>
              <a:t>Борьба с дублями строк</a:t>
            </a:r>
          </a:p>
        </p:txBody>
      </p:sp>
      <p:sp>
        <p:nvSpPr>
          <p:cNvPr id="3" name="Двойные круглые скобки 2"/>
          <p:cNvSpPr/>
          <p:nvPr/>
        </p:nvSpPr>
        <p:spPr>
          <a:xfrm>
            <a:off x="3131840" y="1844824"/>
            <a:ext cx="3960440" cy="2592288"/>
          </a:xfrm>
          <a:prstGeom prst="bracketPair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aphicFrame>
        <p:nvGraphicFramePr>
          <p:cNvPr id="12" name="Таблица 11"/>
          <p:cNvGraphicFramePr>
            <a:graphicFrameLocks noGrp="1"/>
          </p:cNvGraphicFramePr>
          <p:nvPr/>
        </p:nvGraphicFramePr>
        <p:xfrm>
          <a:off x="3556114" y="2132856"/>
          <a:ext cx="3111891" cy="174414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6691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4279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638514"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Номенклатура</a:t>
                      </a: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Количество</a:t>
                      </a: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7590">
                <a:tc>
                  <a:txBody>
                    <a:bodyPr/>
                    <a:lstStyle/>
                    <a:p>
                      <a:r>
                        <a:rPr lang="ru-RU" dirty="0"/>
                        <a:t>&lt;Яблоки&gt;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25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9933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dirty="0"/>
                        <a:t>&lt;Груши&gt;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15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9933">
                <a:tc>
                  <a:txBody>
                    <a:bodyPr/>
                    <a:lstStyle/>
                    <a:p>
                      <a:r>
                        <a:rPr lang="ru-RU" dirty="0"/>
                        <a:t>&lt;Киви&gt;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8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5" name="Таблица 4"/>
          <p:cNvGraphicFramePr>
            <a:graphicFrameLocks noGrp="1"/>
          </p:cNvGraphicFramePr>
          <p:nvPr/>
        </p:nvGraphicFramePr>
        <p:xfrm>
          <a:off x="3563888" y="2143244"/>
          <a:ext cx="3111891" cy="2114073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6691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4279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638514"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Номенклатура</a:t>
                      </a: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Количество</a:t>
                      </a: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7590">
                <a:tc>
                  <a:txBody>
                    <a:bodyPr/>
                    <a:lstStyle/>
                    <a:p>
                      <a:r>
                        <a:rPr lang="ru-RU" dirty="0"/>
                        <a:t>&lt;Яблоки&gt;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10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9933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dirty="0"/>
                        <a:t>&lt;Груши&gt;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15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9933">
                <a:tc>
                  <a:txBody>
                    <a:bodyPr/>
                    <a:lstStyle/>
                    <a:p>
                      <a:r>
                        <a:rPr lang="ru-RU" dirty="0"/>
                        <a:t>&lt;Яблоки&gt;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15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9933">
                <a:tc>
                  <a:txBody>
                    <a:bodyPr/>
                    <a:lstStyle/>
                    <a:p>
                      <a:r>
                        <a:rPr lang="ru-RU" dirty="0"/>
                        <a:t>&lt;Киви&gt;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8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7" name="Таблица 6"/>
          <p:cNvGraphicFramePr>
            <a:graphicFrameLocks noGrp="1"/>
          </p:cNvGraphicFramePr>
          <p:nvPr/>
        </p:nvGraphicFramePr>
        <p:xfrm>
          <a:off x="1043608" y="4653136"/>
          <a:ext cx="3111891" cy="174414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6691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4279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638514"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Номенклатура</a:t>
                      </a: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Количество</a:t>
                      </a: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7590">
                <a:tc>
                  <a:txBody>
                    <a:bodyPr/>
                    <a:lstStyle/>
                    <a:p>
                      <a:r>
                        <a:rPr lang="ru-RU" dirty="0"/>
                        <a:t>&lt;Яблоки&gt;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25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9933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dirty="0"/>
                        <a:t>&lt;Груши&gt;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15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9933">
                <a:tc>
                  <a:txBody>
                    <a:bodyPr/>
                    <a:lstStyle/>
                    <a:p>
                      <a:r>
                        <a:rPr lang="ru-RU" dirty="0"/>
                        <a:t>&lt;Киви&gt;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8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1259632" y="2132856"/>
            <a:ext cx="20882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1) Сгруппировать</a:t>
            </a:r>
          </a:p>
        </p:txBody>
      </p:sp>
      <p:sp>
        <p:nvSpPr>
          <p:cNvPr id="6" name="Стрелка углом 5"/>
          <p:cNvSpPr/>
          <p:nvPr/>
        </p:nvSpPr>
        <p:spPr>
          <a:xfrm rot="10800000">
            <a:off x="4355976" y="4653136"/>
            <a:ext cx="1224136" cy="1440160"/>
          </a:xfrm>
          <a:prstGeom prst="bentArrow">
            <a:avLst>
              <a:gd name="adj1" fmla="val 18700"/>
              <a:gd name="adj2" fmla="val 25000"/>
              <a:gd name="adj3" fmla="val 25000"/>
              <a:gd name="adj4" fmla="val 43750"/>
            </a:avLst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tx1"/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868144" y="4941168"/>
            <a:ext cx="259228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2) Выгрузить во временную таблицу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28084" y="1628800"/>
            <a:ext cx="10801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Сумма()</a:t>
            </a:r>
          </a:p>
        </p:txBody>
      </p:sp>
    </p:spTree>
    <p:extLst>
      <p:ext uri="{BB962C8B-B14F-4D97-AF65-F5344CB8AC3E}">
        <p14:creationId xmlns:p14="http://schemas.microsoft.com/office/powerpoint/2010/main" val="37765268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500"/>
                            </p:stCondLst>
                            <p:childTnLst>
                              <p:par>
                                <p:cTn id="2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/>
      <p:bldP spid="6" grpId="0" animBg="1"/>
      <p:bldP spid="8" grpId="0"/>
      <p:bldP spid="9" grpId="0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0965" name="Object 5"/>
          <p:cNvGraphicFramePr>
            <a:graphicFrameLocks noGrp="1" noChangeAspect="1"/>
          </p:cNvGraphicFramePr>
          <p:nvPr>
            <p:ph idx="1"/>
          </p:nvPr>
        </p:nvGraphicFramePr>
        <p:xfrm>
          <a:off x="1452563" y="2395538"/>
          <a:ext cx="6248400" cy="27146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075" name="Worksheet" r:id="rId3" imgW="6248400" imgH="2714492" progId="Excel.Sheet.8">
                  <p:embed/>
                </p:oleObj>
              </mc:Choice>
              <mc:Fallback>
                <p:oleObj name="Worksheet" r:id="rId3" imgW="6248400" imgH="2714492" progId="Excel.Sheet.8">
                  <p:embed/>
                  <p:pic>
                    <p:nvPicPr>
                      <p:cNvPr id="40965" name="Object 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452563" y="2395538"/>
                        <a:ext cx="6248400" cy="27146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accent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chemeClr val="tx1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40966" name="Rectangle 6"/>
          <p:cNvSpPr>
            <a:spLocks noGrp="1" noChangeArrowheads="1"/>
          </p:cNvSpPr>
          <p:nvPr>
            <p:ph type="title"/>
          </p:nvPr>
        </p:nvSpPr>
        <p:spPr>
          <a:xfrm>
            <a:off x="199980" y="567601"/>
            <a:ext cx="8784222" cy="1545284"/>
          </a:xfrm>
          <a:solidFill>
            <a:schemeClr val="bg1"/>
          </a:solidFill>
        </p:spPr>
        <p:txBody>
          <a:bodyPr>
            <a:normAutofit fontScale="90000"/>
          </a:bodyPr>
          <a:lstStyle/>
          <a:p>
            <a:r>
              <a:rPr lang="ru-RU" sz="4000" dirty="0"/>
              <a:t>Данные виртуальной таблицы Остатки Регистра накопления «Остатки товаров»</a:t>
            </a:r>
          </a:p>
        </p:txBody>
      </p:sp>
    </p:spTree>
    <p:extLst>
      <p:ext uri="{BB962C8B-B14F-4D97-AF65-F5344CB8AC3E}">
        <p14:creationId xmlns:p14="http://schemas.microsoft.com/office/powerpoint/2010/main" val="13663261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09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4821" name="Object 5"/>
          <p:cNvGraphicFramePr>
            <a:graphicFrameLocks noGrp="1" noChangeAspect="1"/>
          </p:cNvGraphicFramePr>
          <p:nvPr>
            <p:ph idx="1"/>
          </p:nvPr>
        </p:nvGraphicFramePr>
        <p:xfrm>
          <a:off x="488950" y="2890838"/>
          <a:ext cx="8035925" cy="24653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099" name="Worksheet" r:id="rId3" imgW="5248225" imgH="1609636" progId="Excel.Sheet.8">
                  <p:embed/>
                </p:oleObj>
              </mc:Choice>
              <mc:Fallback>
                <p:oleObj name="Worksheet" r:id="rId3" imgW="5248225" imgH="1609636" progId="Excel.Sheet.8">
                  <p:embed/>
                  <p:pic>
                    <p:nvPicPr>
                      <p:cNvPr id="34821" name="Object 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88950" y="2890838"/>
                        <a:ext cx="8035925" cy="246538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accent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chemeClr val="tx1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34822" name="Rectangle 6"/>
          <p:cNvSpPr>
            <a:spLocks noGrp="1" noChangeArrowheads="1"/>
          </p:cNvSpPr>
          <p:nvPr>
            <p:ph type="title"/>
          </p:nvPr>
        </p:nvSpPr>
        <p:spPr>
          <a:xfrm>
            <a:off x="199746" y="567601"/>
            <a:ext cx="8757823" cy="1252322"/>
          </a:xfrm>
          <a:solidFill>
            <a:schemeClr val="bg1"/>
          </a:solidFill>
        </p:spPr>
        <p:txBody>
          <a:bodyPr>
            <a:normAutofit fontScale="90000"/>
          </a:bodyPr>
          <a:lstStyle/>
          <a:p>
            <a:r>
              <a:rPr lang="ru-RU" sz="4000" dirty="0"/>
              <a:t>Выгрузить данные виртуальной таблицы во временную таблицу</a:t>
            </a:r>
          </a:p>
        </p:txBody>
      </p:sp>
    </p:spTree>
    <p:extLst>
      <p:ext uri="{BB962C8B-B14F-4D97-AF65-F5344CB8AC3E}">
        <p14:creationId xmlns:p14="http://schemas.microsoft.com/office/powerpoint/2010/main" val="14501265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8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48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134" name="Rectangle 6"/>
          <p:cNvSpPr>
            <a:spLocks noGrp="1" noChangeArrowheads="1"/>
          </p:cNvSpPr>
          <p:nvPr>
            <p:ph type="title"/>
          </p:nvPr>
        </p:nvSpPr>
        <p:spPr>
          <a:xfrm>
            <a:off x="188119" y="571977"/>
            <a:ext cx="8784000" cy="1114780"/>
          </a:xfrm>
          <a:solidFill>
            <a:schemeClr val="bg1"/>
          </a:solidFill>
        </p:spPr>
        <p:txBody>
          <a:bodyPr>
            <a:normAutofit fontScale="90000"/>
          </a:bodyPr>
          <a:lstStyle/>
          <a:p>
            <a:r>
              <a:rPr lang="ru-RU" sz="4000" dirty="0"/>
              <a:t>Схема сборки запроса для расходной</a:t>
            </a:r>
          </a:p>
        </p:txBody>
      </p:sp>
      <p:sp>
        <p:nvSpPr>
          <p:cNvPr id="3" name="Скругленный прямоугольник 2"/>
          <p:cNvSpPr/>
          <p:nvPr/>
        </p:nvSpPr>
        <p:spPr>
          <a:xfrm>
            <a:off x="899592" y="2204864"/>
            <a:ext cx="2664296" cy="1224136"/>
          </a:xfrm>
          <a:prstGeom prst="roundRect">
            <a:avLst/>
          </a:prstGeom>
          <a:solidFill>
            <a:schemeClr val="accent5">
              <a:lumMod val="75000"/>
            </a:schemeClr>
          </a:solidFill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Временная таблица с данными документа</a:t>
            </a:r>
          </a:p>
        </p:txBody>
      </p:sp>
      <p:sp>
        <p:nvSpPr>
          <p:cNvPr id="6" name="Скругленный прямоугольник 5"/>
          <p:cNvSpPr/>
          <p:nvPr/>
        </p:nvSpPr>
        <p:spPr>
          <a:xfrm>
            <a:off x="5076056" y="2204864"/>
            <a:ext cx="2664296" cy="1224136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Временная таблица с данными регистра</a:t>
            </a:r>
          </a:p>
        </p:txBody>
      </p:sp>
      <p:sp>
        <p:nvSpPr>
          <p:cNvPr id="4" name="Стрелка вправо 3"/>
          <p:cNvSpPr/>
          <p:nvPr/>
        </p:nvSpPr>
        <p:spPr>
          <a:xfrm>
            <a:off x="3599892" y="2654914"/>
            <a:ext cx="1440160" cy="324036"/>
          </a:xfrm>
          <a:prstGeom prst="rightArrow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" name="TextBox 4"/>
          <p:cNvSpPr txBox="1"/>
          <p:nvPr/>
        </p:nvSpPr>
        <p:spPr>
          <a:xfrm>
            <a:off x="2843808" y="3736277"/>
            <a:ext cx="331236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Левое соединение</a:t>
            </a:r>
          </a:p>
          <a:p>
            <a:endParaRPr lang="ru-RU" dirty="0"/>
          </a:p>
          <a:p>
            <a:r>
              <a:rPr lang="ru-RU" dirty="0"/>
              <a:t>Номенклатура = Номенклатура</a:t>
            </a:r>
          </a:p>
        </p:txBody>
      </p:sp>
    </p:spTree>
    <p:extLst>
      <p:ext uri="{BB962C8B-B14F-4D97-AF65-F5344CB8AC3E}">
        <p14:creationId xmlns:p14="http://schemas.microsoft.com/office/powerpoint/2010/main" val="20120917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6" grpId="0" animBg="1"/>
      <p:bldP spid="4" grpId="0" animBg="1"/>
      <p:bldP spid="5" grpId="0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302" name="Rectangle 6"/>
          <p:cNvSpPr>
            <a:spLocks noGrp="1" noChangeArrowheads="1"/>
          </p:cNvSpPr>
          <p:nvPr>
            <p:ph type="title"/>
          </p:nvPr>
        </p:nvSpPr>
        <p:spPr>
          <a:xfrm>
            <a:off x="188119" y="571977"/>
            <a:ext cx="8784000" cy="1123658"/>
          </a:xfrm>
          <a:solidFill>
            <a:schemeClr val="bg1"/>
          </a:solidFill>
        </p:spPr>
        <p:txBody>
          <a:bodyPr/>
          <a:lstStyle/>
          <a:p>
            <a:r>
              <a:rPr lang="ru-RU" sz="4000" dirty="0"/>
              <a:t>Сборка запроса для расходной</a:t>
            </a:r>
          </a:p>
        </p:txBody>
      </p:sp>
      <p:graphicFrame>
        <p:nvGraphicFramePr>
          <p:cNvPr id="7" name="Таблица 6"/>
          <p:cNvGraphicFramePr>
            <a:graphicFrameLocks noGrp="1"/>
          </p:cNvGraphicFramePr>
          <p:nvPr/>
        </p:nvGraphicFramePr>
        <p:xfrm>
          <a:off x="457201" y="2348880"/>
          <a:ext cx="2602631" cy="109728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39595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0667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70030">
                <a:tc>
                  <a:txBody>
                    <a:bodyPr/>
                    <a:lstStyle/>
                    <a:p>
                      <a:pPr algn="ctr"/>
                      <a:r>
                        <a:rPr lang="ru-RU" sz="1200" dirty="0"/>
                        <a:t>Номенклатура</a:t>
                      </a: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200" dirty="0"/>
                        <a:t>Количество</a:t>
                      </a: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0030">
                <a:tc>
                  <a:txBody>
                    <a:bodyPr/>
                    <a:lstStyle/>
                    <a:p>
                      <a:r>
                        <a:rPr lang="ru-RU" sz="1200" dirty="0"/>
                        <a:t>&lt;Яблоки&gt;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ru-RU" sz="1200" dirty="0"/>
                        <a:t>25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003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/>
                        <a:t>&lt;Груши&gt;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ru-RU" sz="1200" dirty="0"/>
                        <a:t>15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0030">
                <a:tc>
                  <a:txBody>
                    <a:bodyPr/>
                    <a:lstStyle/>
                    <a:p>
                      <a:r>
                        <a:rPr lang="ru-RU" sz="1200" dirty="0"/>
                        <a:t>&lt;Киви&gt;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ru-RU" sz="1200" dirty="0"/>
                        <a:t>8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8" name="Object 5"/>
          <p:cNvGraphicFramePr>
            <a:graphicFrameLocks noChangeAspect="1"/>
          </p:cNvGraphicFramePr>
          <p:nvPr/>
        </p:nvGraphicFramePr>
        <p:xfrm>
          <a:off x="4067175" y="2349500"/>
          <a:ext cx="4818063" cy="14779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147" name="Лист" r:id="rId3" imgW="5248397" imgH="1609830" progId="Excel.Sheet.8">
                  <p:embed/>
                </p:oleObj>
              </mc:Choice>
              <mc:Fallback>
                <p:oleObj name="Лист" r:id="rId3" imgW="5248397" imgH="1609830" progId="Excel.Sheet.8">
                  <p:embed/>
                  <p:pic>
                    <p:nvPicPr>
                      <p:cNvPr id="8" name="Object 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067175" y="2349500"/>
                        <a:ext cx="4818063" cy="147796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</p:spPr>
                  </p:pic>
                </p:oleObj>
              </mc:Fallback>
            </mc:AlternateContent>
          </a:graphicData>
        </a:graphic>
      </p:graphicFrame>
      <p:sp>
        <p:nvSpPr>
          <p:cNvPr id="9" name="Стрелка вправо 8"/>
          <p:cNvSpPr/>
          <p:nvPr/>
        </p:nvSpPr>
        <p:spPr>
          <a:xfrm>
            <a:off x="3093446" y="2763757"/>
            <a:ext cx="900100" cy="324036"/>
          </a:xfrm>
          <a:prstGeom prst="rightArrow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TextBox 9"/>
          <p:cNvSpPr txBox="1"/>
          <p:nvPr/>
        </p:nvSpPr>
        <p:spPr>
          <a:xfrm>
            <a:off x="1979712" y="3972247"/>
            <a:ext cx="331236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Левое соединение</a:t>
            </a:r>
          </a:p>
          <a:p>
            <a:endParaRPr lang="ru-RU" dirty="0"/>
          </a:p>
          <a:p>
            <a:r>
              <a:rPr lang="ru-RU" dirty="0"/>
              <a:t>Номенклатура = Номенклатура</a:t>
            </a:r>
          </a:p>
        </p:txBody>
      </p:sp>
    </p:spTree>
    <p:extLst>
      <p:ext uri="{BB962C8B-B14F-4D97-AF65-F5344CB8AC3E}">
        <p14:creationId xmlns:p14="http://schemas.microsoft.com/office/powerpoint/2010/main" val="35989787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1989" name="Object 5"/>
          <p:cNvGraphicFramePr>
            <a:graphicFrameLocks noGrp="1" noChangeAspect="1"/>
          </p:cNvGraphicFramePr>
          <p:nvPr>
            <p:ph idx="1"/>
          </p:nvPr>
        </p:nvGraphicFramePr>
        <p:xfrm>
          <a:off x="471488" y="2205038"/>
          <a:ext cx="8235950" cy="30559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051" name="Лист" r:id="rId3" imgW="5467269" imgH="2028814" progId="Excel.Sheet.8">
                  <p:embed/>
                </p:oleObj>
              </mc:Choice>
              <mc:Fallback>
                <p:oleObj name="Лист" r:id="rId3" imgW="5467269" imgH="2028814" progId="Excel.Sheet.8">
                  <p:embed/>
                  <p:pic>
                    <p:nvPicPr>
                      <p:cNvPr id="41989" name="Object 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71488" y="2205038"/>
                        <a:ext cx="8235950" cy="305593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accent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chemeClr val="tx1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41990" name="Rectangle 6"/>
          <p:cNvSpPr>
            <a:spLocks noGrp="1" noChangeArrowheads="1"/>
          </p:cNvSpPr>
          <p:nvPr>
            <p:ph type="title"/>
          </p:nvPr>
        </p:nvSpPr>
        <p:spPr>
          <a:solidFill>
            <a:schemeClr val="bg1"/>
          </a:solidFill>
        </p:spPr>
        <p:txBody>
          <a:bodyPr/>
          <a:lstStyle/>
          <a:p>
            <a:r>
              <a:rPr lang="ru-RU"/>
              <a:t>Результат сборки.</a:t>
            </a:r>
          </a:p>
        </p:txBody>
      </p:sp>
    </p:spTree>
    <p:extLst>
      <p:ext uri="{BB962C8B-B14F-4D97-AF65-F5344CB8AC3E}">
        <p14:creationId xmlns:p14="http://schemas.microsoft.com/office/powerpoint/2010/main" val="10187900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9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198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3491" name="Object 3"/>
          <p:cNvGraphicFramePr>
            <a:graphicFrameLocks noGrp="1" noChangeAspect="1"/>
          </p:cNvGraphicFramePr>
          <p:nvPr>
            <p:ph idx="1"/>
          </p:nvPr>
        </p:nvGraphicFramePr>
        <p:xfrm>
          <a:off x="468313" y="2242964"/>
          <a:ext cx="8135937" cy="40068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125" name="Лист" r:id="rId3" imgW="5667334" imgH="2790955" progId="Excel.Sheet.8">
                  <p:embed/>
                </p:oleObj>
              </mc:Choice>
              <mc:Fallback>
                <p:oleObj name="Лист" r:id="rId3" imgW="5667334" imgH="2790955" progId="Excel.Sheet.8">
                  <p:embed/>
                  <p:pic>
                    <p:nvPicPr>
                      <p:cNvPr id="63491" name="Object 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68313" y="2242964"/>
                        <a:ext cx="8135937" cy="40068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accent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chemeClr val="tx1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63490" name="Rectangle 2"/>
          <p:cNvSpPr>
            <a:spLocks noGrp="1" noChangeArrowheads="1"/>
          </p:cNvSpPr>
          <p:nvPr>
            <p:ph type="title"/>
          </p:nvPr>
        </p:nvSpPr>
        <p:spPr>
          <a:solidFill>
            <a:schemeClr val="bg1"/>
          </a:solidFill>
        </p:spPr>
        <p:txBody>
          <a:bodyPr/>
          <a:lstStyle/>
          <a:p>
            <a:r>
              <a:rPr lang="ru-RU"/>
              <a:t>Подведение итогов</a:t>
            </a:r>
          </a:p>
        </p:txBody>
      </p:sp>
    </p:spTree>
    <p:extLst>
      <p:ext uri="{BB962C8B-B14F-4D97-AF65-F5344CB8AC3E}">
        <p14:creationId xmlns:p14="http://schemas.microsoft.com/office/powerpoint/2010/main" val="28562113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4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349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5539" name="Object 3"/>
          <p:cNvGraphicFramePr>
            <a:graphicFrameLocks noGrp="1" noChangeAspect="1"/>
          </p:cNvGraphicFramePr>
          <p:nvPr>
            <p:ph idx="1"/>
          </p:nvPr>
        </p:nvGraphicFramePr>
        <p:xfrm>
          <a:off x="468313" y="2242964"/>
          <a:ext cx="8135937" cy="40068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27" name="Лист" r:id="rId4" imgW="5667334" imgH="2790955" progId="Excel.Sheet.8">
                  <p:embed/>
                </p:oleObj>
              </mc:Choice>
              <mc:Fallback>
                <p:oleObj name="Лист" r:id="rId4" imgW="5667334" imgH="2790955" progId="Excel.Sheet.8">
                  <p:embed/>
                  <p:pic>
                    <p:nvPicPr>
                      <p:cNvPr id="65539" name="Object 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68313" y="2242964"/>
                        <a:ext cx="8135937" cy="40068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accent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chemeClr val="tx1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65538" name="Rectangle 2"/>
          <p:cNvSpPr>
            <a:spLocks noGrp="1" noChangeArrowheads="1"/>
          </p:cNvSpPr>
          <p:nvPr>
            <p:ph type="title"/>
          </p:nvPr>
        </p:nvSpPr>
        <p:spPr>
          <a:xfrm>
            <a:off x="219737" y="563564"/>
            <a:ext cx="8782219" cy="1567078"/>
          </a:xfrm>
          <a:solidFill>
            <a:schemeClr val="bg1"/>
          </a:solidFill>
        </p:spPr>
        <p:txBody>
          <a:bodyPr>
            <a:normAutofit fontScale="90000"/>
          </a:bodyPr>
          <a:lstStyle/>
          <a:p>
            <a:r>
              <a:rPr lang="ru-RU" sz="4000" dirty="0"/>
              <a:t>Упорядочить детальные записи по дополнительному признаку указанному в задании</a:t>
            </a:r>
          </a:p>
        </p:txBody>
      </p:sp>
      <p:sp>
        <p:nvSpPr>
          <p:cNvPr id="65540" name="Line 4"/>
          <p:cNvSpPr>
            <a:spLocks noChangeShapeType="1"/>
          </p:cNvSpPr>
          <p:nvPr/>
        </p:nvSpPr>
        <p:spPr bwMode="auto">
          <a:xfrm>
            <a:off x="5580112" y="3826520"/>
            <a:ext cx="0" cy="648072"/>
          </a:xfrm>
          <a:prstGeom prst="line">
            <a:avLst/>
          </a:prstGeom>
          <a:noFill/>
          <a:ln w="76200">
            <a:solidFill>
              <a:srgbClr val="FF0000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ru-RU"/>
          </a:p>
        </p:txBody>
      </p:sp>
      <p:sp>
        <p:nvSpPr>
          <p:cNvPr id="65541" name="Line 5"/>
          <p:cNvSpPr>
            <a:spLocks noChangeShapeType="1"/>
          </p:cNvSpPr>
          <p:nvPr/>
        </p:nvSpPr>
        <p:spPr bwMode="auto">
          <a:xfrm>
            <a:off x="5580112" y="4906020"/>
            <a:ext cx="0" cy="647700"/>
          </a:xfrm>
          <a:prstGeom prst="line">
            <a:avLst/>
          </a:prstGeom>
          <a:noFill/>
          <a:ln w="76200">
            <a:solidFill>
              <a:srgbClr val="FF0000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34145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5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55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5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655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5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655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000"/>
                            </p:stCondLst>
                            <p:childTnLst>
                              <p:par>
                                <p:cTn id="16" presetID="26" presetClass="emph" presetSubtype="0" repeatCount="3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7" dur="500" tmFilter="0, 0; .2, .5; .8, .5; 1, 0"/>
                                        <p:tgtEl>
                                          <p:spTgt spid="65540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8" dur="250" autoRev="1" fill="hold"/>
                                        <p:tgtEl>
                                          <p:spTgt spid="65540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9" presetID="26" presetClass="emph" presetSubtype="0" repeatCount="3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0" dur="500" tmFilter="0, 0; .2, .5; .8, .5; 1, 0"/>
                                        <p:tgtEl>
                                          <p:spTgt spid="65541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21" dur="250" autoRev="1" fill="hold"/>
                                        <p:tgtEl>
                                          <p:spTgt spid="65541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5540" grpId="0" animBg="1"/>
      <p:bldP spid="65540" grpId="1" animBg="1"/>
      <p:bldP spid="65541" grpId="0" animBg="1"/>
      <p:bldP spid="65541" grpId="1" animBg="1"/>
    </p:bldLst>
  </p:timing>
</p:sld>
</file>

<file path=ppt/theme/theme1.xml><?xml version="1.0" encoding="utf-8"?>
<a:theme xmlns:a="http://schemas.openxmlformats.org/drawingml/2006/main" name="СофтБаланс_основные_объекты">
  <a:themeElements>
    <a:clrScheme name="Office 2007-2010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Стандартная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СофтБаланс_основные_объекты" id="{62BD0483-928A-448D-BBAD-621E3072F039}" vid="{487075A3-1F89-4279-8755-8EA96074D5C1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СофтБаланс_основные_объекты</Template>
  <TotalTime>2390</TotalTime>
  <Words>3278</Words>
  <Application>Microsoft Office PowerPoint</Application>
  <PresentationFormat>Экран (4:3)</PresentationFormat>
  <Paragraphs>1759</Paragraphs>
  <Slides>74</Slides>
  <Notes>1</Notes>
  <HiddenSlides>0</HiddenSlides>
  <MMClips>0</MMClips>
  <ScaleCrop>false</ScaleCrop>
  <HeadingPairs>
    <vt:vector size="8" baseType="variant">
      <vt:variant>
        <vt:lpstr>Использованные шрифты</vt:lpstr>
      </vt:variant>
      <vt:variant>
        <vt:i4>8</vt:i4>
      </vt:variant>
      <vt:variant>
        <vt:lpstr>Тема</vt:lpstr>
      </vt:variant>
      <vt:variant>
        <vt:i4>1</vt:i4>
      </vt:variant>
      <vt:variant>
        <vt:lpstr>Внедренные серверы OLE</vt:lpstr>
      </vt:variant>
      <vt:variant>
        <vt:i4>2</vt:i4>
      </vt:variant>
      <vt:variant>
        <vt:lpstr>Заголовки слайдов</vt:lpstr>
      </vt:variant>
      <vt:variant>
        <vt:i4>74</vt:i4>
      </vt:variant>
    </vt:vector>
  </HeadingPairs>
  <TitlesOfParts>
    <vt:vector size="85" baseType="lpstr">
      <vt:lpstr>Arial</vt:lpstr>
      <vt:lpstr>Arial Black</vt:lpstr>
      <vt:lpstr>Arial Narrow</vt:lpstr>
      <vt:lpstr>Calibri</vt:lpstr>
      <vt:lpstr>Courier New</vt:lpstr>
      <vt:lpstr>Tahoma</vt:lpstr>
      <vt:lpstr>Verdana</vt:lpstr>
      <vt:lpstr>Wingdings</vt:lpstr>
      <vt:lpstr>СофтБаланс_основные_объекты</vt:lpstr>
      <vt:lpstr>Лист</vt:lpstr>
      <vt:lpstr>Worksheet</vt:lpstr>
      <vt:lpstr>Занятие 10</vt:lpstr>
      <vt:lpstr>Себестоимость</vt:lpstr>
      <vt:lpstr>Себестоимость</vt:lpstr>
      <vt:lpstr>Проведение и допроведение</vt:lpstr>
      <vt:lpstr>Первое проведения.  (Оперативное проведение)</vt:lpstr>
      <vt:lpstr>При записи</vt:lpstr>
      <vt:lpstr>Обработка проведения (начало)</vt:lpstr>
      <vt:lpstr>Обработка проведения. (Заполнение наборов записей)</vt:lpstr>
      <vt:lpstr>Окончание обработки проведения. (Запись помеченных наборов записей)</vt:lpstr>
      <vt:lpstr>Состояние после проведения</vt:lpstr>
      <vt:lpstr>Допроведение документа</vt:lpstr>
      <vt:lpstr>Второе проведения.  (Допроведение документа)</vt:lpstr>
      <vt:lpstr>При записи</vt:lpstr>
      <vt:lpstr>Обработка проведения (начало)</vt:lpstr>
      <vt:lpstr>Обработка проведения. (Заполнение наборов записей)</vt:lpstr>
      <vt:lpstr>Окончание обработки проведения. (Запись помеченных наборов записей)</vt:lpstr>
      <vt:lpstr>Состояние после повторного проведения</vt:lpstr>
      <vt:lpstr>Традиционная технология  проведения</vt:lpstr>
      <vt:lpstr>Традиционная технология проведения</vt:lpstr>
      <vt:lpstr>Традиционная технология проведения</vt:lpstr>
      <vt:lpstr>Традиционная технология проведения</vt:lpstr>
      <vt:lpstr>Традиционная технология проведения</vt:lpstr>
      <vt:lpstr>Традиционная технология проведения</vt:lpstr>
      <vt:lpstr>Традиционная технология проведения</vt:lpstr>
      <vt:lpstr>Данные в результате запроса</vt:lpstr>
      <vt:lpstr>Данные в результате запроса</vt:lpstr>
      <vt:lpstr>Данные в результате запроса</vt:lpstr>
      <vt:lpstr>Объединение и соединение таблиц</vt:lpstr>
      <vt:lpstr>Варианты работы  с несколькими источниками</vt:lpstr>
      <vt:lpstr>Объединение источников</vt:lpstr>
      <vt:lpstr>Соединение</vt:lpstr>
      <vt:lpstr>Соединение без условия</vt:lpstr>
      <vt:lpstr>Результат соединения без условия.  Каждая строка таблицы 1 соединена с каждой строкой из таблицы 2</vt:lpstr>
      <vt:lpstr>Условие соединения</vt:lpstr>
      <vt:lpstr>Виды соединений ЛЕВОЕ</vt:lpstr>
      <vt:lpstr>Виды соединений ПРАВОЕ</vt:lpstr>
      <vt:lpstr>Виды соединений ПОЛНОЕ</vt:lpstr>
      <vt:lpstr>Виды соединений ВНУТРЕННЕЕ</vt:lpstr>
      <vt:lpstr>Условие соединения</vt:lpstr>
      <vt:lpstr>Виды соединений ВНУТРЕННЕЕ</vt:lpstr>
      <vt:lpstr>Виды соединений ЛЕВОЕ</vt:lpstr>
      <vt:lpstr>Виды соединений ПРАВОЕ</vt:lpstr>
      <vt:lpstr>Виды соединений ПОЛНОЕ</vt:lpstr>
      <vt:lpstr>Блокировки</vt:lpstr>
      <vt:lpstr>Проблема чтения данных, которые будут изменены</vt:lpstr>
      <vt:lpstr>Решение проблемы – не давать читать данные (заблокировать данные) до окончания транзакции по изменению данных</vt:lpstr>
      <vt:lpstr>Управляемые блокировки</vt:lpstr>
      <vt:lpstr>Пользователь 1 проводит реализацию 1</vt:lpstr>
      <vt:lpstr>Пользователь 1 записывает данные в таблицу управляемых блокировок</vt:lpstr>
      <vt:lpstr>В таблице блокировок нет повторов по полям – таблица – поле таблицы - значение</vt:lpstr>
      <vt:lpstr>Пользователь 2 проводит реализацию 2</vt:lpstr>
      <vt:lpstr>Пользователь 2 записывает данные в таблицу управляемых блокировок</vt:lpstr>
      <vt:lpstr>В таблице блокировок есть повторы по полям – таблица – поле таблицы - значение</vt:lpstr>
      <vt:lpstr>Заканчивается транзакция Пользователя 1 </vt:lpstr>
      <vt:lpstr>Запись Пользователя 1 автоматически удаляется из таблицы заблокированных данных</vt:lpstr>
      <vt:lpstr>В таблице блокировок нет повторов по полям – таблица – поле таблицы - значение</vt:lpstr>
      <vt:lpstr>Заканчивается транзакция Пользователя 2 </vt:lpstr>
      <vt:lpstr>Запись Пользователя 2 автоматически удаляется из таблицы заблокированных данных</vt:lpstr>
      <vt:lpstr>Партионный учет</vt:lpstr>
      <vt:lpstr>По средней стоимости расчета себестоимости при списании</vt:lpstr>
      <vt:lpstr>Партионный учет</vt:lpstr>
      <vt:lpstr>Тип измерения «Партия»</vt:lpstr>
      <vt:lpstr>Авто-списание партий</vt:lpstr>
      <vt:lpstr>Сборка запроса</vt:lpstr>
      <vt:lpstr>Данные документа (Табличная часть «Товары»)</vt:lpstr>
      <vt:lpstr>Нужные строки  и поля из табличной части документа «Расходная»</vt:lpstr>
      <vt:lpstr>Борьба с дублями строк</vt:lpstr>
      <vt:lpstr>Данные виртуальной таблицы Остатки Регистра накопления «Остатки товаров»</vt:lpstr>
      <vt:lpstr>Выгрузить данные виртуальной таблицы во временную таблицу</vt:lpstr>
      <vt:lpstr>Схема сборки запроса для расходной</vt:lpstr>
      <vt:lpstr>Сборка запроса для расходной</vt:lpstr>
      <vt:lpstr>Результат сборки.</vt:lpstr>
      <vt:lpstr>Подведение итогов</vt:lpstr>
      <vt:lpstr>Упорядочить детальные записи по дополнительному признаку указанному в задании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Занятие 10</dc:title>
  <dc:creator>eugeniy sizov</dc:creator>
  <cp:lastModifiedBy>eugeniy sizov</cp:lastModifiedBy>
  <cp:revision>50</cp:revision>
  <dcterms:created xsi:type="dcterms:W3CDTF">2015-05-02T11:27:41Z</dcterms:created>
  <dcterms:modified xsi:type="dcterms:W3CDTF">2020-02-22T17:26:27Z</dcterms:modified>
</cp:coreProperties>
</file>