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7" r:id="rId3"/>
    <p:sldId id="287" r:id="rId4"/>
    <p:sldId id="283" r:id="rId5"/>
    <p:sldId id="303" r:id="rId6"/>
    <p:sldId id="285" r:id="rId7"/>
    <p:sldId id="299" r:id="rId8"/>
    <p:sldId id="273" r:id="rId9"/>
    <p:sldId id="274" r:id="rId10"/>
    <p:sldId id="275" r:id="rId11"/>
    <p:sldId id="276" r:id="rId12"/>
    <p:sldId id="284" r:id="rId13"/>
    <p:sldId id="302" r:id="rId14"/>
    <p:sldId id="301" r:id="rId15"/>
    <p:sldId id="278" r:id="rId16"/>
    <p:sldId id="279" r:id="rId17"/>
    <p:sldId id="280" r:id="rId18"/>
    <p:sldId id="281" r:id="rId19"/>
    <p:sldId id="300" r:id="rId20"/>
    <p:sldId id="288" r:id="rId21"/>
    <p:sldId id="290" r:id="rId22"/>
    <p:sldId id="296" r:id="rId23"/>
    <p:sldId id="291" r:id="rId24"/>
    <p:sldId id="292" r:id="rId25"/>
    <p:sldId id="293" r:id="rId26"/>
    <p:sldId id="294" r:id="rId27"/>
    <p:sldId id="295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32" y="12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4" d="100"/>
        <a:sy n="104" d="100"/>
      </p:scale>
      <p:origin x="0" y="-96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7A1CD56E-CE0C-4819-B43D-653BA7418D04}"/>
    <pc:docChg chg="modSld">
      <pc:chgData name="eugeniy sizov" userId="f166da1dfb7bc990" providerId="LiveId" clId="{7A1CD56E-CE0C-4819-B43D-653BA7418D04}" dt="2020-02-17T12:34:24.363" v="0" actId="1076"/>
      <pc:docMkLst>
        <pc:docMk/>
      </pc:docMkLst>
      <pc:sldChg chg="modSp mod">
        <pc:chgData name="eugeniy sizov" userId="f166da1dfb7bc990" providerId="LiveId" clId="{7A1CD56E-CE0C-4819-B43D-653BA7418D04}" dt="2020-02-17T12:34:24.363" v="0" actId="1076"/>
        <pc:sldMkLst>
          <pc:docMk/>
          <pc:sldMk cId="4255992480" sldId="276"/>
        </pc:sldMkLst>
        <pc:spChg chg="mod">
          <ac:chgData name="eugeniy sizov" userId="f166da1dfb7bc990" providerId="LiveId" clId="{7A1CD56E-CE0C-4819-B43D-653BA7418D04}" dt="2020-02-17T12:34:24.363" v="0" actId="1076"/>
          <ac:spMkLst>
            <pc:docMk/>
            <pc:sldMk cId="4255992480" sldId="27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7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369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9292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017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85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144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CD28-912B-46FF-95A0-B32F7AE70E0A}" type="datetimeFigureOut">
              <a:rPr lang="ru-RU" smtClean="0"/>
              <a:pPr/>
              <a:t>17.09.2020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B301F-FFC1-424F-A769-488E12EBE5A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255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CD28-912B-46FF-95A0-B32F7AE70E0A}" type="datetimeFigureOut">
              <a:rPr lang="ru-RU" smtClean="0"/>
              <a:pPr/>
              <a:t>17.09.2020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B301F-FFC1-424F-A769-488E12EBE5A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8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8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Основные объекты</a:t>
            </a:r>
          </a:p>
        </p:txBody>
      </p:sp>
    </p:spTree>
    <p:extLst>
      <p:ext uri="{BB962C8B-B14F-4D97-AF65-F5344CB8AC3E}">
        <p14:creationId xmlns:p14="http://schemas.microsoft.com/office/powerpoint/2010/main" val="343756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pc="300" dirty="0"/>
              <a:t>Занятие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68817" y="1484784"/>
            <a:ext cx="342260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-288000">
              <a:lnSpc>
                <a:spcPct val="200000"/>
              </a:lnSpc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Справочники</a:t>
            </a:r>
          </a:p>
          <a:p>
            <a:pPr indent="-288000">
              <a:lnSpc>
                <a:spcPct val="200000"/>
              </a:lnSpc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Перечисления</a:t>
            </a:r>
            <a:endParaRPr lang="en-US" sz="2400" b="1" dirty="0">
              <a:solidFill>
                <a:srgbClr val="002060"/>
              </a:solidFill>
            </a:endParaRPr>
          </a:p>
          <a:p>
            <a:pPr indent="-288000">
              <a:lnSpc>
                <a:spcPct val="200000"/>
              </a:lnSpc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Документы</a:t>
            </a:r>
          </a:p>
          <a:p>
            <a:pPr indent="-288000">
              <a:lnSpc>
                <a:spcPct val="200000"/>
              </a:lnSpc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Нумераторы</a:t>
            </a:r>
          </a:p>
          <a:p>
            <a:pPr indent="-288000">
              <a:lnSpc>
                <a:spcPct val="200000"/>
              </a:lnSpc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</a:rPr>
              <a:t>Журналы </a:t>
            </a:r>
            <a:r>
              <a:rPr lang="ru-RU" sz="2400" b="1" dirty="0" smtClean="0">
                <a:solidFill>
                  <a:srgbClr val="002060"/>
                </a:solidFill>
              </a:rPr>
              <a:t>документов</a:t>
            </a:r>
          </a:p>
          <a:p>
            <a:pPr indent="-288000">
              <a:lnSpc>
                <a:spcPct val="200000"/>
              </a:lnSpc>
              <a:buFont typeface="Arial" pitchFamily="34" charset="0"/>
              <a:buChar char="•"/>
            </a:pPr>
            <a:r>
              <a:rPr lang="ru-RU" sz="2400" b="1" dirty="0" smtClean="0">
                <a:solidFill>
                  <a:srgbClr val="002060"/>
                </a:solidFill>
              </a:rPr>
              <a:t>Регистры сведений</a:t>
            </a:r>
            <a:endParaRPr lang="ru-RU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11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системы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67544" y="1700808"/>
            <a:ext cx="1548000" cy="126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Объекты учета</a:t>
            </a:r>
          </a:p>
        </p:txBody>
      </p:sp>
      <p:sp>
        <p:nvSpPr>
          <p:cNvPr id="4" name="Блок-схема: карточка 3"/>
          <p:cNvSpPr/>
          <p:nvPr/>
        </p:nvSpPr>
        <p:spPr>
          <a:xfrm>
            <a:off x="2651787" y="1700808"/>
            <a:ext cx="1548000" cy="1260000"/>
          </a:xfrm>
          <a:prstGeom prst="flowChartPunchedCar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Регистрация событий</a:t>
            </a:r>
          </a:p>
        </p:txBody>
      </p:sp>
      <p:sp>
        <p:nvSpPr>
          <p:cNvPr id="5" name="Цилиндр 4"/>
          <p:cNvSpPr/>
          <p:nvPr/>
        </p:nvSpPr>
        <p:spPr>
          <a:xfrm>
            <a:off x="4836030" y="1700808"/>
            <a:ext cx="1548000" cy="1260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Обработка введенных данных</a:t>
            </a:r>
          </a:p>
        </p:txBody>
      </p:sp>
      <p:sp>
        <p:nvSpPr>
          <p:cNvPr id="6" name="Загнутый угол 5"/>
          <p:cNvSpPr/>
          <p:nvPr/>
        </p:nvSpPr>
        <p:spPr>
          <a:xfrm>
            <a:off x="7020272" y="1700808"/>
            <a:ext cx="1548000" cy="1260000"/>
          </a:xfrm>
          <a:prstGeom prst="folded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Отчетность</a:t>
            </a:r>
          </a:p>
        </p:txBody>
      </p:sp>
      <p:sp>
        <p:nvSpPr>
          <p:cNvPr id="7" name="Стрелка вправо 6"/>
          <p:cNvSpPr/>
          <p:nvPr/>
        </p:nvSpPr>
        <p:spPr>
          <a:xfrm>
            <a:off x="2015544" y="2204864"/>
            <a:ext cx="6120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4239003" y="2204864"/>
            <a:ext cx="6120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 вправо 8"/>
          <p:cNvSpPr/>
          <p:nvPr/>
        </p:nvSpPr>
        <p:spPr>
          <a:xfrm>
            <a:off x="6408272" y="2204864"/>
            <a:ext cx="6120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305320" y="3717032"/>
            <a:ext cx="20162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Константы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Справочники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Перечисления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Планы видов характеристик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Планы счетов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chemeClr val="accent3">
                    <a:lumMod val="50000"/>
                  </a:schemeClr>
                </a:solidFill>
              </a:rPr>
              <a:t>Планы видов расчета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5600" y="3717032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C00000"/>
                </a:solidFill>
              </a:rPr>
              <a:t>Документы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880" y="3717032"/>
            <a:ext cx="2016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сведений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накопления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бухгалтерии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600" dirty="0">
                <a:solidFill>
                  <a:srgbClr val="0070C0"/>
                </a:solidFill>
              </a:rPr>
              <a:t>Регистры расчета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6160" y="3717032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1600">
                <a:solidFill>
                  <a:schemeClr val="accent6">
                    <a:lumMod val="75000"/>
                  </a:schemeClr>
                </a:solidFill>
              </a:rPr>
              <a:t>Отчеты</a:t>
            </a:r>
            <a:endParaRPr lang="ru-RU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29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Пометка удаления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37985"/>
              </p:ext>
            </p:extLst>
          </p:nvPr>
        </p:nvGraphicFramePr>
        <p:xfrm>
          <a:off x="611560" y="2204864"/>
          <a:ext cx="7681041" cy="25193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7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2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9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7836">
                <a:tc>
                  <a:txBody>
                    <a:bodyPr/>
                    <a:lstStyle/>
                    <a:p>
                      <a:r>
                        <a:rPr lang="ru-RU" sz="1800" dirty="0"/>
                        <a:t>Пометка удаления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Ссылка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Код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Наименование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Буквенный Код</a:t>
                      </a:r>
                    </a:p>
                  </a:txBody>
                  <a:tcPr marL="91457" marR="91457"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88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rgbClr val="002060"/>
                          </a:solidFill>
                        </a:rPr>
                        <a:t>Ложь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002060"/>
                          </a:solidFill>
                        </a:rPr>
                        <a:t>7:</a:t>
                      </a:r>
                      <a:r>
                        <a:rPr lang="en-US" sz="1200" b="0" dirty="0">
                          <a:solidFill>
                            <a:srgbClr val="002060"/>
                          </a:solidFill>
                        </a:rPr>
                        <a:t>aea2001cf091e0a511dec47a9dbdf145</a:t>
                      </a:r>
                      <a:endParaRPr lang="ru-RU" sz="12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840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tx1"/>
                          </a:solidFill>
                        </a:rPr>
                        <a:t>Доллар</a:t>
                      </a:r>
                      <a:r>
                        <a:rPr lang="ru-RU" sz="1600" baseline="0" dirty="0">
                          <a:solidFill>
                            <a:schemeClr val="tx1"/>
                          </a:solidFill>
                        </a:rPr>
                        <a:t> США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USD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57" marR="91457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882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Истина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002060"/>
                          </a:solidFill>
                        </a:rPr>
                        <a:t>7: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aea2001cf091e</a:t>
                      </a:r>
                      <a:r>
                        <a:rPr lang="ru-RU" sz="1200" dirty="0">
                          <a:solidFill>
                            <a:srgbClr val="002060"/>
                          </a:solidFill>
                        </a:rPr>
                        <a:t>1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a511dec47a9dbdf14</a:t>
                      </a:r>
                      <a:r>
                        <a:rPr lang="ru-RU" sz="12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978</a:t>
                      </a:r>
                      <a:endParaRPr lang="ru-RU" sz="1600" dirty="0"/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ЕВРО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EUR</a:t>
                      </a:r>
                      <a:endParaRPr lang="ru-RU" sz="1600" dirty="0"/>
                    </a:p>
                  </a:txBody>
                  <a:tcPr marL="91457" marR="91457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882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2060"/>
                          </a:solidFill>
                        </a:rPr>
                        <a:t>Ложь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rgbClr val="002060"/>
                          </a:solidFill>
                        </a:rPr>
                        <a:t>7: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aea2001cf091e</a:t>
                      </a:r>
                      <a:r>
                        <a:rPr lang="ru-RU" sz="1200" dirty="0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a511dec47a9dbdf14</a:t>
                      </a:r>
                      <a:r>
                        <a:rPr lang="ru-RU" sz="12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643</a:t>
                      </a:r>
                      <a:endParaRPr lang="ru-RU" sz="1600" dirty="0"/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Рубль</a:t>
                      </a:r>
                      <a:r>
                        <a:rPr lang="ru-RU" sz="1600" baseline="0" dirty="0"/>
                        <a:t> РФ</a:t>
                      </a:r>
                      <a:endParaRPr lang="ru-RU" sz="1600" dirty="0"/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RUR</a:t>
                      </a:r>
                      <a:endParaRPr lang="ru-RU" sz="1600" dirty="0"/>
                    </a:p>
                  </a:txBody>
                  <a:tcPr marL="91457" marR="91457" marT="45708" marB="457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882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57" marR="91457" marT="45708" marB="4570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57" marR="91457" marT="45708" marB="45708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57" marR="91457" marT="45708" marB="4570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29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Сотрудники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8" y="1150511"/>
            <a:ext cx="9035396" cy="258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2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Сотрудники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8" y="1150511"/>
            <a:ext cx="9035396" cy="2582784"/>
          </a:xfrm>
          <a:prstGeom prst="rect">
            <a:avLst/>
          </a:prstGeom>
        </p:spPr>
      </p:pic>
      <p:pic>
        <p:nvPicPr>
          <p:cNvPr id="5122" name="Picture 2" descr="C:\Users\sizov\AppData\Local\Temp\SNAGHTML6be42c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84784"/>
            <a:ext cx="5618237" cy="504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77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14347"/>
            <a:ext cx="5948904" cy="532737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Реквизит «Пол»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 flipH="1">
            <a:off x="4860032" y="3140968"/>
            <a:ext cx="1656184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14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Неизменяемые (почти </a:t>
            </a:r>
            <a:r>
              <a:rPr lang="ru-RU" dirty="0">
                <a:sym typeface="Wingdings" panose="05000000000000000000" pitchFamily="2" charset="2"/>
              </a:rPr>
              <a:t>) </a:t>
            </a:r>
            <a:r>
              <a:rPr lang="ru-RU" dirty="0"/>
              <a:t>списки данных</a:t>
            </a:r>
          </a:p>
          <a:p>
            <a:pPr lvl="1"/>
            <a:r>
              <a:rPr lang="ru-RU" dirty="0"/>
              <a:t>Дни недели</a:t>
            </a:r>
          </a:p>
          <a:p>
            <a:pPr lvl="1"/>
            <a:r>
              <a:rPr lang="ru-RU" dirty="0"/>
              <a:t>Пол физического лица</a:t>
            </a:r>
          </a:p>
          <a:p>
            <a:pPr lvl="1"/>
            <a:r>
              <a:rPr lang="ru-RU" dirty="0"/>
              <a:t>Ставка НДС</a:t>
            </a:r>
          </a:p>
          <a:p>
            <a:pPr lvl="1"/>
            <a:r>
              <a:rPr lang="ru-RU" dirty="0"/>
              <a:t>Способы списания себестоимости</a:t>
            </a:r>
          </a:p>
          <a:p>
            <a:pPr lvl="1"/>
            <a:r>
              <a:rPr lang="ru-RU" dirty="0"/>
              <a:t>…</a:t>
            </a:r>
          </a:p>
          <a:p>
            <a:pPr lvl="1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Перечисления</a:t>
            </a:r>
          </a:p>
        </p:txBody>
      </p:sp>
    </p:spTree>
    <p:extLst>
      <p:ext uri="{BB962C8B-B14F-4D97-AF65-F5344CB8AC3E}">
        <p14:creationId xmlns:p14="http://schemas.microsoft.com/office/powerpoint/2010/main" val="423773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75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</a:t>
            </a:r>
            <a:r>
              <a:rPr lang="ru-RU" dirty="0">
                <a:solidFill>
                  <a:srgbClr val="FF0000"/>
                </a:solidFill>
              </a:rPr>
              <a:t>Перечисления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46" y="692695"/>
            <a:ext cx="2157614" cy="56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5025" y="4500563"/>
            <a:ext cx="1681163" cy="1120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29313" y="4735513"/>
            <a:ext cx="2071687" cy="885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375025" y="1928813"/>
            <a:ext cx="1979613" cy="1993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1875" y="1928813"/>
            <a:ext cx="1889125" cy="2214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5375275" y="5791200"/>
            <a:ext cx="738188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54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4127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Ссылки на значения перечислений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532108"/>
              </p:ext>
            </p:extLst>
          </p:nvPr>
        </p:nvGraphicFramePr>
        <p:xfrm>
          <a:off x="285750" y="4716934"/>
          <a:ext cx="6311838" cy="10794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68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833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48" marR="91448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Значение</a:t>
                      </a:r>
                    </a:p>
                  </a:txBody>
                  <a:tcPr marL="91448" marR="91448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Порядок</a:t>
                      </a:r>
                    </a:p>
                  </a:txBody>
                  <a:tcPr marL="91448" marR="91448" marT="45699" marB="4569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02060"/>
                          </a:solidFill>
                        </a:rPr>
                        <a:t>5:</a:t>
                      </a:r>
                      <a:r>
                        <a:rPr lang="en-US" sz="1400" b="0" dirty="0">
                          <a:solidFill>
                            <a:srgbClr val="002060"/>
                          </a:solidFill>
                        </a:rPr>
                        <a:t>aea2001cf091e0a517dec47a9dbdf815</a:t>
                      </a:r>
                      <a:endParaRPr lang="ru-RU" sz="14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48" marR="91448" marT="45699" marB="4569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Мужской</a:t>
                      </a:r>
                    </a:p>
                  </a:txBody>
                  <a:tcPr marL="91448" marR="91448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48" marR="91448" marT="45699" marB="4569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2060"/>
                          </a:solidFill>
                        </a:rPr>
                        <a:t>5:</a:t>
                      </a:r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aea2001cf091e0a51</a:t>
                      </a:r>
                      <a:r>
                        <a:rPr lang="ru-RU" sz="1400" dirty="0">
                          <a:solidFill>
                            <a:srgbClr val="002060"/>
                          </a:solidFill>
                        </a:rPr>
                        <a:t>7</a:t>
                      </a:r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dec47a9dbdf</a:t>
                      </a:r>
                      <a:r>
                        <a:rPr lang="ru-RU" sz="1400" dirty="0">
                          <a:solidFill>
                            <a:srgbClr val="002060"/>
                          </a:solidFill>
                        </a:rPr>
                        <a:t>816</a:t>
                      </a:r>
                    </a:p>
                  </a:txBody>
                  <a:tcPr marL="91448" marR="91448" marT="45699" marB="4569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Женский</a:t>
                      </a:r>
                    </a:p>
                  </a:txBody>
                  <a:tcPr marL="91448" marR="91448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marL="91448" marR="91448" marT="45699" marB="4569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091202"/>
              </p:ext>
            </p:extLst>
          </p:nvPr>
        </p:nvGraphicFramePr>
        <p:xfrm>
          <a:off x="285750" y="1924522"/>
          <a:ext cx="8572500" cy="18002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71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3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Наименование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Пол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marL="91439" marR="91439" marT="45726" marB="4572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dk1"/>
                          </a:solidFill>
                        </a:rPr>
                        <a:t>Сидоренко Валя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02060"/>
                          </a:solidFill>
                        </a:rPr>
                        <a:t>5:</a:t>
                      </a:r>
                      <a:r>
                        <a:rPr lang="en-US" sz="1400" b="0" dirty="0">
                          <a:solidFill>
                            <a:srgbClr val="002060"/>
                          </a:solidFill>
                        </a:rPr>
                        <a:t>00000000000000000000000000000000</a:t>
                      </a:r>
                      <a:endParaRPr lang="ru-RU" sz="14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9" marR="91439" marT="45726" marB="4572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2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Малышко</a:t>
                      </a:r>
                      <a:r>
                        <a:rPr lang="ru-RU" sz="1400" baseline="0" dirty="0"/>
                        <a:t> Дмитрий Владимирович</a:t>
                      </a:r>
                      <a:endParaRPr lang="ru-RU" sz="1400" dirty="0"/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02060"/>
                          </a:solidFill>
                        </a:rPr>
                        <a:t>5:</a:t>
                      </a:r>
                      <a:r>
                        <a:rPr lang="en-US" sz="1400" b="0" dirty="0">
                          <a:solidFill>
                            <a:srgbClr val="002060"/>
                          </a:solidFill>
                        </a:rPr>
                        <a:t>aea2001cf091e0a517dec47a9dbdf815</a:t>
                      </a:r>
                      <a:endParaRPr lang="ru-RU" sz="1400" b="0" dirty="0">
                        <a:solidFill>
                          <a:srgbClr val="002060"/>
                        </a:solidFill>
                      </a:endParaRPr>
                    </a:p>
                  </a:txBody>
                  <a:tcPr marL="91439" marR="91439" marT="45726" marB="4572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3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Сидорова Анжелика Семёновна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2060"/>
                          </a:solidFill>
                        </a:rPr>
                        <a:t>5:</a:t>
                      </a:r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aea2001cf091e0a51</a:t>
                      </a:r>
                      <a:r>
                        <a:rPr lang="ru-RU" sz="1400" dirty="0">
                          <a:solidFill>
                            <a:srgbClr val="002060"/>
                          </a:solidFill>
                        </a:rPr>
                        <a:t>7</a:t>
                      </a:r>
                      <a:r>
                        <a:rPr lang="en-US" sz="1400" dirty="0">
                          <a:solidFill>
                            <a:srgbClr val="002060"/>
                          </a:solidFill>
                        </a:rPr>
                        <a:t>dec47a9dbdf</a:t>
                      </a:r>
                      <a:r>
                        <a:rPr lang="ru-RU" sz="1400" dirty="0">
                          <a:solidFill>
                            <a:srgbClr val="002060"/>
                          </a:solidFill>
                        </a:rPr>
                        <a:t>816</a:t>
                      </a:r>
                    </a:p>
                  </a:txBody>
                  <a:tcPr marL="91439" marR="91439" marT="45726" marB="4572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26" marB="4572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14313" y="1484784"/>
            <a:ext cx="17273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</a:rPr>
              <a:t>Сотрудники</a:t>
            </a:r>
            <a:endParaRPr lang="ru-RU" spc="300" dirty="0">
              <a:solidFill>
                <a:srgbClr val="00642D"/>
              </a:solidFill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4313" y="4278784"/>
            <a:ext cx="6789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  <a:latin typeface="+mn-lt"/>
              </a:rPr>
              <a:t>Пол</a:t>
            </a:r>
          </a:p>
        </p:txBody>
      </p:sp>
      <p:sp>
        <p:nvSpPr>
          <p:cNvPr id="7" name="Стрелка углом 6"/>
          <p:cNvSpPr/>
          <p:nvPr/>
        </p:nvSpPr>
        <p:spPr>
          <a:xfrm rot="16200000" flipV="1">
            <a:off x="5771716" y="3755441"/>
            <a:ext cx="1849039" cy="1224136"/>
          </a:xfrm>
          <a:prstGeom prst="bentArrow">
            <a:avLst>
              <a:gd name="adj1" fmla="val 14848"/>
              <a:gd name="adj2" fmla="val 15069"/>
              <a:gd name="adj3" fmla="val 21910"/>
              <a:gd name="adj4" fmla="val 4375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37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Трудовая книжка</a:t>
            </a:r>
          </a:p>
        </p:txBody>
      </p:sp>
      <p:pic>
        <p:nvPicPr>
          <p:cNvPr id="3074" name="Picture 2" descr="C:\Users\sizov\AppData\Local\Temp\SNAGHTML6ba4e2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85" y="1124265"/>
            <a:ext cx="5824123" cy="522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Прямая со стрелкой 4"/>
          <p:cNvCxnSpPr/>
          <p:nvPr/>
        </p:nvCxnSpPr>
        <p:spPr>
          <a:xfrm flipH="1">
            <a:off x="4860032" y="3501008"/>
            <a:ext cx="1080120" cy="58103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90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196752"/>
            <a:ext cx="4609524" cy="2552381"/>
          </a:xfrm>
          <a:prstGeom prst="rect">
            <a:avLst/>
          </a:prstGeom>
        </p:spPr>
      </p:pic>
      <p:sp>
        <p:nvSpPr>
          <p:cNvPr id="21506" name="Заголовок 1"/>
          <p:cNvSpPr>
            <a:spLocks noGrp="1"/>
          </p:cNvSpPr>
          <p:nvPr>
            <p:ph type="title"/>
          </p:nvPr>
        </p:nvSpPr>
        <p:spPr>
          <a:xfrm>
            <a:off x="201612" y="529391"/>
            <a:ext cx="8762875" cy="667361"/>
          </a:xfrm>
        </p:spPr>
        <p:txBody>
          <a:bodyPr/>
          <a:lstStyle/>
          <a:p>
            <a:r>
              <a:rPr lang="ru-RU" sz="3600" dirty="0"/>
              <a:t>Табличная часть справочника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987996"/>
              </p:ext>
            </p:extLst>
          </p:nvPr>
        </p:nvGraphicFramePr>
        <p:xfrm>
          <a:off x="511110" y="3971294"/>
          <a:ext cx="4071939" cy="14179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729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Наименование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marL="91439" marR="91439" marT="45695" marB="4569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Иванов П.</a:t>
                      </a:r>
                      <a:r>
                        <a:rPr lang="ru-RU" sz="1400" baseline="0" dirty="0"/>
                        <a:t> С.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00002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Петров Б. Е.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546099"/>
              </p:ext>
            </p:extLst>
          </p:nvPr>
        </p:nvGraphicFramePr>
        <p:xfrm>
          <a:off x="4857750" y="3943920"/>
          <a:ext cx="4071938" cy="23324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835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Номер</a:t>
                      </a:r>
                    </a:p>
                    <a:p>
                      <a:r>
                        <a:rPr lang="ru-RU" sz="1200" dirty="0"/>
                        <a:t>Строки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Организация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Должность</a:t>
                      </a:r>
                    </a:p>
                  </a:txBody>
                  <a:tcPr marL="91439" marR="91439" marT="45705" marB="4570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Север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Юг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ПромБанк</a:t>
                      </a:r>
                      <a:endParaRPr lang="ru-RU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ХозБанк</a:t>
                      </a:r>
                      <a:endParaRPr lang="ru-RU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Форт</a:t>
                      </a:r>
                      <a:r>
                        <a:rPr lang="ru-RU" sz="14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ru-RU" sz="140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Нокс</a:t>
                      </a:r>
                      <a:endParaRPr lang="ru-RU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863580" y="3935523"/>
            <a:ext cx="1695450" cy="230822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3574588"/>
            <a:ext cx="17273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  <a:latin typeface="+mn-lt"/>
              </a:rPr>
              <a:t>Сотрудники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1513" y="3505140"/>
            <a:ext cx="243297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  <a:latin typeface="+mn-lt"/>
              </a:rPr>
              <a:t>Трудовая книжка</a:t>
            </a:r>
          </a:p>
        </p:txBody>
      </p:sp>
    </p:spTree>
    <p:extLst>
      <p:ext uri="{BB962C8B-B14F-4D97-AF65-F5344CB8AC3E}">
        <p14:creationId xmlns:p14="http://schemas.microsoft.com/office/powerpoint/2010/main" val="425599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реквизиты</a:t>
            </a:r>
          </a:p>
        </p:txBody>
      </p:sp>
      <p:pic>
        <p:nvPicPr>
          <p:cNvPr id="2052" name="Picture 4" descr="C:\Users\sizov\AppData\Local\Temp\SNAGHTML6b224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0775"/>
            <a:ext cx="5670172" cy="508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02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Стандартные реквизиты</a:t>
            </a:r>
          </a:p>
        </p:txBody>
      </p:sp>
      <p:pic>
        <p:nvPicPr>
          <p:cNvPr id="2050" name="Picture 2" descr="C:\Users\sizov\AppData\Local\Temp\SNAGHTML6b102b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0775"/>
            <a:ext cx="5670172" cy="508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39553" y="1772816"/>
            <a:ext cx="864096" cy="923784"/>
          </a:xfrm>
          <a:prstGeom prst="rect">
            <a:avLst/>
          </a:prstGeom>
          <a:solidFill>
            <a:srgbClr val="C00000">
              <a:alpha val="15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6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7" presetClass="emph" presetSubtype="0" repeatCount="300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Внешний вид</a:t>
            </a:r>
          </a:p>
        </p:txBody>
      </p:sp>
      <p:pic>
        <p:nvPicPr>
          <p:cNvPr id="3" name="Picture 2" descr="C:\Users\sizov\AppData\Local\Temp\SNAGHTML6ae72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9" y="1628800"/>
            <a:ext cx="66198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C:\Users\sizov\AppData\Local\Temp\SNAGHTML6aec41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40628"/>
            <a:ext cx="66198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sizov\AppData\Local\Temp\SNAGHTML6b034c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052456"/>
            <a:ext cx="661987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71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Контактные лица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628800"/>
            <a:ext cx="7286431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0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Подчиненные справочники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01296"/>
              </p:ext>
            </p:extLst>
          </p:nvPr>
        </p:nvGraphicFramePr>
        <p:xfrm>
          <a:off x="285750" y="3929633"/>
          <a:ext cx="4071939" cy="14179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729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Наименование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marL="91439" marR="91439" marT="45695" marB="4569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ООО «Север»</a:t>
                      </a: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00002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ЗАО «Юг»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681993"/>
              </p:ext>
            </p:extLst>
          </p:nvPr>
        </p:nvGraphicFramePr>
        <p:xfrm>
          <a:off x="4786313" y="3929633"/>
          <a:ext cx="4185807" cy="23324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8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4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8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835">
                <a:tc>
                  <a:txBody>
                    <a:bodyPr/>
                    <a:lstStyle/>
                    <a:p>
                      <a:r>
                        <a:rPr lang="ru-RU" sz="1200" dirty="0"/>
                        <a:t>Владелец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Ссылка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Код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Наименование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  <a:endParaRPr lang="ru-RU" sz="1400" dirty="0"/>
                    </a:p>
                  </a:txBody>
                  <a:tcPr marL="91439" marR="91439" marT="45705" marB="4570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&lt;ZZZ&gt;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00001</a:t>
                      </a:r>
                      <a:endParaRPr lang="ru-RU" sz="1100" dirty="0"/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Иванов А.А.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&lt;XXX&gt;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00002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Петров Б.Б.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&lt;SSS&gt;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00003</a:t>
                      </a:r>
                      <a:endParaRPr lang="ru-RU" sz="11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Кузнецов В.В.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&lt;NNN&gt;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00004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Сидоров Г.Г.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&lt;HHH&gt;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00005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err="1">
                          <a:solidFill>
                            <a:schemeClr val="tx1"/>
                          </a:solidFill>
                        </a:rPr>
                        <a:t>Виснольд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 А.В.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800600" y="3943920"/>
            <a:ext cx="985838" cy="198794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01613" y="3501008"/>
            <a:ext cx="18573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</a:rPr>
              <a:t>Контрагенты</a:t>
            </a:r>
            <a:endParaRPr lang="ru-RU" spc="300" dirty="0">
              <a:solidFill>
                <a:srgbClr val="00642D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3438" y="3501008"/>
            <a:ext cx="4328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</a:rPr>
              <a:t>Контактные лица</a:t>
            </a:r>
            <a:endParaRPr lang="ru-RU" spc="300" dirty="0">
              <a:solidFill>
                <a:srgbClr val="00642D"/>
              </a:solidFill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869" y="1281683"/>
            <a:ext cx="47625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8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Несколько владельцев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147029"/>
              </p:ext>
            </p:extLst>
          </p:nvPr>
        </p:nvGraphicFramePr>
        <p:xfrm>
          <a:off x="357188" y="2311872"/>
          <a:ext cx="4071937" cy="16192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5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39" marR="91439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Наименование</a:t>
                      </a:r>
                    </a:p>
                  </a:txBody>
                  <a:tcPr marL="91439" marR="91439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marL="91439" marR="91439" marT="45699" marB="4569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Иванов Б.</a:t>
                      </a:r>
                      <a:r>
                        <a:rPr lang="ru-RU" sz="1400" baseline="0" dirty="0"/>
                        <a:t> А.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00002</a:t>
                      </a:r>
                    </a:p>
                  </a:txBody>
                  <a:tcPr marL="91439" marR="91439" marT="45699" marB="4569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Петров В. С.</a:t>
                      </a:r>
                    </a:p>
                  </a:txBody>
                  <a:tcPr marL="91439" marR="91439" marT="45699" marB="4569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3050" y="1941985"/>
            <a:ext cx="2274888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spc="300" dirty="0">
                <a:solidFill>
                  <a:srgbClr val="00642D"/>
                </a:solidFill>
                <a:latin typeface="+mn-lt"/>
              </a:rPr>
              <a:t>Физические лица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576604"/>
              </p:ext>
            </p:extLst>
          </p:nvPr>
        </p:nvGraphicFramePr>
        <p:xfrm>
          <a:off x="357188" y="4474047"/>
          <a:ext cx="4071937" cy="16192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5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39" marR="91439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Наименование</a:t>
                      </a:r>
                    </a:p>
                  </a:txBody>
                  <a:tcPr marL="91439" marR="91439" marT="45699" marB="45699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marL="91439" marR="91439" marT="45699" marB="4569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7030A0"/>
                          </a:solidFill>
                        </a:rPr>
                        <a:t>&lt;CCC&gt;</a:t>
                      </a:r>
                      <a:endParaRPr lang="ru-RU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ЗАО</a:t>
                      </a:r>
                      <a:r>
                        <a:rPr lang="ru-RU" sz="1400" baseline="0" dirty="0"/>
                        <a:t> «</a:t>
                      </a:r>
                      <a:r>
                        <a:rPr lang="ru-RU" sz="1400" dirty="0"/>
                        <a:t>Лента»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642D"/>
                          </a:solidFill>
                        </a:rPr>
                        <a:t>&lt;DDD&gt;</a:t>
                      </a:r>
                      <a:endParaRPr lang="ru-RU" sz="1400" b="1" dirty="0">
                        <a:solidFill>
                          <a:srgbClr val="00642D"/>
                        </a:solidFill>
                      </a:endParaRPr>
                    </a:p>
                  </a:txBody>
                  <a:tcPr marL="91439" marR="91439" marT="45699" marB="45699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00002</a:t>
                      </a:r>
                    </a:p>
                  </a:txBody>
                  <a:tcPr marL="91439" marR="91439" marT="45699" marB="45699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ЗАО «ОКЕЙ»</a:t>
                      </a:r>
                    </a:p>
                  </a:txBody>
                  <a:tcPr marL="91439" marR="91439" marT="45699" marB="45699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833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9" marB="45699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3050" y="4085110"/>
            <a:ext cx="2486025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spc="300" dirty="0">
                <a:solidFill>
                  <a:srgbClr val="00642D"/>
                </a:solidFill>
                <a:latin typeface="+mn-lt"/>
              </a:rPr>
              <a:t>Юридические лица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885009"/>
              </p:ext>
            </p:extLst>
          </p:nvPr>
        </p:nvGraphicFramePr>
        <p:xfrm>
          <a:off x="4857750" y="2311872"/>
          <a:ext cx="3929062" cy="377984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79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977">
                <a:tc>
                  <a:txBody>
                    <a:bodyPr/>
                    <a:lstStyle/>
                    <a:p>
                      <a:r>
                        <a:rPr lang="ru-RU" sz="1600" dirty="0"/>
                        <a:t>Владелец</a:t>
                      </a:r>
                    </a:p>
                  </a:txBody>
                  <a:tcPr marL="91439" marR="91439" marT="45718" marB="45718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718" marB="45718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Наименование</a:t>
                      </a:r>
                    </a:p>
                  </a:txBody>
                  <a:tcPr marL="91439" marR="91439"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  <a:endParaRPr lang="ru-RU" sz="1400" dirty="0"/>
                    </a:p>
                  </a:txBody>
                  <a:tcPr marL="91439" marR="91439" marT="45718" marB="4571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00001</a:t>
                      </a:r>
                      <a:endParaRPr lang="ru-RU" sz="1200" dirty="0"/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00002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00003</a:t>
                      </a:r>
                      <a:endParaRPr lang="ru-RU" sz="1200" dirty="0"/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00004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00005</a:t>
                      </a:r>
                      <a:endParaRPr lang="ru-RU" sz="12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7030A0"/>
                          </a:solidFill>
                        </a:rPr>
                        <a:t>&lt;CCC&gt;</a:t>
                      </a:r>
                      <a:endParaRPr lang="ru-RU" sz="1400" b="1" dirty="0">
                        <a:solidFill>
                          <a:srgbClr val="7030A0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00006</a:t>
                      </a:r>
                    </a:p>
                  </a:txBody>
                  <a:tcPr marL="91439" marR="91439" marT="45718" marB="4571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642D"/>
                          </a:solidFill>
                        </a:rPr>
                        <a:t>&lt;DDD&gt;</a:t>
                      </a:r>
                      <a:endParaRPr lang="ru-RU" sz="1400" b="1" dirty="0">
                        <a:solidFill>
                          <a:srgbClr val="00642D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00007</a:t>
                      </a: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642D"/>
                          </a:solidFill>
                        </a:rPr>
                        <a:t>&lt;DDD&gt;</a:t>
                      </a:r>
                      <a:endParaRPr lang="ru-RU" sz="1400" b="1" dirty="0">
                        <a:solidFill>
                          <a:srgbClr val="00642D"/>
                        </a:solidFill>
                      </a:endParaRP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00008</a:t>
                      </a: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985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18" marB="4571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786313" y="1941985"/>
            <a:ext cx="1358900" cy="3381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spc="300" dirty="0">
                <a:solidFill>
                  <a:srgbClr val="00642D"/>
                </a:solidFill>
                <a:latin typeface="+mn-lt"/>
              </a:rPr>
              <a:t>Договоры</a:t>
            </a:r>
          </a:p>
        </p:txBody>
      </p:sp>
    </p:spTree>
    <p:extLst>
      <p:ext uri="{BB962C8B-B14F-4D97-AF65-F5344CB8AC3E}">
        <p14:creationId xmlns:p14="http://schemas.microsoft.com/office/powerpoint/2010/main" val="182108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Заголовок 1"/>
          <p:cNvSpPr>
            <a:spLocks noGrp="1"/>
          </p:cNvSpPr>
          <p:nvPr>
            <p:ph type="title"/>
          </p:nvPr>
        </p:nvSpPr>
        <p:spPr>
          <a:xfrm>
            <a:off x="201612" y="565777"/>
            <a:ext cx="8762875" cy="702983"/>
          </a:xfrm>
        </p:spPr>
        <p:txBody>
          <a:bodyPr/>
          <a:lstStyle/>
          <a:p>
            <a:r>
              <a:rPr lang="ru-RU" dirty="0"/>
              <a:t>Подчиненный справочник или ТЧ?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278805"/>
              </p:ext>
            </p:extLst>
          </p:nvPr>
        </p:nvGraphicFramePr>
        <p:xfrm>
          <a:off x="285750" y="3086323"/>
          <a:ext cx="4071939" cy="141797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7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729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Код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Наименование</a:t>
                      </a:r>
                    </a:p>
                  </a:txBody>
                  <a:tcPr marL="91439" marR="91439" marT="45695" marB="45695"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marL="91439" marR="91439" marT="45695" marB="4569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ООО «Север»</a:t>
                      </a: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00002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ЗАО «Юг»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695" marB="4569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1613" y="2657698"/>
            <a:ext cx="18573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  <a:latin typeface="+mn-lt"/>
              </a:rPr>
              <a:t>Контрагенты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3438" y="3800698"/>
            <a:ext cx="31337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  <a:latin typeface="+mn-lt"/>
              </a:rPr>
              <a:t>б)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Подчиненный справочник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3438" y="1052736"/>
            <a:ext cx="2122487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pc="300" dirty="0">
                <a:solidFill>
                  <a:srgbClr val="00642D"/>
                </a:solidFill>
                <a:latin typeface="+mn-lt"/>
              </a:rPr>
              <a:t>а)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Табличная часть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51016"/>
              </p:ext>
            </p:extLst>
          </p:nvPr>
        </p:nvGraphicFramePr>
        <p:xfrm>
          <a:off x="4786313" y="4226990"/>
          <a:ext cx="4178173" cy="20276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6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6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2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835">
                <a:tc>
                  <a:txBody>
                    <a:bodyPr/>
                    <a:lstStyle/>
                    <a:p>
                      <a:r>
                        <a:rPr lang="ru-RU" sz="1200" dirty="0"/>
                        <a:t>Владелец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Ссылка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Код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Наименование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  <a:endParaRPr lang="ru-RU" sz="1400" dirty="0"/>
                    </a:p>
                  </a:txBody>
                  <a:tcPr marL="91439" marR="91439" marT="45705" marB="4570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&lt;ZZZ&gt;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00001</a:t>
                      </a:r>
                      <a:endParaRPr lang="ru-RU" sz="1100" dirty="0"/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Иванов А.А.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&lt;XXX&gt;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00002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Петров Б.Б.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&lt;SSS&gt;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00003</a:t>
                      </a:r>
                      <a:endParaRPr lang="ru-RU" sz="11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Кузнецов В.В.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&lt;NNN&gt;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00004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Сидоров Г.Г.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&lt;HHH&gt;</a:t>
                      </a:r>
                      <a:endParaRPr lang="ru-RU" sz="1400" dirty="0"/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00005</a:t>
                      </a:r>
                      <a:endParaRPr lang="ru-RU" sz="110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err="1">
                          <a:solidFill>
                            <a:schemeClr val="tx1"/>
                          </a:solidFill>
                        </a:rPr>
                        <a:t>Виснольд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 А.В.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79796"/>
              </p:ext>
            </p:extLst>
          </p:nvPr>
        </p:nvGraphicFramePr>
        <p:xfrm>
          <a:off x="4860032" y="1454910"/>
          <a:ext cx="3816424" cy="20276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835">
                <a:tc>
                  <a:txBody>
                    <a:bodyPr/>
                    <a:lstStyle/>
                    <a:p>
                      <a:r>
                        <a:rPr lang="ru-RU" sz="1200" dirty="0"/>
                        <a:t>Ссылка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Номер строки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Наименование</a:t>
                      </a:r>
                    </a:p>
                  </a:txBody>
                  <a:tcPr marL="91439" marR="91439" marT="45705" marB="4570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…</a:t>
                      </a:r>
                      <a:endParaRPr lang="ru-RU" sz="1400" dirty="0"/>
                    </a:p>
                  </a:txBody>
                  <a:tcPr marL="91439" marR="91439" marT="45705" marB="4570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Иванов А.А.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Петров Б.Б.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Кузнецов В.В.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Сидоров Г.Г.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err="1">
                          <a:solidFill>
                            <a:schemeClr val="tx1"/>
                          </a:solidFill>
                        </a:rPr>
                        <a:t>Виснольд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 А.В.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marL="91439" marR="91439" marT="45705" marB="457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5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Фиксация событий, изменяющих состояния объектов учета, их количество, взаимоотношения и т.п.</a:t>
            </a:r>
          </a:p>
          <a:p>
            <a:pPr lvl="1"/>
            <a:r>
              <a:rPr lang="ru-RU" dirty="0"/>
              <a:t>Поступление и отгрузка товаров</a:t>
            </a:r>
          </a:p>
          <a:p>
            <a:pPr lvl="1"/>
            <a:r>
              <a:rPr lang="ru-RU" dirty="0"/>
              <a:t>Прием и увольнение сотрудников</a:t>
            </a:r>
          </a:p>
          <a:p>
            <a:pPr lvl="1"/>
            <a:r>
              <a:rPr lang="ru-RU" dirty="0"/>
              <a:t>Получение денег и оплаты</a:t>
            </a:r>
          </a:p>
          <a:p>
            <a:pPr lvl="1"/>
            <a:r>
              <a:rPr lang="ru-RU" dirty="0"/>
              <a:t>…</a:t>
            </a:r>
          </a:p>
          <a:p>
            <a:pPr lvl="1"/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Документы</a:t>
            </a:r>
          </a:p>
        </p:txBody>
      </p:sp>
    </p:spTree>
    <p:extLst>
      <p:ext uri="{BB962C8B-B14F-4D97-AF65-F5344CB8AC3E}">
        <p14:creationId xmlns:p14="http://schemas.microsoft.com/office/powerpoint/2010/main" val="276541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7"/>
            <a:ext cx="7948593" cy="40693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20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Реквизиты и табличные части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200977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трелка вправо 2"/>
          <p:cNvSpPr/>
          <p:nvPr/>
        </p:nvSpPr>
        <p:spPr>
          <a:xfrm>
            <a:off x="2555776" y="3573016"/>
            <a:ext cx="864096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71" y="2348880"/>
            <a:ext cx="5400600" cy="28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8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Проведение документа</a:t>
            </a:r>
          </a:p>
        </p:txBody>
      </p:sp>
      <p:grpSp>
        <p:nvGrpSpPr>
          <p:cNvPr id="25" name="Группа 24"/>
          <p:cNvGrpSpPr/>
          <p:nvPr/>
        </p:nvGrpSpPr>
        <p:grpSpPr>
          <a:xfrm>
            <a:off x="1035819" y="5079658"/>
            <a:ext cx="2571768" cy="940836"/>
            <a:chOff x="1034962" y="4929198"/>
            <a:chExt cx="2571768" cy="940836"/>
          </a:xfrm>
        </p:grpSpPr>
        <p:grpSp>
          <p:nvGrpSpPr>
            <p:cNvPr id="23" name="Группа 22"/>
            <p:cNvGrpSpPr/>
            <p:nvPr/>
          </p:nvGrpSpPr>
          <p:grpSpPr>
            <a:xfrm>
              <a:off x="1034962" y="5500702"/>
              <a:ext cx="2571768" cy="369332"/>
              <a:chOff x="857224" y="5500702"/>
              <a:chExt cx="2571768" cy="369332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857224" y="5500702"/>
                <a:ext cx="8402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Новый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447633" y="5500702"/>
                <a:ext cx="981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Записан</a:t>
                </a:r>
              </a:p>
            </p:txBody>
          </p:sp>
        </p:grpSp>
        <p:grpSp>
          <p:nvGrpSpPr>
            <p:cNvPr id="21" name="Группа 20"/>
            <p:cNvGrpSpPr/>
            <p:nvPr/>
          </p:nvGrpSpPr>
          <p:grpSpPr>
            <a:xfrm>
              <a:off x="1642185" y="4929198"/>
              <a:ext cx="1357322" cy="428628"/>
              <a:chOff x="1428728" y="4929198"/>
              <a:chExt cx="1357322" cy="428628"/>
            </a:xfrm>
          </p:grpSpPr>
          <p:cxnSp>
            <p:nvCxnSpPr>
              <p:cNvPr id="10" name="Прямая со стрелкой 9"/>
              <p:cNvCxnSpPr/>
              <p:nvPr/>
            </p:nvCxnSpPr>
            <p:spPr>
              <a:xfrm rot="10800000" flipV="1">
                <a:off x="1428728" y="4929198"/>
                <a:ext cx="500066" cy="42862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 стрелкой 10"/>
              <p:cNvCxnSpPr/>
              <p:nvPr/>
            </p:nvCxnSpPr>
            <p:spPr>
              <a:xfrm rot="10800000" flipH="1" flipV="1">
                <a:off x="2285984" y="4929198"/>
                <a:ext cx="500066" cy="42862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1" name="Соединительная линия уступом 40"/>
          <p:cNvCxnSpPr>
            <a:stCxn id="7" idx="2"/>
            <a:endCxn id="8" idx="2"/>
          </p:cNvCxnSpPr>
          <p:nvPr/>
        </p:nvCxnSpPr>
        <p:spPr>
          <a:xfrm rot="16200000" flipH="1">
            <a:off x="2286437" y="5190023"/>
            <a:ext cx="1588" cy="1660941"/>
          </a:xfrm>
          <a:prstGeom prst="bent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Группа 23"/>
          <p:cNvGrpSpPr/>
          <p:nvPr/>
        </p:nvGrpSpPr>
        <p:grpSpPr>
          <a:xfrm>
            <a:off x="4911085" y="5079658"/>
            <a:ext cx="3831274" cy="940836"/>
            <a:chOff x="5072066" y="4929198"/>
            <a:chExt cx="3831274" cy="940836"/>
          </a:xfrm>
        </p:grpSpPr>
        <p:sp>
          <p:nvSpPr>
            <p:cNvPr id="13" name="TextBox 12"/>
            <p:cNvSpPr txBox="1"/>
            <p:nvPr/>
          </p:nvSpPr>
          <p:spPr>
            <a:xfrm>
              <a:off x="5072066" y="5500702"/>
              <a:ext cx="8402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Новый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25196" y="5500702"/>
              <a:ext cx="1178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rgbClr val="00B050"/>
                  </a:solidFill>
                </a:rPr>
                <a:t>Проведен</a:t>
              </a:r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 rot="10800000" flipV="1">
              <a:off x="5786447" y="4929198"/>
              <a:ext cx="500066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 rot="10800000" flipH="1" flipV="1">
              <a:off x="7358082" y="4929198"/>
              <a:ext cx="500066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 rot="5400000">
              <a:off x="6608777" y="5142718"/>
              <a:ext cx="42862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32523" y="5500702"/>
              <a:ext cx="9813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Записан</a:t>
              </a:r>
            </a:p>
          </p:txBody>
        </p:sp>
      </p:grpSp>
      <p:cxnSp>
        <p:nvCxnSpPr>
          <p:cNvPr id="43" name="Соединительная линия уступом 42"/>
          <p:cNvCxnSpPr/>
          <p:nvPr/>
        </p:nvCxnSpPr>
        <p:spPr>
          <a:xfrm rot="16200000" flipH="1">
            <a:off x="5932758" y="5417493"/>
            <a:ext cx="1588" cy="1206000"/>
          </a:xfrm>
          <a:prstGeom prst="bent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Соединительная линия уступом 44"/>
          <p:cNvCxnSpPr/>
          <p:nvPr/>
        </p:nvCxnSpPr>
        <p:spPr>
          <a:xfrm rot="16200000" flipH="1">
            <a:off x="7469917" y="5345493"/>
            <a:ext cx="1588" cy="1350000"/>
          </a:xfrm>
          <a:prstGeom prst="bentConnector3">
            <a:avLst>
              <a:gd name="adj1" fmla="val 14395466"/>
            </a:avLst>
          </a:prstGeom>
          <a:ln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89" y="1556792"/>
            <a:ext cx="3551670" cy="32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085" y="1556792"/>
            <a:ext cx="3542400" cy="32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819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32347"/>
            <a:ext cx="8784976" cy="782311"/>
          </a:xfrm>
        </p:spPr>
        <p:txBody>
          <a:bodyPr/>
          <a:lstStyle/>
          <a:p>
            <a:r>
              <a:rPr lang="ru-RU" dirty="0"/>
              <a:t>Таблицы документа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58" y="1052736"/>
            <a:ext cx="6700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pc="300" dirty="0">
                <a:solidFill>
                  <a:srgbClr val="00642D"/>
                </a:solidFill>
              </a:rPr>
              <a:t>Основная таблица документа (Таблица «шапки»)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568576"/>
              </p:ext>
            </p:extLst>
          </p:nvPr>
        </p:nvGraphicFramePr>
        <p:xfrm>
          <a:off x="428596" y="1493506"/>
          <a:ext cx="8286809" cy="1663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19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1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05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0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5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ru-RU" sz="1600" dirty="0"/>
                        <a:t>Проведен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Пометка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Удаления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Номер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Дата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Поставщик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Склад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Истина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Ложь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00001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16.02.2013</a:t>
                      </a:r>
                      <a:r>
                        <a:rPr lang="ru-RU" sz="1100" baseline="0" dirty="0"/>
                        <a:t> </a:t>
                      </a:r>
                      <a:r>
                        <a:rPr lang="ru-RU" sz="11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16:30:00</a:t>
                      </a:r>
                      <a:endParaRPr lang="ru-RU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ЗАО «Лето»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Склад во Мге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Ложь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Ложь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00002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16.02.2013</a:t>
                      </a:r>
                      <a:r>
                        <a:rPr lang="ru-RU" sz="1100" baseline="0" dirty="0"/>
                        <a:t> </a:t>
                      </a:r>
                      <a:r>
                        <a:rPr lang="ru-RU" sz="110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16:45:20</a:t>
                      </a:r>
                      <a:endParaRPr lang="ru-RU" sz="11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ООО «Север»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Склад</a:t>
                      </a:r>
                      <a:r>
                        <a:rPr lang="ru-RU" sz="1400" baseline="0" dirty="0"/>
                        <a:t> в Луге</a:t>
                      </a:r>
                      <a:endParaRPr lang="ru-R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7158" y="3284984"/>
            <a:ext cx="3551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pc="300" dirty="0">
                <a:solidFill>
                  <a:srgbClr val="00642D"/>
                </a:solidFill>
              </a:rPr>
              <a:t>Таблица табличной части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84967"/>
              </p:ext>
            </p:extLst>
          </p:nvPr>
        </p:nvGraphicFramePr>
        <p:xfrm>
          <a:off x="428401" y="3725754"/>
          <a:ext cx="8287006" cy="2419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111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6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61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r>
                        <a:rPr lang="ru-RU" sz="1600" dirty="0"/>
                        <a:t>Ссылка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Номер</a:t>
                      </a:r>
                      <a:br>
                        <a:rPr lang="ru-RU" sz="1200" dirty="0"/>
                      </a:br>
                      <a:r>
                        <a:rPr lang="ru-RU" sz="1200" dirty="0"/>
                        <a:t>Строки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Количество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Цена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Сумма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Картофель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50</a:t>
                      </a:r>
                      <a:endParaRPr lang="ru-RU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Брюква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40</a:t>
                      </a:r>
                      <a:endParaRPr lang="ru-RU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1200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</a:rPr>
                        <a:t>&lt;AAA&gt;</a:t>
                      </a:r>
                      <a:endParaRPr lang="ru-RU" sz="1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Свекла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35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350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8000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</a:rPr>
                        <a:t>&lt;BBB&gt;</a:t>
                      </a:r>
                      <a:endParaRPr lang="ru-RU" sz="14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2500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  <a:endParaRPr lang="ru-RU" sz="11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438150" y="1503998"/>
            <a:ext cx="4853930" cy="1644649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34974" y="3717032"/>
            <a:ext cx="2216151" cy="240347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3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animBg="1"/>
      <p:bldP spid="9" grpId="1" animBg="1"/>
      <p:bldP spid="10" grpId="0" animBg="1"/>
      <p:bldP spid="1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Приём на работу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" y="1120775"/>
            <a:ext cx="9107622" cy="248992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501008"/>
            <a:ext cx="6838095" cy="2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8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Увольнение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734"/>
            <a:ext cx="9069258" cy="27198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1" y="3573016"/>
            <a:ext cx="6857143" cy="2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23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Журнал документов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095" y="1586143"/>
            <a:ext cx="7123809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88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Нумератор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524000" y="2204864"/>
          <a:ext cx="609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До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После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/>
                      <a:r>
                        <a:rPr lang="ru-RU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Приём № </a:t>
                      </a:r>
                      <a:r>
                        <a:rPr lang="ru-RU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 marR="792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Приём № </a:t>
                      </a:r>
                      <a:r>
                        <a:rPr lang="ru-RU" sz="2400" b="1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 marR="792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/>
                      <a:r>
                        <a:rPr lang="ru-RU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Приём № </a:t>
                      </a:r>
                      <a:r>
                        <a:rPr lang="ru-RU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 marR="792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Приём № </a:t>
                      </a:r>
                      <a:r>
                        <a:rPr lang="ru-RU" sz="2400" b="1" dirty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 marR="792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r"/>
                      <a:r>
                        <a:rPr lang="ru-RU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Увольнение № </a:t>
                      </a:r>
                      <a:r>
                        <a:rPr lang="ru-RU" sz="2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ru-RU" b="1" dirty="0">
                        <a:solidFill>
                          <a:srgbClr val="C00000"/>
                        </a:solidFill>
                      </a:endParaRPr>
                    </a:p>
                  </a:txBody>
                  <a:tcPr marR="79200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Увольнение № </a:t>
                      </a:r>
                      <a:r>
                        <a:rPr lang="ru-RU" sz="2400" b="1" dirty="0">
                          <a:solidFill>
                            <a:srgbClr val="00B050"/>
                          </a:solidFill>
                        </a:rPr>
                        <a:t>3</a:t>
                      </a:r>
                    </a:p>
                  </a:txBody>
                  <a:tcPr marR="792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Приём № </a:t>
                      </a:r>
                      <a:r>
                        <a:rPr lang="ru-RU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 marR="79200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Приём № </a:t>
                      </a:r>
                      <a:r>
                        <a:rPr lang="ru-RU" sz="2400" b="1" dirty="0">
                          <a:solidFill>
                            <a:srgbClr val="00B050"/>
                          </a:solidFill>
                        </a:rPr>
                        <a:t>4</a:t>
                      </a:r>
                    </a:p>
                  </a:txBody>
                  <a:tcPr marR="792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Увольнение № </a:t>
                      </a:r>
                      <a:r>
                        <a:rPr lang="ru-RU" sz="24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ru-RU" b="1" dirty="0">
                        <a:solidFill>
                          <a:srgbClr val="C00000"/>
                        </a:solidFill>
                      </a:endParaRPr>
                    </a:p>
                  </a:txBody>
                  <a:tcPr marR="792000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Увольнение № </a:t>
                      </a:r>
                      <a:r>
                        <a:rPr lang="ru-RU" sz="2400" b="1" dirty="0">
                          <a:solidFill>
                            <a:srgbClr val="00B050"/>
                          </a:solidFill>
                        </a:rPr>
                        <a:t>5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 marR="792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091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сведений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Актуальное состояние объекта учета</a:t>
            </a:r>
          </a:p>
        </p:txBody>
      </p:sp>
    </p:spTree>
    <p:extLst>
      <p:ext uri="{BB962C8B-B14F-4D97-AF65-F5344CB8AC3E}">
        <p14:creationId xmlns:p14="http://schemas.microsoft.com/office/powerpoint/2010/main" val="2318309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</a:rPr>
              <a:t>Хранение информации о состоянии объекта учёта</a:t>
            </a:r>
          </a:p>
          <a:p>
            <a:pPr lvl="1"/>
            <a:r>
              <a:rPr lang="ru-RU" dirty="0">
                <a:solidFill>
                  <a:schemeClr val="accent4">
                    <a:lumMod val="50000"/>
                  </a:schemeClr>
                </a:solidFill>
              </a:rPr>
              <a:t>Какая сейчас фамилия у сотрудницы?</a:t>
            </a:r>
          </a:p>
          <a:p>
            <a:pPr lvl="1"/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Какая сегодня цена на этот товар?</a:t>
            </a:r>
          </a:p>
          <a:p>
            <a:pPr lvl="1"/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Рабочий или выходной день был вчера?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Назначение регистра сведений</a:t>
            </a:r>
            <a:br>
              <a:rPr lang="ru-RU" dirty="0"/>
            </a:b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33451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8784000" cy="984815"/>
          </a:xfrm>
        </p:spPr>
        <p:txBody>
          <a:bodyPr>
            <a:noAutofit/>
          </a:bodyPr>
          <a:lstStyle/>
          <a:p>
            <a:r>
              <a:rPr lang="ru-RU" sz="2800" dirty="0"/>
              <a:t>Периодический или </a:t>
            </a:r>
            <a:r>
              <a:rPr lang="ru-RU" sz="2800" dirty="0">
                <a:solidFill>
                  <a:srgbClr val="0070C0"/>
                </a:solidFill>
              </a:rPr>
              <a:t>Не</a:t>
            </a:r>
            <a:r>
              <a:rPr lang="ru-RU" sz="2800" dirty="0"/>
              <a:t>периодический регистр сведений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827584" y="1308184"/>
          <a:ext cx="3816424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Периодический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i="1" dirty="0">
                          <a:solidFill>
                            <a:srgbClr val="00B050"/>
                          </a:solidFill>
                        </a:rPr>
                        <a:t>Состояние</a:t>
                      </a:r>
                      <a:r>
                        <a:rPr lang="ru-RU" i="1" baseline="0" dirty="0">
                          <a:solidFill>
                            <a:srgbClr val="00B050"/>
                          </a:solidFill>
                        </a:rPr>
                        <a:t> объекта учета может измениться со временем</a:t>
                      </a:r>
                      <a:endParaRPr lang="ru-RU" i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Цена на товар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Курс валюты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600" dirty="0"/>
                        <a:t>F</a:t>
                      </a:r>
                      <a:r>
                        <a:rPr lang="en-US" sz="1800" dirty="0"/>
                        <a:t>(</a:t>
                      </a:r>
                      <a:r>
                        <a:rPr lang="ru-RU" sz="1800" b="1" dirty="0">
                          <a:solidFill>
                            <a:srgbClr val="C00000"/>
                          </a:solidFill>
                        </a:rPr>
                        <a:t>Объект</a:t>
                      </a:r>
                      <a:r>
                        <a:rPr lang="ru-RU" sz="1800" dirty="0"/>
                        <a:t>, Дата) </a:t>
                      </a:r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→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>
                          <a:solidFill>
                            <a:srgbClr val="00B050"/>
                          </a:solidFill>
                        </a:rPr>
                        <a:t>Состояние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Период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– Дата изменения состояния объекта учёта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dirty="0">
                          <a:solidFill>
                            <a:srgbClr val="C00000"/>
                          </a:solidFill>
                        </a:rPr>
                        <a:t>Измерения</a:t>
                      </a: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– Объект учёта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Ресурсы</a:t>
                      </a:r>
                      <a:r>
                        <a:rPr lang="ru-RU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– состояние объекта учета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baseline="0" dirty="0">
                          <a:solidFill>
                            <a:srgbClr val="0070C0"/>
                          </a:solidFill>
                        </a:rPr>
                        <a:t>Реквизиты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- комментарий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Периодичность</a:t>
                      </a:r>
                      <a:r>
                        <a:rPr lang="ru-RU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-  временной период, в течение которого состояние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 не изменится.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4716016" y="1308184"/>
          <a:ext cx="3816424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Непериодический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i="1" dirty="0">
                          <a:solidFill>
                            <a:srgbClr val="00B0F0"/>
                          </a:solidFill>
                        </a:rPr>
                        <a:t>Состояние объекта учета неизменно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Рабочие календари (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графики работы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Счет учета номенклатуры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600" dirty="0"/>
                        <a:t>F</a:t>
                      </a:r>
                      <a:r>
                        <a:rPr lang="en-US" sz="1800" dirty="0"/>
                        <a:t>(</a:t>
                      </a:r>
                      <a:r>
                        <a:rPr lang="ru-RU" sz="1800" b="1" dirty="0">
                          <a:solidFill>
                            <a:srgbClr val="C00000"/>
                          </a:solidFill>
                        </a:rPr>
                        <a:t>Объект</a:t>
                      </a:r>
                      <a:r>
                        <a:rPr lang="ru-RU" sz="1800" dirty="0"/>
                        <a:t>) </a:t>
                      </a:r>
                      <a:r>
                        <a:rPr lang="ru-RU" sz="1800" dirty="0">
                          <a:latin typeface="Arial" pitchFamily="34" charset="0"/>
                          <a:cs typeface="Arial" pitchFamily="34" charset="0"/>
                        </a:rPr>
                        <a:t>→</a:t>
                      </a:r>
                      <a:r>
                        <a:rPr lang="ru-RU" sz="1800" dirty="0"/>
                        <a:t> </a:t>
                      </a:r>
                      <a:r>
                        <a:rPr lang="ru-RU" sz="1800" dirty="0">
                          <a:solidFill>
                            <a:srgbClr val="00B050"/>
                          </a:solidFill>
                        </a:rPr>
                        <a:t>Состояние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dirty="0">
                          <a:solidFill>
                            <a:srgbClr val="C00000"/>
                          </a:solidFill>
                        </a:rPr>
                        <a:t>Измерения</a:t>
                      </a:r>
                      <a:r>
                        <a:rPr lang="ru-RU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– Объект учёта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dirty="0">
                          <a:solidFill>
                            <a:srgbClr val="00B050"/>
                          </a:solidFill>
                        </a:rPr>
                        <a:t>Ресурсы</a:t>
                      </a:r>
                      <a:r>
                        <a:rPr lang="ru-RU" baseline="0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– состояние объекта учета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="1" baseline="0" dirty="0">
                          <a:solidFill>
                            <a:srgbClr val="0070C0"/>
                          </a:solidFill>
                        </a:rPr>
                        <a:t>Реквизиты</a:t>
                      </a:r>
                      <a:r>
                        <a:rPr lang="ru-RU" baseline="0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ru-RU" baseline="0" dirty="0">
                          <a:solidFill>
                            <a:schemeClr val="tx1"/>
                          </a:solidFill>
                        </a:rPr>
                        <a:t>– комментарий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438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2492698" y="3314433"/>
            <a:ext cx="957274" cy="500066"/>
            <a:chOff x="2938070" y="3473006"/>
            <a:chExt cx="957274" cy="500066"/>
          </a:xfrm>
        </p:grpSpPr>
        <p:sp>
          <p:nvSpPr>
            <p:cNvPr id="6" name="Стрелка вправо 5"/>
            <p:cNvSpPr/>
            <p:nvPr/>
          </p:nvSpPr>
          <p:spPr>
            <a:xfrm>
              <a:off x="2986328" y="3500439"/>
              <a:ext cx="857256" cy="428628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2938070" y="3473006"/>
              <a:ext cx="957274" cy="500066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Таблица регистра сведений</a:t>
            </a:r>
            <a:endParaRPr lang="ru-RU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424901"/>
            <a:ext cx="4905785" cy="2279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Группа 7"/>
          <p:cNvGrpSpPr/>
          <p:nvPr/>
        </p:nvGrpSpPr>
        <p:grpSpPr>
          <a:xfrm>
            <a:off x="3803587" y="4365104"/>
            <a:ext cx="4714741" cy="1293089"/>
            <a:chOff x="4016333" y="4372514"/>
            <a:chExt cx="4714741" cy="1293089"/>
          </a:xfrm>
        </p:grpSpPr>
        <p:sp>
          <p:nvSpPr>
            <p:cNvPr id="10" name="TextBox 9"/>
            <p:cNvSpPr txBox="1"/>
            <p:nvPr/>
          </p:nvSpPr>
          <p:spPr>
            <a:xfrm>
              <a:off x="4016333" y="5357826"/>
              <a:ext cx="1470388" cy="307777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ru-RU" sz="1400" dirty="0"/>
                <a:t>Служебное поле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62513" y="5357826"/>
              <a:ext cx="1050288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ru-RU" sz="1400" dirty="0"/>
                <a:t>Измерения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039218" y="5357826"/>
              <a:ext cx="691856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ru-RU" sz="1400" dirty="0"/>
                <a:t>Ресурс</a:t>
              </a:r>
            </a:p>
          </p:txBody>
        </p:sp>
        <p:cxnSp>
          <p:nvCxnSpPr>
            <p:cNvPr id="15" name="Прямая со стрелкой 14"/>
            <p:cNvCxnSpPr/>
            <p:nvPr/>
          </p:nvCxnSpPr>
          <p:spPr>
            <a:xfrm flipV="1">
              <a:off x="4712738" y="4372514"/>
              <a:ext cx="0" cy="8812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 стрелкой 15"/>
            <p:cNvCxnSpPr/>
            <p:nvPr/>
          </p:nvCxnSpPr>
          <p:spPr>
            <a:xfrm flipV="1">
              <a:off x="6584946" y="4372514"/>
              <a:ext cx="1588" cy="8693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/>
            <p:cNvCxnSpPr/>
            <p:nvPr/>
          </p:nvCxnSpPr>
          <p:spPr>
            <a:xfrm flipV="1">
              <a:off x="8385146" y="4372514"/>
              <a:ext cx="0" cy="88124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64353"/>
            <a:ext cx="18478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Скругленный прямоугольник 17"/>
          <p:cNvSpPr/>
          <p:nvPr/>
        </p:nvSpPr>
        <p:spPr>
          <a:xfrm>
            <a:off x="3803587" y="3068960"/>
            <a:ext cx="1128453" cy="151216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932040" y="3081720"/>
            <a:ext cx="2808312" cy="1512168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7740353" y="3081720"/>
            <a:ext cx="777976" cy="1512168"/>
          </a:xfrm>
          <a:prstGeom prst="round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82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500"/>
                            </p:stCondLst>
                            <p:childTnLst>
                              <p:par>
                                <p:cTn id="4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500"/>
                            </p:stCondLst>
                            <p:childTnLst>
                              <p:par>
                                <p:cTn id="49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1000"/>
                            </p:stCondLst>
                            <p:childTnLst>
                              <p:par>
                                <p:cTn id="53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75222"/>
            <a:ext cx="8784976" cy="1143000"/>
          </a:xfrm>
        </p:spPr>
        <p:txBody>
          <a:bodyPr>
            <a:normAutofit/>
          </a:bodyPr>
          <a:lstStyle/>
          <a:p>
            <a:r>
              <a:rPr lang="ru-RU" sz="4000" dirty="0"/>
              <a:t>Ключевые поля</a:t>
            </a:r>
            <a:r>
              <a:rPr lang="ru-RU" dirty="0"/>
              <a:t/>
            </a:r>
            <a:br>
              <a:rPr lang="ru-RU" dirty="0"/>
            </a:b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для контроля уникальности записей</a:t>
            </a:r>
            <a:endParaRPr lang="ru-RU" sz="4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1988840"/>
            <a:ext cx="2785763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002060"/>
                </a:solidFill>
              </a:rPr>
              <a:t>1.</a:t>
            </a:r>
            <a:r>
              <a:rPr lang="ru-RU" sz="2400" dirty="0">
                <a:solidFill>
                  <a:srgbClr val="002060"/>
                </a:solidFill>
              </a:rPr>
              <a:t>  Периодический: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645024"/>
            <a:ext cx="3101555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002060"/>
                </a:solidFill>
              </a:rPr>
              <a:t>2.</a:t>
            </a:r>
            <a:r>
              <a:rPr lang="ru-RU" sz="2400" dirty="0">
                <a:solidFill>
                  <a:srgbClr val="002060"/>
                </a:solidFill>
              </a:rPr>
              <a:t>  Непериодический: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432000" y="4358625"/>
          <a:ext cx="8244457" cy="180000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3177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ru-RU" sz="14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Организация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Счет</a:t>
                      </a:r>
                      <a:r>
                        <a:rPr lang="ru-RU" sz="1400" baseline="0" dirty="0"/>
                        <a:t> учета</a:t>
                      </a:r>
                      <a:endParaRPr lang="ru-RU" sz="1400" dirty="0"/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Лето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43 (Продукция)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Лето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43 (Продукция)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Север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41 (Товар)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dk1"/>
                          </a:solidFill>
                        </a:rPr>
                        <a:t>Груши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Север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10</a:t>
                      </a:r>
                      <a:r>
                        <a:rPr lang="ru-RU" sz="1400" baseline="0" dirty="0"/>
                        <a:t> (Материал)</a:t>
                      </a:r>
                      <a:endParaRPr lang="ru-RU" sz="14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3636000" y="1988840"/>
          <a:ext cx="5076000" cy="1440000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ru-RU" sz="14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Поставщик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Цена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200" dirty="0"/>
                        <a:t>18.02.2010 14:06:26</a:t>
                      </a:r>
                      <a:endParaRPr lang="ru-RU" sz="12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Восток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80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200" dirty="0"/>
                        <a:t>18.02.2010 14:06:26</a:t>
                      </a:r>
                      <a:endParaRPr lang="ru-RU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Восток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110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ru-RU" sz="1200" dirty="0"/>
                        <a:t>18.02.2010 14:06:26</a:t>
                      </a:r>
                      <a:endParaRPr lang="ru-RU" sz="12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Запад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Яблоки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90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9965"/>
            <a:ext cx="8784976" cy="806501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Контроль уникальности записей</a:t>
            </a:r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714349" y="3093564"/>
          <a:ext cx="7715304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71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Цена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80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15.02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  <a:r>
                        <a:rPr lang="en-US" sz="1600" dirty="0"/>
                        <a:t>5</a:t>
                      </a:r>
                      <a:r>
                        <a:rPr lang="ru-RU" sz="1600" dirty="0"/>
                        <a:t>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95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28011" y="5857892"/>
            <a:ext cx="4087979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10 февраля) → 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80 руб.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20 февраля) → </a:t>
            </a:r>
            <a:r>
              <a:rPr lang="ru-RU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???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785786" y="5461480"/>
            <a:ext cx="7572428" cy="415792"/>
            <a:chOff x="785786" y="5082536"/>
            <a:chExt cx="7572428" cy="415792"/>
          </a:xfrm>
        </p:grpSpPr>
        <p:sp>
          <p:nvSpPr>
            <p:cNvPr id="12" name="TextBox 11"/>
            <p:cNvSpPr txBox="1"/>
            <p:nvPr/>
          </p:nvSpPr>
          <p:spPr>
            <a:xfrm>
              <a:off x="862387" y="5190550"/>
              <a:ext cx="22756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Даты изменения состояния</a:t>
              </a:r>
            </a:p>
          </p:txBody>
        </p:sp>
        <p:sp>
          <p:nvSpPr>
            <p:cNvPr id="16" name="Левая фигурная скобка 15"/>
            <p:cNvSpPr/>
            <p:nvPr/>
          </p:nvSpPr>
          <p:spPr>
            <a:xfrm rot="16200000">
              <a:off x="1928794" y="3939528"/>
              <a:ext cx="142876" cy="242889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865" y="5190550"/>
              <a:ext cx="2046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Описание объекта учета</a:t>
              </a:r>
            </a:p>
          </p:txBody>
        </p:sp>
        <p:sp>
          <p:nvSpPr>
            <p:cNvPr id="18" name="Левая фигурная скобка 17"/>
            <p:cNvSpPr/>
            <p:nvPr/>
          </p:nvSpPr>
          <p:spPr>
            <a:xfrm rot="16200000">
              <a:off x="4857752" y="3582338"/>
              <a:ext cx="142876" cy="314327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82657" y="5190551"/>
              <a:ext cx="1636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Состояние объекта</a:t>
              </a:r>
            </a:p>
          </p:txBody>
        </p:sp>
        <p:sp>
          <p:nvSpPr>
            <p:cNvPr id="20" name="Левая фигурная скобка 19"/>
            <p:cNvSpPr/>
            <p:nvPr/>
          </p:nvSpPr>
          <p:spPr>
            <a:xfrm rot="16200000">
              <a:off x="7429519" y="4296719"/>
              <a:ext cx="142878" cy="171451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Прямоугольник 20"/>
          <p:cNvSpPr/>
          <p:nvPr/>
        </p:nvSpPr>
        <p:spPr>
          <a:xfrm>
            <a:off x="649260" y="4528674"/>
            <a:ext cx="3429024" cy="473070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Группа 21"/>
          <p:cNvGrpSpPr/>
          <p:nvPr/>
        </p:nvGrpSpPr>
        <p:grpSpPr>
          <a:xfrm>
            <a:off x="1248655" y="1510413"/>
            <a:ext cx="6646691" cy="775579"/>
            <a:chOff x="1248655" y="1510413"/>
            <a:chExt cx="6646691" cy="775579"/>
          </a:xfrm>
        </p:grpSpPr>
        <p:sp>
          <p:nvSpPr>
            <p:cNvPr id="23" name="TextBox 22"/>
            <p:cNvSpPr txBox="1"/>
            <p:nvPr/>
          </p:nvSpPr>
          <p:spPr>
            <a:xfrm>
              <a:off x="1248655" y="1578106"/>
              <a:ext cx="6646691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spc="600" dirty="0"/>
                <a:t>F</a:t>
              </a:r>
              <a:r>
                <a:rPr lang="en-US" sz="4000" dirty="0"/>
                <a:t>(</a:t>
              </a:r>
              <a:r>
                <a:rPr lang="ru-RU" sz="4000" dirty="0">
                  <a:solidFill>
                    <a:srgbClr val="0070C0"/>
                  </a:solidFill>
                </a:rPr>
                <a:t>Объект</a:t>
              </a:r>
              <a:r>
                <a:rPr lang="ru-RU" sz="4000" dirty="0"/>
                <a:t>, Дата) </a:t>
              </a:r>
              <a:r>
                <a:rPr lang="ru-RU" sz="4000" dirty="0">
                  <a:latin typeface="Arial" pitchFamily="34" charset="0"/>
                  <a:cs typeface="Arial" pitchFamily="34" charset="0"/>
                </a:rPr>
                <a:t>→</a:t>
              </a:r>
              <a:r>
                <a:rPr lang="ru-RU" sz="4000" dirty="0"/>
                <a:t> </a:t>
              </a:r>
              <a:r>
                <a:rPr lang="ru-RU" sz="4000" dirty="0">
                  <a:solidFill>
                    <a:srgbClr val="00B050"/>
                  </a:solidFill>
                </a:rPr>
                <a:t>Состояние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071670" y="1510413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Измерения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88811" y="1510413"/>
              <a:ext cx="8120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Ресурсы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56424" y="1510413"/>
              <a:ext cx="1376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Поле «Период»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875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559965"/>
            <a:ext cx="8784976" cy="806501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Контроль уникальности записей</a:t>
            </a:r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714349" y="3093564"/>
          <a:ext cx="7715304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71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Цена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80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100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15.02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</a:t>
                      </a:r>
                      <a:r>
                        <a:rPr lang="en-US" sz="1600" dirty="0"/>
                        <a:t>5</a:t>
                      </a:r>
                      <a:r>
                        <a:rPr lang="ru-RU" sz="1600" dirty="0"/>
                        <a:t>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95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28011" y="5857892"/>
            <a:ext cx="4087979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10 февраля) → 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80 руб.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20 февраля) → </a:t>
            </a:r>
            <a:r>
              <a:rPr lang="ru-RU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???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785786" y="5461480"/>
            <a:ext cx="7572428" cy="415792"/>
            <a:chOff x="785786" y="5082536"/>
            <a:chExt cx="7572428" cy="415792"/>
          </a:xfrm>
        </p:grpSpPr>
        <p:sp>
          <p:nvSpPr>
            <p:cNvPr id="12" name="TextBox 11"/>
            <p:cNvSpPr txBox="1"/>
            <p:nvPr/>
          </p:nvSpPr>
          <p:spPr>
            <a:xfrm>
              <a:off x="862387" y="5190550"/>
              <a:ext cx="22756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Даты изменения состояния</a:t>
              </a:r>
            </a:p>
          </p:txBody>
        </p:sp>
        <p:sp>
          <p:nvSpPr>
            <p:cNvPr id="16" name="Левая фигурная скобка 15"/>
            <p:cNvSpPr/>
            <p:nvPr/>
          </p:nvSpPr>
          <p:spPr>
            <a:xfrm rot="16200000">
              <a:off x="1928794" y="3939528"/>
              <a:ext cx="142876" cy="242889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05865" y="5190550"/>
              <a:ext cx="2046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Описание объекта учета</a:t>
              </a:r>
            </a:p>
          </p:txBody>
        </p:sp>
        <p:sp>
          <p:nvSpPr>
            <p:cNvPr id="18" name="Левая фигурная скобка 17"/>
            <p:cNvSpPr/>
            <p:nvPr/>
          </p:nvSpPr>
          <p:spPr>
            <a:xfrm rot="16200000">
              <a:off x="4857752" y="3582338"/>
              <a:ext cx="142876" cy="314327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82657" y="5190551"/>
              <a:ext cx="1636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Состояние объекта</a:t>
              </a:r>
            </a:p>
          </p:txBody>
        </p:sp>
        <p:sp>
          <p:nvSpPr>
            <p:cNvPr id="20" name="Левая фигурная скобка 19"/>
            <p:cNvSpPr/>
            <p:nvPr/>
          </p:nvSpPr>
          <p:spPr>
            <a:xfrm rot="16200000">
              <a:off x="7429519" y="4296719"/>
              <a:ext cx="142878" cy="171451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Прямоугольник 20"/>
          <p:cNvSpPr/>
          <p:nvPr/>
        </p:nvSpPr>
        <p:spPr>
          <a:xfrm>
            <a:off x="649260" y="4528674"/>
            <a:ext cx="3429024" cy="473070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Группа 21"/>
          <p:cNvGrpSpPr/>
          <p:nvPr/>
        </p:nvGrpSpPr>
        <p:grpSpPr>
          <a:xfrm>
            <a:off x="1248655" y="1510413"/>
            <a:ext cx="6646691" cy="775579"/>
            <a:chOff x="1248655" y="1510413"/>
            <a:chExt cx="6646691" cy="775579"/>
          </a:xfrm>
        </p:grpSpPr>
        <p:sp>
          <p:nvSpPr>
            <p:cNvPr id="23" name="TextBox 22"/>
            <p:cNvSpPr txBox="1"/>
            <p:nvPr/>
          </p:nvSpPr>
          <p:spPr>
            <a:xfrm>
              <a:off x="1248655" y="1578106"/>
              <a:ext cx="6646691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spc="600" dirty="0"/>
                <a:t>F</a:t>
              </a:r>
              <a:r>
                <a:rPr lang="en-US" sz="4000" dirty="0"/>
                <a:t>(</a:t>
              </a:r>
              <a:r>
                <a:rPr lang="ru-RU" sz="4000" dirty="0">
                  <a:solidFill>
                    <a:srgbClr val="0070C0"/>
                  </a:solidFill>
                </a:rPr>
                <a:t>Объект</a:t>
              </a:r>
              <a:r>
                <a:rPr lang="ru-RU" sz="4000" dirty="0"/>
                <a:t>, Дата) </a:t>
              </a:r>
              <a:r>
                <a:rPr lang="ru-RU" sz="4000" dirty="0">
                  <a:latin typeface="Arial" pitchFamily="34" charset="0"/>
                  <a:cs typeface="Arial" pitchFamily="34" charset="0"/>
                </a:rPr>
                <a:t>→</a:t>
              </a:r>
              <a:r>
                <a:rPr lang="ru-RU" sz="4000" dirty="0"/>
                <a:t> </a:t>
              </a:r>
              <a:r>
                <a:rPr lang="ru-RU" sz="4000" dirty="0">
                  <a:solidFill>
                    <a:srgbClr val="00B050"/>
                  </a:solidFill>
                </a:rPr>
                <a:t>Состояние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071670" y="1510413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Измерения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88811" y="1510413"/>
              <a:ext cx="8120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Ресурсы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56424" y="1510413"/>
              <a:ext cx="1376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Поле «Период»</a:t>
              </a:r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9" y="1428015"/>
            <a:ext cx="78581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7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149282"/>
              </p:ext>
            </p:extLst>
          </p:nvPr>
        </p:nvGraphicFramePr>
        <p:xfrm>
          <a:off x="285720" y="2878122"/>
          <a:ext cx="8572560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Способ Оплаты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Цена Розничная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Цена Оптовая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Наличные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80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75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WebMoney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85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Наличные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Наличные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100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95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7564" y="5857200"/>
            <a:ext cx="784887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Наличные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февраля) →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Розница: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80 руб.,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Опт: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75 руб.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Груши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Наличные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2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февраля) → </a:t>
            </a:r>
            <a:r>
              <a:rPr lang="ru-RU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???</a:t>
            </a:r>
            <a:endParaRPr lang="ru-RU" sz="16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357159" y="5235576"/>
            <a:ext cx="8429683" cy="641696"/>
            <a:chOff x="357159" y="5072074"/>
            <a:chExt cx="8429683" cy="641696"/>
          </a:xfrm>
        </p:grpSpPr>
        <p:sp>
          <p:nvSpPr>
            <p:cNvPr id="12" name="TextBox 11"/>
            <p:cNvSpPr txBox="1"/>
            <p:nvPr/>
          </p:nvSpPr>
          <p:spPr>
            <a:xfrm>
              <a:off x="410501" y="5190550"/>
              <a:ext cx="14649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Даты изменения</a:t>
              </a:r>
            </a:p>
            <a:p>
              <a:pPr algn="ctr"/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состояния</a:t>
              </a:r>
            </a:p>
          </p:txBody>
        </p:sp>
        <p:sp>
          <p:nvSpPr>
            <p:cNvPr id="16" name="Левая фигурная скобка 15"/>
            <p:cNvSpPr/>
            <p:nvPr/>
          </p:nvSpPr>
          <p:spPr>
            <a:xfrm rot="16200000">
              <a:off x="1066308" y="4362925"/>
              <a:ext cx="153338" cy="157163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91419" y="5190550"/>
              <a:ext cx="2046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Описание объекта учета</a:t>
              </a:r>
            </a:p>
          </p:txBody>
        </p:sp>
        <p:sp>
          <p:nvSpPr>
            <p:cNvPr id="18" name="Левая фигурная скобка 17"/>
            <p:cNvSpPr/>
            <p:nvPr/>
          </p:nvSpPr>
          <p:spPr>
            <a:xfrm rot="16200000">
              <a:off x="3638075" y="3505669"/>
              <a:ext cx="153338" cy="328614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25467" y="5190551"/>
              <a:ext cx="1636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Состояние объекта</a:t>
              </a:r>
            </a:p>
          </p:txBody>
        </p:sp>
        <p:sp>
          <p:nvSpPr>
            <p:cNvPr id="20" name="Левая фигурная скобка 19"/>
            <p:cNvSpPr/>
            <p:nvPr/>
          </p:nvSpPr>
          <p:spPr>
            <a:xfrm rot="16200000">
              <a:off x="7067098" y="3505670"/>
              <a:ext cx="153340" cy="328614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>
            <a:off x="179512" y="540627"/>
            <a:ext cx="8784976" cy="842108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Контроль уникальности записей</a:t>
            </a:r>
            <a:endParaRPr lang="ru-RU" sz="20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23528" y="4240574"/>
            <a:ext cx="5040560" cy="720080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1248655" y="1510413"/>
            <a:ext cx="6646691" cy="775579"/>
            <a:chOff x="1248655" y="1510413"/>
            <a:chExt cx="6646691" cy="775579"/>
          </a:xfrm>
        </p:grpSpPr>
        <p:sp>
          <p:nvSpPr>
            <p:cNvPr id="24" name="TextBox 23"/>
            <p:cNvSpPr txBox="1"/>
            <p:nvPr/>
          </p:nvSpPr>
          <p:spPr>
            <a:xfrm>
              <a:off x="1248655" y="1578106"/>
              <a:ext cx="6646691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spc="600" dirty="0"/>
                <a:t>F</a:t>
              </a:r>
              <a:r>
                <a:rPr lang="en-US" sz="4000" dirty="0"/>
                <a:t>(</a:t>
              </a:r>
              <a:r>
                <a:rPr lang="ru-RU" sz="4000" dirty="0">
                  <a:solidFill>
                    <a:srgbClr val="0070C0"/>
                  </a:solidFill>
                </a:rPr>
                <a:t>Объект</a:t>
              </a:r>
              <a:r>
                <a:rPr lang="ru-RU" sz="4000" dirty="0"/>
                <a:t>, Дата) </a:t>
              </a:r>
              <a:r>
                <a:rPr lang="ru-RU" sz="4000" dirty="0">
                  <a:latin typeface="Arial" pitchFamily="34" charset="0"/>
                  <a:cs typeface="Arial" pitchFamily="34" charset="0"/>
                </a:rPr>
                <a:t>→</a:t>
              </a:r>
              <a:r>
                <a:rPr lang="ru-RU" sz="4000" dirty="0"/>
                <a:t> </a:t>
              </a:r>
              <a:r>
                <a:rPr lang="ru-RU" sz="4000" dirty="0">
                  <a:solidFill>
                    <a:srgbClr val="00B050"/>
                  </a:solidFill>
                </a:rPr>
                <a:t>Состояние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71670" y="1510413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Измерения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88811" y="1510413"/>
              <a:ext cx="8120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Ресурсы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56424" y="1510413"/>
              <a:ext cx="1376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Поле «Период»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078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892407"/>
              </p:ext>
            </p:extLst>
          </p:nvPr>
        </p:nvGraphicFramePr>
        <p:xfrm>
          <a:off x="285720" y="2878122"/>
          <a:ext cx="8572560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Период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Товар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Способ Оплаты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Цена Розничная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Цена Оптовая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Наличные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80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75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WebMoney</a:t>
                      </a:r>
                      <a:endParaRPr lang="ru-RU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85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80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Наличные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90</a:t>
                      </a:r>
                      <a:endParaRPr lang="ru-RU" sz="1600" dirty="0"/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1.02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Наличные</a:t>
                      </a:r>
                      <a:endParaRPr lang="ru-RU" sz="1600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100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95</a:t>
                      </a:r>
                      <a:endParaRPr lang="ru-RU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7564" y="5857200"/>
            <a:ext cx="784887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Наличные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февраля) →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Розница: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80 руб.,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Опт: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75 руб.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Груши</a:t>
            </a:r>
            <a:r>
              <a:rPr lang="en-US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Наличные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2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 февраля) → </a:t>
            </a:r>
            <a:r>
              <a:rPr lang="ru-RU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???</a:t>
            </a:r>
            <a:endParaRPr lang="ru-RU" sz="16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357159" y="5235576"/>
            <a:ext cx="8429683" cy="641696"/>
            <a:chOff x="357159" y="5072074"/>
            <a:chExt cx="8429683" cy="641696"/>
          </a:xfrm>
        </p:grpSpPr>
        <p:sp>
          <p:nvSpPr>
            <p:cNvPr id="12" name="TextBox 11"/>
            <p:cNvSpPr txBox="1"/>
            <p:nvPr/>
          </p:nvSpPr>
          <p:spPr>
            <a:xfrm>
              <a:off x="410501" y="5190550"/>
              <a:ext cx="14649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Даты изменения</a:t>
              </a:r>
            </a:p>
            <a:p>
              <a:pPr algn="ctr"/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состояния</a:t>
              </a:r>
            </a:p>
          </p:txBody>
        </p:sp>
        <p:sp>
          <p:nvSpPr>
            <p:cNvPr id="16" name="Левая фигурная скобка 15"/>
            <p:cNvSpPr/>
            <p:nvPr/>
          </p:nvSpPr>
          <p:spPr>
            <a:xfrm rot="16200000">
              <a:off x="1066308" y="4362925"/>
              <a:ext cx="153338" cy="157163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91419" y="5190550"/>
              <a:ext cx="2046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Описание объекта учета</a:t>
              </a:r>
            </a:p>
          </p:txBody>
        </p:sp>
        <p:sp>
          <p:nvSpPr>
            <p:cNvPr id="18" name="Левая фигурная скобка 17"/>
            <p:cNvSpPr/>
            <p:nvPr/>
          </p:nvSpPr>
          <p:spPr>
            <a:xfrm rot="16200000">
              <a:off x="3638075" y="3505669"/>
              <a:ext cx="153338" cy="328614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25467" y="5190551"/>
              <a:ext cx="1636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Состояние объекта</a:t>
              </a:r>
            </a:p>
          </p:txBody>
        </p:sp>
        <p:sp>
          <p:nvSpPr>
            <p:cNvPr id="20" name="Левая фигурная скобка 19"/>
            <p:cNvSpPr/>
            <p:nvPr/>
          </p:nvSpPr>
          <p:spPr>
            <a:xfrm rot="16200000">
              <a:off x="7067098" y="3505670"/>
              <a:ext cx="153340" cy="328614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>
            <a:off x="179512" y="540627"/>
            <a:ext cx="8784976" cy="842108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Контроль уникальности записей</a:t>
            </a:r>
            <a:endParaRPr lang="ru-RU" sz="20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23528" y="4240574"/>
            <a:ext cx="5040560" cy="720080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Группа 20"/>
          <p:cNvGrpSpPr/>
          <p:nvPr/>
        </p:nvGrpSpPr>
        <p:grpSpPr>
          <a:xfrm>
            <a:off x="1248655" y="1510413"/>
            <a:ext cx="6646691" cy="775579"/>
            <a:chOff x="1248655" y="1510413"/>
            <a:chExt cx="6646691" cy="775579"/>
          </a:xfrm>
        </p:grpSpPr>
        <p:sp>
          <p:nvSpPr>
            <p:cNvPr id="24" name="TextBox 23"/>
            <p:cNvSpPr txBox="1"/>
            <p:nvPr/>
          </p:nvSpPr>
          <p:spPr>
            <a:xfrm>
              <a:off x="1248655" y="1578106"/>
              <a:ext cx="6646691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spc="600" dirty="0"/>
                <a:t>F</a:t>
              </a:r>
              <a:r>
                <a:rPr lang="en-US" sz="4000" dirty="0"/>
                <a:t>(</a:t>
              </a:r>
              <a:r>
                <a:rPr lang="ru-RU" sz="4000" dirty="0">
                  <a:solidFill>
                    <a:srgbClr val="0070C0"/>
                  </a:solidFill>
                </a:rPr>
                <a:t>Объект</a:t>
              </a:r>
              <a:r>
                <a:rPr lang="ru-RU" sz="4000" dirty="0"/>
                <a:t>, Дата) </a:t>
              </a:r>
              <a:r>
                <a:rPr lang="ru-RU" sz="4000" dirty="0">
                  <a:latin typeface="Arial" pitchFamily="34" charset="0"/>
                  <a:cs typeface="Arial" pitchFamily="34" charset="0"/>
                </a:rPr>
                <a:t>→</a:t>
              </a:r>
              <a:r>
                <a:rPr lang="ru-RU" sz="4000" dirty="0"/>
                <a:t> </a:t>
              </a:r>
              <a:r>
                <a:rPr lang="ru-RU" sz="4000" dirty="0">
                  <a:solidFill>
                    <a:srgbClr val="00B050"/>
                  </a:solidFill>
                </a:rPr>
                <a:t>Состояние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71670" y="1510413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Измерения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88811" y="1510413"/>
              <a:ext cx="8120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Ресурсы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56424" y="1510413"/>
              <a:ext cx="1376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Поле «Период»</a:t>
              </a:r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339726"/>
            <a:ext cx="81438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9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Таблица 23"/>
          <p:cNvGraphicFramePr>
            <a:graphicFrameLocks noGrp="1"/>
          </p:cNvGraphicFramePr>
          <p:nvPr>
            <p:extLst/>
          </p:nvPr>
        </p:nvGraphicFramePr>
        <p:xfrm>
          <a:off x="1357289" y="2714620"/>
          <a:ext cx="6429421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1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Счет учёта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Счет НДС покупки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41.01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41.02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Станок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41.01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Станок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08.04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Группа 1"/>
          <p:cNvGrpSpPr/>
          <p:nvPr/>
        </p:nvGrpSpPr>
        <p:grpSpPr>
          <a:xfrm>
            <a:off x="1428728" y="5072074"/>
            <a:ext cx="6286544" cy="426254"/>
            <a:chOff x="1428728" y="5072074"/>
            <a:chExt cx="6286544" cy="426254"/>
          </a:xfrm>
        </p:grpSpPr>
        <p:sp>
          <p:nvSpPr>
            <p:cNvPr id="17" name="TextBox 16"/>
            <p:cNvSpPr txBox="1"/>
            <p:nvPr/>
          </p:nvSpPr>
          <p:spPr>
            <a:xfrm>
              <a:off x="1691287" y="5190550"/>
              <a:ext cx="2046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Описание объекта учета</a:t>
              </a:r>
            </a:p>
          </p:txBody>
        </p:sp>
        <p:sp>
          <p:nvSpPr>
            <p:cNvPr id="18" name="Левая фигурная скобка 17"/>
            <p:cNvSpPr/>
            <p:nvPr/>
          </p:nvSpPr>
          <p:spPr>
            <a:xfrm rot="16200000">
              <a:off x="2637943" y="3862859"/>
              <a:ext cx="153338" cy="257176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11021" y="5190551"/>
              <a:ext cx="1636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Состояние объекта</a:t>
              </a:r>
            </a:p>
          </p:txBody>
        </p:sp>
        <p:sp>
          <p:nvSpPr>
            <p:cNvPr id="20" name="Левая фигурная скобка 19"/>
            <p:cNvSpPr/>
            <p:nvPr/>
          </p:nvSpPr>
          <p:spPr>
            <a:xfrm rot="16200000">
              <a:off x="5852652" y="3362794"/>
              <a:ext cx="153340" cy="35719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179512" y="545490"/>
            <a:ext cx="8784976" cy="76128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Контроль уникальности записей</a:t>
            </a:r>
            <a:endParaRPr lang="ru-RU" sz="20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331640" y="4077072"/>
            <a:ext cx="1269924" cy="720080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6" name="Группа 15"/>
          <p:cNvGrpSpPr/>
          <p:nvPr/>
        </p:nvGrpSpPr>
        <p:grpSpPr>
          <a:xfrm>
            <a:off x="1868856" y="1508638"/>
            <a:ext cx="5406288" cy="990255"/>
            <a:chOff x="1868856" y="1508638"/>
            <a:chExt cx="5406288" cy="990255"/>
          </a:xfrm>
        </p:grpSpPr>
        <p:sp>
          <p:nvSpPr>
            <p:cNvPr id="21" name="TextBox 20"/>
            <p:cNvSpPr txBox="1"/>
            <p:nvPr/>
          </p:nvSpPr>
          <p:spPr>
            <a:xfrm>
              <a:off x="1868856" y="1791007"/>
              <a:ext cx="5406288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spc="600" dirty="0"/>
                <a:t>F</a:t>
              </a:r>
              <a:r>
                <a:rPr lang="en-US" sz="4000" dirty="0"/>
                <a:t>(</a:t>
              </a:r>
              <a:r>
                <a:rPr lang="ru-RU" sz="4000" dirty="0">
                  <a:solidFill>
                    <a:srgbClr val="0070C0"/>
                  </a:solidFill>
                </a:rPr>
                <a:t>Объект</a:t>
              </a:r>
              <a:r>
                <a:rPr lang="ru-RU" sz="4000" dirty="0"/>
                <a:t>) </a:t>
              </a:r>
              <a:r>
                <a:rPr lang="ru-RU" sz="4000" dirty="0">
                  <a:latin typeface="Arial" pitchFamily="34" charset="0"/>
                  <a:cs typeface="Arial" pitchFamily="34" charset="0"/>
                </a:rPr>
                <a:t>→</a:t>
              </a:r>
              <a:r>
                <a:rPr lang="ru-RU" sz="4000" dirty="0"/>
                <a:t> </a:t>
              </a:r>
              <a:r>
                <a:rPr lang="ru-RU" sz="4000" dirty="0">
                  <a:solidFill>
                    <a:srgbClr val="00B050"/>
                  </a:solidFill>
                </a:rPr>
                <a:t>Состояние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35894" y="1508638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Измерения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643570" y="1508638"/>
              <a:ext cx="8120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Ресурсы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403648" y="5517232"/>
            <a:ext cx="6264696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   → Счет учета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41.01,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НДС: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19.03.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Груши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   → Счет учета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41.02,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НДС: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19.03.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Станок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   → </a:t>
            </a:r>
            <a:r>
              <a:rPr lang="ru-RU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???</a:t>
            </a:r>
            <a:endParaRPr lang="ru-RU" sz="16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0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Таблица 23"/>
          <p:cNvGraphicFramePr>
            <a:graphicFrameLocks noGrp="1"/>
          </p:cNvGraphicFramePr>
          <p:nvPr>
            <p:extLst/>
          </p:nvPr>
        </p:nvGraphicFramePr>
        <p:xfrm>
          <a:off x="1357289" y="2714620"/>
          <a:ext cx="6429421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1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Номенклатура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Счет учёта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Счет НДС покупки</a:t>
                      </a:r>
                    </a:p>
                  </a:txBody>
                  <a:tcPr anchor="ctr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Яблоки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41.01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Груши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41.02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Станок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41.01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19.03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Станок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08.04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19.01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…</a:t>
                      </a:r>
                      <a:endParaRPr lang="ru-RU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Группа 1"/>
          <p:cNvGrpSpPr/>
          <p:nvPr/>
        </p:nvGrpSpPr>
        <p:grpSpPr>
          <a:xfrm>
            <a:off x="1428728" y="5072074"/>
            <a:ext cx="6286544" cy="426254"/>
            <a:chOff x="1428728" y="5072074"/>
            <a:chExt cx="6286544" cy="426254"/>
          </a:xfrm>
        </p:grpSpPr>
        <p:sp>
          <p:nvSpPr>
            <p:cNvPr id="17" name="TextBox 16"/>
            <p:cNvSpPr txBox="1"/>
            <p:nvPr/>
          </p:nvSpPr>
          <p:spPr>
            <a:xfrm>
              <a:off x="1691287" y="5190550"/>
              <a:ext cx="20466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Описание объекта учета</a:t>
              </a:r>
            </a:p>
          </p:txBody>
        </p:sp>
        <p:sp>
          <p:nvSpPr>
            <p:cNvPr id="18" name="Левая фигурная скобка 17"/>
            <p:cNvSpPr/>
            <p:nvPr/>
          </p:nvSpPr>
          <p:spPr>
            <a:xfrm rot="16200000">
              <a:off x="2637943" y="3862859"/>
              <a:ext cx="153338" cy="257176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11021" y="5190551"/>
              <a:ext cx="16366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400" dirty="0">
                  <a:solidFill>
                    <a:schemeClr val="bg1">
                      <a:lumMod val="50000"/>
                    </a:schemeClr>
                  </a:solidFill>
                </a:rPr>
                <a:t>Состояние объекта</a:t>
              </a:r>
            </a:p>
          </p:txBody>
        </p:sp>
        <p:sp>
          <p:nvSpPr>
            <p:cNvPr id="20" name="Левая фигурная скобка 19"/>
            <p:cNvSpPr/>
            <p:nvPr/>
          </p:nvSpPr>
          <p:spPr>
            <a:xfrm rot="16200000">
              <a:off x="5852652" y="3362794"/>
              <a:ext cx="153340" cy="357190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179512" y="545490"/>
            <a:ext cx="8784976" cy="76128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Контроль уникальности записей</a:t>
            </a:r>
            <a:endParaRPr lang="ru-RU" sz="20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1331640" y="4077072"/>
            <a:ext cx="1269924" cy="720080"/>
          </a:xfrm>
          <a:prstGeom prst="rect">
            <a:avLst/>
          </a:prstGeom>
          <a:solidFill>
            <a:srgbClr val="FF0000">
              <a:alpha val="20000"/>
            </a:srgbClr>
          </a:solidFill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6" name="Группа 15"/>
          <p:cNvGrpSpPr/>
          <p:nvPr/>
        </p:nvGrpSpPr>
        <p:grpSpPr>
          <a:xfrm>
            <a:off x="1868856" y="1508638"/>
            <a:ext cx="5406288" cy="990255"/>
            <a:chOff x="1868856" y="1508638"/>
            <a:chExt cx="5406288" cy="990255"/>
          </a:xfrm>
        </p:grpSpPr>
        <p:sp>
          <p:nvSpPr>
            <p:cNvPr id="21" name="TextBox 20"/>
            <p:cNvSpPr txBox="1"/>
            <p:nvPr/>
          </p:nvSpPr>
          <p:spPr>
            <a:xfrm>
              <a:off x="1868856" y="1791007"/>
              <a:ext cx="5406288" cy="707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spc="600" dirty="0"/>
                <a:t>F</a:t>
              </a:r>
              <a:r>
                <a:rPr lang="en-US" sz="4000" dirty="0"/>
                <a:t>(</a:t>
              </a:r>
              <a:r>
                <a:rPr lang="ru-RU" sz="4000" dirty="0">
                  <a:solidFill>
                    <a:srgbClr val="0070C0"/>
                  </a:solidFill>
                </a:rPr>
                <a:t>Объект</a:t>
              </a:r>
              <a:r>
                <a:rPr lang="ru-RU" sz="4000" dirty="0"/>
                <a:t>) </a:t>
              </a:r>
              <a:r>
                <a:rPr lang="ru-RU" sz="4000" dirty="0">
                  <a:latin typeface="Arial" pitchFamily="34" charset="0"/>
                  <a:cs typeface="Arial" pitchFamily="34" charset="0"/>
                </a:rPr>
                <a:t>→</a:t>
              </a:r>
              <a:r>
                <a:rPr lang="ru-RU" sz="4000" dirty="0"/>
                <a:t> </a:t>
              </a:r>
              <a:r>
                <a:rPr lang="ru-RU" sz="4000" dirty="0">
                  <a:solidFill>
                    <a:srgbClr val="00B050"/>
                  </a:solidFill>
                </a:rPr>
                <a:t>Состояние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35894" y="1508638"/>
              <a:ext cx="1050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Измерения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643570" y="1508638"/>
              <a:ext cx="8120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400" dirty="0">
                  <a:solidFill>
                    <a:srgbClr val="FF0000"/>
                  </a:solidFill>
                </a:rPr>
                <a:t>Ресурсы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403648" y="5517232"/>
            <a:ext cx="6264696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Яблоки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   → Счет учета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41.01,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НДС: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19.03.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Груши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   → Счет учета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41.02,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НДС:</a:t>
            </a:r>
            <a:r>
              <a:rPr lang="ru-RU" sz="16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19.03.</a:t>
            </a:r>
          </a:p>
          <a:p>
            <a:pPr>
              <a:lnSpc>
                <a:spcPct val="120000"/>
              </a:lnSpc>
            </a:pPr>
            <a:r>
              <a:rPr lang="en-US" sz="1600" b="1" spc="600" dirty="0"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600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Станок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)   → </a:t>
            </a:r>
            <a:r>
              <a:rPr lang="ru-RU" sz="16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???</a:t>
            </a:r>
            <a:endParaRPr lang="ru-RU" sz="16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1" y="1292564"/>
            <a:ext cx="6696075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0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СофтБаланс_основные_объект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сновные_объекты" id="{62BD0483-928A-448D-BBAD-621E3072F039}" vid="{487075A3-1F89-4279-8755-8EA96074D5C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СофтБаланс_основные_объекты</Template>
  <TotalTime>3403</TotalTime>
  <Words>1418</Words>
  <Application>Microsoft Office PowerPoint</Application>
  <PresentationFormat>Экран (4:3)</PresentationFormat>
  <Paragraphs>712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6" baseType="lpstr">
      <vt:lpstr>Arial</vt:lpstr>
      <vt:lpstr>Arial Black</vt:lpstr>
      <vt:lpstr>Calibri</vt:lpstr>
      <vt:lpstr>Courier New</vt:lpstr>
      <vt:lpstr>Tahoma</vt:lpstr>
      <vt:lpstr>Verdana</vt:lpstr>
      <vt:lpstr>Wingdings</vt:lpstr>
      <vt:lpstr>СофтБаланс_основные_объекты</vt:lpstr>
      <vt:lpstr>Занятие 2</vt:lpstr>
      <vt:lpstr>Концепция системы</vt:lpstr>
      <vt:lpstr>Пометка удаления</vt:lpstr>
      <vt:lpstr>Сотрудники</vt:lpstr>
      <vt:lpstr>Сотрудники</vt:lpstr>
      <vt:lpstr>Реквизит «Пол»</vt:lpstr>
      <vt:lpstr>Перечисления</vt:lpstr>
      <vt:lpstr>                  Перечисления</vt:lpstr>
      <vt:lpstr>Ссылки на значения перечислений</vt:lpstr>
      <vt:lpstr>Трудовая книжка</vt:lpstr>
      <vt:lpstr>Табличная часть справочника</vt:lpstr>
      <vt:lpstr>Стандартные реквизиты</vt:lpstr>
      <vt:lpstr>Стандартные реквизиты</vt:lpstr>
      <vt:lpstr>Внешний вид</vt:lpstr>
      <vt:lpstr>Контактные лица</vt:lpstr>
      <vt:lpstr>Подчиненные справочники</vt:lpstr>
      <vt:lpstr>Несколько владельцев</vt:lpstr>
      <vt:lpstr>Подчиненный справочник или ТЧ?</vt:lpstr>
      <vt:lpstr>Документы</vt:lpstr>
      <vt:lpstr>Документ</vt:lpstr>
      <vt:lpstr>Реквизиты и табличные части</vt:lpstr>
      <vt:lpstr>Проведение документа</vt:lpstr>
      <vt:lpstr>Таблицы документа</vt:lpstr>
      <vt:lpstr>Приём на работу</vt:lpstr>
      <vt:lpstr>Увольнение</vt:lpstr>
      <vt:lpstr>Журнал документов</vt:lpstr>
      <vt:lpstr>Нумератор</vt:lpstr>
      <vt:lpstr>Регистры сведений</vt:lpstr>
      <vt:lpstr>Назначение регистра сведений </vt:lpstr>
      <vt:lpstr>Периодический или Непериодический регистр сведений</vt:lpstr>
      <vt:lpstr>Таблица регистра сведений</vt:lpstr>
      <vt:lpstr>Ключевые поля для контроля уникальности записей</vt:lpstr>
      <vt:lpstr>Контроль уникальности записей</vt:lpstr>
      <vt:lpstr>Контроль уникальности записей</vt:lpstr>
      <vt:lpstr>Контроль уникальности записей</vt:lpstr>
      <vt:lpstr>Контроль уникальности записей</vt:lpstr>
      <vt:lpstr>Контроль уникальности записей</vt:lpstr>
      <vt:lpstr>Контроль уникальности записей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занятие</dc:title>
  <dc:creator>Сергей</dc:creator>
  <cp:lastModifiedBy>eugeniy sizov</cp:lastModifiedBy>
  <cp:revision>106</cp:revision>
  <dcterms:created xsi:type="dcterms:W3CDTF">2010-10-13T10:38:25Z</dcterms:created>
  <dcterms:modified xsi:type="dcterms:W3CDTF">2020-09-17T14:17:48Z</dcterms:modified>
</cp:coreProperties>
</file>