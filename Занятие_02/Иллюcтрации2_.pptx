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97" r:id="rId3"/>
    <p:sldId id="298" r:id="rId4"/>
    <p:sldId id="258" r:id="rId5"/>
    <p:sldId id="261" r:id="rId6"/>
    <p:sldId id="260" r:id="rId7"/>
    <p:sldId id="286" r:id="rId8"/>
    <p:sldId id="262" r:id="rId9"/>
    <p:sldId id="287" r:id="rId10"/>
    <p:sldId id="263" r:id="rId11"/>
    <p:sldId id="264" r:id="rId12"/>
    <p:sldId id="266" r:id="rId13"/>
    <p:sldId id="282" r:id="rId14"/>
    <p:sldId id="269" r:id="rId15"/>
    <p:sldId id="265" r:id="rId16"/>
    <p:sldId id="283" r:id="rId17"/>
    <p:sldId id="303" r:id="rId18"/>
    <p:sldId id="285" r:id="rId19"/>
    <p:sldId id="299" r:id="rId20"/>
    <p:sldId id="273" r:id="rId21"/>
    <p:sldId id="274" r:id="rId22"/>
    <p:sldId id="275" r:id="rId23"/>
    <p:sldId id="276" r:id="rId24"/>
    <p:sldId id="284" r:id="rId25"/>
    <p:sldId id="302" r:id="rId26"/>
    <p:sldId id="301" r:id="rId27"/>
    <p:sldId id="278" r:id="rId28"/>
    <p:sldId id="279" r:id="rId29"/>
    <p:sldId id="280" r:id="rId30"/>
    <p:sldId id="281" r:id="rId31"/>
    <p:sldId id="300" r:id="rId32"/>
    <p:sldId id="288" r:id="rId33"/>
    <p:sldId id="290" r:id="rId34"/>
    <p:sldId id="296" r:id="rId35"/>
    <p:sldId id="291" r:id="rId36"/>
    <p:sldId id="292" r:id="rId37"/>
    <p:sldId id="293" r:id="rId38"/>
    <p:sldId id="294" r:id="rId39"/>
    <p:sldId id="295" r:id="rId4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>
      <p:cViewPr varScale="1">
        <p:scale>
          <a:sx n="85" d="100"/>
          <a:sy n="85" d="100"/>
        </p:scale>
        <p:origin x="966" y="8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4" d="100"/>
        <a:sy n="104" d="100"/>
      </p:scale>
      <p:origin x="0" y="-567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7A1CD56E-CE0C-4819-B43D-653BA7418D04}"/>
    <pc:docChg chg="modSld">
      <pc:chgData name="eugeniy sizov" userId="f166da1dfb7bc990" providerId="LiveId" clId="{7A1CD56E-CE0C-4819-B43D-653BA7418D04}" dt="2020-02-17T12:34:24.363" v="0" actId="1076"/>
      <pc:docMkLst>
        <pc:docMk/>
      </pc:docMkLst>
      <pc:sldChg chg="modSp mod">
        <pc:chgData name="eugeniy sizov" userId="f166da1dfb7bc990" providerId="LiveId" clId="{7A1CD56E-CE0C-4819-B43D-653BA7418D04}" dt="2020-02-17T12:34:24.363" v="0" actId="1076"/>
        <pc:sldMkLst>
          <pc:docMk/>
          <pc:sldMk cId="4255992480" sldId="276"/>
        </pc:sldMkLst>
        <pc:spChg chg="mod">
          <ac:chgData name="eugeniy sizov" userId="f166da1dfb7bc990" providerId="LiveId" clId="{7A1CD56E-CE0C-4819-B43D-653BA7418D04}" dt="2020-02-17T12:34:24.363" v="0" actId="1076"/>
          <ac:spMkLst>
            <pc:docMk/>
            <pc:sldMk cId="4255992480" sldId="276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0547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7369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0929252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0177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9857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1441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0CD28-912B-46FF-95A0-B32F7AE70E0A}" type="datetimeFigureOut">
              <a:rPr lang="ru-RU" smtClean="0"/>
              <a:pPr/>
              <a:t>17.02.2020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B301F-FFC1-424F-A769-488E12EBE5A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1255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0CD28-912B-46FF-95A0-B32F7AE70E0A}" type="datetimeFigureOut">
              <a:rPr lang="ru-RU" smtClean="0"/>
              <a:pPr/>
              <a:t>17.02.2020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B301F-FFC1-424F-A769-488E12EBE5A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886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</a:t>
            </a:r>
            <a:r>
              <a:rPr lang="en-US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36</a:t>
            </a:r>
            <a:endParaRPr lang="ru-RU" sz="1600" dirty="0">
              <a:solidFill>
                <a:srgbClr val="FF000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3437567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pc="300" dirty="0"/>
              <a:t>Занятие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47864" y="1988840"/>
            <a:ext cx="3422604" cy="36822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indent="-288000">
              <a:lnSpc>
                <a:spcPct val="200000"/>
              </a:lnSpc>
              <a:buFont typeface="Arial" pitchFamily="34" charset="0"/>
              <a:buChar char="•"/>
            </a:pPr>
            <a:r>
              <a:rPr lang="ru-RU" sz="2400" b="1" dirty="0">
                <a:solidFill>
                  <a:srgbClr val="002060"/>
                </a:solidFill>
              </a:rPr>
              <a:t>Справочники</a:t>
            </a:r>
          </a:p>
          <a:p>
            <a:pPr indent="-288000">
              <a:lnSpc>
                <a:spcPct val="200000"/>
              </a:lnSpc>
              <a:buFont typeface="Arial" pitchFamily="34" charset="0"/>
              <a:buChar char="•"/>
            </a:pPr>
            <a:r>
              <a:rPr lang="ru-RU" sz="2400" b="1" dirty="0">
                <a:solidFill>
                  <a:srgbClr val="002060"/>
                </a:solidFill>
              </a:rPr>
              <a:t>Перечисления</a:t>
            </a:r>
            <a:endParaRPr lang="en-US" sz="2400" b="1" dirty="0">
              <a:solidFill>
                <a:srgbClr val="002060"/>
              </a:solidFill>
            </a:endParaRPr>
          </a:p>
          <a:p>
            <a:pPr indent="-288000">
              <a:lnSpc>
                <a:spcPct val="200000"/>
              </a:lnSpc>
              <a:buFont typeface="Arial" pitchFamily="34" charset="0"/>
              <a:buChar char="•"/>
            </a:pPr>
            <a:r>
              <a:rPr lang="ru-RU" sz="2400" b="1" dirty="0">
                <a:solidFill>
                  <a:srgbClr val="002060"/>
                </a:solidFill>
              </a:rPr>
              <a:t>Документы</a:t>
            </a:r>
          </a:p>
          <a:p>
            <a:pPr indent="-288000">
              <a:lnSpc>
                <a:spcPct val="200000"/>
              </a:lnSpc>
              <a:buFont typeface="Arial" pitchFamily="34" charset="0"/>
              <a:buChar char="•"/>
            </a:pPr>
            <a:r>
              <a:rPr lang="ru-RU" sz="2400" b="1" dirty="0">
                <a:solidFill>
                  <a:srgbClr val="002060"/>
                </a:solidFill>
              </a:rPr>
              <a:t>Нумераторы</a:t>
            </a:r>
          </a:p>
          <a:p>
            <a:pPr indent="-288000">
              <a:lnSpc>
                <a:spcPct val="200000"/>
              </a:lnSpc>
              <a:buFont typeface="Arial" pitchFamily="34" charset="0"/>
              <a:buChar char="•"/>
            </a:pPr>
            <a:r>
              <a:rPr lang="ru-RU" sz="2400" b="1" dirty="0">
                <a:solidFill>
                  <a:srgbClr val="002060"/>
                </a:solidFill>
              </a:rPr>
              <a:t>Журналы документов</a:t>
            </a:r>
          </a:p>
        </p:txBody>
      </p:sp>
    </p:spTree>
    <p:extLst>
      <p:ext uri="{BB962C8B-B14F-4D97-AF65-F5344CB8AC3E}">
        <p14:creationId xmlns:p14="http://schemas.microsoft.com/office/powerpoint/2010/main" val="1606111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Концепция системы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467544" y="1700808"/>
            <a:ext cx="1548000" cy="12600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Объекты учета</a:t>
            </a:r>
          </a:p>
        </p:txBody>
      </p:sp>
      <p:sp>
        <p:nvSpPr>
          <p:cNvPr id="4" name="Блок-схема: карточка 3"/>
          <p:cNvSpPr/>
          <p:nvPr/>
        </p:nvSpPr>
        <p:spPr>
          <a:xfrm>
            <a:off x="2651787" y="1700808"/>
            <a:ext cx="1548000" cy="1260000"/>
          </a:xfrm>
          <a:prstGeom prst="flowChartPunchedCard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bg1"/>
                </a:solidFill>
              </a:rPr>
              <a:t>Регистрация событий</a:t>
            </a:r>
          </a:p>
        </p:txBody>
      </p:sp>
      <p:sp>
        <p:nvSpPr>
          <p:cNvPr id="5" name="Цилиндр 4"/>
          <p:cNvSpPr/>
          <p:nvPr/>
        </p:nvSpPr>
        <p:spPr>
          <a:xfrm>
            <a:off x="4836030" y="1700808"/>
            <a:ext cx="1548000" cy="1260000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введенных данных</a:t>
            </a:r>
          </a:p>
        </p:txBody>
      </p:sp>
      <p:sp>
        <p:nvSpPr>
          <p:cNvPr id="6" name="Загнутый угол 5"/>
          <p:cNvSpPr/>
          <p:nvPr/>
        </p:nvSpPr>
        <p:spPr>
          <a:xfrm>
            <a:off x="7020272" y="1700808"/>
            <a:ext cx="1548000" cy="1260000"/>
          </a:xfrm>
          <a:prstGeom prst="foldedCorner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Отчетность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2015544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трелка вправо 7"/>
          <p:cNvSpPr/>
          <p:nvPr/>
        </p:nvSpPr>
        <p:spPr>
          <a:xfrm>
            <a:off x="4239003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трелка вправо 8"/>
          <p:cNvSpPr/>
          <p:nvPr/>
        </p:nvSpPr>
        <p:spPr>
          <a:xfrm>
            <a:off x="6408272" y="2204864"/>
            <a:ext cx="612000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305320" y="3717032"/>
            <a:ext cx="201622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Константы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Справочники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Перечисления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характеристик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счетов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chemeClr val="accent3">
                    <a:lumMod val="50000"/>
                  </a:schemeClr>
                </a:solidFill>
              </a:rPr>
              <a:t>Планы видов расчета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560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C00000"/>
                </a:solidFill>
              </a:rPr>
              <a:t>Документы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5880" y="3717032"/>
            <a:ext cx="201622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сведений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накопления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бухгалтерии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ru-RU" sz="1600" dirty="0">
                <a:solidFill>
                  <a:srgbClr val="0070C0"/>
                </a:solidFill>
              </a:rPr>
              <a:t>Регистры расчета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6160" y="3717032"/>
            <a:ext cx="201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ru-RU" sz="1600">
                <a:solidFill>
                  <a:schemeClr val="accent6">
                    <a:lumMod val="75000"/>
                  </a:schemeClr>
                </a:solidFill>
              </a:rPr>
              <a:t>Отчеты</a:t>
            </a:r>
            <a:endParaRPr lang="ru-RU" sz="16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297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80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20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/>
      <p:bldP spid="11" grpId="0"/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Хранение информации об объектах учёта:</a:t>
            </a:r>
          </a:p>
          <a:p>
            <a:pPr lvl="1"/>
            <a:r>
              <a:rPr lang="ru-RU" dirty="0"/>
              <a:t>Список сотрудников</a:t>
            </a:r>
          </a:p>
          <a:p>
            <a:pPr lvl="1"/>
            <a:r>
              <a:rPr lang="ru-RU" dirty="0"/>
              <a:t>Список товаров</a:t>
            </a:r>
          </a:p>
          <a:p>
            <a:pPr lvl="1"/>
            <a:r>
              <a:rPr lang="ru-RU" dirty="0"/>
              <a:t>Список деловых партнеров</a:t>
            </a:r>
          </a:p>
          <a:p>
            <a:pPr lvl="1"/>
            <a:r>
              <a:rPr lang="ru-RU" dirty="0"/>
              <a:t>Список подразделений</a:t>
            </a:r>
          </a:p>
          <a:p>
            <a:pPr lvl="1"/>
            <a:r>
              <a:rPr lang="ru-RU"/>
              <a:t>Список валют</a:t>
            </a:r>
          </a:p>
          <a:p>
            <a:pPr lvl="1"/>
            <a:r>
              <a:rPr lang="ru-RU"/>
              <a:t>…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1734124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50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Валюты</a:t>
            </a:r>
          </a:p>
        </p:txBody>
      </p:sp>
      <p:pic>
        <p:nvPicPr>
          <p:cNvPr id="2" name="Picture 2" descr="C:\Users\sizov\AppData\Local\Temp\SNAGHTML6c5a12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708920"/>
            <a:ext cx="4229100" cy="1771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1347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Поля справочника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1126571"/>
              </p:ext>
            </p:extLst>
          </p:nvPr>
        </p:nvGraphicFramePr>
        <p:xfrm>
          <a:off x="755576" y="2348880"/>
          <a:ext cx="7681042" cy="263057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724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59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036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Австралийский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А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4" name="Группа 3"/>
          <p:cNvGrpSpPr/>
          <p:nvPr/>
        </p:nvGrpSpPr>
        <p:grpSpPr>
          <a:xfrm>
            <a:off x="2527851" y="4941168"/>
            <a:ext cx="2044149" cy="1593652"/>
            <a:chOff x="3764240" y="4175770"/>
            <a:chExt cx="2044149" cy="1593652"/>
          </a:xfrm>
        </p:grpSpPr>
        <p:cxnSp>
          <p:nvCxnSpPr>
            <p:cNvPr id="5" name="Прямая со стрелкой 4"/>
            <p:cNvCxnSpPr/>
            <p:nvPr/>
          </p:nvCxnSpPr>
          <p:spPr>
            <a:xfrm rot="5400000">
              <a:off x="3678238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Прямая со стрелкой 5"/>
            <p:cNvCxnSpPr/>
            <p:nvPr/>
          </p:nvCxnSpPr>
          <p:spPr>
            <a:xfrm rot="5400000">
              <a:off x="4608513" y="4782195"/>
              <a:ext cx="1214438" cy="1587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headEnd type="arrow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764240" y="5461645"/>
              <a:ext cx="2044149" cy="30777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ru-RU" sz="1400" dirty="0">
                  <a:solidFill>
                    <a:schemeClr val="bg1">
                      <a:lumMod val="65000"/>
                    </a:schemeClr>
                  </a:solidFill>
                  <a:latin typeface="+mn-lt"/>
                </a:rPr>
                <a:t>Стандартные реквизиты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31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47" y="1038864"/>
            <a:ext cx="9026576" cy="3110216"/>
          </a:xfrm>
          <a:prstGeom prst="rect">
            <a:avLst/>
          </a:prstGeom>
        </p:spPr>
      </p:pic>
      <p:sp>
        <p:nvSpPr>
          <p:cNvPr id="8194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Контрагенты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25" y="4149080"/>
            <a:ext cx="8534513" cy="2088232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flipH="1" flipV="1">
            <a:off x="6228184" y="3789040"/>
            <a:ext cx="648072" cy="1842193"/>
          </a:xfrm>
          <a:prstGeom prst="bentArrow">
            <a:avLst>
              <a:gd name="adj1" fmla="val 14364"/>
              <a:gd name="adj2" fmla="val 22753"/>
              <a:gd name="adj3" fmla="val 21910"/>
              <a:gd name="adj4" fmla="val 4375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313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Уникальные идентификаторы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107565"/>
              </p:ext>
            </p:extLst>
          </p:nvPr>
        </p:nvGraphicFramePr>
        <p:xfrm>
          <a:off x="251519" y="2708920"/>
          <a:ext cx="8041083" cy="2519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026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6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44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Ссылка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6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6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83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Реквизиты ссылочного типа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529285"/>
              </p:ext>
            </p:extLst>
          </p:nvPr>
        </p:nvGraphicFramePr>
        <p:xfrm>
          <a:off x="285750" y="4407702"/>
          <a:ext cx="5726411" cy="18059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35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6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29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14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28" marR="91428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476377"/>
              </p:ext>
            </p:extLst>
          </p:nvPr>
        </p:nvGraphicFramePr>
        <p:xfrm>
          <a:off x="285750" y="2140545"/>
          <a:ext cx="8686369" cy="18002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87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6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0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01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Наименование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Валюта расчетов</a:t>
                      </a:r>
                      <a:endParaRPr lang="ru-RU" sz="1100" dirty="0"/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84d2001cf091e0a511df17ba2ce67b66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«Юг»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/>
                        <a:t>8:</a:t>
                      </a:r>
                      <a:r>
                        <a:rPr lang="en-US" sz="1400" dirty="0"/>
                        <a:t>84d2001cf091e0a511df17ba2ce67b6</a:t>
                      </a:r>
                      <a:r>
                        <a:rPr lang="ru-RU" sz="1400" dirty="0"/>
                        <a:t>4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00003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ПАО «МММ»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40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14313" y="1736320"/>
            <a:ext cx="18573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Контрагенты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313" y="4005064"/>
            <a:ext cx="11768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Валюты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723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Пометка удаления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9337985"/>
              </p:ext>
            </p:extLst>
          </p:nvPr>
        </p:nvGraphicFramePr>
        <p:xfrm>
          <a:off x="611560" y="2204864"/>
          <a:ext cx="7681041" cy="25193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7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26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98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7836">
                <a:tc>
                  <a:txBody>
                    <a:bodyPr/>
                    <a:lstStyle/>
                    <a:p>
                      <a:r>
                        <a:rPr lang="ru-RU" sz="1800" dirty="0"/>
                        <a:t>Пометка удаления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Ссылка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Код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Буквенный Код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b="0" dirty="0">
                          <a:solidFill>
                            <a:srgbClr val="002060"/>
                          </a:solidFill>
                        </a:rPr>
                        <a:t>Ложь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200" b="0" dirty="0">
                          <a:solidFill>
                            <a:srgbClr val="002060"/>
                          </a:solidFill>
                        </a:rPr>
                        <a:t>aea2001cf091e0a511dec47a9dbdf145</a:t>
                      </a:r>
                      <a:endParaRPr lang="ru-RU" sz="12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840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tx1"/>
                          </a:solidFill>
                        </a:rPr>
                        <a:t>Доллар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</a:rPr>
                        <a:t> США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USD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Истина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2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1</a:t>
                      </a:r>
                      <a:r>
                        <a:rPr lang="en-US" sz="12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978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ЕВРО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rgbClr val="002060"/>
                          </a:solidFill>
                        </a:rPr>
                        <a:t>Ложь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7:</a:t>
                      </a:r>
                      <a:r>
                        <a:rPr lang="en-US" sz="1200" dirty="0">
                          <a:solidFill>
                            <a:srgbClr val="002060"/>
                          </a:solidFill>
                        </a:rPr>
                        <a:t>aea2001cf091e</a:t>
                      </a:r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2</a:t>
                      </a:r>
                      <a:r>
                        <a:rPr lang="en-US" sz="1200" dirty="0">
                          <a:solidFill>
                            <a:srgbClr val="002060"/>
                          </a:solidFill>
                        </a:rPr>
                        <a:t>a511dec47a9dbdf14</a:t>
                      </a:r>
                      <a:r>
                        <a:rPr lang="ru-RU" sz="1200" dirty="0">
                          <a:solidFill>
                            <a:srgbClr val="002060"/>
                          </a:solidFill>
                        </a:rPr>
                        <a:t>5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643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Рубль</a:t>
                      </a:r>
                      <a:r>
                        <a:rPr lang="ru-RU" sz="1600" baseline="0" dirty="0"/>
                        <a:t> РФ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RUR</a:t>
                      </a:r>
                      <a:endParaRPr lang="ru-RU" sz="1600" dirty="0"/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882"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57" marR="91457" marT="45708" marB="4570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729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Иерархические справочники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19" y="1916832"/>
            <a:ext cx="8764043" cy="3019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4873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665758"/>
          </a:xfrm>
        </p:spPr>
        <p:txBody>
          <a:bodyPr/>
          <a:lstStyle/>
          <a:p>
            <a:r>
              <a:rPr lang="ru-RU" sz="4000" dirty="0"/>
              <a:t>2 вида иерархии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3560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6150" y="2348880"/>
            <a:ext cx="2762250" cy="3810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714375" y="1819275"/>
            <a:ext cx="3313113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групп</a:t>
            </a:r>
            <a:r>
              <a:rPr lang="ru-RU" sz="2000">
                <a:solidFill>
                  <a:srgbClr val="00642D"/>
                </a:solidFill>
              </a:rPr>
              <a:t> и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5429250" y="1819275"/>
            <a:ext cx="24574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ru-RU" sz="2000">
                <a:solidFill>
                  <a:srgbClr val="00642D"/>
                </a:solidFill>
              </a:rPr>
              <a:t>Иерархия </a:t>
            </a:r>
            <a:r>
              <a:rPr lang="ru-RU" sz="2000" u="sng">
                <a:solidFill>
                  <a:srgbClr val="00642D"/>
                </a:solidFill>
              </a:rPr>
              <a:t>элементов</a:t>
            </a:r>
          </a:p>
        </p:txBody>
      </p:sp>
      <p:grpSp>
        <p:nvGrpSpPr>
          <p:cNvPr id="3" name="Группа 10"/>
          <p:cNvGrpSpPr>
            <a:grpSpLocks/>
          </p:cNvGrpSpPr>
          <p:nvPr/>
        </p:nvGrpSpPr>
        <p:grpSpPr bwMode="auto">
          <a:xfrm>
            <a:off x="3500438" y="1487637"/>
            <a:ext cx="2143125" cy="357187"/>
            <a:chOff x="3500430" y="1118354"/>
            <a:chExt cx="2143140" cy="357191"/>
          </a:xfrm>
        </p:grpSpPr>
        <p:cxnSp>
          <p:nvCxnSpPr>
            <p:cNvPr id="9" name="Прямая со стрелкой 8"/>
            <p:cNvCxnSpPr/>
            <p:nvPr/>
          </p:nvCxnSpPr>
          <p:spPr>
            <a:xfrm rot="10800000" flipV="1">
              <a:off x="3500430" y="1118354"/>
              <a:ext cx="642941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/>
            <p:cNvCxnSpPr/>
            <p:nvPr/>
          </p:nvCxnSpPr>
          <p:spPr>
            <a:xfrm rot="10800000" flipH="1" flipV="1">
              <a:off x="5000627" y="1118354"/>
              <a:ext cx="642943" cy="3571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46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Par">
                      <p:stCondLst>
                        <p:cond delay="indefinite"/>
                      </p:stCondLst>
                      <p:childTnLst>
                        <p:par>
                          <p:cTn id="1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Группы контрагентов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556792"/>
            <a:ext cx="8599178" cy="295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51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>
            <a:normAutofit fontScale="90000"/>
          </a:bodyPr>
          <a:lstStyle/>
          <a:p>
            <a:r>
              <a:rPr lang="ru-RU" sz="3600" dirty="0"/>
              <a:t>Структура таблицы</a:t>
            </a:r>
            <a:br>
              <a:rPr lang="ru-RU" dirty="0"/>
            </a:br>
            <a:r>
              <a:rPr lang="ru-RU" sz="2000" dirty="0"/>
              <a:t>иерархического справочника (иерархия групп и элементов)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773993"/>
              </p:ext>
            </p:extLst>
          </p:nvPr>
        </p:nvGraphicFramePr>
        <p:xfrm>
          <a:off x="357188" y="4365104"/>
          <a:ext cx="8429625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8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 err="1"/>
                        <a:t>ЭтоГруппа</a:t>
                      </a:r>
                      <a:endParaRPr lang="ru-RU" sz="16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Истина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Поставщики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«ЮГ»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491880" y="1377619"/>
            <a:ext cx="2088232" cy="28803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368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Подразделения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000" y="1772816"/>
            <a:ext cx="5148238" cy="30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765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Заголовок 1"/>
          <p:cNvSpPr>
            <a:spLocks noGrp="1"/>
          </p:cNvSpPr>
          <p:nvPr>
            <p:ph type="title"/>
          </p:nvPr>
        </p:nvSpPr>
        <p:spPr>
          <a:xfrm>
            <a:off x="179512" y="548680"/>
            <a:ext cx="8784976" cy="862533"/>
          </a:xfrm>
        </p:spPr>
        <p:txBody>
          <a:bodyPr/>
          <a:lstStyle/>
          <a:p>
            <a:r>
              <a:rPr lang="ru-RU" dirty="0"/>
              <a:t>Структура таблицы</a:t>
            </a:r>
            <a:br>
              <a:rPr lang="ru-RU" dirty="0"/>
            </a:br>
            <a:r>
              <a:rPr lang="ru-RU" sz="1800" dirty="0"/>
              <a:t>иерархического справочника (Иерархия элементов)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71875" y="1483221"/>
            <a:ext cx="2036763" cy="2809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5260267"/>
              </p:ext>
            </p:extLst>
          </p:nvPr>
        </p:nvGraphicFramePr>
        <p:xfrm>
          <a:off x="357188" y="4365104"/>
          <a:ext cx="8463284" cy="1854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67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51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53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600" dirty="0"/>
                        <a:t>Родитель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&lt;000&gt;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Администрация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&lt;BBB&gt;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Дирекция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B05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00B050"/>
                        </a:solidFill>
                      </a:endParaRP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&lt;CCC&gt;</a:t>
                      </a:r>
                      <a:endParaRPr lang="ru-RU" sz="1400" dirty="0"/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Бухгалтерия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368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Сотрудники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98" y="1150511"/>
            <a:ext cx="9035396" cy="2582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52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Сотрудники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98" y="1150511"/>
            <a:ext cx="9035396" cy="2582784"/>
          </a:xfrm>
          <a:prstGeom prst="rect">
            <a:avLst/>
          </a:prstGeom>
        </p:spPr>
      </p:pic>
      <p:pic>
        <p:nvPicPr>
          <p:cNvPr id="5122" name="Picture 2" descr="C:\Users\sizov\AppData\Local\Temp\SNAGHTML6be42c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1484784"/>
            <a:ext cx="5618237" cy="504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6775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114347"/>
            <a:ext cx="5948904" cy="5327377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Реквизит «Пол»</a:t>
            </a:r>
          </a:p>
        </p:txBody>
      </p:sp>
      <p:cxnSp>
        <p:nvCxnSpPr>
          <p:cNvPr id="4" name="Прямая со стрелкой 3"/>
          <p:cNvCxnSpPr/>
          <p:nvPr/>
        </p:nvCxnSpPr>
        <p:spPr>
          <a:xfrm flipH="1">
            <a:off x="4860032" y="3140968"/>
            <a:ext cx="1656184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614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Неизменяемые (почти </a:t>
            </a:r>
            <a:r>
              <a:rPr lang="ru-RU" dirty="0">
                <a:sym typeface="Wingdings" panose="05000000000000000000" pitchFamily="2" charset="2"/>
              </a:rPr>
              <a:t>) </a:t>
            </a:r>
            <a:r>
              <a:rPr lang="ru-RU" dirty="0"/>
              <a:t>списки данных</a:t>
            </a:r>
          </a:p>
          <a:p>
            <a:pPr lvl="1"/>
            <a:r>
              <a:rPr lang="ru-RU" dirty="0"/>
              <a:t>Дни недели</a:t>
            </a:r>
          </a:p>
          <a:p>
            <a:pPr lvl="1"/>
            <a:r>
              <a:rPr lang="ru-RU" dirty="0"/>
              <a:t>Пол физического лица</a:t>
            </a:r>
          </a:p>
          <a:p>
            <a:pPr lvl="1"/>
            <a:r>
              <a:rPr lang="ru-RU" dirty="0"/>
              <a:t>Ставка НДС</a:t>
            </a:r>
          </a:p>
          <a:p>
            <a:pPr lvl="1"/>
            <a:r>
              <a:rPr lang="ru-RU" dirty="0"/>
              <a:t>Способы списания себестоимости</a:t>
            </a:r>
          </a:p>
          <a:p>
            <a:pPr lvl="1"/>
            <a:r>
              <a:rPr lang="ru-RU" dirty="0"/>
              <a:t>…</a:t>
            </a:r>
          </a:p>
          <a:p>
            <a:pPr lvl="1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Перечисления</a:t>
            </a:r>
          </a:p>
        </p:txBody>
      </p:sp>
    </p:spTree>
    <p:extLst>
      <p:ext uri="{BB962C8B-B14F-4D97-AF65-F5344CB8AC3E}">
        <p14:creationId xmlns:p14="http://schemas.microsoft.com/office/powerpoint/2010/main" val="4237736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75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                 </a:t>
            </a:r>
            <a:r>
              <a:rPr lang="ru-RU" dirty="0">
                <a:solidFill>
                  <a:srgbClr val="FF0000"/>
                </a:solidFill>
              </a:rPr>
              <a:t>Перечисления</a:t>
            </a:r>
          </a:p>
        </p:txBody>
      </p:sp>
      <p:pic>
        <p:nvPicPr>
          <p:cNvPr id="18435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146" y="692695"/>
            <a:ext cx="2157614" cy="564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3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75025" y="4500563"/>
            <a:ext cx="1681163" cy="11207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174" name="Picture 6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929313" y="4735513"/>
            <a:ext cx="2071687" cy="885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176" name="Picture 8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3375025" y="1928813"/>
            <a:ext cx="1979613" cy="1993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177" name="Picture 9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111875" y="1928813"/>
            <a:ext cx="1889125" cy="2214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2" name="TextBox 11"/>
          <p:cNvSpPr txBox="1"/>
          <p:nvPr/>
        </p:nvSpPr>
        <p:spPr>
          <a:xfrm>
            <a:off x="5375275" y="5791200"/>
            <a:ext cx="738188" cy="9239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5400" b="1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941279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 nodeType="afterGroup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/>
              <a:t>Ссылки на значения перечислений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532108"/>
              </p:ext>
            </p:extLst>
          </p:nvPr>
        </p:nvGraphicFramePr>
        <p:xfrm>
          <a:off x="285750" y="4716934"/>
          <a:ext cx="6311838" cy="107949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682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17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833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48" marR="91448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Значение</a:t>
                      </a:r>
                    </a:p>
                  </a:txBody>
                  <a:tcPr marL="91448" marR="91448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Порядок</a:t>
                      </a:r>
                    </a:p>
                  </a:txBody>
                  <a:tcPr marL="91448" marR="91448" marT="45699" marB="4569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5: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aea2001cf091e0a517dec47a9dbdf815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48" marR="91448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Мужской</a:t>
                      </a:r>
                    </a:p>
                  </a:txBody>
                  <a:tcPr marL="91448" marR="91448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48" marR="91448" marT="45699" marB="45699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aea2001cf091e0a51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dec47a9dbdf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816</a:t>
                      </a:r>
                    </a:p>
                  </a:txBody>
                  <a:tcPr marL="91448" marR="91448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Женский</a:t>
                      </a:r>
                    </a:p>
                  </a:txBody>
                  <a:tcPr marL="91448" marR="91448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48" marR="91448" marT="45699" marB="45699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8091202"/>
              </p:ext>
            </p:extLst>
          </p:nvPr>
        </p:nvGraphicFramePr>
        <p:xfrm>
          <a:off x="285750" y="1924522"/>
          <a:ext cx="8572500" cy="18002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715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433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29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Пол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dk1"/>
                          </a:solidFill>
                        </a:rPr>
                        <a:t>Сидоренко Валя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5: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00000000000000000000000000000000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2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Малышко</a:t>
                      </a:r>
                      <a:r>
                        <a:rPr lang="ru-RU" sz="1400" baseline="0" dirty="0"/>
                        <a:t> Дмитрий Владимирович</a:t>
                      </a:r>
                      <a:endParaRPr lang="ru-RU" sz="1400" dirty="0"/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solidFill>
                            <a:srgbClr val="002060"/>
                          </a:solidFill>
                        </a:rPr>
                        <a:t>5:</a:t>
                      </a:r>
                      <a:r>
                        <a:rPr lang="en-US" sz="1400" b="0" dirty="0">
                          <a:solidFill>
                            <a:srgbClr val="002060"/>
                          </a:solidFill>
                        </a:rPr>
                        <a:t>aea2001cf091e0a517dec47a9dbdf815</a:t>
                      </a:r>
                      <a:endParaRPr lang="ru-RU" sz="1400" b="0" dirty="0">
                        <a:solidFill>
                          <a:srgbClr val="002060"/>
                        </a:solidFill>
                      </a:endParaRP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/>
                        <a:t>3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Сидорова Анжелика Семёновна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5: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aea2001cf091e0a51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7</a:t>
                      </a:r>
                      <a:r>
                        <a:rPr lang="en-US" sz="1400" dirty="0">
                          <a:solidFill>
                            <a:srgbClr val="002060"/>
                          </a:solidFill>
                        </a:rPr>
                        <a:t>dec47a9dbdf</a:t>
                      </a: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816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45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26" marB="4572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214313" y="1484784"/>
            <a:ext cx="17273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Сотрудники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14313" y="4278784"/>
            <a:ext cx="67890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Пол</a:t>
            </a:r>
          </a:p>
        </p:txBody>
      </p:sp>
      <p:sp>
        <p:nvSpPr>
          <p:cNvPr id="7" name="Стрелка углом 6"/>
          <p:cNvSpPr/>
          <p:nvPr/>
        </p:nvSpPr>
        <p:spPr>
          <a:xfrm rot="16200000" flipV="1">
            <a:off x="5771716" y="3755441"/>
            <a:ext cx="1849039" cy="1224136"/>
          </a:xfrm>
          <a:prstGeom prst="bentArrow">
            <a:avLst>
              <a:gd name="adj1" fmla="val 14848"/>
              <a:gd name="adj2" fmla="val 15069"/>
              <a:gd name="adj3" fmla="val 21910"/>
              <a:gd name="adj4" fmla="val 4375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137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Трудовая книжка</a:t>
            </a:r>
          </a:p>
        </p:txBody>
      </p:sp>
      <p:pic>
        <p:nvPicPr>
          <p:cNvPr id="3074" name="Picture 2" descr="C:\Users\sizov\AppData\Local\Temp\SNAGHTML6ba4e28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085" y="1124265"/>
            <a:ext cx="5824123" cy="522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 стрелкой 4"/>
          <p:cNvCxnSpPr/>
          <p:nvPr/>
        </p:nvCxnSpPr>
        <p:spPr>
          <a:xfrm flipH="1">
            <a:off x="4860032" y="3501008"/>
            <a:ext cx="1080120" cy="581037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90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196752"/>
            <a:ext cx="4609524" cy="2552381"/>
          </a:xfrm>
          <a:prstGeom prst="rect">
            <a:avLst/>
          </a:prstGeom>
        </p:spPr>
      </p:pic>
      <p:sp>
        <p:nvSpPr>
          <p:cNvPr id="21506" name="Заголовок 1"/>
          <p:cNvSpPr>
            <a:spLocks noGrp="1"/>
          </p:cNvSpPr>
          <p:nvPr>
            <p:ph type="title"/>
          </p:nvPr>
        </p:nvSpPr>
        <p:spPr>
          <a:xfrm>
            <a:off x="201612" y="529391"/>
            <a:ext cx="8762875" cy="667361"/>
          </a:xfrm>
        </p:spPr>
        <p:txBody>
          <a:bodyPr/>
          <a:lstStyle/>
          <a:p>
            <a:r>
              <a:rPr lang="ru-RU" sz="3600" dirty="0"/>
              <a:t>Табличная часть справочника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987996"/>
              </p:ext>
            </p:extLst>
          </p:nvPr>
        </p:nvGraphicFramePr>
        <p:xfrm>
          <a:off x="511110" y="3971294"/>
          <a:ext cx="4071939" cy="14179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9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695" marB="456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Иванов П.</a:t>
                      </a:r>
                      <a:r>
                        <a:rPr lang="ru-RU" sz="1400" baseline="0" dirty="0"/>
                        <a:t> С.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Петров Б. Е.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5546099"/>
              </p:ext>
            </p:extLst>
          </p:nvPr>
        </p:nvGraphicFramePr>
        <p:xfrm>
          <a:off x="4857750" y="3943920"/>
          <a:ext cx="4071938" cy="233245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5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1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835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Номер</a:t>
                      </a:r>
                    </a:p>
                    <a:p>
                      <a:r>
                        <a:rPr lang="ru-RU" sz="1200" dirty="0"/>
                        <a:t>Строки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Организация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Должность</a:t>
                      </a:r>
                    </a:p>
                  </a:txBody>
                  <a:tcPr marL="91439" marR="91439" marT="45705" marB="4570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Север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Юг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ПромБанк</a:t>
                      </a:r>
                      <a:endParaRPr lang="ru-RU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ХозБанк</a:t>
                      </a:r>
                      <a:endParaRPr lang="ru-RU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Форт</a:t>
                      </a:r>
                      <a:r>
                        <a:rPr lang="ru-RU" sz="140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 </a:t>
                      </a:r>
                      <a:r>
                        <a:rPr lang="ru-RU" sz="1400" baseline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</a:rPr>
                        <a:t>Нокс</a:t>
                      </a:r>
                      <a:endParaRPr lang="ru-RU" sz="14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4863580" y="3935523"/>
            <a:ext cx="1695450" cy="230822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467544" y="3574588"/>
            <a:ext cx="17273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Сотрудники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1513" y="3505140"/>
            <a:ext cx="24329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Трудовая книжка</a:t>
            </a:r>
          </a:p>
        </p:txBody>
      </p:sp>
    </p:spTree>
    <p:extLst>
      <p:ext uri="{BB962C8B-B14F-4D97-AF65-F5344CB8AC3E}">
        <p14:creationId xmlns:p14="http://schemas.microsoft.com/office/powerpoint/2010/main" val="425599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1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/>
      <p:bldP spid="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реквизиты</a:t>
            </a:r>
          </a:p>
        </p:txBody>
      </p:sp>
      <p:pic>
        <p:nvPicPr>
          <p:cNvPr id="2052" name="Picture 4" descr="C:\Users\sizov\AppData\Local\Temp\SNAGHTML6b2240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120775"/>
            <a:ext cx="5670172" cy="508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4025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реквизиты</a:t>
            </a:r>
          </a:p>
        </p:txBody>
      </p:sp>
      <p:pic>
        <p:nvPicPr>
          <p:cNvPr id="2050" name="Picture 2" descr="C:\Users\sizov\AppData\Local\Temp\SNAGHTML6b102b3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120775"/>
            <a:ext cx="5670172" cy="508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539553" y="1772816"/>
            <a:ext cx="864096" cy="923784"/>
          </a:xfrm>
          <a:prstGeom prst="rect">
            <a:avLst/>
          </a:prstGeom>
          <a:solidFill>
            <a:srgbClr val="C00000">
              <a:alpha val="15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64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7" presetClass="emph" presetSubtype="0" repeatCount="3000" fill="remove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5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6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7" dur="5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Внешний вид</a:t>
            </a:r>
          </a:p>
        </p:txBody>
      </p:sp>
      <p:pic>
        <p:nvPicPr>
          <p:cNvPr id="3" name="Picture 2" descr="C:\Users\sizov\AppData\Local\Temp\SNAGHTML6ae7215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19" y="1628800"/>
            <a:ext cx="661987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C:\Users\sizov\AppData\Local\Temp\SNAGHTML6aec41d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1340628"/>
            <a:ext cx="661987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sizov\AppData\Local\Temp\SNAGHTML6b034c4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1052456"/>
            <a:ext cx="661987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1713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Контактные лица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1628800"/>
            <a:ext cx="7286431" cy="345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3006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Подчиненные справочники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501296"/>
              </p:ext>
            </p:extLst>
          </p:nvPr>
        </p:nvGraphicFramePr>
        <p:xfrm>
          <a:off x="285750" y="3929633"/>
          <a:ext cx="4071939" cy="14179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9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695" marB="456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«Юг»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681993"/>
              </p:ext>
            </p:extLst>
          </p:nvPr>
        </p:nvGraphicFramePr>
        <p:xfrm>
          <a:off x="4786313" y="3929633"/>
          <a:ext cx="4185807" cy="233245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80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80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4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8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7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3835">
                <a:tc>
                  <a:txBody>
                    <a:bodyPr/>
                    <a:lstStyle/>
                    <a:p>
                      <a:r>
                        <a:rPr lang="ru-RU" sz="1200" dirty="0"/>
                        <a:t>Владелец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Ссылка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Код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…</a:t>
                      </a:r>
                      <a:endParaRPr lang="ru-RU" sz="1400" dirty="0"/>
                    </a:p>
                  </a:txBody>
                  <a:tcPr marL="91439" marR="91439" marT="45705" marB="4570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&lt;ZZZ&gt;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00001</a:t>
                      </a:r>
                      <a:endParaRPr lang="ru-RU" sz="1100" dirty="0"/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Иванов А.А.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&lt;XXX&gt;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00002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Петров Б.Б.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&lt;SSS&gt;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00003</a:t>
                      </a:r>
                      <a:endParaRPr lang="ru-RU" sz="11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Кузнецов В.В.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&lt;NNN&gt;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00004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Сидоров Г.Г.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&lt;HHH&gt;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00005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 err="1">
                          <a:solidFill>
                            <a:schemeClr val="tx1"/>
                          </a:solidFill>
                        </a:rPr>
                        <a:t>Виснольд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 А.В.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pPr algn="ctr"/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Прямоугольник 6"/>
          <p:cNvSpPr/>
          <p:nvPr/>
        </p:nvSpPr>
        <p:spPr>
          <a:xfrm>
            <a:off x="4800600" y="3943920"/>
            <a:ext cx="985838" cy="198794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01613" y="3501008"/>
            <a:ext cx="18573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Контрагенты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43438" y="3501008"/>
            <a:ext cx="43286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</a:rPr>
              <a:t>Контактные лица</a:t>
            </a:r>
            <a:endParaRPr lang="ru-RU" spc="300" dirty="0">
              <a:solidFill>
                <a:srgbClr val="00642D"/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869" y="1281683"/>
            <a:ext cx="4762500" cy="221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5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Несколько владельцев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147029"/>
              </p:ext>
            </p:extLst>
          </p:nvPr>
        </p:nvGraphicFramePr>
        <p:xfrm>
          <a:off x="357188" y="2311872"/>
          <a:ext cx="4071937" cy="16192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2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699" marB="4569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Иванов Б.</a:t>
                      </a:r>
                      <a:r>
                        <a:rPr lang="ru-RU" sz="1400" baseline="0" dirty="0"/>
                        <a:t> А.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699" marB="45699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Петров В. С.</a:t>
                      </a:r>
                    </a:p>
                  </a:txBody>
                  <a:tcPr marL="91439" marR="91439" marT="45699" marB="45699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3050" y="1941985"/>
            <a:ext cx="2274888" cy="338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spc="300" dirty="0">
                <a:solidFill>
                  <a:srgbClr val="00642D"/>
                </a:solidFill>
                <a:latin typeface="+mn-lt"/>
              </a:rPr>
              <a:t>Физические лица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2576604"/>
              </p:ext>
            </p:extLst>
          </p:nvPr>
        </p:nvGraphicFramePr>
        <p:xfrm>
          <a:off x="357188" y="4474047"/>
          <a:ext cx="4071937" cy="16192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2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4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9750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699" marB="45699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699" marB="45699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&lt;CCC&gt;</a:t>
                      </a:r>
                      <a:endParaRPr lang="ru-RU" sz="1400" b="1" dirty="0">
                        <a:solidFill>
                          <a:srgbClr val="7030A0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</a:t>
                      </a:r>
                      <a:r>
                        <a:rPr lang="ru-RU" sz="1400" baseline="0" dirty="0"/>
                        <a:t> «</a:t>
                      </a:r>
                      <a:r>
                        <a:rPr lang="ru-RU" sz="1400" dirty="0"/>
                        <a:t>Лента»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642D"/>
                          </a:solidFill>
                        </a:rPr>
                        <a:t>&lt;DDD&gt;</a:t>
                      </a:r>
                      <a:endParaRPr lang="ru-RU" sz="1400" b="1" dirty="0">
                        <a:solidFill>
                          <a:srgbClr val="00642D"/>
                        </a:solidFill>
                      </a:endParaRPr>
                    </a:p>
                  </a:txBody>
                  <a:tcPr marL="91439" marR="91439" marT="45699" marB="45699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699" marB="45699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«ОКЕЙ»</a:t>
                      </a:r>
                    </a:p>
                  </a:txBody>
                  <a:tcPr marL="91439" marR="91439" marT="45699" marB="45699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833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9" marB="45699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3050" y="4085110"/>
            <a:ext cx="2486025" cy="338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spc="300" dirty="0">
                <a:solidFill>
                  <a:srgbClr val="00642D"/>
                </a:solidFill>
                <a:latin typeface="+mn-lt"/>
              </a:rPr>
              <a:t>Юридические лица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6885009"/>
              </p:ext>
            </p:extLst>
          </p:nvPr>
        </p:nvGraphicFramePr>
        <p:xfrm>
          <a:off x="4857750" y="2311872"/>
          <a:ext cx="3929062" cy="377984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792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4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9977">
                <a:tc>
                  <a:txBody>
                    <a:bodyPr/>
                    <a:lstStyle/>
                    <a:p>
                      <a:r>
                        <a:rPr lang="ru-RU" sz="1600" dirty="0"/>
                        <a:t>Владелец</a:t>
                      </a:r>
                    </a:p>
                  </a:txBody>
                  <a:tcPr marL="91439" marR="91439" marT="45718" marB="45718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718" marB="45718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Наименование</a:t>
                      </a:r>
                    </a:p>
                  </a:txBody>
                  <a:tcPr marL="91439" marR="91439" marT="45718" marB="45718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…</a:t>
                      </a:r>
                      <a:endParaRPr lang="ru-RU" sz="1400" dirty="0"/>
                    </a:p>
                  </a:txBody>
                  <a:tcPr marL="91439" marR="91439" marT="45718" marB="4571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00001</a:t>
                      </a:r>
                      <a:endParaRPr lang="ru-RU" sz="1200" dirty="0"/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00002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00003</a:t>
                      </a:r>
                      <a:endParaRPr lang="ru-RU" sz="1200" dirty="0"/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00004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00005</a:t>
                      </a:r>
                      <a:endParaRPr lang="ru-RU" sz="12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7030A0"/>
                          </a:solidFill>
                        </a:rPr>
                        <a:t>&lt;CCC&gt;</a:t>
                      </a:r>
                      <a:endParaRPr lang="ru-RU" sz="1400" b="1" dirty="0">
                        <a:solidFill>
                          <a:srgbClr val="7030A0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00006</a:t>
                      </a:r>
                    </a:p>
                  </a:txBody>
                  <a:tcPr marL="91439" marR="91439" marT="45718" marB="45718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642D"/>
                          </a:solidFill>
                        </a:rPr>
                        <a:t>&lt;DDD&gt;</a:t>
                      </a:r>
                      <a:endParaRPr lang="ru-RU" sz="1400" b="1" dirty="0">
                        <a:solidFill>
                          <a:srgbClr val="00642D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00007</a:t>
                      </a: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642D"/>
                          </a:solidFill>
                        </a:rPr>
                        <a:t>&lt;DDD&gt;</a:t>
                      </a:r>
                      <a:endParaRPr lang="ru-RU" sz="1400" b="1" dirty="0">
                        <a:solidFill>
                          <a:srgbClr val="00642D"/>
                        </a:solidFill>
                      </a:endParaRP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00008</a:t>
                      </a: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985">
                <a:tc>
                  <a:txBody>
                    <a:bodyPr/>
                    <a:lstStyle/>
                    <a:p>
                      <a:pPr algn="l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18" marB="45718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786313" y="1941985"/>
            <a:ext cx="1358900" cy="33813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600" spc="300" dirty="0">
                <a:solidFill>
                  <a:srgbClr val="00642D"/>
                </a:solidFill>
                <a:latin typeface="+mn-lt"/>
              </a:rPr>
              <a:t>Договоры</a:t>
            </a:r>
          </a:p>
        </p:txBody>
      </p:sp>
    </p:spTree>
    <p:extLst>
      <p:ext uri="{BB962C8B-B14F-4D97-AF65-F5344CB8AC3E}">
        <p14:creationId xmlns:p14="http://schemas.microsoft.com/office/powerpoint/2010/main" val="182108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Заголовок 1"/>
          <p:cNvSpPr>
            <a:spLocks noGrp="1"/>
          </p:cNvSpPr>
          <p:nvPr>
            <p:ph type="title"/>
          </p:nvPr>
        </p:nvSpPr>
        <p:spPr>
          <a:xfrm>
            <a:off x="201612" y="565777"/>
            <a:ext cx="8762875" cy="702983"/>
          </a:xfrm>
        </p:spPr>
        <p:txBody>
          <a:bodyPr/>
          <a:lstStyle/>
          <a:p>
            <a:r>
              <a:rPr lang="ru-RU" dirty="0"/>
              <a:t>Подчиненный справочник или ТЧ?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3278805"/>
              </p:ext>
            </p:extLst>
          </p:nvPr>
        </p:nvGraphicFramePr>
        <p:xfrm>
          <a:off x="285750" y="3086323"/>
          <a:ext cx="4071939" cy="141797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5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71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9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Код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Наименование</a:t>
                      </a:r>
                    </a:p>
                  </a:txBody>
                  <a:tcPr marL="91439" marR="91439" marT="45695" marB="45695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marL="91439" marR="91439" marT="45695" marB="4569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ЗАО «Юг»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636"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695" marB="4569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01613" y="2657698"/>
            <a:ext cx="18573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Контрагенты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3438" y="3800698"/>
            <a:ext cx="31337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б) </a:t>
            </a:r>
            <a:r>
              <a:rPr lang="ru-RU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Подчиненный справочник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438" y="1052736"/>
            <a:ext cx="2122487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pc="300" dirty="0">
                <a:solidFill>
                  <a:srgbClr val="00642D"/>
                </a:solidFill>
                <a:latin typeface="+mn-lt"/>
              </a:rPr>
              <a:t>а) </a:t>
            </a:r>
            <a:r>
              <a:rPr lang="ru-RU" dirty="0">
                <a:solidFill>
                  <a:schemeClr val="bg1">
                    <a:lumMod val="50000"/>
                  </a:schemeClr>
                </a:solidFill>
                <a:latin typeface="+mn-lt"/>
              </a:rPr>
              <a:t>Табличная часть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751016"/>
              </p:ext>
            </p:extLst>
          </p:nvPr>
        </p:nvGraphicFramePr>
        <p:xfrm>
          <a:off x="4786313" y="4226990"/>
          <a:ext cx="4178173" cy="202768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62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62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6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1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3835">
                <a:tc>
                  <a:txBody>
                    <a:bodyPr/>
                    <a:lstStyle/>
                    <a:p>
                      <a:r>
                        <a:rPr lang="ru-RU" sz="1200" dirty="0"/>
                        <a:t>Владелец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Ссылка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Код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…</a:t>
                      </a:r>
                      <a:endParaRPr lang="ru-RU" sz="1400" dirty="0"/>
                    </a:p>
                  </a:txBody>
                  <a:tcPr marL="91439" marR="91439" marT="45705" marB="4570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&lt;ZZZ&gt;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00001</a:t>
                      </a:r>
                      <a:endParaRPr lang="ru-RU" sz="1100" dirty="0"/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Иванов А.А.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&lt;XXX&gt;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00002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Петров Б.Б.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&lt;SSS&gt;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00003</a:t>
                      </a:r>
                      <a:endParaRPr lang="ru-RU" sz="11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Кузнецов В.В.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&lt;NNN&gt;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00004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Сидоров Г.Г.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&lt;HHH&gt;</a:t>
                      </a:r>
                      <a:endParaRPr lang="ru-RU" sz="1400" dirty="0"/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00005</a:t>
                      </a:r>
                      <a:endParaRPr lang="ru-RU" sz="1100" dirty="0">
                        <a:solidFill>
                          <a:schemeClr val="tx1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 err="1">
                          <a:solidFill>
                            <a:schemeClr val="tx1"/>
                          </a:solidFill>
                        </a:rPr>
                        <a:t>Виснольд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 А.В.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1" name="Таблица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179796"/>
              </p:ext>
            </p:extLst>
          </p:nvPr>
        </p:nvGraphicFramePr>
        <p:xfrm>
          <a:off x="4860032" y="1454910"/>
          <a:ext cx="3816424" cy="202768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0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04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0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835">
                <a:tc>
                  <a:txBody>
                    <a:bodyPr/>
                    <a:lstStyle/>
                    <a:p>
                      <a:r>
                        <a:rPr lang="ru-RU" sz="1200" dirty="0"/>
                        <a:t>Ссылка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Номер строки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Наименование</a:t>
                      </a:r>
                    </a:p>
                  </a:txBody>
                  <a:tcPr marL="91439" marR="91439" marT="45705" marB="4570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…</a:t>
                      </a:r>
                      <a:endParaRPr lang="ru-RU" sz="1400" dirty="0"/>
                    </a:p>
                  </a:txBody>
                  <a:tcPr marL="91439" marR="91439" marT="45705" marB="4570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Иванов А.А.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Петров Б.Б.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Кузнецов В.В.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Сидоров Г.Г.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700"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 err="1">
                          <a:solidFill>
                            <a:schemeClr val="tx1"/>
                          </a:solidFill>
                        </a:rPr>
                        <a:t>Виснольд</a:t>
                      </a:r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 А.В.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marL="91439" marR="91439" marT="45705" marB="45705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156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0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Фиксация событий, изменяющих состояния объектов учета, их количество, взаимоотношения и т.п.</a:t>
            </a:r>
          </a:p>
          <a:p>
            <a:pPr lvl="1"/>
            <a:r>
              <a:rPr lang="ru-RU" dirty="0"/>
              <a:t>Поступление и отгрузка товаров</a:t>
            </a:r>
          </a:p>
          <a:p>
            <a:pPr lvl="1"/>
            <a:r>
              <a:rPr lang="ru-RU" dirty="0"/>
              <a:t>Прием и увольнение сотрудников</a:t>
            </a:r>
          </a:p>
          <a:p>
            <a:pPr lvl="1"/>
            <a:r>
              <a:rPr lang="ru-RU" dirty="0"/>
              <a:t>Получение денег и оплаты</a:t>
            </a:r>
          </a:p>
          <a:p>
            <a:pPr lvl="1"/>
            <a:r>
              <a:rPr lang="ru-RU" dirty="0"/>
              <a:t>…</a:t>
            </a:r>
          </a:p>
          <a:p>
            <a:pPr lvl="1"/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Документы</a:t>
            </a:r>
          </a:p>
        </p:txBody>
      </p:sp>
    </p:spTree>
    <p:extLst>
      <p:ext uri="{BB962C8B-B14F-4D97-AF65-F5344CB8AC3E}">
        <p14:creationId xmlns:p14="http://schemas.microsoft.com/office/powerpoint/2010/main" val="276541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75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25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Документ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700807"/>
            <a:ext cx="7948593" cy="4069313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1203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Реквизиты и табличные части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2348880"/>
            <a:ext cx="2009775" cy="328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Стрелка вправо 2"/>
          <p:cNvSpPr/>
          <p:nvPr/>
        </p:nvSpPr>
        <p:spPr>
          <a:xfrm>
            <a:off x="2555776" y="3573016"/>
            <a:ext cx="864096" cy="57606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2571" y="2348880"/>
            <a:ext cx="5400600" cy="283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88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Проведение документа</a:t>
            </a:r>
          </a:p>
        </p:txBody>
      </p:sp>
      <p:grpSp>
        <p:nvGrpSpPr>
          <p:cNvPr id="25" name="Группа 24"/>
          <p:cNvGrpSpPr/>
          <p:nvPr/>
        </p:nvGrpSpPr>
        <p:grpSpPr>
          <a:xfrm>
            <a:off x="1035819" y="5079658"/>
            <a:ext cx="2571768" cy="940836"/>
            <a:chOff x="1034962" y="4929198"/>
            <a:chExt cx="2571768" cy="940836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1034962" y="5500702"/>
              <a:ext cx="2571768" cy="369332"/>
              <a:chOff x="857224" y="5500702"/>
              <a:chExt cx="2571768" cy="369332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857224" y="5500702"/>
                <a:ext cx="8402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>
                    <a:solidFill>
                      <a:schemeClr val="tx1">
                        <a:lumMod val="50000"/>
                        <a:lumOff val="50000"/>
                      </a:schemeClr>
                    </a:solidFill>
                  </a:rPr>
                  <a:t>Новый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2447633" y="5500702"/>
                <a:ext cx="9813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dirty="0"/>
                  <a:t>Записан</a:t>
                </a:r>
              </a:p>
            </p:txBody>
          </p:sp>
        </p:grpSp>
        <p:grpSp>
          <p:nvGrpSpPr>
            <p:cNvPr id="21" name="Группа 20"/>
            <p:cNvGrpSpPr/>
            <p:nvPr/>
          </p:nvGrpSpPr>
          <p:grpSpPr>
            <a:xfrm>
              <a:off x="1642185" y="4929198"/>
              <a:ext cx="1357322" cy="428628"/>
              <a:chOff x="1428728" y="4929198"/>
              <a:chExt cx="1357322" cy="428628"/>
            </a:xfrm>
          </p:grpSpPr>
          <p:cxnSp>
            <p:nvCxnSpPr>
              <p:cNvPr id="10" name="Прямая со стрелкой 9"/>
              <p:cNvCxnSpPr/>
              <p:nvPr/>
            </p:nvCxnSpPr>
            <p:spPr>
              <a:xfrm rot="10800000" flipV="1">
                <a:off x="1428728" y="4929198"/>
                <a:ext cx="500066" cy="42862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Прямая со стрелкой 10"/>
              <p:cNvCxnSpPr/>
              <p:nvPr/>
            </p:nvCxnSpPr>
            <p:spPr>
              <a:xfrm rot="10800000" flipH="1" flipV="1">
                <a:off x="2285984" y="4929198"/>
                <a:ext cx="500066" cy="428628"/>
              </a:xfrm>
              <a:prstGeom prst="straightConnector1">
                <a:avLst/>
              </a:prstGeom>
              <a:ln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41" name="Соединительная линия уступом 40"/>
          <p:cNvCxnSpPr>
            <a:stCxn id="7" idx="2"/>
            <a:endCxn id="8" idx="2"/>
          </p:cNvCxnSpPr>
          <p:nvPr/>
        </p:nvCxnSpPr>
        <p:spPr>
          <a:xfrm rot="16200000" flipH="1">
            <a:off x="2286437" y="5190023"/>
            <a:ext cx="1588" cy="1660941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grpSp>
        <p:nvGrpSpPr>
          <p:cNvPr id="24" name="Группа 23"/>
          <p:cNvGrpSpPr/>
          <p:nvPr/>
        </p:nvGrpSpPr>
        <p:grpSpPr>
          <a:xfrm>
            <a:off x="4911085" y="5079658"/>
            <a:ext cx="3831274" cy="940836"/>
            <a:chOff x="5072066" y="4929198"/>
            <a:chExt cx="3831274" cy="940836"/>
          </a:xfrm>
        </p:grpSpPr>
        <p:sp>
          <p:nvSpPr>
            <p:cNvPr id="13" name="TextBox 12"/>
            <p:cNvSpPr txBox="1"/>
            <p:nvPr/>
          </p:nvSpPr>
          <p:spPr>
            <a:xfrm>
              <a:off x="5072066" y="5500702"/>
              <a:ext cx="8402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Новый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725196" y="5500702"/>
              <a:ext cx="11781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ru-RU" b="1" dirty="0">
                  <a:solidFill>
                    <a:srgbClr val="00B050"/>
                  </a:solidFill>
                </a:rPr>
                <a:t>Проведен</a:t>
              </a:r>
            </a:p>
          </p:txBody>
        </p:sp>
        <p:cxnSp>
          <p:nvCxnSpPr>
            <p:cNvPr id="15" name="Прямая со стрелкой 14"/>
            <p:cNvCxnSpPr/>
            <p:nvPr/>
          </p:nvCxnSpPr>
          <p:spPr>
            <a:xfrm rot="10800000" flipV="1">
              <a:off x="5786447" y="4929198"/>
              <a:ext cx="500066" cy="42862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 rot="10800000" flipH="1" flipV="1">
              <a:off x="7358082" y="4929198"/>
              <a:ext cx="500066" cy="42862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Прямая со стрелкой 17"/>
            <p:cNvCxnSpPr/>
            <p:nvPr/>
          </p:nvCxnSpPr>
          <p:spPr>
            <a:xfrm rot="5400000">
              <a:off x="6608777" y="5142718"/>
              <a:ext cx="428628" cy="1588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6332523" y="5500702"/>
              <a:ext cx="98135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dirty="0"/>
                <a:t>Записан</a:t>
              </a:r>
            </a:p>
          </p:txBody>
        </p:sp>
      </p:grpSp>
      <p:cxnSp>
        <p:nvCxnSpPr>
          <p:cNvPr id="43" name="Соединительная линия уступом 42"/>
          <p:cNvCxnSpPr/>
          <p:nvPr/>
        </p:nvCxnSpPr>
        <p:spPr>
          <a:xfrm rot="16200000" flipH="1">
            <a:off x="5932758" y="5417493"/>
            <a:ext cx="1588" cy="1206000"/>
          </a:xfrm>
          <a:prstGeom prst="bentConnector3">
            <a:avLst>
              <a:gd name="adj1" fmla="val 14395466"/>
            </a:avLst>
          </a:prstGeom>
          <a:ln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5" name="Соединительная линия уступом 44"/>
          <p:cNvCxnSpPr/>
          <p:nvPr/>
        </p:nvCxnSpPr>
        <p:spPr>
          <a:xfrm rot="16200000" flipH="1">
            <a:off x="7469917" y="5345493"/>
            <a:ext cx="1588" cy="1350000"/>
          </a:xfrm>
          <a:prstGeom prst="bentConnector3">
            <a:avLst>
              <a:gd name="adj1" fmla="val 14395466"/>
            </a:avLst>
          </a:prstGeom>
          <a:ln>
            <a:headEnd type="arrow"/>
            <a:tailEnd type="arrow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589" y="1556792"/>
            <a:ext cx="3551670" cy="324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085" y="1556792"/>
            <a:ext cx="3542400" cy="324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0819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32347"/>
            <a:ext cx="8784976" cy="782311"/>
          </a:xfrm>
        </p:spPr>
        <p:txBody>
          <a:bodyPr/>
          <a:lstStyle/>
          <a:p>
            <a:r>
              <a:rPr lang="ru-RU" dirty="0"/>
              <a:t>Таблицы документа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58" y="1052736"/>
            <a:ext cx="6700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pc="300" dirty="0">
                <a:solidFill>
                  <a:srgbClr val="00642D"/>
                </a:solidFill>
              </a:rPr>
              <a:t>Основная таблица документа (Таблица «шапки»)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568576"/>
              </p:ext>
            </p:extLst>
          </p:nvPr>
        </p:nvGraphicFramePr>
        <p:xfrm>
          <a:off x="428596" y="1493506"/>
          <a:ext cx="8286809" cy="1663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190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5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2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2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40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405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452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r>
                        <a:rPr lang="ru-RU" sz="1600" dirty="0"/>
                        <a:t>Проведен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Пометка</a:t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Удаления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Номер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Поставщик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Склад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Истина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Ложь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00001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16.02.2013</a:t>
                      </a:r>
                      <a:r>
                        <a:rPr lang="ru-RU" sz="1100" baseline="0" dirty="0"/>
                        <a:t> </a:t>
                      </a:r>
                      <a:r>
                        <a:rPr lang="ru-RU" sz="11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16:30:00</a:t>
                      </a:r>
                      <a:endParaRPr lang="ru-RU" sz="11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dirty="0">
                          <a:solidFill>
                            <a:schemeClr val="tx1"/>
                          </a:solidFill>
                        </a:rPr>
                        <a:t>ЗАО «Лето»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Склад во Мге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Ложь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Ложь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00002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100" dirty="0"/>
                        <a:t>16.02.2013</a:t>
                      </a:r>
                      <a:r>
                        <a:rPr lang="ru-RU" sz="1100" baseline="0" dirty="0"/>
                        <a:t> </a:t>
                      </a:r>
                      <a:r>
                        <a:rPr lang="ru-RU" sz="11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16:45:20</a:t>
                      </a:r>
                      <a:endParaRPr lang="ru-RU" sz="11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ООО «Север»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Склад</a:t>
                      </a:r>
                      <a:r>
                        <a:rPr lang="ru-RU" sz="1400" baseline="0" dirty="0"/>
                        <a:t> в Луге</a:t>
                      </a:r>
                      <a:endParaRPr lang="ru-R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57158" y="3284984"/>
            <a:ext cx="35514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pc="300" dirty="0">
                <a:solidFill>
                  <a:srgbClr val="00642D"/>
                </a:solidFill>
              </a:rPr>
              <a:t>Таблица табличной части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584967"/>
              </p:ext>
            </p:extLst>
          </p:nvPr>
        </p:nvGraphicFramePr>
        <p:xfrm>
          <a:off x="428401" y="3725754"/>
          <a:ext cx="8287006" cy="24190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111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1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161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61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61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61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r>
                        <a:rPr lang="ru-RU" sz="1600" dirty="0"/>
                        <a:t>Ссылка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200" dirty="0"/>
                        <a:t>Номер</a:t>
                      </a:r>
                      <a:br>
                        <a:rPr lang="ru-RU" sz="1200" dirty="0"/>
                      </a:br>
                      <a:r>
                        <a:rPr lang="ru-RU" sz="1200" dirty="0"/>
                        <a:t>Строки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Товар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Количество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Цена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Сумма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Картофель</a:t>
                      </a:r>
                      <a:endParaRPr lang="ru-RU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50</a:t>
                      </a:r>
                      <a:endParaRPr lang="ru-RU" sz="14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1000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Брюква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40</a:t>
                      </a:r>
                      <a:endParaRPr lang="ru-RU" sz="14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1200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</a:rPr>
                        <a:t>&lt;AAA&gt;</a:t>
                      </a:r>
                      <a:endParaRPr lang="ru-RU" sz="1400" b="1" dirty="0">
                        <a:solidFill>
                          <a:srgbClr val="C00000"/>
                        </a:solidFill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Свекла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35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350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Яблоки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8000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rgbClr val="0070C0"/>
                          </a:solidFill>
                        </a:rPr>
                        <a:t>&lt;BBB&gt;</a:t>
                      </a:r>
                      <a:endParaRPr lang="ru-RU" sz="1400" b="1" dirty="0">
                        <a:solidFill>
                          <a:srgbClr val="0070C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Груши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2500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  <a:endParaRPr lang="ru-RU" sz="11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438150" y="1503998"/>
            <a:ext cx="4853930" cy="1644649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34974" y="3717032"/>
            <a:ext cx="2216151" cy="240347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733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6" presetClass="emph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9" grpId="0" animBg="1"/>
      <p:bldP spid="9" grpId="1" animBg="1"/>
      <p:bldP spid="10" grpId="0" animBg="1"/>
      <p:bldP spid="10" grpId="1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Приём на работу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" y="1120775"/>
            <a:ext cx="9107622" cy="248992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3501008"/>
            <a:ext cx="6838095" cy="27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288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Увольнение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8734"/>
            <a:ext cx="9069258" cy="271984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1" y="3573016"/>
            <a:ext cx="6857143" cy="2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23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Журнал документов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095" y="1586143"/>
            <a:ext cx="7123809" cy="3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588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Нумератор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1524000" y="2204864"/>
          <a:ext cx="6096000" cy="34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800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/>
                        <a:t>До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/>
                        <a:t>После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 marR="79200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B050"/>
                          </a:solidFill>
                        </a:rPr>
                        <a:t>1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 marR="79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 marR="79200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B050"/>
                          </a:solidFill>
                        </a:rPr>
                        <a:t>2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 marR="79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r"/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Увольнение № </a:t>
                      </a:r>
                      <a:r>
                        <a:rPr lang="ru-RU" sz="2400" b="1" dirty="0">
                          <a:solidFill>
                            <a:srgbClr val="C00000"/>
                          </a:solidFill>
                        </a:rPr>
                        <a:t>1</a:t>
                      </a:r>
                      <a:endParaRPr lang="ru-RU" b="1" dirty="0">
                        <a:solidFill>
                          <a:srgbClr val="C00000"/>
                        </a:solidFill>
                      </a:endParaRPr>
                    </a:p>
                  </a:txBody>
                  <a:tcPr marR="792000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Увольнение № </a:t>
                      </a:r>
                      <a:r>
                        <a:rPr lang="ru-RU" sz="2400" b="1" dirty="0">
                          <a:solidFill>
                            <a:srgbClr val="00B050"/>
                          </a:solidFill>
                        </a:rPr>
                        <a:t>3</a:t>
                      </a:r>
                    </a:p>
                  </a:txBody>
                  <a:tcPr marR="79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  <a:endParaRPr lang="ru-RU" b="1" dirty="0">
                        <a:solidFill>
                          <a:srgbClr val="0070C0"/>
                        </a:solidFill>
                      </a:endParaRPr>
                    </a:p>
                  </a:txBody>
                  <a:tcPr marR="792000"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Приём № </a:t>
                      </a:r>
                      <a:r>
                        <a:rPr lang="ru-RU" sz="2400" b="1" dirty="0">
                          <a:solidFill>
                            <a:srgbClr val="00B050"/>
                          </a:solidFill>
                        </a:rPr>
                        <a:t>4</a:t>
                      </a:r>
                    </a:p>
                  </a:txBody>
                  <a:tcPr marR="79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Увольнение № </a:t>
                      </a:r>
                      <a:r>
                        <a:rPr lang="ru-RU" sz="2400" b="1" dirty="0">
                          <a:solidFill>
                            <a:srgbClr val="C00000"/>
                          </a:solidFill>
                        </a:rPr>
                        <a:t>2</a:t>
                      </a:r>
                      <a:endParaRPr lang="ru-RU" b="1" dirty="0">
                        <a:solidFill>
                          <a:srgbClr val="C00000"/>
                        </a:solidFill>
                      </a:endParaRPr>
                    </a:p>
                  </a:txBody>
                  <a:tcPr marR="792000"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Увольнение № </a:t>
                      </a:r>
                      <a:r>
                        <a:rPr lang="ru-RU" sz="2400" b="1" dirty="0">
                          <a:solidFill>
                            <a:srgbClr val="00B050"/>
                          </a:solidFill>
                        </a:rPr>
                        <a:t>5</a:t>
                      </a:r>
                      <a:endParaRPr lang="ru-RU" b="1" dirty="0">
                        <a:solidFill>
                          <a:srgbClr val="00B050"/>
                        </a:solidFill>
                      </a:endParaRPr>
                    </a:p>
                  </a:txBody>
                  <a:tcPr marR="792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/>
                      <a:r>
                        <a:rPr lang="ru-RU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6091837"/>
      </p:ext>
    </p:extLst>
  </p:cSld>
  <p:clrMapOvr>
    <a:masterClrMapping/>
  </p:clrMapOvr>
</p:sld>
</file>

<file path=ppt/theme/theme1.xml><?xml version="1.0" encoding="utf-8"?>
<a:theme xmlns:a="http://schemas.openxmlformats.org/drawingml/2006/main" name="СофтБаланс_основные_объекты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сновные_объекты" id="{62BD0483-928A-448D-BBAD-621E3072F039}" vid="{487075A3-1F89-4279-8755-8EA96074D5C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СофтБаланс_основные_объекты</Template>
  <TotalTime>3350</TotalTime>
  <Words>1129</Words>
  <Application>Microsoft Office PowerPoint</Application>
  <PresentationFormat>Экран (4:3)</PresentationFormat>
  <Paragraphs>618</Paragraphs>
  <Slides>39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6" baseType="lpstr">
      <vt:lpstr>Arial</vt:lpstr>
      <vt:lpstr>Arial Black</vt:lpstr>
      <vt:lpstr>Calibri</vt:lpstr>
      <vt:lpstr>Tahoma</vt:lpstr>
      <vt:lpstr>Verdana</vt:lpstr>
      <vt:lpstr>Wingdings</vt:lpstr>
      <vt:lpstr>СофтБаланс_основные_объекты</vt:lpstr>
      <vt:lpstr>Занятие 2</vt:lpstr>
      <vt:lpstr>Концепция системы</vt:lpstr>
      <vt:lpstr>Справочники</vt:lpstr>
      <vt:lpstr>Валюты</vt:lpstr>
      <vt:lpstr>Поля справочника</vt:lpstr>
      <vt:lpstr>Контрагенты</vt:lpstr>
      <vt:lpstr>Уникальные идентификаторы</vt:lpstr>
      <vt:lpstr>Реквизиты ссылочного типа</vt:lpstr>
      <vt:lpstr>Пометка удаления</vt:lpstr>
      <vt:lpstr>Иерархические справочники</vt:lpstr>
      <vt:lpstr>2 вида иерархии</vt:lpstr>
      <vt:lpstr>Группы контрагентов</vt:lpstr>
      <vt:lpstr>Структура таблицы иерархического справочника (иерархия групп и элементов)</vt:lpstr>
      <vt:lpstr>Подразделения</vt:lpstr>
      <vt:lpstr>Структура таблицы иерархического справочника (Иерархия элементов)</vt:lpstr>
      <vt:lpstr>Сотрудники</vt:lpstr>
      <vt:lpstr>Сотрудники</vt:lpstr>
      <vt:lpstr>Реквизит «Пол»</vt:lpstr>
      <vt:lpstr>Перечисления</vt:lpstr>
      <vt:lpstr>                  Перечисления</vt:lpstr>
      <vt:lpstr>Ссылки на значения перечислений</vt:lpstr>
      <vt:lpstr>Трудовая книжка</vt:lpstr>
      <vt:lpstr>Табличная часть справочника</vt:lpstr>
      <vt:lpstr>Стандартные реквизиты</vt:lpstr>
      <vt:lpstr>Стандартные реквизиты</vt:lpstr>
      <vt:lpstr>Внешний вид</vt:lpstr>
      <vt:lpstr>Контактные лица</vt:lpstr>
      <vt:lpstr>Подчиненные справочники</vt:lpstr>
      <vt:lpstr>Несколько владельцев</vt:lpstr>
      <vt:lpstr>Подчиненный справочник или ТЧ?</vt:lpstr>
      <vt:lpstr>Документы</vt:lpstr>
      <vt:lpstr>Документ</vt:lpstr>
      <vt:lpstr>Реквизиты и табличные части</vt:lpstr>
      <vt:lpstr>Проведение документа</vt:lpstr>
      <vt:lpstr>Таблицы документа</vt:lpstr>
      <vt:lpstr>Приём на работу</vt:lpstr>
      <vt:lpstr>Увольнение</vt:lpstr>
      <vt:lpstr>Журнал документов</vt:lpstr>
      <vt:lpstr>Нумератор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 занятие</dc:title>
  <dc:creator>Сергей</dc:creator>
  <cp:lastModifiedBy>eugeniy sizov</cp:lastModifiedBy>
  <cp:revision>105</cp:revision>
  <dcterms:created xsi:type="dcterms:W3CDTF">2010-10-13T10:38:25Z</dcterms:created>
  <dcterms:modified xsi:type="dcterms:W3CDTF">2020-02-17T17:06:29Z</dcterms:modified>
</cp:coreProperties>
</file>