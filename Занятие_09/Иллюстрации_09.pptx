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57"/>
  </p:notesMasterIdLst>
  <p:sldIdLst>
    <p:sldId id="409" r:id="rId2"/>
    <p:sldId id="410" r:id="rId3"/>
    <p:sldId id="411" r:id="rId4"/>
    <p:sldId id="412" r:id="rId5"/>
    <p:sldId id="413" r:id="rId6"/>
    <p:sldId id="414" r:id="rId7"/>
    <p:sldId id="415" r:id="rId8"/>
    <p:sldId id="446" r:id="rId9"/>
    <p:sldId id="459" r:id="rId10"/>
    <p:sldId id="404" r:id="rId11"/>
    <p:sldId id="454" r:id="rId12"/>
    <p:sldId id="471" r:id="rId13"/>
    <p:sldId id="455" r:id="rId14"/>
    <p:sldId id="456" r:id="rId15"/>
    <p:sldId id="457" r:id="rId16"/>
    <p:sldId id="470" r:id="rId17"/>
    <p:sldId id="458" r:id="rId18"/>
    <p:sldId id="460" r:id="rId19"/>
    <p:sldId id="461" r:id="rId20"/>
    <p:sldId id="472" r:id="rId21"/>
    <p:sldId id="463" r:id="rId22"/>
    <p:sldId id="462" r:id="rId23"/>
    <p:sldId id="464" r:id="rId24"/>
    <p:sldId id="473" r:id="rId25"/>
    <p:sldId id="467" r:id="rId26"/>
    <p:sldId id="465" r:id="rId27"/>
    <p:sldId id="466" r:id="rId28"/>
    <p:sldId id="468" r:id="rId29"/>
    <p:sldId id="469" r:id="rId30"/>
    <p:sldId id="432" r:id="rId31"/>
    <p:sldId id="433" r:id="rId32"/>
    <p:sldId id="428" r:id="rId33"/>
    <p:sldId id="435" r:id="rId34"/>
    <p:sldId id="436" r:id="rId35"/>
    <p:sldId id="437" r:id="rId36"/>
    <p:sldId id="438" r:id="rId37"/>
    <p:sldId id="439" r:id="rId38"/>
    <p:sldId id="440" r:id="rId39"/>
    <p:sldId id="441" r:id="rId40"/>
    <p:sldId id="442" r:id="rId41"/>
    <p:sldId id="443" r:id="rId42"/>
    <p:sldId id="444" r:id="rId43"/>
    <p:sldId id="445" r:id="rId44"/>
    <p:sldId id="416" r:id="rId45"/>
    <p:sldId id="417" r:id="rId46"/>
    <p:sldId id="418" r:id="rId47"/>
    <p:sldId id="419" r:id="rId48"/>
    <p:sldId id="420" r:id="rId49"/>
    <p:sldId id="421" r:id="rId50"/>
    <p:sldId id="422" r:id="rId51"/>
    <p:sldId id="423" r:id="rId52"/>
    <p:sldId id="424" r:id="rId53"/>
    <p:sldId id="425" r:id="rId54"/>
    <p:sldId id="426" r:id="rId55"/>
    <p:sldId id="427" r:id="rId5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2" y="12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87E35DC2-5F78-440D-A217-389DD55234A1}"/>
    <pc:docChg chg="modSld">
      <pc:chgData name="eugeniy sizov" userId="f166da1dfb7bc990" providerId="LiveId" clId="{87E35DC2-5F78-440D-A217-389DD55234A1}" dt="2019-04-19T09:29:54.507" v="7" actId="20577"/>
      <pc:docMkLst>
        <pc:docMk/>
      </pc:docMkLst>
      <pc:sldChg chg="modSp">
        <pc:chgData name="eugeniy sizov" userId="f166da1dfb7bc990" providerId="LiveId" clId="{87E35DC2-5F78-440D-A217-389DD55234A1}" dt="2019-04-19T09:29:54.507" v="7" actId="20577"/>
        <pc:sldMkLst>
          <pc:docMk/>
          <pc:sldMk cId="2527796716" sldId="439"/>
        </pc:sldMkLst>
        <pc:graphicFrameChg chg="modGraphic">
          <ac:chgData name="eugeniy sizov" userId="f166da1dfb7bc990" providerId="LiveId" clId="{87E35DC2-5F78-440D-A217-389DD55234A1}" dt="2019-04-19T09:29:48.445" v="3" actId="20577"/>
          <ac:graphicFrameMkLst>
            <pc:docMk/>
            <pc:sldMk cId="2527796716" sldId="439"/>
            <ac:graphicFrameMk id="3" creationId="{00000000-0000-0000-0000-000000000000}"/>
          </ac:graphicFrameMkLst>
        </pc:graphicFrameChg>
        <pc:graphicFrameChg chg="modGraphic">
          <ac:chgData name="eugeniy sizov" userId="f166da1dfb7bc990" providerId="LiveId" clId="{87E35DC2-5F78-440D-A217-389DD55234A1}" dt="2019-04-19T09:29:54.507" v="7" actId="20577"/>
          <ac:graphicFrameMkLst>
            <pc:docMk/>
            <pc:sldMk cId="2527796716" sldId="439"/>
            <ac:graphicFrameMk id="8" creationId="{00000000-0000-0000-0000-000000000000}"/>
          </ac:graphicFrameMkLst>
        </pc:graphicFrameChg>
      </pc:sldChg>
    </pc:docChg>
  </pc:docChgLst>
  <pc:docChgLst>
    <pc:chgData name="eugeniy sizov" userId="f166da1dfb7bc990" providerId="LiveId" clId="{DAB4D7BD-CC5E-4B4E-BC0C-42D097BD6A6E}"/>
    <pc:docChg chg="modSld">
      <pc:chgData name="eugeniy sizov" userId="f166da1dfb7bc990" providerId="LiveId" clId="{DAB4D7BD-CC5E-4B4E-BC0C-42D097BD6A6E}" dt="2020-02-20T13:52:39.039" v="7" actId="255"/>
      <pc:docMkLst>
        <pc:docMk/>
      </pc:docMkLst>
      <pc:sldChg chg="modSp mod">
        <pc:chgData name="eugeniy sizov" userId="f166da1dfb7bc990" providerId="LiveId" clId="{DAB4D7BD-CC5E-4B4E-BC0C-42D097BD6A6E}" dt="2020-02-20T13:52:39.039" v="7" actId="255"/>
        <pc:sldMkLst>
          <pc:docMk/>
          <pc:sldMk cId="138477195" sldId="423"/>
        </pc:sldMkLst>
        <pc:graphicFrameChg chg="modGraphic">
          <ac:chgData name="eugeniy sizov" userId="f166da1dfb7bc990" providerId="LiveId" clId="{DAB4D7BD-CC5E-4B4E-BC0C-42D097BD6A6E}" dt="2020-02-20T13:52:39.039" v="7" actId="255"/>
          <ac:graphicFrameMkLst>
            <pc:docMk/>
            <pc:sldMk cId="138477195" sldId="423"/>
            <ac:graphicFrameMk id="6" creationId="{00000000-0000-0000-0000-000000000000}"/>
          </ac:graphicFrameMkLst>
        </pc:graphicFrameChg>
      </pc:sldChg>
    </pc:docChg>
  </pc:docChgLst>
  <pc:docChgLst>
    <pc:chgData name="eugeniy sizov" userId="f166da1dfb7bc990" providerId="LiveId" clId="{DF1FA290-0BFC-4B71-8422-B29336DDC953}"/>
    <pc:docChg chg="custSel addSld delSld modSld">
      <pc:chgData name="eugeniy sizov" userId="f166da1dfb7bc990" providerId="LiveId" clId="{DF1FA290-0BFC-4B71-8422-B29336DDC953}" dt="2020-03-20T08:07:03.018" v="46"/>
      <pc:docMkLst>
        <pc:docMk/>
      </pc:docMkLst>
      <pc:sldChg chg="addSp add">
        <pc:chgData name="eugeniy sizov" userId="f166da1dfb7bc990" providerId="LiveId" clId="{DF1FA290-0BFC-4B71-8422-B29336DDC953}" dt="2020-03-20T07:57:48.939" v="5"/>
        <pc:sldMkLst>
          <pc:docMk/>
          <pc:sldMk cId="3741406341" sldId="404"/>
        </pc:sldMkLst>
        <pc:graphicFrameChg chg="add">
          <ac:chgData name="eugeniy sizov" userId="f166da1dfb7bc990" providerId="LiveId" clId="{DF1FA290-0BFC-4B71-8422-B29336DDC953}" dt="2020-03-20T07:57:14.690" v="3"/>
          <ac:graphicFrameMkLst>
            <pc:docMk/>
            <pc:sldMk cId="3741406341" sldId="404"/>
            <ac:graphicFrameMk id="16" creationId="{817C6B3A-1320-4EC1-A966-B443686685F0}"/>
          </ac:graphicFrameMkLst>
        </pc:graphicFrameChg>
        <pc:graphicFrameChg chg="add">
          <ac:chgData name="eugeniy sizov" userId="f166da1dfb7bc990" providerId="LiveId" clId="{DF1FA290-0BFC-4B71-8422-B29336DDC953}" dt="2020-03-20T07:57:48.939" v="5"/>
          <ac:graphicFrameMkLst>
            <pc:docMk/>
            <pc:sldMk cId="3741406341" sldId="404"/>
            <ac:graphicFrameMk id="18" creationId="{67C1154A-038A-4E3B-887C-129688BDBC80}"/>
          </ac:graphicFrameMkLst>
        </pc:graphicFrameChg>
      </pc:sldChg>
      <pc:sldChg chg="addSp add">
        <pc:chgData name="eugeniy sizov" userId="f166da1dfb7bc990" providerId="LiveId" clId="{DF1FA290-0BFC-4B71-8422-B29336DDC953}" dt="2020-03-20T07:59:03.283" v="13"/>
        <pc:sldMkLst>
          <pc:docMk/>
          <pc:sldMk cId="2837154384" sldId="405"/>
        </pc:sldMkLst>
        <pc:graphicFrameChg chg="add">
          <ac:chgData name="eugeniy sizov" userId="f166da1dfb7bc990" providerId="LiveId" clId="{DF1FA290-0BFC-4B71-8422-B29336DDC953}" dt="2020-03-20T07:59:03.283" v="13"/>
          <ac:graphicFrameMkLst>
            <pc:docMk/>
            <pc:sldMk cId="2837154384" sldId="405"/>
            <ac:graphicFrameMk id="19" creationId="{9DA8095A-EE1A-4EC9-AA50-0522E94A5C7A}"/>
          </ac:graphicFrameMkLst>
        </pc:graphicFrameChg>
      </pc:sldChg>
      <pc:sldChg chg="add del">
        <pc:chgData name="eugeniy sizov" userId="f166da1dfb7bc990" providerId="LiveId" clId="{DF1FA290-0BFC-4B71-8422-B29336DDC953}" dt="2020-03-20T08:07:03.018" v="46"/>
        <pc:sldMkLst>
          <pc:docMk/>
          <pc:sldMk cId="2274669768" sldId="406"/>
        </pc:sldMkLst>
      </pc:sldChg>
      <pc:sldChg chg="addSp add del">
        <pc:chgData name="eugeniy sizov" userId="f166da1dfb7bc990" providerId="LiveId" clId="{DF1FA290-0BFC-4B71-8422-B29336DDC953}" dt="2020-03-20T08:07:03.018" v="46"/>
        <pc:sldMkLst>
          <pc:docMk/>
          <pc:sldMk cId="734666453" sldId="407"/>
        </pc:sldMkLst>
        <pc:spChg chg="add">
          <ac:chgData name="eugeniy sizov" userId="f166da1dfb7bc990" providerId="LiveId" clId="{DF1FA290-0BFC-4B71-8422-B29336DDC953}" dt="2020-03-20T07:58:25.361" v="8"/>
          <ac:spMkLst>
            <pc:docMk/>
            <pc:sldMk cId="734666453" sldId="407"/>
            <ac:spMk id="24" creationId="{0CB281D5-BCD9-4406-9347-DBC6E38B69DE}"/>
          </ac:spMkLst>
        </pc:spChg>
      </pc:sldChg>
      <pc:sldChg chg="addSp add del">
        <pc:chgData name="eugeniy sizov" userId="f166da1dfb7bc990" providerId="LiveId" clId="{DF1FA290-0BFC-4B71-8422-B29336DDC953}" dt="2020-03-20T08:07:03.018" v="46"/>
        <pc:sldMkLst>
          <pc:docMk/>
          <pc:sldMk cId="2636732030" sldId="408"/>
        </pc:sldMkLst>
        <pc:graphicFrameChg chg="add">
          <ac:chgData name="eugeniy sizov" userId="f166da1dfb7bc990" providerId="LiveId" clId="{DF1FA290-0BFC-4B71-8422-B29336DDC953}" dt="2020-03-20T07:57:38.987" v="4"/>
          <ac:graphicFrameMkLst>
            <pc:docMk/>
            <pc:sldMk cId="2636732030" sldId="408"/>
            <ac:graphicFrameMk id="22" creationId="{506294D0-579D-455D-9CB8-18BD6C316C84}"/>
          </ac:graphicFrameMkLst>
        </pc:graphicFrameChg>
      </pc:sldChg>
      <pc:sldChg chg="modSp add mod">
        <pc:chgData name="eugeniy sizov" userId="f166da1dfb7bc990" providerId="LiveId" clId="{DF1FA290-0BFC-4B71-8422-B29336DDC953}" dt="2020-03-20T07:59:51.446" v="45" actId="20577"/>
        <pc:sldMkLst>
          <pc:docMk/>
          <pc:sldMk cId="1872555847" sldId="446"/>
        </pc:sldMkLst>
        <pc:spChg chg="mod">
          <ac:chgData name="eugeniy sizov" userId="f166da1dfb7bc990" providerId="LiveId" clId="{DF1FA290-0BFC-4B71-8422-B29336DDC953}" dt="2020-03-20T07:59:51.446" v="45" actId="20577"/>
          <ac:spMkLst>
            <pc:docMk/>
            <pc:sldMk cId="1872555847" sldId="446"/>
            <ac:spMk id="3" creationId="{00000000-0000-0000-0000-000000000000}"/>
          </ac:spMkLst>
        </pc:spChg>
      </pc:sldChg>
      <pc:sldChg chg="add del">
        <pc:chgData name="eugeniy sizov" userId="f166da1dfb7bc990" providerId="LiveId" clId="{DF1FA290-0BFC-4B71-8422-B29336DDC953}" dt="2020-03-20T07:58:01.724" v="7" actId="47"/>
        <pc:sldMkLst>
          <pc:docMk/>
          <pc:sldMk cId="638147695" sldId="447"/>
        </pc:sldMkLst>
      </pc:sldChg>
      <pc:sldChg chg="addSp delSp add mod">
        <pc:chgData name="eugeniy sizov" userId="f166da1dfb7bc990" providerId="LiveId" clId="{DF1FA290-0BFC-4B71-8422-B29336DDC953}" dt="2020-03-20T07:59:24.726" v="15" actId="478"/>
        <pc:sldMkLst>
          <pc:docMk/>
          <pc:sldMk cId="1652213853" sldId="447"/>
        </pc:sldMkLst>
        <pc:spChg chg="del">
          <ac:chgData name="eugeniy sizov" userId="f166da1dfb7bc990" providerId="LiveId" clId="{DF1FA290-0BFC-4B71-8422-B29336DDC953}" dt="2020-03-20T07:59:24.726" v="15" actId="478"/>
          <ac:spMkLst>
            <pc:docMk/>
            <pc:sldMk cId="1652213853" sldId="447"/>
            <ac:spMk id="7" creationId="{00000000-0000-0000-0000-000000000000}"/>
          </ac:spMkLst>
        </pc:spChg>
        <pc:spChg chg="add">
          <ac:chgData name="eugeniy sizov" userId="f166da1dfb7bc990" providerId="LiveId" clId="{DF1FA290-0BFC-4B71-8422-B29336DDC953}" dt="2020-03-20T07:58:40.433" v="10"/>
          <ac:spMkLst>
            <pc:docMk/>
            <pc:sldMk cId="1652213853" sldId="447"/>
            <ac:spMk id="19" creationId="{E816ECEE-EA25-4B5B-8CD5-81AF043F5CA0}"/>
          </ac:spMkLst>
        </pc:spChg>
        <pc:graphicFrameChg chg="add">
          <ac:chgData name="eugeniy sizov" userId="f166da1dfb7bc990" providerId="LiveId" clId="{DF1FA290-0BFC-4B71-8422-B29336DDC953}" dt="2020-03-20T07:59:20.413" v="14"/>
          <ac:graphicFrameMkLst>
            <pc:docMk/>
            <pc:sldMk cId="1652213853" sldId="447"/>
            <ac:graphicFrameMk id="22" creationId="{99723A7E-44C6-472E-BF4D-6FDE01A55BB6}"/>
          </ac:graphicFrameMkLst>
        </pc:graphicFrameChg>
      </pc:sldChg>
      <pc:sldChg chg="add del">
        <pc:chgData name="eugeniy sizov" userId="f166da1dfb7bc990" providerId="LiveId" clId="{DF1FA290-0BFC-4B71-8422-B29336DDC953}" dt="2020-03-20T07:57:02.885" v="2"/>
        <pc:sldMkLst>
          <pc:docMk/>
          <pc:sldMk cId="3843096051" sldId="448"/>
        </pc:sldMkLst>
      </pc:sldChg>
      <pc:sldChg chg="delSp add mod">
        <pc:chgData name="eugeniy sizov" userId="f166da1dfb7bc990" providerId="LiveId" clId="{DF1FA290-0BFC-4B71-8422-B29336DDC953}" dt="2020-03-20T07:59:33.023" v="18" actId="478"/>
        <pc:sldMkLst>
          <pc:docMk/>
          <pc:sldMk cId="4181159252" sldId="448"/>
        </pc:sldMkLst>
        <pc:spChg chg="del">
          <ac:chgData name="eugeniy sizov" userId="f166da1dfb7bc990" providerId="LiveId" clId="{DF1FA290-0BFC-4B71-8422-B29336DDC953}" dt="2020-03-20T07:59:31.782" v="17" actId="478"/>
          <ac:spMkLst>
            <pc:docMk/>
            <pc:sldMk cId="4181159252" sldId="448"/>
            <ac:spMk id="19" creationId="{E816ECEE-EA25-4B5B-8CD5-81AF043F5CA0}"/>
          </ac:spMkLst>
        </pc:spChg>
        <pc:graphicFrameChg chg="del">
          <ac:chgData name="eugeniy sizov" userId="f166da1dfb7bc990" providerId="LiveId" clId="{DF1FA290-0BFC-4B71-8422-B29336DDC953}" dt="2020-03-20T07:59:33.023" v="18" actId="478"/>
          <ac:graphicFrameMkLst>
            <pc:docMk/>
            <pc:sldMk cId="4181159252" sldId="448"/>
            <ac:graphicFrameMk id="22" creationId="{99723A7E-44C6-472E-BF4D-6FDE01A55BB6}"/>
          </ac:graphicFrameMkLst>
        </pc:graphicFrameChg>
      </pc:sldChg>
      <pc:sldChg chg="add">
        <pc:chgData name="eugeniy sizov" userId="f166da1dfb7bc990" providerId="LiveId" clId="{DF1FA290-0BFC-4B71-8422-B29336DDC953}" dt="2020-03-20T08:07:03.018" v="46"/>
        <pc:sldMkLst>
          <pc:docMk/>
          <pc:sldMk cId="638147695" sldId="449"/>
        </pc:sldMkLst>
      </pc:sldChg>
      <pc:sldChg chg="add del">
        <pc:chgData name="eugeniy sizov" userId="f166da1dfb7bc990" providerId="LiveId" clId="{DF1FA290-0BFC-4B71-8422-B29336DDC953}" dt="2020-03-20T07:57:02.885" v="2"/>
        <pc:sldMkLst>
          <pc:docMk/>
          <pc:sldMk cId="2590930355" sldId="449"/>
        </pc:sldMkLst>
      </pc:sldChg>
      <pc:sldChg chg="add del">
        <pc:chgData name="eugeniy sizov" userId="f166da1dfb7bc990" providerId="LiveId" clId="{DF1FA290-0BFC-4B71-8422-B29336DDC953}" dt="2020-03-20T07:57:02.885" v="2"/>
        <pc:sldMkLst>
          <pc:docMk/>
          <pc:sldMk cId="3643336786" sldId="450"/>
        </pc:sldMkLst>
      </pc:sldChg>
      <pc:sldChg chg="add del">
        <pc:chgData name="eugeniy sizov" userId="f166da1dfb7bc990" providerId="LiveId" clId="{DF1FA290-0BFC-4B71-8422-B29336DDC953}" dt="2020-03-20T07:57:02.885" v="2"/>
        <pc:sldMkLst>
          <pc:docMk/>
          <pc:sldMk cId="665592491" sldId="451"/>
        </pc:sldMkLst>
      </pc:sldChg>
      <pc:sldChg chg="add del">
        <pc:chgData name="eugeniy sizov" userId="f166da1dfb7bc990" providerId="LiveId" clId="{DF1FA290-0BFC-4B71-8422-B29336DDC953}" dt="2020-03-20T07:57:02.885" v="2"/>
        <pc:sldMkLst>
          <pc:docMk/>
          <pc:sldMk cId="4078375933" sldId="452"/>
        </pc:sldMkLst>
      </pc:sldChg>
      <pc:sldChg chg="add del">
        <pc:chgData name="eugeniy sizov" userId="f166da1dfb7bc990" providerId="LiveId" clId="{DF1FA290-0BFC-4B71-8422-B29336DDC953}" dt="2020-03-20T07:57:02.885" v="2"/>
        <pc:sldMkLst>
          <pc:docMk/>
          <pc:sldMk cId="3356269200" sldId="453"/>
        </pc:sldMkLst>
      </pc:sldChg>
      <pc:sldChg chg="add del">
        <pc:chgData name="eugeniy sizov" userId="f166da1dfb7bc990" providerId="LiveId" clId="{DF1FA290-0BFC-4B71-8422-B29336DDC953}" dt="2020-03-20T07:57:02.885" v="2"/>
        <pc:sldMkLst>
          <pc:docMk/>
          <pc:sldMk cId="877391044" sldId="45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0A0E2-5C01-4707-8BDA-9133C8765419}" type="datetimeFigureOut">
              <a:rPr lang="ru-RU" smtClean="0"/>
              <a:t>14.10.2020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0A639-B265-47DE-9D03-2F30DE7B28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332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7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3276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20720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787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75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9186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5306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8023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93663" y="6310313"/>
            <a:ext cx="949326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/55</a:t>
            </a:r>
            <a:endParaRPr lang="ru-RU" sz="16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Оперативные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159101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Занятие 09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/>
              <a:t>Запись движений без проведения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/>
              <a:t>Механизм агрегатов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/>
              <a:t>Работа с показателями состояния объектов учета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dirty="0">
              <a:solidFill>
                <a:srgbClr val="0070C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70C0"/>
              </a:solidFill>
            </a:endParaRPr>
          </a:p>
          <a:p>
            <a:pPr algn="l"/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411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Запись движений без проведения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144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323528" y="656992"/>
            <a:ext cx="8568952" cy="270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/>
              <a:t>Клиент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54551" y="3501008"/>
            <a:ext cx="8568952" cy="277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/>
              <a:t>Сервер</a:t>
            </a:r>
          </a:p>
        </p:txBody>
      </p:sp>
      <p:sp>
        <p:nvSpPr>
          <p:cNvPr id="9" name="Облако 8"/>
          <p:cNvSpPr/>
          <p:nvPr/>
        </p:nvSpPr>
        <p:spPr>
          <a:xfrm>
            <a:off x="5508104" y="3717032"/>
            <a:ext cx="2808312" cy="122413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Управляемая форма</a:t>
            </a:r>
          </a:p>
        </p:txBody>
      </p:sp>
      <p:sp>
        <p:nvSpPr>
          <p:cNvPr id="10" name="Облако 9"/>
          <p:cNvSpPr/>
          <p:nvPr/>
        </p:nvSpPr>
        <p:spPr>
          <a:xfrm>
            <a:off x="5796136" y="1916832"/>
            <a:ext cx="2808312" cy="1224136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Управляемая форма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4788022" y="644744"/>
            <a:ext cx="2736304" cy="144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/>
              <a:t>Модуль формы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en-US" b="1" dirty="0"/>
              <a:t>&amp;</a:t>
            </a:r>
            <a:r>
              <a:rPr lang="ru-RU" b="1" dirty="0" err="1"/>
              <a:t>НаКлиенте</a:t>
            </a:r>
            <a:endParaRPr lang="ru-RU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97543" y="4797152"/>
            <a:ext cx="2736304" cy="14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/>
              <a:t>Модуль формы</a:t>
            </a:r>
          </a:p>
          <a:p>
            <a:endParaRPr lang="ru-RU" dirty="0"/>
          </a:p>
          <a:p>
            <a:r>
              <a:rPr lang="en-US" b="1" dirty="0"/>
              <a:t>&amp;</a:t>
            </a:r>
            <a:r>
              <a:rPr lang="ru-RU" b="1" dirty="0" err="1"/>
              <a:t>НаСервере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788022" y="1556792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Контекстный вызов</a:t>
            </a:r>
          </a:p>
        </p:txBody>
      </p:sp>
    </p:spTree>
    <p:extLst>
      <p:ext uri="{BB962C8B-B14F-4D97-AF65-F5344CB8AC3E}">
        <p14:creationId xmlns:p14="http://schemas.microsoft.com/office/powerpoint/2010/main" val="8822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3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323528" y="657000"/>
            <a:ext cx="8568952" cy="270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/>
              <a:t>Клиент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54551" y="3501008"/>
            <a:ext cx="8568952" cy="277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/>
              <a:t>Сервер</a:t>
            </a:r>
          </a:p>
        </p:txBody>
      </p:sp>
      <p:sp>
        <p:nvSpPr>
          <p:cNvPr id="9" name="Облако 8"/>
          <p:cNvSpPr/>
          <p:nvPr/>
        </p:nvSpPr>
        <p:spPr>
          <a:xfrm>
            <a:off x="5508104" y="3717032"/>
            <a:ext cx="2808312" cy="122413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Управляемая форма</a:t>
            </a:r>
          </a:p>
        </p:txBody>
      </p:sp>
      <p:sp>
        <p:nvSpPr>
          <p:cNvPr id="10" name="Облако 9"/>
          <p:cNvSpPr/>
          <p:nvPr/>
        </p:nvSpPr>
        <p:spPr>
          <a:xfrm>
            <a:off x="5796136" y="1916832"/>
            <a:ext cx="2808312" cy="1224136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Управляемая форма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4788022" y="644744"/>
            <a:ext cx="2736304" cy="144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/>
              <a:t>Модуль формы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en-US" b="1" dirty="0"/>
              <a:t>&amp;</a:t>
            </a:r>
            <a:r>
              <a:rPr lang="ru-RU" b="1" dirty="0" err="1"/>
              <a:t>НаКлиенте</a:t>
            </a:r>
            <a:endParaRPr lang="ru-RU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97543" y="4797152"/>
            <a:ext cx="2736304" cy="14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/>
              <a:t>Модуль формы</a:t>
            </a:r>
          </a:p>
          <a:p>
            <a:endParaRPr lang="ru-RU" dirty="0"/>
          </a:p>
          <a:p>
            <a:r>
              <a:rPr lang="en-US" b="1" dirty="0"/>
              <a:t>&amp;</a:t>
            </a:r>
            <a:r>
              <a:rPr lang="ru-RU" b="1" dirty="0" err="1"/>
              <a:t>НаСервере</a:t>
            </a:r>
            <a:endParaRPr lang="ru-RU" b="1" dirty="0"/>
          </a:p>
        </p:txBody>
      </p:sp>
      <p:sp>
        <p:nvSpPr>
          <p:cNvPr id="8" name="Стрелка углом 7"/>
          <p:cNvSpPr/>
          <p:nvPr/>
        </p:nvSpPr>
        <p:spPr>
          <a:xfrm rot="10800000" flipH="1">
            <a:off x="4995861" y="1804378"/>
            <a:ext cx="576065" cy="4216909"/>
          </a:xfrm>
          <a:prstGeom prst="ben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501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323528" y="656992"/>
            <a:ext cx="8568952" cy="270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/>
              <a:t>Клиент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54551" y="3501008"/>
            <a:ext cx="8568952" cy="277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/>
              <a:t>Сервер</a:t>
            </a:r>
          </a:p>
        </p:txBody>
      </p:sp>
      <p:sp>
        <p:nvSpPr>
          <p:cNvPr id="9" name="Облако 8"/>
          <p:cNvSpPr/>
          <p:nvPr/>
        </p:nvSpPr>
        <p:spPr>
          <a:xfrm>
            <a:off x="5508104" y="3717032"/>
            <a:ext cx="2808312" cy="122413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Управляемая форма</a:t>
            </a:r>
          </a:p>
        </p:txBody>
      </p:sp>
      <p:sp>
        <p:nvSpPr>
          <p:cNvPr id="10" name="Облако 9"/>
          <p:cNvSpPr/>
          <p:nvPr/>
        </p:nvSpPr>
        <p:spPr>
          <a:xfrm>
            <a:off x="5796136" y="1916832"/>
            <a:ext cx="2808312" cy="1224136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Управляемая форма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4788022" y="644744"/>
            <a:ext cx="2736304" cy="144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/>
              <a:t>Модуль формы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en-US" b="1" dirty="0"/>
              <a:t>&amp;</a:t>
            </a:r>
            <a:r>
              <a:rPr lang="ru-RU" b="1" dirty="0" err="1"/>
              <a:t>НаКлиенте</a:t>
            </a:r>
            <a:endParaRPr lang="ru-RU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4864232" y="4797152"/>
            <a:ext cx="3740216" cy="14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/>
              <a:t>Модуль формы</a:t>
            </a:r>
          </a:p>
          <a:p>
            <a:endParaRPr lang="ru-RU" dirty="0"/>
          </a:p>
          <a:p>
            <a:r>
              <a:rPr lang="en-US" b="1" dirty="0"/>
              <a:t>&amp;</a:t>
            </a:r>
            <a:r>
              <a:rPr lang="ru-RU" b="1" dirty="0" err="1"/>
              <a:t>НаСервере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788022" y="5651956"/>
            <a:ext cx="404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РеквизитФормыВЗначение</a:t>
            </a:r>
            <a:r>
              <a:rPr lang="ru-RU" dirty="0"/>
              <a:t>(«Объект»)</a:t>
            </a:r>
          </a:p>
        </p:txBody>
      </p:sp>
    </p:spTree>
    <p:extLst>
      <p:ext uri="{BB962C8B-B14F-4D97-AF65-F5344CB8AC3E}">
        <p14:creationId xmlns:p14="http://schemas.microsoft.com/office/powerpoint/2010/main" val="226133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300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323528" y="656992"/>
            <a:ext cx="8568952" cy="270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/>
              <a:t>Клиент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54551" y="3501008"/>
            <a:ext cx="8568952" cy="277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/>
              <a:t>Сервер</a:t>
            </a:r>
          </a:p>
        </p:txBody>
      </p:sp>
      <p:sp>
        <p:nvSpPr>
          <p:cNvPr id="9" name="Облако 8"/>
          <p:cNvSpPr/>
          <p:nvPr/>
        </p:nvSpPr>
        <p:spPr>
          <a:xfrm>
            <a:off x="5508104" y="3717032"/>
            <a:ext cx="2808312" cy="122413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Управляемая форма</a:t>
            </a:r>
          </a:p>
        </p:txBody>
      </p:sp>
      <p:sp>
        <p:nvSpPr>
          <p:cNvPr id="10" name="Облако 9"/>
          <p:cNvSpPr/>
          <p:nvPr/>
        </p:nvSpPr>
        <p:spPr>
          <a:xfrm>
            <a:off x="5796136" y="1916832"/>
            <a:ext cx="2808312" cy="1224136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Управляемая форма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4788022" y="644744"/>
            <a:ext cx="2736304" cy="144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/>
              <a:t>Модуль формы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en-US" b="1" dirty="0"/>
              <a:t>&amp;</a:t>
            </a:r>
            <a:r>
              <a:rPr lang="ru-RU" b="1" dirty="0" err="1"/>
              <a:t>НаКлиенте</a:t>
            </a:r>
            <a:endParaRPr lang="ru-RU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4864232" y="4797152"/>
            <a:ext cx="3740216" cy="14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/>
              <a:t>Модуль формы</a:t>
            </a:r>
          </a:p>
          <a:p>
            <a:endParaRPr lang="ru-RU" dirty="0"/>
          </a:p>
          <a:p>
            <a:r>
              <a:rPr lang="en-US" b="1" dirty="0"/>
              <a:t>&amp;</a:t>
            </a:r>
            <a:r>
              <a:rPr lang="ru-RU" b="1" dirty="0" err="1"/>
              <a:t>НаСервере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788022" y="5651956"/>
            <a:ext cx="404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РеквизитФормыВЗначение</a:t>
            </a:r>
            <a:r>
              <a:rPr lang="ru-RU" dirty="0"/>
              <a:t>(«Объект»)</a:t>
            </a:r>
          </a:p>
        </p:txBody>
      </p:sp>
      <p:sp>
        <p:nvSpPr>
          <p:cNvPr id="12" name="Облако 11"/>
          <p:cNvSpPr/>
          <p:nvPr/>
        </p:nvSpPr>
        <p:spPr>
          <a:xfrm>
            <a:off x="1273535" y="3547097"/>
            <a:ext cx="2808312" cy="122413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Объект</a:t>
            </a:r>
          </a:p>
        </p:txBody>
      </p:sp>
      <p:sp>
        <p:nvSpPr>
          <p:cNvPr id="13" name="Стрелка вправо 12"/>
          <p:cNvSpPr/>
          <p:nvPr/>
        </p:nvSpPr>
        <p:spPr>
          <a:xfrm rot="13036375">
            <a:off x="3105112" y="5066256"/>
            <a:ext cx="1784686" cy="472813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79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323528" y="656992"/>
            <a:ext cx="8568952" cy="2700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/>
              <a:t>Клиент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54551" y="3501008"/>
            <a:ext cx="8568952" cy="277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/>
              <a:t>Сервер</a:t>
            </a:r>
          </a:p>
        </p:txBody>
      </p:sp>
      <p:sp>
        <p:nvSpPr>
          <p:cNvPr id="9" name="Облако 8"/>
          <p:cNvSpPr/>
          <p:nvPr/>
        </p:nvSpPr>
        <p:spPr>
          <a:xfrm>
            <a:off x="5508104" y="3717032"/>
            <a:ext cx="2808312" cy="122413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Управляемая форма</a:t>
            </a:r>
          </a:p>
        </p:txBody>
      </p:sp>
      <p:sp>
        <p:nvSpPr>
          <p:cNvPr id="10" name="Облако 9"/>
          <p:cNvSpPr/>
          <p:nvPr/>
        </p:nvSpPr>
        <p:spPr>
          <a:xfrm>
            <a:off x="5796136" y="1916832"/>
            <a:ext cx="2808312" cy="1224136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Управляемая форма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4788022" y="644744"/>
            <a:ext cx="2736304" cy="1440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/>
              <a:t>Модуль формы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en-US" b="1" dirty="0"/>
              <a:t>&amp;</a:t>
            </a:r>
            <a:r>
              <a:rPr lang="ru-RU" b="1" dirty="0" err="1"/>
              <a:t>НаКлиенте</a:t>
            </a:r>
            <a:endParaRPr lang="ru-RU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4864232" y="4797152"/>
            <a:ext cx="3740216" cy="1440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dirty="0"/>
              <a:t>Модуль формы</a:t>
            </a:r>
          </a:p>
          <a:p>
            <a:endParaRPr lang="ru-RU" dirty="0"/>
          </a:p>
          <a:p>
            <a:r>
              <a:rPr lang="en-US" b="1" dirty="0"/>
              <a:t>&amp;</a:t>
            </a:r>
            <a:r>
              <a:rPr lang="ru-RU" b="1" dirty="0" err="1"/>
              <a:t>НаСервере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788022" y="5651956"/>
            <a:ext cx="404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РеквизитФормыВЗначение</a:t>
            </a:r>
            <a:r>
              <a:rPr lang="ru-RU" dirty="0"/>
              <a:t>(«Объект»)</a:t>
            </a:r>
          </a:p>
        </p:txBody>
      </p:sp>
      <p:sp>
        <p:nvSpPr>
          <p:cNvPr id="12" name="Облако 11"/>
          <p:cNvSpPr/>
          <p:nvPr/>
        </p:nvSpPr>
        <p:spPr>
          <a:xfrm>
            <a:off x="1257346" y="3573016"/>
            <a:ext cx="2808312" cy="122413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Объект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58771" y="4447297"/>
          <a:ext cx="4329250" cy="178985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61287">
                  <a:extLst>
                    <a:ext uri="{9D8B030D-6E8A-4147-A177-3AD203B41FA5}">
                      <a16:colId xmlns:a16="http://schemas.microsoft.com/office/drawing/2014/main" val="1787571671"/>
                    </a:ext>
                  </a:extLst>
                </a:gridCol>
                <a:gridCol w="3446107">
                  <a:extLst>
                    <a:ext uri="{9D8B030D-6E8A-4147-A177-3AD203B41FA5}">
                      <a16:colId xmlns:a16="http://schemas.microsoft.com/office/drawing/2014/main" val="1798407592"/>
                    </a:ext>
                  </a:extLst>
                </a:gridCol>
                <a:gridCol w="521856">
                  <a:extLst>
                    <a:ext uri="{9D8B030D-6E8A-4147-A177-3AD203B41FA5}">
                      <a16:colId xmlns:a16="http://schemas.microsoft.com/office/drawing/2014/main" val="530309401"/>
                    </a:ext>
                  </a:extLst>
                </a:gridCol>
              </a:tblGrid>
              <a:tr h="542012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Движения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828207"/>
                  </a:ext>
                </a:extLst>
              </a:tr>
              <a:tr h="1247843"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685641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970959" y="5164407"/>
          <a:ext cx="3094698" cy="97854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47349">
                  <a:extLst>
                    <a:ext uri="{9D8B030D-6E8A-4147-A177-3AD203B41FA5}">
                      <a16:colId xmlns:a16="http://schemas.microsoft.com/office/drawing/2014/main" val="4202560143"/>
                    </a:ext>
                  </a:extLst>
                </a:gridCol>
                <a:gridCol w="1547349">
                  <a:extLst>
                    <a:ext uri="{9D8B030D-6E8A-4147-A177-3AD203B41FA5}">
                      <a16:colId xmlns:a16="http://schemas.microsoft.com/office/drawing/2014/main" val="928935565"/>
                    </a:ext>
                  </a:extLst>
                </a:gridCol>
              </a:tblGrid>
              <a:tr h="46008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Имя регистра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Набор записей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515220"/>
                  </a:ext>
                </a:extLst>
              </a:tr>
              <a:tr h="518463">
                <a:tc>
                  <a:txBody>
                    <a:bodyPr/>
                    <a:lstStyle/>
                    <a:p>
                      <a:r>
                        <a:rPr lang="ru-RU" sz="1400" dirty="0" err="1"/>
                        <a:t>ТоварыВРезерве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082867"/>
                  </a:ext>
                </a:extLst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2564091" y="5651956"/>
            <a:ext cx="1395167" cy="437759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/>
              <a:t>Набор записей</a:t>
            </a:r>
          </a:p>
        </p:txBody>
      </p:sp>
    </p:spTree>
    <p:extLst>
      <p:ext uri="{BB962C8B-B14F-4D97-AF65-F5344CB8AC3E}">
        <p14:creationId xmlns:p14="http://schemas.microsoft.com/office/powerpoint/2010/main" val="722505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22313" y="3810552"/>
            <a:ext cx="7772400" cy="1958423"/>
          </a:xfrm>
        </p:spPr>
        <p:txBody>
          <a:bodyPr/>
          <a:lstStyle/>
          <a:p>
            <a:r>
              <a:rPr lang="ru-RU" dirty="0" smtClean="0"/>
              <a:t>Запись и Удаление </a:t>
            </a:r>
            <a:r>
              <a:rPr lang="ru-RU" dirty="0"/>
              <a:t>данных </a:t>
            </a:r>
            <a:r>
              <a:rPr lang="ru-RU" dirty="0" smtClean="0"/>
              <a:t>в регистрах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722313" y="2310365"/>
            <a:ext cx="7772400" cy="1500187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255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Команда «Резерв»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810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300064"/>
              </p:ext>
            </p:extLst>
          </p:nvPr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070396"/>
              </p:ext>
            </p:extLst>
          </p:nvPr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122106"/>
              </p:ext>
            </p:extLst>
          </p:nvPr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261879"/>
              </p:ext>
            </p:extLst>
          </p:nvPr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Создаем документ объект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140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Стрелка углом 15"/>
          <p:cNvSpPr/>
          <p:nvPr/>
        </p:nvSpPr>
        <p:spPr>
          <a:xfrm rot="10800000" flipH="1">
            <a:off x="534668" y="2897015"/>
            <a:ext cx="292921" cy="2548289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Записываем документ объект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5398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Стрелка углом 15"/>
          <p:cNvSpPr/>
          <p:nvPr/>
        </p:nvSpPr>
        <p:spPr>
          <a:xfrm rot="10800000" flipH="1">
            <a:off x="534668" y="2897015"/>
            <a:ext cx="292921" cy="2548289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45886" y="5137663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Записываем документ объект</a:t>
            </a:r>
          </a:p>
        </p:txBody>
      </p:sp>
    </p:spTree>
    <p:extLst>
      <p:ext uri="{BB962C8B-B14F-4D97-AF65-F5344CB8AC3E}">
        <p14:creationId xmlns:p14="http://schemas.microsoft.com/office/powerpoint/2010/main" val="36256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63766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00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</a:t>
            </a:r>
            <a:r>
              <a:rPr lang="ru-RU" sz="1350" dirty="0" err="1" smtClean="0"/>
              <a:t>остаки</a:t>
            </a:r>
            <a:r>
              <a:rPr lang="ru-RU" sz="1350" dirty="0" smtClean="0"/>
              <a:t>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Стрелка углом 15"/>
          <p:cNvSpPr/>
          <p:nvPr/>
        </p:nvSpPr>
        <p:spPr>
          <a:xfrm rot="5400000" flipH="1">
            <a:off x="3358501" y="1852408"/>
            <a:ext cx="432000" cy="3459736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205544"/>
              </p:ext>
            </p:extLst>
          </p:nvPr>
        </p:nvGraphicFramePr>
        <p:xfrm>
          <a:off x="836597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Стрелка углом 22"/>
          <p:cNvSpPr/>
          <p:nvPr/>
        </p:nvSpPr>
        <p:spPr>
          <a:xfrm rot="10800000" flipH="1">
            <a:off x="1585374" y="3029301"/>
            <a:ext cx="432000" cy="769907"/>
          </a:xfrm>
          <a:prstGeom prst="bentArrow">
            <a:avLst>
              <a:gd name="adj1" fmla="val 27464"/>
              <a:gd name="adj2" fmla="val 14178"/>
              <a:gd name="adj3" fmla="val 25000"/>
              <a:gd name="adj4" fmla="val 43750"/>
            </a:avLst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24" name="Стрелка углом 23"/>
          <p:cNvSpPr/>
          <p:nvPr/>
        </p:nvSpPr>
        <p:spPr>
          <a:xfrm rot="5400000" flipH="1">
            <a:off x="5967080" y="2506007"/>
            <a:ext cx="432000" cy="2149688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Заполняем наборы записей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075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73291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1260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58"/>
            <a:ext cx="1800000" cy="1260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36597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Заполняем наборы записей</a:t>
            </a:r>
          </a:p>
        </p:txBody>
      </p:sp>
    </p:spTree>
    <p:extLst>
      <p:ext uri="{BB962C8B-B14F-4D97-AF65-F5344CB8AC3E}">
        <p14:creationId xmlns:p14="http://schemas.microsoft.com/office/powerpoint/2010/main" val="223752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978041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1260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58"/>
            <a:ext cx="1800000" cy="1260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691605"/>
              </p:ext>
            </p:extLst>
          </p:nvPr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Стрелка углом 22"/>
          <p:cNvSpPr/>
          <p:nvPr/>
        </p:nvSpPr>
        <p:spPr>
          <a:xfrm rot="10800000" flipH="1">
            <a:off x="4442509" y="3535479"/>
            <a:ext cx="292921" cy="1822783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24" name="Стрелка углом 26">
            <a:extLst>
              <a:ext uri="{FF2B5EF4-FFF2-40B4-BE49-F238E27FC236}">
                <a16:creationId xmlns:a16="http://schemas.microsoft.com/office/drawing/2014/main" id="{E816ECEE-EA25-4B5B-8CD5-81AF043F5CA0}"/>
              </a:ext>
            </a:extLst>
          </p:cNvPr>
          <p:cNvSpPr/>
          <p:nvPr/>
        </p:nvSpPr>
        <p:spPr>
          <a:xfrm rot="10800000" flipH="1">
            <a:off x="6328610" y="3535480"/>
            <a:ext cx="292921" cy="1884146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Записываем наборы записей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143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63766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1260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58"/>
            <a:ext cx="1800000" cy="1260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" name="Стрелка углом 22"/>
          <p:cNvSpPr/>
          <p:nvPr/>
        </p:nvSpPr>
        <p:spPr>
          <a:xfrm rot="10800000" flipH="1">
            <a:off x="4442509" y="3535479"/>
            <a:ext cx="292921" cy="1822783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24" name="Стрелка углом 26">
            <a:extLst>
              <a:ext uri="{FF2B5EF4-FFF2-40B4-BE49-F238E27FC236}">
                <a16:creationId xmlns:a16="http://schemas.microsoft.com/office/drawing/2014/main" id="{E816ECEE-EA25-4B5B-8CD5-81AF043F5CA0}"/>
              </a:ext>
            </a:extLst>
          </p:cNvPr>
          <p:cNvSpPr/>
          <p:nvPr/>
        </p:nvSpPr>
        <p:spPr>
          <a:xfrm rot="10800000" flipH="1">
            <a:off x="6328610" y="3535480"/>
            <a:ext cx="292921" cy="1884146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Записываем наборы записей</a:t>
            </a:r>
          </a:p>
        </p:txBody>
      </p:sp>
    </p:spTree>
    <p:extLst>
      <p:ext uri="{BB962C8B-B14F-4D97-AF65-F5344CB8AC3E}">
        <p14:creationId xmlns:p14="http://schemas.microsoft.com/office/powerpoint/2010/main" val="68970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44716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1260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58"/>
            <a:ext cx="1800000" cy="1260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Прямая соединительная линия 4"/>
          <p:cNvCxnSpPr/>
          <p:nvPr/>
        </p:nvCxnSpPr>
        <p:spPr>
          <a:xfrm>
            <a:off x="676275" y="1752600"/>
            <a:ext cx="7933074" cy="192405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V="1">
            <a:off x="676275" y="1390650"/>
            <a:ext cx="7933074" cy="228600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Документ </a:t>
            </a:r>
            <a:r>
              <a:rPr lang="ru-RU" dirty="0" err="1" smtClean="0"/>
              <a:t>объет</a:t>
            </a:r>
            <a:r>
              <a:rPr lang="ru-RU" dirty="0" smtClean="0"/>
              <a:t> удаляется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717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8823" y="1044716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406064"/>
          </a:xfrm>
        </p:spPr>
        <p:txBody>
          <a:bodyPr/>
          <a:lstStyle/>
          <a:p>
            <a:r>
              <a:rPr lang="ru-RU" dirty="0" smtClean="0"/>
              <a:t>Команда отработала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1554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Проведение документа (начало)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570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Создается </a:t>
            </a:r>
            <a:r>
              <a:rPr lang="ru-RU" dirty="0"/>
              <a:t>документ объект</a:t>
            </a:r>
          </a:p>
        </p:txBody>
      </p:sp>
    </p:spTree>
    <p:extLst>
      <p:ext uri="{BB962C8B-B14F-4D97-AF65-F5344CB8AC3E}">
        <p14:creationId xmlns:p14="http://schemas.microsoft.com/office/powerpoint/2010/main" val="295326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Стрелка углом 23"/>
          <p:cNvSpPr/>
          <p:nvPr/>
        </p:nvSpPr>
        <p:spPr>
          <a:xfrm rot="10800000" flipH="1">
            <a:off x="534904" y="2900212"/>
            <a:ext cx="292921" cy="2548289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Записывается </a:t>
            </a:r>
            <a:r>
              <a:rPr lang="ru-RU" dirty="0"/>
              <a:t>документ объект</a:t>
            </a:r>
          </a:p>
        </p:txBody>
      </p:sp>
    </p:spTree>
    <p:extLst>
      <p:ext uri="{BB962C8B-B14F-4D97-AF65-F5344CB8AC3E}">
        <p14:creationId xmlns:p14="http://schemas.microsoft.com/office/powerpoint/2010/main" val="266429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756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756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Стрелка углом 23"/>
          <p:cNvSpPr/>
          <p:nvPr/>
        </p:nvSpPr>
        <p:spPr>
          <a:xfrm rot="5400000" flipH="1">
            <a:off x="2390040" y="2858947"/>
            <a:ext cx="432000" cy="1559292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25" name="Стрелка углом 24"/>
          <p:cNvSpPr/>
          <p:nvPr/>
        </p:nvSpPr>
        <p:spPr>
          <a:xfrm rot="10800000" flipH="1">
            <a:off x="1564077" y="3057524"/>
            <a:ext cx="432000" cy="798482"/>
          </a:xfrm>
          <a:prstGeom prst="bentArrow">
            <a:avLst>
              <a:gd name="adj1" fmla="val 27464"/>
              <a:gd name="adj2" fmla="val 14178"/>
              <a:gd name="adj3" fmla="val 25000"/>
              <a:gd name="adj4" fmla="val 43750"/>
            </a:avLst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26" name="Стрелка углом 25"/>
          <p:cNvSpPr/>
          <p:nvPr/>
        </p:nvSpPr>
        <p:spPr>
          <a:xfrm rot="5400000" flipH="1">
            <a:off x="4013525" y="2563749"/>
            <a:ext cx="432000" cy="2149688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Заполняем наборы записей</a:t>
            </a:r>
          </a:p>
        </p:txBody>
      </p:sp>
    </p:spTree>
    <p:extLst>
      <p:ext uri="{BB962C8B-B14F-4D97-AF65-F5344CB8AC3E}">
        <p14:creationId xmlns:p14="http://schemas.microsoft.com/office/powerpoint/2010/main" val="337072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115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1152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Заполняем наборы записей</a:t>
            </a:r>
          </a:p>
        </p:txBody>
      </p:sp>
    </p:spTree>
    <p:extLst>
      <p:ext uri="{BB962C8B-B14F-4D97-AF65-F5344CB8AC3E}">
        <p14:creationId xmlns:p14="http://schemas.microsoft.com/office/powerpoint/2010/main" val="4072087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115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1152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Стрелка углом 27"/>
          <p:cNvSpPr/>
          <p:nvPr/>
        </p:nvSpPr>
        <p:spPr>
          <a:xfrm rot="10800000" flipH="1">
            <a:off x="2536155" y="3535479"/>
            <a:ext cx="292921" cy="1822784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29" name="Стрелка углом 28"/>
          <p:cNvSpPr/>
          <p:nvPr/>
        </p:nvSpPr>
        <p:spPr>
          <a:xfrm rot="10800000" flipH="1">
            <a:off x="4442509" y="3535479"/>
            <a:ext cx="292921" cy="1822783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Записываются наборы записей </a:t>
            </a:r>
            <a:r>
              <a:rPr lang="ru-RU" sz="2200" dirty="0" smtClean="0"/>
              <a:t>(вариант 1)</a:t>
            </a:r>
            <a:endParaRPr lang="ru-RU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2306869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80974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55079" y="1685377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Ложь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3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115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1152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Стрелка углом 27"/>
          <p:cNvSpPr/>
          <p:nvPr/>
        </p:nvSpPr>
        <p:spPr>
          <a:xfrm rot="10800000" flipH="1">
            <a:off x="2536155" y="3535479"/>
            <a:ext cx="292921" cy="1822784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29" name="Стрелка углом 28"/>
          <p:cNvSpPr/>
          <p:nvPr/>
        </p:nvSpPr>
        <p:spPr>
          <a:xfrm rot="10800000" flipH="1">
            <a:off x="4442509" y="3535479"/>
            <a:ext cx="292921" cy="1822783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Записываются наборы записей </a:t>
            </a:r>
            <a:r>
              <a:rPr lang="ru-RU" sz="2200" dirty="0"/>
              <a:t>(вариант 1)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2306869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80974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55079" y="1685377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Ложь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71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115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1152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99723A7E-44C6-472E-BF4D-6FDE01A55BB6}"/>
              </a:ext>
            </a:extLst>
          </p:cNvPr>
          <p:cNvGraphicFramePr>
            <a:graphicFrameLocks noGrp="1"/>
          </p:cNvGraphicFramePr>
          <p:nvPr/>
        </p:nvGraphicFramePr>
        <p:xfrm>
          <a:off x="664123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Стрелка углом 27"/>
          <p:cNvSpPr/>
          <p:nvPr/>
        </p:nvSpPr>
        <p:spPr>
          <a:xfrm rot="10800000" flipH="1">
            <a:off x="2536155" y="3535479"/>
            <a:ext cx="292921" cy="1822784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29" name="Стрелка углом 28"/>
          <p:cNvSpPr/>
          <p:nvPr/>
        </p:nvSpPr>
        <p:spPr>
          <a:xfrm rot="10800000" flipH="1">
            <a:off x="4442509" y="3535479"/>
            <a:ext cx="292921" cy="1822783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30" name="Стрелка углом 26">
            <a:extLst>
              <a:ext uri="{FF2B5EF4-FFF2-40B4-BE49-F238E27FC236}">
                <a16:creationId xmlns:a16="http://schemas.microsoft.com/office/drawing/2014/main" id="{E816ECEE-EA25-4B5B-8CD5-81AF043F5CA0}"/>
              </a:ext>
            </a:extLst>
          </p:cNvPr>
          <p:cNvSpPr/>
          <p:nvPr/>
        </p:nvSpPr>
        <p:spPr>
          <a:xfrm rot="10800000" flipH="1">
            <a:off x="6328610" y="3535480"/>
            <a:ext cx="292921" cy="1884146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Записываются наборы записей </a:t>
            </a:r>
            <a:r>
              <a:rPr lang="ru-RU" sz="2200" dirty="0"/>
              <a:t>(вариант </a:t>
            </a:r>
            <a:r>
              <a:rPr lang="ru-RU" sz="2200" dirty="0" smtClean="0"/>
              <a:t>2)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2306869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80974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55079" y="1685377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80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115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1152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Стрелка углом 27"/>
          <p:cNvSpPr/>
          <p:nvPr/>
        </p:nvSpPr>
        <p:spPr>
          <a:xfrm rot="10800000" flipH="1">
            <a:off x="2536155" y="3535479"/>
            <a:ext cx="292921" cy="1822784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29" name="Стрелка углом 28"/>
          <p:cNvSpPr/>
          <p:nvPr/>
        </p:nvSpPr>
        <p:spPr>
          <a:xfrm rot="10800000" flipH="1">
            <a:off x="4442509" y="3535479"/>
            <a:ext cx="292921" cy="1822783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30" name="Стрелка углом 26">
            <a:extLst>
              <a:ext uri="{FF2B5EF4-FFF2-40B4-BE49-F238E27FC236}">
                <a16:creationId xmlns:a16="http://schemas.microsoft.com/office/drawing/2014/main" id="{E816ECEE-EA25-4B5B-8CD5-81AF043F5CA0}"/>
              </a:ext>
            </a:extLst>
          </p:cNvPr>
          <p:cNvSpPr/>
          <p:nvPr/>
        </p:nvSpPr>
        <p:spPr>
          <a:xfrm rot="10800000" flipH="1">
            <a:off x="6328610" y="3535480"/>
            <a:ext cx="292921" cy="1884146"/>
          </a:xfrm>
          <a:prstGeom prst="bentArrow">
            <a:avLst>
              <a:gd name="adj1" fmla="val 27464"/>
              <a:gd name="adj2" fmla="val 25000"/>
              <a:gd name="adj3" fmla="val 25000"/>
              <a:gd name="adj4" fmla="val 43750"/>
            </a:avLst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Записываются наборы записей </a:t>
            </a:r>
            <a:r>
              <a:rPr lang="ru-RU" sz="2200" dirty="0"/>
              <a:t>(вариант </a:t>
            </a:r>
            <a:r>
              <a:rPr lang="ru-RU" sz="2200" dirty="0" smtClean="0"/>
              <a:t>2)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2306869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80974" y="1678169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55079" y="1685377"/>
            <a:ext cx="207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solidFill>
                  <a:srgbClr val="0070C0"/>
                </a:solidFill>
              </a:rPr>
              <a:t>Записывать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=</a:t>
            </a:r>
            <a:r>
              <a:rPr lang="ru-RU" sz="1600" dirty="0" smtClean="0"/>
              <a:t> </a:t>
            </a:r>
            <a:r>
              <a:rPr lang="ru-RU" sz="1600" dirty="0" smtClean="0">
                <a:solidFill>
                  <a:srgbClr val="FF0000"/>
                </a:solidFill>
              </a:rPr>
              <a:t>Истина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2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sp>
        <p:nvSpPr>
          <p:cNvPr id="2" name="Овал 1"/>
          <p:cNvSpPr/>
          <p:nvPr/>
        </p:nvSpPr>
        <p:spPr>
          <a:xfrm>
            <a:off x="594635" y="2468704"/>
            <a:ext cx="1739766" cy="555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Документ</a:t>
            </a:r>
            <a:br>
              <a:rPr lang="ru-RU" sz="1350" dirty="0"/>
            </a:br>
            <a:r>
              <a:rPr lang="ru-RU" sz="1350" dirty="0"/>
              <a:t>Объект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/>
          <p:cNvSpPr/>
          <p:nvPr/>
        </p:nvSpPr>
        <p:spPr>
          <a:xfrm>
            <a:off x="2470107" y="2250505"/>
            <a:ext cx="1800000" cy="1152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 </a:t>
            </a:r>
            <a:br>
              <a:rPr lang="ru-RU" sz="1350" dirty="0" smtClean="0"/>
            </a:br>
            <a:r>
              <a:rPr lang="ru-RU" sz="1350" dirty="0" smtClean="0"/>
              <a:t>«Остатки товаров»</a:t>
            </a:r>
            <a:endParaRPr lang="ru-RU" sz="135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83080" y="2250505"/>
            <a:ext cx="1872000" cy="11520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регистру </a:t>
            </a:r>
            <a:r>
              <a:rPr lang="ru-RU" sz="1350" dirty="0" smtClean="0"/>
              <a:t/>
            </a:r>
            <a:br>
              <a:rPr lang="ru-RU" sz="1350" dirty="0" smtClean="0"/>
            </a:br>
            <a:r>
              <a:rPr lang="ru-RU" sz="1350" dirty="0" smtClean="0"/>
              <a:t>«Свободные остатки»</a:t>
            </a:r>
            <a:endParaRPr lang="ru-RU" sz="135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300336" y="2266160"/>
            <a:ext cx="1800000" cy="756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50" dirty="0"/>
              <a:t>Набор записей по </a:t>
            </a:r>
            <a:r>
              <a:rPr lang="ru-RU" sz="1350" dirty="0" smtClean="0"/>
              <a:t>регистру</a:t>
            </a:r>
            <a:br>
              <a:rPr lang="ru-RU" sz="1350" dirty="0" smtClean="0"/>
            </a:br>
            <a:r>
              <a:rPr lang="ru-RU" sz="1350" dirty="0" smtClean="0"/>
              <a:t>«Товары в резерве»</a:t>
            </a:r>
            <a:endParaRPr lang="ru-RU" sz="1350" dirty="0"/>
          </a:p>
        </p:txBody>
      </p:sp>
      <p:sp>
        <p:nvSpPr>
          <p:cNvPr id="13" name="Блок-схема: узел 12"/>
          <p:cNvSpPr/>
          <p:nvPr/>
        </p:nvSpPr>
        <p:spPr>
          <a:xfrm>
            <a:off x="8436094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Блок-схема: узел 13"/>
          <p:cNvSpPr/>
          <p:nvPr/>
        </p:nvSpPr>
        <p:spPr>
          <a:xfrm>
            <a:off x="8665295" y="2742495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Блок-схема: узел 14"/>
          <p:cNvSpPr/>
          <p:nvPr/>
        </p:nvSpPr>
        <p:spPr>
          <a:xfrm>
            <a:off x="8194259" y="2742494"/>
            <a:ext cx="173255" cy="184084"/>
          </a:xfrm>
          <a:prstGeom prst="flowChartConnec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Прямая соединительная линия 22"/>
          <p:cNvCxnSpPr/>
          <p:nvPr/>
        </p:nvCxnSpPr>
        <p:spPr>
          <a:xfrm>
            <a:off x="676275" y="1752600"/>
            <a:ext cx="7933074" cy="192405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V="1">
            <a:off x="676275" y="1390650"/>
            <a:ext cx="7933074" cy="228600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Удаляется документ объект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31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196543" y="1085849"/>
            <a:ext cx="8810374" cy="2981325"/>
          </a:xfrm>
          <a:prstGeom prst="rect">
            <a:avLst/>
          </a:prstGeom>
          <a:solidFill>
            <a:srgbClr val="00B0F0">
              <a:alpha val="5000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ru-RU" b="1" dirty="0">
                <a:solidFill>
                  <a:srgbClr val="00B0F0"/>
                </a:solidFill>
              </a:rPr>
              <a:t>Сервер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96543" y="4171160"/>
            <a:ext cx="8812654" cy="1977637"/>
          </a:xfrm>
          <a:prstGeom prst="rect">
            <a:avLst/>
          </a:prstGeom>
          <a:solidFill>
            <a:schemeClr val="accent3">
              <a:lumMod val="50000"/>
              <a:alpha val="8000"/>
            </a:scheme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b="1" dirty="0" smtClean="0">
                <a:solidFill>
                  <a:srgbClr val="00B050"/>
                </a:solidFill>
              </a:rPr>
              <a:t>База данных</a:t>
            </a:r>
            <a:endParaRPr lang="ru-RU" b="1" dirty="0">
              <a:solidFill>
                <a:srgbClr val="00B050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863881" y="4547440"/>
          <a:ext cx="1442987" cy="62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400" dirty="0"/>
                        <a:t>Ссылка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2827121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Таблица 19"/>
          <p:cNvGraphicFramePr>
            <a:graphicFrameLocks noGrp="1"/>
          </p:cNvGraphicFramePr>
          <p:nvPr/>
        </p:nvGraphicFramePr>
        <p:xfrm>
          <a:off x="4740094" y="4510111"/>
          <a:ext cx="1442986" cy="62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/>
        </p:nvGraphicFramePr>
        <p:xfrm>
          <a:off x="6638300" y="4505372"/>
          <a:ext cx="1442986" cy="629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ru-RU" sz="1000" dirty="0"/>
                        <a:t>Регистратор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</a:t>
                      </a:r>
                      <a:r>
                        <a:rPr lang="ru-RU" sz="1400" dirty="0"/>
                        <a:t>Док1</a:t>
                      </a:r>
                      <a:r>
                        <a:rPr lang="en-US" sz="1400" dirty="0"/>
                        <a:t>&gt;</a:t>
                      </a:r>
                      <a:endParaRPr lang="ru-R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846122" y="5140860"/>
          <a:ext cx="1442987" cy="3148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35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r>
                        <a:rPr lang="en-US" sz="1000" dirty="0"/>
                        <a:t>&lt;</a:t>
                      </a:r>
                      <a:r>
                        <a:rPr lang="ru-RU" sz="1000" dirty="0"/>
                        <a:t>Док2</a:t>
                      </a:r>
                      <a:r>
                        <a:rPr lang="en-US" sz="1000" dirty="0"/>
                        <a:t>&gt;</a:t>
                      </a:r>
                      <a:endParaRPr lang="ru-RU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4741146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2827522" y="5133641"/>
          <a:ext cx="1442986" cy="3148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46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8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/>
                        <a:t>&lt;</a:t>
                      </a:r>
                      <a:r>
                        <a:rPr lang="ru-RU" sz="1400" kern="1200" dirty="0"/>
                        <a:t>Док2</a:t>
                      </a:r>
                      <a:r>
                        <a:rPr lang="en-US" sz="1400" kern="1200" dirty="0"/>
                        <a:t>&gt;</a:t>
                      </a:r>
                      <a:endParaRPr lang="ru-RU" sz="1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ru-RU" sz="1000" dirty="0"/>
                        <a:t>…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Проведение документа </a:t>
            </a:r>
            <a:r>
              <a:rPr lang="ru-RU" dirty="0" smtClean="0"/>
              <a:t>(конец)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8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остатков при </a:t>
            </a:r>
            <a:r>
              <a:rPr lang="ru-RU" dirty="0" err="1"/>
              <a:t>перепроведении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62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14696"/>
          </a:xfrm>
        </p:spPr>
        <p:txBody>
          <a:bodyPr/>
          <a:lstStyle/>
          <a:p>
            <a:r>
              <a:rPr lang="ru-RU" dirty="0"/>
              <a:t>Первое проведение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838399" y="153714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838399" y="4654340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011" y="1617785"/>
            <a:ext cx="194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52" y="4654340"/>
            <a:ext cx="195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остатки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2838399" y="3136535"/>
          <a:ext cx="60960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252" y="3136062"/>
            <a:ext cx="208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движения</a:t>
            </a:r>
          </a:p>
        </p:txBody>
      </p:sp>
    </p:spTree>
    <p:extLst>
      <p:ext uri="{BB962C8B-B14F-4D97-AF65-F5344CB8AC3E}">
        <p14:creationId xmlns:p14="http://schemas.microsoft.com/office/powerpoint/2010/main" val="162499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14696"/>
          </a:xfrm>
        </p:spPr>
        <p:txBody>
          <a:bodyPr/>
          <a:lstStyle/>
          <a:p>
            <a:r>
              <a:rPr lang="ru-RU" dirty="0"/>
              <a:t>Записали движения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06534"/>
              </p:ext>
            </p:extLst>
          </p:nvPr>
        </p:nvGraphicFramePr>
        <p:xfrm>
          <a:off x="2838399" y="153714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366535"/>
              </p:ext>
            </p:extLst>
          </p:nvPr>
        </p:nvGraphicFramePr>
        <p:xfrm>
          <a:off x="2838399" y="4654340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011" y="1617785"/>
            <a:ext cx="194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52" y="4654340"/>
            <a:ext cx="195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остатки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719639"/>
              </p:ext>
            </p:extLst>
          </p:nvPr>
        </p:nvGraphicFramePr>
        <p:xfrm>
          <a:off x="2838399" y="3136535"/>
          <a:ext cx="60960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252" y="3136062"/>
            <a:ext cx="208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движения</a:t>
            </a:r>
          </a:p>
        </p:txBody>
      </p:sp>
    </p:spTree>
    <p:extLst>
      <p:ext uri="{BB962C8B-B14F-4D97-AF65-F5344CB8AC3E}">
        <p14:creationId xmlns:p14="http://schemas.microsoft.com/office/powerpoint/2010/main" val="3480837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14696"/>
          </a:xfrm>
        </p:spPr>
        <p:txBody>
          <a:bodyPr/>
          <a:lstStyle/>
          <a:p>
            <a:r>
              <a:rPr lang="ru-RU" dirty="0"/>
              <a:t>Платформа рассчитала итоги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838399" y="153714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195912"/>
              </p:ext>
            </p:extLst>
          </p:nvPr>
        </p:nvGraphicFramePr>
        <p:xfrm>
          <a:off x="2838399" y="4654340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011" y="1617785"/>
            <a:ext cx="194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52" y="4654340"/>
            <a:ext cx="195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остатки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2838399" y="3136535"/>
          <a:ext cx="60960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252" y="3136062"/>
            <a:ext cx="208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движения</a:t>
            </a:r>
          </a:p>
        </p:txBody>
      </p:sp>
    </p:spTree>
    <p:extLst>
      <p:ext uri="{BB962C8B-B14F-4D97-AF65-F5344CB8AC3E}">
        <p14:creationId xmlns:p14="http://schemas.microsoft.com/office/powerpoint/2010/main" val="2199459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14696"/>
          </a:xfrm>
        </p:spPr>
        <p:txBody>
          <a:bodyPr/>
          <a:lstStyle/>
          <a:p>
            <a:r>
              <a:rPr lang="ru-RU" dirty="0"/>
              <a:t>Вносим изменения в документ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39074"/>
              </p:ext>
            </p:extLst>
          </p:nvPr>
        </p:nvGraphicFramePr>
        <p:xfrm>
          <a:off x="2838399" y="153714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838399" y="4654340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011" y="1617785"/>
            <a:ext cx="194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52" y="4654340"/>
            <a:ext cx="195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остатки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2838399" y="3136535"/>
          <a:ext cx="60960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252" y="3136062"/>
            <a:ext cx="208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движения</a:t>
            </a:r>
          </a:p>
        </p:txBody>
      </p:sp>
    </p:spTree>
    <p:extLst>
      <p:ext uri="{BB962C8B-B14F-4D97-AF65-F5344CB8AC3E}">
        <p14:creationId xmlns:p14="http://schemas.microsoft.com/office/powerpoint/2010/main" val="34291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14696"/>
          </a:xfrm>
        </p:spPr>
        <p:txBody>
          <a:bodyPr/>
          <a:lstStyle/>
          <a:p>
            <a:r>
              <a:rPr lang="ru-RU" dirty="0" err="1"/>
              <a:t>Перепроводим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838399" y="153714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838399" y="4654340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011" y="1617785"/>
            <a:ext cx="194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52" y="4654340"/>
            <a:ext cx="195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остатки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273560"/>
              </p:ext>
            </p:extLst>
          </p:nvPr>
        </p:nvGraphicFramePr>
        <p:xfrm>
          <a:off x="2838399" y="3136535"/>
          <a:ext cx="60960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252" y="3136062"/>
            <a:ext cx="208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движения</a:t>
            </a:r>
          </a:p>
        </p:txBody>
      </p:sp>
    </p:spTree>
    <p:extLst>
      <p:ext uri="{BB962C8B-B14F-4D97-AF65-F5344CB8AC3E}">
        <p14:creationId xmlns:p14="http://schemas.microsoft.com/office/powerpoint/2010/main" val="36219858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14696"/>
          </a:xfrm>
        </p:spPr>
        <p:txBody>
          <a:bodyPr/>
          <a:lstStyle/>
          <a:p>
            <a:r>
              <a:rPr lang="ru-RU" dirty="0"/>
              <a:t>Платформа рассчитала итоги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532"/>
              </p:ext>
            </p:extLst>
          </p:nvPr>
        </p:nvGraphicFramePr>
        <p:xfrm>
          <a:off x="2838399" y="153714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659982"/>
              </p:ext>
            </p:extLst>
          </p:nvPr>
        </p:nvGraphicFramePr>
        <p:xfrm>
          <a:off x="2838399" y="4654340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011" y="1617785"/>
            <a:ext cx="194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52" y="4654340"/>
            <a:ext cx="195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остатки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036404"/>
              </p:ext>
            </p:extLst>
          </p:nvPr>
        </p:nvGraphicFramePr>
        <p:xfrm>
          <a:off x="2838399" y="3136535"/>
          <a:ext cx="60960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252" y="3136062"/>
            <a:ext cx="208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движения</a:t>
            </a:r>
          </a:p>
        </p:txBody>
      </p:sp>
    </p:spTree>
    <p:extLst>
      <p:ext uri="{BB962C8B-B14F-4D97-AF65-F5344CB8AC3E}">
        <p14:creationId xmlns:p14="http://schemas.microsoft.com/office/powerpoint/2010/main" val="18474450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14696"/>
          </a:xfrm>
        </p:spPr>
        <p:txBody>
          <a:bodyPr/>
          <a:lstStyle/>
          <a:p>
            <a:r>
              <a:rPr lang="ru-RU" dirty="0"/>
              <a:t>Сейчас мы читаем остатки по всем позициям документа. Нужно ли это?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644896"/>
              </p:ext>
            </p:extLst>
          </p:nvPr>
        </p:nvGraphicFramePr>
        <p:xfrm>
          <a:off x="2838399" y="153714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838399" y="4654340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011" y="1617785"/>
            <a:ext cx="194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52" y="4654340"/>
            <a:ext cx="195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остатки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415793"/>
              </p:ext>
            </p:extLst>
          </p:nvPr>
        </p:nvGraphicFramePr>
        <p:xfrm>
          <a:off x="2838399" y="3136535"/>
          <a:ext cx="60960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252" y="3136062"/>
            <a:ext cx="208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движения</a:t>
            </a:r>
          </a:p>
        </p:txBody>
      </p:sp>
    </p:spTree>
    <p:extLst>
      <p:ext uri="{BB962C8B-B14F-4D97-AF65-F5344CB8AC3E}">
        <p14:creationId xmlns:p14="http://schemas.microsoft.com/office/powerpoint/2010/main" val="25277967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14696"/>
          </a:xfrm>
        </p:spPr>
        <p:txBody>
          <a:bodyPr/>
          <a:lstStyle/>
          <a:p>
            <a:r>
              <a:rPr lang="ru-RU" dirty="0"/>
              <a:t>Как найти увеличенные позиции?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470026"/>
              </p:ext>
            </p:extLst>
          </p:nvPr>
        </p:nvGraphicFramePr>
        <p:xfrm>
          <a:off x="2733147" y="1689572"/>
          <a:ext cx="60960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-1" y="1689099"/>
            <a:ext cx="24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Текущие движения до </a:t>
            </a:r>
            <a:r>
              <a:rPr lang="ru-RU" dirty="0" err="1"/>
              <a:t>перепроведения</a:t>
            </a:r>
            <a:endParaRPr lang="ru-RU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405754"/>
              </p:ext>
            </p:extLst>
          </p:nvPr>
        </p:nvGraphicFramePr>
        <p:xfrm>
          <a:off x="2733147" y="3476304"/>
          <a:ext cx="6096000" cy="14833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0" y="3475831"/>
            <a:ext cx="208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Движения после </a:t>
            </a:r>
            <a:r>
              <a:rPr lang="ru-RU" dirty="0" err="1"/>
              <a:t>перепроведения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1918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14696"/>
          </a:xfrm>
        </p:spPr>
        <p:txBody>
          <a:bodyPr/>
          <a:lstStyle/>
          <a:p>
            <a:r>
              <a:rPr lang="ru-RU" dirty="0"/>
              <a:t>Читаем движения запросом до и после записи движений. 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191657"/>
              </p:ext>
            </p:extLst>
          </p:nvPr>
        </p:nvGraphicFramePr>
        <p:xfrm>
          <a:off x="1165606" y="1992944"/>
          <a:ext cx="60960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188540"/>
              </p:ext>
            </p:extLst>
          </p:nvPr>
        </p:nvGraphicFramePr>
        <p:xfrm>
          <a:off x="1165606" y="3958625"/>
          <a:ext cx="6096000" cy="1112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1004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14696"/>
          </a:xfrm>
        </p:spPr>
        <p:txBody>
          <a:bodyPr/>
          <a:lstStyle/>
          <a:p>
            <a:r>
              <a:rPr lang="ru-RU" dirty="0"/>
              <a:t>Объединяем данные. 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916590"/>
              </p:ext>
            </p:extLst>
          </p:nvPr>
        </p:nvGraphicFramePr>
        <p:xfrm>
          <a:off x="1165606" y="1992944"/>
          <a:ext cx="60960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88683"/>
              </p:ext>
            </p:extLst>
          </p:nvPr>
        </p:nvGraphicFramePr>
        <p:xfrm>
          <a:off x="1165606" y="3476304"/>
          <a:ext cx="6096000" cy="1112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9393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14696"/>
          </a:xfrm>
        </p:spPr>
        <p:txBody>
          <a:bodyPr/>
          <a:lstStyle/>
          <a:p>
            <a:r>
              <a:rPr lang="ru-RU" dirty="0"/>
              <a:t>Умножаем на -1 старые движения.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448898"/>
              </p:ext>
            </p:extLst>
          </p:nvPr>
        </p:nvGraphicFramePr>
        <p:xfrm>
          <a:off x="1165606" y="1992944"/>
          <a:ext cx="60960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165606" y="3476304"/>
          <a:ext cx="6096000" cy="1112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0647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14696"/>
          </a:xfrm>
        </p:spPr>
        <p:txBody>
          <a:bodyPr/>
          <a:lstStyle/>
          <a:p>
            <a:r>
              <a:rPr lang="ru-RU" dirty="0"/>
              <a:t>Группируем результат.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165606" y="1992944"/>
          <a:ext cx="60960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1165606" y="3476304"/>
          <a:ext cx="6096000" cy="11125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  <p:sp>
        <p:nvSpPr>
          <p:cNvPr id="3" name="Двойные круглые скобки 2"/>
          <p:cNvSpPr/>
          <p:nvPr/>
        </p:nvSpPr>
        <p:spPr>
          <a:xfrm>
            <a:off x="542611" y="1862316"/>
            <a:ext cx="7526215" cy="2880507"/>
          </a:xfrm>
          <a:prstGeom prst="bracketPair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5440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327161"/>
          </a:xfrm>
        </p:spPr>
        <p:txBody>
          <a:bodyPr/>
          <a:lstStyle/>
          <a:p>
            <a:r>
              <a:rPr lang="ru-RU" dirty="0"/>
              <a:t>Номенклатура с положительным приращение требует при проведении расчета итогов.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597729"/>
              </p:ext>
            </p:extLst>
          </p:nvPr>
        </p:nvGraphicFramePr>
        <p:xfrm>
          <a:off x="1165606" y="1992944"/>
          <a:ext cx="6096000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88699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5827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66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44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596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Киви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72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9451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Агрегаты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Альтернативный механизм расчета и хранения итогов в регистрах накопления вида оборот</a:t>
            </a:r>
          </a:p>
        </p:txBody>
      </p:sp>
    </p:spTree>
    <p:extLst>
      <p:ext uri="{BB962C8B-B14F-4D97-AF65-F5344CB8AC3E}">
        <p14:creationId xmlns:p14="http://schemas.microsoft.com/office/powerpoint/2010/main" val="1497273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63062" y="1772759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Интервал расчета итогов – Месяц</a:t>
            </a:r>
          </a:p>
          <a:p>
            <a:pPr lvl="1"/>
            <a:r>
              <a:rPr lang="ru-RU" sz="2400" dirty="0"/>
              <a:t>Если выборка не накрывает целиком месяц, то итоговая таблица не используется</a:t>
            </a:r>
            <a:r>
              <a:rPr lang="ru-RU" sz="2400" i="1" dirty="0"/>
              <a:t>, </a:t>
            </a:r>
            <a:r>
              <a:rPr lang="ru-RU" sz="2400" i="1" dirty="0">
                <a:solidFill>
                  <a:schemeClr val="bg1">
                    <a:lumMod val="65000"/>
                  </a:schemeClr>
                </a:solidFill>
              </a:rPr>
              <a:t>например запрос с периодом с 02 марта 2015 г. по 29 апреля 2015 г. не будет использовать таблицу итогов</a:t>
            </a:r>
            <a:r>
              <a:rPr lang="ru-RU" sz="24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  <a:p>
            <a:r>
              <a:rPr lang="ru-RU" sz="2400" dirty="0"/>
              <a:t>Нельзя повлиять на очередность расположения измерений</a:t>
            </a:r>
          </a:p>
          <a:p>
            <a:pPr lvl="1"/>
            <a:r>
              <a:rPr lang="ru-RU" sz="2400" dirty="0"/>
              <a:t>Например в нашей базе поиск в регистре «Продажи» по комбинации измерений «Номенклатура» и «Менеджер» без указания Контрагента и Склада будет выполнятся медленно.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1288998"/>
          </a:xfrm>
        </p:spPr>
        <p:txBody>
          <a:bodyPr>
            <a:normAutofit fontScale="90000"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Проблемы традиционного способа расчета итогов в регистрах накопления вида оборот</a:t>
            </a:r>
          </a:p>
        </p:txBody>
      </p:sp>
    </p:spTree>
    <p:extLst>
      <p:ext uri="{BB962C8B-B14F-4D97-AF65-F5344CB8AC3E}">
        <p14:creationId xmlns:p14="http://schemas.microsoft.com/office/powerpoint/2010/main" val="3541085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019011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Агрегатов может быть несколько с разными настройками.</a:t>
            </a:r>
          </a:p>
          <a:p>
            <a:r>
              <a:rPr lang="ru-RU" dirty="0"/>
              <a:t>При настройке агрегата можно указать периодичность отличную от месяца.</a:t>
            </a:r>
          </a:p>
          <a:p>
            <a:r>
              <a:rPr lang="ru-RU" dirty="0"/>
              <a:t>При настройке агрегата можно указать комбинацию измерений по которой надо рассчитывать и хранить итоги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FF0000"/>
                </a:solidFill>
              </a:rPr>
              <a:t>Агрегаты – таблицы для хранения итогов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520" y="3615321"/>
            <a:ext cx="62293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53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185738" y="1268413"/>
          <a:ext cx="8783638" cy="3484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391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1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Итоги</a:t>
                      </a:r>
                    </a:p>
                  </a:txBody>
                  <a:tcPr marL="101840" marR="10184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Агрегаты</a:t>
                      </a:r>
                    </a:p>
                  </a:txBody>
                  <a:tcPr marL="101840" marR="10184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Итоги автоматически заполняются при попадании данных в таблицу движений</a:t>
                      </a:r>
                    </a:p>
                  </a:txBody>
                  <a:tcPr marL="101840" marR="1018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Надо запускать</a:t>
                      </a:r>
                      <a:r>
                        <a:rPr lang="ru-RU" sz="1800" baseline="0" dirty="0"/>
                        <a:t> специальный механизм расчета агрегатов</a:t>
                      </a:r>
                      <a:endParaRPr lang="ru-RU" sz="1800" dirty="0"/>
                    </a:p>
                  </a:txBody>
                  <a:tcPr marL="101840" marR="1018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Очередность расположени</a:t>
                      </a:r>
                      <a:r>
                        <a:rPr lang="ru-RU" sz="1800" baseline="0" dirty="0"/>
                        <a:t>я измерений в таблице итогов предопределена настройками метаданных</a:t>
                      </a:r>
                      <a:endParaRPr lang="ru-RU" sz="1800" dirty="0"/>
                    </a:p>
                  </a:txBody>
                  <a:tcPr marL="101840" marR="1018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Можно создать агрегат с</a:t>
                      </a:r>
                      <a:r>
                        <a:rPr lang="ru-RU" sz="1800" baseline="0" dirty="0"/>
                        <a:t> нужной комбинацией измерений</a:t>
                      </a:r>
                      <a:endParaRPr lang="ru-RU" sz="1800" dirty="0"/>
                    </a:p>
                  </a:txBody>
                  <a:tcPr marL="101840" marR="1018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Периодичность</a:t>
                      </a:r>
                      <a:r>
                        <a:rPr lang="ru-RU" sz="1800" baseline="0" dirty="0"/>
                        <a:t> – только Месяц</a:t>
                      </a:r>
                      <a:endParaRPr lang="ru-RU" sz="1800" dirty="0"/>
                    </a:p>
                  </a:txBody>
                  <a:tcPr marL="101840" marR="1018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Разные периодичности</a:t>
                      </a:r>
                    </a:p>
                  </a:txBody>
                  <a:tcPr marL="101840" marR="1018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800" dirty="0"/>
                    </a:p>
                  </a:txBody>
                  <a:tcPr marL="101840" marR="1018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Платформа ведет статистику</a:t>
                      </a:r>
                      <a:r>
                        <a:rPr lang="ru-RU" sz="1800" baseline="0" dirty="0"/>
                        <a:t> использования агрегатов и может предложить их перестроить (не заполнять редко используемые агрегаты)</a:t>
                      </a:r>
                      <a:endParaRPr lang="ru-RU" sz="1800" dirty="0"/>
                    </a:p>
                  </a:txBody>
                  <a:tcPr marL="101840" marR="1018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Итоги </a:t>
            </a:r>
            <a:r>
              <a:rPr lang="en-US" dirty="0">
                <a:solidFill>
                  <a:srgbClr val="FF0000"/>
                </a:solidFill>
              </a:rPr>
              <a:t>vs </a:t>
            </a:r>
            <a:r>
              <a:rPr lang="ru-RU" dirty="0">
                <a:solidFill>
                  <a:srgbClr val="FF0000"/>
                </a:solidFill>
              </a:rPr>
              <a:t>Агрегаты</a:t>
            </a:r>
          </a:p>
        </p:txBody>
      </p:sp>
    </p:spTree>
    <p:extLst>
      <p:ext uri="{BB962C8B-B14F-4D97-AF65-F5344CB8AC3E}">
        <p14:creationId xmlns:p14="http://schemas.microsoft.com/office/powerpoint/2010/main" val="118213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6" y="3742135"/>
            <a:ext cx="3724275" cy="146685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Настроить агрегаты в режиме «Конфигуратор»</a:t>
            </a:r>
          </a:p>
          <a:p>
            <a:r>
              <a:rPr lang="ru-RU" dirty="0"/>
              <a:t>В режиме «1С: Предприятие»:</a:t>
            </a:r>
          </a:p>
          <a:p>
            <a:pPr lvl="1"/>
            <a:r>
              <a:rPr lang="ru-RU" dirty="0"/>
              <a:t>Включить режим агрегатов</a:t>
            </a:r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r>
              <a:rPr lang="ru-RU" dirty="0"/>
              <a:t>Включить использование агрегатов</a:t>
            </a:r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en-US" dirty="0"/>
          </a:p>
          <a:p>
            <a:pPr lvl="1"/>
            <a:r>
              <a:rPr lang="ru-RU" dirty="0"/>
              <a:t>Перестроить агрегаты (первоначальное заполнение данными)</a:t>
            </a:r>
          </a:p>
          <a:p>
            <a:pPr lvl="1"/>
            <a:r>
              <a:rPr lang="ru-RU" dirty="0"/>
              <a:t>Обновлять агрегаты (</a:t>
            </a:r>
            <a:r>
              <a:rPr lang="ru-RU" dirty="0" err="1"/>
              <a:t>дозаполнять</a:t>
            </a:r>
            <a:r>
              <a:rPr lang="ru-RU" dirty="0"/>
              <a:t> существующие агрегаты)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Технология работы с агрегатами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26" y="2249200"/>
            <a:ext cx="3244561" cy="1357999"/>
          </a:xfrm>
          <a:prstGeom prst="rect">
            <a:avLst/>
          </a:prstGeom>
        </p:spPr>
      </p:pic>
      <p:sp>
        <p:nvSpPr>
          <p:cNvPr id="6" name="Скругленный прямоугольник 5"/>
          <p:cNvSpPr/>
          <p:nvPr/>
        </p:nvSpPr>
        <p:spPr>
          <a:xfrm>
            <a:off x="6748464" y="4301836"/>
            <a:ext cx="772822" cy="259773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/>
          <p:nvPr/>
        </p:nvCxnSpPr>
        <p:spPr>
          <a:xfrm flipV="1">
            <a:off x="5663045" y="4561609"/>
            <a:ext cx="1085418" cy="8416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Скругленный прямоугольник 8"/>
          <p:cNvSpPr/>
          <p:nvPr/>
        </p:nvSpPr>
        <p:spPr>
          <a:xfrm>
            <a:off x="7616536" y="4301836"/>
            <a:ext cx="644237" cy="259772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7361959" y="4561609"/>
            <a:ext cx="610683" cy="120707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91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901716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FF0000"/>
                </a:solidFill>
              </a:rPr>
              <a:t>Таблицы, используемые для работы с агрегатами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85800" y="2254827"/>
            <a:ext cx="1569027" cy="13612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движений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2095501" y="4509653"/>
            <a:ext cx="1569027" cy="13612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новых оборотов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185065" y="4509653"/>
            <a:ext cx="1569027" cy="136120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буфера оборотов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754092" y="2275604"/>
            <a:ext cx="1569027" cy="136120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Таблицы агрегатов</a:t>
            </a:r>
          </a:p>
        </p:txBody>
      </p:sp>
      <p:sp>
        <p:nvSpPr>
          <p:cNvPr id="8" name="Стрелка углом 7"/>
          <p:cNvSpPr/>
          <p:nvPr/>
        </p:nvSpPr>
        <p:spPr>
          <a:xfrm rot="10800000" flipH="1">
            <a:off x="1226126" y="3616036"/>
            <a:ext cx="869373" cy="1761257"/>
          </a:xfrm>
          <a:prstGeom prst="bentArrow">
            <a:avLst>
              <a:gd name="adj1" fmla="val 27632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78282" y="2628900"/>
            <a:ext cx="31172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Метод менеджера регистра накопления:</a:t>
            </a:r>
          </a:p>
          <a:p>
            <a:pPr algn="ctr"/>
            <a:r>
              <a:rPr lang="ru-RU" dirty="0" err="1">
                <a:solidFill>
                  <a:srgbClr val="0070C0"/>
                </a:solidFill>
              </a:rPr>
              <a:t>ОбновитьАгрегаты</a:t>
            </a:r>
            <a:r>
              <a:rPr lang="ru-RU" dirty="0">
                <a:solidFill>
                  <a:srgbClr val="0070C0"/>
                </a:solidFill>
              </a:rPr>
              <a:t>()</a:t>
            </a:r>
          </a:p>
        </p:txBody>
      </p:sp>
      <p:sp>
        <p:nvSpPr>
          <p:cNvPr id="10" name="Стрелка вправо 9"/>
          <p:cNvSpPr/>
          <p:nvPr/>
        </p:nvSpPr>
        <p:spPr>
          <a:xfrm>
            <a:off x="3688773" y="5003220"/>
            <a:ext cx="1525733" cy="47278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углом 10"/>
          <p:cNvSpPr/>
          <p:nvPr/>
        </p:nvSpPr>
        <p:spPr>
          <a:xfrm rot="5400000" flipH="1">
            <a:off x="6438028" y="3952877"/>
            <a:ext cx="1692000" cy="1059872"/>
          </a:xfrm>
          <a:prstGeom prst="bentArrow">
            <a:avLst>
              <a:gd name="adj1" fmla="val 23039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18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 animBg="1"/>
      <p:bldP spid="10" grpId="1" animBg="1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Работа с показателями состояния объектов учета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Регистры сведений</a:t>
            </a:r>
          </a:p>
        </p:txBody>
      </p:sp>
    </p:spTree>
    <p:extLst>
      <p:ext uri="{BB962C8B-B14F-4D97-AF65-F5344CB8AC3E}">
        <p14:creationId xmlns:p14="http://schemas.microsoft.com/office/powerpoint/2010/main" val="375750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3513211"/>
              </p:ext>
            </p:extLst>
          </p:nvPr>
        </p:nvGraphicFramePr>
        <p:xfrm>
          <a:off x="185738" y="1268413"/>
          <a:ext cx="8783635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114">
                  <a:extLst>
                    <a:ext uri="{9D8B030D-6E8A-4147-A177-3AD203B41FA5}">
                      <a16:colId xmlns:a16="http://schemas.microsoft.com/office/drawing/2014/main" val="680950550"/>
                    </a:ext>
                  </a:extLst>
                </a:gridCol>
                <a:gridCol w="1349406">
                  <a:extLst>
                    <a:ext uri="{9D8B030D-6E8A-4147-A177-3AD203B41FA5}">
                      <a16:colId xmlns:a16="http://schemas.microsoft.com/office/drawing/2014/main" val="1203168198"/>
                    </a:ext>
                  </a:extLst>
                </a:gridCol>
                <a:gridCol w="1029810">
                  <a:extLst>
                    <a:ext uri="{9D8B030D-6E8A-4147-A177-3AD203B41FA5}">
                      <a16:colId xmlns:a16="http://schemas.microsoft.com/office/drawing/2014/main" val="1681110453"/>
                    </a:ext>
                  </a:extLst>
                </a:gridCol>
                <a:gridCol w="1296140">
                  <a:extLst>
                    <a:ext uri="{9D8B030D-6E8A-4147-A177-3AD203B41FA5}">
                      <a16:colId xmlns:a16="http://schemas.microsoft.com/office/drawing/2014/main" val="2486160327"/>
                    </a:ext>
                  </a:extLst>
                </a:gridCol>
                <a:gridCol w="1251751">
                  <a:extLst>
                    <a:ext uri="{9D8B030D-6E8A-4147-A177-3AD203B41FA5}">
                      <a16:colId xmlns:a16="http://schemas.microsoft.com/office/drawing/2014/main" val="4260395316"/>
                    </a:ext>
                  </a:extLst>
                </a:gridCol>
                <a:gridCol w="1429305">
                  <a:extLst>
                    <a:ext uri="{9D8B030D-6E8A-4147-A177-3AD203B41FA5}">
                      <a16:colId xmlns:a16="http://schemas.microsoft.com/office/drawing/2014/main" val="2112313161"/>
                    </a:ext>
                  </a:extLst>
                </a:gridCol>
                <a:gridCol w="1441109">
                  <a:extLst>
                    <a:ext uri="{9D8B030D-6E8A-4147-A177-3AD203B41FA5}">
                      <a16:colId xmlns:a16="http://schemas.microsoft.com/office/drawing/2014/main" val="3329787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Период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Контрагент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Услуга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Документ основание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Сервис менеджер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Плановая дата выполнения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Реальная</a:t>
                      </a:r>
                      <a:r>
                        <a:rPr lang="ru-RU" baseline="0" dirty="0"/>
                        <a:t> дата выполнения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19.03.15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7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19.03.15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</a:t>
                      </a:r>
                      <a:r>
                        <a:rPr lang="ru-RU" sz="1400" dirty="0"/>
                        <a:t>МММ</a:t>
                      </a:r>
                      <a:r>
                        <a:rPr lang="ru-RU" sz="1600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Монтаж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9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20.03.15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Иванов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21.03.15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0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20.03.15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</a:t>
                      </a:r>
                      <a:r>
                        <a:rPr lang="ru-RU" sz="1400" dirty="0"/>
                        <a:t>МММ</a:t>
                      </a:r>
                      <a:r>
                        <a:rPr lang="ru-RU" sz="1600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Монтаж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Левша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21.03.15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8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2</a:t>
                      </a:r>
                      <a:r>
                        <a:rPr lang="en-US" sz="1600" dirty="0"/>
                        <a:t>1</a:t>
                      </a:r>
                      <a:r>
                        <a:rPr lang="ru-RU" sz="1600" dirty="0"/>
                        <a:t>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Иванов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21.03.15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21.03.15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626541"/>
                  </a:ext>
                </a:extLst>
              </a:tr>
            </a:tbl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Таблица планирования-оказания услуг</a:t>
            </a:r>
          </a:p>
        </p:txBody>
      </p:sp>
    </p:spTree>
    <p:extLst>
      <p:ext uri="{BB962C8B-B14F-4D97-AF65-F5344CB8AC3E}">
        <p14:creationId xmlns:p14="http://schemas.microsoft.com/office/powerpoint/2010/main" val="13847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608753"/>
          </a:xfrm>
        </p:spPr>
        <p:txBody>
          <a:bodyPr>
            <a:normAutofit/>
          </a:bodyPr>
          <a:lstStyle/>
          <a:p>
            <a:r>
              <a:rPr lang="ru-RU" dirty="0"/>
              <a:t>Срез последних на 20.03.15</a:t>
            </a:r>
          </a:p>
        </p:txBody>
      </p:sp>
      <p:graphicFrame>
        <p:nvGraphicFramePr>
          <p:cNvPr id="5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1229714"/>
              </p:ext>
            </p:extLst>
          </p:nvPr>
        </p:nvGraphicFramePr>
        <p:xfrm>
          <a:off x="188119" y="1268546"/>
          <a:ext cx="5913221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114">
                  <a:extLst>
                    <a:ext uri="{9D8B030D-6E8A-4147-A177-3AD203B41FA5}">
                      <a16:colId xmlns:a16="http://schemas.microsoft.com/office/drawing/2014/main" val="680950550"/>
                    </a:ext>
                  </a:extLst>
                </a:gridCol>
                <a:gridCol w="1349406">
                  <a:extLst>
                    <a:ext uri="{9D8B030D-6E8A-4147-A177-3AD203B41FA5}">
                      <a16:colId xmlns:a16="http://schemas.microsoft.com/office/drawing/2014/main" val="1203168198"/>
                    </a:ext>
                  </a:extLst>
                </a:gridCol>
                <a:gridCol w="1029810">
                  <a:extLst>
                    <a:ext uri="{9D8B030D-6E8A-4147-A177-3AD203B41FA5}">
                      <a16:colId xmlns:a16="http://schemas.microsoft.com/office/drawing/2014/main" val="1681110453"/>
                    </a:ext>
                  </a:extLst>
                </a:gridCol>
                <a:gridCol w="1296140">
                  <a:extLst>
                    <a:ext uri="{9D8B030D-6E8A-4147-A177-3AD203B41FA5}">
                      <a16:colId xmlns:a16="http://schemas.microsoft.com/office/drawing/2014/main" val="2486160327"/>
                    </a:ext>
                  </a:extLst>
                </a:gridCol>
                <a:gridCol w="1251751">
                  <a:extLst>
                    <a:ext uri="{9D8B030D-6E8A-4147-A177-3AD203B41FA5}">
                      <a16:colId xmlns:a16="http://schemas.microsoft.com/office/drawing/2014/main" val="4260395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Период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Контрагент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Услуга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Документ основание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Сервис менеджер</a:t>
                      </a:r>
                      <a:endParaRPr lang="en-US" dirty="0"/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19.03.15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7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19.03.15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Монтаж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9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20.03.15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Иванов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0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20.03.15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Монтаж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Левша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8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2</a:t>
                      </a:r>
                      <a:r>
                        <a:rPr lang="en-US" sz="1600" dirty="0"/>
                        <a:t>1</a:t>
                      </a:r>
                      <a:r>
                        <a:rPr lang="ru-RU" sz="1600" dirty="0"/>
                        <a:t>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Иванов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626541"/>
                  </a:ext>
                </a:extLst>
              </a:tr>
            </a:tbl>
          </a:graphicData>
        </a:graphic>
      </p:graphicFrame>
      <p:graphicFrame>
        <p:nvGraphicFramePr>
          <p:cNvPr id="7" name="Объект 5"/>
          <p:cNvGraphicFramePr>
            <a:graphicFrameLocks/>
          </p:cNvGraphicFramePr>
          <p:nvPr/>
        </p:nvGraphicFramePr>
        <p:xfrm>
          <a:off x="6101340" y="1268546"/>
          <a:ext cx="2870414" cy="3505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29305">
                  <a:extLst>
                    <a:ext uri="{9D8B030D-6E8A-4147-A177-3AD203B41FA5}">
                      <a16:colId xmlns:a16="http://schemas.microsoft.com/office/drawing/2014/main" val="2112313161"/>
                    </a:ext>
                  </a:extLst>
                </a:gridCol>
                <a:gridCol w="1441109">
                  <a:extLst>
                    <a:ext uri="{9D8B030D-6E8A-4147-A177-3AD203B41FA5}">
                      <a16:colId xmlns:a16="http://schemas.microsoft.com/office/drawing/2014/main" val="3329787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Плановая дата выполнения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Реальная</a:t>
                      </a:r>
                      <a:r>
                        <a:rPr lang="ru-RU" baseline="0" dirty="0"/>
                        <a:t> дата выполнения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389"/>
                  </a:ext>
                </a:extLst>
              </a:tr>
              <a:tr h="489233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7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9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21.03.15</a:t>
                      </a:r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0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21.03.15</a:t>
                      </a:r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8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21.03.15</a:t>
                      </a:r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21.03.15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626541"/>
                  </a:ext>
                </a:extLst>
              </a:tr>
            </a:tbl>
          </a:graphicData>
        </a:graphic>
      </p:graphicFrame>
      <p:cxnSp>
        <p:nvCxnSpPr>
          <p:cNvPr id="8" name="Прямая соединительная линия 7"/>
          <p:cNvCxnSpPr/>
          <p:nvPr/>
        </p:nvCxnSpPr>
        <p:spPr>
          <a:xfrm flipV="1">
            <a:off x="188301" y="4261282"/>
            <a:ext cx="8783635" cy="8878"/>
          </a:xfrm>
          <a:prstGeom prst="line">
            <a:avLst/>
          </a:prstGeom>
          <a:ln>
            <a:prstDash val="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902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7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3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608753"/>
          </a:xfrm>
        </p:spPr>
        <p:txBody>
          <a:bodyPr>
            <a:normAutofit/>
          </a:bodyPr>
          <a:lstStyle/>
          <a:p>
            <a:r>
              <a:rPr lang="ru-RU" dirty="0"/>
              <a:t>Срез последних на 20.03.15</a:t>
            </a:r>
          </a:p>
        </p:txBody>
      </p:sp>
      <p:graphicFrame>
        <p:nvGraphicFramePr>
          <p:cNvPr id="5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8594043"/>
              </p:ext>
            </p:extLst>
          </p:nvPr>
        </p:nvGraphicFramePr>
        <p:xfrm>
          <a:off x="188119" y="1268546"/>
          <a:ext cx="5913221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114">
                  <a:extLst>
                    <a:ext uri="{9D8B030D-6E8A-4147-A177-3AD203B41FA5}">
                      <a16:colId xmlns:a16="http://schemas.microsoft.com/office/drawing/2014/main" val="680950550"/>
                    </a:ext>
                  </a:extLst>
                </a:gridCol>
                <a:gridCol w="1349406">
                  <a:extLst>
                    <a:ext uri="{9D8B030D-6E8A-4147-A177-3AD203B41FA5}">
                      <a16:colId xmlns:a16="http://schemas.microsoft.com/office/drawing/2014/main" val="1203168198"/>
                    </a:ext>
                  </a:extLst>
                </a:gridCol>
                <a:gridCol w="1029810">
                  <a:extLst>
                    <a:ext uri="{9D8B030D-6E8A-4147-A177-3AD203B41FA5}">
                      <a16:colId xmlns:a16="http://schemas.microsoft.com/office/drawing/2014/main" val="1681110453"/>
                    </a:ext>
                  </a:extLst>
                </a:gridCol>
                <a:gridCol w="1296140">
                  <a:extLst>
                    <a:ext uri="{9D8B030D-6E8A-4147-A177-3AD203B41FA5}">
                      <a16:colId xmlns:a16="http://schemas.microsoft.com/office/drawing/2014/main" val="2486160327"/>
                    </a:ext>
                  </a:extLst>
                </a:gridCol>
                <a:gridCol w="1251751">
                  <a:extLst>
                    <a:ext uri="{9D8B030D-6E8A-4147-A177-3AD203B41FA5}">
                      <a16:colId xmlns:a16="http://schemas.microsoft.com/office/drawing/2014/main" val="4260395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Период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Контрагент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Услуга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Документ основание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Сервис менеджер</a:t>
                      </a:r>
                      <a:endParaRPr lang="en-US" dirty="0"/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19.03.15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7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19.03.15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Монтаж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9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20.03.15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Иванов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0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20.03.15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Монтаж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Левша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84686"/>
                  </a:ext>
                </a:extLst>
              </a:tr>
            </a:tbl>
          </a:graphicData>
        </a:graphic>
      </p:graphicFrame>
      <p:graphicFrame>
        <p:nvGraphicFramePr>
          <p:cNvPr id="7" name="Объект 5"/>
          <p:cNvGraphicFramePr>
            <a:graphicFrameLocks/>
          </p:cNvGraphicFramePr>
          <p:nvPr/>
        </p:nvGraphicFramePr>
        <p:xfrm>
          <a:off x="6101340" y="1268546"/>
          <a:ext cx="2870414" cy="2987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29305">
                  <a:extLst>
                    <a:ext uri="{9D8B030D-6E8A-4147-A177-3AD203B41FA5}">
                      <a16:colId xmlns:a16="http://schemas.microsoft.com/office/drawing/2014/main" val="2112313161"/>
                    </a:ext>
                  </a:extLst>
                </a:gridCol>
                <a:gridCol w="1441109">
                  <a:extLst>
                    <a:ext uri="{9D8B030D-6E8A-4147-A177-3AD203B41FA5}">
                      <a16:colId xmlns:a16="http://schemas.microsoft.com/office/drawing/2014/main" val="3329787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Плановая дата выполнения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Реальная</a:t>
                      </a:r>
                      <a:r>
                        <a:rPr lang="ru-RU" baseline="0" dirty="0"/>
                        <a:t> дата выполнения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389"/>
                  </a:ext>
                </a:extLst>
              </a:tr>
              <a:tr h="489233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7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9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21.03.15</a:t>
                      </a:r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0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21.03.15</a:t>
                      </a:r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84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51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608753"/>
          </a:xfrm>
        </p:spPr>
        <p:txBody>
          <a:bodyPr>
            <a:normAutofit/>
          </a:bodyPr>
          <a:lstStyle/>
          <a:p>
            <a:r>
              <a:rPr lang="ru-RU" dirty="0"/>
              <a:t>Срез последних на 21.03.15</a:t>
            </a:r>
          </a:p>
        </p:txBody>
      </p:sp>
      <p:graphicFrame>
        <p:nvGraphicFramePr>
          <p:cNvPr id="5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7918106"/>
              </p:ext>
            </p:extLst>
          </p:nvPr>
        </p:nvGraphicFramePr>
        <p:xfrm>
          <a:off x="188119" y="1268546"/>
          <a:ext cx="5913221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114">
                  <a:extLst>
                    <a:ext uri="{9D8B030D-6E8A-4147-A177-3AD203B41FA5}">
                      <a16:colId xmlns:a16="http://schemas.microsoft.com/office/drawing/2014/main" val="680950550"/>
                    </a:ext>
                  </a:extLst>
                </a:gridCol>
                <a:gridCol w="1349406">
                  <a:extLst>
                    <a:ext uri="{9D8B030D-6E8A-4147-A177-3AD203B41FA5}">
                      <a16:colId xmlns:a16="http://schemas.microsoft.com/office/drawing/2014/main" val="1203168198"/>
                    </a:ext>
                  </a:extLst>
                </a:gridCol>
                <a:gridCol w="1029810">
                  <a:extLst>
                    <a:ext uri="{9D8B030D-6E8A-4147-A177-3AD203B41FA5}">
                      <a16:colId xmlns:a16="http://schemas.microsoft.com/office/drawing/2014/main" val="1681110453"/>
                    </a:ext>
                  </a:extLst>
                </a:gridCol>
                <a:gridCol w="1296140">
                  <a:extLst>
                    <a:ext uri="{9D8B030D-6E8A-4147-A177-3AD203B41FA5}">
                      <a16:colId xmlns:a16="http://schemas.microsoft.com/office/drawing/2014/main" val="2486160327"/>
                    </a:ext>
                  </a:extLst>
                </a:gridCol>
                <a:gridCol w="1251751">
                  <a:extLst>
                    <a:ext uri="{9D8B030D-6E8A-4147-A177-3AD203B41FA5}">
                      <a16:colId xmlns:a16="http://schemas.microsoft.com/office/drawing/2014/main" val="4260395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Период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Контрагент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Услуга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Документ основание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Сервис менеджер</a:t>
                      </a:r>
                      <a:endParaRPr lang="en-US" dirty="0"/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19.03.15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7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19.03.15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Монтаж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9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20.03.15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Иванов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0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20.03.15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Монтаж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Левша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8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21.03.15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Иванов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626541"/>
                  </a:ext>
                </a:extLst>
              </a:tr>
            </a:tbl>
          </a:graphicData>
        </a:graphic>
      </p:graphicFrame>
      <p:graphicFrame>
        <p:nvGraphicFramePr>
          <p:cNvPr id="7" name="Объект 5"/>
          <p:cNvGraphicFramePr>
            <a:graphicFrameLocks/>
          </p:cNvGraphicFramePr>
          <p:nvPr/>
        </p:nvGraphicFramePr>
        <p:xfrm>
          <a:off x="6101340" y="1268546"/>
          <a:ext cx="2870414" cy="3505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29305">
                  <a:extLst>
                    <a:ext uri="{9D8B030D-6E8A-4147-A177-3AD203B41FA5}">
                      <a16:colId xmlns:a16="http://schemas.microsoft.com/office/drawing/2014/main" val="2112313161"/>
                    </a:ext>
                  </a:extLst>
                </a:gridCol>
                <a:gridCol w="1441109">
                  <a:extLst>
                    <a:ext uri="{9D8B030D-6E8A-4147-A177-3AD203B41FA5}">
                      <a16:colId xmlns:a16="http://schemas.microsoft.com/office/drawing/2014/main" val="3329787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Плановая дата выполнения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Реальная</a:t>
                      </a:r>
                      <a:r>
                        <a:rPr lang="ru-RU" baseline="0" dirty="0"/>
                        <a:t> дата выполнения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389"/>
                  </a:ext>
                </a:extLst>
              </a:tr>
              <a:tr h="489233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7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9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21.03.15</a:t>
                      </a:r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50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21.03.15</a:t>
                      </a:r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8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21.03.15</a:t>
                      </a:r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21.03.15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626541"/>
                  </a:ext>
                </a:extLst>
              </a:tr>
            </a:tbl>
          </a:graphicData>
        </a:graphic>
      </p:graphicFrame>
      <p:cxnSp>
        <p:nvCxnSpPr>
          <p:cNvPr id="8" name="Прямая соединительная линия 7"/>
          <p:cNvCxnSpPr/>
          <p:nvPr/>
        </p:nvCxnSpPr>
        <p:spPr>
          <a:xfrm flipV="1">
            <a:off x="188301" y="4764868"/>
            <a:ext cx="8783635" cy="8878"/>
          </a:xfrm>
          <a:prstGeom prst="line">
            <a:avLst/>
          </a:prstGeom>
          <a:ln>
            <a:prstDash val="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 flipV="1">
            <a:off x="188119" y="3396941"/>
            <a:ext cx="8783635" cy="8878"/>
          </a:xfrm>
          <a:prstGeom prst="line">
            <a:avLst/>
          </a:prstGeom>
          <a:ln>
            <a:prstDash val="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18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7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3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7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37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608753"/>
          </a:xfrm>
        </p:spPr>
        <p:txBody>
          <a:bodyPr>
            <a:normAutofit/>
          </a:bodyPr>
          <a:lstStyle/>
          <a:p>
            <a:r>
              <a:rPr lang="ru-RU" dirty="0"/>
              <a:t>Срез последних на 21.03.15</a:t>
            </a:r>
          </a:p>
        </p:txBody>
      </p:sp>
      <p:graphicFrame>
        <p:nvGraphicFramePr>
          <p:cNvPr id="5" name="Объект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6732955"/>
              </p:ext>
            </p:extLst>
          </p:nvPr>
        </p:nvGraphicFramePr>
        <p:xfrm>
          <a:off x="188119" y="1268546"/>
          <a:ext cx="5913221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114">
                  <a:extLst>
                    <a:ext uri="{9D8B030D-6E8A-4147-A177-3AD203B41FA5}">
                      <a16:colId xmlns:a16="http://schemas.microsoft.com/office/drawing/2014/main" val="680950550"/>
                    </a:ext>
                  </a:extLst>
                </a:gridCol>
                <a:gridCol w="1349406">
                  <a:extLst>
                    <a:ext uri="{9D8B030D-6E8A-4147-A177-3AD203B41FA5}">
                      <a16:colId xmlns:a16="http://schemas.microsoft.com/office/drawing/2014/main" val="1203168198"/>
                    </a:ext>
                  </a:extLst>
                </a:gridCol>
                <a:gridCol w="1029810">
                  <a:extLst>
                    <a:ext uri="{9D8B030D-6E8A-4147-A177-3AD203B41FA5}">
                      <a16:colId xmlns:a16="http://schemas.microsoft.com/office/drawing/2014/main" val="1681110453"/>
                    </a:ext>
                  </a:extLst>
                </a:gridCol>
                <a:gridCol w="1296140">
                  <a:extLst>
                    <a:ext uri="{9D8B030D-6E8A-4147-A177-3AD203B41FA5}">
                      <a16:colId xmlns:a16="http://schemas.microsoft.com/office/drawing/2014/main" val="2486160327"/>
                    </a:ext>
                  </a:extLst>
                </a:gridCol>
                <a:gridCol w="1251751">
                  <a:extLst>
                    <a:ext uri="{9D8B030D-6E8A-4147-A177-3AD203B41FA5}">
                      <a16:colId xmlns:a16="http://schemas.microsoft.com/office/drawing/2014/main" val="4260395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Период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Контрагент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Услуга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Документ основание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Сервис менеджер</a:t>
                      </a:r>
                      <a:endParaRPr lang="en-US" dirty="0"/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19.03.15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7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19.03.15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Монтаж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9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20.03.15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Монтаж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Левша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8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21.03.15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ООО «Лето»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Доставка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Реализация № 1 от 19.03.15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Иванов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626541"/>
                  </a:ext>
                </a:extLst>
              </a:tr>
            </a:tbl>
          </a:graphicData>
        </a:graphic>
      </p:graphicFrame>
      <p:graphicFrame>
        <p:nvGraphicFramePr>
          <p:cNvPr id="7" name="Объект 5"/>
          <p:cNvGraphicFramePr>
            <a:graphicFrameLocks/>
          </p:cNvGraphicFramePr>
          <p:nvPr/>
        </p:nvGraphicFramePr>
        <p:xfrm>
          <a:off x="6101340" y="1268546"/>
          <a:ext cx="2870414" cy="2987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29305">
                  <a:extLst>
                    <a:ext uri="{9D8B030D-6E8A-4147-A177-3AD203B41FA5}">
                      <a16:colId xmlns:a16="http://schemas.microsoft.com/office/drawing/2014/main" val="2112313161"/>
                    </a:ext>
                  </a:extLst>
                </a:gridCol>
                <a:gridCol w="1441109">
                  <a:extLst>
                    <a:ext uri="{9D8B030D-6E8A-4147-A177-3AD203B41FA5}">
                      <a16:colId xmlns:a16="http://schemas.microsoft.com/office/drawing/2014/main" val="3329787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Плановая дата выполнения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Реальная</a:t>
                      </a:r>
                      <a:r>
                        <a:rPr lang="ru-RU" baseline="0" dirty="0"/>
                        <a:t> дата выполнения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389"/>
                  </a:ext>
                </a:extLst>
              </a:tr>
              <a:tr h="489233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7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697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21.03.15</a:t>
                      </a:r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8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21.03.15</a:t>
                      </a:r>
                      <a:endParaRPr lang="en-US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21.03.15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626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01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СофтБаланс_оперативные_задачи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оперативные_задачи" id="{33A68656-AB69-42D8-87C2-B62BEC975DFF}" vid="{70654CA2-220B-4AD7-9C6D-4AA73BD78FD3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СофтБаланс_оперативные_задачи</Template>
  <TotalTime>2756</TotalTime>
  <Words>2626</Words>
  <Application>Microsoft Office PowerPoint</Application>
  <PresentationFormat>Экран (4:3)</PresentationFormat>
  <Paragraphs>1210</Paragraphs>
  <Slides>55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62" baseType="lpstr">
      <vt:lpstr>Arial</vt:lpstr>
      <vt:lpstr>Arial Black</vt:lpstr>
      <vt:lpstr>Calibri</vt:lpstr>
      <vt:lpstr>Tahoma</vt:lpstr>
      <vt:lpstr>Verdana</vt:lpstr>
      <vt:lpstr>Wingdings</vt:lpstr>
      <vt:lpstr>СофтБаланс_оперативные_задачи</vt:lpstr>
      <vt:lpstr>Занятие 09</vt:lpstr>
      <vt:lpstr>Запись движений без проведения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Запись и Удаление данных в регистрах</vt:lpstr>
      <vt:lpstr>Команда «Резерв»</vt:lpstr>
      <vt:lpstr>Создаем документ объект</vt:lpstr>
      <vt:lpstr>Записываем документ объект</vt:lpstr>
      <vt:lpstr>Записываем документ объект</vt:lpstr>
      <vt:lpstr>Заполняем наборы записей</vt:lpstr>
      <vt:lpstr>Заполняем наборы записей</vt:lpstr>
      <vt:lpstr>Записываем наборы записей</vt:lpstr>
      <vt:lpstr>Записываем наборы записей</vt:lpstr>
      <vt:lpstr>Документ объет удаляется</vt:lpstr>
      <vt:lpstr>Команда отработала</vt:lpstr>
      <vt:lpstr>Проведение документа (начало)</vt:lpstr>
      <vt:lpstr>Создается документ объект</vt:lpstr>
      <vt:lpstr>Записывается документ объект</vt:lpstr>
      <vt:lpstr>Заполняем наборы записей</vt:lpstr>
      <vt:lpstr>Заполняем наборы записей</vt:lpstr>
      <vt:lpstr>Записываются наборы записей (вариант 1)</vt:lpstr>
      <vt:lpstr>Записываются наборы записей (вариант 1)</vt:lpstr>
      <vt:lpstr>Записываются наборы записей (вариант 2)</vt:lpstr>
      <vt:lpstr>Записываются наборы записей (вариант 2)</vt:lpstr>
      <vt:lpstr>Удаляется документ объект</vt:lpstr>
      <vt:lpstr>Проведение документа (конец)</vt:lpstr>
      <vt:lpstr>Расчет остатков при перепроведении</vt:lpstr>
      <vt:lpstr>Первое проведение</vt:lpstr>
      <vt:lpstr>Записали движения</vt:lpstr>
      <vt:lpstr>Платформа рассчитала итоги</vt:lpstr>
      <vt:lpstr>Вносим изменения в документ</vt:lpstr>
      <vt:lpstr>Перепроводим</vt:lpstr>
      <vt:lpstr>Платформа рассчитала итоги</vt:lpstr>
      <vt:lpstr>Сейчас мы читаем остатки по всем позициям документа. Нужно ли это?</vt:lpstr>
      <vt:lpstr>Как найти увеличенные позиции?</vt:lpstr>
      <vt:lpstr>Читаем движения запросом до и после записи движений. </vt:lpstr>
      <vt:lpstr>Объединяем данные. </vt:lpstr>
      <vt:lpstr>Умножаем на -1 старые движения.</vt:lpstr>
      <vt:lpstr>Группируем результат.</vt:lpstr>
      <vt:lpstr>Номенклатура с положительным приращение требует при проведении расчета итогов.</vt:lpstr>
      <vt:lpstr>Агрегаты</vt:lpstr>
      <vt:lpstr>Проблемы традиционного способа расчета итогов в регистрах накопления вида оборот</vt:lpstr>
      <vt:lpstr>Агрегаты – таблицы для хранения итогов</vt:lpstr>
      <vt:lpstr>Итоги vs Агрегаты</vt:lpstr>
      <vt:lpstr>Технология работы с агрегатами</vt:lpstr>
      <vt:lpstr>Таблицы, используемые для работы с агрегатами</vt:lpstr>
      <vt:lpstr>Работа с показателями состояния объектов учета</vt:lpstr>
      <vt:lpstr>Таблица планирования-оказания услуг</vt:lpstr>
      <vt:lpstr>Срез последних на 20.03.15</vt:lpstr>
      <vt:lpstr>Срез последних на 20.03.15</vt:lpstr>
      <vt:lpstr>Срез последних на 21.03.15</vt:lpstr>
      <vt:lpstr>Срез последних на 21.03.15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Последовательности</dc:title>
  <dc:creator>eugeniy sizov</dc:creator>
  <cp:lastModifiedBy>eugeniy sizov</cp:lastModifiedBy>
  <cp:revision>75</cp:revision>
  <dcterms:created xsi:type="dcterms:W3CDTF">2014-11-16T15:45:42Z</dcterms:created>
  <dcterms:modified xsi:type="dcterms:W3CDTF">2020-10-14T17:12:35Z</dcterms:modified>
</cp:coreProperties>
</file>