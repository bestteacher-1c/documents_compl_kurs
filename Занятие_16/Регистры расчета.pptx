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71" r:id="rId7"/>
    <p:sldId id="272" r:id="rId8"/>
    <p:sldId id="273" r:id="rId9"/>
    <p:sldId id="275" r:id="rId10"/>
    <p:sldId id="276" r:id="rId11"/>
    <p:sldId id="278" r:id="rId12"/>
    <p:sldId id="279" r:id="rId13"/>
    <p:sldId id="280" r:id="rId14"/>
    <p:sldId id="281" r:id="rId15"/>
    <p:sldId id="293" r:id="rId16"/>
    <p:sldId id="282" r:id="rId17"/>
    <p:sldId id="264" r:id="rId18"/>
    <p:sldId id="29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84" r:id="rId2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Светлый стиль 2 -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Светлый стиль 3 -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82" y="34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-73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2B6E04-4AB7-44D4-9232-FC759D8A7328}" type="doc">
      <dgm:prSet loTypeId="urn:microsoft.com/office/officeart/2005/8/layout/process1" loCatId="process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ru-RU"/>
        </a:p>
      </dgm:t>
    </dgm:pt>
    <dgm:pt modelId="{22FEAF17-3252-4767-A1E8-AEAC15246D07}">
      <dgm:prSet phldrT="[Текст]"/>
      <dgm:spPr/>
      <dgm:t>
        <a:bodyPr/>
        <a:lstStyle/>
        <a:p>
          <a:r>
            <a:rPr lang="ru-RU" dirty="0" smtClean="0"/>
            <a:t>Набор записей</a:t>
          </a:r>
          <a:endParaRPr lang="ru-RU" dirty="0"/>
        </a:p>
      </dgm:t>
    </dgm:pt>
    <dgm:pt modelId="{1C1C758F-1DB0-4486-A5D4-F4C9A86C648E}" type="parTrans" cxnId="{FA8F8F4E-308E-486A-B3CB-AF92273FDA66}">
      <dgm:prSet/>
      <dgm:spPr/>
      <dgm:t>
        <a:bodyPr/>
        <a:lstStyle/>
        <a:p>
          <a:endParaRPr lang="ru-RU"/>
        </a:p>
      </dgm:t>
    </dgm:pt>
    <dgm:pt modelId="{AEE6CD8F-A1D5-4F3E-997E-AA03E436E6CD}" type="sibTrans" cxnId="{FA8F8F4E-308E-486A-B3CB-AF92273FDA66}">
      <dgm:prSet/>
      <dgm:spPr/>
      <dgm:t>
        <a:bodyPr/>
        <a:lstStyle/>
        <a:p>
          <a:endParaRPr lang="ru-RU"/>
        </a:p>
      </dgm:t>
    </dgm:pt>
    <dgm:pt modelId="{5F109FB6-0BFE-4D25-9ED5-F2A3AA3E7E74}">
      <dgm:prSet phldrT="[Текст]"/>
      <dgm:spPr/>
      <dgm:t>
        <a:bodyPr/>
        <a:lstStyle/>
        <a:p>
          <a:r>
            <a:rPr lang="ru-RU" dirty="0" smtClean="0"/>
            <a:t>Таблица движений</a:t>
          </a:r>
          <a:endParaRPr lang="ru-RU" dirty="0"/>
        </a:p>
      </dgm:t>
    </dgm:pt>
    <dgm:pt modelId="{489FB740-9A9E-48DC-A713-179A0483E3E7}" type="parTrans" cxnId="{7A6E2B4D-8C57-4676-A9CC-5D039A040E6F}">
      <dgm:prSet/>
      <dgm:spPr/>
      <dgm:t>
        <a:bodyPr/>
        <a:lstStyle/>
        <a:p>
          <a:endParaRPr lang="ru-RU"/>
        </a:p>
      </dgm:t>
    </dgm:pt>
    <dgm:pt modelId="{F00ABC40-7ED5-4703-89A3-AA90C6D21FD6}" type="sibTrans" cxnId="{7A6E2B4D-8C57-4676-A9CC-5D039A040E6F}">
      <dgm:prSet/>
      <dgm:spPr/>
      <dgm:t>
        <a:bodyPr/>
        <a:lstStyle/>
        <a:p>
          <a:endParaRPr lang="ru-RU"/>
        </a:p>
      </dgm:t>
    </dgm:pt>
    <dgm:pt modelId="{DF120C57-4E58-4FA7-ACF2-B5C7BFB4AA11}">
      <dgm:prSet/>
      <dgm:spPr/>
      <dgm:t>
        <a:bodyPr/>
        <a:lstStyle/>
        <a:p>
          <a:r>
            <a:rPr lang="ru-RU" dirty="0" smtClean="0"/>
            <a:t>Внутренние механизмы регистра</a:t>
          </a:r>
          <a:endParaRPr lang="ru-RU" dirty="0"/>
        </a:p>
      </dgm:t>
    </dgm:pt>
    <dgm:pt modelId="{C21B2955-8BFC-4D8E-8D47-60C426E09BEE}" type="parTrans" cxnId="{7C7EFAA3-38A1-4F18-AC7F-89B2A684A519}">
      <dgm:prSet/>
      <dgm:spPr/>
      <dgm:t>
        <a:bodyPr/>
        <a:lstStyle/>
        <a:p>
          <a:endParaRPr lang="ru-RU"/>
        </a:p>
      </dgm:t>
    </dgm:pt>
    <dgm:pt modelId="{8AE9351F-6446-424C-BEBF-5A8663666A26}" type="sibTrans" cxnId="{7C7EFAA3-38A1-4F18-AC7F-89B2A684A519}">
      <dgm:prSet/>
      <dgm:spPr/>
      <dgm:t>
        <a:bodyPr/>
        <a:lstStyle/>
        <a:p>
          <a:endParaRPr lang="ru-RU"/>
        </a:p>
      </dgm:t>
    </dgm:pt>
    <dgm:pt modelId="{E61A4690-B4E1-424B-BE81-64B4955F7E2A}">
      <dgm:prSet/>
      <dgm:spPr/>
      <dgm:t>
        <a:bodyPr/>
        <a:lstStyle/>
        <a:p>
          <a:r>
            <a:rPr lang="ru-RU" dirty="0" smtClean="0"/>
            <a:t>Таблицы регистров, хранящие обработанные данные</a:t>
          </a:r>
          <a:endParaRPr lang="ru-RU" dirty="0"/>
        </a:p>
      </dgm:t>
    </dgm:pt>
    <dgm:pt modelId="{79D5326C-4D39-4AE3-8A17-9BAF6CB5C06A}" type="parTrans" cxnId="{6C004006-B5D9-4D02-93A0-B2F8116840DC}">
      <dgm:prSet/>
      <dgm:spPr/>
      <dgm:t>
        <a:bodyPr/>
        <a:lstStyle/>
        <a:p>
          <a:endParaRPr lang="ru-RU"/>
        </a:p>
      </dgm:t>
    </dgm:pt>
    <dgm:pt modelId="{380726CC-358F-42A5-8E96-2C9D24014AC1}" type="sibTrans" cxnId="{6C004006-B5D9-4D02-93A0-B2F8116840DC}">
      <dgm:prSet/>
      <dgm:spPr/>
      <dgm:t>
        <a:bodyPr/>
        <a:lstStyle/>
        <a:p>
          <a:endParaRPr lang="ru-RU"/>
        </a:p>
      </dgm:t>
    </dgm:pt>
    <dgm:pt modelId="{D24DD110-D186-4F2D-8A4A-B381AC0C9A42}" type="pres">
      <dgm:prSet presAssocID="{CF2B6E04-4AB7-44D4-9232-FC759D8A7328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D6CBA05-5C92-42A6-A215-812C80B544E6}" type="pres">
      <dgm:prSet presAssocID="{22FEAF17-3252-4767-A1E8-AEAC15246D07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771FEE-2EF1-4BBC-A777-D1495A593656}" type="pres">
      <dgm:prSet presAssocID="{AEE6CD8F-A1D5-4F3E-997E-AA03E436E6CD}" presName="sibTrans" presStyleLbl="sibTrans2D1" presStyleIdx="0" presStyleCnt="3"/>
      <dgm:spPr/>
      <dgm:t>
        <a:bodyPr/>
        <a:lstStyle/>
        <a:p>
          <a:endParaRPr lang="ru-RU"/>
        </a:p>
      </dgm:t>
    </dgm:pt>
    <dgm:pt modelId="{3AD6E31A-0E98-460C-B6CE-5C2D07E2A4B0}" type="pres">
      <dgm:prSet presAssocID="{AEE6CD8F-A1D5-4F3E-997E-AA03E436E6CD}" presName="connectorText" presStyleLbl="sibTrans2D1" presStyleIdx="0" presStyleCnt="3"/>
      <dgm:spPr/>
      <dgm:t>
        <a:bodyPr/>
        <a:lstStyle/>
        <a:p>
          <a:endParaRPr lang="ru-RU"/>
        </a:p>
      </dgm:t>
    </dgm:pt>
    <dgm:pt modelId="{9F3F375B-13E0-4AEE-BFC4-9E3CC037ADDE}" type="pres">
      <dgm:prSet presAssocID="{5F109FB6-0BFE-4D25-9ED5-F2A3AA3E7E74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80F8CBF-53EE-46BE-8983-EF2C533B13D9}" type="pres">
      <dgm:prSet presAssocID="{F00ABC40-7ED5-4703-89A3-AA90C6D21FD6}" presName="sibTrans" presStyleLbl="sibTrans2D1" presStyleIdx="1" presStyleCnt="3"/>
      <dgm:spPr/>
      <dgm:t>
        <a:bodyPr/>
        <a:lstStyle/>
        <a:p>
          <a:endParaRPr lang="ru-RU"/>
        </a:p>
      </dgm:t>
    </dgm:pt>
    <dgm:pt modelId="{3AD84B67-A90E-46EE-88F9-4D2557E1B971}" type="pres">
      <dgm:prSet presAssocID="{F00ABC40-7ED5-4703-89A3-AA90C6D21FD6}" presName="connectorText" presStyleLbl="sibTrans2D1" presStyleIdx="1" presStyleCnt="3"/>
      <dgm:spPr/>
      <dgm:t>
        <a:bodyPr/>
        <a:lstStyle/>
        <a:p>
          <a:endParaRPr lang="ru-RU"/>
        </a:p>
      </dgm:t>
    </dgm:pt>
    <dgm:pt modelId="{8D34451B-FC6C-41AD-8145-F18A18AB2565}" type="pres">
      <dgm:prSet presAssocID="{DF120C57-4E58-4FA7-ACF2-B5C7BFB4AA11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6A3AB2D-8FEF-4C34-98EB-7774DA2A051F}" type="pres">
      <dgm:prSet presAssocID="{8AE9351F-6446-424C-BEBF-5A8663666A26}" presName="sibTrans" presStyleLbl="sibTrans2D1" presStyleIdx="2" presStyleCnt="3"/>
      <dgm:spPr/>
      <dgm:t>
        <a:bodyPr/>
        <a:lstStyle/>
        <a:p>
          <a:endParaRPr lang="ru-RU"/>
        </a:p>
      </dgm:t>
    </dgm:pt>
    <dgm:pt modelId="{4F5BE178-41FE-4365-BF97-4885D8FA410E}" type="pres">
      <dgm:prSet presAssocID="{8AE9351F-6446-424C-BEBF-5A8663666A26}" presName="connectorText" presStyleLbl="sibTrans2D1" presStyleIdx="2" presStyleCnt="3"/>
      <dgm:spPr/>
      <dgm:t>
        <a:bodyPr/>
        <a:lstStyle/>
        <a:p>
          <a:endParaRPr lang="ru-RU"/>
        </a:p>
      </dgm:t>
    </dgm:pt>
    <dgm:pt modelId="{E6ED543A-3C95-424B-988C-1971F2C8B94D}" type="pres">
      <dgm:prSet presAssocID="{E61A4690-B4E1-424B-BE81-64B4955F7E2A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C004006-B5D9-4D02-93A0-B2F8116840DC}" srcId="{CF2B6E04-4AB7-44D4-9232-FC759D8A7328}" destId="{E61A4690-B4E1-424B-BE81-64B4955F7E2A}" srcOrd="3" destOrd="0" parTransId="{79D5326C-4D39-4AE3-8A17-9BAF6CB5C06A}" sibTransId="{380726CC-358F-42A5-8E96-2C9D24014AC1}"/>
    <dgm:cxn modelId="{AA0508F2-E6AF-4786-8921-5BD13F5B9BAF}" type="presOf" srcId="{8AE9351F-6446-424C-BEBF-5A8663666A26}" destId="{4F5BE178-41FE-4365-BF97-4885D8FA410E}" srcOrd="1" destOrd="0" presId="urn:microsoft.com/office/officeart/2005/8/layout/process1"/>
    <dgm:cxn modelId="{F958158A-2A40-438B-8B71-D1E79EEE30B9}" type="presOf" srcId="{F00ABC40-7ED5-4703-89A3-AA90C6D21FD6}" destId="{B80F8CBF-53EE-46BE-8983-EF2C533B13D9}" srcOrd="0" destOrd="0" presId="urn:microsoft.com/office/officeart/2005/8/layout/process1"/>
    <dgm:cxn modelId="{7A6E2B4D-8C57-4676-A9CC-5D039A040E6F}" srcId="{CF2B6E04-4AB7-44D4-9232-FC759D8A7328}" destId="{5F109FB6-0BFE-4D25-9ED5-F2A3AA3E7E74}" srcOrd="1" destOrd="0" parTransId="{489FB740-9A9E-48DC-A713-179A0483E3E7}" sibTransId="{F00ABC40-7ED5-4703-89A3-AA90C6D21FD6}"/>
    <dgm:cxn modelId="{0AE7964C-8C5A-4B36-9D92-7478753E7FA1}" type="presOf" srcId="{E61A4690-B4E1-424B-BE81-64B4955F7E2A}" destId="{E6ED543A-3C95-424B-988C-1971F2C8B94D}" srcOrd="0" destOrd="0" presId="urn:microsoft.com/office/officeart/2005/8/layout/process1"/>
    <dgm:cxn modelId="{773875D5-A8FA-4DF4-BDC4-5932C6B62051}" type="presOf" srcId="{22FEAF17-3252-4767-A1E8-AEAC15246D07}" destId="{ED6CBA05-5C92-42A6-A215-812C80B544E6}" srcOrd="0" destOrd="0" presId="urn:microsoft.com/office/officeart/2005/8/layout/process1"/>
    <dgm:cxn modelId="{604FD685-007D-48DC-A93D-C860362949A7}" type="presOf" srcId="{F00ABC40-7ED5-4703-89A3-AA90C6D21FD6}" destId="{3AD84B67-A90E-46EE-88F9-4D2557E1B971}" srcOrd="1" destOrd="0" presId="urn:microsoft.com/office/officeart/2005/8/layout/process1"/>
    <dgm:cxn modelId="{AF927D41-564B-4DE5-BBDA-D98287AB225F}" type="presOf" srcId="{CF2B6E04-4AB7-44D4-9232-FC759D8A7328}" destId="{D24DD110-D186-4F2D-8A4A-B381AC0C9A42}" srcOrd="0" destOrd="0" presId="urn:microsoft.com/office/officeart/2005/8/layout/process1"/>
    <dgm:cxn modelId="{F4AD7ACB-D669-4781-8424-AE820385E778}" type="presOf" srcId="{AEE6CD8F-A1D5-4F3E-997E-AA03E436E6CD}" destId="{BA771FEE-2EF1-4BBC-A777-D1495A593656}" srcOrd="0" destOrd="0" presId="urn:microsoft.com/office/officeart/2005/8/layout/process1"/>
    <dgm:cxn modelId="{D8B2706F-C1E8-4753-B264-E50994A9CD47}" type="presOf" srcId="{8AE9351F-6446-424C-BEBF-5A8663666A26}" destId="{86A3AB2D-8FEF-4C34-98EB-7774DA2A051F}" srcOrd="0" destOrd="0" presId="urn:microsoft.com/office/officeart/2005/8/layout/process1"/>
    <dgm:cxn modelId="{75DDE9A4-CF82-40BA-BE10-3744A72B5F5F}" type="presOf" srcId="{5F109FB6-0BFE-4D25-9ED5-F2A3AA3E7E74}" destId="{9F3F375B-13E0-4AEE-BFC4-9E3CC037ADDE}" srcOrd="0" destOrd="0" presId="urn:microsoft.com/office/officeart/2005/8/layout/process1"/>
    <dgm:cxn modelId="{0769D0AD-2F3A-4CAE-A9A4-61CF933FD631}" type="presOf" srcId="{AEE6CD8F-A1D5-4F3E-997E-AA03E436E6CD}" destId="{3AD6E31A-0E98-460C-B6CE-5C2D07E2A4B0}" srcOrd="1" destOrd="0" presId="urn:microsoft.com/office/officeart/2005/8/layout/process1"/>
    <dgm:cxn modelId="{7C7EFAA3-38A1-4F18-AC7F-89B2A684A519}" srcId="{CF2B6E04-4AB7-44D4-9232-FC759D8A7328}" destId="{DF120C57-4E58-4FA7-ACF2-B5C7BFB4AA11}" srcOrd="2" destOrd="0" parTransId="{C21B2955-8BFC-4D8E-8D47-60C426E09BEE}" sibTransId="{8AE9351F-6446-424C-BEBF-5A8663666A26}"/>
    <dgm:cxn modelId="{FA8F8F4E-308E-486A-B3CB-AF92273FDA66}" srcId="{CF2B6E04-4AB7-44D4-9232-FC759D8A7328}" destId="{22FEAF17-3252-4767-A1E8-AEAC15246D07}" srcOrd="0" destOrd="0" parTransId="{1C1C758F-1DB0-4486-A5D4-F4C9A86C648E}" sibTransId="{AEE6CD8F-A1D5-4F3E-997E-AA03E436E6CD}"/>
    <dgm:cxn modelId="{3D532940-44FC-4E51-B4BC-23944FD11F0E}" type="presOf" srcId="{DF120C57-4E58-4FA7-ACF2-B5C7BFB4AA11}" destId="{8D34451B-FC6C-41AD-8145-F18A18AB2565}" srcOrd="0" destOrd="0" presId="urn:microsoft.com/office/officeart/2005/8/layout/process1"/>
    <dgm:cxn modelId="{40C15A30-32F2-44A7-A499-EA8DFF4A8C07}" type="presParOf" srcId="{D24DD110-D186-4F2D-8A4A-B381AC0C9A42}" destId="{ED6CBA05-5C92-42A6-A215-812C80B544E6}" srcOrd="0" destOrd="0" presId="urn:microsoft.com/office/officeart/2005/8/layout/process1"/>
    <dgm:cxn modelId="{2E322195-E505-4A5A-909C-23C60ABD6BC0}" type="presParOf" srcId="{D24DD110-D186-4F2D-8A4A-B381AC0C9A42}" destId="{BA771FEE-2EF1-4BBC-A777-D1495A593656}" srcOrd="1" destOrd="0" presId="urn:microsoft.com/office/officeart/2005/8/layout/process1"/>
    <dgm:cxn modelId="{C5FD37FE-582F-4EB8-A22E-AB8077FDE4E7}" type="presParOf" srcId="{BA771FEE-2EF1-4BBC-A777-D1495A593656}" destId="{3AD6E31A-0E98-460C-B6CE-5C2D07E2A4B0}" srcOrd="0" destOrd="0" presId="urn:microsoft.com/office/officeart/2005/8/layout/process1"/>
    <dgm:cxn modelId="{1C87A4BD-B791-4943-91F7-661617AADBC9}" type="presParOf" srcId="{D24DD110-D186-4F2D-8A4A-B381AC0C9A42}" destId="{9F3F375B-13E0-4AEE-BFC4-9E3CC037ADDE}" srcOrd="2" destOrd="0" presId="urn:microsoft.com/office/officeart/2005/8/layout/process1"/>
    <dgm:cxn modelId="{058A2DAB-629B-4E28-8558-D681B6E9C7BD}" type="presParOf" srcId="{D24DD110-D186-4F2D-8A4A-B381AC0C9A42}" destId="{B80F8CBF-53EE-46BE-8983-EF2C533B13D9}" srcOrd="3" destOrd="0" presId="urn:microsoft.com/office/officeart/2005/8/layout/process1"/>
    <dgm:cxn modelId="{3FEA8FFB-D73C-45C6-AE57-86100AE2C14D}" type="presParOf" srcId="{B80F8CBF-53EE-46BE-8983-EF2C533B13D9}" destId="{3AD84B67-A90E-46EE-88F9-4D2557E1B971}" srcOrd="0" destOrd="0" presId="urn:microsoft.com/office/officeart/2005/8/layout/process1"/>
    <dgm:cxn modelId="{48FDD430-B913-4701-98E3-C1ACDDE34326}" type="presParOf" srcId="{D24DD110-D186-4F2D-8A4A-B381AC0C9A42}" destId="{8D34451B-FC6C-41AD-8145-F18A18AB2565}" srcOrd="4" destOrd="0" presId="urn:microsoft.com/office/officeart/2005/8/layout/process1"/>
    <dgm:cxn modelId="{FDA5C3A3-DB92-46F6-AAE1-C42505CB4B6D}" type="presParOf" srcId="{D24DD110-D186-4F2D-8A4A-B381AC0C9A42}" destId="{86A3AB2D-8FEF-4C34-98EB-7774DA2A051F}" srcOrd="5" destOrd="0" presId="urn:microsoft.com/office/officeart/2005/8/layout/process1"/>
    <dgm:cxn modelId="{3C7FE02B-0630-46D1-A87B-7A85FBDA242A}" type="presParOf" srcId="{86A3AB2D-8FEF-4C34-98EB-7774DA2A051F}" destId="{4F5BE178-41FE-4365-BF97-4885D8FA410E}" srcOrd="0" destOrd="0" presId="urn:microsoft.com/office/officeart/2005/8/layout/process1"/>
    <dgm:cxn modelId="{D74D9451-37E5-44D9-92C0-8C16F0E25D11}" type="presParOf" srcId="{D24DD110-D186-4F2D-8A4A-B381AC0C9A42}" destId="{E6ED543A-3C95-424B-988C-1971F2C8B94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79E942-9D60-4B50-88DB-96A2518C5662}" type="doc">
      <dgm:prSet loTypeId="urn:microsoft.com/office/officeart/2005/8/layout/process1" loCatId="process" qsTypeId="urn:microsoft.com/office/officeart/2005/8/quickstyle/simple5" qsCatId="simple" csTypeId="urn:microsoft.com/office/officeart/2005/8/colors/colorful3" csCatId="colorful" phldr="1"/>
      <dgm:spPr/>
    </dgm:pt>
    <dgm:pt modelId="{00308DEB-0942-4132-94D7-D2B0198628A2}">
      <dgm:prSet phldrT="[Текст]"/>
      <dgm:spPr/>
      <dgm:t>
        <a:bodyPr/>
        <a:lstStyle/>
        <a:p>
          <a:r>
            <a:rPr lang="ru-RU" dirty="0" smtClean="0"/>
            <a:t>Набор записей</a:t>
          </a:r>
          <a:endParaRPr lang="ru-RU" dirty="0"/>
        </a:p>
      </dgm:t>
    </dgm:pt>
    <dgm:pt modelId="{41A29AF2-6ACB-4BCF-9CAE-8BBF04E9AC02}" type="parTrans" cxnId="{189F9727-27A4-4D47-9C3A-2D2A7BBE84AB}">
      <dgm:prSet/>
      <dgm:spPr/>
      <dgm:t>
        <a:bodyPr/>
        <a:lstStyle/>
        <a:p>
          <a:endParaRPr lang="ru-RU"/>
        </a:p>
      </dgm:t>
    </dgm:pt>
    <dgm:pt modelId="{F0B068F1-8866-4DE6-8748-AA78A7720214}" type="sibTrans" cxnId="{189F9727-27A4-4D47-9C3A-2D2A7BBE84AB}">
      <dgm:prSet/>
      <dgm:spPr/>
      <dgm:t>
        <a:bodyPr/>
        <a:lstStyle/>
        <a:p>
          <a:endParaRPr lang="ru-RU"/>
        </a:p>
      </dgm:t>
    </dgm:pt>
    <dgm:pt modelId="{D6DCA811-6520-4B4C-B3F6-E54358B3A491}">
      <dgm:prSet phldrT="[Текст]"/>
      <dgm:spPr/>
      <dgm:t>
        <a:bodyPr/>
        <a:lstStyle/>
        <a:p>
          <a:r>
            <a:rPr lang="ru-RU" dirty="0" smtClean="0"/>
            <a:t>Таблица движений</a:t>
          </a:r>
          <a:endParaRPr lang="ru-RU" dirty="0"/>
        </a:p>
      </dgm:t>
    </dgm:pt>
    <dgm:pt modelId="{F0AFD4F1-161F-4EF7-AF8A-1F647CB28A48}" type="parTrans" cxnId="{9D078387-8A04-45EC-A245-C7EB16CE8C0F}">
      <dgm:prSet/>
      <dgm:spPr/>
      <dgm:t>
        <a:bodyPr/>
        <a:lstStyle/>
        <a:p>
          <a:endParaRPr lang="ru-RU"/>
        </a:p>
      </dgm:t>
    </dgm:pt>
    <dgm:pt modelId="{F7C9B0BD-4789-4C03-966C-7289EE9E0D7F}" type="sibTrans" cxnId="{9D078387-8A04-45EC-A245-C7EB16CE8C0F}">
      <dgm:prSet/>
      <dgm:spPr/>
      <dgm:t>
        <a:bodyPr/>
        <a:lstStyle/>
        <a:p>
          <a:endParaRPr lang="ru-RU"/>
        </a:p>
      </dgm:t>
    </dgm:pt>
    <dgm:pt modelId="{67103CCD-9F79-4DA0-89BF-3D9E48C700C9}" type="pres">
      <dgm:prSet presAssocID="{4479E942-9D60-4B50-88DB-96A2518C5662}" presName="Name0" presStyleCnt="0">
        <dgm:presLayoutVars>
          <dgm:dir/>
          <dgm:resizeHandles val="exact"/>
        </dgm:presLayoutVars>
      </dgm:prSet>
      <dgm:spPr/>
    </dgm:pt>
    <dgm:pt modelId="{6E56A0E6-0C80-4492-9F2F-832C4293D139}" type="pres">
      <dgm:prSet presAssocID="{00308DEB-0942-4132-94D7-D2B0198628A2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FBA00D3-9808-4C2F-9317-C3792EB4011B}" type="pres">
      <dgm:prSet presAssocID="{F0B068F1-8866-4DE6-8748-AA78A7720214}" presName="sibTrans" presStyleLbl="sibTrans2D1" presStyleIdx="0" presStyleCnt="1"/>
      <dgm:spPr/>
      <dgm:t>
        <a:bodyPr/>
        <a:lstStyle/>
        <a:p>
          <a:endParaRPr lang="ru-RU"/>
        </a:p>
      </dgm:t>
    </dgm:pt>
    <dgm:pt modelId="{C22C9E2D-1DEE-4388-B507-5749EA6D65D5}" type="pres">
      <dgm:prSet presAssocID="{F0B068F1-8866-4DE6-8748-AA78A7720214}" presName="connectorText" presStyleLbl="sibTrans2D1" presStyleIdx="0" presStyleCnt="1"/>
      <dgm:spPr/>
      <dgm:t>
        <a:bodyPr/>
        <a:lstStyle/>
        <a:p>
          <a:endParaRPr lang="ru-RU"/>
        </a:p>
      </dgm:t>
    </dgm:pt>
    <dgm:pt modelId="{B5069AD1-BD82-4216-B769-C157B9621FFD}" type="pres">
      <dgm:prSet presAssocID="{D6DCA811-6520-4B4C-B3F6-E54358B3A491}" presName="node" presStyleLbl="node1" presStyleIdx="1" presStyleCnt="2" custScaleX="100001" custScaleY="100001" custLinFactX="24" custLinFactNeighborX="100000" custLinFactNeighborY="92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E127F0A-733C-4BB0-BF8F-2981C66C4519}" type="presOf" srcId="{D6DCA811-6520-4B4C-B3F6-E54358B3A491}" destId="{B5069AD1-BD82-4216-B769-C157B9621FFD}" srcOrd="0" destOrd="0" presId="urn:microsoft.com/office/officeart/2005/8/layout/process1"/>
    <dgm:cxn modelId="{D330C99E-7977-4F13-B1C7-05C7FFB45339}" type="presOf" srcId="{F0B068F1-8866-4DE6-8748-AA78A7720214}" destId="{C22C9E2D-1DEE-4388-B507-5749EA6D65D5}" srcOrd="1" destOrd="0" presId="urn:microsoft.com/office/officeart/2005/8/layout/process1"/>
    <dgm:cxn modelId="{693244FE-3DDE-46D8-A503-1B0AB93D36E2}" type="presOf" srcId="{00308DEB-0942-4132-94D7-D2B0198628A2}" destId="{6E56A0E6-0C80-4492-9F2F-832C4293D139}" srcOrd="0" destOrd="0" presId="urn:microsoft.com/office/officeart/2005/8/layout/process1"/>
    <dgm:cxn modelId="{9D078387-8A04-45EC-A245-C7EB16CE8C0F}" srcId="{4479E942-9D60-4B50-88DB-96A2518C5662}" destId="{D6DCA811-6520-4B4C-B3F6-E54358B3A491}" srcOrd="1" destOrd="0" parTransId="{F0AFD4F1-161F-4EF7-AF8A-1F647CB28A48}" sibTransId="{F7C9B0BD-4789-4C03-966C-7289EE9E0D7F}"/>
    <dgm:cxn modelId="{12E358A0-2BF8-4D7D-95DB-06EA39E604F0}" type="presOf" srcId="{4479E942-9D60-4B50-88DB-96A2518C5662}" destId="{67103CCD-9F79-4DA0-89BF-3D9E48C700C9}" srcOrd="0" destOrd="0" presId="urn:microsoft.com/office/officeart/2005/8/layout/process1"/>
    <dgm:cxn modelId="{E8BCAC2E-ED82-44AE-8C03-095A78B6750B}" type="presOf" srcId="{F0B068F1-8866-4DE6-8748-AA78A7720214}" destId="{BFBA00D3-9808-4C2F-9317-C3792EB4011B}" srcOrd="0" destOrd="0" presId="urn:microsoft.com/office/officeart/2005/8/layout/process1"/>
    <dgm:cxn modelId="{189F9727-27A4-4D47-9C3A-2D2A7BBE84AB}" srcId="{4479E942-9D60-4B50-88DB-96A2518C5662}" destId="{00308DEB-0942-4132-94D7-D2B0198628A2}" srcOrd="0" destOrd="0" parTransId="{41A29AF2-6ACB-4BCF-9CAE-8BBF04E9AC02}" sibTransId="{F0B068F1-8866-4DE6-8748-AA78A7720214}"/>
    <dgm:cxn modelId="{83B40BF7-EA23-4B93-8771-A5B3D2C090F2}" type="presParOf" srcId="{67103CCD-9F79-4DA0-89BF-3D9E48C700C9}" destId="{6E56A0E6-0C80-4492-9F2F-832C4293D139}" srcOrd="0" destOrd="0" presId="urn:microsoft.com/office/officeart/2005/8/layout/process1"/>
    <dgm:cxn modelId="{8A48260E-9822-4FF6-8B18-620C14D64837}" type="presParOf" srcId="{67103CCD-9F79-4DA0-89BF-3D9E48C700C9}" destId="{BFBA00D3-9808-4C2F-9317-C3792EB4011B}" srcOrd="1" destOrd="0" presId="urn:microsoft.com/office/officeart/2005/8/layout/process1"/>
    <dgm:cxn modelId="{642F5EAD-BDC7-4E39-B4BA-4236FB23704E}" type="presParOf" srcId="{BFBA00D3-9808-4C2F-9317-C3792EB4011B}" destId="{C22C9E2D-1DEE-4388-B507-5749EA6D65D5}" srcOrd="0" destOrd="0" presId="urn:microsoft.com/office/officeart/2005/8/layout/process1"/>
    <dgm:cxn modelId="{7600410F-74C4-4F5E-BFCE-9BE78BC9B0B4}" type="presParOf" srcId="{67103CCD-9F79-4DA0-89BF-3D9E48C700C9}" destId="{B5069AD1-BD82-4216-B769-C157B9621FFD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CBA05-5C92-42A6-A215-812C80B544E6}">
      <dsp:nvSpPr>
        <dsp:cNvPr id="0" name=""/>
        <dsp:cNvSpPr/>
      </dsp:nvSpPr>
      <dsp:spPr>
        <a:xfrm>
          <a:off x="3616" y="1544018"/>
          <a:ext cx="1581224" cy="14379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/>
            <a:t>Набор записей</a:t>
          </a:r>
          <a:endParaRPr lang="ru-RU" sz="1700" kern="1200" dirty="0"/>
        </a:p>
      </dsp:txBody>
      <dsp:txXfrm>
        <a:off x="45731" y="1586133"/>
        <a:ext cx="1496994" cy="1353695"/>
      </dsp:txXfrm>
    </dsp:sp>
    <dsp:sp modelId="{BA771FEE-2EF1-4BBC-A777-D1495A593656}">
      <dsp:nvSpPr>
        <dsp:cNvPr id="0" name=""/>
        <dsp:cNvSpPr/>
      </dsp:nvSpPr>
      <dsp:spPr>
        <a:xfrm>
          <a:off x="1742963" y="2066909"/>
          <a:ext cx="335219" cy="39214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400" kern="1200"/>
        </a:p>
      </dsp:txBody>
      <dsp:txXfrm>
        <a:off x="1742963" y="2145338"/>
        <a:ext cx="234653" cy="235285"/>
      </dsp:txXfrm>
    </dsp:sp>
    <dsp:sp modelId="{9F3F375B-13E0-4AEE-BFC4-9E3CC037ADDE}">
      <dsp:nvSpPr>
        <dsp:cNvPr id="0" name=""/>
        <dsp:cNvSpPr/>
      </dsp:nvSpPr>
      <dsp:spPr>
        <a:xfrm>
          <a:off x="2217330" y="1544018"/>
          <a:ext cx="1581224" cy="14379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shade val="51000"/>
                <a:satMod val="130000"/>
              </a:schemeClr>
            </a:gs>
            <a:gs pos="80000">
              <a:schemeClr val="accent3">
                <a:hueOff val="3750088"/>
                <a:satOff val="-5627"/>
                <a:lumOff val="-915"/>
                <a:alphaOff val="0"/>
                <a:shade val="93000"/>
                <a:satMod val="13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/>
            <a:t>Таблица движений</a:t>
          </a:r>
          <a:endParaRPr lang="ru-RU" sz="1700" kern="1200" dirty="0"/>
        </a:p>
      </dsp:txBody>
      <dsp:txXfrm>
        <a:off x="2259445" y="1586133"/>
        <a:ext cx="1496994" cy="1353695"/>
      </dsp:txXfrm>
    </dsp:sp>
    <dsp:sp modelId="{B80F8CBF-53EE-46BE-8983-EF2C533B13D9}">
      <dsp:nvSpPr>
        <dsp:cNvPr id="0" name=""/>
        <dsp:cNvSpPr/>
      </dsp:nvSpPr>
      <dsp:spPr>
        <a:xfrm>
          <a:off x="3956677" y="2066909"/>
          <a:ext cx="335219" cy="39214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5625132"/>
                <a:satOff val="-8440"/>
                <a:lumOff val="-1373"/>
                <a:alphaOff val="0"/>
                <a:shade val="51000"/>
                <a:satMod val="130000"/>
              </a:schemeClr>
            </a:gs>
            <a:gs pos="80000">
              <a:schemeClr val="accent3">
                <a:hueOff val="5625132"/>
                <a:satOff val="-8440"/>
                <a:lumOff val="-1373"/>
                <a:alphaOff val="0"/>
                <a:shade val="93000"/>
                <a:satMod val="130000"/>
              </a:schemeClr>
            </a:gs>
            <a:gs pos="100000">
              <a:schemeClr val="accent3">
                <a:hueOff val="5625132"/>
                <a:satOff val="-8440"/>
                <a:lumOff val="-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400" kern="1200"/>
        </a:p>
      </dsp:txBody>
      <dsp:txXfrm>
        <a:off x="3956677" y="2145338"/>
        <a:ext cx="234653" cy="235285"/>
      </dsp:txXfrm>
    </dsp:sp>
    <dsp:sp modelId="{8D34451B-FC6C-41AD-8145-F18A18AB2565}">
      <dsp:nvSpPr>
        <dsp:cNvPr id="0" name=""/>
        <dsp:cNvSpPr/>
      </dsp:nvSpPr>
      <dsp:spPr>
        <a:xfrm>
          <a:off x="4431044" y="1544018"/>
          <a:ext cx="1581224" cy="14379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shade val="51000"/>
                <a:satMod val="130000"/>
              </a:schemeClr>
            </a:gs>
            <a:gs pos="80000">
              <a:schemeClr val="accent3">
                <a:hueOff val="7500176"/>
                <a:satOff val="-11253"/>
                <a:lumOff val="-1830"/>
                <a:alphaOff val="0"/>
                <a:shade val="93000"/>
                <a:satMod val="13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/>
            <a:t>Внутренние механизмы регистра</a:t>
          </a:r>
          <a:endParaRPr lang="ru-RU" sz="1700" kern="1200" dirty="0"/>
        </a:p>
      </dsp:txBody>
      <dsp:txXfrm>
        <a:off x="4473159" y="1586133"/>
        <a:ext cx="1496994" cy="1353695"/>
      </dsp:txXfrm>
    </dsp:sp>
    <dsp:sp modelId="{86A3AB2D-8FEF-4C34-98EB-7774DA2A051F}">
      <dsp:nvSpPr>
        <dsp:cNvPr id="0" name=""/>
        <dsp:cNvSpPr/>
      </dsp:nvSpPr>
      <dsp:spPr>
        <a:xfrm>
          <a:off x="6170391" y="2066909"/>
          <a:ext cx="335219" cy="39214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400" kern="1200"/>
        </a:p>
      </dsp:txBody>
      <dsp:txXfrm>
        <a:off x="6170391" y="2145338"/>
        <a:ext cx="234653" cy="235285"/>
      </dsp:txXfrm>
    </dsp:sp>
    <dsp:sp modelId="{E6ED543A-3C95-424B-988C-1971F2C8B94D}">
      <dsp:nvSpPr>
        <dsp:cNvPr id="0" name=""/>
        <dsp:cNvSpPr/>
      </dsp:nvSpPr>
      <dsp:spPr>
        <a:xfrm>
          <a:off x="6644759" y="1544018"/>
          <a:ext cx="1581224" cy="14379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/>
            <a:t>Таблицы регистров, хранящие обработанные данные</a:t>
          </a:r>
          <a:endParaRPr lang="ru-RU" sz="1700" kern="1200" dirty="0"/>
        </a:p>
      </dsp:txBody>
      <dsp:txXfrm>
        <a:off x="6686874" y="1586133"/>
        <a:ext cx="1496994" cy="13536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56A0E6-0C80-4492-9F2F-832C4293D139}">
      <dsp:nvSpPr>
        <dsp:cNvPr id="0" name=""/>
        <dsp:cNvSpPr/>
      </dsp:nvSpPr>
      <dsp:spPr>
        <a:xfrm>
          <a:off x="1168" y="302626"/>
          <a:ext cx="2519295" cy="1511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 smtClean="0"/>
            <a:t>Набор записей</a:t>
          </a:r>
          <a:endParaRPr lang="ru-RU" sz="3800" kern="1200" dirty="0"/>
        </a:p>
      </dsp:txBody>
      <dsp:txXfrm>
        <a:off x="45441" y="346899"/>
        <a:ext cx="2430749" cy="1423031"/>
      </dsp:txXfrm>
    </dsp:sp>
    <dsp:sp modelId="{BFBA00D3-9808-4C2F-9317-C3792EB4011B}">
      <dsp:nvSpPr>
        <dsp:cNvPr id="0" name=""/>
        <dsp:cNvSpPr/>
      </dsp:nvSpPr>
      <dsp:spPr>
        <a:xfrm rot="13653">
          <a:off x="2772683" y="753089"/>
          <a:ext cx="534714" cy="62478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600" kern="1200"/>
        </a:p>
      </dsp:txBody>
      <dsp:txXfrm>
        <a:off x="2772684" y="877727"/>
        <a:ext cx="374300" cy="374871"/>
      </dsp:txXfrm>
    </dsp:sp>
    <dsp:sp modelId="{B5069AD1-BD82-4216-B769-C157B9621FFD}">
      <dsp:nvSpPr>
        <dsp:cNvPr id="0" name=""/>
        <dsp:cNvSpPr/>
      </dsp:nvSpPr>
      <dsp:spPr>
        <a:xfrm>
          <a:off x="3529351" y="316631"/>
          <a:ext cx="2519320" cy="15115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 smtClean="0"/>
            <a:t>Таблица движений</a:t>
          </a:r>
          <a:endParaRPr lang="ru-RU" sz="3800" kern="1200" dirty="0"/>
        </a:p>
      </dsp:txBody>
      <dsp:txXfrm>
        <a:off x="3573624" y="360904"/>
        <a:ext cx="2430774" cy="14230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9D51-9B3F-453F-A1F1-3265F0C2F417}" type="datetimeFigureOut">
              <a:rPr lang="ru-RU" smtClean="0"/>
              <a:t>20.12.2017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7F321-3EAD-4D62-8A92-6A4EC2D599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98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9D51-9B3F-453F-A1F1-3265F0C2F417}" type="datetimeFigureOut">
              <a:rPr lang="ru-RU" smtClean="0"/>
              <a:t>20.12.2017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7F321-3EAD-4D62-8A92-6A4EC2D599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920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9D51-9B3F-453F-A1F1-3265F0C2F417}" type="datetimeFigureOut">
              <a:rPr lang="ru-RU" smtClean="0"/>
              <a:t>20.12.2017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7F321-3EAD-4D62-8A92-6A4EC2D599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823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9D51-9B3F-453F-A1F1-3265F0C2F417}" type="datetimeFigureOut">
              <a:rPr lang="ru-RU" smtClean="0"/>
              <a:t>20.12.2017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7F321-3EAD-4D62-8A92-6A4EC2D599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136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9D51-9B3F-453F-A1F1-3265F0C2F417}" type="datetimeFigureOut">
              <a:rPr lang="ru-RU" smtClean="0"/>
              <a:t>20.12.2017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7F321-3EAD-4D62-8A92-6A4EC2D599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532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9D51-9B3F-453F-A1F1-3265F0C2F417}" type="datetimeFigureOut">
              <a:rPr lang="ru-RU" smtClean="0"/>
              <a:t>20.12.2017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7F321-3EAD-4D62-8A92-6A4EC2D599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3053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9D51-9B3F-453F-A1F1-3265F0C2F417}" type="datetimeFigureOut">
              <a:rPr lang="ru-RU" smtClean="0"/>
              <a:t>20.12.2017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7F321-3EAD-4D62-8A92-6A4EC2D599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738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9D51-9B3F-453F-A1F1-3265F0C2F417}" type="datetimeFigureOut">
              <a:rPr lang="ru-RU" smtClean="0"/>
              <a:t>20.12.2017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7F321-3EAD-4D62-8A92-6A4EC2D599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099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9D51-9B3F-453F-A1F1-3265F0C2F417}" type="datetimeFigureOut">
              <a:rPr lang="ru-RU" smtClean="0"/>
              <a:t>20.12.2017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7F321-3EAD-4D62-8A92-6A4EC2D599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6301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9D51-9B3F-453F-A1F1-3265F0C2F417}" type="datetimeFigureOut">
              <a:rPr lang="ru-RU" smtClean="0"/>
              <a:t>20.12.2017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7F321-3EAD-4D62-8A92-6A4EC2D599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937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9D51-9B3F-453F-A1F1-3265F0C2F417}" type="datetimeFigureOut">
              <a:rPr lang="ru-RU" smtClean="0"/>
              <a:t>20.12.2017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7F321-3EAD-4D62-8A92-6A4EC2D599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580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9D51-9B3F-453F-A1F1-3265F0C2F417}" type="datetimeFigureOut">
              <a:rPr lang="ru-RU" smtClean="0"/>
              <a:t>20.12.2017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7F321-3EAD-4D62-8A92-6A4EC2D599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4797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Регистры расчета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957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Логика работы «других» регистров</a:t>
            </a:r>
            <a:br>
              <a:rPr lang="ru-RU" dirty="0" smtClean="0"/>
            </a:br>
            <a:r>
              <a:rPr lang="ru-RU" sz="2400" dirty="0" smtClean="0">
                <a:solidFill>
                  <a:srgbClr val="0070C0"/>
                </a:solidFill>
              </a:rPr>
              <a:t>(обработка информации записанной в ресурсы)</a:t>
            </a:r>
            <a:endParaRPr lang="ru-RU" sz="2400" dirty="0">
              <a:solidFill>
                <a:srgbClr val="0070C0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222918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828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D6CBA05-5C92-42A6-A215-812C80B544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A771FEE-2EF1-4BBC-A777-D1495A5936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F3F375B-13E0-4AEE-BFC4-9E3CC037AD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0F8CBF-53EE-46BE-8983-EF2C533B13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D34451B-FC6C-41AD-8145-F18A18AB25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5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6A3AB2D-8FEF-4C34-98EB-7774DA2A0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ED543A-3C95-424B-988C-1971F2C8B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/>
              <a:t>Логика работы регистра расчета</a:t>
            </a:r>
            <a:br>
              <a:rPr lang="ru-RU" sz="4000" dirty="0" smtClean="0"/>
            </a:br>
            <a:r>
              <a:rPr lang="ru-RU" sz="2200" dirty="0" smtClean="0">
                <a:solidFill>
                  <a:srgbClr val="0070C0"/>
                </a:solidFill>
              </a:rPr>
              <a:t>(обработка информации записанной в ресурсы)</a:t>
            </a:r>
            <a:endParaRPr lang="ru-RU" sz="22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4447693"/>
              </p:ext>
            </p:extLst>
          </p:nvPr>
        </p:nvGraphicFramePr>
        <p:xfrm>
          <a:off x="1530632" y="1628800"/>
          <a:ext cx="6048672" cy="2116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Стрелка углом вверх 4"/>
          <p:cNvSpPr/>
          <p:nvPr/>
        </p:nvSpPr>
        <p:spPr>
          <a:xfrm rot="18674094" flipH="1">
            <a:off x="3745650" y="3178462"/>
            <a:ext cx="1342810" cy="1475047"/>
          </a:xfrm>
          <a:prstGeom prst="bentUpArrow">
            <a:avLst>
              <a:gd name="adj1" fmla="val 14752"/>
              <a:gd name="adj2" fmla="val 19677"/>
              <a:gd name="adj3" fmla="val 2500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599892" y="5085184"/>
            <a:ext cx="1944216" cy="108012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Внутренние механизмы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650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E56A0E6-0C80-4492-9F2F-832C4293D1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FBA00D3-9808-4C2F-9317-C3792EB401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5069AD1-BD82-4216-B769-C157B9621F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750" tmFilter="0, 0; .2, .5; .8, .5; 1, 0"/>
                                        <p:tgtEl>
                                          <p:spTgt spid="4">
                                            <p:graphicEl>
                                              <a:dgm id="{6E56A0E6-0C80-4492-9F2F-832C4293D1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75" autoRev="1" fill="hold"/>
                                        <p:tgtEl>
                                          <p:spTgt spid="4">
                                            <p:graphicEl>
                                              <a:dgm id="{6E56A0E6-0C80-4492-9F2F-832C4293D139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00"/>
                            </p:stCondLst>
                            <p:childTnLst>
                              <p:par>
                                <p:cTn id="22" presetID="2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750" tmFilter="0, 0; .2, .5; .8, .5; 1, 0"/>
                                        <p:tgtEl>
                                          <p:spTgt spid="4">
                                            <p:graphicEl>
                                              <a:dgm id="{BFBA00D3-9808-4C2F-9317-C3792EB401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375" autoRev="1" fill="hold"/>
                                        <p:tgtEl>
                                          <p:spTgt spid="4">
                                            <p:graphicEl>
                                              <a:dgm id="{BFBA00D3-9808-4C2F-9317-C3792EB4011B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750" tmFilter="0, 0; .2, .5; .8, .5; 1, 0"/>
                                        <p:tgtEl>
                                          <p:spTgt spid="4">
                                            <p:graphicEl>
                                              <a:dgm id="{B5069AD1-BD82-4216-B769-C157B9621F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75" autoRev="1" fill="hold"/>
                                        <p:tgtEl>
                                          <p:spTgt spid="4">
                                            <p:graphicEl>
                                              <a:dgm id="{B5069AD1-BD82-4216-B769-C157B9621FFD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  <p:bldGraphic spid="4" grpId="2" uiExpand="1">
        <p:bldSub>
          <a:bldDgm bld="one"/>
        </p:bldSub>
      </p:bldGraphic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Расчет ресурсов 1</a:t>
            </a:r>
            <a:br>
              <a:rPr lang="ru-RU" dirty="0"/>
            </a:br>
            <a:r>
              <a:rPr lang="ru-RU" sz="2800" dirty="0">
                <a:solidFill>
                  <a:srgbClr val="0070C0"/>
                </a:solidFill>
              </a:rPr>
              <a:t>Исходное положение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378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284984"/>
            <a:ext cx="527685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86" y="1521718"/>
            <a:ext cx="390525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0"/>
            <a:ext cx="315277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32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284984"/>
            <a:ext cx="527685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86" y="1521718"/>
            <a:ext cx="390525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Стрелка углом 4"/>
          <p:cNvSpPr/>
          <p:nvPr/>
        </p:nvSpPr>
        <p:spPr>
          <a:xfrm rot="16200000" flipH="1">
            <a:off x="3068415" y="-107973"/>
            <a:ext cx="829020" cy="2430362"/>
          </a:xfrm>
          <a:prstGeom prst="ben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106" y="0"/>
            <a:ext cx="315277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6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284984"/>
            <a:ext cx="527685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Стрелка углом 4"/>
          <p:cNvSpPr/>
          <p:nvPr/>
        </p:nvSpPr>
        <p:spPr>
          <a:xfrm rot="16200000" flipH="1">
            <a:off x="3068415" y="-107973"/>
            <a:ext cx="829020" cy="2430362"/>
          </a:xfrm>
          <a:prstGeom prst="ben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28423"/>
            <a:ext cx="387667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трелка вниз 8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0"/>
            <a:ext cx="315277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506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28423"/>
            <a:ext cx="387667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Стрелка углом 4"/>
          <p:cNvSpPr/>
          <p:nvPr/>
        </p:nvSpPr>
        <p:spPr>
          <a:xfrm rot="16200000" flipH="1">
            <a:off x="3068415" y="-107973"/>
            <a:ext cx="829020" cy="2430362"/>
          </a:xfrm>
          <a:prstGeom prst="ben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96" y="3288278"/>
            <a:ext cx="5257800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трелка вниз 8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275856" y="4725144"/>
            <a:ext cx="1422250" cy="2011184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Скругленная прямоугольная выноска 1"/>
          <p:cNvSpPr/>
          <p:nvPr/>
        </p:nvSpPr>
        <p:spPr>
          <a:xfrm>
            <a:off x="5436096" y="3429000"/>
            <a:ext cx="3024336" cy="1368152"/>
          </a:xfrm>
          <a:prstGeom prst="wedgeRoundRectCallout">
            <a:avLst>
              <a:gd name="adj1" fmla="val -73290"/>
              <a:gd name="adj2" fmla="val 162083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Сформирован фактический период записей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106" y="44624"/>
            <a:ext cx="315277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09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28423"/>
            <a:ext cx="387667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96" y="3288278"/>
            <a:ext cx="5257800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трелка вниз 8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ая прямоугольная выноска 2"/>
          <p:cNvSpPr/>
          <p:nvPr/>
        </p:nvSpPr>
        <p:spPr>
          <a:xfrm>
            <a:off x="395536" y="168305"/>
            <a:ext cx="2880320" cy="673827"/>
          </a:xfrm>
          <a:prstGeom prst="wedgeRoundRectCallout">
            <a:avLst>
              <a:gd name="adj1" fmla="val 52145"/>
              <a:gd name="adj2" fmla="val 168348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Цикл по набору записей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419872" y="187405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?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0" name="Скругленная прямоугольная выноска 9"/>
          <p:cNvSpPr/>
          <p:nvPr/>
        </p:nvSpPr>
        <p:spPr>
          <a:xfrm>
            <a:off x="4558272" y="1981672"/>
            <a:ext cx="3168000" cy="252000"/>
          </a:xfrm>
          <a:prstGeom prst="wedgeRoundRectCallout">
            <a:avLst>
              <a:gd name="adj1" fmla="val -75735"/>
              <a:gd name="adj2" fmla="val -2780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Результат = </a:t>
            </a:r>
            <a:r>
              <a:rPr lang="ru-RU" sz="1400" dirty="0"/>
              <a:t>(</a:t>
            </a:r>
            <a:r>
              <a:rPr lang="ru-RU" sz="1400" dirty="0" smtClean="0"/>
              <a:t>Факт/ Норма) </a:t>
            </a:r>
            <a:r>
              <a:rPr lang="ru-RU" sz="1400" dirty="0"/>
              <a:t>*Ставка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72" y="2123564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?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2" name="Скругленная прямоугольная выноска 11"/>
          <p:cNvSpPr/>
          <p:nvPr/>
        </p:nvSpPr>
        <p:spPr>
          <a:xfrm>
            <a:off x="4572000" y="2395392"/>
            <a:ext cx="3168000" cy="252000"/>
          </a:xfrm>
          <a:prstGeom prst="wedgeRoundRectCallout">
            <a:avLst>
              <a:gd name="adj1" fmla="val -76482"/>
              <a:gd name="adj2" fmla="val -5743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Результат = Расчетная база * Процент</a:t>
            </a:r>
            <a:endParaRPr lang="ru-RU" sz="1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429000"/>
            <a:ext cx="20574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024" y="34267"/>
            <a:ext cx="315277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4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28423"/>
            <a:ext cx="387667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96" y="3288278"/>
            <a:ext cx="5257800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трелка вниз 8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429000"/>
            <a:ext cx="20574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трелка вверх 1"/>
          <p:cNvSpPr/>
          <p:nvPr/>
        </p:nvSpPr>
        <p:spPr>
          <a:xfrm>
            <a:off x="7472908" y="1700808"/>
            <a:ext cx="216024" cy="158747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кругленная прямоугольная выноска 3"/>
          <p:cNvSpPr/>
          <p:nvPr/>
        </p:nvSpPr>
        <p:spPr>
          <a:xfrm>
            <a:off x="4139952" y="1794635"/>
            <a:ext cx="2520280" cy="1105875"/>
          </a:xfrm>
          <a:prstGeom prst="wedgeRoundRectCallout">
            <a:avLst>
              <a:gd name="adj1" fmla="val 85876"/>
              <a:gd name="adj2" fmla="val 48179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Получение данных до проведения при заполнении документа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593" y="15768"/>
            <a:ext cx="315277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43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96" y="3279256"/>
            <a:ext cx="58388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58" y="1514135"/>
            <a:ext cx="444817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трелка вниз 8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429000"/>
            <a:ext cx="20574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трелка вверх 1"/>
          <p:cNvSpPr/>
          <p:nvPr/>
        </p:nvSpPr>
        <p:spPr>
          <a:xfrm>
            <a:off x="7472908" y="1700808"/>
            <a:ext cx="216024" cy="158747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углом 15"/>
          <p:cNvSpPr/>
          <p:nvPr/>
        </p:nvSpPr>
        <p:spPr>
          <a:xfrm rot="16200000" flipH="1">
            <a:off x="3068415" y="-107973"/>
            <a:ext cx="829020" cy="2430362"/>
          </a:xfrm>
          <a:prstGeom prst="ben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452" y="11197"/>
            <a:ext cx="3676650" cy="1619250"/>
          </a:xfrm>
          <a:prstGeom prst="rect">
            <a:avLst/>
          </a:prstGeom>
        </p:spPr>
      </p:pic>
      <p:sp>
        <p:nvSpPr>
          <p:cNvPr id="10" name="Скругленный прямоугольник 9"/>
          <p:cNvSpPr/>
          <p:nvPr/>
        </p:nvSpPr>
        <p:spPr>
          <a:xfrm>
            <a:off x="3937047" y="1651947"/>
            <a:ext cx="638886" cy="1518580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7844420" y="133367"/>
            <a:ext cx="638886" cy="1518580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377350" y="3420898"/>
            <a:ext cx="638886" cy="3287358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54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500"/>
                            </p:stCondLst>
                            <p:childTnLst>
                              <p:par>
                                <p:cTn id="3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96" y="3279256"/>
            <a:ext cx="58388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58" y="1514135"/>
            <a:ext cx="444817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трелка вниз 8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3419872" y="187405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?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1" name="Скругленная прямоугольная выноска 10"/>
          <p:cNvSpPr/>
          <p:nvPr/>
        </p:nvSpPr>
        <p:spPr>
          <a:xfrm>
            <a:off x="5436096" y="1748058"/>
            <a:ext cx="3168000" cy="252000"/>
          </a:xfrm>
          <a:prstGeom prst="wedgeRoundRectCallout">
            <a:avLst>
              <a:gd name="adj1" fmla="val -102019"/>
              <a:gd name="adj2" fmla="val 5336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Результат = </a:t>
            </a:r>
            <a:r>
              <a:rPr lang="ru-RU" sz="1400" dirty="0"/>
              <a:t>(</a:t>
            </a:r>
            <a:r>
              <a:rPr lang="ru-RU" sz="1400" dirty="0" smtClean="0"/>
              <a:t>Факт/ Норма</a:t>
            </a:r>
            <a:r>
              <a:rPr lang="ru-RU" sz="1400" smtClean="0"/>
              <a:t>) * Ставка</a:t>
            </a:r>
            <a:endParaRPr lang="ru-RU" sz="1400" dirty="0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3332157" y="4725144"/>
            <a:ext cx="1380758" cy="648072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4605613" y="2132856"/>
            <a:ext cx="4388555" cy="101957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 smtClean="0"/>
              <a:t>Ставка -&gt; Размер</a:t>
            </a:r>
          </a:p>
          <a:p>
            <a:r>
              <a:rPr lang="ru-RU" sz="1400" dirty="0" smtClean="0"/>
              <a:t>Факт -&gt; Кол-во </a:t>
            </a:r>
            <a:r>
              <a:rPr lang="ru-RU" sz="1400" b="1" dirty="0" smtClean="0"/>
              <a:t>РАБОЧИХ</a:t>
            </a:r>
            <a:r>
              <a:rPr lang="ru-RU" sz="1400" dirty="0" smtClean="0"/>
              <a:t> дней приходящихся на ФПД</a:t>
            </a:r>
          </a:p>
          <a:p>
            <a:r>
              <a:rPr lang="ru-RU" sz="1400" dirty="0" smtClean="0"/>
              <a:t>Норма -&gt; Кол-во </a:t>
            </a:r>
            <a:r>
              <a:rPr lang="ru-RU" sz="1400" b="1" dirty="0" smtClean="0"/>
              <a:t>РАБОЧИХ </a:t>
            </a:r>
            <a:r>
              <a:rPr lang="ru-RU" sz="1400" dirty="0" smtClean="0"/>
              <a:t> дней месяца ПД</a:t>
            </a:r>
          </a:p>
          <a:p>
            <a:r>
              <a:rPr lang="ru-RU" sz="1400" u="sng" dirty="0" smtClean="0"/>
              <a:t>А сколько рабочих дней приходится на эти периоды?</a:t>
            </a:r>
            <a:endParaRPr lang="ru-RU" sz="1400" u="sng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327" y="62409"/>
            <a:ext cx="367665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448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96" y="3279256"/>
            <a:ext cx="58388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58" y="1514135"/>
            <a:ext cx="444817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трелка вниз 8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611" y="3429000"/>
            <a:ext cx="1447800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060848"/>
            <a:ext cx="29622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Двойная стрелка влево/вправо 1"/>
          <p:cNvSpPr/>
          <p:nvPr/>
        </p:nvSpPr>
        <p:spPr>
          <a:xfrm>
            <a:off x="6026963" y="3429000"/>
            <a:ext cx="1250310" cy="484636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3793" y="44624"/>
            <a:ext cx="367665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805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96" y="3279256"/>
            <a:ext cx="58388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58" y="1514135"/>
            <a:ext cx="444817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трелка вниз 8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611" y="3429000"/>
            <a:ext cx="1447800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Двойная стрелка влево/вправо 1"/>
          <p:cNvSpPr/>
          <p:nvPr/>
        </p:nvSpPr>
        <p:spPr>
          <a:xfrm>
            <a:off x="6026963" y="3429000"/>
            <a:ext cx="1250310" cy="484636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ая выноска 2"/>
          <p:cNvSpPr/>
          <p:nvPr/>
        </p:nvSpPr>
        <p:spPr>
          <a:xfrm>
            <a:off x="5076056" y="2060848"/>
            <a:ext cx="3240360" cy="864095"/>
          </a:xfrm>
          <a:prstGeom prst="wedgeRectCallout">
            <a:avLst>
              <a:gd name="adj1" fmla="val 34015"/>
              <a:gd name="adj2" fmla="val 9491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Только один график!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911" y="43674"/>
            <a:ext cx="367665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58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96" y="3279256"/>
            <a:ext cx="58388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58" y="1514135"/>
            <a:ext cx="444817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трелка вниз 8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07" y="3429000"/>
            <a:ext cx="192405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07" y="3352801"/>
            <a:ext cx="1476000" cy="216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Двойная стрелка влево/вправо 1"/>
          <p:cNvSpPr/>
          <p:nvPr/>
        </p:nvSpPr>
        <p:spPr>
          <a:xfrm>
            <a:off x="6026963" y="3429000"/>
            <a:ext cx="1250310" cy="484636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0032" y="34835"/>
            <a:ext cx="367665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6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24408"/>
            <a:ext cx="4286250" cy="1676400"/>
          </a:xfrm>
          <a:prstGeom prst="rect">
            <a:avLst/>
          </a:prstGeom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96" y="3279256"/>
            <a:ext cx="6391275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96" y="1533184"/>
            <a:ext cx="49911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трелка вниз 8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704" y="3284984"/>
            <a:ext cx="2590800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Стрелка вверх 13"/>
          <p:cNvSpPr/>
          <p:nvPr/>
        </p:nvSpPr>
        <p:spPr>
          <a:xfrm>
            <a:off x="8604448" y="1700808"/>
            <a:ext cx="216024" cy="158747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ая прямоугольная выноска 14"/>
          <p:cNvSpPr/>
          <p:nvPr/>
        </p:nvSpPr>
        <p:spPr>
          <a:xfrm>
            <a:off x="5271492" y="1794635"/>
            <a:ext cx="2520280" cy="1105875"/>
          </a:xfrm>
          <a:prstGeom prst="wedgeRoundRectCallout">
            <a:avLst>
              <a:gd name="adj1" fmla="val 85876"/>
              <a:gd name="adj2" fmla="val 48179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Получение данных до проведения при заполнении документа</a:t>
            </a:r>
            <a:endParaRPr lang="ru-RU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7308179" y="3390390"/>
            <a:ext cx="577677" cy="1980569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 углом 17"/>
          <p:cNvSpPr/>
          <p:nvPr/>
        </p:nvSpPr>
        <p:spPr>
          <a:xfrm rot="16200000" flipH="1">
            <a:off x="3068415" y="-107973"/>
            <a:ext cx="829020" cy="2430362"/>
          </a:xfrm>
          <a:prstGeom prst="ben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72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33" y="1526409"/>
            <a:ext cx="497205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301683"/>
            <a:ext cx="6391275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446" y="3606130"/>
            <a:ext cx="192405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трелка углом 1"/>
          <p:cNvSpPr/>
          <p:nvPr/>
        </p:nvSpPr>
        <p:spPr>
          <a:xfrm rot="16200000" flipH="1">
            <a:off x="3068415" y="-107973"/>
            <a:ext cx="829020" cy="2430362"/>
          </a:xfrm>
          <a:prstGeom prst="ben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Стрелка вниз 3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5868144" y="3426450"/>
            <a:ext cx="649685" cy="3306584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7785633" y="3809342"/>
            <a:ext cx="458776" cy="2237744"/>
          </a:xfrm>
          <a:prstGeom prst="round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032" y="0"/>
            <a:ext cx="4286250" cy="1676400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07" y="3572375"/>
            <a:ext cx="1476000" cy="216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988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5408"/>
            <a:ext cx="4286250" cy="1676400"/>
          </a:xfrm>
          <a:prstGeom prst="rect">
            <a:avLst/>
          </a:prstGeom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33" y="1526409"/>
            <a:ext cx="497205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301683"/>
            <a:ext cx="6391275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446" y="3606130"/>
            <a:ext cx="192405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трелка углом 1"/>
          <p:cNvSpPr/>
          <p:nvPr/>
        </p:nvSpPr>
        <p:spPr>
          <a:xfrm rot="16200000" flipH="1">
            <a:off x="3068415" y="-107973"/>
            <a:ext cx="829020" cy="2430362"/>
          </a:xfrm>
          <a:prstGeom prst="ben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Стрелка вниз 3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341" y="1638301"/>
            <a:ext cx="2363155" cy="161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Стрелка углом 2"/>
          <p:cNvSpPr/>
          <p:nvPr/>
        </p:nvSpPr>
        <p:spPr>
          <a:xfrm>
            <a:off x="5953262" y="2060848"/>
            <a:ext cx="720080" cy="1368152"/>
          </a:xfrm>
          <a:prstGeom prst="bentArrow">
            <a:avLst>
              <a:gd name="adj1" fmla="val 15163"/>
              <a:gd name="adj2" fmla="val 16504"/>
              <a:gd name="adj3" fmla="val 25000"/>
              <a:gd name="adj4" fmla="val 4375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07" y="3572375"/>
            <a:ext cx="1476000" cy="216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Выноска со стрелкой вниз 6"/>
          <p:cNvSpPr/>
          <p:nvPr/>
        </p:nvSpPr>
        <p:spPr>
          <a:xfrm>
            <a:off x="6673342" y="2924944"/>
            <a:ext cx="2363154" cy="864096"/>
          </a:xfrm>
          <a:prstGeom prst="downArrowCallout">
            <a:avLst>
              <a:gd name="adj1" fmla="val 14479"/>
              <a:gd name="adj2" fmla="val 18688"/>
              <a:gd name="adj3" fmla="val 25000"/>
              <a:gd name="adj4" fmla="val 47092"/>
            </a:avLst>
          </a:prstGeom>
          <a:solidFill>
            <a:schemeClr val="accent1">
              <a:alpha val="2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5868144" y="3426450"/>
            <a:ext cx="649685" cy="3306584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7785633" y="3809342"/>
            <a:ext cx="458776" cy="2237744"/>
          </a:xfrm>
          <a:prstGeom prst="round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50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33" y="1526409"/>
            <a:ext cx="497205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301683"/>
            <a:ext cx="6391275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трелка углом 1"/>
          <p:cNvSpPr/>
          <p:nvPr/>
        </p:nvSpPr>
        <p:spPr>
          <a:xfrm rot="16200000" flipH="1">
            <a:off x="3068415" y="-107973"/>
            <a:ext cx="829020" cy="2430362"/>
          </a:xfrm>
          <a:prstGeom prst="ben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Стрелка вниз 3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3419872" y="187405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?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4" name="Скругленная прямоугольная выноска 13"/>
          <p:cNvSpPr/>
          <p:nvPr/>
        </p:nvSpPr>
        <p:spPr>
          <a:xfrm>
            <a:off x="5436096" y="1748058"/>
            <a:ext cx="3168000" cy="672830"/>
          </a:xfrm>
          <a:prstGeom prst="wedgeRoundRectCallout">
            <a:avLst>
              <a:gd name="adj1" fmla="val -104052"/>
              <a:gd name="adj2" fmla="val -23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По какой формуле рассчитывать результат? Ведь вид расчета может быть не предопределенным.</a:t>
            </a:r>
            <a:endParaRPr lang="ru-RU" sz="1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214" y="-2826"/>
            <a:ext cx="42862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68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33" y="1526409"/>
            <a:ext cx="497205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419872" y="187405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?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4" name="Скругленная прямоугольная выноска 13"/>
          <p:cNvSpPr/>
          <p:nvPr/>
        </p:nvSpPr>
        <p:spPr>
          <a:xfrm>
            <a:off x="5436096" y="1748058"/>
            <a:ext cx="3168000" cy="672830"/>
          </a:xfrm>
          <a:prstGeom prst="wedgeRoundRectCallout">
            <a:avLst>
              <a:gd name="adj1" fmla="val -104052"/>
              <a:gd name="adj2" fmla="val -23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По какой формуле рассчитывать результат? Ведь вид расчета может быть не предопределенным.</a:t>
            </a:r>
            <a:endParaRPr lang="ru-RU" sz="1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246" y="4869160"/>
            <a:ext cx="2276475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181113"/>
            <a:ext cx="142875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8640" y="3501008"/>
            <a:ext cx="676857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 smtClean="0">
                <a:solidFill>
                  <a:srgbClr val="FF0000"/>
                </a:solidFill>
              </a:rPr>
              <a:t>Если</a:t>
            </a:r>
            <a:r>
              <a:rPr lang="ru-RU" sz="1400" dirty="0" smtClean="0">
                <a:solidFill>
                  <a:srgbClr val="FF0000"/>
                </a:solidFill>
              </a:rPr>
              <a:t> </a:t>
            </a:r>
            <a:r>
              <a:rPr lang="ru-RU" sz="1400" dirty="0" err="1" smtClean="0"/>
              <a:t>ВР.СпособРасчета</a:t>
            </a:r>
            <a:r>
              <a:rPr lang="ru-RU" sz="1400" dirty="0" smtClean="0"/>
              <a:t> </a:t>
            </a:r>
            <a:r>
              <a:rPr lang="ru-RU" sz="1400" b="1" dirty="0" smtClean="0">
                <a:solidFill>
                  <a:srgbClr val="FF0000"/>
                </a:solidFill>
              </a:rPr>
              <a:t>=</a:t>
            </a:r>
            <a:r>
              <a:rPr lang="ru-RU" sz="1400" dirty="0" smtClean="0"/>
              <a:t> </a:t>
            </a:r>
            <a:r>
              <a:rPr lang="ru-RU" sz="1400" dirty="0" err="1" smtClean="0"/>
              <a:t>Перечисление.СпособыРасчета.ПоМесячнойСтавке</a:t>
            </a:r>
            <a:r>
              <a:rPr lang="ru-RU" sz="1400" dirty="0" smtClean="0"/>
              <a:t> </a:t>
            </a:r>
            <a:r>
              <a:rPr lang="ru-RU" sz="1400" b="1" dirty="0">
                <a:solidFill>
                  <a:srgbClr val="FF0000"/>
                </a:solidFill>
              </a:rPr>
              <a:t>Тогда</a:t>
            </a:r>
          </a:p>
          <a:p>
            <a:endParaRPr lang="ru-RU" sz="1400" dirty="0"/>
          </a:p>
          <a:p>
            <a:r>
              <a:rPr lang="ru-RU" sz="1400" b="1" dirty="0">
                <a:solidFill>
                  <a:srgbClr val="0070C0"/>
                </a:solidFill>
              </a:rPr>
              <a:t> </a:t>
            </a:r>
            <a:r>
              <a:rPr lang="ru-RU" sz="1400" b="1" dirty="0" smtClean="0">
                <a:solidFill>
                  <a:srgbClr val="0070C0"/>
                </a:solidFill>
              </a:rPr>
              <a:t>         Результат = (Ставка / Норма) * Факт;</a:t>
            </a:r>
          </a:p>
          <a:p>
            <a:endParaRPr lang="ru-RU" sz="1400" dirty="0"/>
          </a:p>
          <a:p>
            <a:r>
              <a:rPr lang="ru-RU" sz="1400" b="1" dirty="0" err="1">
                <a:solidFill>
                  <a:srgbClr val="FF0000"/>
                </a:solidFill>
              </a:rPr>
              <a:t>ИначеЕсли</a:t>
            </a:r>
            <a:r>
              <a:rPr lang="ru-RU" sz="1400" dirty="0" smtClean="0"/>
              <a:t> </a:t>
            </a:r>
            <a:r>
              <a:rPr lang="ru-RU" sz="1400" dirty="0" err="1"/>
              <a:t>ВР.СпособРасчета</a:t>
            </a:r>
            <a:r>
              <a:rPr lang="ru-RU" sz="1400" dirty="0"/>
              <a:t> </a:t>
            </a:r>
            <a:r>
              <a:rPr lang="ru-RU" sz="1400" b="1" dirty="0">
                <a:solidFill>
                  <a:srgbClr val="FF0000"/>
                </a:solidFill>
              </a:rPr>
              <a:t>=</a:t>
            </a:r>
            <a:r>
              <a:rPr lang="ru-RU" sz="1400" dirty="0"/>
              <a:t> </a:t>
            </a:r>
            <a:r>
              <a:rPr lang="ru-RU" sz="1400" dirty="0" err="1" smtClean="0"/>
              <a:t>Перечисление.СпособыРасчета.Процентом</a:t>
            </a:r>
            <a:r>
              <a:rPr lang="ru-RU" sz="1400" dirty="0" smtClean="0"/>
              <a:t> Тогда</a:t>
            </a:r>
          </a:p>
          <a:p>
            <a:endParaRPr lang="ru-RU" sz="1400" dirty="0"/>
          </a:p>
          <a:p>
            <a:r>
              <a:rPr lang="ru-RU" sz="1400" b="1" dirty="0" smtClean="0">
                <a:solidFill>
                  <a:srgbClr val="0070C0"/>
                </a:solidFill>
              </a:rPr>
              <a:t>          Результат </a:t>
            </a:r>
            <a:r>
              <a:rPr lang="ru-RU" sz="1400" b="1" dirty="0">
                <a:solidFill>
                  <a:srgbClr val="0070C0"/>
                </a:solidFill>
              </a:rPr>
              <a:t>= База * Процент;</a:t>
            </a:r>
          </a:p>
          <a:p>
            <a:endParaRPr lang="ru-RU" sz="1400" dirty="0"/>
          </a:p>
          <a:p>
            <a:r>
              <a:rPr lang="ru-RU" sz="1400" b="1" dirty="0" err="1">
                <a:solidFill>
                  <a:srgbClr val="FF0000"/>
                </a:solidFill>
              </a:rPr>
              <a:t>ИначеЕсли</a:t>
            </a:r>
            <a:r>
              <a:rPr lang="ru-RU" sz="1400" dirty="0" smtClean="0"/>
              <a:t> …</a:t>
            </a:r>
          </a:p>
          <a:p>
            <a:endParaRPr lang="ru-RU" sz="1400" dirty="0"/>
          </a:p>
          <a:p>
            <a:r>
              <a:rPr lang="ru-RU" sz="1400" b="1" dirty="0" err="1">
                <a:solidFill>
                  <a:srgbClr val="FF0000"/>
                </a:solidFill>
              </a:rPr>
              <a:t>КонецЕсли</a:t>
            </a:r>
            <a:r>
              <a:rPr lang="ru-RU" sz="1400" dirty="0" smtClean="0"/>
              <a:t>;</a:t>
            </a:r>
            <a:endParaRPr lang="ru-RU" sz="1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024" y="4133"/>
            <a:ext cx="42862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96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33" y="1526409"/>
            <a:ext cx="501015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301683"/>
            <a:ext cx="6391275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трелка вниз 3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3419872" y="2125619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?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1" name="Скругленная прямоугольная выноска 10"/>
          <p:cNvSpPr/>
          <p:nvPr/>
        </p:nvSpPr>
        <p:spPr>
          <a:xfrm>
            <a:off x="5436096" y="1999619"/>
            <a:ext cx="3168000" cy="672830"/>
          </a:xfrm>
          <a:prstGeom prst="wedgeRoundRectCallout">
            <a:avLst>
              <a:gd name="adj1" fmla="val -104052"/>
              <a:gd name="adj2" fmla="val -23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Какая расчетная база для ДВ?</a:t>
            </a:r>
            <a:endParaRPr lang="ru-RU" sz="140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4530858" y="3722600"/>
            <a:ext cx="833229" cy="317469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381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3250359" y="1840884"/>
            <a:ext cx="833229" cy="317469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381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ая выноска 2"/>
          <p:cNvSpPr/>
          <p:nvPr/>
        </p:nvSpPr>
        <p:spPr>
          <a:xfrm>
            <a:off x="6888856" y="3140968"/>
            <a:ext cx="2003624" cy="1440160"/>
          </a:xfrm>
          <a:prstGeom prst="wedgeRectCallout">
            <a:avLst>
              <a:gd name="adj1" fmla="val -69041"/>
              <a:gd name="adj2" fmla="val 9379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Расчетная база ищется только в базе данных!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221901" y="188640"/>
            <a:ext cx="3888432" cy="108012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Надо записать набор записей в базу данных!!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1" y="0"/>
            <a:ext cx="42862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13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 animBg="1"/>
      <p:bldP spid="3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58" y="1521718"/>
            <a:ext cx="500062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328312"/>
            <a:ext cx="6419850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трелка вниз 3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 вниз 6"/>
          <p:cNvSpPr/>
          <p:nvPr/>
        </p:nvSpPr>
        <p:spPr>
          <a:xfrm>
            <a:off x="2989552" y="3140968"/>
            <a:ext cx="235992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207886" y="182392"/>
            <a:ext cx="3888432" cy="108012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Теперь можно собрать базу и </a:t>
            </a:r>
            <a:r>
              <a:rPr lang="ru-RU" dirty="0" smtClean="0"/>
              <a:t>рассчитать «Доплату за вредность» для Ивановой!!</a:t>
            </a:r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530858" y="3722600"/>
            <a:ext cx="833229" cy="317469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381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4555479" y="4740294"/>
            <a:ext cx="833229" cy="317469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381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3419872" y="2378114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?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2" name="Скругленная прямоугольная выноска 11"/>
          <p:cNvSpPr/>
          <p:nvPr/>
        </p:nvSpPr>
        <p:spPr>
          <a:xfrm>
            <a:off x="5436096" y="2252114"/>
            <a:ext cx="3168000" cy="672830"/>
          </a:xfrm>
          <a:prstGeom prst="wedgeRoundRectCallout">
            <a:avLst>
              <a:gd name="adj1" fmla="val -104052"/>
              <a:gd name="adj2" fmla="val -23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Какая расчетная база для ПН?</a:t>
            </a:r>
            <a:endParaRPr lang="ru-RU" sz="1400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3250359" y="2132856"/>
            <a:ext cx="833229" cy="317469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381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4" y="0"/>
            <a:ext cx="42862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67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58" y="1521718"/>
            <a:ext cx="500062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328312"/>
            <a:ext cx="6419850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трелка вниз 3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 вниз 6"/>
          <p:cNvSpPr/>
          <p:nvPr/>
        </p:nvSpPr>
        <p:spPr>
          <a:xfrm>
            <a:off x="2989552" y="3140968"/>
            <a:ext cx="235992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530858" y="3722600"/>
            <a:ext cx="833229" cy="317469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381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4555479" y="4740294"/>
            <a:ext cx="833229" cy="317469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381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3419872" y="2378114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?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2" name="Скругленная прямоугольная выноска 11"/>
          <p:cNvSpPr/>
          <p:nvPr/>
        </p:nvSpPr>
        <p:spPr>
          <a:xfrm>
            <a:off x="5436096" y="2252114"/>
            <a:ext cx="3168000" cy="672830"/>
          </a:xfrm>
          <a:prstGeom prst="wedgeRoundRectCallout">
            <a:avLst>
              <a:gd name="adj1" fmla="val -104052"/>
              <a:gd name="adj2" fmla="val -23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Какая расчетная база для ПН?</a:t>
            </a:r>
            <a:endParaRPr lang="ru-RU" sz="1400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3250359" y="2132856"/>
            <a:ext cx="833229" cy="317469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381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206180" y="188640"/>
            <a:ext cx="3888432" cy="108012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Надо </a:t>
            </a:r>
            <a:r>
              <a:rPr lang="ru-RU" b="1" dirty="0" smtClean="0"/>
              <a:t>опять</a:t>
            </a:r>
            <a:r>
              <a:rPr lang="ru-RU" dirty="0" smtClean="0"/>
              <a:t> записать набор записей в базу данных!!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0"/>
            <a:ext cx="42862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72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41" y="3348025"/>
            <a:ext cx="6391275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83" y="1563706"/>
            <a:ext cx="4991100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трелка вниз 3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 вниз 6"/>
          <p:cNvSpPr/>
          <p:nvPr/>
        </p:nvSpPr>
        <p:spPr>
          <a:xfrm>
            <a:off x="2989552" y="3140968"/>
            <a:ext cx="235992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207886" y="182392"/>
            <a:ext cx="3888432" cy="108012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Надо записывать набор записей несколько раз! Но количество записей надо </a:t>
            </a:r>
            <a:r>
              <a:rPr lang="ru-RU" b="1" dirty="0" smtClean="0"/>
              <a:t>минимизировать</a:t>
            </a:r>
            <a:r>
              <a:rPr lang="ru-RU" dirty="0" smtClean="0"/>
              <a:t>!</a:t>
            </a:r>
            <a:endParaRPr lang="ru-RU" dirty="0"/>
          </a:p>
        </p:txBody>
      </p:sp>
      <p:sp>
        <p:nvSpPr>
          <p:cNvPr id="15" name="Стрелка вниз 14"/>
          <p:cNvSpPr/>
          <p:nvPr/>
        </p:nvSpPr>
        <p:spPr>
          <a:xfrm>
            <a:off x="3386251" y="3139693"/>
            <a:ext cx="235992" cy="288032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3419872" y="259413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?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7" name="Скругленная прямоугольная выноска 16"/>
          <p:cNvSpPr/>
          <p:nvPr/>
        </p:nvSpPr>
        <p:spPr>
          <a:xfrm>
            <a:off x="5436096" y="2468138"/>
            <a:ext cx="3168000" cy="672830"/>
          </a:xfrm>
          <a:prstGeom prst="wedgeRoundRectCallout">
            <a:avLst>
              <a:gd name="adj1" fmla="val -104052"/>
              <a:gd name="adj2" fmla="val -23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Какая расчетная база для ДВ Баранова (</a:t>
            </a:r>
            <a:r>
              <a:rPr lang="ru-RU" sz="1400" b="1" dirty="0" smtClean="0"/>
              <a:t>Оклад еще не рассчитан</a:t>
            </a:r>
            <a:r>
              <a:rPr lang="ru-RU" sz="1400" dirty="0" smtClean="0"/>
              <a:t>)?</a:t>
            </a:r>
            <a:endParaRPr lang="ru-RU" sz="1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4" y="-4101"/>
            <a:ext cx="42862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96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33" y="1526409"/>
            <a:ext cx="497205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419872" y="187405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?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4" name="Скругленная прямоугольная выноска 13"/>
          <p:cNvSpPr/>
          <p:nvPr/>
        </p:nvSpPr>
        <p:spPr>
          <a:xfrm>
            <a:off x="5436096" y="1748058"/>
            <a:ext cx="3168000" cy="672830"/>
          </a:xfrm>
          <a:prstGeom prst="wedgeRoundRectCallout">
            <a:avLst>
              <a:gd name="adj1" fmla="val -104052"/>
              <a:gd name="adj2" fmla="val -23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Рассчитывать в первом цикле или нет?</a:t>
            </a:r>
            <a:endParaRPr lang="ru-RU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222766" y="3175379"/>
            <a:ext cx="515620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 smtClean="0">
                <a:solidFill>
                  <a:srgbClr val="00B050"/>
                </a:solidFill>
              </a:rPr>
              <a:t>//Цикл 1</a:t>
            </a:r>
          </a:p>
          <a:p>
            <a:r>
              <a:rPr lang="ru-RU" sz="1400" b="1" dirty="0" smtClean="0">
                <a:solidFill>
                  <a:srgbClr val="FF0000"/>
                </a:solidFill>
              </a:rPr>
              <a:t>Для каждого </a:t>
            </a:r>
            <a:r>
              <a:rPr lang="ru-RU" sz="1400" b="1" dirty="0" smtClean="0">
                <a:solidFill>
                  <a:srgbClr val="0070C0"/>
                </a:solidFill>
              </a:rPr>
              <a:t>Запись</a:t>
            </a:r>
            <a:r>
              <a:rPr lang="ru-RU" sz="1400" b="1" dirty="0" smtClean="0">
                <a:solidFill>
                  <a:srgbClr val="FF0000"/>
                </a:solidFill>
              </a:rPr>
              <a:t> Из </a:t>
            </a:r>
            <a:r>
              <a:rPr lang="ru-RU" sz="1400" b="1" dirty="0" err="1" smtClean="0">
                <a:solidFill>
                  <a:srgbClr val="0070C0"/>
                </a:solidFill>
              </a:rPr>
              <a:t>НаборЗаписей</a:t>
            </a:r>
            <a:r>
              <a:rPr lang="ru-RU" sz="1400" b="1" dirty="0" smtClean="0">
                <a:solidFill>
                  <a:srgbClr val="0070C0"/>
                </a:solidFill>
              </a:rPr>
              <a:t> </a:t>
            </a:r>
            <a:r>
              <a:rPr lang="ru-RU" sz="1400" b="1" dirty="0" smtClean="0">
                <a:solidFill>
                  <a:srgbClr val="FF0000"/>
                </a:solidFill>
              </a:rPr>
              <a:t>Цикл</a:t>
            </a:r>
          </a:p>
          <a:p>
            <a:r>
              <a:rPr lang="ru-RU" sz="1400" b="1" dirty="0" smtClean="0">
                <a:solidFill>
                  <a:srgbClr val="FF0000"/>
                </a:solidFill>
              </a:rPr>
              <a:t>	</a:t>
            </a:r>
            <a:r>
              <a:rPr lang="ru-RU" sz="1400" dirty="0" smtClean="0">
                <a:solidFill>
                  <a:srgbClr val="FF0000"/>
                </a:solidFill>
              </a:rPr>
              <a:t>Если </a:t>
            </a:r>
            <a:r>
              <a:rPr lang="ru-RU" sz="1400" dirty="0">
                <a:solidFill>
                  <a:srgbClr val="0070C0"/>
                </a:solidFill>
              </a:rPr>
              <a:t>Запись</a:t>
            </a:r>
            <a:r>
              <a:rPr lang="ru-RU" sz="1400" dirty="0">
                <a:solidFill>
                  <a:srgbClr val="FF0000"/>
                </a:solidFill>
              </a:rPr>
              <a:t> </a:t>
            </a:r>
            <a:r>
              <a:rPr lang="ru-RU" sz="1400" b="1" dirty="0" smtClean="0">
                <a:solidFill>
                  <a:srgbClr val="FF0000"/>
                </a:solidFill>
              </a:rPr>
              <a:t>.</a:t>
            </a:r>
            <a:r>
              <a:rPr lang="ru-RU" sz="1400" dirty="0" err="1" smtClean="0"/>
              <a:t>ВР.КатегорияРасчета</a:t>
            </a:r>
            <a:r>
              <a:rPr lang="ru-RU" sz="1400" dirty="0" smtClean="0"/>
              <a:t> </a:t>
            </a:r>
            <a:r>
              <a:rPr lang="ru-RU" sz="1400" b="1" dirty="0" smtClean="0">
                <a:solidFill>
                  <a:srgbClr val="FF0000"/>
                </a:solidFill>
              </a:rPr>
              <a:t>&lt;&gt;</a:t>
            </a:r>
            <a:r>
              <a:rPr lang="ru-RU" sz="1400" dirty="0" smtClean="0"/>
              <a:t> </a:t>
            </a:r>
          </a:p>
          <a:p>
            <a:r>
              <a:rPr lang="ru-RU" sz="1400" dirty="0" smtClean="0"/>
              <a:t>	</a:t>
            </a:r>
            <a:r>
              <a:rPr lang="ru-RU" sz="1400" dirty="0" err="1" smtClean="0"/>
              <a:t>Перечисление.КатегорииРасчетов.Первичное</a:t>
            </a:r>
            <a:r>
              <a:rPr lang="ru-RU" sz="1400" dirty="0" smtClean="0"/>
              <a:t> </a:t>
            </a:r>
            <a:r>
              <a:rPr lang="ru-RU" sz="1400" dirty="0">
                <a:solidFill>
                  <a:srgbClr val="FF0000"/>
                </a:solidFill>
              </a:rPr>
              <a:t>Тогда</a:t>
            </a:r>
          </a:p>
          <a:p>
            <a:r>
              <a:rPr lang="ru-RU" sz="1400" dirty="0" smtClean="0"/>
              <a:t>		Продолжить;</a:t>
            </a:r>
            <a:endParaRPr lang="ru-RU" sz="1400" dirty="0"/>
          </a:p>
          <a:p>
            <a:r>
              <a:rPr lang="ru-RU" sz="1400" b="1" dirty="0" smtClean="0">
                <a:solidFill>
                  <a:srgbClr val="FF0000"/>
                </a:solidFill>
              </a:rPr>
              <a:t>	</a:t>
            </a:r>
            <a:r>
              <a:rPr lang="ru-RU" sz="1400" dirty="0" err="1" smtClean="0">
                <a:solidFill>
                  <a:srgbClr val="FF0000"/>
                </a:solidFill>
              </a:rPr>
              <a:t>КонецЕсли</a:t>
            </a:r>
            <a:r>
              <a:rPr lang="ru-RU" sz="1400" dirty="0" smtClean="0"/>
              <a:t>;</a:t>
            </a:r>
          </a:p>
          <a:p>
            <a:r>
              <a:rPr lang="ru-RU" sz="1400" dirty="0"/>
              <a:t>	</a:t>
            </a:r>
            <a:r>
              <a:rPr lang="ru-RU" sz="1400" dirty="0" smtClean="0"/>
              <a:t>	</a:t>
            </a:r>
            <a:r>
              <a:rPr lang="ru-RU" sz="1400" b="1" dirty="0" smtClean="0">
                <a:solidFill>
                  <a:srgbClr val="00B050"/>
                </a:solidFill>
              </a:rPr>
              <a:t>//…Здесь расчет…</a:t>
            </a:r>
          </a:p>
          <a:p>
            <a:r>
              <a:rPr lang="ru-RU" sz="1400" b="1" dirty="0" err="1" smtClean="0">
                <a:solidFill>
                  <a:srgbClr val="FF0000"/>
                </a:solidFill>
              </a:rPr>
              <a:t>КонецЦикла</a:t>
            </a:r>
            <a:r>
              <a:rPr lang="ru-RU" sz="1400" b="1" dirty="0" smtClean="0">
                <a:solidFill>
                  <a:srgbClr val="FF0000"/>
                </a:solidFill>
              </a:rPr>
              <a:t>;</a:t>
            </a:r>
          </a:p>
          <a:p>
            <a:r>
              <a:rPr lang="ru-RU" sz="1400" b="1" dirty="0">
                <a:solidFill>
                  <a:srgbClr val="00B050"/>
                </a:solidFill>
              </a:rPr>
              <a:t>//Цикл </a:t>
            </a:r>
            <a:r>
              <a:rPr lang="ru-RU" sz="1400" b="1" dirty="0" smtClean="0">
                <a:solidFill>
                  <a:srgbClr val="00B050"/>
                </a:solidFill>
              </a:rPr>
              <a:t>2</a:t>
            </a:r>
            <a:endParaRPr lang="ru-RU" sz="1400" b="1" dirty="0">
              <a:solidFill>
                <a:srgbClr val="00B050"/>
              </a:solidFill>
            </a:endParaRPr>
          </a:p>
          <a:p>
            <a:r>
              <a:rPr lang="ru-RU" sz="1400" b="1" dirty="0">
                <a:solidFill>
                  <a:srgbClr val="FF0000"/>
                </a:solidFill>
              </a:rPr>
              <a:t>Для каждого </a:t>
            </a:r>
            <a:r>
              <a:rPr lang="ru-RU" sz="1400" b="1" dirty="0">
                <a:solidFill>
                  <a:srgbClr val="0070C0"/>
                </a:solidFill>
              </a:rPr>
              <a:t>Запись</a:t>
            </a:r>
            <a:r>
              <a:rPr lang="ru-RU" sz="1400" b="1" dirty="0">
                <a:solidFill>
                  <a:srgbClr val="FF0000"/>
                </a:solidFill>
              </a:rPr>
              <a:t> Из </a:t>
            </a:r>
            <a:r>
              <a:rPr lang="ru-RU" sz="1400" b="1" dirty="0" err="1">
                <a:solidFill>
                  <a:srgbClr val="0070C0"/>
                </a:solidFill>
              </a:rPr>
              <a:t>НаборЗаписей</a:t>
            </a:r>
            <a:r>
              <a:rPr lang="ru-RU" sz="1400" b="1" dirty="0">
                <a:solidFill>
                  <a:srgbClr val="0070C0"/>
                </a:solidFill>
              </a:rPr>
              <a:t> </a:t>
            </a:r>
            <a:r>
              <a:rPr lang="ru-RU" sz="1400" b="1" dirty="0">
                <a:solidFill>
                  <a:srgbClr val="FF0000"/>
                </a:solidFill>
              </a:rPr>
              <a:t>Цикл</a:t>
            </a:r>
          </a:p>
          <a:p>
            <a:r>
              <a:rPr lang="ru-RU" sz="1400" b="1" dirty="0">
                <a:solidFill>
                  <a:srgbClr val="FF0000"/>
                </a:solidFill>
              </a:rPr>
              <a:t>	</a:t>
            </a:r>
            <a:r>
              <a:rPr lang="ru-RU" sz="1400" dirty="0">
                <a:solidFill>
                  <a:srgbClr val="FF0000"/>
                </a:solidFill>
              </a:rPr>
              <a:t>Если </a:t>
            </a:r>
            <a:r>
              <a:rPr lang="ru-RU" sz="1400" dirty="0">
                <a:solidFill>
                  <a:srgbClr val="0070C0"/>
                </a:solidFill>
              </a:rPr>
              <a:t>Запись</a:t>
            </a:r>
            <a:r>
              <a:rPr lang="ru-RU" sz="1400" dirty="0">
                <a:solidFill>
                  <a:srgbClr val="FF0000"/>
                </a:solidFill>
              </a:rPr>
              <a:t> </a:t>
            </a:r>
            <a:r>
              <a:rPr lang="ru-RU" sz="1400" b="1" dirty="0">
                <a:solidFill>
                  <a:srgbClr val="FF0000"/>
                </a:solidFill>
              </a:rPr>
              <a:t>.</a:t>
            </a:r>
            <a:r>
              <a:rPr lang="ru-RU" sz="1400" dirty="0" err="1"/>
              <a:t>ВР.КатегорияРасчета</a:t>
            </a:r>
            <a:r>
              <a:rPr lang="ru-RU" sz="1400" dirty="0"/>
              <a:t> </a:t>
            </a:r>
            <a:r>
              <a:rPr lang="ru-RU" sz="1400" b="1" dirty="0">
                <a:solidFill>
                  <a:srgbClr val="FF0000"/>
                </a:solidFill>
              </a:rPr>
              <a:t>&lt;&gt;</a:t>
            </a:r>
            <a:r>
              <a:rPr lang="ru-RU" sz="1400" dirty="0"/>
              <a:t> </a:t>
            </a:r>
            <a:endParaRPr lang="ru-RU" sz="1400" dirty="0" smtClean="0"/>
          </a:p>
          <a:p>
            <a:r>
              <a:rPr lang="ru-RU" sz="1400" dirty="0"/>
              <a:t>	</a:t>
            </a:r>
            <a:r>
              <a:rPr lang="ru-RU" sz="1400" dirty="0" smtClean="0"/>
              <a:t>Перечисление.КатегорииРасчетов.Зависимое1 </a:t>
            </a:r>
            <a:r>
              <a:rPr lang="ru-RU" sz="1400" dirty="0">
                <a:solidFill>
                  <a:srgbClr val="FF0000"/>
                </a:solidFill>
              </a:rPr>
              <a:t>Тогда</a:t>
            </a:r>
          </a:p>
          <a:p>
            <a:r>
              <a:rPr lang="ru-RU" sz="1400" dirty="0"/>
              <a:t>		Продолжить;</a:t>
            </a:r>
          </a:p>
          <a:p>
            <a:r>
              <a:rPr lang="ru-RU" sz="1400" b="1" dirty="0">
                <a:solidFill>
                  <a:srgbClr val="FF0000"/>
                </a:solidFill>
              </a:rPr>
              <a:t>	</a:t>
            </a:r>
            <a:r>
              <a:rPr lang="ru-RU" sz="1400" dirty="0" err="1">
                <a:solidFill>
                  <a:srgbClr val="FF0000"/>
                </a:solidFill>
              </a:rPr>
              <a:t>КонецЕсли</a:t>
            </a:r>
            <a:r>
              <a:rPr lang="ru-RU" sz="1400" dirty="0"/>
              <a:t>;</a:t>
            </a:r>
          </a:p>
          <a:p>
            <a:r>
              <a:rPr lang="ru-RU" sz="1400" dirty="0"/>
              <a:t>	</a:t>
            </a:r>
            <a:r>
              <a:rPr lang="ru-RU" sz="1400" dirty="0" smtClean="0"/>
              <a:t>	</a:t>
            </a:r>
            <a:r>
              <a:rPr lang="ru-RU" sz="1400" b="1" dirty="0" smtClean="0">
                <a:solidFill>
                  <a:srgbClr val="00B050"/>
                </a:solidFill>
              </a:rPr>
              <a:t>//…</a:t>
            </a:r>
            <a:r>
              <a:rPr lang="ru-RU" sz="1400" b="1" dirty="0">
                <a:solidFill>
                  <a:srgbClr val="00B050"/>
                </a:solidFill>
              </a:rPr>
              <a:t>Здесь </a:t>
            </a:r>
            <a:r>
              <a:rPr lang="ru-RU" sz="1400" b="1" dirty="0" smtClean="0">
                <a:solidFill>
                  <a:srgbClr val="00B050"/>
                </a:solidFill>
              </a:rPr>
              <a:t>расчет..</a:t>
            </a:r>
            <a:endParaRPr lang="ru-RU" sz="1400" b="1" dirty="0">
              <a:solidFill>
                <a:srgbClr val="00B050"/>
              </a:solidFill>
            </a:endParaRPr>
          </a:p>
          <a:p>
            <a:r>
              <a:rPr lang="ru-RU" sz="1400" b="1" dirty="0" err="1" smtClean="0">
                <a:solidFill>
                  <a:srgbClr val="FF0000"/>
                </a:solidFill>
              </a:rPr>
              <a:t>КонецЦикла</a:t>
            </a:r>
            <a:r>
              <a:rPr lang="ru-RU" sz="1400" b="1" dirty="0">
                <a:solidFill>
                  <a:srgbClr val="FF0000"/>
                </a:solidFill>
              </a:rPr>
              <a:t>;</a:t>
            </a:r>
          </a:p>
          <a:p>
            <a:r>
              <a:rPr lang="ru-RU" sz="1400" b="1" dirty="0">
                <a:solidFill>
                  <a:srgbClr val="00B050"/>
                </a:solidFill>
              </a:rPr>
              <a:t>//Цикл </a:t>
            </a:r>
            <a:r>
              <a:rPr lang="ru-RU" sz="1400" b="1" dirty="0" smtClean="0">
                <a:solidFill>
                  <a:srgbClr val="00B050"/>
                </a:solidFill>
              </a:rPr>
              <a:t>3…</a:t>
            </a:r>
            <a:endParaRPr lang="ru-RU" sz="1400" b="1" dirty="0">
              <a:solidFill>
                <a:srgbClr val="FF0000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207886" y="182392"/>
            <a:ext cx="3888432" cy="108012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Будем обходить в цикле набор записей столько раз, сколько у нас уровней зависимости одних видов расчета от других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4941168"/>
            <a:ext cx="2590800" cy="17145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136" y="3175379"/>
            <a:ext cx="1943100" cy="154305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471" y="29909"/>
            <a:ext cx="42862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60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284984"/>
            <a:ext cx="6410325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21718"/>
            <a:ext cx="500062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трелка углом 1"/>
          <p:cNvSpPr/>
          <p:nvPr/>
        </p:nvSpPr>
        <p:spPr>
          <a:xfrm rot="16200000" flipH="1">
            <a:off x="3068415" y="-107973"/>
            <a:ext cx="829020" cy="2430362"/>
          </a:xfrm>
          <a:prstGeom prst="ben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Стрелка вниз 3"/>
          <p:cNvSpPr/>
          <p:nvPr/>
        </p:nvSpPr>
        <p:spPr>
          <a:xfrm>
            <a:off x="2607816" y="3140968"/>
            <a:ext cx="235992" cy="2880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 вниз 12"/>
          <p:cNvSpPr/>
          <p:nvPr/>
        </p:nvSpPr>
        <p:spPr>
          <a:xfrm>
            <a:off x="2989552" y="3140968"/>
            <a:ext cx="235992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низ 13"/>
          <p:cNvSpPr/>
          <p:nvPr/>
        </p:nvSpPr>
        <p:spPr>
          <a:xfrm>
            <a:off x="3386251" y="3139693"/>
            <a:ext cx="235992" cy="288032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 вниз 14"/>
          <p:cNvSpPr/>
          <p:nvPr/>
        </p:nvSpPr>
        <p:spPr>
          <a:xfrm>
            <a:off x="3779912" y="3138418"/>
            <a:ext cx="235992" cy="288032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0"/>
            <a:ext cx="42862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37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1601</TotalTime>
  <Words>298</Words>
  <Application>Microsoft Office PowerPoint</Application>
  <PresentationFormat>Экран (4:3)</PresentationFormat>
  <Paragraphs>74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9" baseType="lpstr">
      <vt:lpstr>Arial</vt:lpstr>
      <vt:lpstr>Calibri</vt:lpstr>
      <vt:lpstr>Тема Office</vt:lpstr>
      <vt:lpstr>Регистры расчета</vt:lpstr>
      <vt:lpstr>Логика работы «других» регистров (обработка информации записанной в ресурсы)</vt:lpstr>
      <vt:lpstr>Логика работы регистра расчета (обработка информации записанной в ресурсы)</vt:lpstr>
      <vt:lpstr>Расчет ресурсов 1 Исходное положение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Yakudza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Регистры расчета</dc:title>
  <dc:creator>Sizov</dc:creator>
  <cp:lastModifiedBy>eugeniy sizov</cp:lastModifiedBy>
  <cp:revision>53</cp:revision>
  <dcterms:created xsi:type="dcterms:W3CDTF">2014-06-28T09:27:13Z</dcterms:created>
  <dcterms:modified xsi:type="dcterms:W3CDTF">2017-12-20T13:56:06Z</dcterms:modified>
</cp:coreProperties>
</file>