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368" r:id="rId3"/>
    <p:sldId id="369" r:id="rId4"/>
    <p:sldId id="370" r:id="rId5"/>
    <p:sldId id="371" r:id="rId6"/>
    <p:sldId id="372" r:id="rId7"/>
    <p:sldId id="348" r:id="rId8"/>
    <p:sldId id="350" r:id="rId9"/>
    <p:sldId id="353" r:id="rId10"/>
    <p:sldId id="351" r:id="rId11"/>
    <p:sldId id="352" r:id="rId12"/>
    <p:sldId id="354" r:id="rId13"/>
    <p:sldId id="355" r:id="rId14"/>
    <p:sldId id="357" r:id="rId15"/>
    <p:sldId id="356" r:id="rId16"/>
    <p:sldId id="360" r:id="rId17"/>
    <p:sldId id="358" r:id="rId18"/>
    <p:sldId id="359" r:id="rId19"/>
    <p:sldId id="349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257" r:id="rId28"/>
    <p:sldId id="258" r:id="rId29"/>
    <p:sldId id="260" r:id="rId30"/>
    <p:sldId id="299" r:id="rId31"/>
    <p:sldId id="336" r:id="rId32"/>
    <p:sldId id="337" r:id="rId33"/>
    <p:sldId id="305" r:id="rId34"/>
    <p:sldId id="306" r:id="rId35"/>
    <p:sldId id="309" r:id="rId36"/>
    <p:sldId id="310" r:id="rId37"/>
    <p:sldId id="311" r:id="rId38"/>
    <p:sldId id="320" r:id="rId39"/>
    <p:sldId id="312" r:id="rId40"/>
    <p:sldId id="338" r:id="rId41"/>
    <p:sldId id="313" r:id="rId42"/>
    <p:sldId id="314" r:id="rId43"/>
    <p:sldId id="339" r:id="rId44"/>
    <p:sldId id="315" r:id="rId45"/>
    <p:sldId id="316" r:id="rId46"/>
    <p:sldId id="317" r:id="rId47"/>
    <p:sldId id="318" r:id="rId48"/>
    <p:sldId id="341" r:id="rId49"/>
    <p:sldId id="319" r:id="rId50"/>
    <p:sldId id="340" r:id="rId51"/>
    <p:sldId id="342" r:id="rId52"/>
    <p:sldId id="321" r:id="rId53"/>
    <p:sldId id="331" r:id="rId54"/>
    <p:sldId id="332" r:id="rId55"/>
    <p:sldId id="333" r:id="rId56"/>
    <p:sldId id="334" r:id="rId57"/>
    <p:sldId id="335" r:id="rId58"/>
    <p:sldId id="343" r:id="rId59"/>
    <p:sldId id="344" r:id="rId60"/>
    <p:sldId id="345" r:id="rId61"/>
    <p:sldId id="346" r:id="rId62"/>
    <p:sldId id="347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Светлый стиль 2 -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Светлый стиль 3 -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-160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y sizov" userId="f166da1dfb7bc990" providerId="LiveId" clId="{66C692DD-702A-481F-B53B-DE1E9B2562BD}"/>
    <pc:docChg chg="custSel addSld modSld">
      <pc:chgData name="eugeniy sizov" userId="f166da1dfb7bc990" providerId="LiveId" clId="{66C692DD-702A-481F-B53B-DE1E9B2562BD}" dt="2018-08-15T12:28:34.947" v="25" actId="20577"/>
      <pc:docMkLst>
        <pc:docMk/>
      </pc:docMkLst>
      <pc:sldChg chg="modSp">
        <pc:chgData name="eugeniy sizov" userId="f166da1dfb7bc990" providerId="LiveId" clId="{66C692DD-702A-481F-B53B-DE1E9B2562BD}" dt="2018-08-15T12:28:34.947" v="25" actId="20577"/>
        <pc:sldMkLst>
          <pc:docMk/>
          <pc:sldMk cId="2815892542" sldId="360"/>
        </pc:sldMkLst>
        <pc:graphicFrameChg chg="modGraphic">
          <ac:chgData name="eugeniy sizov" userId="f166da1dfb7bc990" providerId="LiveId" clId="{66C692DD-702A-481F-B53B-DE1E9B2562BD}" dt="2018-08-15T12:28:34.947" v="25" actId="20577"/>
          <ac:graphicFrameMkLst>
            <pc:docMk/>
            <pc:sldMk cId="2815892542" sldId="360"/>
            <ac:graphicFrameMk id="3" creationId="{00000000-0000-0000-0000-000000000000}"/>
          </ac:graphicFrameMkLst>
        </pc:graphicFrameChg>
      </pc:sldChg>
      <pc:sldChg chg="delSp delAnim">
        <pc:chgData name="eugeniy sizov" userId="f166da1dfb7bc990" providerId="LiveId" clId="{66C692DD-702A-481F-B53B-DE1E9B2562BD}" dt="2018-08-15T12:20:46.298" v="9" actId="478"/>
        <pc:sldMkLst>
          <pc:docMk/>
          <pc:sldMk cId="295469249" sldId="368"/>
        </pc:sldMkLst>
        <pc:cxnChg chg="del">
          <ac:chgData name="eugeniy sizov" userId="f166da1dfb7bc990" providerId="LiveId" clId="{66C692DD-702A-481F-B53B-DE1E9B2562BD}" dt="2018-08-15T12:20:45.226" v="8" actId="478"/>
          <ac:cxnSpMkLst>
            <pc:docMk/>
            <pc:sldMk cId="295469249" sldId="368"/>
            <ac:cxnSpMk id="19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0:44.210" v="7" actId="478"/>
          <ac:cxnSpMkLst>
            <pc:docMk/>
            <pc:sldMk cId="295469249" sldId="368"/>
            <ac:cxnSpMk id="20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0:46.298" v="9" actId="478"/>
          <ac:cxnSpMkLst>
            <pc:docMk/>
            <pc:sldMk cId="295469249" sldId="368"/>
            <ac:cxnSpMk id="21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0:43.274" v="6" actId="478"/>
          <ac:cxnSpMkLst>
            <pc:docMk/>
            <pc:sldMk cId="295469249" sldId="368"/>
            <ac:cxnSpMk id="22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0:39.708" v="3" actId="478"/>
          <ac:cxnSpMkLst>
            <pc:docMk/>
            <pc:sldMk cId="295469249" sldId="368"/>
            <ac:cxnSpMk id="27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0:40.754" v="4" actId="478"/>
          <ac:cxnSpMkLst>
            <pc:docMk/>
            <pc:sldMk cId="295469249" sldId="368"/>
            <ac:cxnSpMk id="30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0:41.897" v="5" actId="478"/>
          <ac:cxnSpMkLst>
            <pc:docMk/>
            <pc:sldMk cId="295469249" sldId="368"/>
            <ac:cxnSpMk id="32" creationId="{00000000-0000-0000-0000-000000000000}"/>
          </ac:cxnSpMkLst>
        </pc:cxnChg>
      </pc:sldChg>
      <pc:sldChg chg="delSp add delAnim">
        <pc:chgData name="eugeniy sizov" userId="f166da1dfb7bc990" providerId="LiveId" clId="{66C692DD-702A-481F-B53B-DE1E9B2562BD}" dt="2018-08-15T12:20:52.305" v="13" actId="478"/>
        <pc:sldMkLst>
          <pc:docMk/>
          <pc:sldMk cId="2760459663" sldId="369"/>
        </pc:sldMkLst>
        <pc:cxnChg chg="del">
          <ac:chgData name="eugeniy sizov" userId="f166da1dfb7bc990" providerId="LiveId" clId="{66C692DD-702A-481F-B53B-DE1E9B2562BD}" dt="2018-08-15T12:20:50.834" v="12" actId="478"/>
          <ac:cxnSpMkLst>
            <pc:docMk/>
            <pc:sldMk cId="2760459663" sldId="369"/>
            <ac:cxnSpMk id="19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0:49.609" v="11" actId="478"/>
          <ac:cxnSpMkLst>
            <pc:docMk/>
            <pc:sldMk cId="2760459663" sldId="369"/>
            <ac:cxnSpMk id="20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0:52.305" v="13" actId="478"/>
          <ac:cxnSpMkLst>
            <pc:docMk/>
            <pc:sldMk cId="2760459663" sldId="369"/>
            <ac:cxnSpMk id="21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0:48.386" v="10" actId="478"/>
          <ac:cxnSpMkLst>
            <pc:docMk/>
            <pc:sldMk cId="2760459663" sldId="369"/>
            <ac:cxnSpMk id="22" creationId="{00000000-0000-0000-0000-000000000000}"/>
          </ac:cxnSpMkLst>
        </pc:cxnChg>
      </pc:sldChg>
      <pc:sldChg chg="delSp add delAnim">
        <pc:chgData name="eugeniy sizov" userId="f166da1dfb7bc990" providerId="LiveId" clId="{66C692DD-702A-481F-B53B-DE1E9B2562BD}" dt="2018-08-15T12:20:59.897" v="18" actId="478"/>
        <pc:sldMkLst>
          <pc:docMk/>
          <pc:sldMk cId="3003886662" sldId="370"/>
        </pc:sldMkLst>
        <pc:cxnChg chg="del">
          <ac:chgData name="eugeniy sizov" userId="f166da1dfb7bc990" providerId="LiveId" clId="{66C692DD-702A-481F-B53B-DE1E9B2562BD}" dt="2018-08-15T12:20:58.778" v="17" actId="478"/>
          <ac:cxnSpMkLst>
            <pc:docMk/>
            <pc:sldMk cId="3003886662" sldId="370"/>
            <ac:cxnSpMk id="19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0:59.897" v="18" actId="478"/>
          <ac:cxnSpMkLst>
            <pc:docMk/>
            <pc:sldMk cId="3003886662" sldId="370"/>
            <ac:cxnSpMk id="21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0:54.921" v="14" actId="478"/>
          <ac:cxnSpMkLst>
            <pc:docMk/>
            <pc:sldMk cId="3003886662" sldId="370"/>
            <ac:cxnSpMk id="27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0:56.011" v="15" actId="478"/>
          <ac:cxnSpMkLst>
            <pc:docMk/>
            <pc:sldMk cId="3003886662" sldId="370"/>
            <ac:cxnSpMk id="30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0:57.233" v="16" actId="478"/>
          <ac:cxnSpMkLst>
            <pc:docMk/>
            <pc:sldMk cId="3003886662" sldId="370"/>
            <ac:cxnSpMk id="32" creationId="{00000000-0000-0000-0000-000000000000}"/>
          </ac:cxnSpMkLst>
        </pc:cxnChg>
      </pc:sldChg>
      <pc:sldChg chg="delSp add delAnim">
        <pc:chgData name="eugeniy sizov" userId="f166da1dfb7bc990" providerId="LiveId" clId="{66C692DD-702A-481F-B53B-DE1E9B2562BD}" dt="2018-08-15T12:21:10.505" v="24" actId="478"/>
        <pc:sldMkLst>
          <pc:docMk/>
          <pc:sldMk cId="486974770" sldId="371"/>
        </pc:sldMkLst>
        <pc:cxnChg chg="del">
          <ac:chgData name="eugeniy sizov" userId="f166da1dfb7bc990" providerId="LiveId" clId="{66C692DD-702A-481F-B53B-DE1E9B2562BD}" dt="2018-08-15T12:21:10.505" v="24" actId="478"/>
          <ac:cxnSpMkLst>
            <pc:docMk/>
            <pc:sldMk cId="486974770" sldId="371"/>
            <ac:cxnSpMk id="20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1:09.586" v="23" actId="478"/>
          <ac:cxnSpMkLst>
            <pc:docMk/>
            <pc:sldMk cId="486974770" sldId="371"/>
            <ac:cxnSpMk id="22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1:06.065" v="20" actId="478"/>
          <ac:cxnSpMkLst>
            <pc:docMk/>
            <pc:sldMk cId="486974770" sldId="371"/>
            <ac:cxnSpMk id="27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1:07.066" v="21" actId="478"/>
          <ac:cxnSpMkLst>
            <pc:docMk/>
            <pc:sldMk cId="486974770" sldId="371"/>
            <ac:cxnSpMk id="30" creationId="{00000000-0000-0000-0000-000000000000}"/>
          </ac:cxnSpMkLst>
        </pc:cxnChg>
        <pc:cxnChg chg="del">
          <ac:chgData name="eugeniy sizov" userId="f166da1dfb7bc990" providerId="LiveId" clId="{66C692DD-702A-481F-B53B-DE1E9B2562BD}" dt="2018-08-15T12:21:08.130" v="22" actId="478"/>
          <ac:cxnSpMkLst>
            <pc:docMk/>
            <pc:sldMk cId="486974770" sldId="371"/>
            <ac:cxnSpMk id="32" creationId="{00000000-0000-0000-0000-000000000000}"/>
          </ac:cxnSpMkLst>
        </pc:cxnChg>
      </pc:sldChg>
      <pc:sldChg chg="add">
        <pc:chgData name="eugeniy sizov" userId="f166da1dfb7bc990" providerId="LiveId" clId="{66C692DD-702A-481F-B53B-DE1E9B2562BD}" dt="2018-08-15T12:21:02.763" v="19"/>
        <pc:sldMkLst>
          <pc:docMk/>
          <pc:sldMk cId="1679483155" sldId="37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2B6E04-4AB7-44D4-9232-FC759D8A7328}" type="doc">
      <dgm:prSet loTypeId="urn:microsoft.com/office/officeart/2005/8/layout/process1" loCatId="process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22FEAF17-3252-4767-A1E8-AEAC15246D07}">
      <dgm:prSet phldrT="[Текст]"/>
      <dgm:spPr/>
      <dgm:t>
        <a:bodyPr/>
        <a:lstStyle/>
        <a:p>
          <a:r>
            <a:rPr lang="ru-RU" dirty="0"/>
            <a:t>Набор записей</a:t>
          </a:r>
        </a:p>
      </dgm:t>
    </dgm:pt>
    <dgm:pt modelId="{1C1C758F-1DB0-4486-A5D4-F4C9A86C648E}" type="parTrans" cxnId="{FA8F8F4E-308E-486A-B3CB-AF92273FDA66}">
      <dgm:prSet/>
      <dgm:spPr/>
      <dgm:t>
        <a:bodyPr/>
        <a:lstStyle/>
        <a:p>
          <a:endParaRPr lang="ru-RU"/>
        </a:p>
      </dgm:t>
    </dgm:pt>
    <dgm:pt modelId="{AEE6CD8F-A1D5-4F3E-997E-AA03E436E6CD}" type="sibTrans" cxnId="{FA8F8F4E-308E-486A-B3CB-AF92273FDA66}">
      <dgm:prSet/>
      <dgm:spPr/>
      <dgm:t>
        <a:bodyPr/>
        <a:lstStyle/>
        <a:p>
          <a:endParaRPr lang="ru-RU"/>
        </a:p>
      </dgm:t>
    </dgm:pt>
    <dgm:pt modelId="{5F109FB6-0BFE-4D25-9ED5-F2A3AA3E7E74}">
      <dgm:prSet phldrT="[Текст]"/>
      <dgm:spPr/>
      <dgm:t>
        <a:bodyPr/>
        <a:lstStyle/>
        <a:p>
          <a:r>
            <a:rPr lang="ru-RU" dirty="0"/>
            <a:t>Таблица движений</a:t>
          </a:r>
        </a:p>
      </dgm:t>
    </dgm:pt>
    <dgm:pt modelId="{489FB740-9A9E-48DC-A713-179A0483E3E7}" type="parTrans" cxnId="{7A6E2B4D-8C57-4676-A9CC-5D039A040E6F}">
      <dgm:prSet/>
      <dgm:spPr/>
      <dgm:t>
        <a:bodyPr/>
        <a:lstStyle/>
        <a:p>
          <a:endParaRPr lang="ru-RU"/>
        </a:p>
      </dgm:t>
    </dgm:pt>
    <dgm:pt modelId="{F00ABC40-7ED5-4703-89A3-AA90C6D21FD6}" type="sibTrans" cxnId="{7A6E2B4D-8C57-4676-A9CC-5D039A040E6F}">
      <dgm:prSet/>
      <dgm:spPr/>
      <dgm:t>
        <a:bodyPr/>
        <a:lstStyle/>
        <a:p>
          <a:endParaRPr lang="ru-RU"/>
        </a:p>
      </dgm:t>
    </dgm:pt>
    <dgm:pt modelId="{DF120C57-4E58-4FA7-ACF2-B5C7BFB4AA11}">
      <dgm:prSet/>
      <dgm:spPr/>
      <dgm:t>
        <a:bodyPr/>
        <a:lstStyle/>
        <a:p>
          <a:r>
            <a:rPr lang="ru-RU" dirty="0"/>
            <a:t>Внутренние механизмы регистра</a:t>
          </a:r>
        </a:p>
      </dgm:t>
    </dgm:pt>
    <dgm:pt modelId="{C21B2955-8BFC-4D8E-8D47-60C426E09BEE}" type="parTrans" cxnId="{7C7EFAA3-38A1-4F18-AC7F-89B2A684A519}">
      <dgm:prSet/>
      <dgm:spPr/>
      <dgm:t>
        <a:bodyPr/>
        <a:lstStyle/>
        <a:p>
          <a:endParaRPr lang="ru-RU"/>
        </a:p>
      </dgm:t>
    </dgm:pt>
    <dgm:pt modelId="{8AE9351F-6446-424C-BEBF-5A8663666A26}" type="sibTrans" cxnId="{7C7EFAA3-38A1-4F18-AC7F-89B2A684A519}">
      <dgm:prSet/>
      <dgm:spPr/>
      <dgm:t>
        <a:bodyPr/>
        <a:lstStyle/>
        <a:p>
          <a:endParaRPr lang="ru-RU"/>
        </a:p>
      </dgm:t>
    </dgm:pt>
    <dgm:pt modelId="{E61A4690-B4E1-424B-BE81-64B4955F7E2A}">
      <dgm:prSet/>
      <dgm:spPr/>
      <dgm:t>
        <a:bodyPr/>
        <a:lstStyle/>
        <a:p>
          <a:r>
            <a:rPr lang="ru-RU" dirty="0"/>
            <a:t>Таблицы регистров, хранящие обработанные данные</a:t>
          </a:r>
        </a:p>
      </dgm:t>
    </dgm:pt>
    <dgm:pt modelId="{79D5326C-4D39-4AE3-8A17-9BAF6CB5C06A}" type="parTrans" cxnId="{6C004006-B5D9-4D02-93A0-B2F8116840DC}">
      <dgm:prSet/>
      <dgm:spPr/>
      <dgm:t>
        <a:bodyPr/>
        <a:lstStyle/>
        <a:p>
          <a:endParaRPr lang="ru-RU"/>
        </a:p>
      </dgm:t>
    </dgm:pt>
    <dgm:pt modelId="{380726CC-358F-42A5-8E96-2C9D24014AC1}" type="sibTrans" cxnId="{6C004006-B5D9-4D02-93A0-B2F8116840DC}">
      <dgm:prSet/>
      <dgm:spPr/>
      <dgm:t>
        <a:bodyPr/>
        <a:lstStyle/>
        <a:p>
          <a:endParaRPr lang="ru-RU"/>
        </a:p>
      </dgm:t>
    </dgm:pt>
    <dgm:pt modelId="{D24DD110-D186-4F2D-8A4A-B381AC0C9A42}" type="pres">
      <dgm:prSet presAssocID="{CF2B6E04-4AB7-44D4-9232-FC759D8A732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D6CBA05-5C92-42A6-A215-812C80B544E6}" type="pres">
      <dgm:prSet presAssocID="{22FEAF17-3252-4767-A1E8-AEAC15246D07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771FEE-2EF1-4BBC-A777-D1495A593656}" type="pres">
      <dgm:prSet presAssocID="{AEE6CD8F-A1D5-4F3E-997E-AA03E436E6CD}" presName="sibTrans" presStyleLbl="sibTrans2D1" presStyleIdx="0" presStyleCnt="3"/>
      <dgm:spPr/>
      <dgm:t>
        <a:bodyPr/>
        <a:lstStyle/>
        <a:p>
          <a:endParaRPr lang="ru-RU"/>
        </a:p>
      </dgm:t>
    </dgm:pt>
    <dgm:pt modelId="{3AD6E31A-0E98-460C-B6CE-5C2D07E2A4B0}" type="pres">
      <dgm:prSet presAssocID="{AEE6CD8F-A1D5-4F3E-997E-AA03E436E6CD}" presName="connectorText" presStyleLbl="sibTrans2D1" presStyleIdx="0" presStyleCnt="3"/>
      <dgm:spPr/>
      <dgm:t>
        <a:bodyPr/>
        <a:lstStyle/>
        <a:p>
          <a:endParaRPr lang="ru-RU"/>
        </a:p>
      </dgm:t>
    </dgm:pt>
    <dgm:pt modelId="{9F3F375B-13E0-4AEE-BFC4-9E3CC037ADDE}" type="pres">
      <dgm:prSet presAssocID="{5F109FB6-0BFE-4D25-9ED5-F2A3AA3E7E74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80F8CBF-53EE-46BE-8983-EF2C533B13D9}" type="pres">
      <dgm:prSet presAssocID="{F00ABC40-7ED5-4703-89A3-AA90C6D21FD6}" presName="sibTrans" presStyleLbl="sibTrans2D1" presStyleIdx="1" presStyleCnt="3"/>
      <dgm:spPr/>
      <dgm:t>
        <a:bodyPr/>
        <a:lstStyle/>
        <a:p>
          <a:endParaRPr lang="ru-RU"/>
        </a:p>
      </dgm:t>
    </dgm:pt>
    <dgm:pt modelId="{3AD84B67-A90E-46EE-88F9-4D2557E1B971}" type="pres">
      <dgm:prSet presAssocID="{F00ABC40-7ED5-4703-89A3-AA90C6D21FD6}" presName="connectorText" presStyleLbl="sibTrans2D1" presStyleIdx="1" presStyleCnt="3"/>
      <dgm:spPr/>
      <dgm:t>
        <a:bodyPr/>
        <a:lstStyle/>
        <a:p>
          <a:endParaRPr lang="ru-RU"/>
        </a:p>
      </dgm:t>
    </dgm:pt>
    <dgm:pt modelId="{8D34451B-FC6C-41AD-8145-F18A18AB2565}" type="pres">
      <dgm:prSet presAssocID="{DF120C57-4E58-4FA7-ACF2-B5C7BFB4AA11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6A3AB2D-8FEF-4C34-98EB-7774DA2A051F}" type="pres">
      <dgm:prSet presAssocID="{8AE9351F-6446-424C-BEBF-5A8663666A26}" presName="sibTrans" presStyleLbl="sibTrans2D1" presStyleIdx="2" presStyleCnt="3"/>
      <dgm:spPr/>
      <dgm:t>
        <a:bodyPr/>
        <a:lstStyle/>
        <a:p>
          <a:endParaRPr lang="ru-RU"/>
        </a:p>
      </dgm:t>
    </dgm:pt>
    <dgm:pt modelId="{4F5BE178-41FE-4365-BF97-4885D8FA410E}" type="pres">
      <dgm:prSet presAssocID="{8AE9351F-6446-424C-BEBF-5A8663666A26}" presName="connectorText" presStyleLbl="sibTrans2D1" presStyleIdx="2" presStyleCnt="3"/>
      <dgm:spPr/>
      <dgm:t>
        <a:bodyPr/>
        <a:lstStyle/>
        <a:p>
          <a:endParaRPr lang="ru-RU"/>
        </a:p>
      </dgm:t>
    </dgm:pt>
    <dgm:pt modelId="{E6ED543A-3C95-424B-988C-1971F2C8B94D}" type="pres">
      <dgm:prSet presAssocID="{E61A4690-B4E1-424B-BE81-64B4955F7E2A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C004006-B5D9-4D02-93A0-B2F8116840DC}" srcId="{CF2B6E04-4AB7-44D4-9232-FC759D8A7328}" destId="{E61A4690-B4E1-424B-BE81-64B4955F7E2A}" srcOrd="3" destOrd="0" parTransId="{79D5326C-4D39-4AE3-8A17-9BAF6CB5C06A}" sibTransId="{380726CC-358F-42A5-8E96-2C9D24014AC1}"/>
    <dgm:cxn modelId="{AA0508F2-E6AF-4786-8921-5BD13F5B9BAF}" type="presOf" srcId="{8AE9351F-6446-424C-BEBF-5A8663666A26}" destId="{4F5BE178-41FE-4365-BF97-4885D8FA410E}" srcOrd="1" destOrd="0" presId="urn:microsoft.com/office/officeart/2005/8/layout/process1"/>
    <dgm:cxn modelId="{F958158A-2A40-438B-8B71-D1E79EEE30B9}" type="presOf" srcId="{F00ABC40-7ED5-4703-89A3-AA90C6D21FD6}" destId="{B80F8CBF-53EE-46BE-8983-EF2C533B13D9}" srcOrd="0" destOrd="0" presId="urn:microsoft.com/office/officeart/2005/8/layout/process1"/>
    <dgm:cxn modelId="{7A6E2B4D-8C57-4676-A9CC-5D039A040E6F}" srcId="{CF2B6E04-4AB7-44D4-9232-FC759D8A7328}" destId="{5F109FB6-0BFE-4D25-9ED5-F2A3AA3E7E74}" srcOrd="1" destOrd="0" parTransId="{489FB740-9A9E-48DC-A713-179A0483E3E7}" sibTransId="{F00ABC40-7ED5-4703-89A3-AA90C6D21FD6}"/>
    <dgm:cxn modelId="{0AE7964C-8C5A-4B36-9D92-7478753E7FA1}" type="presOf" srcId="{E61A4690-B4E1-424B-BE81-64B4955F7E2A}" destId="{E6ED543A-3C95-424B-988C-1971F2C8B94D}" srcOrd="0" destOrd="0" presId="urn:microsoft.com/office/officeart/2005/8/layout/process1"/>
    <dgm:cxn modelId="{773875D5-A8FA-4DF4-BDC4-5932C6B62051}" type="presOf" srcId="{22FEAF17-3252-4767-A1E8-AEAC15246D07}" destId="{ED6CBA05-5C92-42A6-A215-812C80B544E6}" srcOrd="0" destOrd="0" presId="urn:microsoft.com/office/officeart/2005/8/layout/process1"/>
    <dgm:cxn modelId="{604FD685-007D-48DC-A93D-C860362949A7}" type="presOf" srcId="{F00ABC40-7ED5-4703-89A3-AA90C6D21FD6}" destId="{3AD84B67-A90E-46EE-88F9-4D2557E1B971}" srcOrd="1" destOrd="0" presId="urn:microsoft.com/office/officeart/2005/8/layout/process1"/>
    <dgm:cxn modelId="{AF927D41-564B-4DE5-BBDA-D98287AB225F}" type="presOf" srcId="{CF2B6E04-4AB7-44D4-9232-FC759D8A7328}" destId="{D24DD110-D186-4F2D-8A4A-B381AC0C9A42}" srcOrd="0" destOrd="0" presId="urn:microsoft.com/office/officeart/2005/8/layout/process1"/>
    <dgm:cxn modelId="{F4AD7ACB-D669-4781-8424-AE820385E778}" type="presOf" srcId="{AEE6CD8F-A1D5-4F3E-997E-AA03E436E6CD}" destId="{BA771FEE-2EF1-4BBC-A777-D1495A593656}" srcOrd="0" destOrd="0" presId="urn:microsoft.com/office/officeart/2005/8/layout/process1"/>
    <dgm:cxn modelId="{D8B2706F-C1E8-4753-B264-E50994A9CD47}" type="presOf" srcId="{8AE9351F-6446-424C-BEBF-5A8663666A26}" destId="{86A3AB2D-8FEF-4C34-98EB-7774DA2A051F}" srcOrd="0" destOrd="0" presId="urn:microsoft.com/office/officeart/2005/8/layout/process1"/>
    <dgm:cxn modelId="{75DDE9A4-CF82-40BA-BE10-3744A72B5F5F}" type="presOf" srcId="{5F109FB6-0BFE-4D25-9ED5-F2A3AA3E7E74}" destId="{9F3F375B-13E0-4AEE-BFC4-9E3CC037ADDE}" srcOrd="0" destOrd="0" presId="urn:microsoft.com/office/officeart/2005/8/layout/process1"/>
    <dgm:cxn modelId="{0769D0AD-2F3A-4CAE-A9A4-61CF933FD631}" type="presOf" srcId="{AEE6CD8F-A1D5-4F3E-997E-AA03E436E6CD}" destId="{3AD6E31A-0E98-460C-B6CE-5C2D07E2A4B0}" srcOrd="1" destOrd="0" presId="urn:microsoft.com/office/officeart/2005/8/layout/process1"/>
    <dgm:cxn modelId="{7C7EFAA3-38A1-4F18-AC7F-89B2A684A519}" srcId="{CF2B6E04-4AB7-44D4-9232-FC759D8A7328}" destId="{DF120C57-4E58-4FA7-ACF2-B5C7BFB4AA11}" srcOrd="2" destOrd="0" parTransId="{C21B2955-8BFC-4D8E-8D47-60C426E09BEE}" sibTransId="{8AE9351F-6446-424C-BEBF-5A8663666A26}"/>
    <dgm:cxn modelId="{FA8F8F4E-308E-486A-B3CB-AF92273FDA66}" srcId="{CF2B6E04-4AB7-44D4-9232-FC759D8A7328}" destId="{22FEAF17-3252-4767-A1E8-AEAC15246D07}" srcOrd="0" destOrd="0" parTransId="{1C1C758F-1DB0-4486-A5D4-F4C9A86C648E}" sibTransId="{AEE6CD8F-A1D5-4F3E-997E-AA03E436E6CD}"/>
    <dgm:cxn modelId="{3D532940-44FC-4E51-B4BC-23944FD11F0E}" type="presOf" srcId="{DF120C57-4E58-4FA7-ACF2-B5C7BFB4AA11}" destId="{8D34451B-FC6C-41AD-8145-F18A18AB2565}" srcOrd="0" destOrd="0" presId="urn:microsoft.com/office/officeart/2005/8/layout/process1"/>
    <dgm:cxn modelId="{40C15A30-32F2-44A7-A499-EA8DFF4A8C07}" type="presParOf" srcId="{D24DD110-D186-4F2D-8A4A-B381AC0C9A42}" destId="{ED6CBA05-5C92-42A6-A215-812C80B544E6}" srcOrd="0" destOrd="0" presId="urn:microsoft.com/office/officeart/2005/8/layout/process1"/>
    <dgm:cxn modelId="{2E322195-E505-4A5A-909C-23C60ABD6BC0}" type="presParOf" srcId="{D24DD110-D186-4F2D-8A4A-B381AC0C9A42}" destId="{BA771FEE-2EF1-4BBC-A777-D1495A593656}" srcOrd="1" destOrd="0" presId="urn:microsoft.com/office/officeart/2005/8/layout/process1"/>
    <dgm:cxn modelId="{C5FD37FE-582F-4EB8-A22E-AB8077FDE4E7}" type="presParOf" srcId="{BA771FEE-2EF1-4BBC-A777-D1495A593656}" destId="{3AD6E31A-0E98-460C-B6CE-5C2D07E2A4B0}" srcOrd="0" destOrd="0" presId="urn:microsoft.com/office/officeart/2005/8/layout/process1"/>
    <dgm:cxn modelId="{1C87A4BD-B791-4943-91F7-661617AADBC9}" type="presParOf" srcId="{D24DD110-D186-4F2D-8A4A-B381AC0C9A42}" destId="{9F3F375B-13E0-4AEE-BFC4-9E3CC037ADDE}" srcOrd="2" destOrd="0" presId="urn:microsoft.com/office/officeart/2005/8/layout/process1"/>
    <dgm:cxn modelId="{058A2DAB-629B-4E28-8558-D681B6E9C7BD}" type="presParOf" srcId="{D24DD110-D186-4F2D-8A4A-B381AC0C9A42}" destId="{B80F8CBF-53EE-46BE-8983-EF2C533B13D9}" srcOrd="3" destOrd="0" presId="urn:microsoft.com/office/officeart/2005/8/layout/process1"/>
    <dgm:cxn modelId="{3FEA8FFB-D73C-45C6-AE57-86100AE2C14D}" type="presParOf" srcId="{B80F8CBF-53EE-46BE-8983-EF2C533B13D9}" destId="{3AD84B67-A90E-46EE-88F9-4D2557E1B971}" srcOrd="0" destOrd="0" presId="urn:microsoft.com/office/officeart/2005/8/layout/process1"/>
    <dgm:cxn modelId="{48FDD430-B913-4701-98E3-C1ACDDE34326}" type="presParOf" srcId="{D24DD110-D186-4F2D-8A4A-B381AC0C9A42}" destId="{8D34451B-FC6C-41AD-8145-F18A18AB2565}" srcOrd="4" destOrd="0" presId="urn:microsoft.com/office/officeart/2005/8/layout/process1"/>
    <dgm:cxn modelId="{FDA5C3A3-DB92-46F6-AAE1-C42505CB4B6D}" type="presParOf" srcId="{D24DD110-D186-4F2D-8A4A-B381AC0C9A42}" destId="{86A3AB2D-8FEF-4C34-98EB-7774DA2A051F}" srcOrd="5" destOrd="0" presId="urn:microsoft.com/office/officeart/2005/8/layout/process1"/>
    <dgm:cxn modelId="{3C7FE02B-0630-46D1-A87B-7A85FBDA242A}" type="presParOf" srcId="{86A3AB2D-8FEF-4C34-98EB-7774DA2A051F}" destId="{4F5BE178-41FE-4365-BF97-4885D8FA410E}" srcOrd="0" destOrd="0" presId="urn:microsoft.com/office/officeart/2005/8/layout/process1"/>
    <dgm:cxn modelId="{D74D9451-37E5-44D9-92C0-8C16F0E25D11}" type="presParOf" srcId="{D24DD110-D186-4F2D-8A4A-B381AC0C9A42}" destId="{E6ED543A-3C95-424B-988C-1971F2C8B94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79E942-9D60-4B50-88DB-96A2518C5662}" type="doc">
      <dgm:prSet loTypeId="urn:microsoft.com/office/officeart/2005/8/layout/process1" loCatId="process" qsTypeId="urn:microsoft.com/office/officeart/2005/8/quickstyle/simple5" qsCatId="simple" csTypeId="urn:microsoft.com/office/officeart/2005/8/colors/colorful3" csCatId="colorful" phldr="1"/>
      <dgm:spPr/>
    </dgm:pt>
    <dgm:pt modelId="{00308DEB-0942-4132-94D7-D2B0198628A2}">
      <dgm:prSet phldrT="[Текст]"/>
      <dgm:spPr/>
      <dgm:t>
        <a:bodyPr/>
        <a:lstStyle/>
        <a:p>
          <a:r>
            <a:rPr lang="ru-RU" dirty="0"/>
            <a:t>Набор записей</a:t>
          </a:r>
        </a:p>
      </dgm:t>
    </dgm:pt>
    <dgm:pt modelId="{41A29AF2-6ACB-4BCF-9CAE-8BBF04E9AC02}" type="parTrans" cxnId="{189F9727-27A4-4D47-9C3A-2D2A7BBE84AB}">
      <dgm:prSet/>
      <dgm:spPr/>
      <dgm:t>
        <a:bodyPr/>
        <a:lstStyle/>
        <a:p>
          <a:endParaRPr lang="ru-RU"/>
        </a:p>
      </dgm:t>
    </dgm:pt>
    <dgm:pt modelId="{F0B068F1-8866-4DE6-8748-AA78A7720214}" type="sibTrans" cxnId="{189F9727-27A4-4D47-9C3A-2D2A7BBE84AB}">
      <dgm:prSet/>
      <dgm:spPr/>
      <dgm:t>
        <a:bodyPr/>
        <a:lstStyle/>
        <a:p>
          <a:endParaRPr lang="ru-RU"/>
        </a:p>
      </dgm:t>
    </dgm:pt>
    <dgm:pt modelId="{D6DCA811-6520-4B4C-B3F6-E54358B3A491}">
      <dgm:prSet phldrT="[Текст]"/>
      <dgm:spPr/>
      <dgm:t>
        <a:bodyPr/>
        <a:lstStyle/>
        <a:p>
          <a:r>
            <a:rPr lang="ru-RU" dirty="0"/>
            <a:t>Таблица движений</a:t>
          </a:r>
        </a:p>
      </dgm:t>
    </dgm:pt>
    <dgm:pt modelId="{F0AFD4F1-161F-4EF7-AF8A-1F647CB28A48}" type="parTrans" cxnId="{9D078387-8A04-45EC-A245-C7EB16CE8C0F}">
      <dgm:prSet/>
      <dgm:spPr/>
      <dgm:t>
        <a:bodyPr/>
        <a:lstStyle/>
        <a:p>
          <a:endParaRPr lang="ru-RU"/>
        </a:p>
      </dgm:t>
    </dgm:pt>
    <dgm:pt modelId="{F7C9B0BD-4789-4C03-966C-7289EE9E0D7F}" type="sibTrans" cxnId="{9D078387-8A04-45EC-A245-C7EB16CE8C0F}">
      <dgm:prSet/>
      <dgm:spPr/>
      <dgm:t>
        <a:bodyPr/>
        <a:lstStyle/>
        <a:p>
          <a:endParaRPr lang="ru-RU"/>
        </a:p>
      </dgm:t>
    </dgm:pt>
    <dgm:pt modelId="{67103CCD-9F79-4DA0-89BF-3D9E48C700C9}" type="pres">
      <dgm:prSet presAssocID="{4479E942-9D60-4B50-88DB-96A2518C5662}" presName="Name0" presStyleCnt="0">
        <dgm:presLayoutVars>
          <dgm:dir/>
          <dgm:resizeHandles val="exact"/>
        </dgm:presLayoutVars>
      </dgm:prSet>
      <dgm:spPr/>
    </dgm:pt>
    <dgm:pt modelId="{6E56A0E6-0C80-4492-9F2F-832C4293D139}" type="pres">
      <dgm:prSet presAssocID="{00308DEB-0942-4132-94D7-D2B0198628A2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FBA00D3-9808-4C2F-9317-C3792EB4011B}" type="pres">
      <dgm:prSet presAssocID="{F0B068F1-8866-4DE6-8748-AA78A7720214}" presName="sibTrans" presStyleLbl="sibTrans2D1" presStyleIdx="0" presStyleCnt="1"/>
      <dgm:spPr/>
      <dgm:t>
        <a:bodyPr/>
        <a:lstStyle/>
        <a:p>
          <a:endParaRPr lang="ru-RU"/>
        </a:p>
      </dgm:t>
    </dgm:pt>
    <dgm:pt modelId="{C22C9E2D-1DEE-4388-B507-5749EA6D65D5}" type="pres">
      <dgm:prSet presAssocID="{F0B068F1-8866-4DE6-8748-AA78A7720214}" presName="connectorText" presStyleLbl="sibTrans2D1" presStyleIdx="0" presStyleCnt="1"/>
      <dgm:spPr/>
      <dgm:t>
        <a:bodyPr/>
        <a:lstStyle/>
        <a:p>
          <a:endParaRPr lang="ru-RU"/>
        </a:p>
      </dgm:t>
    </dgm:pt>
    <dgm:pt modelId="{B5069AD1-BD82-4216-B769-C157B9621FFD}" type="pres">
      <dgm:prSet presAssocID="{D6DCA811-6520-4B4C-B3F6-E54358B3A491}" presName="node" presStyleLbl="node1" presStyleIdx="1" presStyleCnt="2" custScaleX="100001" custScaleY="100001" custLinFactX="24" custLinFactNeighborX="100000" custLinFactNeighborY="92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E127F0A-733C-4BB0-BF8F-2981C66C4519}" type="presOf" srcId="{D6DCA811-6520-4B4C-B3F6-E54358B3A491}" destId="{B5069AD1-BD82-4216-B769-C157B9621FFD}" srcOrd="0" destOrd="0" presId="urn:microsoft.com/office/officeart/2005/8/layout/process1"/>
    <dgm:cxn modelId="{D330C99E-7977-4F13-B1C7-05C7FFB45339}" type="presOf" srcId="{F0B068F1-8866-4DE6-8748-AA78A7720214}" destId="{C22C9E2D-1DEE-4388-B507-5749EA6D65D5}" srcOrd="1" destOrd="0" presId="urn:microsoft.com/office/officeart/2005/8/layout/process1"/>
    <dgm:cxn modelId="{693244FE-3DDE-46D8-A503-1B0AB93D36E2}" type="presOf" srcId="{00308DEB-0942-4132-94D7-D2B0198628A2}" destId="{6E56A0E6-0C80-4492-9F2F-832C4293D139}" srcOrd="0" destOrd="0" presId="urn:microsoft.com/office/officeart/2005/8/layout/process1"/>
    <dgm:cxn modelId="{9D078387-8A04-45EC-A245-C7EB16CE8C0F}" srcId="{4479E942-9D60-4B50-88DB-96A2518C5662}" destId="{D6DCA811-6520-4B4C-B3F6-E54358B3A491}" srcOrd="1" destOrd="0" parTransId="{F0AFD4F1-161F-4EF7-AF8A-1F647CB28A48}" sibTransId="{F7C9B0BD-4789-4C03-966C-7289EE9E0D7F}"/>
    <dgm:cxn modelId="{12E358A0-2BF8-4D7D-95DB-06EA39E604F0}" type="presOf" srcId="{4479E942-9D60-4B50-88DB-96A2518C5662}" destId="{67103CCD-9F79-4DA0-89BF-3D9E48C700C9}" srcOrd="0" destOrd="0" presId="urn:microsoft.com/office/officeart/2005/8/layout/process1"/>
    <dgm:cxn modelId="{189F9727-27A4-4D47-9C3A-2D2A7BBE84AB}" srcId="{4479E942-9D60-4B50-88DB-96A2518C5662}" destId="{00308DEB-0942-4132-94D7-D2B0198628A2}" srcOrd="0" destOrd="0" parTransId="{41A29AF2-6ACB-4BCF-9CAE-8BBF04E9AC02}" sibTransId="{F0B068F1-8866-4DE6-8748-AA78A7720214}"/>
    <dgm:cxn modelId="{E8BCAC2E-ED82-44AE-8C03-095A78B6750B}" type="presOf" srcId="{F0B068F1-8866-4DE6-8748-AA78A7720214}" destId="{BFBA00D3-9808-4C2F-9317-C3792EB4011B}" srcOrd="0" destOrd="0" presId="urn:microsoft.com/office/officeart/2005/8/layout/process1"/>
    <dgm:cxn modelId="{83B40BF7-EA23-4B93-8771-A5B3D2C090F2}" type="presParOf" srcId="{67103CCD-9F79-4DA0-89BF-3D9E48C700C9}" destId="{6E56A0E6-0C80-4492-9F2F-832C4293D139}" srcOrd="0" destOrd="0" presId="urn:microsoft.com/office/officeart/2005/8/layout/process1"/>
    <dgm:cxn modelId="{8A48260E-9822-4FF6-8B18-620C14D64837}" type="presParOf" srcId="{67103CCD-9F79-4DA0-89BF-3D9E48C700C9}" destId="{BFBA00D3-9808-4C2F-9317-C3792EB4011B}" srcOrd="1" destOrd="0" presId="urn:microsoft.com/office/officeart/2005/8/layout/process1"/>
    <dgm:cxn modelId="{642F5EAD-BDC7-4E39-B4BA-4236FB23704E}" type="presParOf" srcId="{BFBA00D3-9808-4C2F-9317-C3792EB4011B}" destId="{C22C9E2D-1DEE-4388-B507-5749EA6D65D5}" srcOrd="0" destOrd="0" presId="urn:microsoft.com/office/officeart/2005/8/layout/process1"/>
    <dgm:cxn modelId="{7600410F-74C4-4F5E-BFCE-9BE78BC9B0B4}" type="presParOf" srcId="{67103CCD-9F79-4DA0-89BF-3D9E48C700C9}" destId="{B5069AD1-BD82-4216-B769-C157B9621FFD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CBA05-5C92-42A6-A215-812C80B544E6}">
      <dsp:nvSpPr>
        <dsp:cNvPr id="0" name=""/>
        <dsp:cNvSpPr/>
      </dsp:nvSpPr>
      <dsp:spPr>
        <a:xfrm>
          <a:off x="3859" y="1740805"/>
          <a:ext cx="1687676" cy="14872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/>
            <a:t>Набор записей</a:t>
          </a:r>
        </a:p>
      </dsp:txBody>
      <dsp:txXfrm>
        <a:off x="47419" y="1784365"/>
        <a:ext cx="1600556" cy="1400144"/>
      </dsp:txXfrm>
    </dsp:sp>
    <dsp:sp modelId="{BA771FEE-2EF1-4BBC-A777-D1495A593656}">
      <dsp:nvSpPr>
        <dsp:cNvPr id="0" name=""/>
        <dsp:cNvSpPr/>
      </dsp:nvSpPr>
      <dsp:spPr>
        <a:xfrm>
          <a:off x="1860303" y="2275165"/>
          <a:ext cx="357787" cy="41854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400" kern="1200"/>
        </a:p>
      </dsp:txBody>
      <dsp:txXfrm>
        <a:off x="1860303" y="2358874"/>
        <a:ext cx="250451" cy="251125"/>
      </dsp:txXfrm>
    </dsp:sp>
    <dsp:sp modelId="{9F3F375B-13E0-4AEE-BFC4-9E3CC037ADDE}">
      <dsp:nvSpPr>
        <dsp:cNvPr id="0" name=""/>
        <dsp:cNvSpPr/>
      </dsp:nvSpPr>
      <dsp:spPr>
        <a:xfrm>
          <a:off x="2366606" y="1740805"/>
          <a:ext cx="1687676" cy="14872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/>
            <a:t>Таблица движений</a:t>
          </a:r>
        </a:p>
      </dsp:txBody>
      <dsp:txXfrm>
        <a:off x="2410166" y="1784365"/>
        <a:ext cx="1600556" cy="1400144"/>
      </dsp:txXfrm>
    </dsp:sp>
    <dsp:sp modelId="{B80F8CBF-53EE-46BE-8983-EF2C533B13D9}">
      <dsp:nvSpPr>
        <dsp:cNvPr id="0" name=""/>
        <dsp:cNvSpPr/>
      </dsp:nvSpPr>
      <dsp:spPr>
        <a:xfrm>
          <a:off x="4223050" y="2275165"/>
          <a:ext cx="357787" cy="41854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shade val="51000"/>
                <a:satMod val="130000"/>
              </a:schemeClr>
            </a:gs>
            <a:gs pos="80000">
              <a:schemeClr val="accent3">
                <a:hueOff val="5625132"/>
                <a:satOff val="-8440"/>
                <a:lumOff val="-1373"/>
                <a:alphaOff val="0"/>
                <a:shade val="93000"/>
                <a:satMod val="13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400" kern="1200"/>
        </a:p>
      </dsp:txBody>
      <dsp:txXfrm>
        <a:off x="4223050" y="2358874"/>
        <a:ext cx="250451" cy="251125"/>
      </dsp:txXfrm>
    </dsp:sp>
    <dsp:sp modelId="{8D34451B-FC6C-41AD-8145-F18A18AB2565}">
      <dsp:nvSpPr>
        <dsp:cNvPr id="0" name=""/>
        <dsp:cNvSpPr/>
      </dsp:nvSpPr>
      <dsp:spPr>
        <a:xfrm>
          <a:off x="4729353" y="1740805"/>
          <a:ext cx="1687676" cy="14872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/>
            <a:t>Внутренние механизмы регистра</a:t>
          </a:r>
        </a:p>
      </dsp:txBody>
      <dsp:txXfrm>
        <a:off x="4772913" y="1784365"/>
        <a:ext cx="1600556" cy="1400144"/>
      </dsp:txXfrm>
    </dsp:sp>
    <dsp:sp modelId="{86A3AB2D-8FEF-4C34-98EB-7774DA2A051F}">
      <dsp:nvSpPr>
        <dsp:cNvPr id="0" name=""/>
        <dsp:cNvSpPr/>
      </dsp:nvSpPr>
      <dsp:spPr>
        <a:xfrm>
          <a:off x="6585797" y="2275165"/>
          <a:ext cx="357787" cy="41854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400" kern="1200"/>
        </a:p>
      </dsp:txBody>
      <dsp:txXfrm>
        <a:off x="6585797" y="2358874"/>
        <a:ext cx="250451" cy="251125"/>
      </dsp:txXfrm>
    </dsp:sp>
    <dsp:sp modelId="{E6ED543A-3C95-424B-988C-1971F2C8B94D}">
      <dsp:nvSpPr>
        <dsp:cNvPr id="0" name=""/>
        <dsp:cNvSpPr/>
      </dsp:nvSpPr>
      <dsp:spPr>
        <a:xfrm>
          <a:off x="7092100" y="1740805"/>
          <a:ext cx="1687676" cy="14872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/>
            <a:t>Таблицы регистров, хранящие обработанные данные</a:t>
          </a:r>
        </a:p>
      </dsp:txBody>
      <dsp:txXfrm>
        <a:off x="7135660" y="1784365"/>
        <a:ext cx="1600556" cy="14001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6A0E6-0C80-4492-9F2F-832C4293D139}">
      <dsp:nvSpPr>
        <dsp:cNvPr id="0" name=""/>
        <dsp:cNvSpPr/>
      </dsp:nvSpPr>
      <dsp:spPr>
        <a:xfrm>
          <a:off x="1168" y="302626"/>
          <a:ext cx="2519295" cy="1511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/>
            <a:t>Набор записей</a:t>
          </a:r>
        </a:p>
      </dsp:txBody>
      <dsp:txXfrm>
        <a:off x="45441" y="346899"/>
        <a:ext cx="2430749" cy="1423031"/>
      </dsp:txXfrm>
    </dsp:sp>
    <dsp:sp modelId="{BFBA00D3-9808-4C2F-9317-C3792EB4011B}">
      <dsp:nvSpPr>
        <dsp:cNvPr id="0" name=""/>
        <dsp:cNvSpPr/>
      </dsp:nvSpPr>
      <dsp:spPr>
        <a:xfrm rot="13653">
          <a:off x="2772683" y="753089"/>
          <a:ext cx="534714" cy="62478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600" kern="1200"/>
        </a:p>
      </dsp:txBody>
      <dsp:txXfrm>
        <a:off x="2772684" y="877727"/>
        <a:ext cx="374300" cy="374871"/>
      </dsp:txXfrm>
    </dsp:sp>
    <dsp:sp modelId="{B5069AD1-BD82-4216-B769-C157B9621FFD}">
      <dsp:nvSpPr>
        <dsp:cNvPr id="0" name=""/>
        <dsp:cNvSpPr/>
      </dsp:nvSpPr>
      <dsp:spPr>
        <a:xfrm>
          <a:off x="3529351" y="316631"/>
          <a:ext cx="2519320" cy="15115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/>
            <a:t>Таблица движений</a:t>
          </a:r>
        </a:p>
      </dsp:txBody>
      <dsp:txXfrm>
        <a:off x="3573624" y="360904"/>
        <a:ext cx="2430774" cy="14230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5867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042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81434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877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557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5228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87914-0B35-4492-8352-3BA708B946E3}" type="datetimeFigureOut">
              <a:rPr lang="ru-RU" smtClean="0"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5BF4-D2AA-4878-8A9A-7FDE60BCF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155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87914-0B35-4492-8352-3BA708B946E3}" type="datetimeFigureOut">
              <a:rPr lang="ru-RU" smtClean="0"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5BF4-D2AA-4878-8A9A-7FDE60BCF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66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1" y="6310313"/>
            <a:ext cx="855663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/67</a:t>
            </a: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Расчётные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719439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Регистры расчета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95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Планируемые начисления и удержания</a:t>
            </a:r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019308"/>
              </p:ext>
            </p:extLst>
          </p:nvPr>
        </p:nvGraphicFramePr>
        <p:xfrm>
          <a:off x="188118" y="1157189"/>
          <a:ext cx="8784001" cy="517988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3048049">
                  <a:extLst>
                    <a:ext uri="{9D8B030D-6E8A-4147-A177-3AD203B41FA5}">
                      <a16:colId xmlns:a16="http://schemas.microsoft.com/office/drawing/2014/main" val="3543505898"/>
                    </a:ext>
                  </a:extLst>
                </a:gridCol>
                <a:gridCol w="2902234">
                  <a:extLst>
                    <a:ext uri="{9D8B030D-6E8A-4147-A177-3AD203B41FA5}">
                      <a16:colId xmlns:a16="http://schemas.microsoft.com/office/drawing/2014/main" val="3250723672"/>
                    </a:ext>
                  </a:extLst>
                </a:gridCol>
                <a:gridCol w="2833718">
                  <a:extLst>
                    <a:ext uri="{9D8B030D-6E8A-4147-A177-3AD203B41FA5}">
                      <a16:colId xmlns:a16="http://schemas.microsoft.com/office/drawing/2014/main" val="3391167835"/>
                    </a:ext>
                  </a:extLst>
                </a:gridCol>
              </a:tblGrid>
              <a:tr h="6438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Основные начисления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Дополнительные начисления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Удержания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extLst>
                  <a:ext uri="{0D108BD9-81ED-4DB2-BD59-A6C34878D82A}">
                    <a16:rowId xmlns:a16="http://schemas.microsoft.com/office/drawing/2014/main" val="444278743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Оклад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[Ставка оклада] * 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[Число отработанных дней] / [Число рабочих дней в месяце]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Премия суммой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[Фиксированная сумма]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Удержание суммой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Фиксированная сумма]</a:t>
                      </a: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3558036224"/>
                  </a:ext>
                </a:extLst>
              </a:tr>
              <a:tr h="122199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Оклад на выезде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[Ставка оклада] * 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[Число отработанных дней] / [Число рабочих дней в месяце]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Компенсация за выезд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[Число отработанных дней на выезде]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[Сумма компенсации за 1 день]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Удержание процентом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([Сумма оклада] + [Сумма премии процентом])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[Процент удержания] / 100</a:t>
                      </a: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2577919967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Доплата за вредность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[Сумма оклада] *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[Процент доплаты] / 100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Премия процентом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([Сумма оклада] +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[Сумма премии суммой])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[Процент премии] / 100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872281239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Северная надбавка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([Сумма оклада] + [Доплата за вредность]) * [Процент надбавки] / 100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2455347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6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Планируемые начисления и удержания</a:t>
            </a:r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188118" y="1157189"/>
          <a:ext cx="8784001" cy="517988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3048049">
                  <a:extLst>
                    <a:ext uri="{9D8B030D-6E8A-4147-A177-3AD203B41FA5}">
                      <a16:colId xmlns:a16="http://schemas.microsoft.com/office/drawing/2014/main" val="3543505898"/>
                    </a:ext>
                  </a:extLst>
                </a:gridCol>
                <a:gridCol w="2902234">
                  <a:extLst>
                    <a:ext uri="{9D8B030D-6E8A-4147-A177-3AD203B41FA5}">
                      <a16:colId xmlns:a16="http://schemas.microsoft.com/office/drawing/2014/main" val="3250723672"/>
                    </a:ext>
                  </a:extLst>
                </a:gridCol>
                <a:gridCol w="2833718">
                  <a:extLst>
                    <a:ext uri="{9D8B030D-6E8A-4147-A177-3AD203B41FA5}">
                      <a16:colId xmlns:a16="http://schemas.microsoft.com/office/drawing/2014/main" val="3391167835"/>
                    </a:ext>
                  </a:extLst>
                </a:gridCol>
              </a:tblGrid>
              <a:tr h="6438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Основные начисления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Дополнительные начисления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Удержания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extLst>
                  <a:ext uri="{0D108BD9-81ED-4DB2-BD59-A6C34878D82A}">
                    <a16:rowId xmlns:a16="http://schemas.microsoft.com/office/drawing/2014/main" val="444278743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Оклад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[Ставка оклада] * 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[Число отработанных дней] / [Число рабочих дней в месяце]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Премия суммой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[Фиксированная сумма]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Удержание суммой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Фиксированная сумма]</a:t>
                      </a: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3558036224"/>
                  </a:ext>
                </a:extLst>
              </a:tr>
              <a:tr h="122199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Оклад на выезде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[Ставка оклада] * 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[Число отработанных дней] / [Число рабочих дней в месяце]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Компенсация за выезд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[Число отработанных дней на выезде]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[Сумма компенсации за 1 день]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Удержание процентом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([Сумма оклада] + [Сумма премии процентом])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[Процент удержания] / 100</a:t>
                      </a: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2577919967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Доплата за вредность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[Сумма оклада] *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[Процент доплаты] / 100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Премия процентом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([Сумма оклада] +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[Сумма премии суммой])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[Процент премии] / 100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872281239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Северная надбавка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([Сумма оклада] + [Доплата за вредность]) * [Процент надбавки] / 100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2455347409"/>
                  </a:ext>
                </a:extLst>
              </a:tr>
            </a:tbl>
          </a:graphicData>
        </a:graphic>
      </p:graphicFrame>
      <p:cxnSp>
        <p:nvCxnSpPr>
          <p:cNvPr id="27" name="Прямая со стрелкой 26"/>
          <p:cNvCxnSpPr/>
          <p:nvPr/>
        </p:nvCxnSpPr>
        <p:spPr>
          <a:xfrm flipV="1">
            <a:off x="1980000" y="2124000"/>
            <a:ext cx="18680" cy="2468816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round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flipH="1" flipV="1">
            <a:off x="2252626" y="2126514"/>
            <a:ext cx="1" cy="3385666"/>
          </a:xfrm>
          <a:prstGeom prst="straightConnector1">
            <a:avLst/>
          </a:prstGeom>
          <a:ln w="22225">
            <a:solidFill>
              <a:schemeClr val="accent6">
                <a:lumMod val="50000"/>
              </a:schemeClr>
            </a:solidFill>
            <a:round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 flipV="1">
            <a:off x="2472243" y="4595330"/>
            <a:ext cx="11525" cy="916850"/>
          </a:xfrm>
          <a:prstGeom prst="straightConnector1">
            <a:avLst/>
          </a:prstGeom>
          <a:ln w="22225">
            <a:solidFill>
              <a:schemeClr val="accent6">
                <a:lumMod val="50000"/>
              </a:schemeClr>
            </a:solidFill>
            <a:round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45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Планируемые начисления и удержания</a:t>
            </a:r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188118" y="1157189"/>
          <a:ext cx="8784001" cy="517988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3048049">
                  <a:extLst>
                    <a:ext uri="{9D8B030D-6E8A-4147-A177-3AD203B41FA5}">
                      <a16:colId xmlns:a16="http://schemas.microsoft.com/office/drawing/2014/main" val="3543505898"/>
                    </a:ext>
                  </a:extLst>
                </a:gridCol>
                <a:gridCol w="2902234">
                  <a:extLst>
                    <a:ext uri="{9D8B030D-6E8A-4147-A177-3AD203B41FA5}">
                      <a16:colId xmlns:a16="http://schemas.microsoft.com/office/drawing/2014/main" val="3250723672"/>
                    </a:ext>
                  </a:extLst>
                </a:gridCol>
                <a:gridCol w="2833718">
                  <a:extLst>
                    <a:ext uri="{9D8B030D-6E8A-4147-A177-3AD203B41FA5}">
                      <a16:colId xmlns:a16="http://schemas.microsoft.com/office/drawing/2014/main" val="3391167835"/>
                    </a:ext>
                  </a:extLst>
                </a:gridCol>
              </a:tblGrid>
              <a:tr h="6438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Основные начисления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Дополнительные начисления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Удержания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extLst>
                  <a:ext uri="{0D108BD9-81ED-4DB2-BD59-A6C34878D82A}">
                    <a16:rowId xmlns:a16="http://schemas.microsoft.com/office/drawing/2014/main" val="444278743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Оклад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[Ставка оклада] * 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[Число отработанных дней] / [Число рабочих дней в месяце]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Премия суммой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[Фиксированная сумма]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Удержание суммой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Фиксированная сумма]</a:t>
                      </a: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3558036224"/>
                  </a:ext>
                </a:extLst>
              </a:tr>
              <a:tr h="122199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Оклад на выезде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[Ставка оклада] * 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[Число отработанных дней] / [Число рабочих дней в месяце]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Компенсация за выезд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[Число отработанных дней на выезде]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[Сумма компенсации за 1 день]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Удержание процентом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([Сумма оклада] + [Сумма премии процентом])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[Процент удержания] / 100</a:t>
                      </a: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2577919967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Доплата за вредность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[Сумма оклада] *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[Процент доплаты] / 100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Премия процентом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([Сумма оклада] +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[Сумма премии суммой])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[Процент премии] / 100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872281239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Северная надбавка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([Сумма оклада] + [Доплата за вредность]) * [Процент надбавки] / 100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2455347409"/>
                  </a:ext>
                </a:extLst>
              </a:tr>
            </a:tbl>
          </a:graphicData>
        </a:graphic>
      </p:graphicFrame>
      <p:cxnSp>
        <p:nvCxnSpPr>
          <p:cNvPr id="20" name="Прямая со стрелкой 19"/>
          <p:cNvCxnSpPr/>
          <p:nvPr/>
        </p:nvCxnSpPr>
        <p:spPr>
          <a:xfrm flipH="1" flipV="1">
            <a:off x="4108451" y="2132856"/>
            <a:ext cx="23019" cy="2729028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round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 flipV="1">
            <a:off x="2483768" y="2132856"/>
            <a:ext cx="1624683" cy="2737594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round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88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Планируемые начисления и удержания</a:t>
            </a:r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188118" y="1157189"/>
          <a:ext cx="8784001" cy="517988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3048049">
                  <a:extLst>
                    <a:ext uri="{9D8B030D-6E8A-4147-A177-3AD203B41FA5}">
                      <a16:colId xmlns:a16="http://schemas.microsoft.com/office/drawing/2014/main" val="3543505898"/>
                    </a:ext>
                  </a:extLst>
                </a:gridCol>
                <a:gridCol w="2902234">
                  <a:extLst>
                    <a:ext uri="{9D8B030D-6E8A-4147-A177-3AD203B41FA5}">
                      <a16:colId xmlns:a16="http://schemas.microsoft.com/office/drawing/2014/main" val="3250723672"/>
                    </a:ext>
                  </a:extLst>
                </a:gridCol>
                <a:gridCol w="2833718">
                  <a:extLst>
                    <a:ext uri="{9D8B030D-6E8A-4147-A177-3AD203B41FA5}">
                      <a16:colId xmlns:a16="http://schemas.microsoft.com/office/drawing/2014/main" val="3391167835"/>
                    </a:ext>
                  </a:extLst>
                </a:gridCol>
              </a:tblGrid>
              <a:tr h="6438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Основные начисления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Дополнительные начисления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Удержания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extLst>
                  <a:ext uri="{0D108BD9-81ED-4DB2-BD59-A6C34878D82A}">
                    <a16:rowId xmlns:a16="http://schemas.microsoft.com/office/drawing/2014/main" val="444278743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Оклад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[Ставка оклада] * 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[Число отработанных дней] / [Число рабочих дней в месяце]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Премия суммой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[Фиксированная сумма]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Удержание суммой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Фиксированная сумма]</a:t>
                      </a: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3558036224"/>
                  </a:ext>
                </a:extLst>
              </a:tr>
              <a:tr h="122199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Оклад на выезде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[Ставка оклада] * 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[Число отработанных дней] / [Число рабочих дней в месяце]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Компенсация за выезд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[Число отработанных дней на выезде]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[Сумма компенсации за 1 день]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Удержание процентом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([Сумма оклада] + [Сумма премии процентом])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[Процент удержания] / 100</a:t>
                      </a: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2577919967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Доплата за вредность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[Сумма оклада] *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[Процент доплаты] / 100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Премия процентом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([Сумма оклада] +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[Сумма премии суммой])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[Процент премии] / 100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872281239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Северная надбавка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([Сумма оклада] + [Доплата за вредность]) * [Процент надбавки] / 100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2455347409"/>
                  </a:ext>
                </a:extLst>
              </a:tr>
            </a:tbl>
          </a:graphicData>
        </a:graphic>
      </p:graphicFrame>
      <p:cxnSp>
        <p:nvCxnSpPr>
          <p:cNvPr id="19" name="Прямая со стрелкой 18"/>
          <p:cNvCxnSpPr/>
          <p:nvPr/>
        </p:nvCxnSpPr>
        <p:spPr>
          <a:xfrm flipH="1" flipV="1">
            <a:off x="2339752" y="1988840"/>
            <a:ext cx="4537769" cy="1334270"/>
          </a:xfrm>
          <a:prstGeom prst="straightConnector1">
            <a:avLst/>
          </a:prstGeom>
          <a:ln w="25400">
            <a:solidFill>
              <a:srgbClr val="C00000"/>
            </a:solidFill>
            <a:round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flipH="1">
            <a:off x="5364088" y="3323110"/>
            <a:ext cx="1437434" cy="1116493"/>
          </a:xfrm>
          <a:prstGeom prst="straightConnector1">
            <a:avLst/>
          </a:prstGeom>
          <a:ln w="25400">
            <a:solidFill>
              <a:srgbClr val="C00000"/>
            </a:solidFill>
            <a:round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97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Планируемые начисления и удержания</a:t>
            </a:r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826676"/>
              </p:ext>
            </p:extLst>
          </p:nvPr>
        </p:nvGraphicFramePr>
        <p:xfrm>
          <a:off x="188118" y="1157189"/>
          <a:ext cx="8784001" cy="517988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3048049">
                  <a:extLst>
                    <a:ext uri="{9D8B030D-6E8A-4147-A177-3AD203B41FA5}">
                      <a16:colId xmlns:a16="http://schemas.microsoft.com/office/drawing/2014/main" val="3543505898"/>
                    </a:ext>
                  </a:extLst>
                </a:gridCol>
                <a:gridCol w="2902234">
                  <a:extLst>
                    <a:ext uri="{9D8B030D-6E8A-4147-A177-3AD203B41FA5}">
                      <a16:colId xmlns:a16="http://schemas.microsoft.com/office/drawing/2014/main" val="3250723672"/>
                    </a:ext>
                  </a:extLst>
                </a:gridCol>
                <a:gridCol w="2833718">
                  <a:extLst>
                    <a:ext uri="{9D8B030D-6E8A-4147-A177-3AD203B41FA5}">
                      <a16:colId xmlns:a16="http://schemas.microsoft.com/office/drawing/2014/main" val="3391167835"/>
                    </a:ext>
                  </a:extLst>
                </a:gridCol>
              </a:tblGrid>
              <a:tr h="6438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Основные начисления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Дополнительные начисления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0" spc="70" dirty="0">
                          <a:effectLst/>
                        </a:rPr>
                        <a:t>Удержания</a:t>
                      </a:r>
                      <a:endParaRPr lang="ru-RU" sz="16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629" marR="42629" marT="0" marB="0" anchor="ctr"/>
                </a:tc>
                <a:extLst>
                  <a:ext uri="{0D108BD9-81ED-4DB2-BD59-A6C34878D82A}">
                    <a16:rowId xmlns:a16="http://schemas.microsoft.com/office/drawing/2014/main" val="444278743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Оклад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[Ставка оклада] * 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[Число отработанных дней] / [Число рабочих дней в месяце]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Премия суммой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[Фиксированная сумма]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Удержание суммой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Фиксированная сумма]</a:t>
                      </a: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3558036224"/>
                  </a:ext>
                </a:extLst>
              </a:tr>
              <a:tr h="122199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Оклад на выезде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[Ставка оклада] * 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[Число отработанных дней] / [Число рабочих дней в месяце]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Компенсация за выезд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[Число отработанных дней на выезде]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[Сумма компенсации за 1 день]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Удержание процентом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([Сумма оклада] + [Сумма премии процентом])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[Процент удержания] / 100</a:t>
                      </a: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2577919967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Доплата за вредность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[Сумма оклада] *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[Процент доплаты] / 100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Премия процентом =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([Сумма оклада] +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[Сумма премии суммой]) *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[Процент премии] / 100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872281239"/>
                  </a:ext>
                </a:extLst>
              </a:tr>
              <a:tr h="10474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Северная надбавка =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([Сумма оклада] + [Доплата за вредность]) * [Процент надбавки] / 100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4203" marR="42629" marT="0" marB="0"/>
                </a:tc>
                <a:extLst>
                  <a:ext uri="{0D108BD9-81ED-4DB2-BD59-A6C34878D82A}">
                    <a16:rowId xmlns:a16="http://schemas.microsoft.com/office/drawing/2014/main" val="2455347409"/>
                  </a:ext>
                </a:extLst>
              </a:tr>
            </a:tbl>
          </a:graphicData>
        </a:graphic>
      </p:graphicFrame>
      <p:cxnSp>
        <p:nvCxnSpPr>
          <p:cNvPr id="19" name="Прямая со стрелкой 18"/>
          <p:cNvCxnSpPr/>
          <p:nvPr/>
        </p:nvCxnSpPr>
        <p:spPr>
          <a:xfrm flipH="1" flipV="1">
            <a:off x="2339752" y="1988840"/>
            <a:ext cx="4537769" cy="1334270"/>
          </a:xfrm>
          <a:prstGeom prst="straightConnector1">
            <a:avLst/>
          </a:prstGeom>
          <a:ln w="25400">
            <a:solidFill>
              <a:srgbClr val="C00000"/>
            </a:solidFill>
            <a:round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 flipV="1">
            <a:off x="4108451" y="2132856"/>
            <a:ext cx="23019" cy="2729028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round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flipH="1">
            <a:off x="5364088" y="3323110"/>
            <a:ext cx="1437434" cy="1116493"/>
          </a:xfrm>
          <a:prstGeom prst="straightConnector1">
            <a:avLst/>
          </a:prstGeom>
          <a:ln w="25400">
            <a:solidFill>
              <a:srgbClr val="C00000"/>
            </a:solidFill>
            <a:round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 flipV="1">
            <a:off x="2483768" y="2132856"/>
            <a:ext cx="1624683" cy="2737594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round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 flipV="1">
            <a:off x="1980000" y="2124000"/>
            <a:ext cx="18680" cy="2468816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round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flipH="1" flipV="1">
            <a:off x="2252626" y="2126514"/>
            <a:ext cx="1" cy="3385666"/>
          </a:xfrm>
          <a:prstGeom prst="straightConnector1">
            <a:avLst/>
          </a:prstGeom>
          <a:ln w="22225">
            <a:solidFill>
              <a:schemeClr val="accent6">
                <a:lumMod val="50000"/>
              </a:schemeClr>
            </a:solidFill>
            <a:round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 flipV="1">
            <a:off x="2472243" y="4595330"/>
            <a:ext cx="11525" cy="916850"/>
          </a:xfrm>
          <a:prstGeom prst="straightConnector1">
            <a:avLst/>
          </a:prstGeom>
          <a:ln w="22225">
            <a:solidFill>
              <a:schemeClr val="accent6">
                <a:lumMod val="50000"/>
              </a:schemeClr>
            </a:solidFill>
            <a:round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48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видов расчета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02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Основные настройки на закладке «Расчет»</a:t>
            </a:r>
          </a:p>
        </p:txBody>
      </p:sp>
      <p:pic>
        <p:nvPicPr>
          <p:cNvPr id="13314" name="Picture 2" descr="C:\Users\admin\AppData\Local\Temp\SNAGHTML51f905d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9" y="1186920"/>
            <a:ext cx="4972050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Выноска 2 7"/>
          <p:cNvSpPr/>
          <p:nvPr/>
        </p:nvSpPr>
        <p:spPr>
          <a:xfrm>
            <a:off x="6091799" y="1484784"/>
            <a:ext cx="2880320" cy="1152128"/>
          </a:xfrm>
          <a:prstGeom prst="borderCallout2">
            <a:avLst>
              <a:gd name="adj1" fmla="val 53115"/>
              <a:gd name="adj2" fmla="val -151"/>
              <a:gd name="adj3" fmla="val 18750"/>
              <a:gd name="adj4" fmla="val -16667"/>
              <a:gd name="adj5" fmla="val 8588"/>
              <a:gd name="adj6" fmla="val -73831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Есть виды расчета, результат которых зависит от протяженности во времени</a:t>
            </a:r>
          </a:p>
        </p:txBody>
      </p:sp>
      <p:sp>
        <p:nvSpPr>
          <p:cNvPr id="9" name="Выноска 2 8"/>
          <p:cNvSpPr/>
          <p:nvPr/>
        </p:nvSpPr>
        <p:spPr>
          <a:xfrm>
            <a:off x="6091799" y="3077831"/>
            <a:ext cx="2880320" cy="1152128"/>
          </a:xfrm>
          <a:prstGeom prst="borderCallout2">
            <a:avLst>
              <a:gd name="adj1" fmla="val 53115"/>
              <a:gd name="adj2" fmla="val -151"/>
              <a:gd name="adj3" fmla="val -50798"/>
              <a:gd name="adj4" fmla="val -14049"/>
              <a:gd name="adj5" fmla="val -71596"/>
              <a:gd name="adj6" fmla="val -58448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Есть виды расчета, результат которых зависит от расчетной базы</a:t>
            </a:r>
          </a:p>
        </p:txBody>
      </p:sp>
    </p:spTree>
    <p:extLst>
      <p:ext uri="{BB962C8B-B14F-4D97-AF65-F5344CB8AC3E}">
        <p14:creationId xmlns:p14="http://schemas.microsoft.com/office/powerpoint/2010/main" val="107826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5862" y="1268681"/>
            <a:ext cx="8784000" cy="4752607"/>
          </a:xfrm>
        </p:spPr>
        <p:txBody>
          <a:bodyPr>
            <a:normAutofit/>
          </a:bodyPr>
          <a:lstStyle/>
          <a:p>
            <a:r>
              <a:rPr lang="ru-RU" dirty="0"/>
              <a:t>Есть всегда у любого плана видов расчета.</a:t>
            </a:r>
          </a:p>
          <a:p>
            <a:r>
              <a:rPr lang="ru-RU" dirty="0"/>
              <a:t>Содержит список видов расчета, записи с которыми надо рассчитывать раньше чем записи с текущим видом расчета.</a:t>
            </a:r>
          </a:p>
          <a:p>
            <a:r>
              <a:rPr lang="ru-RU" dirty="0"/>
              <a:t>Могут быть выбраны виды расчета из любого плана видов расчета.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Служебная ТЧ «Ведущие виды расчета»</a:t>
            </a:r>
          </a:p>
        </p:txBody>
      </p:sp>
    </p:spTree>
    <p:extLst>
      <p:ext uri="{BB962C8B-B14F-4D97-AF65-F5344CB8AC3E}">
        <p14:creationId xmlns:p14="http://schemas.microsoft.com/office/powerpoint/2010/main" val="2187713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Служебная ТЧ «Ведущие виды расчета»</a:t>
            </a:r>
          </a:p>
        </p:txBody>
      </p:sp>
      <p:pic>
        <p:nvPicPr>
          <p:cNvPr id="15362" name="Picture 2" descr="C:\Users\admin\AppData\Local\Temp\SNAGHTML51fcf7f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556792"/>
            <a:ext cx="4591050" cy="221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C:\Users\admin\AppData\Local\Temp\SNAGHTML51fd465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16" y="1556792"/>
            <a:ext cx="345757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515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85862" y="1340768"/>
            <a:ext cx="8784000" cy="4896543"/>
          </a:xfrm>
        </p:spPr>
        <p:txBody>
          <a:bodyPr/>
          <a:lstStyle/>
          <a:p>
            <a:r>
              <a:rPr lang="ru-RU" dirty="0"/>
              <a:t>Появляется у плана видов расчета, только если на закладке расчет установлен флаг «Использует период действия».</a:t>
            </a:r>
          </a:p>
          <a:p>
            <a:r>
              <a:rPr lang="ru-RU" dirty="0"/>
              <a:t>Содержит список видов расчета, которые могу занять период действия текущего вида расчета (вытеснение).</a:t>
            </a:r>
          </a:p>
          <a:p>
            <a:r>
              <a:rPr lang="ru-RU" dirty="0"/>
              <a:t>Вытесняющими могут быть только виды расчета из текущего плана видов расчета.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864096"/>
          </a:xfrm>
        </p:spPr>
        <p:txBody>
          <a:bodyPr>
            <a:normAutofit fontScale="90000"/>
          </a:bodyPr>
          <a:lstStyle/>
          <a:p>
            <a:r>
              <a:rPr lang="ru-RU" dirty="0"/>
              <a:t>Служебная ТЧ «Вытесняющие виды расчета»</a:t>
            </a:r>
          </a:p>
        </p:txBody>
      </p:sp>
    </p:spTree>
    <p:extLst>
      <p:ext uri="{BB962C8B-B14F-4D97-AF65-F5344CB8AC3E}">
        <p14:creationId xmlns:p14="http://schemas.microsoft.com/office/powerpoint/2010/main" val="1648466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40799"/>
          </a:xfrm>
        </p:spPr>
        <p:txBody>
          <a:bodyPr>
            <a:normAutofit fontScale="90000"/>
          </a:bodyPr>
          <a:lstStyle/>
          <a:p>
            <a:r>
              <a:rPr lang="ru-RU" dirty="0"/>
              <a:t>Служебная ТЧ «Вытесняющие виды расчета»</a:t>
            </a:r>
          </a:p>
        </p:txBody>
      </p:sp>
      <p:pic>
        <p:nvPicPr>
          <p:cNvPr id="16386" name="Picture 2" descr="C:\Users\admin\AppData\Local\Temp\SNAGHTML520368b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6792"/>
            <a:ext cx="345757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admin\AppData\Local\Temp\SNAGHTML51fcf7f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556792"/>
            <a:ext cx="4591050" cy="221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8328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85862" y="1340768"/>
            <a:ext cx="8784000" cy="489654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Появляется у плана видов расчета, только если на закладке расчет установлен переключатель «Зависимость от базы» в положение отличное от «Не зависит».</a:t>
            </a:r>
          </a:p>
          <a:p>
            <a:r>
              <a:rPr lang="ru-RU" dirty="0"/>
              <a:t>Содержит список видов расчета, записи с которыми надо найти в базовом периоде в указанном регистре.</a:t>
            </a:r>
          </a:p>
          <a:p>
            <a:r>
              <a:rPr lang="ru-RU" dirty="0"/>
              <a:t>Список Планов вида расчета, содержащих базовые виды расчета определяются при настройке в списке «Базовые планы видов расчета»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576064"/>
          </a:xfrm>
        </p:spPr>
        <p:txBody>
          <a:bodyPr>
            <a:normAutofit fontScale="90000"/>
          </a:bodyPr>
          <a:lstStyle/>
          <a:p>
            <a:r>
              <a:rPr lang="ru-RU" dirty="0"/>
              <a:t>Служебная ТЧ «Базовые виды расчета»</a:t>
            </a:r>
          </a:p>
        </p:txBody>
      </p:sp>
    </p:spTree>
    <p:extLst>
      <p:ext uri="{BB962C8B-B14F-4D97-AF65-F5344CB8AC3E}">
        <p14:creationId xmlns:p14="http://schemas.microsoft.com/office/powerpoint/2010/main" val="2560051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Служебная ТЧ «Базовые виды расчета»</a:t>
            </a:r>
          </a:p>
        </p:txBody>
      </p:sp>
      <p:pic>
        <p:nvPicPr>
          <p:cNvPr id="18434" name="Picture 2" descr="C:\Users\admin\AppData\Local\Temp\SNAGHTML52079fb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340768"/>
            <a:ext cx="4972050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193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552768"/>
          </a:xfrm>
        </p:spPr>
        <p:txBody>
          <a:bodyPr>
            <a:normAutofit fontScale="90000"/>
          </a:bodyPr>
          <a:lstStyle/>
          <a:p>
            <a:r>
              <a:rPr lang="ru-RU" dirty="0"/>
              <a:t>Служебная ТЧ «Базовые виды расчета»</a:t>
            </a:r>
          </a:p>
        </p:txBody>
      </p:sp>
      <p:pic>
        <p:nvPicPr>
          <p:cNvPr id="6" name="Picture 2" descr="C:\Users\admin\AppData\Local\Temp\SNAGHTML51fcf7f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556792"/>
            <a:ext cx="4591050" cy="221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8" name="Picture 2" descr="C:\Users\admin\AppData\Local\Temp\SNAGHTML5208ccf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46913"/>
            <a:ext cx="345757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38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408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Зависимость базы по</a:t>
            </a:r>
            <a:br>
              <a:rPr lang="ru-RU" dirty="0"/>
            </a:br>
            <a:r>
              <a:rPr lang="ru-RU" dirty="0"/>
              <a:t> </a:t>
            </a:r>
            <a:r>
              <a:rPr lang="ru-RU" sz="2700" dirty="0"/>
              <a:t>периоду действия </a:t>
            </a:r>
            <a:r>
              <a:rPr lang="en-US" sz="2700" dirty="0">
                <a:solidFill>
                  <a:srgbClr val="0070C0"/>
                </a:solidFill>
              </a:rPr>
              <a:t>VS</a:t>
            </a:r>
            <a:r>
              <a:rPr lang="ru-RU" sz="2700" dirty="0"/>
              <a:t> периоду регистрации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482702"/>
              </p:ext>
            </p:extLst>
          </p:nvPr>
        </p:nvGraphicFramePr>
        <p:xfrm>
          <a:off x="395536" y="1556792"/>
          <a:ext cx="7886701" cy="2597048"/>
        </p:xfrm>
        <a:graphic>
          <a:graphicData uri="http://schemas.openxmlformats.org/drawingml/2006/table">
            <a:tbl>
              <a:tblPr/>
              <a:tblGrid>
                <a:gridCol w="1125166">
                  <a:extLst>
                    <a:ext uri="{9D8B030D-6E8A-4147-A177-3AD203B41FA5}">
                      <a16:colId xmlns:a16="http://schemas.microsoft.com/office/drawing/2014/main" val="3764927323"/>
                    </a:ext>
                  </a:extLst>
                </a:gridCol>
                <a:gridCol w="1827162">
                  <a:extLst>
                    <a:ext uri="{9D8B030D-6E8A-4147-A177-3AD203B41FA5}">
                      <a16:colId xmlns:a16="http://schemas.microsoft.com/office/drawing/2014/main" val="342895902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1003016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3187991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76645042"/>
                    </a:ext>
                  </a:extLst>
                </a:gridCol>
                <a:gridCol w="1910037">
                  <a:extLst>
                    <a:ext uri="{9D8B030D-6E8A-4147-A177-3AD203B41FA5}">
                      <a16:colId xmlns:a16="http://schemas.microsoft.com/office/drawing/2014/main" val="3447271757"/>
                    </a:ext>
                  </a:extLst>
                </a:gridCol>
              </a:tblGrid>
              <a:tr h="434847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 регистрации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Вид расчета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Сотрудник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 действия начало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 действия конец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Результат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768999"/>
                  </a:ext>
                </a:extLst>
              </a:tr>
              <a:tr h="259236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01/02/201</a:t>
                      </a:r>
                      <a:r>
                        <a:rPr lang="ru-RU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Оклад</a:t>
                      </a:r>
                      <a:r>
                        <a:rPr lang="ru-RU" sz="1200" dirty="0">
                          <a:effectLst/>
                          <a:latin typeface="Calibri" panose="020F0502020204030204" pitchFamily="34" charset="0"/>
                        </a:rPr>
                        <a:t> за февраль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01/02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US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/02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effectLst/>
                          <a:latin typeface="Calibri" panose="020F0502020204030204" pitchFamily="34" charset="0"/>
                        </a:rPr>
                        <a:t>8000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543339"/>
                  </a:ext>
                </a:extLst>
              </a:tr>
              <a:tr h="259236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01/02/201</a:t>
                      </a:r>
                      <a:r>
                        <a:rPr lang="ru-RU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  <a:r>
                        <a:rPr lang="ru-RU" sz="1200" dirty="0">
                          <a:effectLst/>
                          <a:latin typeface="Calibri" panose="020F0502020204030204" pitchFamily="34" charset="0"/>
                        </a:rPr>
                        <a:t> за январь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12/01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20/01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effectLst/>
                          <a:latin typeface="Calibri" panose="020F0502020204030204" pitchFamily="34" charset="0"/>
                        </a:rPr>
                        <a:t>2222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772092"/>
                  </a:ext>
                </a:extLst>
              </a:tr>
              <a:tr h="259236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01/02/201</a:t>
                      </a:r>
                      <a:r>
                        <a:rPr lang="ru-RU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Командировка</a:t>
                      </a:r>
                      <a:r>
                        <a:rPr lang="ru-RU" sz="1200" dirty="0">
                          <a:effectLst/>
                          <a:latin typeface="Calibri" panose="020F0502020204030204" pitchFamily="34" charset="0"/>
                        </a:rPr>
                        <a:t> в марте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01/03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20/03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7000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84497"/>
                  </a:ext>
                </a:extLst>
              </a:tr>
              <a:tr h="434847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01/02/201</a:t>
                      </a: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x-none" sz="1200" b="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НДФЛ</a:t>
                      </a:r>
                      <a:r>
                        <a:rPr lang="ru-RU" sz="1200" dirty="0">
                          <a:effectLst/>
                          <a:latin typeface="Calibri" panose="020F0502020204030204" pitchFamily="34" charset="0"/>
                        </a:rPr>
                        <a:t> за февраль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13%*(</a:t>
                      </a: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8000+7000+2222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)=2238,86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474130"/>
                  </a:ext>
                </a:extLst>
              </a:tr>
              <a:tr h="259236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01/03/2018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Командировка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01/04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20/04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effectLst/>
                          <a:latin typeface="Calibri" panose="020F0502020204030204" pitchFamily="34" charset="0"/>
                        </a:rPr>
                        <a:t>8000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429281"/>
                  </a:ext>
                </a:extLst>
              </a:tr>
              <a:tr h="434847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01/06/201</a:t>
                      </a:r>
                      <a:r>
                        <a:rPr lang="ru-RU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Премия от командировки</a:t>
                      </a:r>
                      <a:r>
                        <a:rPr lang="ru-RU" sz="1200" dirty="0">
                          <a:effectLst/>
                          <a:latin typeface="Calibri" panose="020F0502020204030204" pitchFamily="34" charset="0"/>
                        </a:rPr>
                        <a:t> в марте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10%*(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7000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)=700 </a:t>
                      </a:r>
                    </a:p>
                  </a:txBody>
                  <a:tcPr marL="41812" marR="41812" marT="41812" marB="4181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78689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95536" y="4153840"/>
            <a:ext cx="8280920" cy="2271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spcBef>
                <a:spcPct val="20000"/>
              </a:spcBef>
              <a:buClr>
                <a:srgbClr val="C00000"/>
              </a:buClr>
              <a:buBlip>
                <a:blip r:embed="rId2"/>
              </a:buBlip>
            </a:pPr>
            <a:r>
              <a:rPr lang="ru-RU" sz="28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Для начислений – зависимость базы по периоду действия;</a:t>
            </a:r>
          </a:p>
          <a:p>
            <a:pPr marL="457200" indent="-457200" eaLnBrk="1" hangingPunct="1">
              <a:spcBef>
                <a:spcPct val="20000"/>
              </a:spcBef>
              <a:buClr>
                <a:srgbClr val="C00000"/>
              </a:buClr>
              <a:buBlip>
                <a:blip r:embed="rId2"/>
              </a:buBlip>
            </a:pPr>
            <a:r>
              <a:rPr lang="ru-RU" sz="28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Для удержаний – зависимость базы по периоду регистрации;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589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546104"/>
          </a:xfrm>
        </p:spPr>
        <p:txBody>
          <a:bodyPr>
            <a:normAutofit fontScale="90000"/>
          </a:bodyPr>
          <a:lstStyle/>
          <a:p>
            <a:r>
              <a:rPr lang="ru-RU" dirty="0"/>
              <a:t>Служебные табличные части</a:t>
            </a:r>
          </a:p>
        </p:txBody>
      </p:sp>
      <p:pic>
        <p:nvPicPr>
          <p:cNvPr id="6" name="Picture 2" descr="C:\Users\admin\AppData\Local\Temp\SNAGHTML51fcf7f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069" y="1311225"/>
            <a:ext cx="4591050" cy="221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8" name="Picture 2" descr="C:\Users\admin\AppData\Local\Temp\SNAGHTML5208ccf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69" y="1128340"/>
            <a:ext cx="345757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admin\AppData\Local\Temp\SNAGHTML520368b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420888"/>
            <a:ext cx="345757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admin\AppData\Local\Temp\SNAGHTML51fd465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494" y="3219638"/>
            <a:ext cx="345757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19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5862" y="1412776"/>
            <a:ext cx="8784000" cy="1944295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Появляется если одновременно на закладке расчет установлен флаг «Использует период действия» и установлен переключатель «Зависимость от базы» в положение отличное от «Не зависит».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864096"/>
          </a:xfrm>
        </p:spPr>
        <p:txBody>
          <a:bodyPr>
            <a:normAutofit fontScale="90000"/>
          </a:bodyPr>
          <a:lstStyle/>
          <a:p>
            <a:r>
              <a:rPr lang="ru-RU" dirty="0"/>
              <a:t>Служебный реквизит «Период действия является базовым периодом»</a:t>
            </a:r>
          </a:p>
        </p:txBody>
      </p:sp>
      <p:pic>
        <p:nvPicPr>
          <p:cNvPr id="20482" name="Picture 2" descr="C:\Users\admin\AppData\Local\Temp\SNAGHTML520d7ba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068960"/>
            <a:ext cx="345757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58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 расчета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140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Поля любого регистра расчета</a:t>
            </a:r>
          </a:p>
        </p:txBody>
      </p:sp>
      <p:pic>
        <p:nvPicPr>
          <p:cNvPr id="23554" name="Picture 2" descr="C:\Users\admin\AppData\Local\Temp\SNAGHTML522341d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9" y="1196752"/>
            <a:ext cx="4695825" cy="506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400859"/>
              </p:ext>
            </p:extLst>
          </p:nvPr>
        </p:nvGraphicFramePr>
        <p:xfrm>
          <a:off x="4932040" y="1214360"/>
          <a:ext cx="4040078" cy="429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039">
                  <a:extLst>
                    <a:ext uri="{9D8B030D-6E8A-4147-A177-3AD203B41FA5}">
                      <a16:colId xmlns:a16="http://schemas.microsoft.com/office/drawing/2014/main" val="930931124"/>
                    </a:ext>
                  </a:extLst>
                </a:gridCol>
                <a:gridCol w="2020039">
                  <a:extLst>
                    <a:ext uri="{9D8B030D-6E8A-4147-A177-3AD203B41FA5}">
                      <a16:colId xmlns:a16="http://schemas.microsoft.com/office/drawing/2014/main" val="2194298287"/>
                    </a:ext>
                  </a:extLst>
                </a:gridCol>
              </a:tblGrid>
              <a:tr h="388385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Тип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505341"/>
                  </a:ext>
                </a:extLst>
              </a:tr>
              <a:tr h="388385">
                <a:tc>
                  <a:txBody>
                    <a:bodyPr/>
                    <a:lstStyle/>
                    <a:p>
                      <a:r>
                        <a:rPr lang="ru-RU" dirty="0"/>
                        <a:t>Регистратор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Ссылки на документы - регистраторы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631300"/>
                  </a:ext>
                </a:extLst>
              </a:tr>
              <a:tr h="388385">
                <a:tc>
                  <a:txBody>
                    <a:bodyPr/>
                    <a:lstStyle/>
                    <a:p>
                      <a:r>
                        <a:rPr lang="ru-RU" dirty="0"/>
                        <a:t>Номер строки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Число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296940"/>
                  </a:ext>
                </a:extLst>
              </a:tr>
              <a:tr h="388385">
                <a:tc>
                  <a:txBody>
                    <a:bodyPr/>
                    <a:lstStyle/>
                    <a:p>
                      <a:r>
                        <a:rPr lang="ru-RU" dirty="0"/>
                        <a:t>Активность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Булево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979973"/>
                  </a:ext>
                </a:extLst>
              </a:tr>
              <a:tr h="388385">
                <a:tc>
                  <a:txBody>
                    <a:bodyPr/>
                    <a:lstStyle/>
                    <a:p>
                      <a:r>
                        <a:rPr lang="ru-RU" dirty="0"/>
                        <a:t>Вид расчета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Ссылка из плана видов расчета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14753"/>
                  </a:ext>
                </a:extLst>
              </a:tr>
              <a:tr h="388385">
                <a:tc>
                  <a:txBody>
                    <a:bodyPr/>
                    <a:lstStyle/>
                    <a:p>
                      <a:r>
                        <a:rPr lang="ru-RU" dirty="0"/>
                        <a:t>Период</a:t>
                      </a:r>
                      <a:r>
                        <a:rPr lang="ru-RU" baseline="0" dirty="0"/>
                        <a:t> регистрации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Дата, приведенная к началу</a:t>
                      </a:r>
                      <a:r>
                        <a:rPr lang="ru-RU" baseline="0" dirty="0"/>
                        <a:t> выбранной периодичности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992004"/>
                  </a:ext>
                </a:extLst>
              </a:tr>
              <a:tr h="388385">
                <a:tc>
                  <a:txBody>
                    <a:bodyPr/>
                    <a:lstStyle/>
                    <a:p>
                      <a:r>
                        <a:rPr lang="ru-RU" dirty="0"/>
                        <a:t>Сторно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Булево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000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252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696783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Поля регистра расчета с флагом «Период действия»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720231"/>
              </p:ext>
            </p:extLst>
          </p:nvPr>
        </p:nvGraphicFramePr>
        <p:xfrm>
          <a:off x="4932041" y="1340768"/>
          <a:ext cx="4040078" cy="3771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039">
                  <a:extLst>
                    <a:ext uri="{9D8B030D-6E8A-4147-A177-3AD203B41FA5}">
                      <a16:colId xmlns:a16="http://schemas.microsoft.com/office/drawing/2014/main" val="930931124"/>
                    </a:ext>
                  </a:extLst>
                </a:gridCol>
                <a:gridCol w="2020039">
                  <a:extLst>
                    <a:ext uri="{9D8B030D-6E8A-4147-A177-3AD203B41FA5}">
                      <a16:colId xmlns:a16="http://schemas.microsoft.com/office/drawing/2014/main" val="2194298287"/>
                    </a:ext>
                  </a:extLst>
                </a:gridCol>
              </a:tblGrid>
              <a:tr h="388385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Тип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505341"/>
                  </a:ext>
                </a:extLst>
              </a:tr>
              <a:tr h="388385">
                <a:tc>
                  <a:txBody>
                    <a:bodyPr/>
                    <a:lstStyle/>
                    <a:p>
                      <a:r>
                        <a:rPr lang="ru-RU" dirty="0"/>
                        <a:t>Период действия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Дата, приведенная к началу</a:t>
                      </a:r>
                      <a:r>
                        <a:rPr lang="ru-RU" baseline="0" dirty="0"/>
                        <a:t> выбранной периодичности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631300"/>
                  </a:ext>
                </a:extLst>
              </a:tr>
              <a:tr h="388385">
                <a:tc>
                  <a:txBody>
                    <a:bodyPr/>
                    <a:lstStyle/>
                    <a:p>
                      <a:r>
                        <a:rPr lang="ru-RU" dirty="0"/>
                        <a:t>Период действия начало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296940"/>
                  </a:ext>
                </a:extLst>
              </a:tr>
              <a:tr h="388385">
                <a:tc>
                  <a:txBody>
                    <a:bodyPr/>
                    <a:lstStyle/>
                    <a:p>
                      <a:r>
                        <a:rPr lang="ru-RU" dirty="0"/>
                        <a:t>Период действия конец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979973"/>
                  </a:ext>
                </a:extLst>
              </a:tr>
              <a:tr h="388385">
                <a:tc>
                  <a:txBody>
                    <a:bodyPr/>
                    <a:lstStyle/>
                    <a:p>
                      <a:r>
                        <a:rPr lang="ru-RU" dirty="0"/>
                        <a:t>Табличная часть «Фактический период действия»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14753"/>
                  </a:ext>
                </a:extLst>
              </a:tr>
            </a:tbl>
          </a:graphicData>
        </a:graphic>
      </p:graphicFrame>
      <p:pic>
        <p:nvPicPr>
          <p:cNvPr id="24578" name="Picture 2" descr="C:\Users\admin\AppData\Local\Temp\SNAGHTML52276e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9" y="1340768"/>
            <a:ext cx="4695825" cy="506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932040" y="5013176"/>
            <a:ext cx="40400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Примечание:</a:t>
            </a:r>
            <a:r>
              <a:rPr lang="ru-RU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ПДН и ПДК должны быть внутри одного стандартного периода;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ПД и ТЧ ФПД заполняются автоматически</a:t>
            </a:r>
          </a:p>
        </p:txBody>
      </p:sp>
    </p:spTree>
    <p:extLst>
      <p:ext uri="{BB962C8B-B14F-4D97-AF65-F5344CB8AC3E}">
        <p14:creationId xmlns:p14="http://schemas.microsoft.com/office/powerpoint/2010/main" val="46947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84815"/>
          </a:xfrm>
        </p:spPr>
        <p:txBody>
          <a:bodyPr/>
          <a:lstStyle/>
          <a:p>
            <a:r>
              <a:rPr lang="ru-RU" dirty="0"/>
              <a:t>Пример заполнения полей – периодов действия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74772"/>
              </p:ext>
            </p:extLst>
          </p:nvPr>
        </p:nvGraphicFramePr>
        <p:xfrm>
          <a:off x="164830" y="2276872"/>
          <a:ext cx="6890919" cy="1158240"/>
        </p:xfrm>
        <a:graphic>
          <a:graphicData uri="http://schemas.openxmlformats.org/drawingml/2006/table">
            <a:tbl>
              <a:tblPr/>
              <a:tblGrid>
                <a:gridCol w="1765706">
                  <a:extLst>
                    <a:ext uri="{9D8B030D-6E8A-4147-A177-3AD203B41FA5}">
                      <a16:colId xmlns:a16="http://schemas.microsoft.com/office/drawing/2014/main" val="1005721946"/>
                    </a:ext>
                  </a:extLst>
                </a:gridCol>
                <a:gridCol w="1121969">
                  <a:extLst>
                    <a:ext uri="{9D8B030D-6E8A-4147-A177-3AD203B41FA5}">
                      <a16:colId xmlns:a16="http://schemas.microsoft.com/office/drawing/2014/main" val="1897326477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3156026765"/>
                    </a:ext>
                  </a:extLst>
                </a:gridCol>
                <a:gridCol w="1021385">
                  <a:extLst>
                    <a:ext uri="{9D8B030D-6E8A-4147-A177-3AD203B41FA5}">
                      <a16:colId xmlns:a16="http://schemas.microsoft.com/office/drawing/2014/main" val="2519278329"/>
                    </a:ext>
                  </a:extLst>
                </a:gridCol>
                <a:gridCol w="1021385">
                  <a:extLst>
                    <a:ext uri="{9D8B030D-6E8A-4147-A177-3AD203B41FA5}">
                      <a16:colId xmlns:a16="http://schemas.microsoft.com/office/drawing/2014/main" val="1842845000"/>
                    </a:ext>
                  </a:extLst>
                </a:gridCol>
                <a:gridCol w="945490">
                  <a:extLst>
                    <a:ext uri="{9D8B030D-6E8A-4147-A177-3AD203B41FA5}">
                      <a16:colId xmlns:a16="http://schemas.microsoft.com/office/drawing/2014/main" val="2856112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Период регистрации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Вид расчета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Сотрудник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Период </a:t>
                      </a:r>
                      <a:br>
                        <a:rPr lang="ru-RU" sz="140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ПДН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ПДК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33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130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446817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126142"/>
              </p:ext>
            </p:extLst>
          </p:nvPr>
        </p:nvGraphicFramePr>
        <p:xfrm>
          <a:off x="7147291" y="2276872"/>
          <a:ext cx="1967789" cy="115824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3545932782"/>
                    </a:ext>
                  </a:extLst>
                </a:gridCol>
                <a:gridCol w="946404">
                  <a:extLst>
                    <a:ext uri="{9D8B030D-6E8A-4147-A177-3AD203B41FA5}">
                      <a16:colId xmlns:a16="http://schemas.microsoft.com/office/drawing/2014/main" val="3261993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ФПДН</a:t>
                      </a: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ФПДК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855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617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491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476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84815"/>
          </a:xfrm>
        </p:spPr>
        <p:txBody>
          <a:bodyPr/>
          <a:lstStyle/>
          <a:p>
            <a:r>
              <a:rPr lang="ru-RU" dirty="0"/>
              <a:t>Пример заполнения полей – периодов действия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757366"/>
              </p:ext>
            </p:extLst>
          </p:nvPr>
        </p:nvGraphicFramePr>
        <p:xfrm>
          <a:off x="164830" y="2276872"/>
          <a:ext cx="6890919" cy="1473200"/>
        </p:xfrm>
        <a:graphic>
          <a:graphicData uri="http://schemas.openxmlformats.org/drawingml/2006/table">
            <a:tbl>
              <a:tblPr/>
              <a:tblGrid>
                <a:gridCol w="1765706">
                  <a:extLst>
                    <a:ext uri="{9D8B030D-6E8A-4147-A177-3AD203B41FA5}">
                      <a16:colId xmlns:a16="http://schemas.microsoft.com/office/drawing/2014/main" val="1005721946"/>
                    </a:ext>
                  </a:extLst>
                </a:gridCol>
                <a:gridCol w="1121969">
                  <a:extLst>
                    <a:ext uri="{9D8B030D-6E8A-4147-A177-3AD203B41FA5}">
                      <a16:colId xmlns:a16="http://schemas.microsoft.com/office/drawing/2014/main" val="1897326477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3156026765"/>
                    </a:ext>
                  </a:extLst>
                </a:gridCol>
                <a:gridCol w="1021385">
                  <a:extLst>
                    <a:ext uri="{9D8B030D-6E8A-4147-A177-3AD203B41FA5}">
                      <a16:colId xmlns:a16="http://schemas.microsoft.com/office/drawing/2014/main" val="2519278329"/>
                    </a:ext>
                  </a:extLst>
                </a:gridCol>
                <a:gridCol w="1021385">
                  <a:extLst>
                    <a:ext uri="{9D8B030D-6E8A-4147-A177-3AD203B41FA5}">
                      <a16:colId xmlns:a16="http://schemas.microsoft.com/office/drawing/2014/main" val="1842845000"/>
                    </a:ext>
                  </a:extLst>
                </a:gridCol>
                <a:gridCol w="945490">
                  <a:extLst>
                    <a:ext uri="{9D8B030D-6E8A-4147-A177-3AD203B41FA5}">
                      <a16:colId xmlns:a16="http://schemas.microsoft.com/office/drawing/2014/main" val="2856112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Период регистрации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Вид расчета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Сотрудник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Период </a:t>
                      </a:r>
                      <a:br>
                        <a:rPr lang="ru-RU" sz="140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ПДН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ПДК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33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130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446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15.02.2018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82061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922909"/>
              </p:ext>
            </p:extLst>
          </p:nvPr>
        </p:nvGraphicFramePr>
        <p:xfrm>
          <a:off x="7147291" y="2276872"/>
          <a:ext cx="1967789" cy="14732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3545932782"/>
                    </a:ext>
                  </a:extLst>
                </a:gridCol>
                <a:gridCol w="946404">
                  <a:extLst>
                    <a:ext uri="{9D8B030D-6E8A-4147-A177-3AD203B41FA5}">
                      <a16:colId xmlns:a16="http://schemas.microsoft.com/office/drawing/2014/main" val="3261993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ФПДН</a:t>
                      </a: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ФПДК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855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617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14.02.2018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491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15.02.2018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140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84815"/>
          </a:xfrm>
        </p:spPr>
        <p:txBody>
          <a:bodyPr/>
          <a:lstStyle/>
          <a:p>
            <a:r>
              <a:rPr lang="ru-RU" dirty="0"/>
              <a:t>Пример заполнения полей – периодов действия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959641"/>
              </p:ext>
            </p:extLst>
          </p:nvPr>
        </p:nvGraphicFramePr>
        <p:xfrm>
          <a:off x="164830" y="2276872"/>
          <a:ext cx="6890919" cy="1473200"/>
        </p:xfrm>
        <a:graphic>
          <a:graphicData uri="http://schemas.openxmlformats.org/drawingml/2006/table">
            <a:tbl>
              <a:tblPr/>
              <a:tblGrid>
                <a:gridCol w="1765706">
                  <a:extLst>
                    <a:ext uri="{9D8B030D-6E8A-4147-A177-3AD203B41FA5}">
                      <a16:colId xmlns:a16="http://schemas.microsoft.com/office/drawing/2014/main" val="1005721946"/>
                    </a:ext>
                  </a:extLst>
                </a:gridCol>
                <a:gridCol w="1121969">
                  <a:extLst>
                    <a:ext uri="{9D8B030D-6E8A-4147-A177-3AD203B41FA5}">
                      <a16:colId xmlns:a16="http://schemas.microsoft.com/office/drawing/2014/main" val="1897326477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3156026765"/>
                    </a:ext>
                  </a:extLst>
                </a:gridCol>
                <a:gridCol w="1021385">
                  <a:extLst>
                    <a:ext uri="{9D8B030D-6E8A-4147-A177-3AD203B41FA5}">
                      <a16:colId xmlns:a16="http://schemas.microsoft.com/office/drawing/2014/main" val="2519278329"/>
                    </a:ext>
                  </a:extLst>
                </a:gridCol>
                <a:gridCol w="1021385">
                  <a:extLst>
                    <a:ext uri="{9D8B030D-6E8A-4147-A177-3AD203B41FA5}">
                      <a16:colId xmlns:a16="http://schemas.microsoft.com/office/drawing/2014/main" val="1842845000"/>
                    </a:ext>
                  </a:extLst>
                </a:gridCol>
                <a:gridCol w="945490">
                  <a:extLst>
                    <a:ext uri="{9D8B030D-6E8A-4147-A177-3AD203B41FA5}">
                      <a16:colId xmlns:a16="http://schemas.microsoft.com/office/drawing/2014/main" val="2856112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Период регистрации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Вид расчета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Сотрудник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Период </a:t>
                      </a:r>
                      <a:br>
                        <a:rPr lang="ru-RU" sz="140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ПДН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ПДК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33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130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446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strike="sngStrike" dirty="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strike="sngStrike" dirty="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strike="sngStrike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strike="sngStrike" dirty="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strike="sngStrike" dirty="0">
                          <a:effectLst/>
                          <a:latin typeface="Calibri" panose="020F0502020204030204" pitchFamily="34" charset="0"/>
                        </a:rPr>
                        <a:t>15.02.2018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strike="sngStrike" dirty="0">
                          <a:effectLst/>
                          <a:latin typeface="Calibri" panose="020F0502020204030204" pitchFamily="34" charset="0"/>
                        </a:rPr>
                        <a:t>20.02.2018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82061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030636"/>
              </p:ext>
            </p:extLst>
          </p:nvPr>
        </p:nvGraphicFramePr>
        <p:xfrm>
          <a:off x="7147291" y="2276872"/>
          <a:ext cx="1967789" cy="147320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3545932782"/>
                    </a:ext>
                  </a:extLst>
                </a:gridCol>
                <a:gridCol w="946404">
                  <a:extLst>
                    <a:ext uri="{9D8B030D-6E8A-4147-A177-3AD203B41FA5}">
                      <a16:colId xmlns:a16="http://schemas.microsoft.com/office/drawing/2014/main" val="3261993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ФПДН</a:t>
                      </a: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ФПДК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855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617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20.02.2018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491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strike="sngStrike" dirty="0">
                          <a:effectLst/>
                          <a:latin typeface="Calibri" panose="020F0502020204030204" pitchFamily="34" charset="0"/>
                        </a:rPr>
                        <a:t>15.02.2018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strike="sngStrike" dirty="0">
                          <a:effectLst/>
                          <a:latin typeface="Calibri" panose="020F0502020204030204" pitchFamily="34" charset="0"/>
                        </a:rPr>
                        <a:t>20.02.2018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140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87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84815"/>
          </a:xfrm>
        </p:spPr>
        <p:txBody>
          <a:bodyPr/>
          <a:lstStyle/>
          <a:p>
            <a:r>
              <a:rPr lang="ru-RU" dirty="0"/>
              <a:t>Пример заполнения полей – периодов действия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151452"/>
              </p:ext>
            </p:extLst>
          </p:nvPr>
        </p:nvGraphicFramePr>
        <p:xfrm>
          <a:off x="164830" y="2276872"/>
          <a:ext cx="6890919" cy="1808480"/>
        </p:xfrm>
        <a:graphic>
          <a:graphicData uri="http://schemas.openxmlformats.org/drawingml/2006/table">
            <a:tbl>
              <a:tblPr/>
              <a:tblGrid>
                <a:gridCol w="1765706">
                  <a:extLst>
                    <a:ext uri="{9D8B030D-6E8A-4147-A177-3AD203B41FA5}">
                      <a16:colId xmlns:a16="http://schemas.microsoft.com/office/drawing/2014/main" val="1005721946"/>
                    </a:ext>
                  </a:extLst>
                </a:gridCol>
                <a:gridCol w="1121969">
                  <a:extLst>
                    <a:ext uri="{9D8B030D-6E8A-4147-A177-3AD203B41FA5}">
                      <a16:colId xmlns:a16="http://schemas.microsoft.com/office/drawing/2014/main" val="1897326477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3156026765"/>
                    </a:ext>
                  </a:extLst>
                </a:gridCol>
                <a:gridCol w="1021385">
                  <a:extLst>
                    <a:ext uri="{9D8B030D-6E8A-4147-A177-3AD203B41FA5}">
                      <a16:colId xmlns:a16="http://schemas.microsoft.com/office/drawing/2014/main" val="2519278329"/>
                    </a:ext>
                  </a:extLst>
                </a:gridCol>
                <a:gridCol w="1021385">
                  <a:extLst>
                    <a:ext uri="{9D8B030D-6E8A-4147-A177-3AD203B41FA5}">
                      <a16:colId xmlns:a16="http://schemas.microsoft.com/office/drawing/2014/main" val="1842845000"/>
                    </a:ext>
                  </a:extLst>
                </a:gridCol>
                <a:gridCol w="945490">
                  <a:extLst>
                    <a:ext uri="{9D8B030D-6E8A-4147-A177-3AD203B41FA5}">
                      <a16:colId xmlns:a16="http://schemas.microsoft.com/office/drawing/2014/main" val="2856112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Период регистрации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Вид расчета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Сотрудник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Период </a:t>
                      </a:r>
                      <a:br>
                        <a:rPr lang="ru-RU" sz="140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ПДН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ПДК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33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130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Отпуск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8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446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15.02.2018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17.02.2018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82061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200829"/>
              </p:ext>
            </p:extLst>
          </p:nvPr>
        </p:nvGraphicFramePr>
        <p:xfrm>
          <a:off x="7147291" y="2276872"/>
          <a:ext cx="1967789" cy="178816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3545932782"/>
                    </a:ext>
                  </a:extLst>
                </a:gridCol>
                <a:gridCol w="946404">
                  <a:extLst>
                    <a:ext uri="{9D8B030D-6E8A-4147-A177-3AD203B41FA5}">
                      <a16:colId xmlns:a16="http://schemas.microsoft.com/office/drawing/2014/main" val="3261993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ФПДН</a:t>
                      </a: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ФПДК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855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20.01.2018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31.01.2018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617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01.02.2018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14.02.2018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491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18.02.2018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20.02.2018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526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15.02.2018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17.02.2018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140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3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696783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Поля регистра расчета с флагом «Базовый период»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059850"/>
              </p:ext>
            </p:extLst>
          </p:nvPr>
        </p:nvGraphicFramePr>
        <p:xfrm>
          <a:off x="4932041" y="1340768"/>
          <a:ext cx="4040078" cy="1668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039">
                  <a:extLst>
                    <a:ext uri="{9D8B030D-6E8A-4147-A177-3AD203B41FA5}">
                      <a16:colId xmlns:a16="http://schemas.microsoft.com/office/drawing/2014/main" val="930931124"/>
                    </a:ext>
                  </a:extLst>
                </a:gridCol>
                <a:gridCol w="2020039">
                  <a:extLst>
                    <a:ext uri="{9D8B030D-6E8A-4147-A177-3AD203B41FA5}">
                      <a16:colId xmlns:a16="http://schemas.microsoft.com/office/drawing/2014/main" val="2194298287"/>
                    </a:ext>
                  </a:extLst>
                </a:gridCol>
              </a:tblGrid>
              <a:tr h="388385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Тип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505341"/>
                  </a:ext>
                </a:extLst>
              </a:tr>
              <a:tr h="388385">
                <a:tc>
                  <a:txBody>
                    <a:bodyPr/>
                    <a:lstStyle/>
                    <a:p>
                      <a:r>
                        <a:rPr lang="ru-RU" dirty="0"/>
                        <a:t>Базовый период начало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296940"/>
                  </a:ext>
                </a:extLst>
              </a:tr>
              <a:tr h="388385">
                <a:tc>
                  <a:txBody>
                    <a:bodyPr/>
                    <a:lstStyle/>
                    <a:p>
                      <a:r>
                        <a:rPr lang="ru-RU" dirty="0"/>
                        <a:t>Базовый период конец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97997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934099" y="3079438"/>
            <a:ext cx="4040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Примечание:</a:t>
            </a:r>
            <a:r>
              <a:rPr lang="ru-RU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Базовый период может быть любым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9" y="1340768"/>
            <a:ext cx="4666667" cy="50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42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229182"/>
              </p:ext>
            </p:extLst>
          </p:nvPr>
        </p:nvGraphicFramePr>
        <p:xfrm>
          <a:off x="185738" y="1268413"/>
          <a:ext cx="8783637" cy="496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Логика работы «других» регистров</a:t>
            </a:r>
            <a:br>
              <a:rPr lang="ru-RU" dirty="0"/>
            </a:br>
            <a:r>
              <a:rPr lang="ru-RU" sz="2400" dirty="0">
                <a:solidFill>
                  <a:srgbClr val="0070C0"/>
                </a:solidFill>
              </a:rPr>
              <a:t>(обработка информации записанной в ресурсы)</a:t>
            </a:r>
          </a:p>
        </p:txBody>
      </p:sp>
    </p:spTree>
    <p:extLst>
      <p:ext uri="{BB962C8B-B14F-4D97-AF65-F5344CB8AC3E}">
        <p14:creationId xmlns:p14="http://schemas.microsoft.com/office/powerpoint/2010/main" val="207828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D6CBA05-5C92-42A6-A215-812C80B544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A771FEE-2EF1-4BBC-A777-D1495A5936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F3F375B-13E0-4AEE-BFC4-9E3CC037AD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0F8CBF-53EE-46BE-8983-EF2C533B13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D34451B-FC6C-41AD-8145-F18A18AB25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5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6A3AB2D-8FEF-4C34-98EB-7774DA2A0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ED543A-3C95-424B-988C-1971F2C8B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4447693"/>
              </p:ext>
            </p:extLst>
          </p:nvPr>
        </p:nvGraphicFramePr>
        <p:xfrm>
          <a:off x="1530632" y="1628800"/>
          <a:ext cx="6048672" cy="2116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/>
              <a:t>Логика работы регистра расчета</a:t>
            </a:r>
            <a:br>
              <a:rPr lang="ru-RU" sz="4000" dirty="0"/>
            </a:br>
            <a:r>
              <a:rPr lang="ru-RU" sz="2200" dirty="0">
                <a:solidFill>
                  <a:srgbClr val="0070C0"/>
                </a:solidFill>
              </a:rPr>
              <a:t>(обработка информации записанной в ресурсы)</a:t>
            </a:r>
            <a:endParaRPr lang="ru-RU" sz="2200" dirty="0"/>
          </a:p>
        </p:txBody>
      </p:sp>
      <p:sp>
        <p:nvSpPr>
          <p:cNvPr id="5" name="Стрелка углом вверх 4"/>
          <p:cNvSpPr/>
          <p:nvPr/>
        </p:nvSpPr>
        <p:spPr>
          <a:xfrm rot="18674094" flipH="1">
            <a:off x="3745650" y="3178462"/>
            <a:ext cx="1342810" cy="1475047"/>
          </a:xfrm>
          <a:prstGeom prst="bentUpArrow">
            <a:avLst>
              <a:gd name="adj1" fmla="val 14752"/>
              <a:gd name="adj2" fmla="val 19677"/>
              <a:gd name="adj3" fmla="val 2500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599892" y="5085184"/>
            <a:ext cx="1944216" cy="108012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Внутренние механизмы</a:t>
            </a:r>
          </a:p>
        </p:txBody>
      </p:sp>
    </p:spTree>
    <p:extLst>
      <p:ext uri="{BB962C8B-B14F-4D97-AF65-F5344CB8AC3E}">
        <p14:creationId xmlns:p14="http://schemas.microsoft.com/office/powerpoint/2010/main" val="298650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E56A0E6-0C80-4492-9F2F-832C4293D1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FBA00D3-9808-4C2F-9317-C3792EB401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069AD1-BD82-4216-B769-C157B9621F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750" tmFilter="0, 0; .2, .5; .8, .5; 1, 0"/>
                                        <p:tgtEl>
                                          <p:spTgt spid="4">
                                            <p:graphicEl>
                                              <a:dgm id="{6E56A0E6-0C80-4492-9F2F-832C4293D1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75" autoRev="1" fill="hold"/>
                                        <p:tgtEl>
                                          <p:spTgt spid="4">
                                            <p:graphicEl>
                                              <a:dgm id="{6E56A0E6-0C80-4492-9F2F-832C4293D139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750" tmFilter="0, 0; .2, .5; .8, .5; 1, 0"/>
                                        <p:tgtEl>
                                          <p:spTgt spid="4">
                                            <p:graphicEl>
                                              <a:dgm id="{BFBA00D3-9808-4C2F-9317-C3792EB401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375" autoRev="1" fill="hold"/>
                                        <p:tgtEl>
                                          <p:spTgt spid="4">
                                            <p:graphicEl>
                                              <a:dgm id="{BFBA00D3-9808-4C2F-9317-C3792EB4011B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750" tmFilter="0, 0; .2, .5; .8, .5; 1, 0"/>
                                        <p:tgtEl>
                                          <p:spTgt spid="4">
                                            <p:graphicEl>
                                              <a:dgm id="{B5069AD1-BD82-4216-B769-C157B9621F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75" autoRev="1" fill="hold"/>
                                        <p:tgtEl>
                                          <p:spTgt spid="4">
                                            <p:graphicEl>
                                              <a:dgm id="{B5069AD1-BD82-4216-B769-C157B9621FFD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  <p:bldGraphic spid="4" grpId="1" uiExpand="1">
        <p:bldSub>
          <a:bldDgm bld="one"/>
        </p:bldSub>
      </p:bldGraphic>
      <p:bldP spid="5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Расчет ресурсов </a:t>
            </a:r>
            <a:br>
              <a:rPr lang="ru-RU" dirty="0"/>
            </a:br>
            <a:endParaRPr lang="ru-RU" dirty="0"/>
          </a:p>
        </p:txBody>
      </p:sp>
      <p:sp>
        <p:nvSpPr>
          <p:cNvPr id="2" name="Текст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78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784532"/>
              </p:ext>
            </p:extLst>
          </p:nvPr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9512" y="547325"/>
            <a:ext cx="88283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FF0000"/>
                </a:solidFill>
              </a:rPr>
              <a:t>Документ объект Начисление ЗП № 2 (оклады за 2-ую половину месяца)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64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0070C0"/>
                </a:solidFill>
              </a:rPr>
              <a:t>Таблица движений регистра расчета «Основные начисления»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084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369348"/>
              </p:ext>
            </p:extLst>
          </p:nvPr>
        </p:nvGraphicFramePr>
        <p:xfrm>
          <a:off x="119864" y="3464560"/>
          <a:ext cx="5978346" cy="25704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dirty="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dirty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 dirty="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008232"/>
              </p:ext>
            </p:extLst>
          </p:nvPr>
        </p:nvGraphicFramePr>
        <p:xfrm>
          <a:off x="179512" y="933753"/>
          <a:ext cx="4861864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4166296485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141267951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94417562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884759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706891764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7150080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308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28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903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7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7174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02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333869"/>
                  </a:ext>
                </a:extLst>
              </a:tr>
            </a:tbl>
          </a:graphicData>
        </a:graphic>
      </p:graphicFrame>
      <p:sp>
        <p:nvSpPr>
          <p:cNvPr id="2" name="Прямоугольная выноска 1"/>
          <p:cNvSpPr/>
          <p:nvPr/>
        </p:nvSpPr>
        <p:spPr>
          <a:xfrm>
            <a:off x="5652120" y="1124744"/>
            <a:ext cx="3024336" cy="1440160"/>
          </a:xfrm>
          <a:prstGeom prst="wedgeRectCallout">
            <a:avLst>
              <a:gd name="adj1" fmla="val -78497"/>
              <a:gd name="adj2" fmla="val -258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dirty="0"/>
              <a:t>Можем ли рассчитать результаты в документ-объекте без помощи регистра расчета? </a:t>
            </a:r>
          </a:p>
        </p:txBody>
      </p:sp>
    </p:spTree>
    <p:extLst>
      <p:ext uri="{BB962C8B-B14F-4D97-AF65-F5344CB8AC3E}">
        <p14:creationId xmlns:p14="http://schemas.microsoft.com/office/powerpoint/2010/main" val="30497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9512" y="547325"/>
            <a:ext cx="88283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FF0000"/>
                </a:solidFill>
              </a:rPr>
              <a:t>Документ объект Начисление ЗП № 2 (оклады за 2-ую половину месяца)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64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0070C0"/>
                </a:solidFill>
              </a:rPr>
              <a:t>Таблица движений регистра расчета «Основные начисления»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084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141772"/>
              </p:ext>
            </p:extLst>
          </p:nvPr>
        </p:nvGraphicFramePr>
        <p:xfrm>
          <a:off x="119864" y="3464560"/>
          <a:ext cx="5978346" cy="25704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179512" y="933753"/>
          <a:ext cx="4861864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4166296485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141267951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94417562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884759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706891764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7150080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308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28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903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7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7174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02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333869"/>
                  </a:ext>
                </a:extLst>
              </a:tr>
            </a:tbl>
          </a:graphicData>
        </a:graphic>
      </p:graphicFrame>
      <p:sp>
        <p:nvSpPr>
          <p:cNvPr id="2" name="Прямоугольная выноска 1"/>
          <p:cNvSpPr/>
          <p:nvPr/>
        </p:nvSpPr>
        <p:spPr>
          <a:xfrm>
            <a:off x="5148064" y="1124743"/>
            <a:ext cx="3859774" cy="1769889"/>
          </a:xfrm>
          <a:prstGeom prst="wedgeRectCallout">
            <a:avLst>
              <a:gd name="adj1" fmla="val -63281"/>
              <a:gd name="adj2" fmla="val -307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800" dirty="0"/>
              <a:t>Например, рассчитать оклад.</a:t>
            </a:r>
          </a:p>
          <a:p>
            <a:r>
              <a:rPr lang="ru-RU" sz="1800" dirty="0"/>
              <a:t>Формула расчета: </a:t>
            </a:r>
          </a:p>
          <a:p>
            <a:r>
              <a:rPr lang="ru-RU" sz="1800" i="1" dirty="0"/>
              <a:t>Ставка</a:t>
            </a:r>
            <a:r>
              <a:rPr lang="ru-RU" sz="1800" dirty="0"/>
              <a:t> * (</a:t>
            </a:r>
            <a:r>
              <a:rPr lang="ru-RU" sz="1800" i="1" dirty="0"/>
              <a:t>Количество дней фактически отработал </a:t>
            </a:r>
            <a:r>
              <a:rPr lang="ru-RU" sz="1800" dirty="0"/>
              <a:t>/ </a:t>
            </a:r>
            <a:r>
              <a:rPr lang="ru-RU" sz="1800" i="1" dirty="0"/>
              <a:t>Количество дней отработать по норме</a:t>
            </a:r>
            <a:r>
              <a:rPr lang="ru-RU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0521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9512" y="547325"/>
            <a:ext cx="88283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FF0000"/>
                </a:solidFill>
              </a:rPr>
              <a:t>Документ объект Начисление ЗП № 2 (оклады за 2-ую половину месяца)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64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0070C0"/>
                </a:solidFill>
              </a:rPr>
              <a:t>Таблица движений регистра расчета «Основные начисления»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084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569930"/>
              </p:ext>
            </p:extLst>
          </p:nvPr>
        </p:nvGraphicFramePr>
        <p:xfrm>
          <a:off x="119864" y="3464560"/>
          <a:ext cx="5978346" cy="25704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179512" y="933753"/>
          <a:ext cx="4861864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4166296485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141267951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94417562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884759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706891764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7150080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308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28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903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7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7174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02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333869"/>
                  </a:ext>
                </a:extLst>
              </a:tr>
            </a:tbl>
          </a:graphicData>
        </a:graphic>
      </p:graphicFrame>
      <p:sp>
        <p:nvSpPr>
          <p:cNvPr id="2" name="Прямоугольная выноска 1"/>
          <p:cNvSpPr/>
          <p:nvPr/>
        </p:nvSpPr>
        <p:spPr>
          <a:xfrm>
            <a:off x="5148064" y="885879"/>
            <a:ext cx="3744416" cy="1751033"/>
          </a:xfrm>
          <a:prstGeom prst="wedgeRectCallout">
            <a:avLst>
              <a:gd name="adj1" fmla="val -63281"/>
              <a:gd name="adj2" fmla="val -2319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Ставка. Определяют при приеме на работу (есть документ).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Количество дней отработать по норме. Есть производственный календарь.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Количество дней фактически отработал.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96336" y="1008990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b="1" dirty="0">
                <a:ln/>
                <a:solidFill>
                  <a:schemeClr val="accent3"/>
                </a:solidFill>
              </a:rPr>
              <a:t>v</a:t>
            </a:r>
            <a:endParaRPr lang="ru-RU" b="1" dirty="0">
              <a:ln/>
              <a:solidFill>
                <a:schemeClr val="accent3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6216" y="1761395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b="1" dirty="0">
                <a:ln/>
                <a:solidFill>
                  <a:schemeClr val="accent3"/>
                </a:solidFill>
              </a:rPr>
              <a:t>v</a:t>
            </a:r>
            <a:endParaRPr lang="ru-RU" b="1" dirty="0">
              <a:ln/>
              <a:solidFill>
                <a:schemeClr val="accent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16216" y="223680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x</a:t>
            </a:r>
            <a:endParaRPr lang="ru-RU" dirty="0"/>
          </a:p>
        </p:txBody>
      </p:sp>
      <p:sp>
        <p:nvSpPr>
          <p:cNvPr id="7" name="Выноска 3 6"/>
          <p:cNvSpPr/>
          <p:nvPr/>
        </p:nvSpPr>
        <p:spPr>
          <a:xfrm>
            <a:off x="7236296" y="2359373"/>
            <a:ext cx="1656184" cy="516403"/>
          </a:xfrm>
          <a:prstGeom prst="borderCallout3">
            <a:avLst>
              <a:gd name="adj1" fmla="val 20576"/>
              <a:gd name="adj2" fmla="val 774"/>
              <a:gd name="adj3" fmla="val 15099"/>
              <a:gd name="adj4" fmla="val -24636"/>
              <a:gd name="adj5" fmla="val 127815"/>
              <a:gd name="adj6" fmla="val -16988"/>
              <a:gd name="adj7" fmla="val 149531"/>
              <a:gd name="adj8" fmla="val 25426"/>
            </a:avLst>
          </a:prstGeom>
          <a:ln>
            <a:tailEnd type="triangle" w="lg" len="lg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Рассчитывается здесь!</a:t>
            </a:r>
          </a:p>
        </p:txBody>
      </p:sp>
    </p:spTree>
    <p:extLst>
      <p:ext uri="{BB962C8B-B14F-4D97-AF65-F5344CB8AC3E}">
        <p14:creationId xmlns:p14="http://schemas.microsoft.com/office/powerpoint/2010/main" val="302050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2" grpId="0"/>
      <p:bldP spid="5" grpId="0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3925167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</a:rPr>
              <a:t>Набор записей регистра расчета «Основные начисления»</a:t>
            </a:r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316885"/>
              </p:ext>
            </p:extLst>
          </p:nvPr>
        </p:nvGraphicFramePr>
        <p:xfrm>
          <a:off x="4145182" y="933753"/>
          <a:ext cx="4861864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4166296485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141267951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94417562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884759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706891764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7150080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308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28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903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7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7174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02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333869"/>
                  </a:ext>
                </a:extLst>
              </a:tr>
            </a:tbl>
          </a:graphicData>
        </a:graphic>
      </p:graphicFrame>
      <p:sp>
        <p:nvSpPr>
          <p:cNvPr id="4" name="Стрелка углом 3"/>
          <p:cNvSpPr/>
          <p:nvPr/>
        </p:nvSpPr>
        <p:spPr>
          <a:xfrm rot="16200000" flipH="1">
            <a:off x="1654068" y="1595642"/>
            <a:ext cx="2218667" cy="2440383"/>
          </a:xfrm>
          <a:prstGeom prst="bentArrow">
            <a:avLst>
              <a:gd name="adj1" fmla="val 5958"/>
              <a:gd name="adj2" fmla="val 12106"/>
              <a:gd name="adj3" fmla="val 11909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581945"/>
              </p:ext>
            </p:extLst>
          </p:nvPr>
        </p:nvGraphicFramePr>
        <p:xfrm>
          <a:off x="179512" y="4294499"/>
          <a:ext cx="4861864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3291012988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537483033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87417221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82904538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4334921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952282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75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2816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324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79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338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658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38276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79512" y="547325"/>
            <a:ext cx="88283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FF0000"/>
                </a:solidFill>
              </a:rPr>
              <a:t>Документ объект Начисление ЗП № 2 (оклады за 2-ую половину месяца)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680766"/>
              </p:ext>
            </p:extLst>
          </p:nvPr>
        </p:nvGraphicFramePr>
        <p:xfrm>
          <a:off x="186081" y="4294499"/>
          <a:ext cx="4861864" cy="25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3291012988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537483033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87417221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82904538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4334921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952282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75004"/>
                  </a:ext>
                </a:extLst>
              </a:tr>
            </a:tbl>
          </a:graphicData>
        </a:graphic>
      </p:graphicFrame>
      <p:sp>
        <p:nvSpPr>
          <p:cNvPr id="5" name="Прямоугольная выноска 4"/>
          <p:cNvSpPr/>
          <p:nvPr/>
        </p:nvSpPr>
        <p:spPr>
          <a:xfrm>
            <a:off x="2411760" y="2989063"/>
            <a:ext cx="2448272" cy="936104"/>
          </a:xfrm>
          <a:prstGeom prst="wedgeRectCallout">
            <a:avLst>
              <a:gd name="adj1" fmla="val -62854"/>
              <a:gd name="adj2" fmla="val -14897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Заполняем набор записей регистра расчета не рассчитав результат!</a:t>
            </a:r>
          </a:p>
        </p:txBody>
      </p:sp>
    </p:spTree>
    <p:extLst>
      <p:ext uri="{BB962C8B-B14F-4D97-AF65-F5344CB8AC3E}">
        <p14:creationId xmlns:p14="http://schemas.microsoft.com/office/powerpoint/2010/main" val="844348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842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</a:rPr>
              <a:t>Набор записей регистра расчета «Основные начисления»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82556"/>
              </p:ext>
            </p:extLst>
          </p:nvPr>
        </p:nvGraphicFramePr>
        <p:xfrm>
          <a:off x="115902" y="957619"/>
          <a:ext cx="4937759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611420"/>
              </p:ext>
            </p:extLst>
          </p:nvPr>
        </p:nvGraphicFramePr>
        <p:xfrm>
          <a:off x="119864" y="3464560"/>
          <a:ext cx="5978346" cy="25704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3" name="Стрелка вниз 2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5508104" y="1268760"/>
            <a:ext cx="2837384" cy="1357305"/>
          </a:xfrm>
          <a:prstGeom prst="wedgeRectCallout">
            <a:avLst>
              <a:gd name="adj1" fmla="val -62905"/>
              <a:gd name="adj2" fmla="val 1063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Записываем набор записей регистра расчета в таблицу движений!</a:t>
            </a:r>
          </a:p>
        </p:txBody>
      </p:sp>
    </p:spTree>
    <p:extLst>
      <p:ext uri="{BB962C8B-B14F-4D97-AF65-F5344CB8AC3E}">
        <p14:creationId xmlns:p14="http://schemas.microsoft.com/office/powerpoint/2010/main" val="370613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4937759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610108"/>
              </p:ext>
            </p:extLst>
          </p:nvPr>
        </p:nvGraphicFramePr>
        <p:xfrm>
          <a:off x="119864" y="3464560"/>
          <a:ext cx="5978346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3" name="Стрелка вниз 2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6660232" y="1340768"/>
            <a:ext cx="2088232" cy="1152128"/>
          </a:xfrm>
          <a:prstGeom prst="wedgeRectCallout">
            <a:avLst>
              <a:gd name="adj1" fmla="val 8510"/>
              <a:gd name="adj2" fmla="val 10259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rgbClr val="FF0000"/>
                </a:solidFill>
              </a:rPr>
              <a:t>Механизмы регистра расчета рассчитывают ФПД</a:t>
            </a:r>
          </a:p>
        </p:txBody>
      </p:sp>
    </p:spTree>
    <p:extLst>
      <p:ext uri="{BB962C8B-B14F-4D97-AF65-F5344CB8AC3E}">
        <p14:creationId xmlns:p14="http://schemas.microsoft.com/office/powerpoint/2010/main" val="72884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748355"/>
              </p:ext>
            </p:extLst>
          </p:nvPr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19.02.18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4937759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4" y="3464560"/>
          <a:ext cx="5978346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3" name="Стрелка вниз 2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трелка вправо 3"/>
          <p:cNvSpPr/>
          <p:nvPr/>
        </p:nvSpPr>
        <p:spPr>
          <a:xfrm>
            <a:off x="6235205" y="5013176"/>
            <a:ext cx="1224136" cy="36004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48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19.02.18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4937759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4" y="3464560"/>
          <a:ext cx="5978346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3" name="Стрелка вниз 2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ая прямоугольная выноска 13"/>
          <p:cNvSpPr/>
          <p:nvPr/>
        </p:nvSpPr>
        <p:spPr>
          <a:xfrm>
            <a:off x="5665672" y="658496"/>
            <a:ext cx="2880320" cy="673827"/>
          </a:xfrm>
          <a:prstGeom prst="wedgeRoundRectCallout">
            <a:avLst>
              <a:gd name="adj1" fmla="val -70586"/>
              <a:gd name="adj2" fmla="val 18656"/>
              <a:gd name="adj3" fmla="val 16667"/>
            </a:avLst>
          </a:prstGeom>
          <a:ln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Цикл по набору записей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9704" y="1526789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6" name="Скругленная прямоугольная выноска 15"/>
          <p:cNvSpPr/>
          <p:nvPr/>
        </p:nvSpPr>
        <p:spPr>
          <a:xfrm>
            <a:off x="5521832" y="1452570"/>
            <a:ext cx="3168000" cy="252000"/>
          </a:xfrm>
          <a:prstGeom prst="wedgeRoundRectCallout">
            <a:avLst>
              <a:gd name="adj1" fmla="val -75735"/>
              <a:gd name="adj2" fmla="val -27801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Результат = (Факт/ Норма) *Ставка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9704" y="119929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8" name="Скругленная прямоугольная выноска 17"/>
          <p:cNvSpPr/>
          <p:nvPr/>
        </p:nvSpPr>
        <p:spPr>
          <a:xfrm>
            <a:off x="5521832" y="1782924"/>
            <a:ext cx="3168000" cy="252000"/>
          </a:xfrm>
          <a:prstGeom prst="wedgeRoundRectCallout">
            <a:avLst>
              <a:gd name="adj1" fmla="val -76482"/>
              <a:gd name="adj2" fmla="val -57430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Результат = Расчетная база * Процент</a:t>
            </a:r>
          </a:p>
        </p:txBody>
      </p:sp>
      <p:sp>
        <p:nvSpPr>
          <p:cNvPr id="19" name="Прямоугольная выноска 18"/>
          <p:cNvSpPr/>
          <p:nvPr/>
        </p:nvSpPr>
        <p:spPr>
          <a:xfrm>
            <a:off x="5126320" y="2297623"/>
            <a:ext cx="2974071" cy="705272"/>
          </a:xfrm>
          <a:prstGeom prst="wedgeRectCallout">
            <a:avLst>
              <a:gd name="adj1" fmla="val 44187"/>
              <a:gd name="adj2" fmla="val -764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Надо в момент расчета искать ставку, процент и т.п.</a:t>
            </a:r>
            <a:r>
              <a:rPr lang="ru-RU" sz="1600" dirty="0">
                <a:sym typeface="Wingdings" panose="05000000000000000000" pitchFamily="2" charset="2"/>
              </a:rPr>
              <a:t>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59434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7" grpId="0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761524"/>
              </p:ext>
            </p:extLst>
          </p:nvPr>
        </p:nvGraphicFramePr>
        <p:xfrm>
          <a:off x="1346491" y="4092514"/>
          <a:ext cx="2474366" cy="1960880"/>
        </p:xfrm>
        <a:graphic>
          <a:graphicData uri="http://schemas.openxmlformats.org/drawingml/2006/table">
            <a:tbl>
              <a:tblPr/>
              <a:tblGrid>
                <a:gridCol w="852221">
                  <a:extLst>
                    <a:ext uri="{9D8B030D-6E8A-4147-A177-3AD203B41FA5}">
                      <a16:colId xmlns:a16="http://schemas.microsoft.com/office/drawing/2014/main" val="229463155"/>
                    </a:ext>
                  </a:extLst>
                </a:gridCol>
                <a:gridCol w="1020470">
                  <a:extLst>
                    <a:ext uri="{9D8B030D-6E8A-4147-A177-3AD203B41FA5}">
                      <a16:colId xmlns:a16="http://schemas.microsoft.com/office/drawing/2014/main" val="2191532160"/>
                    </a:ext>
                  </a:extLst>
                </a:gridCol>
                <a:gridCol w="601675">
                  <a:extLst>
                    <a:ext uri="{9D8B030D-6E8A-4147-A177-3AD203B41FA5}">
                      <a16:colId xmlns:a16="http://schemas.microsoft.com/office/drawing/2014/main" val="2258992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Вид расчета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947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40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819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9062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96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065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334333"/>
                  </a:ext>
                </a:extLst>
              </a:tr>
            </a:tbl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3059"/>
              </p:ext>
            </p:extLst>
          </p:nvPr>
        </p:nvGraphicFramePr>
        <p:xfrm>
          <a:off x="395536" y="1124744"/>
          <a:ext cx="5539434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2175456728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903219736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3107597638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8747136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29337538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3154331369"/>
                    </a:ext>
                  </a:extLst>
                </a:gridCol>
                <a:gridCol w="601675">
                  <a:extLst>
                    <a:ext uri="{9D8B030D-6E8A-4147-A177-3AD203B41FA5}">
                      <a16:colId xmlns:a16="http://schemas.microsoft.com/office/drawing/2014/main" val="1178687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88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388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8602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633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5039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420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73925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9512" y="617670"/>
            <a:ext cx="8784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FF0000"/>
                </a:solidFill>
              </a:rPr>
              <a:t>Документ объект Начисление ЗП № 2 (оклады за 2-ую половину месяца)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79512" y="3631049"/>
            <a:ext cx="53285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70C0"/>
                </a:solidFill>
              </a:rPr>
              <a:t>РС «Плановые начисления»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301127" y="1037843"/>
            <a:ext cx="740340" cy="2097337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233155" y="4008844"/>
            <a:ext cx="688368" cy="2128219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углом 7"/>
          <p:cNvSpPr/>
          <p:nvPr/>
        </p:nvSpPr>
        <p:spPr>
          <a:xfrm rot="5400000" flipH="1">
            <a:off x="3819819" y="3413221"/>
            <a:ext cx="2376265" cy="1854035"/>
          </a:xfrm>
          <a:prstGeom prst="bentArrow">
            <a:avLst>
              <a:gd name="adj1" fmla="val 8858"/>
              <a:gd name="adj2" fmla="val 12143"/>
              <a:gd name="adj3" fmla="val 11909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Прямоугольная выноска 8"/>
          <p:cNvSpPr/>
          <p:nvPr/>
        </p:nvSpPr>
        <p:spPr>
          <a:xfrm>
            <a:off x="6107476" y="2560789"/>
            <a:ext cx="2951148" cy="1714300"/>
          </a:xfrm>
          <a:prstGeom prst="wedgeRectCallout">
            <a:avLst>
              <a:gd name="adj1" fmla="val -55966"/>
              <a:gd name="adj2" fmla="val -12408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Добавим реквизит табличной части в документ «Начисление зарплаты», в котором будем хранить вспомогательную информацию для расчета (ставки, проценты и т.п. </a:t>
            </a:r>
            <a:r>
              <a:rPr lang="ru-RU" sz="1600" dirty="0">
                <a:sym typeface="Wingdings" panose="05000000000000000000" pitchFamily="2" charset="2"/>
              </a:rPr>
              <a:t></a:t>
            </a:r>
            <a:r>
              <a:rPr lang="ru-RU" sz="1600" dirty="0"/>
              <a:t>).</a:t>
            </a:r>
          </a:p>
        </p:txBody>
      </p:sp>
      <p:sp>
        <p:nvSpPr>
          <p:cNvPr id="10" name="Прямоугольная выноска 9"/>
          <p:cNvSpPr/>
          <p:nvPr/>
        </p:nvSpPr>
        <p:spPr>
          <a:xfrm>
            <a:off x="6092908" y="4422763"/>
            <a:ext cx="2951148" cy="1238485"/>
          </a:xfrm>
          <a:prstGeom prst="wedgeRectCallout">
            <a:avLst>
              <a:gd name="adj1" fmla="val -67585"/>
              <a:gd name="adj2" fmla="val -1324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Заполним реквизит данным, определенными для сотрудника, при его приёме на работу!</a:t>
            </a:r>
          </a:p>
        </p:txBody>
      </p:sp>
    </p:spTree>
    <p:extLst>
      <p:ext uri="{BB962C8B-B14F-4D97-AF65-F5344CB8AC3E}">
        <p14:creationId xmlns:p14="http://schemas.microsoft.com/office/powerpoint/2010/main" val="362030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0"/>
                            </p:stCondLst>
                            <p:childTnLst>
                              <p:par>
                                <p:cTn id="3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500"/>
                            </p:stCondLst>
                            <p:childTnLst>
                              <p:par>
                                <p:cTn id="4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8" grpId="0" animBg="1"/>
      <p:bldP spid="9" grpId="0" animBg="1"/>
      <p:bldP spid="1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19.02.18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098172"/>
              </p:ext>
            </p:extLst>
          </p:nvPr>
        </p:nvGraphicFramePr>
        <p:xfrm>
          <a:off x="115902" y="957619"/>
          <a:ext cx="5615329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536837"/>
              </p:ext>
            </p:extLst>
          </p:nvPr>
        </p:nvGraphicFramePr>
        <p:xfrm>
          <a:off x="119864" y="3464560"/>
          <a:ext cx="6655916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4932040" y="869997"/>
            <a:ext cx="936104" cy="2097337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5940152" y="3356992"/>
            <a:ext cx="936103" cy="293326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ая выноска 17"/>
          <p:cNvSpPr/>
          <p:nvPr/>
        </p:nvSpPr>
        <p:spPr>
          <a:xfrm>
            <a:off x="6084168" y="663428"/>
            <a:ext cx="2951148" cy="1714300"/>
          </a:xfrm>
          <a:prstGeom prst="wedgeRectCallout">
            <a:avLst>
              <a:gd name="adj1" fmla="val -32328"/>
              <a:gd name="adj2" fmla="val 11291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Добавим реквизит в регистр расчета «Основные начисления». В нём будем хранить вспомогательную информацию для расчета (ставки, проценты и т.п. </a:t>
            </a:r>
            <a:r>
              <a:rPr lang="ru-RU" sz="1600" dirty="0">
                <a:sym typeface="Wingdings" panose="05000000000000000000" pitchFamily="2" charset="2"/>
              </a:rPr>
              <a:t></a:t>
            </a:r>
            <a:r>
              <a:rPr lang="ru-RU" sz="1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80970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  <p:bldP spid="1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19.02.18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/>
          </p:nvPr>
        </p:nvGraphicFramePr>
        <p:xfrm>
          <a:off x="115902" y="957619"/>
          <a:ext cx="5615329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119864" y="3464560"/>
          <a:ext cx="6655916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4932040" y="869997"/>
            <a:ext cx="936104" cy="2097337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5940152" y="3356992"/>
            <a:ext cx="936103" cy="293326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6408203" y="553594"/>
            <a:ext cx="2420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Документ объект</a:t>
            </a:r>
          </a:p>
        </p:txBody>
      </p:sp>
      <p:sp>
        <p:nvSpPr>
          <p:cNvPr id="17" name="Стрелка углом 16"/>
          <p:cNvSpPr/>
          <p:nvPr/>
        </p:nvSpPr>
        <p:spPr>
          <a:xfrm rot="10800000">
            <a:off x="6084168" y="953704"/>
            <a:ext cx="1726930" cy="1179152"/>
          </a:xfrm>
          <a:prstGeom prst="bentArrow">
            <a:avLst>
              <a:gd name="adj1" fmla="val 11909"/>
              <a:gd name="adj2" fmla="val 14685"/>
              <a:gd name="adj3" fmla="val 11909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690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19.02.18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5615329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4" y="3464560"/>
          <a:ext cx="6655916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кругленная прямоугольная выноска 15"/>
          <p:cNvSpPr/>
          <p:nvPr/>
        </p:nvSpPr>
        <p:spPr>
          <a:xfrm>
            <a:off x="5840503" y="1257293"/>
            <a:ext cx="3168000" cy="252000"/>
          </a:xfrm>
          <a:prstGeom prst="wedgeRoundRectCallout">
            <a:avLst>
              <a:gd name="adj1" fmla="val -86843"/>
              <a:gd name="adj2" fmla="val 68325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Результат = (Факт/ Норма) * Ставка</a:t>
            </a: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4581502" y="1857115"/>
            <a:ext cx="4388555" cy="10195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Ставка -&gt; Размер</a:t>
            </a:r>
          </a:p>
          <a:p>
            <a:r>
              <a:rPr lang="ru-RU" sz="1400" dirty="0"/>
              <a:t>Факт -&gt; Кол-во </a:t>
            </a:r>
            <a:r>
              <a:rPr lang="ru-RU" sz="1400" b="1" dirty="0"/>
              <a:t>РАБОЧИХ</a:t>
            </a:r>
            <a:r>
              <a:rPr lang="ru-RU" sz="1400" dirty="0"/>
              <a:t> дней приходящихся на ФПД</a:t>
            </a:r>
          </a:p>
          <a:p>
            <a:r>
              <a:rPr lang="ru-RU" sz="1400" dirty="0"/>
              <a:t>Норма -&gt; Кол-во </a:t>
            </a:r>
            <a:r>
              <a:rPr lang="ru-RU" sz="1400" b="1" dirty="0"/>
              <a:t>РАБОЧИХ </a:t>
            </a:r>
            <a:r>
              <a:rPr lang="ru-RU" sz="1400" dirty="0"/>
              <a:t> дней месяца ПД</a:t>
            </a:r>
          </a:p>
          <a:p>
            <a:r>
              <a:rPr lang="ru-RU" sz="1400" u="sng" dirty="0"/>
              <a:t>А сколько рабочих дней приходится на эти периоды?</a:t>
            </a:r>
          </a:p>
        </p:txBody>
      </p:sp>
    </p:spTree>
    <p:extLst>
      <p:ext uri="{BB962C8B-B14F-4D97-AF65-F5344CB8AC3E}">
        <p14:creationId xmlns:p14="http://schemas.microsoft.com/office/powerpoint/2010/main" val="125622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5615329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4" y="3464560"/>
          <a:ext cx="6655916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283359"/>
              </p:ext>
            </p:extLst>
          </p:nvPr>
        </p:nvGraphicFramePr>
        <p:xfrm>
          <a:off x="7236296" y="3464560"/>
          <a:ext cx="1653235" cy="2540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3022582630"/>
                    </a:ext>
                  </a:extLst>
                </a:gridCol>
                <a:gridCol w="861365">
                  <a:extLst>
                    <a:ext uri="{9D8B030D-6E8A-4147-A177-3AD203B41FA5}">
                      <a16:colId xmlns:a16="http://schemas.microsoft.com/office/drawing/2014/main" val="12342334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Дата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Значение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16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4481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469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1592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363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81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799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07.02.18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287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337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166827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16117" y="3002895"/>
            <a:ext cx="2765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800" dirty="0">
                <a:solidFill>
                  <a:srgbClr val="0070C0"/>
                </a:solidFill>
              </a:rPr>
              <a:t>РС «Графики работы»</a:t>
            </a:r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6084168" y="1442392"/>
            <a:ext cx="2951148" cy="978496"/>
          </a:xfrm>
          <a:prstGeom prst="wedgeRectCallout">
            <a:avLst>
              <a:gd name="adj1" fmla="val 19100"/>
              <a:gd name="adj2" fmla="val 11281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В регистре сведений будем хранить оценку для каждого дня (календарь).</a:t>
            </a:r>
          </a:p>
        </p:txBody>
      </p:sp>
    </p:spTree>
    <p:extLst>
      <p:ext uri="{BB962C8B-B14F-4D97-AF65-F5344CB8AC3E}">
        <p14:creationId xmlns:p14="http://schemas.microsoft.com/office/powerpoint/2010/main" val="365239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5615329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4" y="3464560"/>
          <a:ext cx="6655916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/>
          </p:nvPr>
        </p:nvGraphicFramePr>
        <p:xfrm>
          <a:off x="7236296" y="3464560"/>
          <a:ext cx="1653235" cy="2540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3022582630"/>
                    </a:ext>
                  </a:extLst>
                </a:gridCol>
                <a:gridCol w="861365">
                  <a:extLst>
                    <a:ext uri="{9D8B030D-6E8A-4147-A177-3AD203B41FA5}">
                      <a16:colId xmlns:a16="http://schemas.microsoft.com/office/drawing/2014/main" val="12342334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Дата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Значение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16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4481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469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1592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363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81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799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07.02.18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287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337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166827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16117" y="3002895"/>
            <a:ext cx="2765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800" dirty="0">
                <a:solidFill>
                  <a:srgbClr val="0070C0"/>
                </a:solidFill>
              </a:rPr>
              <a:t>РС «Графики работы»</a:t>
            </a:r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6084168" y="1442392"/>
            <a:ext cx="2951148" cy="978496"/>
          </a:xfrm>
          <a:prstGeom prst="wedgeRectCallout">
            <a:avLst>
              <a:gd name="adj1" fmla="val 19100"/>
              <a:gd name="adj2" fmla="val 11281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Что бы регистр расчета «знал» где искать календарь, связываем эти регистры!</a:t>
            </a:r>
          </a:p>
        </p:txBody>
      </p:sp>
    </p:spTree>
    <p:extLst>
      <p:ext uri="{BB962C8B-B14F-4D97-AF65-F5344CB8AC3E}">
        <p14:creationId xmlns:p14="http://schemas.microsoft.com/office/powerpoint/2010/main" val="141350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5615329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4" y="3464560"/>
          <a:ext cx="6655916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7236296" y="3464560"/>
          <a:ext cx="1653235" cy="2540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3022582630"/>
                    </a:ext>
                  </a:extLst>
                </a:gridCol>
                <a:gridCol w="861365">
                  <a:extLst>
                    <a:ext uri="{9D8B030D-6E8A-4147-A177-3AD203B41FA5}">
                      <a16:colId xmlns:a16="http://schemas.microsoft.com/office/drawing/2014/main" val="12342334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Дата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Значение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16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4481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469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1592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363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81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799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07.02.18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287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337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166827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11601" y="3034142"/>
            <a:ext cx="2477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70C0"/>
                </a:solidFill>
              </a:rPr>
              <a:t>РС «График работы»</a:t>
            </a: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605" y="1843503"/>
            <a:ext cx="29622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Двойная стрелка влево/вправо 14"/>
          <p:cNvSpPr/>
          <p:nvPr/>
        </p:nvSpPr>
        <p:spPr>
          <a:xfrm>
            <a:off x="5292080" y="3060591"/>
            <a:ext cx="1119521" cy="399705"/>
          </a:xfrm>
          <a:prstGeom prst="left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611560" y="3056327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800" dirty="0">
                <a:solidFill>
                  <a:srgbClr val="0070C0"/>
                </a:solidFill>
              </a:rPr>
              <a:t>Регистр Расчета «Основные начисления»</a:t>
            </a:r>
          </a:p>
        </p:txBody>
      </p:sp>
    </p:spTree>
    <p:extLst>
      <p:ext uri="{BB962C8B-B14F-4D97-AF65-F5344CB8AC3E}">
        <p14:creationId xmlns:p14="http://schemas.microsoft.com/office/powerpoint/2010/main" val="2910900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5615329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4" y="3464560"/>
          <a:ext cx="6655916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7236296" y="3464560"/>
          <a:ext cx="1653235" cy="2540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3022582630"/>
                    </a:ext>
                  </a:extLst>
                </a:gridCol>
                <a:gridCol w="861365">
                  <a:extLst>
                    <a:ext uri="{9D8B030D-6E8A-4147-A177-3AD203B41FA5}">
                      <a16:colId xmlns:a16="http://schemas.microsoft.com/office/drawing/2014/main" val="12342334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Дата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Значение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16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4481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469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1592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363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81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799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07.02.18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287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337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166827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66478" y="2918499"/>
            <a:ext cx="3242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РС «График работы»</a:t>
            </a:r>
          </a:p>
        </p:txBody>
      </p:sp>
      <p:sp>
        <p:nvSpPr>
          <p:cNvPr id="16" name="Прямоугольная выноска 15"/>
          <p:cNvSpPr/>
          <p:nvPr/>
        </p:nvSpPr>
        <p:spPr>
          <a:xfrm>
            <a:off x="6012160" y="1559764"/>
            <a:ext cx="2996848" cy="897894"/>
          </a:xfrm>
          <a:prstGeom prst="wedgeRectCallout">
            <a:avLst>
              <a:gd name="adj1" fmla="val 30012"/>
              <a:gd name="adj2" fmla="val 11266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Только один график!</a:t>
            </a:r>
          </a:p>
        </p:txBody>
      </p:sp>
    </p:spTree>
    <p:extLst>
      <p:ext uri="{BB962C8B-B14F-4D97-AF65-F5344CB8AC3E}">
        <p14:creationId xmlns:p14="http://schemas.microsoft.com/office/powerpoint/2010/main" val="178410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5615329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4" y="3464560"/>
          <a:ext cx="6655916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252379"/>
              </p:ext>
            </p:extLst>
          </p:nvPr>
        </p:nvGraphicFramePr>
        <p:xfrm>
          <a:off x="7092280" y="2631440"/>
          <a:ext cx="2016224" cy="3556000"/>
        </p:xfrm>
        <a:graphic>
          <a:graphicData uri="http://schemas.openxmlformats.org/drawingml/2006/table">
            <a:tbl>
              <a:tblPr/>
              <a:tblGrid>
                <a:gridCol w="750232">
                  <a:extLst>
                    <a:ext uri="{9D8B030D-6E8A-4147-A177-3AD203B41FA5}">
                      <a16:colId xmlns:a16="http://schemas.microsoft.com/office/drawing/2014/main" val="2969262186"/>
                    </a:ext>
                  </a:extLst>
                </a:gridCol>
                <a:gridCol w="750232">
                  <a:extLst>
                    <a:ext uri="{9D8B030D-6E8A-4147-A177-3AD203B41FA5}">
                      <a16:colId xmlns:a16="http://schemas.microsoft.com/office/drawing/2014/main" val="957463498"/>
                    </a:ext>
                  </a:extLst>
                </a:gridCol>
                <a:gridCol w="515760">
                  <a:extLst>
                    <a:ext uri="{9D8B030D-6E8A-4147-A177-3AD203B41FA5}">
                      <a16:colId xmlns:a16="http://schemas.microsoft.com/office/drawing/2014/main" val="124194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Дата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Знач.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886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5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630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220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42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705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24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99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355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257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006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485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009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72058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660232" y="2169775"/>
            <a:ext cx="2483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70C0"/>
                </a:solidFill>
              </a:rPr>
              <a:t>РС «График работы»</a:t>
            </a:r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5868144" y="672999"/>
            <a:ext cx="2996848" cy="897894"/>
          </a:xfrm>
          <a:prstGeom prst="wedgeRectCallout">
            <a:avLst>
              <a:gd name="adj1" fmla="val 30012"/>
              <a:gd name="adj2" fmla="val 11266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dirty="0"/>
              <a:t>Добавим измерение в регистр сведений!</a:t>
            </a:r>
          </a:p>
        </p:txBody>
      </p:sp>
    </p:spTree>
    <p:extLst>
      <p:ext uri="{BB962C8B-B14F-4D97-AF65-F5344CB8AC3E}">
        <p14:creationId xmlns:p14="http://schemas.microsoft.com/office/powerpoint/2010/main" val="293234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643511"/>
              </p:ext>
            </p:extLst>
          </p:nvPr>
        </p:nvGraphicFramePr>
        <p:xfrm>
          <a:off x="119865" y="3464560"/>
          <a:ext cx="6828400" cy="2722880"/>
        </p:xfrm>
        <a:graphic>
          <a:graphicData uri="http://schemas.openxmlformats.org/drawingml/2006/table">
            <a:tbl>
              <a:tblPr/>
              <a:tblGrid>
                <a:gridCol w="975363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798804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79451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457597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07451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967958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Рез-т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331925"/>
              </p:ext>
            </p:extLst>
          </p:nvPr>
        </p:nvGraphicFramePr>
        <p:xfrm>
          <a:off x="7092280" y="2631440"/>
          <a:ext cx="2016224" cy="3556000"/>
        </p:xfrm>
        <a:graphic>
          <a:graphicData uri="http://schemas.openxmlformats.org/drawingml/2006/table">
            <a:tbl>
              <a:tblPr/>
              <a:tblGrid>
                <a:gridCol w="750232">
                  <a:extLst>
                    <a:ext uri="{9D8B030D-6E8A-4147-A177-3AD203B41FA5}">
                      <a16:colId xmlns:a16="http://schemas.microsoft.com/office/drawing/2014/main" val="2969262186"/>
                    </a:ext>
                  </a:extLst>
                </a:gridCol>
                <a:gridCol w="750232">
                  <a:extLst>
                    <a:ext uri="{9D8B030D-6E8A-4147-A177-3AD203B41FA5}">
                      <a16:colId xmlns:a16="http://schemas.microsoft.com/office/drawing/2014/main" val="957463498"/>
                    </a:ext>
                  </a:extLst>
                </a:gridCol>
                <a:gridCol w="515760">
                  <a:extLst>
                    <a:ext uri="{9D8B030D-6E8A-4147-A177-3AD203B41FA5}">
                      <a16:colId xmlns:a16="http://schemas.microsoft.com/office/drawing/2014/main" val="124194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Дата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Знач.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886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5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630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220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42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705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24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99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355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257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006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485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009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72058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660232" y="2169775"/>
            <a:ext cx="2483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70C0"/>
                </a:solidFill>
              </a:rPr>
              <a:t>РС «График работы»</a:t>
            </a:r>
          </a:p>
        </p:txBody>
      </p:sp>
      <p:sp>
        <p:nvSpPr>
          <p:cNvPr id="2" name="Выноска 3 1"/>
          <p:cNvSpPr/>
          <p:nvPr/>
        </p:nvSpPr>
        <p:spPr>
          <a:xfrm>
            <a:off x="6516216" y="692696"/>
            <a:ext cx="2520280" cy="1477079"/>
          </a:xfrm>
          <a:prstGeom prst="borderCallout3">
            <a:avLst>
              <a:gd name="adj1" fmla="val 13644"/>
              <a:gd name="adj2" fmla="val 270"/>
              <a:gd name="adj3" fmla="val 13051"/>
              <a:gd name="adj4" fmla="val -33499"/>
              <a:gd name="adj5" fmla="val 156353"/>
              <a:gd name="adj6" fmla="val -33873"/>
              <a:gd name="adj7" fmla="val 181181"/>
              <a:gd name="adj8" fmla="val -6463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Что бы регистр расчета мог для каждой записи найти нужный календарь, надо добавить реквизит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763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119865" y="3464560"/>
          <a:ext cx="6828400" cy="2722880"/>
        </p:xfrm>
        <a:graphic>
          <a:graphicData uri="http://schemas.openxmlformats.org/drawingml/2006/table">
            <a:tbl>
              <a:tblPr/>
              <a:tblGrid>
                <a:gridCol w="975363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798804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79451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457597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07451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967958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Рез-т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7092280" y="2631440"/>
          <a:ext cx="2016224" cy="3556000"/>
        </p:xfrm>
        <a:graphic>
          <a:graphicData uri="http://schemas.openxmlformats.org/drawingml/2006/table">
            <a:tbl>
              <a:tblPr/>
              <a:tblGrid>
                <a:gridCol w="750232">
                  <a:extLst>
                    <a:ext uri="{9D8B030D-6E8A-4147-A177-3AD203B41FA5}">
                      <a16:colId xmlns:a16="http://schemas.microsoft.com/office/drawing/2014/main" val="2969262186"/>
                    </a:ext>
                  </a:extLst>
                </a:gridCol>
                <a:gridCol w="750232">
                  <a:extLst>
                    <a:ext uri="{9D8B030D-6E8A-4147-A177-3AD203B41FA5}">
                      <a16:colId xmlns:a16="http://schemas.microsoft.com/office/drawing/2014/main" val="957463498"/>
                    </a:ext>
                  </a:extLst>
                </a:gridCol>
                <a:gridCol w="515760">
                  <a:extLst>
                    <a:ext uri="{9D8B030D-6E8A-4147-A177-3AD203B41FA5}">
                      <a16:colId xmlns:a16="http://schemas.microsoft.com/office/drawing/2014/main" val="124194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Дата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Знач.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886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5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630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220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42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705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24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99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355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257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006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485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009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72058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660232" y="2169775"/>
            <a:ext cx="2483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70C0"/>
                </a:solidFill>
              </a:rPr>
              <a:t>РС «График работы»</a:t>
            </a:r>
          </a:p>
        </p:txBody>
      </p:sp>
      <p:sp>
        <p:nvSpPr>
          <p:cNvPr id="2" name="Выноска 3 1"/>
          <p:cNvSpPr/>
          <p:nvPr/>
        </p:nvSpPr>
        <p:spPr>
          <a:xfrm>
            <a:off x="6516216" y="692696"/>
            <a:ext cx="2520280" cy="1477079"/>
          </a:xfrm>
          <a:prstGeom prst="borderCallout3">
            <a:avLst>
              <a:gd name="adj1" fmla="val 13644"/>
              <a:gd name="adj2" fmla="val 270"/>
              <a:gd name="adj3" fmla="val 13051"/>
              <a:gd name="adj4" fmla="val -33499"/>
              <a:gd name="adj5" fmla="val 156353"/>
              <a:gd name="adj6" fmla="val -33873"/>
              <a:gd name="adj7" fmla="val 181181"/>
              <a:gd name="adj8" fmla="val -6463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Далее надо связать реквизит регистра расчета и измерение регистра сведений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908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5" y="3464560"/>
          <a:ext cx="6828400" cy="2722880"/>
        </p:xfrm>
        <a:graphic>
          <a:graphicData uri="http://schemas.openxmlformats.org/drawingml/2006/table">
            <a:tbl>
              <a:tblPr/>
              <a:tblGrid>
                <a:gridCol w="975363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798804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79451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457597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07451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967958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Рез-т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7092280" y="2631440"/>
          <a:ext cx="1946460" cy="3556000"/>
        </p:xfrm>
        <a:graphic>
          <a:graphicData uri="http://schemas.openxmlformats.org/drawingml/2006/table">
            <a:tbl>
              <a:tblPr/>
              <a:tblGrid>
                <a:gridCol w="722325">
                  <a:extLst>
                    <a:ext uri="{9D8B030D-6E8A-4147-A177-3AD203B41FA5}">
                      <a16:colId xmlns:a16="http://schemas.microsoft.com/office/drawing/2014/main" val="296926218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957463498"/>
                    </a:ext>
                  </a:extLst>
                </a:gridCol>
                <a:gridCol w="504055">
                  <a:extLst>
                    <a:ext uri="{9D8B030D-6E8A-4147-A177-3AD203B41FA5}">
                      <a16:colId xmlns:a16="http://schemas.microsoft.com/office/drawing/2014/main" val="124194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Дата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Знач.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886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5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630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220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42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705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24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99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355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257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006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485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009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720584"/>
                  </a:ext>
                </a:extLst>
              </a:tr>
            </a:tbl>
          </a:graphicData>
        </a:graphic>
      </p:graphicFrame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585" y="665297"/>
            <a:ext cx="2363155" cy="161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Стрелка углом 16"/>
          <p:cNvSpPr/>
          <p:nvPr/>
        </p:nvSpPr>
        <p:spPr>
          <a:xfrm>
            <a:off x="6444208" y="1187251"/>
            <a:ext cx="231378" cy="2153794"/>
          </a:xfrm>
          <a:prstGeom prst="bentArrow">
            <a:avLst>
              <a:gd name="adj1" fmla="val 33008"/>
              <a:gd name="adj2" fmla="val 50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8" name="Выноска со стрелкой вниз 17"/>
          <p:cNvSpPr/>
          <p:nvPr/>
        </p:nvSpPr>
        <p:spPr>
          <a:xfrm>
            <a:off x="6675586" y="1916833"/>
            <a:ext cx="2363154" cy="779374"/>
          </a:xfrm>
          <a:prstGeom prst="downArrowCallout">
            <a:avLst>
              <a:gd name="adj1" fmla="val 14479"/>
              <a:gd name="adj2" fmla="val 27350"/>
              <a:gd name="adj3" fmla="val 25000"/>
              <a:gd name="adj4" fmla="val 47092"/>
            </a:avLst>
          </a:prstGeom>
          <a:solidFill>
            <a:schemeClr val="accent1">
              <a:alpha val="12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5934720" y="3341045"/>
            <a:ext cx="1025906" cy="2919597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7787877" y="2631440"/>
            <a:ext cx="750664" cy="3555999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75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119865" y="3464560"/>
          <a:ext cx="6828400" cy="2722880"/>
        </p:xfrm>
        <a:graphic>
          <a:graphicData uri="http://schemas.openxmlformats.org/drawingml/2006/table">
            <a:tbl>
              <a:tblPr/>
              <a:tblGrid>
                <a:gridCol w="975363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798804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79451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457597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07451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967958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Рез-т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7092280" y="2631440"/>
          <a:ext cx="2016224" cy="3556000"/>
        </p:xfrm>
        <a:graphic>
          <a:graphicData uri="http://schemas.openxmlformats.org/drawingml/2006/table">
            <a:tbl>
              <a:tblPr/>
              <a:tblGrid>
                <a:gridCol w="750232">
                  <a:extLst>
                    <a:ext uri="{9D8B030D-6E8A-4147-A177-3AD203B41FA5}">
                      <a16:colId xmlns:a16="http://schemas.microsoft.com/office/drawing/2014/main" val="2969262186"/>
                    </a:ext>
                  </a:extLst>
                </a:gridCol>
                <a:gridCol w="750232">
                  <a:extLst>
                    <a:ext uri="{9D8B030D-6E8A-4147-A177-3AD203B41FA5}">
                      <a16:colId xmlns:a16="http://schemas.microsoft.com/office/drawing/2014/main" val="957463498"/>
                    </a:ext>
                  </a:extLst>
                </a:gridCol>
                <a:gridCol w="515760">
                  <a:extLst>
                    <a:ext uri="{9D8B030D-6E8A-4147-A177-3AD203B41FA5}">
                      <a16:colId xmlns:a16="http://schemas.microsoft.com/office/drawing/2014/main" val="124194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Дата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Знач.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886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5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630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220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42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705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24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99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355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257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006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485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009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72058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660232" y="2169775"/>
            <a:ext cx="2483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70C0"/>
                </a:solidFill>
              </a:rPr>
              <a:t>РС «График работы»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444208" y="836711"/>
            <a:ext cx="2520280" cy="13330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Данные для заполнения реквизита «График работы надо получить из документа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280384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119865" y="3464560"/>
          <a:ext cx="6828400" cy="2722880"/>
        </p:xfrm>
        <a:graphic>
          <a:graphicData uri="http://schemas.openxmlformats.org/drawingml/2006/table">
            <a:tbl>
              <a:tblPr/>
              <a:tblGrid>
                <a:gridCol w="975363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798804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79451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457597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07451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967958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Рез-т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7092280" y="2631440"/>
          <a:ext cx="2016224" cy="3556000"/>
        </p:xfrm>
        <a:graphic>
          <a:graphicData uri="http://schemas.openxmlformats.org/drawingml/2006/table">
            <a:tbl>
              <a:tblPr/>
              <a:tblGrid>
                <a:gridCol w="750232">
                  <a:extLst>
                    <a:ext uri="{9D8B030D-6E8A-4147-A177-3AD203B41FA5}">
                      <a16:colId xmlns:a16="http://schemas.microsoft.com/office/drawing/2014/main" val="2969262186"/>
                    </a:ext>
                  </a:extLst>
                </a:gridCol>
                <a:gridCol w="750232">
                  <a:extLst>
                    <a:ext uri="{9D8B030D-6E8A-4147-A177-3AD203B41FA5}">
                      <a16:colId xmlns:a16="http://schemas.microsoft.com/office/drawing/2014/main" val="957463498"/>
                    </a:ext>
                  </a:extLst>
                </a:gridCol>
                <a:gridCol w="515760">
                  <a:extLst>
                    <a:ext uri="{9D8B030D-6E8A-4147-A177-3AD203B41FA5}">
                      <a16:colId xmlns:a16="http://schemas.microsoft.com/office/drawing/2014/main" val="124194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Дата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Знач.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886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5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630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220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02.02.18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42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705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24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99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355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257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006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485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06.02.18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009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72058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660232" y="2169775"/>
            <a:ext cx="2483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70C0"/>
                </a:solidFill>
              </a:rPr>
              <a:t>РС «График работы»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0389" y="548046"/>
            <a:ext cx="2459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Документ объект</a:t>
            </a:r>
          </a:p>
        </p:txBody>
      </p:sp>
      <p:sp>
        <p:nvSpPr>
          <p:cNvPr id="14" name="Стрелка углом 13"/>
          <p:cNvSpPr/>
          <p:nvPr/>
        </p:nvSpPr>
        <p:spPr>
          <a:xfrm rot="10800000">
            <a:off x="6528682" y="953704"/>
            <a:ext cx="1282415" cy="1179152"/>
          </a:xfrm>
          <a:prstGeom prst="bentArrow">
            <a:avLst>
              <a:gd name="adj1" fmla="val 11909"/>
              <a:gd name="adj2" fmla="val 14685"/>
              <a:gd name="adj3" fmla="val 11909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9728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929080"/>
              </p:ext>
            </p:extLst>
          </p:nvPr>
        </p:nvGraphicFramePr>
        <p:xfrm>
          <a:off x="245244" y="3970031"/>
          <a:ext cx="2174696" cy="944880"/>
        </p:xfrm>
        <a:graphic>
          <a:graphicData uri="http://schemas.openxmlformats.org/drawingml/2006/table">
            <a:tbl>
              <a:tblPr/>
              <a:tblGrid>
                <a:gridCol w="989657">
                  <a:extLst>
                    <a:ext uri="{9D8B030D-6E8A-4147-A177-3AD203B41FA5}">
                      <a16:colId xmlns:a16="http://schemas.microsoft.com/office/drawing/2014/main" val="229463155"/>
                    </a:ext>
                  </a:extLst>
                </a:gridCol>
                <a:gridCol w="1185039">
                  <a:extLst>
                    <a:ext uri="{9D8B030D-6E8A-4147-A177-3AD203B41FA5}">
                      <a16:colId xmlns:a16="http://schemas.microsoft.com/office/drawing/2014/main" val="2191532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r>
                        <a:rPr lang="ru-RU" sz="1000" i="1" baseline="0" dirty="0">
                          <a:effectLst/>
                          <a:latin typeface="Verdana" panose="020B0604030504040204" pitchFamily="34" charset="0"/>
                        </a:rPr>
                        <a:t> работы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947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40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9693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9512" y="601919"/>
            <a:ext cx="8136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FF0000"/>
                </a:solidFill>
              </a:rPr>
              <a:t>Документ объект Начисление ЗП № 2 (оклады за 2-ую половину месяца)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79512" y="3387721"/>
            <a:ext cx="2952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РС «Сотрудники»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724128" y="1034062"/>
            <a:ext cx="792088" cy="2097337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187624" y="3930962"/>
            <a:ext cx="1440160" cy="108012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углом 7"/>
          <p:cNvSpPr/>
          <p:nvPr/>
        </p:nvSpPr>
        <p:spPr>
          <a:xfrm rot="5400000" flipH="1">
            <a:off x="3851919" y="2060848"/>
            <a:ext cx="1296144" cy="3600400"/>
          </a:xfrm>
          <a:prstGeom prst="bentArrow">
            <a:avLst>
              <a:gd name="adj1" fmla="val 11233"/>
              <a:gd name="adj2" fmla="val 12640"/>
              <a:gd name="adj3" fmla="val 11909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012673"/>
              </p:ext>
            </p:extLst>
          </p:nvPr>
        </p:nvGraphicFramePr>
        <p:xfrm>
          <a:off x="181861" y="1102291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98611073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300907260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4017427169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619197789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3597618438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273782845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540055692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17724211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259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97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29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575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099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511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06009"/>
                  </a:ext>
                </a:extLst>
              </a:tr>
            </a:tbl>
          </a:graphicData>
        </a:graphic>
      </p:graphicFrame>
      <p:sp>
        <p:nvSpPr>
          <p:cNvPr id="11" name="Прямоугольная выноска 10"/>
          <p:cNvSpPr/>
          <p:nvPr/>
        </p:nvSpPr>
        <p:spPr>
          <a:xfrm>
            <a:off x="6300192" y="4612167"/>
            <a:ext cx="2592288" cy="1238485"/>
          </a:xfrm>
          <a:prstGeom prst="wedgeRectCallout">
            <a:avLst>
              <a:gd name="adj1" fmla="val -63221"/>
              <a:gd name="adj2" fmla="val -3988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Заполним реквизит данным, определенными для сотрудника, при его приёме на работу!</a:t>
            </a:r>
          </a:p>
        </p:txBody>
      </p:sp>
      <p:sp>
        <p:nvSpPr>
          <p:cNvPr id="3" name="Выноска 3 2"/>
          <p:cNvSpPr/>
          <p:nvPr/>
        </p:nvSpPr>
        <p:spPr>
          <a:xfrm>
            <a:off x="6804248" y="1294857"/>
            <a:ext cx="2232248" cy="1949034"/>
          </a:xfrm>
          <a:prstGeom prst="borderCallout3">
            <a:avLst>
              <a:gd name="adj1" fmla="val -1084"/>
              <a:gd name="adj2" fmla="val 65851"/>
              <a:gd name="adj3" fmla="val -12193"/>
              <a:gd name="adj4" fmla="val 66244"/>
              <a:gd name="adj5" fmla="val -11784"/>
              <a:gd name="adj6" fmla="val 12190"/>
              <a:gd name="adj7" fmla="val -4093"/>
              <a:gd name="adj8" fmla="val -19767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Добавим реквизит табличной части в документ «Начисление зарплаты», в котором будем хранить график работы работника.</a:t>
            </a:r>
          </a:p>
        </p:txBody>
      </p:sp>
    </p:spTree>
    <p:extLst>
      <p:ext uri="{BB962C8B-B14F-4D97-AF65-F5344CB8AC3E}">
        <p14:creationId xmlns:p14="http://schemas.microsoft.com/office/powerpoint/2010/main" val="160147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0"/>
                            </p:stCondLst>
                            <p:childTnLst>
                              <p:par>
                                <p:cTn id="3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500"/>
                            </p:stCondLst>
                            <p:childTnLst>
                              <p:par>
                                <p:cTn id="4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8" grpId="0" animBg="1"/>
      <p:bldP spid="11" grpId="0" animBg="1"/>
      <p:bldP spid="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5" y="3464560"/>
          <a:ext cx="6828400" cy="2722880"/>
        </p:xfrm>
        <a:graphic>
          <a:graphicData uri="http://schemas.openxmlformats.org/drawingml/2006/table">
            <a:tbl>
              <a:tblPr/>
              <a:tblGrid>
                <a:gridCol w="975363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798804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79451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457597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07451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967958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Рез-т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4283968" y="1211560"/>
            <a:ext cx="425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6" name="Скругленная прямоугольная выноска 15"/>
          <p:cNvSpPr/>
          <p:nvPr/>
        </p:nvSpPr>
        <p:spPr>
          <a:xfrm>
            <a:off x="6588224" y="1052736"/>
            <a:ext cx="2376264" cy="1291878"/>
          </a:xfrm>
          <a:prstGeom prst="wedgeRoundRectCallout">
            <a:avLst>
              <a:gd name="adj1" fmla="val -132615"/>
              <a:gd name="adj2" fmla="val -19936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 какой формуле рассчитывать результат? Ведь вид расчета может быть не предопределенным.</a:t>
            </a:r>
          </a:p>
        </p:txBody>
      </p:sp>
    </p:spTree>
    <p:extLst>
      <p:ext uri="{BB962C8B-B14F-4D97-AF65-F5344CB8AC3E}">
        <p14:creationId xmlns:p14="http://schemas.microsoft.com/office/powerpoint/2010/main" val="382090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5496" y="2918499"/>
            <a:ext cx="7200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Если</a:t>
            </a:r>
            <a:r>
              <a:rPr lang="ru-RU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ВР</a:t>
            </a:r>
            <a:r>
              <a:rPr lang="ru-RU" sz="1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СпособРасчета</a:t>
            </a:r>
            <a:r>
              <a:rPr lang="ru-RU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Перечисление</a:t>
            </a:r>
            <a:r>
              <a:rPr lang="ru-RU" sz="1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СпособыРасчета</a:t>
            </a:r>
            <a:r>
              <a:rPr lang="ru-RU" sz="1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ПоМесячнойСтавке</a:t>
            </a:r>
            <a:r>
              <a:rPr lang="ru-RU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Тогда</a:t>
            </a:r>
          </a:p>
          <a:p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ru-RU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Результат</a:t>
            </a:r>
            <a:r>
              <a:rPr lang="ru-RU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Ставка</a:t>
            </a:r>
            <a:r>
              <a:rPr lang="ru-RU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ru-RU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Норма</a:t>
            </a:r>
            <a:r>
              <a:rPr lang="ru-RU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*</a:t>
            </a:r>
            <a:r>
              <a:rPr lang="ru-RU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Факт</a:t>
            </a:r>
            <a:r>
              <a:rPr lang="ru-RU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ИначеЕсли</a:t>
            </a:r>
            <a:r>
              <a:rPr lang="ru-RU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ВР.СпособРасчета</a:t>
            </a:r>
            <a:r>
              <a:rPr lang="ru-RU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Перечисление.СпособыРасчета.Процентом</a:t>
            </a:r>
            <a:r>
              <a:rPr lang="ru-RU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Тогда</a:t>
            </a:r>
          </a:p>
          <a:p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ru-RU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Результат</a:t>
            </a:r>
            <a:r>
              <a:rPr lang="ru-RU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База</a:t>
            </a:r>
            <a:r>
              <a:rPr lang="ru-RU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Процент</a:t>
            </a:r>
            <a:r>
              <a:rPr lang="ru-RU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ИначеЕсли</a:t>
            </a:r>
            <a:r>
              <a:rPr lang="ru-RU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  <a:p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КонецЕсли</a:t>
            </a:r>
            <a:r>
              <a:rPr lang="ru-RU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563611"/>
              </p:ext>
            </p:extLst>
          </p:nvPr>
        </p:nvGraphicFramePr>
        <p:xfrm>
          <a:off x="3932366" y="4976268"/>
          <a:ext cx="3100731" cy="1524000"/>
        </p:xfrm>
        <a:graphic>
          <a:graphicData uri="http://schemas.openxmlformats.org/drawingml/2006/table">
            <a:tbl>
              <a:tblPr/>
              <a:tblGrid>
                <a:gridCol w="1032358">
                  <a:extLst>
                    <a:ext uri="{9D8B030D-6E8A-4147-A177-3AD203B41FA5}">
                      <a16:colId xmlns:a16="http://schemas.microsoft.com/office/drawing/2014/main" val="590276622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84352337"/>
                    </a:ext>
                  </a:extLst>
                </a:gridCol>
                <a:gridCol w="1458468">
                  <a:extLst>
                    <a:ext uri="{9D8B030D-6E8A-4147-A177-3AD203B41FA5}">
                      <a16:colId xmlns:a16="http://schemas.microsoft.com/office/drawing/2014/main" val="2555942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Ссылка</a:t>
                      </a:r>
                      <a:endParaRPr lang="ru-RU" sz="1000" b="1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  <a:endParaRPr lang="ru-RU" sz="1000" b="1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Способ расчета</a:t>
                      </a:r>
                      <a:endParaRPr lang="ru-RU" sz="1000" b="1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655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По месячной ставке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532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488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267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Больничный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По среднему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730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131311"/>
                  </a:ext>
                </a:extLst>
              </a:tr>
            </a:tbl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351858"/>
              </p:ext>
            </p:extLst>
          </p:nvPr>
        </p:nvGraphicFramePr>
        <p:xfrm>
          <a:off x="7349826" y="3845495"/>
          <a:ext cx="1553566" cy="1270000"/>
        </p:xfrm>
        <a:graphic>
          <a:graphicData uri="http://schemas.openxmlformats.org/drawingml/2006/table">
            <a:tbl>
              <a:tblPr/>
              <a:tblGrid>
                <a:gridCol w="1553566">
                  <a:extLst>
                    <a:ext uri="{9D8B030D-6E8A-4147-A177-3AD203B41FA5}">
                      <a16:colId xmlns:a16="http://schemas.microsoft.com/office/drawing/2014/main" val="1488404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По месячной ставке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2186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9997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smtClean="0">
                          <a:effectLst/>
                          <a:latin typeface="Verdana" panose="020B0604030504040204" pitchFamily="34" charset="0"/>
                        </a:rPr>
                        <a:t>Нулевая</a:t>
                      </a:r>
                      <a:r>
                        <a:rPr lang="ru-RU" sz="1000" baseline="0" smtClean="0">
                          <a:effectLst/>
                          <a:latin typeface="Verdana" panose="020B0604030504040204" pitchFamily="34" charset="0"/>
                        </a:rPr>
                        <a:t> сумма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754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По среднему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54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924648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88224" y="3242165"/>
            <a:ext cx="2482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0070C0"/>
                </a:solidFill>
              </a:rPr>
              <a:t>Перечисление «Способы расчета»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2005" y="4637714"/>
            <a:ext cx="462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0070C0"/>
                </a:solidFill>
              </a:rPr>
              <a:t>План видов расчета «Основные начисления»</a:t>
            </a:r>
          </a:p>
        </p:txBody>
      </p:sp>
      <p:sp>
        <p:nvSpPr>
          <p:cNvPr id="4" name="Прямоугольная выноска 3"/>
          <p:cNvSpPr/>
          <p:nvPr/>
        </p:nvSpPr>
        <p:spPr>
          <a:xfrm>
            <a:off x="6732240" y="1460388"/>
            <a:ext cx="1440160" cy="864096"/>
          </a:xfrm>
          <a:prstGeom prst="wedgeRectCallout">
            <a:avLst>
              <a:gd name="adj1" fmla="val -67588"/>
              <a:gd name="adj2" fmla="val 120476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Количество формул ограничено</a:t>
            </a:r>
          </a:p>
        </p:txBody>
      </p:sp>
      <p:sp>
        <p:nvSpPr>
          <p:cNvPr id="18" name="Стрелка углом 17"/>
          <p:cNvSpPr/>
          <p:nvPr/>
        </p:nvSpPr>
        <p:spPr>
          <a:xfrm rot="10800000">
            <a:off x="7062321" y="5229200"/>
            <a:ext cx="1282415" cy="648072"/>
          </a:xfrm>
          <a:prstGeom prst="bentArrow">
            <a:avLst>
              <a:gd name="adj1" fmla="val 16273"/>
              <a:gd name="adj2" fmla="val 19049"/>
              <a:gd name="adj3" fmla="val 17728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90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7" grpId="0"/>
      <p:bldP spid="4" grpId="0" animBg="1"/>
      <p:bldP spid="1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033677"/>
              </p:ext>
            </p:extLst>
          </p:nvPr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5" y="3464560"/>
          <a:ext cx="6828400" cy="2722880"/>
        </p:xfrm>
        <a:graphic>
          <a:graphicData uri="http://schemas.openxmlformats.org/drawingml/2006/table">
            <a:tbl>
              <a:tblPr/>
              <a:tblGrid>
                <a:gridCol w="975363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798804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79451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457597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07451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967958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Рез-т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7308304" y="2074961"/>
            <a:ext cx="1728192" cy="1116568"/>
          </a:xfrm>
          <a:prstGeom prst="wedgeRectCallout">
            <a:avLst>
              <a:gd name="adj1" fmla="val -69041"/>
              <a:gd name="adj2" fmla="val 9379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dirty="0"/>
              <a:t>Расчетная база ищется только в базе данных!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6842" y="1556721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8" name="Скругленная прямоугольная выноска 17"/>
          <p:cNvSpPr/>
          <p:nvPr/>
        </p:nvSpPr>
        <p:spPr>
          <a:xfrm>
            <a:off x="6660232" y="1283867"/>
            <a:ext cx="1944216" cy="672830"/>
          </a:xfrm>
          <a:prstGeom prst="wedgeRoundRectCallout">
            <a:avLst>
              <a:gd name="adj1" fmla="val -145624"/>
              <a:gd name="adj2" fmla="val 22183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Какая расчетная база для Доплаты?</a:t>
            </a:r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725956" y="2025277"/>
            <a:ext cx="2981948" cy="7045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dirty="0"/>
              <a:t>Надо записать набор записей в базу данных!!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4788024" y="3645024"/>
            <a:ext cx="648072" cy="36004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4114243" y="1209486"/>
            <a:ext cx="961813" cy="419314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трелка вниз 21"/>
          <p:cNvSpPr/>
          <p:nvPr/>
        </p:nvSpPr>
        <p:spPr>
          <a:xfrm>
            <a:off x="3940603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95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509250"/>
              </p:ext>
            </p:extLst>
          </p:nvPr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1798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775171"/>
              </p:ext>
            </p:extLst>
          </p:nvPr>
        </p:nvGraphicFramePr>
        <p:xfrm>
          <a:off x="119865" y="3464560"/>
          <a:ext cx="6828400" cy="2722880"/>
        </p:xfrm>
        <a:graphic>
          <a:graphicData uri="http://schemas.openxmlformats.org/drawingml/2006/table">
            <a:tbl>
              <a:tblPr/>
              <a:tblGrid>
                <a:gridCol w="975363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798804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79451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457597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07451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967958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Рез-т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ая прямоугольная выноска 17"/>
          <p:cNvSpPr/>
          <p:nvPr/>
        </p:nvSpPr>
        <p:spPr>
          <a:xfrm>
            <a:off x="6660232" y="1283867"/>
            <a:ext cx="2160240" cy="672830"/>
          </a:xfrm>
          <a:prstGeom prst="wedgeRoundRectCallout">
            <a:avLst>
              <a:gd name="adj1" fmla="val -136799"/>
              <a:gd name="adj2" fmla="val 24985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Теперь можем рассчитать доплату</a:t>
            </a:r>
          </a:p>
        </p:txBody>
      </p:sp>
      <p:sp>
        <p:nvSpPr>
          <p:cNvPr id="22" name="Стрелка вниз 21"/>
          <p:cNvSpPr/>
          <p:nvPr/>
        </p:nvSpPr>
        <p:spPr>
          <a:xfrm>
            <a:off x="3940603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99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1798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5" y="3464560"/>
          <a:ext cx="6828400" cy="2722880"/>
        </p:xfrm>
        <a:graphic>
          <a:graphicData uri="http://schemas.openxmlformats.org/drawingml/2006/table">
            <a:tbl>
              <a:tblPr/>
              <a:tblGrid>
                <a:gridCol w="975363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798804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79451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457597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07451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967958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Рез-т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7308304" y="2074961"/>
            <a:ext cx="1728192" cy="1116568"/>
          </a:xfrm>
          <a:prstGeom prst="wedgeRectCallout">
            <a:avLst>
              <a:gd name="adj1" fmla="val -69041"/>
              <a:gd name="adj2" fmla="val 9379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dirty="0"/>
              <a:t>Расчетная база ищется только в базе данных!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712" y="180714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8" name="Скругленная прямоугольная выноска 17"/>
          <p:cNvSpPr/>
          <p:nvPr/>
        </p:nvSpPr>
        <p:spPr>
          <a:xfrm>
            <a:off x="6660232" y="1283867"/>
            <a:ext cx="2160240" cy="672830"/>
          </a:xfrm>
          <a:prstGeom prst="wedgeRoundRectCallout">
            <a:avLst>
              <a:gd name="adj1" fmla="val -135926"/>
              <a:gd name="adj2" fmla="val 60012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Какая расчетная база для Надбавки?</a:t>
            </a:r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581940" y="2176477"/>
            <a:ext cx="2981948" cy="7045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dirty="0"/>
              <a:t>Надо записать набор записей в базу данных!!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4822562" y="4465960"/>
            <a:ext cx="648072" cy="36004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4084619" y="1540553"/>
            <a:ext cx="961813" cy="419314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трелка вниз 21"/>
          <p:cNvSpPr/>
          <p:nvPr/>
        </p:nvSpPr>
        <p:spPr>
          <a:xfrm>
            <a:off x="3940603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4822562" y="3684807"/>
            <a:ext cx="648072" cy="36004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низ 15"/>
          <p:cNvSpPr/>
          <p:nvPr/>
        </p:nvSpPr>
        <p:spPr>
          <a:xfrm>
            <a:off x="4336013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99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18" grpId="0" animBg="1"/>
      <p:bldP spid="19" grpId="0" animBg="1"/>
      <p:bldP spid="20" grpId="0" animBg="1"/>
      <p:bldP spid="21" grpId="0" animBg="1"/>
      <p:bldP spid="15" grpId="0" animBg="1"/>
      <p:bldP spid="1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620095"/>
              </p:ext>
            </p:extLst>
          </p:nvPr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1798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1619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694066"/>
              </p:ext>
            </p:extLst>
          </p:nvPr>
        </p:nvGraphicFramePr>
        <p:xfrm>
          <a:off x="119865" y="3464560"/>
          <a:ext cx="6828400" cy="2722880"/>
        </p:xfrm>
        <a:graphic>
          <a:graphicData uri="http://schemas.openxmlformats.org/drawingml/2006/table">
            <a:tbl>
              <a:tblPr/>
              <a:tblGrid>
                <a:gridCol w="975363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798804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79451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457597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07451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967958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Рез-т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1798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6481701" y="580617"/>
            <a:ext cx="2554795" cy="2185653"/>
          </a:xfrm>
          <a:prstGeom prst="wedgeRectCallout">
            <a:avLst>
              <a:gd name="adj1" fmla="val -125301"/>
              <a:gd name="adj2" fmla="val 2818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dirty="0"/>
              <a:t>А у Мальцева вообще доплату не рассчитать, так как оклад еще не рассчитан!! Получается – надо сначала упорядочить записи в наборе записей?</a:t>
            </a:r>
          </a:p>
        </p:txBody>
      </p:sp>
      <p:sp>
        <p:nvSpPr>
          <p:cNvPr id="22" name="Стрелка вниз 21"/>
          <p:cNvSpPr/>
          <p:nvPr/>
        </p:nvSpPr>
        <p:spPr>
          <a:xfrm>
            <a:off x="3940603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низ 15"/>
          <p:cNvSpPr/>
          <p:nvPr/>
        </p:nvSpPr>
        <p:spPr>
          <a:xfrm>
            <a:off x="4336013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низ 22"/>
          <p:cNvSpPr/>
          <p:nvPr/>
        </p:nvSpPr>
        <p:spPr>
          <a:xfrm>
            <a:off x="4711771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трелка вниз 23"/>
          <p:cNvSpPr/>
          <p:nvPr/>
        </p:nvSpPr>
        <p:spPr>
          <a:xfrm>
            <a:off x="6621715" y="2954058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 вниз 24"/>
          <p:cNvSpPr/>
          <p:nvPr/>
        </p:nvSpPr>
        <p:spPr>
          <a:xfrm>
            <a:off x="5106252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Стрелка вниз 25"/>
          <p:cNvSpPr/>
          <p:nvPr/>
        </p:nvSpPr>
        <p:spPr>
          <a:xfrm>
            <a:off x="5500733" y="2967295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Блок-схема: узел 1"/>
          <p:cNvSpPr/>
          <p:nvPr/>
        </p:nvSpPr>
        <p:spPr>
          <a:xfrm>
            <a:off x="5876491" y="3132757"/>
            <a:ext cx="144016" cy="144016"/>
          </a:xfrm>
          <a:prstGeom prst="flowChartConnec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Блок-схема: узел 26"/>
          <p:cNvSpPr/>
          <p:nvPr/>
        </p:nvSpPr>
        <p:spPr>
          <a:xfrm>
            <a:off x="6107088" y="3132757"/>
            <a:ext cx="144016" cy="144016"/>
          </a:xfrm>
          <a:prstGeom prst="flowChartConnec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Блок-схема: узел 27"/>
          <p:cNvSpPr/>
          <p:nvPr/>
        </p:nvSpPr>
        <p:spPr>
          <a:xfrm>
            <a:off x="6337685" y="3132757"/>
            <a:ext cx="144016" cy="144016"/>
          </a:xfrm>
          <a:prstGeom prst="flowChartConnec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Выноска 2 2"/>
          <p:cNvSpPr/>
          <p:nvPr/>
        </p:nvSpPr>
        <p:spPr>
          <a:xfrm>
            <a:off x="7092280" y="3573016"/>
            <a:ext cx="1944216" cy="2614424"/>
          </a:xfrm>
          <a:prstGeom prst="borderCallout2">
            <a:avLst>
              <a:gd name="adj1" fmla="val -1149"/>
              <a:gd name="adj2" fmla="val 49388"/>
              <a:gd name="adj3" fmla="val -29245"/>
              <a:gd name="adj4" fmla="val 42333"/>
              <a:gd name="adj5" fmla="val -16652"/>
              <a:gd name="adj6" fmla="val -6842"/>
            </a:avLst>
          </a:prstGeom>
          <a:ln>
            <a:tailEnd type="stealth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И вообще, сколько раз записывать набор записей в базу данных? Если записывать столько раз, сколько записей в наборе записей, то это будет работать крайне медленно!!</a:t>
            </a:r>
          </a:p>
        </p:txBody>
      </p:sp>
    </p:spTree>
    <p:extLst>
      <p:ext uri="{BB962C8B-B14F-4D97-AF65-F5344CB8AC3E}">
        <p14:creationId xmlns:p14="http://schemas.microsoft.com/office/powerpoint/2010/main" val="270625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22" grpId="0" animBg="1"/>
      <p:bldP spid="16" grpId="0" animBg="1"/>
      <p:bldP spid="23" grpId="0" animBg="1"/>
      <p:bldP spid="24" grpId="0" animBg="1"/>
      <p:bldP spid="25" grpId="0" animBg="1"/>
      <p:bldP spid="26" grpId="0" animBg="1"/>
      <p:bldP spid="2" grpId="0" animBg="1"/>
      <p:bldP spid="27" grpId="0" animBg="1"/>
      <p:bldP spid="28" grpId="0" animBg="1"/>
      <p:bldP spid="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1798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1619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5" y="3464560"/>
          <a:ext cx="6828400" cy="2722880"/>
        </p:xfrm>
        <a:graphic>
          <a:graphicData uri="http://schemas.openxmlformats.org/drawingml/2006/table">
            <a:tbl>
              <a:tblPr/>
              <a:tblGrid>
                <a:gridCol w="975363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798804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79451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457597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07451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967958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Рез-т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1798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трелка вниз 21"/>
          <p:cNvSpPr/>
          <p:nvPr/>
        </p:nvSpPr>
        <p:spPr>
          <a:xfrm>
            <a:off x="3940603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низ 15"/>
          <p:cNvSpPr/>
          <p:nvPr/>
        </p:nvSpPr>
        <p:spPr>
          <a:xfrm>
            <a:off x="4336013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Выноска 2 2"/>
          <p:cNvSpPr/>
          <p:nvPr/>
        </p:nvSpPr>
        <p:spPr>
          <a:xfrm>
            <a:off x="7092280" y="3573016"/>
            <a:ext cx="1944216" cy="2614424"/>
          </a:xfrm>
          <a:prstGeom prst="borderCallout2">
            <a:avLst>
              <a:gd name="adj1" fmla="val -1149"/>
              <a:gd name="adj2" fmla="val 49388"/>
              <a:gd name="adj3" fmla="val -18428"/>
              <a:gd name="adj4" fmla="val 21484"/>
              <a:gd name="adj5" fmla="val -17013"/>
              <a:gd name="adj6" fmla="val -120785"/>
            </a:avLst>
          </a:prstGeom>
          <a:ln>
            <a:tailEnd type="stealth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Несколько раз записать придется, но хотелось бы это количество минимизировать.</a:t>
            </a:r>
          </a:p>
        </p:txBody>
      </p:sp>
    </p:spTree>
    <p:extLst>
      <p:ext uri="{BB962C8B-B14F-4D97-AF65-F5344CB8AC3E}">
        <p14:creationId xmlns:p14="http://schemas.microsoft.com/office/powerpoint/2010/main" val="240130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 animBg="1"/>
      <p:bldP spid="16" grpId="0" animBg="1"/>
      <p:bldP spid="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864130"/>
              </p:ext>
            </p:extLst>
          </p:nvPr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5" y="3464560"/>
          <a:ext cx="6828400" cy="2722880"/>
        </p:xfrm>
        <a:graphic>
          <a:graphicData uri="http://schemas.openxmlformats.org/drawingml/2006/table">
            <a:tbl>
              <a:tblPr/>
              <a:tblGrid>
                <a:gridCol w="975363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798804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79451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42236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457597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07451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967958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Рез-т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1798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4" name="Выноска 2 3"/>
          <p:cNvSpPr/>
          <p:nvPr/>
        </p:nvSpPr>
        <p:spPr>
          <a:xfrm>
            <a:off x="6804249" y="908720"/>
            <a:ext cx="2088232" cy="2009779"/>
          </a:xfrm>
          <a:prstGeom prst="borderCallout2">
            <a:avLst>
              <a:gd name="adj1" fmla="val -481"/>
              <a:gd name="adj2" fmla="val 45838"/>
              <a:gd name="adj3" fmla="val -13614"/>
              <a:gd name="adj4" fmla="val -2221"/>
              <a:gd name="adj5" fmla="val 5557"/>
              <a:gd name="adj6" fmla="val -18227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Надо определить, какие записи для всех сотрудников можно рассчитать вместе первую очередь, какие в вторую и т д.</a:t>
            </a:r>
          </a:p>
        </p:txBody>
      </p:sp>
      <p:sp>
        <p:nvSpPr>
          <p:cNvPr id="20" name="Стрелка вниз 19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низ 20"/>
          <p:cNvSpPr/>
          <p:nvPr/>
        </p:nvSpPr>
        <p:spPr>
          <a:xfrm>
            <a:off x="3940603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Стрелка вниз 28"/>
          <p:cNvSpPr/>
          <p:nvPr/>
        </p:nvSpPr>
        <p:spPr>
          <a:xfrm>
            <a:off x="4336013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Выноска 2 29"/>
          <p:cNvSpPr/>
          <p:nvPr/>
        </p:nvSpPr>
        <p:spPr>
          <a:xfrm>
            <a:off x="7092280" y="3573016"/>
            <a:ext cx="1944216" cy="1800200"/>
          </a:xfrm>
          <a:prstGeom prst="borderCallout2">
            <a:avLst>
              <a:gd name="adj1" fmla="val -1149"/>
              <a:gd name="adj2" fmla="val 49388"/>
              <a:gd name="adj3" fmla="val -24712"/>
              <a:gd name="adj4" fmla="val 10817"/>
              <a:gd name="adj5" fmla="val -23820"/>
              <a:gd name="adj6" fmla="val -121755"/>
            </a:avLst>
          </a:prstGeom>
          <a:ln>
            <a:tailEnd type="stealth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После расчета очередной порции записей для всех сотрудников надо записывать набор записей.</a:t>
            </a:r>
          </a:p>
        </p:txBody>
      </p:sp>
    </p:spTree>
    <p:extLst>
      <p:ext uri="{BB962C8B-B14F-4D97-AF65-F5344CB8AC3E}">
        <p14:creationId xmlns:p14="http://schemas.microsoft.com/office/powerpoint/2010/main" val="133175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9" grpId="0" animBg="1"/>
      <p:bldP spid="3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645024"/>
            <a:ext cx="4743450" cy="2324100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85862" y="1268681"/>
            <a:ext cx="8784000" cy="2016304"/>
          </a:xfrm>
        </p:spPr>
        <p:txBody>
          <a:bodyPr/>
          <a:lstStyle/>
          <a:p>
            <a:r>
              <a:rPr lang="ru-RU" dirty="0"/>
              <a:t>Ведущие виды расчета – виды расчета, записи с которыми надо рассчитать раньше, чем записи содержащие текущий вид расчета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Ведущие виды расчета</a:t>
            </a:r>
          </a:p>
        </p:txBody>
      </p:sp>
    </p:spTree>
    <p:extLst>
      <p:ext uri="{BB962C8B-B14F-4D97-AF65-F5344CB8AC3E}">
        <p14:creationId xmlns:p14="http://schemas.microsoft.com/office/powerpoint/2010/main" val="22496683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756362"/>
              </p:ext>
            </p:extLst>
          </p:nvPr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02" y="3068960"/>
            <a:ext cx="4743450" cy="23241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932040" y="3068960"/>
            <a:ext cx="40324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 нашем примере, в наборе записей встречаются три вида расчета: Оклад, Доплата, Надбавка.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C00000"/>
                </a:solidFill>
              </a:rPr>
              <a:t>У Оклада в ТЧ «Ведущие ВР» нет Доплаты и Надбавки. Значит оклад можно рассчитать первым.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3">
                    <a:lumMod val="50000"/>
                  </a:schemeClr>
                </a:solidFill>
              </a:rPr>
              <a:t>У Доплаты в ТЧ «Ведущие ВР» указан Оклад. Значит Доплату надо рассчитывать после оклада.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6">
                    <a:lumMod val="75000"/>
                  </a:schemeClr>
                </a:solidFill>
              </a:rPr>
              <a:t>У Надбавки в ТЧ «Ведущие ВР» указан Оклад и Доплата. Значит Надбавку надо рассчитывать после Оклада и Доплаты.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07844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4" y="3464560"/>
          <a:ext cx="7285023" cy="25704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3" name="Стрелка вниз 2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82152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4" y="3464560"/>
          <a:ext cx="7285023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endParaRPr lang="ru-RU" sz="12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  <a:endParaRPr lang="ru-RU" sz="1000" dirty="0">
                        <a:solidFill>
                          <a:srgbClr val="00B05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ая выноска 1"/>
          <p:cNvSpPr/>
          <p:nvPr/>
        </p:nvSpPr>
        <p:spPr>
          <a:xfrm>
            <a:off x="6660232" y="1340768"/>
            <a:ext cx="2088232" cy="1152128"/>
          </a:xfrm>
          <a:prstGeom prst="wedgeRectCallout">
            <a:avLst>
              <a:gd name="adj1" fmla="val 8510"/>
              <a:gd name="adj2" fmla="val 10259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rgbClr val="FF0000"/>
                </a:solidFill>
              </a:rPr>
              <a:t>Механизмы регистра расчета рассчитывают ФПД</a:t>
            </a:r>
          </a:p>
        </p:txBody>
      </p:sp>
    </p:spTree>
    <p:extLst>
      <p:ext uri="{BB962C8B-B14F-4D97-AF65-F5344CB8AC3E}">
        <p14:creationId xmlns:p14="http://schemas.microsoft.com/office/powerpoint/2010/main" val="29869773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19.02.18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19864" y="3464560"/>
          <a:ext cx="7285023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7176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19.02.18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/>
          </p:nvPr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4000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119864" y="3464560"/>
          <a:ext cx="7285023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низ 13"/>
          <p:cNvSpPr/>
          <p:nvPr/>
        </p:nvSpPr>
        <p:spPr>
          <a:xfrm>
            <a:off x="3995936" y="2967335"/>
            <a:ext cx="288032" cy="47494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3488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19.02.18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/>
          </p:nvPr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4000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119864" y="3464560"/>
          <a:ext cx="7285023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4000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низ 13"/>
          <p:cNvSpPr/>
          <p:nvPr/>
        </p:nvSpPr>
        <p:spPr>
          <a:xfrm>
            <a:off x="3995936" y="2967335"/>
            <a:ext cx="288032" cy="474941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3954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19.02.18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/>
          </p:nvPr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1798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4000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119864" y="3464560"/>
          <a:ext cx="7285023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1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1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4000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низ 13"/>
          <p:cNvSpPr/>
          <p:nvPr/>
        </p:nvSpPr>
        <p:spPr>
          <a:xfrm>
            <a:off x="3995936" y="2967335"/>
            <a:ext cx="288032" cy="474941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 вниз 14"/>
          <p:cNvSpPr/>
          <p:nvPr/>
        </p:nvSpPr>
        <p:spPr>
          <a:xfrm>
            <a:off x="4427984" y="2967335"/>
            <a:ext cx="288032" cy="474941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7932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19.02.18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/>
          </p:nvPr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1798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4000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119864" y="3464560"/>
          <a:ext cx="7285023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1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1798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1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4000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54059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низ 13"/>
          <p:cNvSpPr/>
          <p:nvPr/>
        </p:nvSpPr>
        <p:spPr>
          <a:xfrm>
            <a:off x="3995936" y="2967335"/>
            <a:ext cx="288032" cy="474941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 вниз 14"/>
          <p:cNvSpPr/>
          <p:nvPr/>
        </p:nvSpPr>
        <p:spPr>
          <a:xfrm>
            <a:off x="4427984" y="2967335"/>
            <a:ext cx="288032" cy="474941"/>
          </a:xfrm>
          <a:prstGeom prst="down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102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19.02.18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/>
          </p:nvPr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1798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1619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4000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843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119864" y="3464560"/>
          <a:ext cx="7285023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1798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1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4000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1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563888" y="2969177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низ 13"/>
          <p:cNvSpPr/>
          <p:nvPr/>
        </p:nvSpPr>
        <p:spPr>
          <a:xfrm>
            <a:off x="3995936" y="2967335"/>
            <a:ext cx="288032" cy="474941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 вниз 14"/>
          <p:cNvSpPr/>
          <p:nvPr/>
        </p:nvSpPr>
        <p:spPr>
          <a:xfrm>
            <a:off x="4427984" y="2967335"/>
            <a:ext cx="288032" cy="474941"/>
          </a:xfrm>
          <a:prstGeom prst="down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низ 15"/>
          <p:cNvSpPr/>
          <p:nvPr/>
        </p:nvSpPr>
        <p:spPr>
          <a:xfrm>
            <a:off x="4840386" y="2967942"/>
            <a:ext cx="288032" cy="474941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4131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7596336" y="3429000"/>
          <a:ext cx="1508760" cy="279400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848509703"/>
                    </a:ext>
                  </a:extLst>
                </a:gridCol>
                <a:gridCol w="716890">
                  <a:extLst>
                    <a:ext uri="{9D8B030D-6E8A-4147-A177-3AD203B41FA5}">
                      <a16:colId xmlns:a16="http://schemas.microsoft.com/office/drawing/2014/main" val="53102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5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2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19.02.18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95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6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5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02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63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9198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504" y="580618"/>
            <a:ext cx="6244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Набор записей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300289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движений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272" y="2967335"/>
            <a:ext cx="212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Таблица ФПД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/>
          </p:nvPr>
        </p:nvGraphicFramePr>
        <p:xfrm>
          <a:off x="115902" y="957619"/>
          <a:ext cx="6244436" cy="1960880"/>
        </p:xfrm>
        <a:graphic>
          <a:graphicData uri="http://schemas.openxmlformats.org/drawingml/2006/table">
            <a:tbl>
              <a:tblPr/>
              <a:tblGrid>
                <a:gridCol w="791870">
                  <a:extLst>
                    <a:ext uri="{9D8B030D-6E8A-4147-A177-3AD203B41FA5}">
                      <a16:colId xmlns:a16="http://schemas.microsoft.com/office/drawing/2014/main" val="140242749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2626326685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231831355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8742134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138080374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542669809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1539539076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718813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93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5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1798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47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1619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72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07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4000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0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843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199606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119864" y="3464560"/>
          <a:ext cx="7285023" cy="2722880"/>
        </p:xfrm>
        <a:graphic>
          <a:graphicData uri="http://schemas.openxmlformats.org/drawingml/2006/table">
            <a:tbl>
              <a:tblPr/>
              <a:tblGrid>
                <a:gridCol w="1040587">
                  <a:extLst>
                    <a:ext uri="{9D8B030D-6E8A-4147-A177-3AD203B41FA5}">
                      <a16:colId xmlns:a16="http://schemas.microsoft.com/office/drawing/2014/main" val="22919925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911945627"/>
                    </a:ext>
                  </a:extLst>
                </a:gridCol>
                <a:gridCol w="852221">
                  <a:extLst>
                    <a:ext uri="{9D8B030D-6E8A-4147-A177-3AD203B41FA5}">
                      <a16:colId xmlns:a16="http://schemas.microsoft.com/office/drawing/2014/main" val="4186250237"/>
                    </a:ext>
                  </a:extLst>
                </a:gridCol>
                <a:gridCol w="847649">
                  <a:extLst>
                    <a:ext uri="{9D8B030D-6E8A-4147-A177-3AD203B41FA5}">
                      <a16:colId xmlns:a16="http://schemas.microsoft.com/office/drawing/2014/main" val="156629475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31959939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11719796"/>
                    </a:ext>
                  </a:extLst>
                </a:gridCol>
                <a:gridCol w="862279">
                  <a:extLst>
                    <a:ext uri="{9D8B030D-6E8A-4147-A177-3AD203B41FA5}">
                      <a16:colId xmlns:a16="http://schemas.microsoft.com/office/drawing/2014/main" val="1854633108"/>
                    </a:ext>
                  </a:extLst>
                </a:gridCol>
                <a:gridCol w="677570">
                  <a:extLst>
                    <a:ext uri="{9D8B030D-6E8A-4147-A177-3AD203B41FA5}">
                      <a16:colId xmlns:a16="http://schemas.microsoft.com/office/drawing/2014/main" val="2805216490"/>
                    </a:ext>
                  </a:extLst>
                </a:gridCol>
                <a:gridCol w="629107">
                  <a:extLst>
                    <a:ext uri="{9D8B030D-6E8A-4147-A177-3AD203B41FA5}">
                      <a16:colId xmlns:a16="http://schemas.microsoft.com/office/drawing/2014/main" val="293289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Регистратор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Работник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ВР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ПДН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ПДК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Результат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Размер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Verdana" panose="020B0604030504040204" pitchFamily="34" charset="0"/>
                        </a:rPr>
                        <a:t>График</a:t>
                      </a:r>
                      <a:endParaRPr lang="ru-RU" sz="10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57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4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7F7F7F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14.02.18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3330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50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 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 1</a:t>
                      </a:r>
                      <a:endParaRPr lang="ru-RU" sz="1000">
                        <a:solidFill>
                          <a:srgbClr val="2E75B5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БЛ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20.02.18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23.02.18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2E75B5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91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3990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1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1798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2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Иванцева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1619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5-ка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10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73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Оклад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15.02.18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4000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8000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B050"/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Нач. ЗП </a:t>
                      </a: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 2</a:t>
                      </a:r>
                      <a:endParaRPr lang="ru-RU" sz="10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Мальцев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01.02.18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28.02.18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843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6-ка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305388"/>
                  </a:ext>
                </a:extLst>
              </a:tr>
            </a:tbl>
          </a:graphicData>
        </a:graphic>
      </p:graphicFrame>
      <p:sp>
        <p:nvSpPr>
          <p:cNvPr id="14" name="Стрелка вниз 13"/>
          <p:cNvSpPr/>
          <p:nvPr/>
        </p:nvSpPr>
        <p:spPr>
          <a:xfrm>
            <a:off x="3573711" y="2967335"/>
            <a:ext cx="288032" cy="47494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 вниз 14"/>
          <p:cNvSpPr/>
          <p:nvPr/>
        </p:nvSpPr>
        <p:spPr>
          <a:xfrm>
            <a:off x="3995936" y="2967335"/>
            <a:ext cx="288032" cy="474941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низ 15"/>
          <p:cNvSpPr/>
          <p:nvPr/>
        </p:nvSpPr>
        <p:spPr>
          <a:xfrm>
            <a:off x="4427984" y="2967335"/>
            <a:ext cx="288032" cy="474941"/>
          </a:xfrm>
          <a:prstGeom prst="down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 вниз 16"/>
          <p:cNvSpPr/>
          <p:nvPr/>
        </p:nvSpPr>
        <p:spPr>
          <a:xfrm>
            <a:off x="4840386" y="2967942"/>
            <a:ext cx="288032" cy="474941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078729"/>
      </p:ext>
    </p:extLst>
  </p:cSld>
  <p:clrMapOvr>
    <a:masterClrMapping/>
  </p:clrMapOvr>
</p:sld>
</file>

<file path=ppt/theme/theme1.xml><?xml version="1.0" encoding="utf-8"?>
<a:theme xmlns:a="http://schemas.openxmlformats.org/drawingml/2006/main" name="СофтБаланс_РасчетныеЗадачи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РасчетныеЗадачи" id="{D7705B6D-EFB0-49BE-8D35-BAC51EF4E54D}" vid="{0E3E934E-86D3-42B5-AA94-C445C4FE358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</Template>
  <TotalTime>2645</TotalTime>
  <Words>8652</Words>
  <Application>Microsoft Office PowerPoint</Application>
  <PresentationFormat>Экран (4:3)</PresentationFormat>
  <Paragraphs>6346</Paragraphs>
  <Slides>71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71</vt:i4>
      </vt:variant>
    </vt:vector>
  </HeadingPairs>
  <TitlesOfParts>
    <vt:vector size="81" baseType="lpstr">
      <vt:lpstr>Arial</vt:lpstr>
      <vt:lpstr>Arial Black</vt:lpstr>
      <vt:lpstr>Calibri</vt:lpstr>
      <vt:lpstr>Courier New</vt:lpstr>
      <vt:lpstr>Segoe UI Symbol</vt:lpstr>
      <vt:lpstr>Tahoma</vt:lpstr>
      <vt:lpstr>Times New Roman</vt:lpstr>
      <vt:lpstr>Verdana</vt:lpstr>
      <vt:lpstr>Wingdings</vt:lpstr>
      <vt:lpstr>СофтБаланс_РасчетныеЗадачи</vt:lpstr>
      <vt:lpstr>Регистры расчета</vt:lpstr>
      <vt:lpstr>Планируемые начисления и удержания</vt:lpstr>
      <vt:lpstr>Планируемые начисления и удержания</vt:lpstr>
      <vt:lpstr>Планируемые начисления и удержания</vt:lpstr>
      <vt:lpstr>Планируемые начисления и удержания</vt:lpstr>
      <vt:lpstr>Планируемые начисления и удержания</vt:lpstr>
      <vt:lpstr>План видов расчета</vt:lpstr>
      <vt:lpstr>Основные настройки на закладке «Расчет»</vt:lpstr>
      <vt:lpstr>Служебная ТЧ «Ведущие виды расчета»</vt:lpstr>
      <vt:lpstr>Служебная ТЧ «Ведущие виды расчета»</vt:lpstr>
      <vt:lpstr>Служебная ТЧ «Вытесняющие виды расчета»</vt:lpstr>
      <vt:lpstr>Служебная ТЧ «Вытесняющие виды расчета»</vt:lpstr>
      <vt:lpstr>Служебная ТЧ «Базовые виды расчета»</vt:lpstr>
      <vt:lpstr>Служебная ТЧ «Базовые виды расчета»</vt:lpstr>
      <vt:lpstr>Служебная ТЧ «Базовые виды расчета»</vt:lpstr>
      <vt:lpstr>Зависимость базы по  периоду действия VS периоду регистрации</vt:lpstr>
      <vt:lpstr>Служебные табличные части</vt:lpstr>
      <vt:lpstr>Служебный реквизит «Период действия является базовым периодом»</vt:lpstr>
      <vt:lpstr>Регистр расчета</vt:lpstr>
      <vt:lpstr>Поля любого регистра расчета</vt:lpstr>
      <vt:lpstr>Поля регистра расчета с флагом «Период действия»</vt:lpstr>
      <vt:lpstr>Пример заполнения полей – периодов действия</vt:lpstr>
      <vt:lpstr>Пример заполнения полей – периодов действия</vt:lpstr>
      <vt:lpstr>Пример заполнения полей – периодов действия</vt:lpstr>
      <vt:lpstr>Пример заполнения полей – периодов действия</vt:lpstr>
      <vt:lpstr>Поля регистра расчета с флагом «Базовый период»</vt:lpstr>
      <vt:lpstr>Логика работы «других» регистров (обработка информации записанной в ресурсы)</vt:lpstr>
      <vt:lpstr>Логика работы регистра расчета (обработка информации записанной в ресурсы)</vt:lpstr>
      <vt:lpstr>Расчет ресурсов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Ведущие виды расчета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Yakudza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Регистры расчета</dc:title>
  <dc:creator>Sizov</dc:creator>
  <cp:lastModifiedBy>eugeniy sizov</cp:lastModifiedBy>
  <cp:revision>106</cp:revision>
  <dcterms:created xsi:type="dcterms:W3CDTF">2014-06-28T09:27:13Z</dcterms:created>
  <dcterms:modified xsi:type="dcterms:W3CDTF">2018-12-19T17:38:53Z</dcterms:modified>
</cp:coreProperties>
</file>