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313" r:id="rId2"/>
    <p:sldId id="314" r:id="rId3"/>
    <p:sldId id="317" r:id="rId4"/>
    <p:sldId id="315" r:id="rId5"/>
    <p:sldId id="316" r:id="rId6"/>
    <p:sldId id="340" r:id="rId7"/>
    <p:sldId id="341" r:id="rId8"/>
    <p:sldId id="330" r:id="rId9"/>
    <p:sldId id="331" r:id="rId10"/>
    <p:sldId id="332" r:id="rId11"/>
    <p:sldId id="333" r:id="rId12"/>
    <p:sldId id="342" r:id="rId13"/>
    <p:sldId id="345" r:id="rId14"/>
    <p:sldId id="344" r:id="rId15"/>
    <p:sldId id="343" r:id="rId16"/>
    <p:sldId id="347" r:id="rId17"/>
    <p:sldId id="346" r:id="rId18"/>
    <p:sldId id="452" r:id="rId19"/>
    <p:sldId id="447" r:id="rId20"/>
    <p:sldId id="446" r:id="rId21"/>
    <p:sldId id="450" r:id="rId22"/>
    <p:sldId id="451" r:id="rId23"/>
    <p:sldId id="448" r:id="rId24"/>
    <p:sldId id="348" r:id="rId25"/>
    <p:sldId id="364" r:id="rId26"/>
    <p:sldId id="444" r:id="rId27"/>
    <p:sldId id="440" r:id="rId28"/>
    <p:sldId id="441" r:id="rId29"/>
    <p:sldId id="442" r:id="rId30"/>
    <p:sldId id="445" r:id="rId31"/>
    <p:sldId id="360" r:id="rId32"/>
    <p:sldId id="359" r:id="rId33"/>
    <p:sldId id="361" r:id="rId34"/>
    <p:sldId id="362" r:id="rId35"/>
    <p:sldId id="350" r:id="rId36"/>
    <p:sldId id="363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654196CE-9824-4647-92C8-E2CB645CBBBD}"/>
    <pc:docChg chg="addSld delSld modSld sldOrd">
      <pc:chgData name="eugeniy sizov" userId="f166da1dfb7bc990" providerId="LiveId" clId="{654196CE-9824-4647-92C8-E2CB645CBBBD}" dt="2020-03-12T16:17:24.789" v="5" actId="47"/>
      <pc:docMkLst>
        <pc:docMk/>
      </pc:docMkLst>
      <pc:sldChg chg="add del">
        <pc:chgData name="eugeniy sizov" userId="f166da1dfb7bc990" providerId="LiveId" clId="{654196CE-9824-4647-92C8-E2CB645CBBBD}" dt="2020-03-12T16:16:54.759" v="1"/>
        <pc:sldMkLst>
          <pc:docMk/>
          <pc:sldMk cId="2983843206" sldId="256"/>
        </pc:sldMkLst>
      </pc:sldChg>
      <pc:sldChg chg="del ord">
        <pc:chgData name="eugeniy sizov" userId="f166da1dfb7bc990" providerId="LiveId" clId="{654196CE-9824-4647-92C8-E2CB645CBBBD}" dt="2020-03-12T16:17:24.789" v="5" actId="47"/>
        <pc:sldMkLst>
          <pc:docMk/>
          <pc:sldMk cId="1354291812" sldId="349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1498938616" sldId="364"/>
        </pc:sldMkLst>
      </pc:sldChg>
      <pc:sldChg chg="add">
        <pc:chgData name="eugeniy sizov" userId="f166da1dfb7bc990" providerId="LiveId" clId="{654196CE-9824-4647-92C8-E2CB645CBBBD}" dt="2020-03-12T16:17:11.731" v="2"/>
        <pc:sldMkLst>
          <pc:docMk/>
          <pc:sldMk cId="3399926705" sldId="364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3505509770" sldId="365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3741406341" sldId="404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837154384" sldId="405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274669768" sldId="406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734666453" sldId="407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636732030" sldId="408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1510079540" sldId="416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337446098" sldId="417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3038379840" sldId="432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1599553190" sldId="433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4238922798" sldId="434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70490490" sldId="435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1367140859" sldId="437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1872555847" sldId="438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638147695" sldId="439"/>
        </pc:sldMkLst>
      </pc:sldChg>
      <pc:sldChg chg="add">
        <pc:chgData name="eugeniy sizov" userId="f166da1dfb7bc990" providerId="LiveId" clId="{654196CE-9824-4647-92C8-E2CB645CBBBD}" dt="2020-03-12T16:17:11.731" v="2"/>
        <pc:sldMkLst>
          <pc:docMk/>
          <pc:sldMk cId="920155547" sldId="440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138207179" sldId="440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3399926705" sldId="441"/>
        </pc:sldMkLst>
      </pc:sldChg>
      <pc:sldChg chg="add">
        <pc:chgData name="eugeniy sizov" userId="f166da1dfb7bc990" providerId="LiveId" clId="{654196CE-9824-4647-92C8-E2CB645CBBBD}" dt="2020-03-12T16:17:11.731" v="2"/>
        <pc:sldMkLst>
          <pc:docMk/>
          <pc:sldMk cId="3762025869" sldId="441"/>
        </pc:sldMkLst>
      </pc:sldChg>
      <pc:sldChg chg="add del">
        <pc:chgData name="eugeniy sizov" userId="f166da1dfb7bc990" providerId="LiveId" clId="{654196CE-9824-4647-92C8-E2CB645CBBBD}" dt="2020-03-12T16:17:11.731" v="2"/>
        <pc:sldMkLst>
          <pc:docMk/>
          <pc:sldMk cId="1918750642" sldId="442"/>
        </pc:sldMkLst>
      </pc:sldChg>
      <pc:sldChg chg="add del">
        <pc:chgData name="eugeniy sizov" userId="f166da1dfb7bc990" providerId="LiveId" clId="{654196CE-9824-4647-92C8-E2CB645CBBBD}" dt="2020-03-12T16:17:11.731" v="2"/>
        <pc:sldMkLst>
          <pc:docMk/>
          <pc:sldMk cId="2262429380" sldId="444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920155547" sldId="445"/>
        </pc:sldMkLst>
      </pc:sldChg>
      <pc:sldChg chg="add">
        <pc:chgData name="eugeniy sizov" userId="f166da1dfb7bc990" providerId="LiveId" clId="{654196CE-9824-4647-92C8-E2CB645CBBBD}" dt="2020-03-12T16:17:11.731" v="2"/>
        <pc:sldMkLst>
          <pc:docMk/>
          <pc:sldMk cId="2505002058" sldId="445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3762025869" sldId="446"/>
        </pc:sldMkLst>
      </pc:sldChg>
      <pc:sldChg chg="add del">
        <pc:chgData name="eugeniy sizov" userId="f166da1dfb7bc990" providerId="LiveId" clId="{654196CE-9824-4647-92C8-E2CB645CBBBD}" dt="2020-03-12T16:16:54.759" v="1"/>
        <pc:sldMkLst>
          <pc:docMk/>
          <pc:sldMk cId="2505002058" sldId="44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81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491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5492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069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22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48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84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7028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/33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057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Количественный учет</a:t>
            </a:r>
          </a:p>
          <a:p>
            <a:r>
              <a:rPr lang="ru-RU" dirty="0"/>
              <a:t>Опциональная аналитика</a:t>
            </a:r>
          </a:p>
          <a:p>
            <a:r>
              <a:rPr lang="ru-RU" dirty="0"/>
              <a:t>Традиционная технология обусловленного проведения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Занятие 14</a:t>
            </a:r>
          </a:p>
        </p:txBody>
      </p:sp>
    </p:spTree>
    <p:extLst>
      <p:ext uri="{BB962C8B-B14F-4D97-AF65-F5344CB8AC3E}">
        <p14:creationId xmlns:p14="http://schemas.microsoft.com/office/powerpoint/2010/main" val="203895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Количественный учет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Небалансовый вид учета</a:t>
            </a:r>
          </a:p>
        </p:txBody>
      </p:sp>
    </p:spTree>
    <p:extLst>
      <p:ext uri="{BB962C8B-B14F-4D97-AF65-F5344CB8AC3E}">
        <p14:creationId xmlns:p14="http://schemas.microsoft.com/office/powerpoint/2010/main" val="126322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Количественный учет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171373"/>
              </p:ext>
            </p:extLst>
          </p:nvPr>
        </p:nvGraphicFramePr>
        <p:xfrm>
          <a:off x="429660" y="1397000"/>
          <a:ext cx="80753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118">
                  <a:extLst>
                    <a:ext uri="{9D8B030D-6E8A-4147-A177-3AD203B41FA5}">
                      <a16:colId xmlns:a16="http://schemas.microsoft.com/office/drawing/2014/main" val="394991951"/>
                    </a:ext>
                  </a:extLst>
                </a:gridCol>
                <a:gridCol w="1192026">
                  <a:extLst>
                    <a:ext uri="{9D8B030D-6E8A-4147-A177-3AD203B41FA5}">
                      <a16:colId xmlns:a16="http://schemas.microsoft.com/office/drawing/2014/main" val="824950313"/>
                    </a:ext>
                  </a:extLst>
                </a:gridCol>
                <a:gridCol w="1958798">
                  <a:extLst>
                    <a:ext uri="{9D8B030D-6E8A-4147-A177-3AD203B41FA5}">
                      <a16:colId xmlns:a16="http://schemas.microsoft.com/office/drawing/2014/main" val="2130443275"/>
                    </a:ext>
                  </a:extLst>
                </a:gridCol>
                <a:gridCol w="1271346">
                  <a:extLst>
                    <a:ext uri="{9D8B030D-6E8A-4147-A177-3AD203B41FA5}">
                      <a16:colId xmlns:a16="http://schemas.microsoft.com/office/drawing/2014/main" val="278535266"/>
                    </a:ext>
                  </a:extLst>
                </a:gridCol>
                <a:gridCol w="1615072">
                  <a:extLst>
                    <a:ext uri="{9D8B030D-6E8A-4147-A177-3AD203B41FA5}">
                      <a16:colId xmlns:a16="http://schemas.microsoft.com/office/drawing/2014/main" val="119052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</a:t>
                      </a:r>
                      <a:r>
                        <a:rPr lang="ru-RU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1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&lt;50 Касса&gt;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50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 учета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29" y="1120775"/>
            <a:ext cx="4634219" cy="4900751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3800500" y="3701988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12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в регистре бухгалтерии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1" y="1233071"/>
            <a:ext cx="4724400" cy="45339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11397" y="2929631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31" y="3010408"/>
            <a:ext cx="3952875" cy="19335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1" y="4943983"/>
            <a:ext cx="3943350" cy="1295400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4973831" y="4961917"/>
            <a:ext cx="3815062" cy="44458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431316" y="1233071"/>
            <a:ext cx="3357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Количество по счету будет заполняться, если у счета включен признак учета «Количественный»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7238082" y="2710399"/>
            <a:ext cx="77118" cy="2473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24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7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7" grpId="0" animBg="1"/>
      <p:bldP spid="7" grpId="1" animBg="1"/>
      <p:bldP spid="7" grpId="2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56000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 до изменения.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632114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Регистратор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618735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 строки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272777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201839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126925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632114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1618735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272777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3201839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4126925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628651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1615272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2269314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3198376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126925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628650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1615271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269313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3198375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4126925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628650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1615271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2269313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3198375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4126925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89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56000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 после изменений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07422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Регистратор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978472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 строки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369868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776371"/>
              </p:ext>
            </p:extLst>
          </p:nvPr>
        </p:nvGraphicFramePr>
        <p:xfrm>
          <a:off x="2298936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507422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978472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1369868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022532"/>
              </p:ext>
            </p:extLst>
          </p:nvPr>
        </p:nvGraphicFramePr>
        <p:xfrm>
          <a:off x="2298936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503959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975009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1366405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14906"/>
              </p:ext>
            </p:extLst>
          </p:nvPr>
        </p:nvGraphicFramePr>
        <p:xfrm>
          <a:off x="2295473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503958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975008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1366404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364453"/>
              </p:ext>
            </p:extLst>
          </p:nvPr>
        </p:nvGraphicFramePr>
        <p:xfrm>
          <a:off x="2295472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503958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975008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1366404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50257"/>
              </p:ext>
            </p:extLst>
          </p:nvPr>
        </p:nvGraphicFramePr>
        <p:xfrm>
          <a:off x="2295472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60980"/>
              </p:ext>
            </p:extLst>
          </p:nvPr>
        </p:nvGraphicFramePr>
        <p:xfrm>
          <a:off x="3212917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34956"/>
              </p:ext>
            </p:extLst>
          </p:nvPr>
        </p:nvGraphicFramePr>
        <p:xfrm>
          <a:off x="3212917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620870"/>
              </p:ext>
            </p:extLst>
          </p:nvPr>
        </p:nvGraphicFramePr>
        <p:xfrm>
          <a:off x="3212917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07165"/>
              </p:ext>
            </p:extLst>
          </p:nvPr>
        </p:nvGraphicFramePr>
        <p:xfrm>
          <a:off x="3212917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45156"/>
              </p:ext>
            </p:extLst>
          </p:nvPr>
        </p:nvGraphicFramePr>
        <p:xfrm>
          <a:off x="3212917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667447"/>
              </p:ext>
            </p:extLst>
          </p:nvPr>
        </p:nvGraphicFramePr>
        <p:xfrm>
          <a:off x="6599523" y="1954643"/>
          <a:ext cx="9365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Кол-во </a:t>
                      </a:r>
                      <a:r>
                        <a:rPr lang="ru-RU" sz="1200" b="1" baseline="0" dirty="0"/>
                        <a:t>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094566"/>
              </p:ext>
            </p:extLst>
          </p:nvPr>
        </p:nvGraphicFramePr>
        <p:xfrm>
          <a:off x="6599525" y="2426976"/>
          <a:ext cx="936522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790895"/>
              </p:ext>
            </p:extLst>
          </p:nvPr>
        </p:nvGraphicFramePr>
        <p:xfrm>
          <a:off x="7521210" y="1954643"/>
          <a:ext cx="936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Кол-во </a:t>
                      </a:r>
                      <a:r>
                        <a:rPr lang="ru-RU" sz="1200" b="1" baseline="0" dirty="0"/>
                        <a:t>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36961"/>
              </p:ext>
            </p:extLst>
          </p:nvPr>
        </p:nvGraphicFramePr>
        <p:xfrm>
          <a:off x="7521212" y="2426976"/>
          <a:ext cx="936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0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8258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 до изменения.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91161"/>
              </p:ext>
            </p:extLst>
          </p:nvPr>
        </p:nvGraphicFramePr>
        <p:xfrm>
          <a:off x="3983221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717596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983222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3983223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717596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2717596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2717596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/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3983222" y="3860921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/>
        </p:nvGraphicFramePr>
        <p:xfrm>
          <a:off x="3987342" y="4408067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1000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/>
        </p:nvGraphicFramePr>
        <p:xfrm>
          <a:off x="2721715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/>
        </p:nvGraphicFramePr>
        <p:xfrm>
          <a:off x="2721715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/>
        </p:nvGraphicFramePr>
        <p:xfrm>
          <a:off x="3987342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35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8258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 после изменения.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83206"/>
              </p:ext>
            </p:extLst>
          </p:nvPr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137229"/>
              </p:ext>
            </p:extLst>
          </p:nvPr>
        </p:nvGraphicFramePr>
        <p:xfrm>
          <a:off x="2080988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74129"/>
              </p:ext>
            </p:extLst>
          </p:nvPr>
        </p:nvGraphicFramePr>
        <p:xfrm>
          <a:off x="2080988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64420"/>
              </p:ext>
            </p:extLst>
          </p:nvPr>
        </p:nvGraphicFramePr>
        <p:xfrm>
          <a:off x="2080988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/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324949"/>
              </p:ext>
            </p:extLst>
          </p:nvPr>
        </p:nvGraphicFramePr>
        <p:xfrm>
          <a:off x="2085107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Север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753030"/>
              </p:ext>
            </p:extLst>
          </p:nvPr>
        </p:nvGraphicFramePr>
        <p:xfrm>
          <a:off x="2085107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36841"/>
              </p:ext>
            </p:extLst>
          </p:nvPr>
        </p:nvGraphicFramePr>
        <p:xfrm>
          <a:off x="2080988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51078"/>
              </p:ext>
            </p:extLst>
          </p:nvPr>
        </p:nvGraphicFramePr>
        <p:xfrm>
          <a:off x="2722402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Кт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29146"/>
              </p:ext>
            </p:extLst>
          </p:nvPr>
        </p:nvGraphicFramePr>
        <p:xfrm>
          <a:off x="2722404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88001"/>
              </p:ext>
            </p:extLst>
          </p:nvPr>
        </p:nvGraphicFramePr>
        <p:xfrm>
          <a:off x="2722403" y="3860921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17158"/>
              </p:ext>
            </p:extLst>
          </p:nvPr>
        </p:nvGraphicFramePr>
        <p:xfrm>
          <a:off x="2726523" y="4408067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1000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22285"/>
              </p:ext>
            </p:extLst>
          </p:nvPr>
        </p:nvGraphicFramePr>
        <p:xfrm>
          <a:off x="2726523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70462"/>
              </p:ext>
            </p:extLst>
          </p:nvPr>
        </p:nvGraphicFramePr>
        <p:xfrm>
          <a:off x="2722403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979394"/>
              </p:ext>
            </p:extLst>
          </p:nvPr>
        </p:nvGraphicFramePr>
        <p:xfrm>
          <a:off x="4426892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Кол-во остаток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Обороты количество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83159"/>
              </p:ext>
            </p:extLst>
          </p:nvPr>
        </p:nvGraphicFramePr>
        <p:xfrm>
          <a:off x="4426894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673333"/>
              </p:ext>
            </p:extLst>
          </p:nvPr>
        </p:nvGraphicFramePr>
        <p:xfrm>
          <a:off x="4426893" y="3860921"/>
          <a:ext cx="4392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67124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709351"/>
              </p:ext>
            </p:extLst>
          </p:nvPr>
        </p:nvGraphicFramePr>
        <p:xfrm>
          <a:off x="4431013" y="4408067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08274"/>
              </p:ext>
            </p:extLst>
          </p:nvPr>
        </p:nvGraphicFramePr>
        <p:xfrm>
          <a:off x="4431013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63385"/>
              </p:ext>
            </p:extLst>
          </p:nvPr>
        </p:nvGraphicFramePr>
        <p:xfrm>
          <a:off x="4426893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25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 до изменения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оборот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01.04.2015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 (материалы)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181804" y="2103582"/>
          <a:ext cx="1260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181804" y="2598882"/>
          <a:ext cx="1260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80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64300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 после изменения.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оборот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01.04.2015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 (материалы)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190675" y="2103579"/>
          <a:ext cx="1260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190675" y="2598882"/>
          <a:ext cx="1260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141880"/>
              </p:ext>
            </p:extLst>
          </p:nvPr>
        </p:nvGraphicFramePr>
        <p:xfrm>
          <a:off x="6161942" y="2103579"/>
          <a:ext cx="1260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Кол-во оборот</a:t>
                      </a:r>
                      <a:r>
                        <a:rPr lang="ru-RU" sz="1200" b="1" baseline="0" dirty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99301"/>
              </p:ext>
            </p:extLst>
          </p:nvPr>
        </p:nvGraphicFramePr>
        <p:xfrm>
          <a:off x="6161944" y="2598882"/>
          <a:ext cx="1260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348816"/>
              </p:ext>
            </p:extLst>
          </p:nvPr>
        </p:nvGraphicFramePr>
        <p:xfrm>
          <a:off x="7426169" y="2103579"/>
          <a:ext cx="1260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Кол-во оборот</a:t>
                      </a:r>
                      <a:r>
                        <a:rPr lang="ru-RU" sz="1200" b="1" baseline="0" dirty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82159"/>
              </p:ext>
            </p:extLst>
          </p:nvPr>
        </p:nvGraphicFramePr>
        <p:xfrm>
          <a:off x="7426171" y="2598882"/>
          <a:ext cx="1260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23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Опциональная аналитика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Учёт по складам</a:t>
            </a:r>
          </a:p>
        </p:txBody>
      </p:sp>
    </p:spTree>
    <p:extLst>
      <p:ext uri="{BB962C8B-B14F-4D97-AF65-F5344CB8AC3E}">
        <p14:creationId xmlns:p14="http://schemas.microsoft.com/office/powerpoint/2010/main" val="27012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/>
          <a:lstStyle/>
          <a:p>
            <a:r>
              <a:rPr lang="ru-RU" dirty="0"/>
              <a:t>Подключение субконто к счёту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48735" y="1476259"/>
          <a:ext cx="8523384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91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83046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4594033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субконто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56017"/>
              </p:ext>
            </p:extLst>
          </p:nvPr>
        </p:nvGraphicFramePr>
        <p:xfrm>
          <a:off x="4465503" y="1885844"/>
          <a:ext cx="4359007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Номенклатура&gt;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66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/>
          <a:lstStyle/>
          <a:p>
            <a:r>
              <a:rPr lang="ru-RU" dirty="0"/>
              <a:t>Подключение субконто к счёту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54150"/>
              </p:ext>
            </p:extLst>
          </p:nvPr>
        </p:nvGraphicFramePr>
        <p:xfrm>
          <a:off x="448735" y="1476259"/>
          <a:ext cx="8523384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91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83046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4594033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субконто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315642"/>
              </p:ext>
            </p:extLst>
          </p:nvPr>
        </p:nvGraphicFramePr>
        <p:xfrm>
          <a:off x="4465503" y="1885844"/>
          <a:ext cx="4359007" cy="1259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Номенклатура&gt;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6528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4305670" y="2670947"/>
            <a:ext cx="4666449" cy="55164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50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83470"/>
              </p:ext>
            </p:extLst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01.03.201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01.11.3999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одно субконто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092171"/>
              </p:ext>
            </p:extLst>
          </p:nvPr>
        </p:nvGraphicFramePr>
        <p:xfrm>
          <a:off x="188116" y="3639672"/>
          <a:ext cx="8784001" cy="75184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14891986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679151112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421561292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425630808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22144808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398740633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513212370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80762400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1744979145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392599309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8507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27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73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/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01.03.201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01.11.3999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К счёту 41.1 товары опт добавили субконто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88116" y="3639672"/>
          <a:ext cx="8784001" cy="75184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14891986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679151112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421561292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425630808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22144808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398740633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513212370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80762400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1744979145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392599309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8507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27174"/>
                  </a:ext>
                </a:extLst>
              </a:tr>
            </a:tbl>
          </a:graphicData>
        </a:graphic>
      </p:graphicFrame>
      <p:sp>
        <p:nvSpPr>
          <p:cNvPr id="4" name="Стрелка вниз 3"/>
          <p:cNvSpPr/>
          <p:nvPr/>
        </p:nvSpPr>
        <p:spPr>
          <a:xfrm>
            <a:off x="2523744" y="3210920"/>
            <a:ext cx="868680" cy="804672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90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173685"/>
              </p:ext>
            </p:extLst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666505"/>
              </p:ext>
            </p:extLst>
          </p:nvPr>
        </p:nvGraphicFramePr>
        <p:xfrm>
          <a:off x="188117" y="3613256"/>
          <a:ext cx="8784001" cy="188976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90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04099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два субконто</a:t>
            </a:r>
          </a:p>
        </p:txBody>
      </p:sp>
    </p:spTree>
    <p:extLst>
      <p:ext uri="{BB962C8B-B14F-4D97-AF65-F5344CB8AC3E}">
        <p14:creationId xmlns:p14="http://schemas.microsoft.com/office/powerpoint/2010/main" val="43010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188117" y="3613256"/>
          <a:ext cx="8784001" cy="225552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90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04099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два субконто</a:t>
            </a:r>
          </a:p>
        </p:txBody>
      </p:sp>
      <p:sp>
        <p:nvSpPr>
          <p:cNvPr id="2" name="Выноска 2 1"/>
          <p:cNvSpPr/>
          <p:nvPr/>
        </p:nvSpPr>
        <p:spPr>
          <a:xfrm>
            <a:off x="6649375" y="2053779"/>
            <a:ext cx="2219418" cy="14717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1136"/>
              <a:gd name="adj6" fmla="val -42157"/>
            </a:avLst>
          </a:prstGeom>
          <a:solidFill>
            <a:schemeClr val="accent1">
              <a:alpha val="77000"/>
            </a:schemeClr>
          </a:solidFill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Если остатки и обороты были, то склады надо заполнить </a:t>
            </a:r>
            <a:r>
              <a:rPr lang="ru-RU" dirty="0" err="1" smtClean="0"/>
              <a:t>программно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471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/>
          <a:lstStyle/>
          <a:p>
            <a:r>
              <a:rPr lang="ru-RU" dirty="0"/>
              <a:t>Отключение субконто от счёта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48735" y="1476259"/>
          <a:ext cx="8523384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91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83046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4594033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субконто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465503" y="1885844"/>
          <a:ext cx="4359007" cy="1259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Номенклатура&gt;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6528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4305670" y="2670947"/>
            <a:ext cx="4666449" cy="55164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92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/>
          <a:lstStyle/>
          <a:p>
            <a:r>
              <a:rPr lang="ru-RU" dirty="0" smtClean="0"/>
              <a:t>Отключение </a:t>
            </a:r>
            <a:r>
              <a:rPr lang="ru-RU" dirty="0"/>
              <a:t>субконто </a:t>
            </a:r>
            <a:r>
              <a:rPr lang="ru-RU" dirty="0" smtClean="0"/>
              <a:t>от счёта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48735" y="1476259"/>
          <a:ext cx="8523384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91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83046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4594033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субконто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465503" y="1885844"/>
          <a:ext cx="4359007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Номенклатура&gt;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98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188117" y="3613256"/>
          <a:ext cx="8784001" cy="225552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90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04099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два субконто</a:t>
            </a:r>
          </a:p>
        </p:txBody>
      </p:sp>
    </p:spTree>
    <p:extLst>
      <p:ext uri="{BB962C8B-B14F-4D97-AF65-F5344CB8AC3E}">
        <p14:creationId xmlns:p14="http://schemas.microsoft.com/office/powerpoint/2010/main" val="253540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245137"/>
              </p:ext>
            </p:extLst>
          </p:nvPr>
        </p:nvGraphicFramePr>
        <p:xfrm>
          <a:off x="188117" y="3613256"/>
          <a:ext cx="8784001" cy="225552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strike="sng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strike="sng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strike="sng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904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3999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strike="sng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Холодильник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04099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два субконто</a:t>
            </a:r>
          </a:p>
        </p:txBody>
      </p:sp>
      <p:sp>
        <p:nvSpPr>
          <p:cNvPr id="5" name="Стрелка вниз 4"/>
          <p:cNvSpPr/>
          <p:nvPr/>
        </p:nvSpPr>
        <p:spPr>
          <a:xfrm rot="10800000">
            <a:off x="2523744" y="3210920"/>
            <a:ext cx="868680" cy="804672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12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188117" y="205377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45644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9221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01.03.201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01.11.3999</a:t>
                      </a:r>
                      <a:endParaRPr lang="x-none" sz="1200" kern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.1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Т</a:t>
                      </a:r>
                      <a:r>
                        <a:rPr lang="x-none" sz="1200" kern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66893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97025"/>
          </a:xfrm>
        </p:spPr>
        <p:txBody>
          <a:bodyPr/>
          <a:lstStyle/>
          <a:p>
            <a:r>
              <a:rPr lang="ru-RU" dirty="0"/>
              <a:t>Таблицы остатков. У счёта 41.1 товары опт одно субконто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88116" y="3639672"/>
          <a:ext cx="8784001" cy="75184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14891986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679151112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421561292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425630808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22144808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398740633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513212370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80762400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1744979145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392599309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8507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27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59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Традиционная технология  проведения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Проведение состоится при выполнении определенных условий</a:t>
            </a:r>
          </a:p>
        </p:txBody>
      </p:sp>
    </p:spTree>
    <p:extLst>
      <p:ext uri="{BB962C8B-B14F-4D97-AF65-F5344CB8AC3E}">
        <p14:creationId xmlns:p14="http://schemas.microsoft.com/office/powerpoint/2010/main" val="227941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72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33999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4" name="Стрелка вниз 13"/>
          <p:cNvSpPr/>
          <p:nvPr/>
        </p:nvSpPr>
        <p:spPr>
          <a:xfrm>
            <a:off x="2000232" y="3339322"/>
            <a:ext cx="428628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226242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6" name="Стрелка вправо 15"/>
          <p:cNvSpPr/>
          <p:nvPr/>
        </p:nvSpPr>
        <p:spPr>
          <a:xfrm>
            <a:off x="3214678" y="5328401"/>
            <a:ext cx="1000132" cy="42862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лево 16"/>
          <p:cNvSpPr/>
          <p:nvPr/>
        </p:nvSpPr>
        <p:spPr>
          <a:xfrm>
            <a:off x="4572000" y="5328401"/>
            <a:ext cx="1071570" cy="4286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верх 17"/>
          <p:cNvSpPr/>
          <p:nvPr/>
        </p:nvSpPr>
        <p:spPr>
          <a:xfrm>
            <a:off x="4143372" y="2339190"/>
            <a:ext cx="500066" cy="3077636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92015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88" y="1196182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Анализ строк</a:t>
            </a:r>
          </a:p>
        </p:txBody>
      </p:sp>
      <p:sp>
        <p:nvSpPr>
          <p:cNvPr id="15" name="Стрелка углом 14"/>
          <p:cNvSpPr/>
          <p:nvPr/>
        </p:nvSpPr>
        <p:spPr>
          <a:xfrm rot="5400000">
            <a:off x="5786446" y="1481934"/>
            <a:ext cx="785818" cy="785818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376202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6616694" y="3125008"/>
            <a:ext cx="428628" cy="71438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191875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движения 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37922"/>
            <a:ext cx="2232000" cy="90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итогов регистра</a:t>
            </a:r>
          </a:p>
        </p:txBody>
      </p:sp>
      <p:sp>
        <p:nvSpPr>
          <p:cNvPr id="4" name="Развернутая стрелка 3"/>
          <p:cNvSpPr/>
          <p:nvPr/>
        </p:nvSpPr>
        <p:spPr>
          <a:xfrm rot="5400000" flipV="1">
            <a:off x="4622532" y="4700603"/>
            <a:ext cx="1441174" cy="576000"/>
          </a:xfrm>
          <a:prstGeom prst="utur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0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017126"/>
          </a:xfrm>
        </p:spPr>
        <p:txBody>
          <a:bodyPr/>
          <a:lstStyle/>
          <a:p>
            <a:r>
              <a:rPr lang="ru-RU" dirty="0"/>
              <a:t>Проводки документа «Реализация товаров и услуг»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263019"/>
              </p:ext>
            </p:extLst>
          </p:nvPr>
        </p:nvGraphicFramePr>
        <p:xfrm>
          <a:off x="296151" y="2488954"/>
          <a:ext cx="8675968" cy="27736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30808">
                  <a:extLst>
                    <a:ext uri="{9D8B030D-6E8A-4147-A177-3AD203B41FA5}">
                      <a16:colId xmlns:a16="http://schemas.microsoft.com/office/drawing/2014/main" val="1712032606"/>
                    </a:ext>
                  </a:extLst>
                </a:gridCol>
                <a:gridCol w="1056443">
                  <a:extLst>
                    <a:ext uri="{9D8B030D-6E8A-4147-A177-3AD203B41FA5}">
                      <a16:colId xmlns:a16="http://schemas.microsoft.com/office/drawing/2014/main" val="2831598434"/>
                    </a:ext>
                  </a:extLst>
                </a:gridCol>
                <a:gridCol w="1640630">
                  <a:extLst>
                    <a:ext uri="{9D8B030D-6E8A-4147-A177-3AD203B41FA5}">
                      <a16:colId xmlns:a16="http://schemas.microsoft.com/office/drawing/2014/main" val="2121083302"/>
                    </a:ext>
                  </a:extLst>
                </a:gridCol>
                <a:gridCol w="715139">
                  <a:extLst>
                    <a:ext uri="{9D8B030D-6E8A-4147-A177-3AD203B41FA5}">
                      <a16:colId xmlns:a16="http://schemas.microsoft.com/office/drawing/2014/main" val="4282678315"/>
                    </a:ext>
                  </a:extLst>
                </a:gridCol>
                <a:gridCol w="861482">
                  <a:extLst>
                    <a:ext uri="{9D8B030D-6E8A-4147-A177-3AD203B41FA5}">
                      <a16:colId xmlns:a16="http://schemas.microsoft.com/office/drawing/2014/main" val="757194878"/>
                    </a:ext>
                  </a:extLst>
                </a:gridCol>
                <a:gridCol w="1722434">
                  <a:extLst>
                    <a:ext uri="{9D8B030D-6E8A-4147-A177-3AD203B41FA5}">
                      <a16:colId xmlns:a16="http://schemas.microsoft.com/office/drawing/2014/main" val="1930054117"/>
                    </a:ext>
                  </a:extLst>
                </a:gridCol>
                <a:gridCol w="710847">
                  <a:extLst>
                    <a:ext uri="{9D8B030D-6E8A-4147-A177-3AD203B41FA5}">
                      <a16:colId xmlns:a16="http://schemas.microsoft.com/office/drawing/2014/main" val="3308725126"/>
                    </a:ext>
                  </a:extLst>
                </a:gridCol>
                <a:gridCol w="738185">
                  <a:extLst>
                    <a:ext uri="{9D8B030D-6E8A-4147-A177-3AD203B41FA5}">
                      <a16:colId xmlns:a16="http://schemas.microsoft.com/office/drawing/2014/main" val="2114263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Организация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  <a:r>
                        <a:rPr lang="ru-RU" sz="1400" baseline="0" dirty="0"/>
                        <a:t> Дт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1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&lt;62.1&gt; </a:t>
                      </a:r>
                      <a:r>
                        <a:rPr lang="ru-RU" sz="1200" dirty="0"/>
                        <a:t/>
                      </a:r>
                      <a:br>
                        <a:rPr lang="ru-RU" sz="1200" dirty="0"/>
                      </a:br>
                      <a:r>
                        <a:rPr lang="ru-RU" sz="1200" dirty="0"/>
                        <a:t>Расчеты с покупателем</a:t>
                      </a: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5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Счёт</a:t>
                      </a:r>
                      <a:r>
                        <a:rPr lang="ru-RU" sz="1200" b="1" baseline="0" dirty="0"/>
                        <a:t> учета в док-те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27809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614302"/>
              </p:ext>
            </p:extLst>
          </p:nvPr>
        </p:nvGraphicFramePr>
        <p:xfrm>
          <a:off x="2592281" y="3073278"/>
          <a:ext cx="1597980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2154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66582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286922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&lt;Контрагенты&gt;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ООО «Юг»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286922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&lt;Договоры&gt;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Дог.</a:t>
                      </a:r>
                      <a:r>
                        <a:rPr lang="ru-RU" sz="1200" baseline="0" dirty="0"/>
                        <a:t> № 123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857254"/>
              </p:ext>
            </p:extLst>
          </p:nvPr>
        </p:nvGraphicFramePr>
        <p:xfrm>
          <a:off x="5841507" y="4202343"/>
          <a:ext cx="1615964" cy="88172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3378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77258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424526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&lt;Номенклатура&gt;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42452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&lt;Склады&gt;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Главный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  <p:sp>
        <p:nvSpPr>
          <p:cNvPr id="9" name="Выноска 2 8"/>
          <p:cNvSpPr/>
          <p:nvPr/>
        </p:nvSpPr>
        <p:spPr>
          <a:xfrm>
            <a:off x="5406501" y="1704512"/>
            <a:ext cx="2050970" cy="479394"/>
          </a:xfrm>
          <a:prstGeom prst="borderCallout2">
            <a:avLst>
              <a:gd name="adj1" fmla="val 18750"/>
              <a:gd name="adj2" fmla="val 106921"/>
              <a:gd name="adj3" fmla="val 48379"/>
              <a:gd name="adj4" fmla="val 134673"/>
              <a:gd name="adj5" fmla="val 284721"/>
              <a:gd name="adj6" fmla="val 1544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Сумма продажи</a:t>
            </a:r>
          </a:p>
        </p:txBody>
      </p:sp>
      <p:sp>
        <p:nvSpPr>
          <p:cNvPr id="10" name="Выноска 2 9"/>
          <p:cNvSpPr/>
          <p:nvPr/>
        </p:nvSpPr>
        <p:spPr>
          <a:xfrm>
            <a:off x="4518734" y="5567682"/>
            <a:ext cx="2938737" cy="479394"/>
          </a:xfrm>
          <a:prstGeom prst="borderCallout2">
            <a:avLst>
              <a:gd name="adj1" fmla="val 52083"/>
              <a:gd name="adj2" fmla="val 104757"/>
              <a:gd name="adj3" fmla="val 16898"/>
              <a:gd name="adj4" fmla="val 137703"/>
              <a:gd name="adj5" fmla="val -224538"/>
              <a:gd name="adj6" fmla="val 1407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Себестоимость продажи</a:t>
            </a:r>
          </a:p>
        </p:txBody>
      </p:sp>
    </p:spTree>
    <p:extLst>
      <p:ext uri="{BB962C8B-B14F-4D97-AF65-F5344CB8AC3E}">
        <p14:creationId xmlns:p14="http://schemas.microsoft.com/office/powerpoint/2010/main" val="336855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Себестоимость без учёта склада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38140"/>
              </p:ext>
            </p:extLst>
          </p:nvPr>
        </p:nvGraphicFramePr>
        <p:xfrm>
          <a:off x="1987795" y="1944910"/>
          <a:ext cx="5184647" cy="1259840"/>
        </p:xfrm>
        <a:graphic>
          <a:graphicData uri="http://schemas.openxmlformats.org/drawingml/2006/table">
            <a:tbl>
              <a:tblPr/>
              <a:tblGrid>
                <a:gridCol w="1348740">
                  <a:extLst>
                    <a:ext uri="{9D8B030D-6E8A-4147-A177-3AD203B41FA5}">
                      <a16:colId xmlns:a16="http://schemas.microsoft.com/office/drawing/2014/main" val="3574496659"/>
                    </a:ext>
                  </a:extLst>
                </a:gridCol>
                <a:gridCol w="1337767">
                  <a:extLst>
                    <a:ext uri="{9D8B030D-6E8A-4147-A177-3AD203B41FA5}">
                      <a16:colId xmlns:a16="http://schemas.microsoft.com/office/drawing/2014/main" val="2663691714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2048166428"/>
                    </a:ext>
                  </a:extLst>
                </a:gridCol>
                <a:gridCol w="1102766">
                  <a:extLst>
                    <a:ext uri="{9D8B030D-6E8A-4147-A177-3AD203B41FA5}">
                      <a16:colId xmlns:a16="http://schemas.microsoft.com/office/drawing/2014/main" val="297647413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3053316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Склад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41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27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Склад2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93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Расход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Склад1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270979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6471821" y="2867487"/>
            <a:ext cx="763480" cy="35510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39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017126"/>
          </a:xfrm>
        </p:spPr>
        <p:txBody>
          <a:bodyPr/>
          <a:lstStyle/>
          <a:p>
            <a:r>
              <a:rPr lang="ru-RU" dirty="0"/>
              <a:t>Данные для формирования проводок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39698" y="1743229"/>
          <a:ext cx="8675968" cy="27736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39672">
                  <a:extLst>
                    <a:ext uri="{9D8B030D-6E8A-4147-A177-3AD203B41FA5}">
                      <a16:colId xmlns:a16="http://schemas.microsoft.com/office/drawing/2014/main" val="1712032606"/>
                    </a:ext>
                  </a:extLst>
                </a:gridCol>
                <a:gridCol w="1057155">
                  <a:extLst>
                    <a:ext uri="{9D8B030D-6E8A-4147-A177-3AD203B41FA5}">
                      <a16:colId xmlns:a16="http://schemas.microsoft.com/office/drawing/2014/main" val="2831598434"/>
                    </a:ext>
                  </a:extLst>
                </a:gridCol>
                <a:gridCol w="1531054">
                  <a:extLst>
                    <a:ext uri="{9D8B030D-6E8A-4147-A177-3AD203B41FA5}">
                      <a16:colId xmlns:a16="http://schemas.microsoft.com/office/drawing/2014/main" val="2121083302"/>
                    </a:ext>
                  </a:extLst>
                </a:gridCol>
                <a:gridCol w="715139">
                  <a:extLst>
                    <a:ext uri="{9D8B030D-6E8A-4147-A177-3AD203B41FA5}">
                      <a16:colId xmlns:a16="http://schemas.microsoft.com/office/drawing/2014/main" val="4282678315"/>
                    </a:ext>
                  </a:extLst>
                </a:gridCol>
                <a:gridCol w="861482">
                  <a:extLst>
                    <a:ext uri="{9D8B030D-6E8A-4147-A177-3AD203B41FA5}">
                      <a16:colId xmlns:a16="http://schemas.microsoft.com/office/drawing/2014/main" val="757194878"/>
                    </a:ext>
                  </a:extLst>
                </a:gridCol>
                <a:gridCol w="1722434">
                  <a:extLst>
                    <a:ext uri="{9D8B030D-6E8A-4147-A177-3AD203B41FA5}">
                      <a16:colId xmlns:a16="http://schemas.microsoft.com/office/drawing/2014/main" val="1930054117"/>
                    </a:ext>
                  </a:extLst>
                </a:gridCol>
                <a:gridCol w="710847">
                  <a:extLst>
                    <a:ext uri="{9D8B030D-6E8A-4147-A177-3AD203B41FA5}">
                      <a16:colId xmlns:a16="http://schemas.microsoft.com/office/drawing/2014/main" val="3308725126"/>
                    </a:ext>
                  </a:extLst>
                </a:gridCol>
                <a:gridCol w="738185">
                  <a:extLst>
                    <a:ext uri="{9D8B030D-6E8A-4147-A177-3AD203B41FA5}">
                      <a16:colId xmlns:a16="http://schemas.microsoft.com/office/drawing/2014/main" val="2114263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Организация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  <a:r>
                        <a:rPr lang="ru-RU" sz="1400" baseline="0" dirty="0"/>
                        <a:t> Дт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1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&lt;62.1&gt; </a:t>
                      </a:r>
                      <a:r>
                        <a:rPr lang="ru-RU" sz="1200" dirty="0"/>
                        <a:t/>
                      </a:r>
                      <a:br>
                        <a:rPr lang="ru-RU" sz="1200" dirty="0"/>
                      </a:br>
                      <a:r>
                        <a:rPr lang="ru-RU" sz="1200" dirty="0"/>
                        <a:t>Расчеты с покупателем</a:t>
                      </a: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5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Счёт</a:t>
                      </a:r>
                      <a:r>
                        <a:rPr lang="ru-RU" sz="1200" b="1" baseline="0" dirty="0"/>
                        <a:t> учета в док-те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27809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686976" y="2327553"/>
          <a:ext cx="1432264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1948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63031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286922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&lt;Контрагенты&gt;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ООО «Юг»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286922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&lt;Договоры&gt;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Дог.</a:t>
                      </a:r>
                      <a:r>
                        <a:rPr lang="ru-RU" sz="1200" baseline="0" dirty="0"/>
                        <a:t> № 123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44572" y="4610381"/>
          <a:ext cx="8671094" cy="1630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5564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1023356965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3213414131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1268974">
                  <a:extLst>
                    <a:ext uri="{9D8B030D-6E8A-4147-A177-3AD203B41FA5}">
                      <a16:colId xmlns:a16="http://schemas.microsoft.com/office/drawing/2014/main" val="1940637935"/>
                    </a:ext>
                  </a:extLst>
                </a:gridCol>
                <a:gridCol w="1382592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учёта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на складе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 остаток всего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588652"/>
              </p:ext>
            </p:extLst>
          </p:nvPr>
        </p:nvGraphicFramePr>
        <p:xfrm>
          <a:off x="5797119" y="3474374"/>
          <a:ext cx="1615964" cy="88172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3378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77258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424526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&lt;Номенклатура&gt;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42452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&lt;Склады&gt;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Главный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553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017126"/>
          </a:xfrm>
        </p:spPr>
        <p:txBody>
          <a:bodyPr/>
          <a:lstStyle/>
          <a:p>
            <a:r>
              <a:rPr lang="ru-RU" dirty="0"/>
              <a:t>Данные для формирования проводок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39698" y="1743229"/>
          <a:ext cx="8675968" cy="27736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39672">
                  <a:extLst>
                    <a:ext uri="{9D8B030D-6E8A-4147-A177-3AD203B41FA5}">
                      <a16:colId xmlns:a16="http://schemas.microsoft.com/office/drawing/2014/main" val="1712032606"/>
                    </a:ext>
                  </a:extLst>
                </a:gridCol>
                <a:gridCol w="1057155">
                  <a:extLst>
                    <a:ext uri="{9D8B030D-6E8A-4147-A177-3AD203B41FA5}">
                      <a16:colId xmlns:a16="http://schemas.microsoft.com/office/drawing/2014/main" val="2831598434"/>
                    </a:ext>
                  </a:extLst>
                </a:gridCol>
                <a:gridCol w="1531054">
                  <a:extLst>
                    <a:ext uri="{9D8B030D-6E8A-4147-A177-3AD203B41FA5}">
                      <a16:colId xmlns:a16="http://schemas.microsoft.com/office/drawing/2014/main" val="2121083302"/>
                    </a:ext>
                  </a:extLst>
                </a:gridCol>
                <a:gridCol w="715139">
                  <a:extLst>
                    <a:ext uri="{9D8B030D-6E8A-4147-A177-3AD203B41FA5}">
                      <a16:colId xmlns:a16="http://schemas.microsoft.com/office/drawing/2014/main" val="4282678315"/>
                    </a:ext>
                  </a:extLst>
                </a:gridCol>
                <a:gridCol w="861482">
                  <a:extLst>
                    <a:ext uri="{9D8B030D-6E8A-4147-A177-3AD203B41FA5}">
                      <a16:colId xmlns:a16="http://schemas.microsoft.com/office/drawing/2014/main" val="757194878"/>
                    </a:ext>
                  </a:extLst>
                </a:gridCol>
                <a:gridCol w="1722434">
                  <a:extLst>
                    <a:ext uri="{9D8B030D-6E8A-4147-A177-3AD203B41FA5}">
                      <a16:colId xmlns:a16="http://schemas.microsoft.com/office/drawing/2014/main" val="1930054117"/>
                    </a:ext>
                  </a:extLst>
                </a:gridCol>
                <a:gridCol w="710847">
                  <a:extLst>
                    <a:ext uri="{9D8B030D-6E8A-4147-A177-3AD203B41FA5}">
                      <a16:colId xmlns:a16="http://schemas.microsoft.com/office/drawing/2014/main" val="3308725126"/>
                    </a:ext>
                  </a:extLst>
                </a:gridCol>
                <a:gridCol w="738185">
                  <a:extLst>
                    <a:ext uri="{9D8B030D-6E8A-4147-A177-3AD203B41FA5}">
                      <a16:colId xmlns:a16="http://schemas.microsoft.com/office/drawing/2014/main" val="2114263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Организация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  <a:r>
                        <a:rPr lang="ru-RU" sz="1400" baseline="0" dirty="0"/>
                        <a:t> Дт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1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&lt;62.1&gt; </a:t>
                      </a:r>
                      <a:r>
                        <a:rPr lang="ru-RU" sz="1200" dirty="0"/>
                        <a:t/>
                      </a:r>
                      <a:br>
                        <a:rPr lang="ru-RU" sz="1200" dirty="0"/>
                      </a:br>
                      <a:r>
                        <a:rPr lang="ru-RU" sz="1200" dirty="0"/>
                        <a:t>Расчеты с покупателем</a:t>
                      </a: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r>
                        <a:rPr lang="ru-RU" sz="1400" dirty="0"/>
                        <a:t/>
                      </a:r>
                      <a:br>
                        <a:rPr lang="ru-RU" sz="1400" dirty="0"/>
                      </a:b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5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&lt;Осень&gt;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&lt;90&gt;</a:t>
                      </a:r>
                      <a:br>
                        <a:rPr lang="ru-RU" sz="1200" b="1" dirty="0"/>
                      </a:br>
                      <a:r>
                        <a:rPr lang="ru-RU" sz="1200" dirty="0"/>
                        <a:t>Доходы</a:t>
                      </a:r>
                      <a:r>
                        <a:rPr lang="ru-RU" sz="1200" baseline="0" dirty="0"/>
                        <a:t> и Расходы</a:t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r>
                        <a:rPr lang="ru-RU" sz="1200" baseline="0" dirty="0"/>
                        <a:t/>
                      </a:r>
                      <a:br>
                        <a:rPr lang="ru-RU" sz="1200" baseline="0" dirty="0"/>
                      </a:b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Счёт</a:t>
                      </a:r>
                      <a:r>
                        <a:rPr lang="ru-RU" sz="1200" b="1" baseline="0" dirty="0"/>
                        <a:t> учета в док-те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27809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686976" y="2327553"/>
          <a:ext cx="1432264" cy="914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1948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63031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286922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&lt;Контрагенты&gt;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ООО «Юг»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286922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&lt;Договоры&gt;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Дог.</a:t>
                      </a:r>
                      <a:r>
                        <a:rPr lang="ru-RU" sz="1200" baseline="0" dirty="0"/>
                        <a:t> № 123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44572" y="4610381"/>
          <a:ext cx="8671094" cy="1630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5564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1023356965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3213414131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1268974">
                  <a:extLst>
                    <a:ext uri="{9D8B030D-6E8A-4147-A177-3AD203B41FA5}">
                      <a16:colId xmlns:a16="http://schemas.microsoft.com/office/drawing/2014/main" val="1940637935"/>
                    </a:ext>
                  </a:extLst>
                </a:gridCol>
                <a:gridCol w="1382592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учёта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на складе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 остаток всего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797119" y="3474374"/>
          <a:ext cx="1615964" cy="88172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3378">
                  <a:extLst>
                    <a:ext uri="{9D8B030D-6E8A-4147-A177-3AD203B41FA5}">
                      <a16:colId xmlns:a16="http://schemas.microsoft.com/office/drawing/2014/main" val="462951002"/>
                    </a:ext>
                  </a:extLst>
                </a:gridCol>
                <a:gridCol w="772586">
                  <a:extLst>
                    <a:ext uri="{9D8B030D-6E8A-4147-A177-3AD203B41FA5}">
                      <a16:colId xmlns:a16="http://schemas.microsoft.com/office/drawing/2014/main" val="3540422206"/>
                    </a:ext>
                  </a:extLst>
                </a:gridCol>
              </a:tblGrid>
              <a:tr h="424526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7030A0"/>
                          </a:solidFill>
                        </a:rPr>
                        <a:t>&lt;Номенклатура&gt;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3704"/>
                  </a:ext>
                </a:extLst>
              </a:tr>
              <a:tr h="42452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7030A0"/>
                          </a:solidFill>
                        </a:rPr>
                        <a:t>&lt;Склады&gt;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Главный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013502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2565647" y="4554023"/>
            <a:ext cx="745724" cy="55164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400148" y="4573267"/>
            <a:ext cx="1376037" cy="551648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802817" y="4573267"/>
            <a:ext cx="1455940" cy="55164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58757" y="4573267"/>
            <a:ext cx="2656909" cy="551648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 12"/>
          <p:cNvSpPr/>
          <p:nvPr/>
        </p:nvSpPr>
        <p:spPr>
          <a:xfrm>
            <a:off x="3116062" y="2636668"/>
            <a:ext cx="5113538" cy="1935332"/>
          </a:xfrm>
          <a:custGeom>
            <a:avLst/>
            <a:gdLst>
              <a:gd name="connsiteX0" fmla="*/ 0 w 5113538"/>
              <a:gd name="connsiteY0" fmla="*/ 1935332 h 1935332"/>
              <a:gd name="connsiteX1" fmla="*/ 1358284 w 5113538"/>
              <a:gd name="connsiteY1" fmla="*/ 585926 h 1935332"/>
              <a:gd name="connsiteX2" fmla="*/ 5113538 w 5113538"/>
              <a:gd name="connsiteY2" fmla="*/ 0 h 1935332"/>
              <a:gd name="connsiteX3" fmla="*/ 5113538 w 5113538"/>
              <a:gd name="connsiteY3" fmla="*/ 0 h 193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3538" h="1935332">
                <a:moveTo>
                  <a:pt x="0" y="1935332"/>
                </a:moveTo>
                <a:cubicBezTo>
                  <a:pt x="253014" y="1421906"/>
                  <a:pt x="506028" y="908481"/>
                  <a:pt x="1358284" y="585926"/>
                </a:cubicBezTo>
                <a:cubicBezTo>
                  <a:pt x="2210540" y="263371"/>
                  <a:pt x="5113538" y="0"/>
                  <a:pt x="5113538" y="0"/>
                </a:cubicBezTo>
                <a:lnTo>
                  <a:pt x="5113538" y="0"/>
                </a:ln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731146" y="4572000"/>
            <a:ext cx="745724" cy="551648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 14"/>
          <p:cNvSpPr/>
          <p:nvPr/>
        </p:nvSpPr>
        <p:spPr>
          <a:xfrm>
            <a:off x="2148396" y="3185038"/>
            <a:ext cx="5370990" cy="1333696"/>
          </a:xfrm>
          <a:custGeom>
            <a:avLst/>
            <a:gdLst>
              <a:gd name="connsiteX0" fmla="*/ 0 w 5370990"/>
              <a:gd name="connsiteY0" fmla="*/ 1333696 h 1333696"/>
              <a:gd name="connsiteX1" fmla="*/ 2663301 w 5370990"/>
              <a:gd name="connsiteY1" fmla="*/ 81945 h 1333696"/>
              <a:gd name="connsiteX2" fmla="*/ 5370990 w 5370990"/>
              <a:gd name="connsiteY2" fmla="*/ 223987 h 1333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0990" h="1333696">
                <a:moveTo>
                  <a:pt x="0" y="1333696"/>
                </a:moveTo>
                <a:cubicBezTo>
                  <a:pt x="884068" y="800296"/>
                  <a:pt x="1768136" y="266896"/>
                  <a:pt x="2663301" y="81945"/>
                </a:cubicBezTo>
                <a:cubicBezTo>
                  <a:pt x="3558466" y="-103006"/>
                  <a:pt x="4464728" y="60490"/>
                  <a:pt x="5370990" y="22398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4225771" y="3977196"/>
            <a:ext cx="781235" cy="59480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7585968" y="3666478"/>
            <a:ext cx="901084" cy="8971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96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375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7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37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75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375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"/>
                            </p:stCondLst>
                            <p:childTnLst>
                              <p:par>
                                <p:cTn id="5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75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375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4" grpId="1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результате запроса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26778"/>
              </p:ext>
            </p:extLst>
          </p:nvPr>
        </p:nvGraphicFramePr>
        <p:xfrm>
          <a:off x="179512" y="1397000"/>
          <a:ext cx="8671094" cy="1630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5564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1023356965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3213414131"/>
                    </a:ext>
                  </a:extLst>
                </a:gridCol>
                <a:gridCol w="1458978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1268974">
                  <a:extLst>
                    <a:ext uri="{9D8B030D-6E8A-4147-A177-3AD203B41FA5}">
                      <a16:colId xmlns:a16="http://schemas.microsoft.com/office/drawing/2014/main" val="1940637935"/>
                    </a:ext>
                  </a:extLst>
                </a:gridCol>
                <a:gridCol w="1382592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учёта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на складе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 остаток 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 остаток всего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751748"/>
              </p:ext>
            </p:extLst>
          </p:nvPr>
        </p:nvGraphicFramePr>
        <p:xfrm>
          <a:off x="188119" y="4536440"/>
          <a:ext cx="4561432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69660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754602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825623">
                  <a:extLst>
                    <a:ext uri="{9D8B030D-6E8A-4147-A177-3AD203B41FA5}">
                      <a16:colId xmlns:a16="http://schemas.microsoft.com/office/drawing/2014/main" val="884535498"/>
                    </a:ext>
                  </a:extLst>
                </a:gridCol>
                <a:gridCol w="1411547">
                  <a:extLst>
                    <a:ext uri="{9D8B030D-6E8A-4147-A177-3AD203B41FA5}">
                      <a16:colId xmlns:a16="http://schemas.microsoft.com/office/drawing/2014/main" val="4016132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 учёта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Товары опт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 Материалы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04010"/>
              </p:ext>
            </p:extLst>
          </p:nvPr>
        </p:nvGraphicFramePr>
        <p:xfrm>
          <a:off x="4838331" y="4759960"/>
          <a:ext cx="4012275" cy="1259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0637">
                  <a:extLst>
                    <a:ext uri="{9D8B030D-6E8A-4147-A177-3AD203B41FA5}">
                      <a16:colId xmlns:a16="http://schemas.microsoft.com/office/drawing/2014/main" val="1175521389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1256476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1001306">
                  <a:extLst>
                    <a:ext uri="{9D8B030D-6E8A-4147-A177-3AD203B41FA5}">
                      <a16:colId xmlns:a16="http://schemas.microsoft.com/office/drawing/2014/main" val="10443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Субконто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Сумма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</a:tbl>
          </a:graphicData>
        </a:graphic>
      </p:graphicFrame>
      <p:sp>
        <p:nvSpPr>
          <p:cNvPr id="7" name="Правая фигурная скобка 6"/>
          <p:cNvSpPr/>
          <p:nvPr/>
        </p:nvSpPr>
        <p:spPr>
          <a:xfrm rot="5400000">
            <a:off x="2252807" y="1243815"/>
            <a:ext cx="432051" cy="4561436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авая фигурная скобка 7"/>
          <p:cNvSpPr/>
          <p:nvPr/>
        </p:nvSpPr>
        <p:spPr>
          <a:xfrm rot="5400000">
            <a:off x="7334218" y="2224168"/>
            <a:ext cx="432050" cy="2600726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88113" y="3787879"/>
            <a:ext cx="4561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Табличная часть «Товары» документа «Реализация»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331" y="3787879"/>
            <a:ext cx="401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Виртуальная таблица «Остатки»</a:t>
            </a:r>
          </a:p>
          <a:p>
            <a:pPr algn="ctr"/>
            <a:r>
              <a:rPr lang="ru-RU" dirty="0">
                <a:solidFill>
                  <a:srgbClr val="00B050"/>
                </a:solidFill>
              </a:rPr>
              <a:t>Остатки с учетом склада</a:t>
            </a:r>
            <a:r>
              <a:rPr lang="ru-RU" dirty="0">
                <a:solidFill>
                  <a:srgbClr val="7030A0"/>
                </a:solidFill>
              </a:rPr>
              <a:t/>
            </a:r>
            <a:br>
              <a:rPr lang="ru-RU" dirty="0">
                <a:solidFill>
                  <a:srgbClr val="7030A0"/>
                </a:solidFill>
              </a:rPr>
            </a:br>
            <a:r>
              <a:rPr lang="ru-RU" dirty="0">
                <a:solidFill>
                  <a:srgbClr val="00B0F0"/>
                </a:solidFill>
              </a:rPr>
              <a:t>и без учета склада</a:t>
            </a:r>
          </a:p>
        </p:txBody>
      </p:sp>
      <p:sp>
        <p:nvSpPr>
          <p:cNvPr id="11" name="Правая фигурная скобка 10"/>
          <p:cNvSpPr/>
          <p:nvPr/>
        </p:nvSpPr>
        <p:spPr>
          <a:xfrm rot="5400000">
            <a:off x="5283690" y="2814752"/>
            <a:ext cx="432051" cy="1419557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73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запроса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66344" y="1505713"/>
            <a:ext cx="2798064" cy="32988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Табличная часть «Товары» документа реализация товаров и услуг 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175504" y="1505712"/>
            <a:ext cx="3380232" cy="145694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Виртуальная таблица остатки регистра бухгалтерии «Проводки» (остатки с учётом склада)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175504" y="3347593"/>
            <a:ext cx="3380232" cy="145694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Виртуальная таблица остатки регистра бухгалтерии «Проводки» (остатки без учётом склада)</a:t>
            </a:r>
          </a:p>
        </p:txBody>
      </p:sp>
      <p:sp>
        <p:nvSpPr>
          <p:cNvPr id="6" name="Стрелка влево 5"/>
          <p:cNvSpPr/>
          <p:nvPr/>
        </p:nvSpPr>
        <p:spPr>
          <a:xfrm>
            <a:off x="3525012" y="2005584"/>
            <a:ext cx="1389888" cy="457200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лево 6"/>
          <p:cNvSpPr/>
          <p:nvPr/>
        </p:nvSpPr>
        <p:spPr>
          <a:xfrm>
            <a:off x="3525012" y="3847465"/>
            <a:ext cx="1389888" cy="4572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185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Соединение трех таблиц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466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5795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(левое ,параллельно)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683568" y="2945465"/>
          <a:ext cx="2218816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716016" y="1932385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4716016" y="3958546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Левая фигурная скобка 4"/>
          <p:cNvSpPr/>
          <p:nvPr/>
        </p:nvSpPr>
        <p:spPr>
          <a:xfrm>
            <a:off x="3995936" y="1798060"/>
            <a:ext cx="720080" cy="4079212"/>
          </a:xfrm>
          <a:prstGeom prst="leftBrace">
            <a:avLst>
              <a:gd name="adj1" fmla="val 8333"/>
              <a:gd name="adj2" fmla="val 48707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>
            <a:stCxn id="5" idx="1"/>
          </p:cNvCxnSpPr>
          <p:nvPr/>
        </p:nvCxnSpPr>
        <p:spPr>
          <a:xfrm flipH="1">
            <a:off x="3059832" y="3784922"/>
            <a:ext cx="936104" cy="41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7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2800" dirty="0">
                <a:solidFill>
                  <a:srgbClr val="FF0000"/>
                </a:solidFill>
              </a:rPr>
              <a:t>(левое ,параллельно)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879558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912886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7618" y="3573015"/>
          <a:ext cx="4442400" cy="2668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27289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2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Таблицы один и два: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7005" y="3607558"/>
            <a:ext cx="3734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 двух таблиц: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220031" y="2060848"/>
            <a:ext cx="2648113" cy="50405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220031" y="2060848"/>
            <a:ext cx="2648113" cy="13588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220031" y="2497542"/>
            <a:ext cx="2648113" cy="52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220031" y="3140968"/>
            <a:ext cx="2648113" cy="2010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26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2800" dirty="0">
                <a:solidFill>
                  <a:srgbClr val="FF0000"/>
                </a:solidFill>
              </a:rPr>
              <a:t>(левое ,параллельно)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3768" y="1421377"/>
            <a:ext cx="5484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 двух таблиц и третья таблица: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6946" y="3657435"/>
            <a:ext cx="370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 трех таблиц: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4754468" y="1971991"/>
            <a:ext cx="1711191" cy="5087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4754468" y="2442508"/>
            <a:ext cx="1711191" cy="1147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662445" y="2852045"/>
            <a:ext cx="1803214" cy="1858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4765928" y="3025572"/>
            <a:ext cx="1699731" cy="71478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23528" y="1774028"/>
          <a:ext cx="4442400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6588129" y="1821537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3" name="Прямая со стрелкой 22"/>
          <p:cNvCxnSpPr/>
          <p:nvPr/>
        </p:nvCxnSpPr>
        <p:spPr>
          <a:xfrm flipV="1">
            <a:off x="4780893" y="3269618"/>
            <a:ext cx="1807236" cy="6594"/>
          </a:xfrm>
          <a:prstGeom prst="straightConnector1">
            <a:avLst/>
          </a:prstGeom>
          <a:ln w="2540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338493" y="4099867"/>
          <a:ext cx="6537762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3227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06349096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943568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sp>
        <p:nvSpPr>
          <p:cNvPr id="28" name="Скругленный прямоугольник 27"/>
          <p:cNvSpPr/>
          <p:nvPr/>
        </p:nvSpPr>
        <p:spPr>
          <a:xfrm>
            <a:off x="179512" y="1676656"/>
            <a:ext cx="1944216" cy="2350111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38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2800" dirty="0">
                <a:solidFill>
                  <a:srgbClr val="FF0000"/>
                </a:solidFill>
              </a:rPr>
              <a:t>(левое , </a:t>
            </a:r>
            <a:r>
              <a:rPr lang="ru-RU" sz="2800" b="1" dirty="0">
                <a:solidFill>
                  <a:srgbClr val="FF0000"/>
                </a:solidFill>
              </a:rPr>
              <a:t>последовательно</a:t>
            </a:r>
            <a:r>
              <a:rPr lang="ru-RU" b="1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528" y="1943962"/>
          <a:ext cx="2218816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563888" y="1932385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6745676" y="1932385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Прямая со стрелкой 6"/>
          <p:cNvCxnSpPr/>
          <p:nvPr/>
        </p:nvCxnSpPr>
        <p:spPr>
          <a:xfrm flipH="1">
            <a:off x="2555776" y="2813187"/>
            <a:ext cx="936104" cy="41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5796136" y="2790635"/>
            <a:ext cx="936104" cy="41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71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2800" dirty="0">
                <a:solidFill>
                  <a:srgbClr val="FF0000"/>
                </a:solidFill>
              </a:rPr>
              <a:t>(левое , последовательно)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879558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912886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7618" y="3573015"/>
          <a:ext cx="4442400" cy="2668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27289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2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Таблицы один и два: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1736" y="3620005"/>
            <a:ext cx="3734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 двух таблиц: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220031" y="2060848"/>
            <a:ext cx="2648113" cy="50405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220031" y="2060848"/>
            <a:ext cx="2648113" cy="13588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220031" y="2497542"/>
            <a:ext cx="2648113" cy="52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220031" y="3140968"/>
            <a:ext cx="2648113" cy="2010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96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Соединение трех таблиц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sz="2800" dirty="0">
                <a:solidFill>
                  <a:srgbClr val="FF0000"/>
                </a:solidFill>
              </a:rPr>
              <a:t>(левое , последовательно)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3048" y="1428728"/>
            <a:ext cx="5484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ru-RU" b="1" dirty="0">
                <a:solidFill>
                  <a:srgbClr val="002060"/>
                </a:solidFill>
              </a:rPr>
              <a:t>двух таблиц и третья таблица: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6946" y="3657435"/>
            <a:ext cx="370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ru-RU" b="1" dirty="0">
                <a:solidFill>
                  <a:srgbClr val="002060"/>
                </a:solidFill>
              </a:rPr>
              <a:t>трех таблиц: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4754468" y="1971991"/>
            <a:ext cx="1711191" cy="5087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4754468" y="2442508"/>
            <a:ext cx="1711191" cy="1147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662445" y="2852045"/>
            <a:ext cx="1803214" cy="1858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4765928" y="3025572"/>
            <a:ext cx="1699731" cy="71478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23528" y="1774028"/>
          <a:ext cx="4442400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6588129" y="1821537"/>
          <a:ext cx="2218812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338493" y="4099867"/>
          <a:ext cx="6537762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3227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06349096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943568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/>
          <p:cNvSpPr/>
          <p:nvPr/>
        </p:nvSpPr>
        <p:spPr>
          <a:xfrm>
            <a:off x="2483768" y="1676656"/>
            <a:ext cx="1872208" cy="2350111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67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/>
            </a:r>
            <a:br>
              <a:rPr lang="ru-RU" sz="4800" dirty="0"/>
            </a:b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84122" y="4099867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Последовательно:</a:t>
            </a:r>
          </a:p>
        </p:txBody>
      </p:sp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338493" y="4099867"/>
          <a:ext cx="6537762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3227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06349096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943568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sp>
        <p:nvSpPr>
          <p:cNvPr id="14" name="Заголовок 1"/>
          <p:cNvSpPr txBox="1">
            <a:spLocks/>
          </p:cNvSpPr>
          <p:nvPr/>
        </p:nvSpPr>
        <p:spPr bwMode="auto">
          <a:xfrm>
            <a:off x="179512" y="590879"/>
            <a:ext cx="8784976" cy="105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sz="2800" dirty="0"/>
              <a:t>Соединение трех таблиц</a:t>
            </a:r>
            <a:r>
              <a:rPr lang="en-US" sz="2800" dirty="0"/>
              <a:t> </a:t>
            </a:r>
            <a:r>
              <a:rPr lang="ru-RU" sz="2800" dirty="0">
                <a:solidFill>
                  <a:srgbClr val="FF0000"/>
                </a:solidFill>
              </a:rPr>
              <a:t>(левое , параллельно </a:t>
            </a:r>
            <a:r>
              <a:rPr lang="en-US" sz="2800" dirty="0">
                <a:solidFill>
                  <a:srgbClr val="FF0000"/>
                </a:solidFill>
              </a:rPr>
              <a:t>vs </a:t>
            </a:r>
            <a:r>
              <a:rPr lang="ru-RU" sz="2800" dirty="0">
                <a:solidFill>
                  <a:srgbClr val="FF0000"/>
                </a:solidFill>
              </a:rPr>
              <a:t>последовательно)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331912" y="1723372"/>
          <a:ext cx="6537762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3227">
                  <a:extLst>
                    <a:ext uri="{9D8B030D-6E8A-4147-A177-3AD203B41FA5}">
                      <a16:colId xmlns:a16="http://schemas.microsoft.com/office/drawing/2014/main" val="32050130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19154378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96984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06349096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943568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114330064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86467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0614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77845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34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263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69674" y="1795296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Параллельно:</a:t>
            </a:r>
          </a:p>
        </p:txBody>
      </p:sp>
    </p:spTree>
    <p:extLst>
      <p:ext uri="{BB962C8B-B14F-4D97-AF65-F5344CB8AC3E}">
        <p14:creationId xmlns:p14="http://schemas.microsoft.com/office/powerpoint/2010/main" val="1491528371"/>
      </p:ext>
    </p:extLst>
  </p:cSld>
  <p:clrMapOvr>
    <a:masterClrMapping/>
  </p:clrMapOvr>
</p:sld>
</file>

<file path=ppt/theme/theme1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7F72F8D9-2713-4673-8BBB-8953CDFC47FD}" vid="{7D13FDD6-802B-4F23-A255-BEF0D1C062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СофтБаланс_БухгалтерскийУчет</Template>
  <TotalTime>1885</TotalTime>
  <Words>2564</Words>
  <Application>Microsoft Office PowerPoint</Application>
  <PresentationFormat>Экран (4:3)</PresentationFormat>
  <Paragraphs>1398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Arial</vt:lpstr>
      <vt:lpstr>Arial Black</vt:lpstr>
      <vt:lpstr>Arial Narrow</vt:lpstr>
      <vt:lpstr>Calibri</vt:lpstr>
      <vt:lpstr>Tahoma</vt:lpstr>
      <vt:lpstr>Verdana</vt:lpstr>
      <vt:lpstr>Wingdings</vt:lpstr>
      <vt:lpstr>СофтБаланс_БухгалтерскийУчет</vt:lpstr>
      <vt:lpstr>Занятие 14</vt:lpstr>
      <vt:lpstr>Количественный учет</vt:lpstr>
      <vt:lpstr>Количественный учет</vt:lpstr>
      <vt:lpstr>Признак учета</vt:lpstr>
      <vt:lpstr>Настройка в регистре бухгалтерии</vt:lpstr>
      <vt:lpstr>Таблица движений по счетам до изменения.</vt:lpstr>
      <vt:lpstr>Таблица движений по счетам после изменений</vt:lpstr>
      <vt:lpstr>Таблица остатков и оборотов по счетам до изменения.</vt:lpstr>
      <vt:lpstr>Таблица остатков и оборотов по счетам после изменения.</vt:lpstr>
      <vt:lpstr>Таблица оборотов между счетами до изменения</vt:lpstr>
      <vt:lpstr>Таблица оборотов между счетами после изменения. </vt:lpstr>
      <vt:lpstr>Опциональная аналитика</vt:lpstr>
      <vt:lpstr>Подключение субконто к счёту</vt:lpstr>
      <vt:lpstr>Подключение субконто к счёту</vt:lpstr>
      <vt:lpstr>Таблицы остатков. У счёта 41.1 товары опт одно субконто</vt:lpstr>
      <vt:lpstr>Таблицы остатков. К счёту 41.1 товары опт добавили субконто</vt:lpstr>
      <vt:lpstr>Таблицы остатков. У счёта 41.1 товары опт два субконто</vt:lpstr>
      <vt:lpstr>Таблицы остатков. У счёта 41.1 товары опт два субконто</vt:lpstr>
      <vt:lpstr>Отключение субконто от счёта</vt:lpstr>
      <vt:lpstr>Отключение субконто от счёта</vt:lpstr>
      <vt:lpstr>Таблицы остатков. У счёта 41.1 товары опт два субконто</vt:lpstr>
      <vt:lpstr>Таблицы остатков. У счёта 41.1 товары опт два субконто</vt:lpstr>
      <vt:lpstr>Таблицы остатков. У счёта 41.1 товары опт одно субконто</vt:lpstr>
      <vt:lpstr>Традиционная технология 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Проводки документа «Реализация товаров и услуг»</vt:lpstr>
      <vt:lpstr>Себестоимость без учёта склада</vt:lpstr>
      <vt:lpstr>Данные для формирования проводок</vt:lpstr>
      <vt:lpstr>Данные для формирования проводок</vt:lpstr>
      <vt:lpstr>Данные в результате запроса</vt:lpstr>
      <vt:lpstr>Схема запроса</vt:lpstr>
      <vt:lpstr>Соединение трех таблиц</vt:lpstr>
      <vt:lpstr>Соединение трех таблиц (левое ,параллельно)</vt:lpstr>
      <vt:lpstr>Соединение трех таблиц (левое ,параллельно)</vt:lpstr>
      <vt:lpstr>Соединение трех таблиц (левое ,параллельно)</vt:lpstr>
      <vt:lpstr>Соединение трех таблиц (левое , последовательно)</vt:lpstr>
      <vt:lpstr>Соединение трех таблиц (левое , последовательно)</vt:lpstr>
      <vt:lpstr>Соединение трех таблиц (левое , последовательно)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eugeniy sizov</dc:creator>
  <cp:lastModifiedBy>eugeniy sizov</cp:lastModifiedBy>
  <cp:revision>95</cp:revision>
  <dcterms:created xsi:type="dcterms:W3CDTF">2015-05-03T18:24:44Z</dcterms:created>
  <dcterms:modified xsi:type="dcterms:W3CDTF">2020-10-24T07:26:37Z</dcterms:modified>
</cp:coreProperties>
</file>