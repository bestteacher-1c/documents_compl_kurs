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1" r:id="rId1"/>
  </p:sldMasterIdLst>
  <p:sldIdLst>
    <p:sldId id="313" r:id="rId2"/>
    <p:sldId id="314" r:id="rId3"/>
    <p:sldId id="317" r:id="rId4"/>
    <p:sldId id="315" r:id="rId5"/>
    <p:sldId id="316" r:id="rId6"/>
    <p:sldId id="340" r:id="rId7"/>
    <p:sldId id="341" r:id="rId8"/>
    <p:sldId id="330" r:id="rId9"/>
    <p:sldId id="331" r:id="rId10"/>
    <p:sldId id="332" r:id="rId11"/>
    <p:sldId id="333" r:id="rId12"/>
    <p:sldId id="342" r:id="rId13"/>
    <p:sldId id="345" r:id="rId14"/>
    <p:sldId id="344" r:id="rId15"/>
    <p:sldId id="343" r:id="rId16"/>
    <p:sldId id="347" r:id="rId17"/>
    <p:sldId id="346" r:id="rId18"/>
    <p:sldId id="452" r:id="rId19"/>
    <p:sldId id="447" r:id="rId20"/>
    <p:sldId id="446" r:id="rId21"/>
    <p:sldId id="450" r:id="rId22"/>
    <p:sldId id="451" r:id="rId23"/>
    <p:sldId id="448" r:id="rId24"/>
    <p:sldId id="348" r:id="rId25"/>
    <p:sldId id="364" r:id="rId26"/>
    <p:sldId id="444" r:id="rId27"/>
    <p:sldId id="440" r:id="rId28"/>
    <p:sldId id="441" r:id="rId29"/>
    <p:sldId id="442" r:id="rId30"/>
    <p:sldId id="445" r:id="rId31"/>
    <p:sldId id="360" r:id="rId32"/>
    <p:sldId id="359" r:id="rId33"/>
    <p:sldId id="361" r:id="rId34"/>
    <p:sldId id="362" r:id="rId35"/>
    <p:sldId id="350" r:id="rId36"/>
    <p:sldId id="363" r:id="rId37"/>
    <p:sldId id="351" r:id="rId38"/>
    <p:sldId id="352" r:id="rId39"/>
    <p:sldId id="353" r:id="rId40"/>
    <p:sldId id="354" r:id="rId41"/>
    <p:sldId id="355" r:id="rId42"/>
    <p:sldId id="356" r:id="rId43"/>
    <p:sldId id="357" r:id="rId44"/>
    <p:sldId id="358" r:id="rId45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5AB1C69-6EDB-4FF4-983F-18BD219EF322}" styleName="Средний стиль 2 — акцент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Средний стиль 2 — акцент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C89EF96-8CEA-46FF-86C4-4CE0E7609802}" styleName="Светлый стиль 3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DA37D80-6434-44D0-A028-1B22A696006F}" styleName="Светлый стиль 3 — акцент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1E4AEA4-8DFA-4A89-87EB-49C32662AFE0}" styleName="Средний стиль 2 — акцент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799B23B-EC83-4686-B30A-512413B5E67A}" styleName="Светлый стиль 3 — акцент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3B4B98B0-60AC-42C2-AFA5-B58CD77FA1E5}" styleName="Светлый стиль 1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Средний стиль 4 — акцент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0505E3EF-67EA-436B-97B2-0124C06EBD24}" styleName="Средний стиль 4 — акцент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16D9F66E-5EB9-4882-86FB-DCBF35E3C3E4}" styleName="Средний стиль 4 — акцент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521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12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85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50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ugeniy sizov" userId="f166da1dfb7bc990" providerId="LiveId" clId="{654196CE-9824-4647-92C8-E2CB645CBBBD}"/>
    <pc:docChg chg="addSld delSld modSld sldOrd">
      <pc:chgData name="eugeniy sizov" userId="f166da1dfb7bc990" providerId="LiveId" clId="{654196CE-9824-4647-92C8-E2CB645CBBBD}" dt="2020-03-12T16:17:24.789" v="5" actId="47"/>
      <pc:docMkLst>
        <pc:docMk/>
      </pc:docMkLst>
      <pc:sldChg chg="add del">
        <pc:chgData name="eugeniy sizov" userId="f166da1dfb7bc990" providerId="LiveId" clId="{654196CE-9824-4647-92C8-E2CB645CBBBD}" dt="2020-03-12T16:16:54.759" v="1"/>
        <pc:sldMkLst>
          <pc:docMk/>
          <pc:sldMk cId="2983843206" sldId="256"/>
        </pc:sldMkLst>
      </pc:sldChg>
      <pc:sldChg chg="del ord">
        <pc:chgData name="eugeniy sizov" userId="f166da1dfb7bc990" providerId="LiveId" clId="{654196CE-9824-4647-92C8-E2CB645CBBBD}" dt="2020-03-12T16:17:24.789" v="5" actId="47"/>
        <pc:sldMkLst>
          <pc:docMk/>
          <pc:sldMk cId="1354291812" sldId="349"/>
        </pc:sldMkLst>
      </pc:sldChg>
      <pc:sldChg chg="add del">
        <pc:chgData name="eugeniy sizov" userId="f166da1dfb7bc990" providerId="LiveId" clId="{654196CE-9824-4647-92C8-E2CB645CBBBD}" dt="2020-03-12T16:16:54.759" v="1"/>
        <pc:sldMkLst>
          <pc:docMk/>
          <pc:sldMk cId="1498938616" sldId="364"/>
        </pc:sldMkLst>
      </pc:sldChg>
      <pc:sldChg chg="add">
        <pc:chgData name="eugeniy sizov" userId="f166da1dfb7bc990" providerId="LiveId" clId="{654196CE-9824-4647-92C8-E2CB645CBBBD}" dt="2020-03-12T16:17:11.731" v="2"/>
        <pc:sldMkLst>
          <pc:docMk/>
          <pc:sldMk cId="3399926705" sldId="364"/>
        </pc:sldMkLst>
      </pc:sldChg>
      <pc:sldChg chg="add del">
        <pc:chgData name="eugeniy sizov" userId="f166da1dfb7bc990" providerId="LiveId" clId="{654196CE-9824-4647-92C8-E2CB645CBBBD}" dt="2020-03-12T16:16:54.759" v="1"/>
        <pc:sldMkLst>
          <pc:docMk/>
          <pc:sldMk cId="3505509770" sldId="365"/>
        </pc:sldMkLst>
      </pc:sldChg>
      <pc:sldChg chg="add del">
        <pc:chgData name="eugeniy sizov" userId="f166da1dfb7bc990" providerId="LiveId" clId="{654196CE-9824-4647-92C8-E2CB645CBBBD}" dt="2020-03-12T16:16:54.759" v="1"/>
        <pc:sldMkLst>
          <pc:docMk/>
          <pc:sldMk cId="3741406341" sldId="404"/>
        </pc:sldMkLst>
      </pc:sldChg>
      <pc:sldChg chg="add del">
        <pc:chgData name="eugeniy sizov" userId="f166da1dfb7bc990" providerId="LiveId" clId="{654196CE-9824-4647-92C8-E2CB645CBBBD}" dt="2020-03-12T16:16:54.759" v="1"/>
        <pc:sldMkLst>
          <pc:docMk/>
          <pc:sldMk cId="2837154384" sldId="405"/>
        </pc:sldMkLst>
      </pc:sldChg>
      <pc:sldChg chg="add del">
        <pc:chgData name="eugeniy sizov" userId="f166da1dfb7bc990" providerId="LiveId" clId="{654196CE-9824-4647-92C8-E2CB645CBBBD}" dt="2020-03-12T16:16:54.759" v="1"/>
        <pc:sldMkLst>
          <pc:docMk/>
          <pc:sldMk cId="2274669768" sldId="406"/>
        </pc:sldMkLst>
      </pc:sldChg>
      <pc:sldChg chg="add del">
        <pc:chgData name="eugeniy sizov" userId="f166da1dfb7bc990" providerId="LiveId" clId="{654196CE-9824-4647-92C8-E2CB645CBBBD}" dt="2020-03-12T16:16:54.759" v="1"/>
        <pc:sldMkLst>
          <pc:docMk/>
          <pc:sldMk cId="734666453" sldId="407"/>
        </pc:sldMkLst>
      </pc:sldChg>
      <pc:sldChg chg="add del">
        <pc:chgData name="eugeniy sizov" userId="f166da1dfb7bc990" providerId="LiveId" clId="{654196CE-9824-4647-92C8-E2CB645CBBBD}" dt="2020-03-12T16:16:54.759" v="1"/>
        <pc:sldMkLst>
          <pc:docMk/>
          <pc:sldMk cId="2636732030" sldId="408"/>
        </pc:sldMkLst>
      </pc:sldChg>
      <pc:sldChg chg="add del">
        <pc:chgData name="eugeniy sizov" userId="f166da1dfb7bc990" providerId="LiveId" clId="{654196CE-9824-4647-92C8-E2CB645CBBBD}" dt="2020-03-12T16:16:54.759" v="1"/>
        <pc:sldMkLst>
          <pc:docMk/>
          <pc:sldMk cId="1510079540" sldId="416"/>
        </pc:sldMkLst>
      </pc:sldChg>
      <pc:sldChg chg="add del">
        <pc:chgData name="eugeniy sizov" userId="f166da1dfb7bc990" providerId="LiveId" clId="{654196CE-9824-4647-92C8-E2CB645CBBBD}" dt="2020-03-12T16:16:54.759" v="1"/>
        <pc:sldMkLst>
          <pc:docMk/>
          <pc:sldMk cId="2337446098" sldId="417"/>
        </pc:sldMkLst>
      </pc:sldChg>
      <pc:sldChg chg="add del">
        <pc:chgData name="eugeniy sizov" userId="f166da1dfb7bc990" providerId="LiveId" clId="{654196CE-9824-4647-92C8-E2CB645CBBBD}" dt="2020-03-12T16:16:54.759" v="1"/>
        <pc:sldMkLst>
          <pc:docMk/>
          <pc:sldMk cId="3038379840" sldId="432"/>
        </pc:sldMkLst>
      </pc:sldChg>
      <pc:sldChg chg="add del">
        <pc:chgData name="eugeniy sizov" userId="f166da1dfb7bc990" providerId="LiveId" clId="{654196CE-9824-4647-92C8-E2CB645CBBBD}" dt="2020-03-12T16:16:54.759" v="1"/>
        <pc:sldMkLst>
          <pc:docMk/>
          <pc:sldMk cId="1599553190" sldId="433"/>
        </pc:sldMkLst>
      </pc:sldChg>
      <pc:sldChg chg="add del">
        <pc:chgData name="eugeniy sizov" userId="f166da1dfb7bc990" providerId="LiveId" clId="{654196CE-9824-4647-92C8-E2CB645CBBBD}" dt="2020-03-12T16:16:54.759" v="1"/>
        <pc:sldMkLst>
          <pc:docMk/>
          <pc:sldMk cId="4238922798" sldId="434"/>
        </pc:sldMkLst>
      </pc:sldChg>
      <pc:sldChg chg="add del">
        <pc:chgData name="eugeniy sizov" userId="f166da1dfb7bc990" providerId="LiveId" clId="{654196CE-9824-4647-92C8-E2CB645CBBBD}" dt="2020-03-12T16:16:54.759" v="1"/>
        <pc:sldMkLst>
          <pc:docMk/>
          <pc:sldMk cId="270490490" sldId="435"/>
        </pc:sldMkLst>
      </pc:sldChg>
      <pc:sldChg chg="add del">
        <pc:chgData name="eugeniy sizov" userId="f166da1dfb7bc990" providerId="LiveId" clId="{654196CE-9824-4647-92C8-E2CB645CBBBD}" dt="2020-03-12T16:16:54.759" v="1"/>
        <pc:sldMkLst>
          <pc:docMk/>
          <pc:sldMk cId="1367140859" sldId="437"/>
        </pc:sldMkLst>
      </pc:sldChg>
      <pc:sldChg chg="add del">
        <pc:chgData name="eugeniy sizov" userId="f166da1dfb7bc990" providerId="LiveId" clId="{654196CE-9824-4647-92C8-E2CB645CBBBD}" dt="2020-03-12T16:16:54.759" v="1"/>
        <pc:sldMkLst>
          <pc:docMk/>
          <pc:sldMk cId="1872555847" sldId="438"/>
        </pc:sldMkLst>
      </pc:sldChg>
      <pc:sldChg chg="add del">
        <pc:chgData name="eugeniy sizov" userId="f166da1dfb7bc990" providerId="LiveId" clId="{654196CE-9824-4647-92C8-E2CB645CBBBD}" dt="2020-03-12T16:16:54.759" v="1"/>
        <pc:sldMkLst>
          <pc:docMk/>
          <pc:sldMk cId="638147695" sldId="439"/>
        </pc:sldMkLst>
      </pc:sldChg>
      <pc:sldChg chg="add">
        <pc:chgData name="eugeniy sizov" userId="f166da1dfb7bc990" providerId="LiveId" clId="{654196CE-9824-4647-92C8-E2CB645CBBBD}" dt="2020-03-12T16:17:11.731" v="2"/>
        <pc:sldMkLst>
          <pc:docMk/>
          <pc:sldMk cId="920155547" sldId="440"/>
        </pc:sldMkLst>
      </pc:sldChg>
      <pc:sldChg chg="add del">
        <pc:chgData name="eugeniy sizov" userId="f166da1dfb7bc990" providerId="LiveId" clId="{654196CE-9824-4647-92C8-E2CB645CBBBD}" dt="2020-03-12T16:16:54.759" v="1"/>
        <pc:sldMkLst>
          <pc:docMk/>
          <pc:sldMk cId="2138207179" sldId="440"/>
        </pc:sldMkLst>
      </pc:sldChg>
      <pc:sldChg chg="add del">
        <pc:chgData name="eugeniy sizov" userId="f166da1dfb7bc990" providerId="LiveId" clId="{654196CE-9824-4647-92C8-E2CB645CBBBD}" dt="2020-03-12T16:16:54.759" v="1"/>
        <pc:sldMkLst>
          <pc:docMk/>
          <pc:sldMk cId="3399926705" sldId="441"/>
        </pc:sldMkLst>
      </pc:sldChg>
      <pc:sldChg chg="add">
        <pc:chgData name="eugeniy sizov" userId="f166da1dfb7bc990" providerId="LiveId" clId="{654196CE-9824-4647-92C8-E2CB645CBBBD}" dt="2020-03-12T16:17:11.731" v="2"/>
        <pc:sldMkLst>
          <pc:docMk/>
          <pc:sldMk cId="3762025869" sldId="441"/>
        </pc:sldMkLst>
      </pc:sldChg>
      <pc:sldChg chg="add del">
        <pc:chgData name="eugeniy sizov" userId="f166da1dfb7bc990" providerId="LiveId" clId="{654196CE-9824-4647-92C8-E2CB645CBBBD}" dt="2020-03-12T16:17:11.731" v="2"/>
        <pc:sldMkLst>
          <pc:docMk/>
          <pc:sldMk cId="1918750642" sldId="442"/>
        </pc:sldMkLst>
      </pc:sldChg>
      <pc:sldChg chg="add del">
        <pc:chgData name="eugeniy sizov" userId="f166da1dfb7bc990" providerId="LiveId" clId="{654196CE-9824-4647-92C8-E2CB645CBBBD}" dt="2020-03-12T16:17:11.731" v="2"/>
        <pc:sldMkLst>
          <pc:docMk/>
          <pc:sldMk cId="2262429380" sldId="444"/>
        </pc:sldMkLst>
      </pc:sldChg>
      <pc:sldChg chg="add del">
        <pc:chgData name="eugeniy sizov" userId="f166da1dfb7bc990" providerId="LiveId" clId="{654196CE-9824-4647-92C8-E2CB645CBBBD}" dt="2020-03-12T16:16:54.759" v="1"/>
        <pc:sldMkLst>
          <pc:docMk/>
          <pc:sldMk cId="920155547" sldId="445"/>
        </pc:sldMkLst>
      </pc:sldChg>
      <pc:sldChg chg="add">
        <pc:chgData name="eugeniy sizov" userId="f166da1dfb7bc990" providerId="LiveId" clId="{654196CE-9824-4647-92C8-E2CB645CBBBD}" dt="2020-03-12T16:17:11.731" v="2"/>
        <pc:sldMkLst>
          <pc:docMk/>
          <pc:sldMk cId="2505002058" sldId="445"/>
        </pc:sldMkLst>
      </pc:sldChg>
      <pc:sldChg chg="add del">
        <pc:chgData name="eugeniy sizov" userId="f166da1dfb7bc990" providerId="LiveId" clId="{654196CE-9824-4647-92C8-E2CB645CBBBD}" dt="2020-03-12T16:16:54.759" v="1"/>
        <pc:sldMkLst>
          <pc:docMk/>
          <pc:sldMk cId="3762025869" sldId="446"/>
        </pc:sldMkLst>
      </pc:sldChg>
      <pc:sldChg chg="add del">
        <pc:chgData name="eugeniy sizov" userId="f166da1dfb7bc990" providerId="LiveId" clId="{654196CE-9824-4647-92C8-E2CB645CBBBD}" dt="2020-03-12T16:16:54.759" v="1"/>
        <pc:sldMkLst>
          <pc:docMk/>
          <pc:sldMk cId="2505002058" sldId="447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одзаголовок 2"/>
          <p:cNvSpPr txBox="1">
            <a:spLocks/>
          </p:cNvSpPr>
          <p:nvPr/>
        </p:nvSpPr>
        <p:spPr bwMode="auto">
          <a:xfrm>
            <a:off x="179388" y="115888"/>
            <a:ext cx="6768876" cy="571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20000"/>
              </a:spcBef>
              <a:buClr>
                <a:srgbClr val="C00000"/>
              </a:buClr>
              <a:defRPr/>
            </a:pPr>
            <a:r>
              <a:rPr kumimoji="0" lang="ru-RU" sz="1800" b="1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Конфигурирование</a:t>
            </a:r>
            <a:r>
              <a:rPr kumimoji="0" lang="ru-RU" sz="1800" b="1" baseline="0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 в системе 1С: Предприятие 8</a:t>
            </a:r>
            <a:endParaRPr kumimoji="0" lang="ru-RU" sz="1800" b="1" dirty="0">
              <a:solidFill>
                <a:srgbClr val="0070C0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79388" y="548679"/>
            <a:ext cx="8784000" cy="720081"/>
          </a:xfrm>
        </p:spPr>
        <p:txBody>
          <a:bodyPr/>
          <a:lstStyle>
            <a:lvl1pPr algn="ctr">
              <a:defRPr sz="3200" baseline="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79388" y="1293839"/>
            <a:ext cx="8782050" cy="222339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rgbClr val="0070C0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318145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268680"/>
            <a:ext cx="8784000" cy="4968631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185862" y="548680"/>
            <a:ext cx="8784000" cy="72000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249124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340768"/>
            <a:ext cx="3954090" cy="4896543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185862" y="548680"/>
            <a:ext cx="8784000" cy="72008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5" name="Рисунок 2"/>
          <p:cNvSpPr>
            <a:spLocks noGrp="1"/>
          </p:cNvSpPr>
          <p:nvPr>
            <p:ph type="pic" idx="10"/>
          </p:nvPr>
        </p:nvSpPr>
        <p:spPr>
          <a:xfrm>
            <a:off x="4314207" y="1340768"/>
            <a:ext cx="4629150" cy="489654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ru-RU" noProof="0"/>
              <a:t>Вставка рисунка</a:t>
            </a:r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10549292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268680"/>
            <a:ext cx="8784000" cy="4968631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rgbClr val="FF0000"/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rgbClr val="0070C0"/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174651" y="548680"/>
            <a:ext cx="8784000" cy="72000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406928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52270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4788" y="548680"/>
            <a:ext cx="8784000" cy="72000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74788" y="1268680"/>
            <a:ext cx="8784000" cy="4968632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524892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184284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2702810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png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6" name="Группа 3"/>
          <p:cNvGrpSpPr>
            <a:grpSpLocks/>
          </p:cNvGrpSpPr>
          <p:nvPr/>
        </p:nvGrpSpPr>
        <p:grpSpPr bwMode="auto">
          <a:xfrm>
            <a:off x="185738" y="549275"/>
            <a:ext cx="8784000" cy="0"/>
            <a:chOff x="185862" y="620688"/>
            <a:chExt cx="8775700" cy="0"/>
          </a:xfrm>
        </p:grpSpPr>
        <p:cxnSp>
          <p:nvCxnSpPr>
            <p:cNvPr id="16" name="Прямая соединительная линия 15"/>
            <p:cNvCxnSpPr/>
            <p:nvPr/>
          </p:nvCxnSpPr>
          <p:spPr>
            <a:xfrm>
              <a:off x="185862" y="620688"/>
              <a:ext cx="8775700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Прямая соединительная линия 16"/>
            <p:cNvCxnSpPr/>
            <p:nvPr/>
          </p:nvCxnSpPr>
          <p:spPr>
            <a:xfrm>
              <a:off x="185862" y="620688"/>
              <a:ext cx="2522537" cy="0"/>
            </a:xfrm>
            <a:prstGeom prst="line">
              <a:avLst/>
            </a:prstGeom>
            <a:ln w="381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188119" y="571977"/>
            <a:ext cx="8784000" cy="5487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8" name="Номер слайда 5"/>
          <p:cNvSpPr txBox="1">
            <a:spLocks/>
          </p:cNvSpPr>
          <p:nvPr/>
        </p:nvSpPr>
        <p:spPr>
          <a:xfrm>
            <a:off x="-1" y="6310313"/>
            <a:ext cx="855663" cy="293687"/>
          </a:xfrm>
          <a:prstGeom prst="rect">
            <a:avLst/>
          </a:prstGeom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>
              <a:defRPr/>
            </a:pPr>
            <a:fld id="{84FD9DA7-1D53-4DDE-8D05-49E2417E29ED}" type="slidenum">
              <a:rPr lang="ru-RU" sz="1600" smtClean="0">
                <a:solidFill>
                  <a:srgbClr val="0066CC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pPr algn="r">
                <a:defRPr/>
              </a:pPr>
              <a:t>‹#›</a:t>
            </a:fld>
            <a:r>
              <a:rPr lang="ru-RU" sz="1600" dirty="0" smtClean="0">
                <a:solidFill>
                  <a:srgbClr val="FF000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/44</a:t>
            </a:r>
            <a:endParaRPr lang="ru-RU" sz="1600" dirty="0">
              <a:solidFill>
                <a:srgbClr val="FF0000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grpSp>
        <p:nvGrpSpPr>
          <p:cNvPr id="1029" name="Группа 17"/>
          <p:cNvGrpSpPr>
            <a:grpSpLocks/>
          </p:cNvGrpSpPr>
          <p:nvPr/>
        </p:nvGrpSpPr>
        <p:grpSpPr bwMode="auto">
          <a:xfrm>
            <a:off x="185738" y="6604000"/>
            <a:ext cx="6402387" cy="180975"/>
            <a:chOff x="185862" y="620688"/>
            <a:chExt cx="8775700" cy="0"/>
          </a:xfrm>
        </p:grpSpPr>
        <p:cxnSp>
          <p:nvCxnSpPr>
            <p:cNvPr id="19" name="Прямая соединительная линия 18"/>
            <p:cNvCxnSpPr/>
            <p:nvPr/>
          </p:nvCxnSpPr>
          <p:spPr>
            <a:xfrm>
              <a:off x="185862" y="620688"/>
              <a:ext cx="8775700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Прямая соединительная линия 19"/>
            <p:cNvCxnSpPr/>
            <p:nvPr/>
          </p:nvCxnSpPr>
          <p:spPr>
            <a:xfrm>
              <a:off x="185862" y="620688"/>
              <a:ext cx="2521952" cy="0"/>
            </a:xfrm>
            <a:prstGeom prst="line">
              <a:avLst/>
            </a:prstGeom>
            <a:ln w="381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30" name="Рисунок 1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2588" y="6310313"/>
            <a:ext cx="2224087" cy="411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Подзаголовок 2"/>
          <p:cNvSpPr txBox="1">
            <a:spLocks/>
          </p:cNvSpPr>
          <p:nvPr/>
        </p:nvSpPr>
        <p:spPr bwMode="auto">
          <a:xfrm>
            <a:off x="179388" y="115888"/>
            <a:ext cx="6768876" cy="571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20000"/>
              </a:spcBef>
              <a:buClr>
                <a:srgbClr val="C00000"/>
              </a:buClr>
              <a:defRPr/>
            </a:pPr>
            <a:r>
              <a:rPr kumimoji="0" lang="ru-RU" sz="1800" b="1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Конфигурирование</a:t>
            </a:r>
            <a:r>
              <a:rPr kumimoji="0" lang="ru-RU" sz="1800" b="1" baseline="0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 в системе 1С: Предприятие 8</a:t>
            </a:r>
            <a:endParaRPr kumimoji="0" lang="ru-RU" sz="1800" b="1" dirty="0">
              <a:solidFill>
                <a:srgbClr val="0070C0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2" name="TextBox 14"/>
          <p:cNvSpPr txBox="1">
            <a:spLocks noChangeArrowheads="1"/>
          </p:cNvSpPr>
          <p:nvPr/>
        </p:nvSpPr>
        <p:spPr bwMode="auto">
          <a:xfrm>
            <a:off x="5435600" y="138113"/>
            <a:ext cx="352583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>
              <a:defRPr/>
            </a:pPr>
            <a:r>
              <a:rPr lang="ru-RU" sz="1600" dirty="0">
                <a:solidFill>
                  <a:srgbClr val="0070C0"/>
                </a:solidFill>
                <a:latin typeface="Tahoma" pitchFamily="34" charset="0"/>
                <a:cs typeface="Tahoma" pitchFamily="34" charset="0"/>
              </a:rPr>
              <a:t>Бухгалтерские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11057155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2" r:id="rId1"/>
    <p:sldLayoutId id="2147483693" r:id="rId2"/>
    <p:sldLayoutId id="2147483694" r:id="rId3"/>
    <p:sldLayoutId id="2147483695" r:id="rId4"/>
    <p:sldLayoutId id="2147483696" r:id="rId5"/>
    <p:sldLayoutId id="2147483697" r:id="rId6"/>
    <p:sldLayoutId id="2147483698" r:id="rId7"/>
    <p:sldLayoutId id="2147483699" r:id="rId8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sz="3200" b="1" kern="1200">
          <a:ln>
            <a:solidFill>
              <a:schemeClr val="bg1"/>
            </a:solidFill>
          </a:ln>
          <a:gradFill>
            <a:gsLst>
              <a:gs pos="55000">
                <a:srgbClr val="F50516"/>
              </a:gs>
              <a:gs pos="86000">
                <a:srgbClr val="C00000"/>
              </a:gs>
            </a:gsLst>
            <a:lin ang="5400000" scaled="0"/>
          </a:gradFill>
          <a:effectLst>
            <a:outerShdw blurRad="38100" dist="38100" dir="5400000" algn="ctr" rotWithShape="0">
              <a:schemeClr val="bg1">
                <a:lumMod val="50000"/>
              </a:schemeClr>
            </a:outerShdw>
          </a:effectLst>
          <a:latin typeface="Arial Black" pitchFamily="34" charset="0"/>
          <a:ea typeface="Verdana" pitchFamily="34" charset="0"/>
          <a:cs typeface="Verdana" pitchFamily="34" charset="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rgbClr val="C00000"/>
        </a:buClr>
        <a:defRPr sz="2800" b="1" kern="1200">
          <a:solidFill>
            <a:srgbClr val="0070C0"/>
          </a:solidFill>
          <a:latin typeface="Tahoma" pitchFamily="34" charset="0"/>
          <a:ea typeface="Tahoma" pitchFamily="34" charset="0"/>
          <a:cs typeface="Tahoma" pitchFamily="34" charset="0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Blip>
          <a:blip r:embed="rId11"/>
        </a:buBlip>
        <a:defRPr sz="2800" b="1" kern="1200">
          <a:solidFill>
            <a:srgbClr val="FF0000"/>
          </a:solidFill>
          <a:latin typeface="Tahoma" pitchFamily="34" charset="0"/>
          <a:ea typeface="Tahoma" pitchFamily="34" charset="0"/>
          <a:cs typeface="Tahoma" pitchFamily="34" charset="0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Blip>
          <a:blip r:embed="rId12"/>
        </a:buBlip>
        <a:defRPr sz="2000" b="1" kern="1200">
          <a:solidFill>
            <a:srgbClr val="0070C0"/>
          </a:solidFill>
          <a:latin typeface="Tahoma" pitchFamily="34" charset="0"/>
          <a:ea typeface="Tahoma" pitchFamily="34" charset="0"/>
          <a:cs typeface="Tahoma" pitchFamily="34" charset="0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anose="05000000000000000000" pitchFamily="2" charset="2"/>
        <a:buChar char="§"/>
        <a:defRPr b="1" kern="1200">
          <a:solidFill>
            <a:srgbClr val="404040"/>
          </a:solidFill>
          <a:latin typeface="Tahoma" pitchFamily="34" charset="0"/>
          <a:ea typeface="Tahoma" pitchFamily="34" charset="0"/>
          <a:cs typeface="Tahoma" pitchFamily="34" charset="0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Arial" panose="020B0604020202020204" pitchFamily="34" charset="0"/>
        <a:buChar char="•"/>
        <a:defRPr sz="1600" kern="1200">
          <a:solidFill>
            <a:srgbClr val="404040"/>
          </a:solidFill>
          <a:latin typeface="Tahoma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Объект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Количественный учет</a:t>
            </a:r>
          </a:p>
          <a:p>
            <a:r>
              <a:rPr lang="ru-RU" dirty="0"/>
              <a:t>Опциональная аналитика</a:t>
            </a:r>
          </a:p>
          <a:p>
            <a:r>
              <a:rPr lang="ru-RU" dirty="0"/>
              <a:t>Традиционная технология обусловленного проведения</a:t>
            </a:r>
          </a:p>
          <a:p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Занятие 14</a:t>
            </a:r>
          </a:p>
        </p:txBody>
      </p:sp>
    </p:spTree>
    <p:extLst>
      <p:ext uri="{BB962C8B-B14F-4D97-AF65-F5344CB8AC3E}">
        <p14:creationId xmlns:p14="http://schemas.microsoft.com/office/powerpoint/2010/main" val="20389534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Количественный учет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Небалансовый вид учета</a:t>
            </a:r>
          </a:p>
        </p:txBody>
      </p:sp>
    </p:spTree>
    <p:extLst>
      <p:ext uri="{BB962C8B-B14F-4D97-AF65-F5344CB8AC3E}">
        <p14:creationId xmlns:p14="http://schemas.microsoft.com/office/powerpoint/2010/main" val="12632273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Количественный учет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5171373"/>
              </p:ext>
            </p:extLst>
          </p:nvPr>
        </p:nvGraphicFramePr>
        <p:xfrm>
          <a:off x="429660" y="1397000"/>
          <a:ext cx="807536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8118">
                  <a:extLst>
                    <a:ext uri="{9D8B030D-6E8A-4147-A177-3AD203B41FA5}">
                      <a16:colId xmlns:a16="http://schemas.microsoft.com/office/drawing/2014/main" val="394991951"/>
                    </a:ext>
                  </a:extLst>
                </a:gridCol>
                <a:gridCol w="1192026">
                  <a:extLst>
                    <a:ext uri="{9D8B030D-6E8A-4147-A177-3AD203B41FA5}">
                      <a16:colId xmlns:a16="http://schemas.microsoft.com/office/drawing/2014/main" val="824950313"/>
                    </a:ext>
                  </a:extLst>
                </a:gridCol>
                <a:gridCol w="1958798">
                  <a:extLst>
                    <a:ext uri="{9D8B030D-6E8A-4147-A177-3AD203B41FA5}">
                      <a16:colId xmlns:a16="http://schemas.microsoft.com/office/drawing/2014/main" val="2130443275"/>
                    </a:ext>
                  </a:extLst>
                </a:gridCol>
                <a:gridCol w="1271346">
                  <a:extLst>
                    <a:ext uri="{9D8B030D-6E8A-4147-A177-3AD203B41FA5}">
                      <a16:colId xmlns:a16="http://schemas.microsoft.com/office/drawing/2014/main" val="278535266"/>
                    </a:ext>
                  </a:extLst>
                </a:gridCol>
                <a:gridCol w="1615072">
                  <a:extLst>
                    <a:ext uri="{9D8B030D-6E8A-4147-A177-3AD203B41FA5}">
                      <a16:colId xmlns:a16="http://schemas.microsoft.com/office/drawing/2014/main" val="11905289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Счет Дт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Кол-во Дт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Счет Кт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Кол-во Кт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Сумма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2179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&lt;41.1</a:t>
                      </a:r>
                      <a:r>
                        <a:rPr lang="ru-RU" baseline="0" dirty="0"/>
                        <a:t> Товары&gt;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&lt;60 Поставщики&gt;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0508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&lt;41.1</a:t>
                      </a:r>
                      <a:r>
                        <a:rPr lang="ru-RU" baseline="0" dirty="0"/>
                        <a:t> Товары</a:t>
                      </a:r>
                      <a:r>
                        <a:rPr lang="ru-RU" dirty="0"/>
                        <a:t>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&lt;41.1</a:t>
                      </a:r>
                      <a:r>
                        <a:rPr lang="ru-RU" baseline="0" dirty="0"/>
                        <a:t> Товары&gt;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500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0319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&lt;60 Поставщики&gt;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&lt;50 Касса&gt;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700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5740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035004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Признак учета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3029" y="1120775"/>
            <a:ext cx="4634219" cy="4900751"/>
          </a:xfrm>
          <a:prstGeom prst="rect">
            <a:avLst/>
          </a:prstGeom>
        </p:spPr>
      </p:pic>
      <p:sp>
        <p:nvSpPr>
          <p:cNvPr id="6" name="Rounded Rectangle 3"/>
          <p:cNvSpPr/>
          <p:nvPr/>
        </p:nvSpPr>
        <p:spPr>
          <a:xfrm>
            <a:off x="3800500" y="3701988"/>
            <a:ext cx="2715709" cy="262373"/>
          </a:xfrm>
          <a:prstGeom prst="roundRect">
            <a:avLst/>
          </a:prstGeom>
          <a:solidFill>
            <a:srgbClr val="C00000">
              <a:alpha val="10000"/>
            </a:srgbClr>
          </a:solidFill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99126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250"/>
                            </p:stCondLst>
                            <p:childTnLst>
                              <p:par>
                                <p:cTn id="13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6" grpId="2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Настройка в регистре бухгалтерии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431" y="1233071"/>
            <a:ext cx="4724400" cy="4533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2211397" y="2929631"/>
            <a:ext cx="2715709" cy="262373"/>
          </a:xfrm>
          <a:prstGeom prst="roundRect">
            <a:avLst/>
          </a:prstGeom>
          <a:solidFill>
            <a:srgbClr val="C00000">
              <a:alpha val="10000"/>
            </a:srgbClr>
          </a:solidFill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3831" y="3010408"/>
            <a:ext cx="3952875" cy="1933575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3831" y="4943983"/>
            <a:ext cx="3943350" cy="1295400"/>
          </a:xfrm>
          <a:prstGeom prst="rect">
            <a:avLst/>
          </a:prstGeom>
        </p:spPr>
      </p:pic>
      <p:sp>
        <p:nvSpPr>
          <p:cNvPr id="7" name="Rounded Rectangle 3"/>
          <p:cNvSpPr/>
          <p:nvPr/>
        </p:nvSpPr>
        <p:spPr>
          <a:xfrm>
            <a:off x="4973831" y="4961917"/>
            <a:ext cx="3815062" cy="444584"/>
          </a:xfrm>
          <a:prstGeom prst="roundRect">
            <a:avLst/>
          </a:prstGeom>
          <a:solidFill>
            <a:srgbClr val="C00000">
              <a:alpha val="10000"/>
            </a:srgbClr>
          </a:solidFill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TextBox 7"/>
          <p:cNvSpPr txBox="1"/>
          <p:nvPr/>
        </p:nvSpPr>
        <p:spPr>
          <a:xfrm>
            <a:off x="5431316" y="1233071"/>
            <a:ext cx="335757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rgbClr val="0070C0"/>
                </a:solidFill>
                <a:latin typeface="Arial Black" panose="020B0A04020102020204" pitchFamily="34" charset="0"/>
              </a:rPr>
              <a:t>Количество по счету будет заполняться, если у счета включен признак учета «Количественный»</a:t>
            </a:r>
          </a:p>
        </p:txBody>
      </p:sp>
      <p:cxnSp>
        <p:nvCxnSpPr>
          <p:cNvPr id="10" name="Прямая со стрелкой 9"/>
          <p:cNvCxnSpPr/>
          <p:nvPr/>
        </p:nvCxnSpPr>
        <p:spPr>
          <a:xfrm flipH="1">
            <a:off x="7238082" y="2710399"/>
            <a:ext cx="77118" cy="247381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5244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75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500"/>
                            </p:stCondLst>
                            <p:childTnLst>
                              <p:par>
                                <p:cTn id="16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500" tmFilter="0, 0; .2, .5; .8, .5; 1, 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8" dur="250" autoRev="1" fill="hold"/>
                                        <p:tgtEl>
                                          <p:spTgt spid="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0"/>
                            </p:stCondLst>
                            <p:childTnLst>
                              <p:par>
                                <p:cTn id="20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375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4500"/>
                            </p:stCondLst>
                            <p:childTnLst>
                              <p:par>
                                <p:cTn id="28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500" tmFilter="0, 0; .2, .5; .8, .5; 1, 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0" dur="250" autoRev="1" fill="hold"/>
                                        <p:tgtEl>
                                          <p:spTgt spid="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6000"/>
                            </p:stCondLst>
                            <p:childTnLst>
                              <p:par>
                                <p:cTn id="32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675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750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4" grpId="2" animBg="1"/>
      <p:bldP spid="7" grpId="0" animBg="1"/>
      <p:bldP spid="7" grpId="1" animBg="1"/>
      <p:bldP spid="7" grpId="2" animBg="1"/>
      <p:bldP spid="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756000"/>
          </a:xfrm>
        </p:spPr>
        <p:txBody>
          <a:bodyPr>
            <a:normAutofit fontScale="90000"/>
          </a:bodyPr>
          <a:lstStyle/>
          <a:p>
            <a:r>
              <a:rPr lang="ru-RU" dirty="0"/>
              <a:t>Таблица движений по счетам до изменения.</a:t>
            </a:r>
          </a:p>
        </p:txBody>
      </p:sp>
      <p:graphicFrame>
        <p:nvGraphicFramePr>
          <p:cNvPr id="10" name="Таблица 9"/>
          <p:cNvGraphicFramePr>
            <a:graphicFrameLocks noGrp="1"/>
          </p:cNvGraphicFramePr>
          <p:nvPr/>
        </p:nvGraphicFramePr>
        <p:xfrm>
          <a:off x="632114" y="1954643"/>
          <a:ext cx="1039801" cy="46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398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Регистратор</a:t>
                      </a:r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" name="Таблица 10"/>
          <p:cNvGraphicFramePr>
            <a:graphicFrameLocks noGrp="1"/>
          </p:cNvGraphicFramePr>
          <p:nvPr/>
        </p:nvGraphicFramePr>
        <p:xfrm>
          <a:off x="1618735" y="1954643"/>
          <a:ext cx="650542" cy="46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505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Номер строки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" name="Таблица 11"/>
          <p:cNvGraphicFramePr>
            <a:graphicFrameLocks noGrp="1"/>
          </p:cNvGraphicFramePr>
          <p:nvPr/>
        </p:nvGraphicFramePr>
        <p:xfrm>
          <a:off x="2272777" y="1954643"/>
          <a:ext cx="927822" cy="46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278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Период</a:t>
                      </a:r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" name="Таблица 12"/>
          <p:cNvGraphicFramePr>
            <a:graphicFrameLocks noGrp="1"/>
          </p:cNvGraphicFramePr>
          <p:nvPr/>
        </p:nvGraphicFramePr>
        <p:xfrm>
          <a:off x="3201839" y="1954643"/>
          <a:ext cx="927822" cy="46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278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…</a:t>
                      </a:r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" name="Таблица 13"/>
          <p:cNvGraphicFramePr>
            <a:graphicFrameLocks noGrp="1"/>
          </p:cNvGraphicFramePr>
          <p:nvPr/>
        </p:nvGraphicFramePr>
        <p:xfrm>
          <a:off x="4126925" y="1954643"/>
          <a:ext cx="3402012" cy="46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931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3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15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Счет </a:t>
                      </a:r>
                      <a:r>
                        <a:rPr lang="ru-RU" sz="1200" dirty="0" err="1"/>
                        <a:t>Дт</a:t>
                      </a:r>
                      <a:endParaRPr lang="ru-RU" sz="1200" dirty="0"/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Счет </a:t>
                      </a:r>
                      <a:r>
                        <a:rPr lang="ru-RU" sz="1200" dirty="0" err="1"/>
                        <a:t>Кт</a:t>
                      </a:r>
                      <a:endParaRPr lang="ru-RU" sz="1200" dirty="0"/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Сумма</a:t>
                      </a:r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" name="Таблица 14"/>
          <p:cNvGraphicFramePr>
            <a:graphicFrameLocks noGrp="1"/>
          </p:cNvGraphicFramePr>
          <p:nvPr/>
        </p:nvGraphicFramePr>
        <p:xfrm>
          <a:off x="632114" y="2418771"/>
          <a:ext cx="1039801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398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&lt;ПТУ</a:t>
                      </a:r>
                      <a:r>
                        <a:rPr lang="ru-RU" sz="1200" baseline="0" dirty="0"/>
                        <a:t> № 1&gt;</a:t>
                      </a:r>
                      <a:endParaRPr lang="ru-RU" sz="12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6" name="Таблица 15"/>
          <p:cNvGraphicFramePr>
            <a:graphicFrameLocks noGrp="1"/>
          </p:cNvGraphicFramePr>
          <p:nvPr/>
        </p:nvGraphicFramePr>
        <p:xfrm>
          <a:off x="1618735" y="2418771"/>
          <a:ext cx="65054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505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7" name="Таблица 16"/>
          <p:cNvGraphicFramePr>
            <a:graphicFrameLocks noGrp="1"/>
          </p:cNvGraphicFramePr>
          <p:nvPr/>
        </p:nvGraphicFramePr>
        <p:xfrm>
          <a:off x="2272777" y="2418771"/>
          <a:ext cx="92782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278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12.04.2015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8" name="Таблица 17"/>
          <p:cNvGraphicFramePr>
            <a:graphicFrameLocks noGrp="1"/>
          </p:cNvGraphicFramePr>
          <p:nvPr/>
        </p:nvGraphicFramePr>
        <p:xfrm>
          <a:off x="3201839" y="2418771"/>
          <a:ext cx="92782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278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…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9" name="Таблица 18"/>
          <p:cNvGraphicFramePr>
            <a:graphicFrameLocks noGrp="1"/>
          </p:cNvGraphicFramePr>
          <p:nvPr/>
        </p:nvGraphicFramePr>
        <p:xfrm>
          <a:off x="4126925" y="2418771"/>
          <a:ext cx="340201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931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3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15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41 (товары)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60 (поставщики)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5000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0" name="Таблица 19"/>
          <p:cNvGraphicFramePr>
            <a:graphicFrameLocks noGrp="1"/>
          </p:cNvGraphicFramePr>
          <p:nvPr/>
        </p:nvGraphicFramePr>
        <p:xfrm>
          <a:off x="628651" y="2706253"/>
          <a:ext cx="1039801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398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&lt;ПТУ</a:t>
                      </a:r>
                      <a:r>
                        <a:rPr lang="ru-RU" sz="1200" baseline="0" dirty="0"/>
                        <a:t> № 2&gt;</a:t>
                      </a:r>
                      <a:endParaRPr lang="ru-RU" sz="12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1" name="Таблица 20"/>
          <p:cNvGraphicFramePr>
            <a:graphicFrameLocks noGrp="1"/>
          </p:cNvGraphicFramePr>
          <p:nvPr/>
        </p:nvGraphicFramePr>
        <p:xfrm>
          <a:off x="1615272" y="2706253"/>
          <a:ext cx="65054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505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2" name="Таблица 21"/>
          <p:cNvGraphicFramePr>
            <a:graphicFrameLocks noGrp="1"/>
          </p:cNvGraphicFramePr>
          <p:nvPr/>
        </p:nvGraphicFramePr>
        <p:xfrm>
          <a:off x="2269314" y="2706253"/>
          <a:ext cx="92782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278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22.04.2015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3" name="Таблица 22"/>
          <p:cNvGraphicFramePr>
            <a:graphicFrameLocks noGrp="1"/>
          </p:cNvGraphicFramePr>
          <p:nvPr/>
        </p:nvGraphicFramePr>
        <p:xfrm>
          <a:off x="3198376" y="2706253"/>
          <a:ext cx="92782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278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…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4" name="Таблица 23"/>
          <p:cNvGraphicFramePr>
            <a:graphicFrameLocks noGrp="1"/>
          </p:cNvGraphicFramePr>
          <p:nvPr/>
        </p:nvGraphicFramePr>
        <p:xfrm>
          <a:off x="4126925" y="2706253"/>
          <a:ext cx="340201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931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3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15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41 (товары)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60 (поставщики)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70000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5" name="Таблица 24"/>
          <p:cNvGraphicFramePr>
            <a:graphicFrameLocks noGrp="1"/>
          </p:cNvGraphicFramePr>
          <p:nvPr/>
        </p:nvGraphicFramePr>
        <p:xfrm>
          <a:off x="628650" y="2997199"/>
          <a:ext cx="1039801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398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&lt;ПТУ</a:t>
                      </a:r>
                      <a:r>
                        <a:rPr lang="ru-RU" sz="1200" baseline="0" dirty="0"/>
                        <a:t> № 3&gt;</a:t>
                      </a:r>
                      <a:endParaRPr lang="ru-RU" sz="12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6" name="Таблица 25"/>
          <p:cNvGraphicFramePr>
            <a:graphicFrameLocks noGrp="1"/>
          </p:cNvGraphicFramePr>
          <p:nvPr/>
        </p:nvGraphicFramePr>
        <p:xfrm>
          <a:off x="1615271" y="2997199"/>
          <a:ext cx="65054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505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7" name="Таблица 26"/>
          <p:cNvGraphicFramePr>
            <a:graphicFrameLocks noGrp="1"/>
          </p:cNvGraphicFramePr>
          <p:nvPr/>
        </p:nvGraphicFramePr>
        <p:xfrm>
          <a:off x="2269313" y="2997199"/>
          <a:ext cx="92782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278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19.04.2015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Таблица 27"/>
          <p:cNvGraphicFramePr>
            <a:graphicFrameLocks noGrp="1"/>
          </p:cNvGraphicFramePr>
          <p:nvPr/>
        </p:nvGraphicFramePr>
        <p:xfrm>
          <a:off x="3198375" y="2997199"/>
          <a:ext cx="92782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278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…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9" name="Таблица 28"/>
          <p:cNvGraphicFramePr>
            <a:graphicFrameLocks noGrp="1"/>
          </p:cNvGraphicFramePr>
          <p:nvPr/>
        </p:nvGraphicFramePr>
        <p:xfrm>
          <a:off x="4126925" y="2997199"/>
          <a:ext cx="340201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931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3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15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41 (товары)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60 (поставщики)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10000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0" name="Таблица 29"/>
          <p:cNvGraphicFramePr>
            <a:graphicFrameLocks noGrp="1"/>
          </p:cNvGraphicFramePr>
          <p:nvPr/>
        </p:nvGraphicFramePr>
        <p:xfrm>
          <a:off x="628650" y="3290976"/>
          <a:ext cx="1039801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398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&lt;ПТУ</a:t>
                      </a:r>
                      <a:r>
                        <a:rPr lang="ru-RU" sz="1200" baseline="0" dirty="0"/>
                        <a:t> № 4&gt;</a:t>
                      </a:r>
                      <a:endParaRPr lang="ru-RU" sz="12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1" name="Таблица 30"/>
          <p:cNvGraphicFramePr>
            <a:graphicFrameLocks noGrp="1"/>
          </p:cNvGraphicFramePr>
          <p:nvPr/>
        </p:nvGraphicFramePr>
        <p:xfrm>
          <a:off x="1615271" y="3290976"/>
          <a:ext cx="65054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505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2" name="Таблица 31"/>
          <p:cNvGraphicFramePr>
            <a:graphicFrameLocks noGrp="1"/>
          </p:cNvGraphicFramePr>
          <p:nvPr/>
        </p:nvGraphicFramePr>
        <p:xfrm>
          <a:off x="2269313" y="3290976"/>
          <a:ext cx="92782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278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19.04.2015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3" name="Таблица 32"/>
          <p:cNvGraphicFramePr>
            <a:graphicFrameLocks noGrp="1"/>
          </p:cNvGraphicFramePr>
          <p:nvPr/>
        </p:nvGraphicFramePr>
        <p:xfrm>
          <a:off x="3198375" y="3290976"/>
          <a:ext cx="92782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278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…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4" name="Таблица 33"/>
          <p:cNvGraphicFramePr>
            <a:graphicFrameLocks noGrp="1"/>
          </p:cNvGraphicFramePr>
          <p:nvPr/>
        </p:nvGraphicFramePr>
        <p:xfrm>
          <a:off x="4126925" y="3290976"/>
          <a:ext cx="340201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931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3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15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10 (материалы)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60 (поставщики)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8000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38895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756000"/>
          </a:xfrm>
        </p:spPr>
        <p:txBody>
          <a:bodyPr>
            <a:normAutofit fontScale="90000"/>
          </a:bodyPr>
          <a:lstStyle/>
          <a:p>
            <a:r>
              <a:rPr lang="ru-RU" dirty="0"/>
              <a:t>Таблица движений по счетам после изменений</a:t>
            </a:r>
          </a:p>
        </p:txBody>
      </p:sp>
      <p:graphicFrame>
        <p:nvGraphicFramePr>
          <p:cNvPr id="10" name="Таблица 9"/>
          <p:cNvGraphicFramePr>
            <a:graphicFrameLocks noGrp="1"/>
          </p:cNvGraphicFramePr>
          <p:nvPr/>
        </p:nvGraphicFramePr>
        <p:xfrm>
          <a:off x="507422" y="1954643"/>
          <a:ext cx="1039801" cy="46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398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Регистратор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" name="Таблица 10"/>
          <p:cNvGraphicFramePr>
            <a:graphicFrameLocks noGrp="1"/>
          </p:cNvGraphicFramePr>
          <p:nvPr/>
        </p:nvGraphicFramePr>
        <p:xfrm>
          <a:off x="978472" y="1954643"/>
          <a:ext cx="650542" cy="46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505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Номер строки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" name="Таблица 11"/>
          <p:cNvGraphicFramePr>
            <a:graphicFrameLocks noGrp="1"/>
          </p:cNvGraphicFramePr>
          <p:nvPr/>
        </p:nvGraphicFramePr>
        <p:xfrm>
          <a:off x="1369868" y="1954643"/>
          <a:ext cx="927822" cy="46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278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Период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" name="Таблица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5776371"/>
              </p:ext>
            </p:extLst>
          </p:nvPr>
        </p:nvGraphicFramePr>
        <p:xfrm>
          <a:off x="2298936" y="1954643"/>
          <a:ext cx="927822" cy="46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278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pPr algn="l"/>
                      <a:r>
                        <a:rPr lang="ru-RU" sz="1200" dirty="0"/>
                        <a:t>…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" name="Таблица 14"/>
          <p:cNvGraphicFramePr>
            <a:graphicFrameLocks noGrp="1"/>
          </p:cNvGraphicFramePr>
          <p:nvPr/>
        </p:nvGraphicFramePr>
        <p:xfrm>
          <a:off x="507422" y="2418771"/>
          <a:ext cx="1039801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398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&lt;ПТУ</a:t>
                      </a:r>
                      <a:r>
                        <a:rPr lang="ru-RU" sz="1200" baseline="0" dirty="0"/>
                        <a:t> № 1&gt;</a:t>
                      </a:r>
                      <a:endParaRPr lang="ru-RU" sz="12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6" name="Таблица 15"/>
          <p:cNvGraphicFramePr>
            <a:graphicFrameLocks noGrp="1"/>
          </p:cNvGraphicFramePr>
          <p:nvPr/>
        </p:nvGraphicFramePr>
        <p:xfrm>
          <a:off x="978472" y="2418771"/>
          <a:ext cx="65054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505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7" name="Таблица 16"/>
          <p:cNvGraphicFramePr>
            <a:graphicFrameLocks noGrp="1"/>
          </p:cNvGraphicFramePr>
          <p:nvPr/>
        </p:nvGraphicFramePr>
        <p:xfrm>
          <a:off x="1369868" y="2418771"/>
          <a:ext cx="92782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278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12.04.2015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8" name="Таблица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8022532"/>
              </p:ext>
            </p:extLst>
          </p:nvPr>
        </p:nvGraphicFramePr>
        <p:xfrm>
          <a:off x="2298936" y="2418771"/>
          <a:ext cx="92782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278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l"/>
                      <a:r>
                        <a:rPr lang="ru-RU" sz="1200" dirty="0"/>
                        <a:t>…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0" name="Таблица 19"/>
          <p:cNvGraphicFramePr>
            <a:graphicFrameLocks noGrp="1"/>
          </p:cNvGraphicFramePr>
          <p:nvPr/>
        </p:nvGraphicFramePr>
        <p:xfrm>
          <a:off x="503959" y="2706253"/>
          <a:ext cx="1039801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398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&lt;ПТУ</a:t>
                      </a:r>
                      <a:r>
                        <a:rPr lang="ru-RU" sz="1200" baseline="0" dirty="0"/>
                        <a:t> № 2&gt;</a:t>
                      </a:r>
                      <a:endParaRPr lang="ru-RU" sz="12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1" name="Таблица 20"/>
          <p:cNvGraphicFramePr>
            <a:graphicFrameLocks noGrp="1"/>
          </p:cNvGraphicFramePr>
          <p:nvPr/>
        </p:nvGraphicFramePr>
        <p:xfrm>
          <a:off x="975009" y="2706253"/>
          <a:ext cx="65054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505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2" name="Таблица 21"/>
          <p:cNvGraphicFramePr>
            <a:graphicFrameLocks noGrp="1"/>
          </p:cNvGraphicFramePr>
          <p:nvPr/>
        </p:nvGraphicFramePr>
        <p:xfrm>
          <a:off x="1366405" y="2706253"/>
          <a:ext cx="92782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278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22.04.2015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3" name="Таблица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5914906"/>
              </p:ext>
            </p:extLst>
          </p:nvPr>
        </p:nvGraphicFramePr>
        <p:xfrm>
          <a:off x="2295473" y="2706253"/>
          <a:ext cx="92782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278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l"/>
                      <a:r>
                        <a:rPr lang="ru-RU" sz="1200" dirty="0"/>
                        <a:t>…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5" name="Таблица 24"/>
          <p:cNvGraphicFramePr>
            <a:graphicFrameLocks noGrp="1"/>
          </p:cNvGraphicFramePr>
          <p:nvPr/>
        </p:nvGraphicFramePr>
        <p:xfrm>
          <a:off x="503958" y="2997199"/>
          <a:ext cx="1039801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398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&lt;ПТУ</a:t>
                      </a:r>
                      <a:r>
                        <a:rPr lang="ru-RU" sz="1200" baseline="0" dirty="0"/>
                        <a:t> № 3&gt;</a:t>
                      </a:r>
                      <a:endParaRPr lang="ru-RU" sz="12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6" name="Таблица 25"/>
          <p:cNvGraphicFramePr>
            <a:graphicFrameLocks noGrp="1"/>
          </p:cNvGraphicFramePr>
          <p:nvPr/>
        </p:nvGraphicFramePr>
        <p:xfrm>
          <a:off x="975008" y="2997199"/>
          <a:ext cx="65054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505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7" name="Таблица 26"/>
          <p:cNvGraphicFramePr>
            <a:graphicFrameLocks noGrp="1"/>
          </p:cNvGraphicFramePr>
          <p:nvPr/>
        </p:nvGraphicFramePr>
        <p:xfrm>
          <a:off x="1366404" y="2997199"/>
          <a:ext cx="92782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278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19.04.2015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Таблица 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6364453"/>
              </p:ext>
            </p:extLst>
          </p:nvPr>
        </p:nvGraphicFramePr>
        <p:xfrm>
          <a:off x="2295472" y="2997199"/>
          <a:ext cx="92782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278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l"/>
                      <a:r>
                        <a:rPr lang="ru-RU" sz="1200" dirty="0"/>
                        <a:t>…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0" name="Таблица 29"/>
          <p:cNvGraphicFramePr>
            <a:graphicFrameLocks noGrp="1"/>
          </p:cNvGraphicFramePr>
          <p:nvPr/>
        </p:nvGraphicFramePr>
        <p:xfrm>
          <a:off x="503958" y="3290976"/>
          <a:ext cx="1039801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398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&lt;ПТУ</a:t>
                      </a:r>
                      <a:r>
                        <a:rPr lang="ru-RU" sz="1200" baseline="0" dirty="0"/>
                        <a:t> № 4&gt;</a:t>
                      </a:r>
                      <a:endParaRPr lang="ru-RU" sz="12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1" name="Таблица 30"/>
          <p:cNvGraphicFramePr>
            <a:graphicFrameLocks noGrp="1"/>
          </p:cNvGraphicFramePr>
          <p:nvPr/>
        </p:nvGraphicFramePr>
        <p:xfrm>
          <a:off x="975008" y="3290976"/>
          <a:ext cx="65054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505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2" name="Таблица 31"/>
          <p:cNvGraphicFramePr>
            <a:graphicFrameLocks noGrp="1"/>
          </p:cNvGraphicFramePr>
          <p:nvPr/>
        </p:nvGraphicFramePr>
        <p:xfrm>
          <a:off x="1366404" y="3290976"/>
          <a:ext cx="92782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278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19.04.2015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3" name="Таблица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8050257"/>
              </p:ext>
            </p:extLst>
          </p:nvPr>
        </p:nvGraphicFramePr>
        <p:xfrm>
          <a:off x="2295472" y="3290976"/>
          <a:ext cx="92782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278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l"/>
                      <a:r>
                        <a:rPr lang="ru-RU" sz="1200" dirty="0"/>
                        <a:t>…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" name="Таблица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760980"/>
              </p:ext>
            </p:extLst>
          </p:nvPr>
        </p:nvGraphicFramePr>
        <p:xfrm>
          <a:off x="3212917" y="1954643"/>
          <a:ext cx="3402012" cy="46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931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3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15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Счет </a:t>
                      </a:r>
                      <a:r>
                        <a:rPr lang="ru-RU" sz="1200" dirty="0" err="1"/>
                        <a:t>Дт</a:t>
                      </a:r>
                      <a:endParaRPr lang="ru-RU" sz="12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Счет </a:t>
                      </a:r>
                      <a:r>
                        <a:rPr lang="ru-RU" sz="1200" dirty="0" err="1"/>
                        <a:t>Кт</a:t>
                      </a:r>
                      <a:endParaRPr lang="ru-RU" sz="12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Сумма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9" name="Таблица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0234956"/>
              </p:ext>
            </p:extLst>
          </p:nvPr>
        </p:nvGraphicFramePr>
        <p:xfrm>
          <a:off x="3212917" y="2418771"/>
          <a:ext cx="340201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931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3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15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41 (товары)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60 (поставщики)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5000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4" name="Таблица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1620870"/>
              </p:ext>
            </p:extLst>
          </p:nvPr>
        </p:nvGraphicFramePr>
        <p:xfrm>
          <a:off x="3212917" y="2706253"/>
          <a:ext cx="340201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931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3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15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41 (товары)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60 (поставщики)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70000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9" name="Таблица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5607165"/>
              </p:ext>
            </p:extLst>
          </p:nvPr>
        </p:nvGraphicFramePr>
        <p:xfrm>
          <a:off x="3212917" y="2997199"/>
          <a:ext cx="340201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931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3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15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41 (товары)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60 (поставщики)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100000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4" name="Таблица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7745156"/>
              </p:ext>
            </p:extLst>
          </p:nvPr>
        </p:nvGraphicFramePr>
        <p:xfrm>
          <a:off x="3212917" y="3290976"/>
          <a:ext cx="3402012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931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31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15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10 (материалы)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60 (поставщики)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8000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41" name="Таблица 4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7667447"/>
              </p:ext>
            </p:extLst>
          </p:nvPr>
        </p:nvGraphicFramePr>
        <p:xfrm>
          <a:off x="6599523" y="1954643"/>
          <a:ext cx="936522" cy="46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365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pPr algn="ctr"/>
                      <a:r>
                        <a:rPr lang="ru-RU" sz="1200" b="1" dirty="0"/>
                        <a:t>Кол-во </a:t>
                      </a:r>
                      <a:r>
                        <a:rPr lang="ru-RU" sz="1200" b="1" baseline="0" dirty="0"/>
                        <a:t>Дт</a:t>
                      </a:r>
                      <a:endParaRPr lang="ru-RU" sz="1200" b="1" dirty="0"/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42" name="Таблица 4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3094566"/>
              </p:ext>
            </p:extLst>
          </p:nvPr>
        </p:nvGraphicFramePr>
        <p:xfrm>
          <a:off x="6599525" y="2426976"/>
          <a:ext cx="936522" cy="1152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365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10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12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15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8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43" name="Таблица 4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3790895"/>
              </p:ext>
            </p:extLst>
          </p:nvPr>
        </p:nvGraphicFramePr>
        <p:xfrm>
          <a:off x="7521210" y="1954643"/>
          <a:ext cx="936000" cy="46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3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pPr algn="ctr"/>
                      <a:r>
                        <a:rPr lang="ru-RU" sz="1200" b="1" dirty="0"/>
                        <a:t>Кол-во </a:t>
                      </a:r>
                      <a:r>
                        <a:rPr lang="ru-RU" sz="1200" b="1" baseline="0" dirty="0"/>
                        <a:t>Кт</a:t>
                      </a:r>
                      <a:endParaRPr lang="ru-RU" sz="1200" b="1" dirty="0"/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44" name="Таблица 4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2436961"/>
              </p:ext>
            </p:extLst>
          </p:nvPr>
        </p:nvGraphicFramePr>
        <p:xfrm>
          <a:off x="7521212" y="2426976"/>
          <a:ext cx="936000" cy="1152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3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510590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808258"/>
          </a:xfrm>
        </p:spPr>
        <p:txBody>
          <a:bodyPr>
            <a:normAutofit fontScale="90000"/>
          </a:bodyPr>
          <a:lstStyle/>
          <a:p>
            <a:r>
              <a:rPr lang="ru-RU" dirty="0"/>
              <a:t>Таблица остатков и оборотов по счетам до изменения.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534569" y="1925217"/>
          <a:ext cx="2179595" cy="57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195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6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Период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Счет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" name="Таблица 5"/>
          <p:cNvGraphicFramePr>
            <a:graphicFrameLocks noGrp="1"/>
          </p:cNvGraphicFramePr>
          <p:nvPr/>
        </p:nvGraphicFramePr>
        <p:xfrm>
          <a:off x="534569" y="3044705"/>
          <a:ext cx="2179595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195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01.05.2015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10 (материалы)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01.05.2015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41 (товары)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01.05.2015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60 (поставщики)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7" name="Таблица 6"/>
          <p:cNvGraphicFramePr>
            <a:graphicFrameLocks noGrp="1"/>
          </p:cNvGraphicFramePr>
          <p:nvPr/>
        </p:nvGraphicFramePr>
        <p:xfrm>
          <a:off x="534569" y="2497559"/>
          <a:ext cx="2179595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195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01.04.2015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41 (товары)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01.04.2015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60 (поставщики)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Таблица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8191161"/>
              </p:ext>
            </p:extLst>
          </p:nvPr>
        </p:nvGraphicFramePr>
        <p:xfrm>
          <a:off x="3983221" y="1925217"/>
          <a:ext cx="4393210" cy="56865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32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4711">
                <a:tc rowSpan="2"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Сумма остаток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Обороты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 sz="12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ru-RU" sz="1200" dirty="0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4331">
                <a:tc vMerge="1">
                  <a:txBody>
                    <a:bodyPr/>
                    <a:lstStyle/>
                    <a:p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Дебет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Кредит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Оборот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1" name="Таблица 10"/>
          <p:cNvGraphicFramePr>
            <a:graphicFrameLocks noGrp="1"/>
          </p:cNvGraphicFramePr>
          <p:nvPr/>
        </p:nvGraphicFramePr>
        <p:xfrm>
          <a:off x="2717596" y="1925217"/>
          <a:ext cx="1260000" cy="57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76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Организация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" name="Таблица 12"/>
          <p:cNvGraphicFramePr>
            <a:graphicFrameLocks noGrp="1"/>
          </p:cNvGraphicFramePr>
          <p:nvPr/>
        </p:nvGraphicFramePr>
        <p:xfrm>
          <a:off x="3983222" y="3044705"/>
          <a:ext cx="4392001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80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31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731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8000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8000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10000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10000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18000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-18000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4" name="Таблица 13"/>
          <p:cNvGraphicFramePr>
            <a:graphicFrameLocks noGrp="1"/>
          </p:cNvGraphicFramePr>
          <p:nvPr/>
        </p:nvGraphicFramePr>
        <p:xfrm>
          <a:off x="3983223" y="2497559"/>
          <a:ext cx="439200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80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74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19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46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chemeClr val="tx1"/>
                          </a:solidFill>
                        </a:rPr>
                        <a:t>12000</a:t>
                      </a:r>
                      <a:endParaRPr lang="ru-RU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12000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chemeClr val="tx1"/>
                          </a:solidFill>
                        </a:rPr>
                        <a:t>12000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chemeClr val="tx1"/>
                          </a:solidFill>
                        </a:rPr>
                        <a:t>-12000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" name="Таблица 24"/>
          <p:cNvGraphicFramePr>
            <a:graphicFrameLocks noGrp="1"/>
          </p:cNvGraphicFramePr>
          <p:nvPr/>
        </p:nvGraphicFramePr>
        <p:xfrm>
          <a:off x="2717596" y="3044705"/>
          <a:ext cx="1260000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Север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Север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Север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1" name="Таблица 30"/>
          <p:cNvGraphicFramePr>
            <a:graphicFrameLocks noGrp="1"/>
          </p:cNvGraphicFramePr>
          <p:nvPr/>
        </p:nvGraphicFramePr>
        <p:xfrm>
          <a:off x="2717596" y="2496889"/>
          <a:ext cx="126000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Юг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Юг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3" name="Таблица 32"/>
          <p:cNvGraphicFramePr>
            <a:graphicFrameLocks noGrp="1"/>
          </p:cNvGraphicFramePr>
          <p:nvPr/>
        </p:nvGraphicFramePr>
        <p:xfrm>
          <a:off x="2717596" y="3860921"/>
          <a:ext cx="126000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Юг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Юг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5" name="Таблица 34"/>
          <p:cNvGraphicFramePr>
            <a:graphicFrameLocks noGrp="1"/>
          </p:cNvGraphicFramePr>
          <p:nvPr/>
        </p:nvGraphicFramePr>
        <p:xfrm>
          <a:off x="534569" y="3860921"/>
          <a:ext cx="2179595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195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01.05.2015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41 (товары)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01.05.2015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60 (поставщики)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7" name="Таблица 36"/>
          <p:cNvGraphicFramePr>
            <a:graphicFrameLocks noGrp="1"/>
          </p:cNvGraphicFramePr>
          <p:nvPr/>
        </p:nvGraphicFramePr>
        <p:xfrm>
          <a:off x="3983222" y="3860921"/>
          <a:ext cx="439200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80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5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31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31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12000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-12000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6" name="Таблица 35"/>
          <p:cNvGraphicFramePr>
            <a:graphicFrameLocks noGrp="1"/>
          </p:cNvGraphicFramePr>
          <p:nvPr/>
        </p:nvGraphicFramePr>
        <p:xfrm>
          <a:off x="538688" y="4408067"/>
          <a:ext cx="2179595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195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</a:t>
                      </a:r>
                      <a:r>
                        <a:rPr lang="en-US" sz="1200" dirty="0"/>
                        <a:t>11</a:t>
                      </a:r>
                      <a:r>
                        <a:rPr lang="ru-RU" sz="1200" dirty="0"/>
                        <a:t>.</a:t>
                      </a:r>
                      <a:r>
                        <a:rPr lang="en-US" sz="1200" dirty="0"/>
                        <a:t>3999</a:t>
                      </a:r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10 (материалы)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</a:t>
                      </a:r>
                      <a:r>
                        <a:rPr lang="en-US" sz="1200" dirty="0"/>
                        <a:t>11</a:t>
                      </a:r>
                      <a:r>
                        <a:rPr lang="ru-RU" sz="1200" dirty="0"/>
                        <a:t>.</a:t>
                      </a:r>
                      <a:r>
                        <a:rPr lang="en-US" sz="1200" dirty="0"/>
                        <a:t>3999</a:t>
                      </a:r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41 (товары)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</a:t>
                      </a:r>
                      <a:r>
                        <a:rPr lang="en-US" sz="1200" dirty="0"/>
                        <a:t>11</a:t>
                      </a:r>
                      <a:r>
                        <a:rPr lang="ru-RU" sz="1200" dirty="0"/>
                        <a:t>.</a:t>
                      </a:r>
                      <a:r>
                        <a:rPr lang="en-US" sz="1200" dirty="0"/>
                        <a:t>3999</a:t>
                      </a:r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60 (поставщики)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8" name="Таблица 37"/>
          <p:cNvGraphicFramePr>
            <a:graphicFrameLocks noGrp="1"/>
          </p:cNvGraphicFramePr>
          <p:nvPr/>
        </p:nvGraphicFramePr>
        <p:xfrm>
          <a:off x="3987342" y="4408067"/>
          <a:ext cx="4392001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350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05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31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31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en-US" sz="1200" b="0" dirty="0"/>
                        <a:t>800</a:t>
                      </a:r>
                      <a:r>
                        <a:rPr lang="ru-RU" sz="1200" b="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en-US" sz="1200" b="0" dirty="0"/>
                        <a:t>1000</a:t>
                      </a:r>
                      <a:r>
                        <a:rPr lang="ru-RU" sz="1200" b="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en-US" sz="1200" b="0" dirty="0"/>
                        <a:t>1800</a:t>
                      </a:r>
                      <a:r>
                        <a:rPr lang="ru-RU" sz="1200" b="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9" name="Таблица 38"/>
          <p:cNvGraphicFramePr>
            <a:graphicFrameLocks noGrp="1"/>
          </p:cNvGraphicFramePr>
          <p:nvPr/>
        </p:nvGraphicFramePr>
        <p:xfrm>
          <a:off x="2721715" y="4408067"/>
          <a:ext cx="1260000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Север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Север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Север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41" name="Таблица 40"/>
          <p:cNvGraphicFramePr>
            <a:graphicFrameLocks noGrp="1"/>
          </p:cNvGraphicFramePr>
          <p:nvPr/>
        </p:nvGraphicFramePr>
        <p:xfrm>
          <a:off x="2721715" y="5224283"/>
          <a:ext cx="126000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Юг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Юг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43" name="Таблица 42"/>
          <p:cNvGraphicFramePr>
            <a:graphicFrameLocks noGrp="1"/>
          </p:cNvGraphicFramePr>
          <p:nvPr/>
        </p:nvGraphicFramePr>
        <p:xfrm>
          <a:off x="538688" y="5224283"/>
          <a:ext cx="2179595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195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</a:t>
                      </a:r>
                      <a:r>
                        <a:rPr lang="en-US" sz="1200" dirty="0"/>
                        <a:t>11</a:t>
                      </a:r>
                      <a:r>
                        <a:rPr lang="ru-RU" sz="1200" dirty="0"/>
                        <a:t>.</a:t>
                      </a:r>
                      <a:r>
                        <a:rPr lang="en-US" sz="1200" dirty="0"/>
                        <a:t>3999</a:t>
                      </a:r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41 (товары)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</a:t>
                      </a:r>
                      <a:r>
                        <a:rPr lang="en-US" sz="1200" dirty="0"/>
                        <a:t>11</a:t>
                      </a:r>
                      <a:r>
                        <a:rPr lang="ru-RU" sz="1200" dirty="0"/>
                        <a:t>.</a:t>
                      </a:r>
                      <a:r>
                        <a:rPr lang="en-US" sz="1200" dirty="0"/>
                        <a:t>3999</a:t>
                      </a:r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60 (поставщики)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44" name="Таблица 43"/>
          <p:cNvGraphicFramePr>
            <a:graphicFrameLocks noGrp="1"/>
          </p:cNvGraphicFramePr>
          <p:nvPr/>
        </p:nvGraphicFramePr>
        <p:xfrm>
          <a:off x="3987342" y="5224283"/>
          <a:ext cx="4392001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39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16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31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31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12000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-12000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393560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808258"/>
          </a:xfrm>
        </p:spPr>
        <p:txBody>
          <a:bodyPr>
            <a:normAutofit fontScale="90000"/>
          </a:bodyPr>
          <a:lstStyle/>
          <a:p>
            <a:r>
              <a:rPr lang="ru-RU" dirty="0"/>
              <a:t>Таблица остатков и оборотов по счетам после изменения.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9183206"/>
              </p:ext>
            </p:extLst>
          </p:nvPr>
        </p:nvGraphicFramePr>
        <p:xfrm>
          <a:off x="534569" y="1925217"/>
          <a:ext cx="2179595" cy="57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195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6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Период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/>
                        <a:t>Счет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" name="Таблица 5"/>
          <p:cNvGraphicFramePr>
            <a:graphicFrameLocks noGrp="1"/>
          </p:cNvGraphicFramePr>
          <p:nvPr/>
        </p:nvGraphicFramePr>
        <p:xfrm>
          <a:off x="534569" y="3044705"/>
          <a:ext cx="2179595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195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01.05.2015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10 (материалы)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01.05.2015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41 (товары)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01.05.2015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60 (поставщики)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7" name="Таблица 6"/>
          <p:cNvGraphicFramePr>
            <a:graphicFrameLocks noGrp="1"/>
          </p:cNvGraphicFramePr>
          <p:nvPr/>
        </p:nvGraphicFramePr>
        <p:xfrm>
          <a:off x="534569" y="2497559"/>
          <a:ext cx="2179595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195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01.04.2015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41 (товары)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01.04.2015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60 (поставщики)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1" name="Таблица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7137229"/>
              </p:ext>
            </p:extLst>
          </p:nvPr>
        </p:nvGraphicFramePr>
        <p:xfrm>
          <a:off x="2080988" y="1925217"/>
          <a:ext cx="1260000" cy="57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76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Организация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5" name="Таблица 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874129"/>
              </p:ext>
            </p:extLst>
          </p:nvPr>
        </p:nvGraphicFramePr>
        <p:xfrm>
          <a:off x="2080988" y="3044705"/>
          <a:ext cx="1260000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Север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Север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Север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1" name="Таблица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8464420"/>
              </p:ext>
            </p:extLst>
          </p:nvPr>
        </p:nvGraphicFramePr>
        <p:xfrm>
          <a:off x="2080988" y="2496889"/>
          <a:ext cx="126000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Юг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Юг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5" name="Таблица 34"/>
          <p:cNvGraphicFramePr>
            <a:graphicFrameLocks noGrp="1"/>
          </p:cNvGraphicFramePr>
          <p:nvPr/>
        </p:nvGraphicFramePr>
        <p:xfrm>
          <a:off x="534569" y="3860921"/>
          <a:ext cx="2179595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195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01.05.2015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41 (товары)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01.05.2015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60 (поставщики)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6" name="Таблица 35"/>
          <p:cNvGraphicFramePr>
            <a:graphicFrameLocks noGrp="1"/>
          </p:cNvGraphicFramePr>
          <p:nvPr/>
        </p:nvGraphicFramePr>
        <p:xfrm>
          <a:off x="538688" y="4408067"/>
          <a:ext cx="2179595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195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</a:t>
                      </a:r>
                      <a:r>
                        <a:rPr lang="en-US" sz="1200" dirty="0"/>
                        <a:t>11</a:t>
                      </a:r>
                      <a:r>
                        <a:rPr lang="ru-RU" sz="1200" dirty="0"/>
                        <a:t>.</a:t>
                      </a:r>
                      <a:r>
                        <a:rPr lang="en-US" sz="1200" dirty="0"/>
                        <a:t>3999</a:t>
                      </a:r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10 (материалы)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</a:t>
                      </a:r>
                      <a:r>
                        <a:rPr lang="en-US" sz="1200" dirty="0"/>
                        <a:t>11</a:t>
                      </a:r>
                      <a:r>
                        <a:rPr lang="ru-RU" sz="1200" dirty="0"/>
                        <a:t>.</a:t>
                      </a:r>
                      <a:r>
                        <a:rPr lang="en-US" sz="1200" dirty="0"/>
                        <a:t>3999</a:t>
                      </a:r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41 (товары)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</a:t>
                      </a:r>
                      <a:r>
                        <a:rPr lang="en-US" sz="1200" dirty="0"/>
                        <a:t>11</a:t>
                      </a:r>
                      <a:r>
                        <a:rPr lang="ru-RU" sz="1200" dirty="0"/>
                        <a:t>.</a:t>
                      </a:r>
                      <a:r>
                        <a:rPr lang="en-US" sz="1200" dirty="0"/>
                        <a:t>3999</a:t>
                      </a:r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60 (поставщики)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9" name="Таблица 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9324949"/>
              </p:ext>
            </p:extLst>
          </p:nvPr>
        </p:nvGraphicFramePr>
        <p:xfrm>
          <a:off x="2085107" y="4408067"/>
          <a:ext cx="1260000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Север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Север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Север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43" name="Таблица 42"/>
          <p:cNvGraphicFramePr>
            <a:graphicFrameLocks noGrp="1"/>
          </p:cNvGraphicFramePr>
          <p:nvPr/>
        </p:nvGraphicFramePr>
        <p:xfrm>
          <a:off x="538688" y="5224283"/>
          <a:ext cx="2179595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195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</a:t>
                      </a:r>
                      <a:r>
                        <a:rPr lang="en-US" sz="1200" dirty="0"/>
                        <a:t>11</a:t>
                      </a:r>
                      <a:r>
                        <a:rPr lang="ru-RU" sz="1200" dirty="0"/>
                        <a:t>.</a:t>
                      </a:r>
                      <a:r>
                        <a:rPr lang="en-US" sz="1200" dirty="0"/>
                        <a:t>3999</a:t>
                      </a:r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41 (товары)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r>
                        <a:rPr lang="ru-RU" sz="1200" dirty="0"/>
                        <a:t>01.</a:t>
                      </a:r>
                      <a:r>
                        <a:rPr lang="en-US" sz="1200" dirty="0"/>
                        <a:t>11</a:t>
                      </a:r>
                      <a:r>
                        <a:rPr lang="ru-RU" sz="1200" dirty="0"/>
                        <a:t>.</a:t>
                      </a:r>
                      <a:r>
                        <a:rPr lang="en-US" sz="1200" dirty="0"/>
                        <a:t>3999</a:t>
                      </a:r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60 (поставщики)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41" name="Таблица 4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2753030"/>
              </p:ext>
            </p:extLst>
          </p:nvPr>
        </p:nvGraphicFramePr>
        <p:xfrm>
          <a:off x="2085107" y="5224283"/>
          <a:ext cx="126000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Юг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Юг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3" name="Таблица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736841"/>
              </p:ext>
            </p:extLst>
          </p:nvPr>
        </p:nvGraphicFramePr>
        <p:xfrm>
          <a:off x="2080988" y="3860921"/>
          <a:ext cx="126000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Юг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Юг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Таблица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2251078"/>
              </p:ext>
            </p:extLst>
          </p:nvPr>
        </p:nvGraphicFramePr>
        <p:xfrm>
          <a:off x="2722402" y="1925217"/>
          <a:ext cx="4393210" cy="56865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32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4711">
                <a:tc rowSpan="2"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Сумма остаток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Обороты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 sz="12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ru-RU" sz="1200" dirty="0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4331">
                <a:tc vMerge="1">
                  <a:txBody>
                    <a:bodyPr/>
                    <a:lstStyle/>
                    <a:p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Дебет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Сумма Кт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Оборот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4" name="Таблица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8929146"/>
              </p:ext>
            </p:extLst>
          </p:nvPr>
        </p:nvGraphicFramePr>
        <p:xfrm>
          <a:off x="2722404" y="2497559"/>
          <a:ext cx="439200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80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74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19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46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chemeClr val="tx1"/>
                          </a:solidFill>
                        </a:rPr>
                        <a:t>12000</a:t>
                      </a:r>
                      <a:endParaRPr lang="ru-RU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12000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chemeClr val="tx1"/>
                          </a:solidFill>
                        </a:rPr>
                        <a:t>12000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chemeClr val="tx1"/>
                          </a:solidFill>
                        </a:rPr>
                        <a:t>-12000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7" name="Таблица 3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6388001"/>
              </p:ext>
            </p:extLst>
          </p:nvPr>
        </p:nvGraphicFramePr>
        <p:xfrm>
          <a:off x="2722403" y="3860921"/>
          <a:ext cx="439200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80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5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31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31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12000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-12000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8" name="Таблица 3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9117158"/>
              </p:ext>
            </p:extLst>
          </p:nvPr>
        </p:nvGraphicFramePr>
        <p:xfrm>
          <a:off x="2726523" y="4408067"/>
          <a:ext cx="4392001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350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05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31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31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en-US" sz="1200" b="0" dirty="0"/>
                        <a:t>800</a:t>
                      </a:r>
                      <a:r>
                        <a:rPr lang="ru-RU" sz="1200" b="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en-US" sz="1200" b="0" dirty="0"/>
                        <a:t>1000</a:t>
                      </a:r>
                      <a:r>
                        <a:rPr lang="ru-RU" sz="1200" b="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en-US" sz="1200" b="0" dirty="0"/>
                        <a:t>1800</a:t>
                      </a:r>
                      <a:r>
                        <a:rPr lang="ru-RU" sz="1200" b="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44" name="Таблица 4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6422285"/>
              </p:ext>
            </p:extLst>
          </p:nvPr>
        </p:nvGraphicFramePr>
        <p:xfrm>
          <a:off x="2726523" y="5224283"/>
          <a:ext cx="4392001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39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16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31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31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12000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-12000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3" name="Таблица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4670462"/>
              </p:ext>
            </p:extLst>
          </p:nvPr>
        </p:nvGraphicFramePr>
        <p:xfrm>
          <a:off x="2722403" y="3044705"/>
          <a:ext cx="4392001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80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31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731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8000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8000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10000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10000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18000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-18000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1" name="Таблица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1979394"/>
              </p:ext>
            </p:extLst>
          </p:nvPr>
        </p:nvGraphicFramePr>
        <p:xfrm>
          <a:off x="4426892" y="1925217"/>
          <a:ext cx="4393210" cy="56865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32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4711">
                <a:tc rowSpan="2">
                  <a:txBody>
                    <a:bodyPr/>
                    <a:lstStyle/>
                    <a:p>
                      <a:pPr algn="ctr"/>
                      <a:r>
                        <a:rPr lang="ru-RU" sz="1200" b="1" dirty="0"/>
                        <a:t>Кол-во остаток</a:t>
                      </a: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ru-RU" sz="1200" b="1" dirty="0"/>
                        <a:t>Обороты количество</a:t>
                      </a:r>
                    </a:p>
                  </a:txBody>
                  <a:tcP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 sz="12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ru-RU" sz="1200" dirty="0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4331">
                <a:tc vMerge="1">
                  <a:txBody>
                    <a:bodyPr/>
                    <a:lstStyle/>
                    <a:p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b="1" dirty="0"/>
                        <a:t>Дебет</a:t>
                      </a:r>
                    </a:p>
                  </a:txBody>
                  <a:tcP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b="1" dirty="0"/>
                        <a:t>Кредит</a:t>
                      </a:r>
                    </a:p>
                  </a:txBody>
                  <a:tcP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b="1" dirty="0"/>
                        <a:t>Оборот</a:t>
                      </a:r>
                    </a:p>
                  </a:txBody>
                  <a:tcP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2" name="Таблица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1383159"/>
              </p:ext>
            </p:extLst>
          </p:nvPr>
        </p:nvGraphicFramePr>
        <p:xfrm>
          <a:off x="4426894" y="2497559"/>
          <a:ext cx="439200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80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74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19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46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chemeClr val="tx1"/>
                          </a:solidFill>
                        </a:rPr>
                        <a:t>12</a:t>
                      </a:r>
                      <a:endParaRPr lang="ru-RU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12</a:t>
                      </a:r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chemeClr val="tx1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chemeClr val="tx1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3" name="Таблица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6673333"/>
              </p:ext>
            </p:extLst>
          </p:nvPr>
        </p:nvGraphicFramePr>
        <p:xfrm>
          <a:off x="4426893" y="3860921"/>
          <a:ext cx="4392000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80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5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31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31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12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-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endParaRPr lang="ru-RU" sz="1200" b="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8767124"/>
                  </a:ext>
                </a:extLst>
              </a:tr>
            </a:tbl>
          </a:graphicData>
        </a:graphic>
      </p:graphicFrame>
      <p:graphicFrame>
        <p:nvGraphicFramePr>
          <p:cNvPr id="24" name="Таблица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1709351"/>
              </p:ext>
            </p:extLst>
          </p:nvPr>
        </p:nvGraphicFramePr>
        <p:xfrm>
          <a:off x="4431013" y="4408067"/>
          <a:ext cx="4392001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350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05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31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31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8</a:t>
                      </a:r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en-US" sz="1200" b="0" dirty="0"/>
                        <a:t>10</a:t>
                      </a:r>
                      <a:endParaRPr lang="ru-RU" sz="1200" b="0" dirty="0"/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-</a:t>
                      </a:r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6" name="Таблица 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7708274"/>
              </p:ext>
            </p:extLst>
          </p:nvPr>
        </p:nvGraphicFramePr>
        <p:xfrm>
          <a:off x="4431013" y="5224283"/>
          <a:ext cx="4392001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39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16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31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31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12</a:t>
                      </a:r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-</a:t>
                      </a:r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" name="Таблица 2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2363385"/>
              </p:ext>
            </p:extLst>
          </p:nvPr>
        </p:nvGraphicFramePr>
        <p:xfrm>
          <a:off x="4426893" y="3044705"/>
          <a:ext cx="4392001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80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31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731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8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8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10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ru-RU" sz="1200" dirty="0"/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10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r"/>
                      <a:r>
                        <a:rPr lang="ru-RU" sz="1200" b="0" dirty="0"/>
                        <a:t>-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71256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883961"/>
          </a:xfrm>
        </p:spPr>
        <p:txBody>
          <a:bodyPr>
            <a:normAutofit fontScale="90000"/>
          </a:bodyPr>
          <a:lstStyle/>
          <a:p>
            <a:r>
              <a:rPr lang="ru-RU" dirty="0"/>
              <a:t>Таблица оборотов между счетами до изменения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400050" y="2103582"/>
          <a:ext cx="4788000" cy="50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0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4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Период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Счет </a:t>
                      </a:r>
                      <a:r>
                        <a:rPr lang="ru-RU" sz="1200" dirty="0" err="1"/>
                        <a:t>Дт</a:t>
                      </a:r>
                      <a:endParaRPr lang="ru-RU" sz="1200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Счет </a:t>
                      </a:r>
                      <a:r>
                        <a:rPr lang="ru-RU" sz="1200" dirty="0" err="1"/>
                        <a:t>Кт</a:t>
                      </a:r>
                      <a:endParaRPr lang="ru-RU" sz="1200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Сумма оборот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/>
        </p:nvGraphicFramePr>
        <p:xfrm>
          <a:off x="400050" y="2598882"/>
          <a:ext cx="4788000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0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01.04.2015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41 (товары)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60 (поставщики)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12000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" name="Таблица 4"/>
          <p:cNvGraphicFramePr>
            <a:graphicFrameLocks noGrp="1"/>
          </p:cNvGraphicFramePr>
          <p:nvPr/>
        </p:nvGraphicFramePr>
        <p:xfrm>
          <a:off x="400050" y="2886363"/>
          <a:ext cx="4788000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0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01.05.2015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41 (товары)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60 (поставщики)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10000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" name="Таблица 5"/>
          <p:cNvGraphicFramePr>
            <a:graphicFrameLocks noGrp="1"/>
          </p:cNvGraphicFramePr>
          <p:nvPr/>
        </p:nvGraphicFramePr>
        <p:xfrm>
          <a:off x="400050" y="3174882"/>
          <a:ext cx="4788000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0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01.05.2015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10 (материалы)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60 (поставщики)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8000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7" name="Таблица 6"/>
          <p:cNvGraphicFramePr>
            <a:graphicFrameLocks noGrp="1"/>
          </p:cNvGraphicFramePr>
          <p:nvPr/>
        </p:nvGraphicFramePr>
        <p:xfrm>
          <a:off x="5181804" y="2103582"/>
          <a:ext cx="1260000" cy="50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04000">
                <a:tc>
                  <a:txBody>
                    <a:bodyPr/>
                    <a:lstStyle/>
                    <a:p>
                      <a:pPr algn="ctr"/>
                      <a:r>
                        <a:rPr lang="ru-RU" sz="1200" b="0" dirty="0"/>
                        <a:t>Организация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8" name="Таблица 7"/>
          <p:cNvGraphicFramePr>
            <a:graphicFrameLocks noGrp="1"/>
          </p:cNvGraphicFramePr>
          <p:nvPr/>
        </p:nvGraphicFramePr>
        <p:xfrm>
          <a:off x="5181804" y="2598882"/>
          <a:ext cx="1260000" cy="86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54803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964300"/>
          </a:xfrm>
        </p:spPr>
        <p:txBody>
          <a:bodyPr>
            <a:normAutofit fontScale="90000"/>
          </a:bodyPr>
          <a:lstStyle/>
          <a:p>
            <a:r>
              <a:rPr lang="ru-RU" dirty="0"/>
              <a:t>Таблица оборотов между счетами после изменения. 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400050" y="2103582"/>
          <a:ext cx="4788000" cy="50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0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4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Период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Счет </a:t>
                      </a:r>
                      <a:r>
                        <a:rPr lang="ru-RU" sz="1200" dirty="0" err="1"/>
                        <a:t>Дт</a:t>
                      </a:r>
                      <a:endParaRPr lang="ru-RU" sz="1200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Счет </a:t>
                      </a:r>
                      <a:r>
                        <a:rPr lang="ru-RU" sz="1200" dirty="0" err="1"/>
                        <a:t>Кт</a:t>
                      </a:r>
                      <a:endParaRPr lang="ru-RU" sz="1200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Сумма оборот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/>
        </p:nvGraphicFramePr>
        <p:xfrm>
          <a:off x="400050" y="2598882"/>
          <a:ext cx="4788000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0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01.04.2015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41 (товары)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60 (поставщики)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12000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" name="Таблица 4"/>
          <p:cNvGraphicFramePr>
            <a:graphicFrameLocks noGrp="1"/>
          </p:cNvGraphicFramePr>
          <p:nvPr/>
        </p:nvGraphicFramePr>
        <p:xfrm>
          <a:off x="400050" y="2886363"/>
          <a:ext cx="4788000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0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01.05.2015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41 (товары)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60 (поставщики)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10000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" name="Таблица 5"/>
          <p:cNvGraphicFramePr>
            <a:graphicFrameLocks noGrp="1"/>
          </p:cNvGraphicFramePr>
          <p:nvPr/>
        </p:nvGraphicFramePr>
        <p:xfrm>
          <a:off x="400050" y="3174882"/>
          <a:ext cx="4788000" cy="28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0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01.05.2015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10 (материалы)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60 (поставщики)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8000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7" name="Таблица 6"/>
          <p:cNvGraphicFramePr>
            <a:graphicFrameLocks noGrp="1"/>
          </p:cNvGraphicFramePr>
          <p:nvPr/>
        </p:nvGraphicFramePr>
        <p:xfrm>
          <a:off x="5190675" y="2103579"/>
          <a:ext cx="1260000" cy="50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04000">
                <a:tc>
                  <a:txBody>
                    <a:bodyPr/>
                    <a:lstStyle/>
                    <a:p>
                      <a:pPr algn="ctr"/>
                      <a:r>
                        <a:rPr lang="ru-RU" sz="1200" b="0" dirty="0"/>
                        <a:t>Организация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8" name="Таблица 7"/>
          <p:cNvGraphicFramePr>
            <a:graphicFrameLocks noGrp="1"/>
          </p:cNvGraphicFramePr>
          <p:nvPr/>
        </p:nvGraphicFramePr>
        <p:xfrm>
          <a:off x="5190675" y="2598882"/>
          <a:ext cx="1260000" cy="86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8141880"/>
              </p:ext>
            </p:extLst>
          </p:nvPr>
        </p:nvGraphicFramePr>
        <p:xfrm>
          <a:off x="6161942" y="2103579"/>
          <a:ext cx="1260000" cy="50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04000">
                <a:tc>
                  <a:txBody>
                    <a:bodyPr/>
                    <a:lstStyle/>
                    <a:p>
                      <a:pPr algn="ctr"/>
                      <a:r>
                        <a:rPr lang="ru-RU" sz="1200" b="1" dirty="0"/>
                        <a:t>Кол-во оборот</a:t>
                      </a:r>
                      <a:r>
                        <a:rPr lang="ru-RU" sz="1200" b="1" baseline="0" dirty="0"/>
                        <a:t> Дт</a:t>
                      </a:r>
                      <a:endParaRPr lang="ru-RU" sz="1200" b="1" dirty="0"/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0" name="Таблица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7899301"/>
              </p:ext>
            </p:extLst>
          </p:nvPr>
        </p:nvGraphicFramePr>
        <p:xfrm>
          <a:off x="6161944" y="2598882"/>
          <a:ext cx="1260000" cy="86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12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10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8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1" name="Таблица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7348816"/>
              </p:ext>
            </p:extLst>
          </p:nvPr>
        </p:nvGraphicFramePr>
        <p:xfrm>
          <a:off x="7426169" y="2103579"/>
          <a:ext cx="1260000" cy="50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04000">
                <a:tc>
                  <a:txBody>
                    <a:bodyPr/>
                    <a:lstStyle/>
                    <a:p>
                      <a:pPr algn="ctr"/>
                      <a:r>
                        <a:rPr lang="ru-RU" sz="1200" b="1" dirty="0"/>
                        <a:t>Кол-во оборот</a:t>
                      </a:r>
                      <a:r>
                        <a:rPr lang="ru-RU" sz="1200" b="1" baseline="0" dirty="0"/>
                        <a:t> Кт</a:t>
                      </a:r>
                      <a:endParaRPr lang="ru-RU" sz="1200" b="1" dirty="0"/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" name="Таблица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9082159"/>
              </p:ext>
            </p:extLst>
          </p:nvPr>
        </p:nvGraphicFramePr>
        <p:xfrm>
          <a:off x="7426171" y="2598882"/>
          <a:ext cx="1260000" cy="86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/>
                        <a:t>-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952331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Опциональная аналитика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Учёт по складам</a:t>
            </a:r>
          </a:p>
        </p:txBody>
      </p:sp>
    </p:spTree>
    <p:extLst>
      <p:ext uri="{BB962C8B-B14F-4D97-AF65-F5344CB8AC3E}">
        <p14:creationId xmlns:p14="http://schemas.microsoft.com/office/powerpoint/2010/main" val="2701231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904283"/>
          </a:xfrm>
        </p:spPr>
        <p:txBody>
          <a:bodyPr/>
          <a:lstStyle/>
          <a:p>
            <a:r>
              <a:rPr lang="ru-RU" dirty="0"/>
              <a:t>Подключение субконто к счёту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448735" y="1476259"/>
          <a:ext cx="8523384" cy="1833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8691">
                  <a:extLst>
                    <a:ext uri="{9D8B030D-6E8A-4147-A177-3AD203B41FA5}">
                      <a16:colId xmlns:a16="http://schemas.microsoft.com/office/drawing/2014/main" val="932871703"/>
                    </a:ext>
                  </a:extLst>
                </a:gridCol>
                <a:gridCol w="683046">
                  <a:extLst>
                    <a:ext uri="{9D8B030D-6E8A-4147-A177-3AD203B41FA5}">
                      <a16:colId xmlns:a16="http://schemas.microsoft.com/office/drawing/2014/main" val="631033224"/>
                    </a:ext>
                  </a:extLst>
                </a:gridCol>
                <a:gridCol w="1707614">
                  <a:extLst>
                    <a:ext uri="{9D8B030D-6E8A-4147-A177-3AD203B41FA5}">
                      <a16:colId xmlns:a16="http://schemas.microsoft.com/office/drawing/2014/main" val="1495469993"/>
                    </a:ext>
                  </a:extLst>
                </a:gridCol>
                <a:gridCol w="4594033">
                  <a:extLst>
                    <a:ext uri="{9D8B030D-6E8A-4147-A177-3AD203B41FA5}">
                      <a16:colId xmlns:a16="http://schemas.microsoft.com/office/drawing/2014/main" val="38509035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Код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Наименование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Виды субконто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4929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C00000"/>
                          </a:solidFill>
                        </a:rPr>
                        <a:t>&lt;41.1</a:t>
                      </a:r>
                      <a:r>
                        <a:rPr lang="ru-RU" baseline="0" dirty="0">
                          <a:solidFill>
                            <a:srgbClr val="C00000"/>
                          </a:solidFill>
                        </a:rPr>
                        <a:t> Товары&gt;</a:t>
                      </a:r>
                      <a:endParaRPr lang="ru-RU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41.1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Товары опт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  <a:p>
                      <a:endParaRPr lang="ru-RU" dirty="0"/>
                    </a:p>
                    <a:p>
                      <a:endParaRPr lang="ru-RU" dirty="0"/>
                    </a:p>
                    <a:p>
                      <a:endParaRPr lang="ru-RU" dirty="0"/>
                    </a:p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2357516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7956017"/>
              </p:ext>
            </p:extLst>
          </p:nvPr>
        </p:nvGraphicFramePr>
        <p:xfrm>
          <a:off x="4465503" y="1885844"/>
          <a:ext cx="4359007" cy="88900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745475">
                  <a:extLst>
                    <a:ext uri="{9D8B030D-6E8A-4147-A177-3AD203B41FA5}">
                      <a16:colId xmlns:a16="http://schemas.microsoft.com/office/drawing/2014/main" val="787950461"/>
                    </a:ext>
                  </a:extLst>
                </a:gridCol>
                <a:gridCol w="2633031">
                  <a:extLst>
                    <a:ext uri="{9D8B030D-6E8A-4147-A177-3AD203B41FA5}">
                      <a16:colId xmlns:a16="http://schemas.microsoft.com/office/drawing/2014/main" val="766134915"/>
                    </a:ext>
                  </a:extLst>
                </a:gridCol>
                <a:gridCol w="980501">
                  <a:extLst>
                    <a:ext uri="{9D8B030D-6E8A-4147-A177-3AD203B41FA5}">
                      <a16:colId xmlns:a16="http://schemas.microsoft.com/office/drawing/2014/main" val="35136614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№ строки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Вид субконто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Только обороты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97992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7030A0"/>
                          </a:solidFill>
                        </a:rPr>
                        <a:t>&lt;ПВХ</a:t>
                      </a:r>
                      <a:r>
                        <a:rPr lang="ru-RU" baseline="0" dirty="0">
                          <a:solidFill>
                            <a:srgbClr val="7030A0"/>
                          </a:solidFill>
                        </a:rPr>
                        <a:t> Номенклатура&gt;</a:t>
                      </a:r>
                      <a:endParaRPr lang="ru-RU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38056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906692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904283"/>
          </a:xfrm>
        </p:spPr>
        <p:txBody>
          <a:bodyPr/>
          <a:lstStyle/>
          <a:p>
            <a:r>
              <a:rPr lang="ru-RU" dirty="0"/>
              <a:t>Подключение субконто к счёту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7954150"/>
              </p:ext>
            </p:extLst>
          </p:nvPr>
        </p:nvGraphicFramePr>
        <p:xfrm>
          <a:off x="448735" y="1476259"/>
          <a:ext cx="8523384" cy="1833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8691">
                  <a:extLst>
                    <a:ext uri="{9D8B030D-6E8A-4147-A177-3AD203B41FA5}">
                      <a16:colId xmlns:a16="http://schemas.microsoft.com/office/drawing/2014/main" val="932871703"/>
                    </a:ext>
                  </a:extLst>
                </a:gridCol>
                <a:gridCol w="683046">
                  <a:extLst>
                    <a:ext uri="{9D8B030D-6E8A-4147-A177-3AD203B41FA5}">
                      <a16:colId xmlns:a16="http://schemas.microsoft.com/office/drawing/2014/main" val="631033224"/>
                    </a:ext>
                  </a:extLst>
                </a:gridCol>
                <a:gridCol w="1707614">
                  <a:extLst>
                    <a:ext uri="{9D8B030D-6E8A-4147-A177-3AD203B41FA5}">
                      <a16:colId xmlns:a16="http://schemas.microsoft.com/office/drawing/2014/main" val="1495469993"/>
                    </a:ext>
                  </a:extLst>
                </a:gridCol>
                <a:gridCol w="4594033">
                  <a:extLst>
                    <a:ext uri="{9D8B030D-6E8A-4147-A177-3AD203B41FA5}">
                      <a16:colId xmlns:a16="http://schemas.microsoft.com/office/drawing/2014/main" val="38509035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Код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Наименование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Виды субконто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4929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C00000"/>
                          </a:solidFill>
                        </a:rPr>
                        <a:t>&lt;41.1</a:t>
                      </a:r>
                      <a:r>
                        <a:rPr lang="ru-RU" baseline="0" dirty="0">
                          <a:solidFill>
                            <a:srgbClr val="C00000"/>
                          </a:solidFill>
                        </a:rPr>
                        <a:t> Товары&gt;</a:t>
                      </a:r>
                      <a:endParaRPr lang="ru-RU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41.1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Товары опт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  <a:p>
                      <a:endParaRPr lang="ru-RU" dirty="0"/>
                    </a:p>
                    <a:p>
                      <a:endParaRPr lang="ru-RU" dirty="0"/>
                    </a:p>
                    <a:p>
                      <a:endParaRPr lang="ru-RU" dirty="0"/>
                    </a:p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2357516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1315642"/>
              </p:ext>
            </p:extLst>
          </p:nvPr>
        </p:nvGraphicFramePr>
        <p:xfrm>
          <a:off x="4465503" y="1885844"/>
          <a:ext cx="4359007" cy="125984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745475">
                  <a:extLst>
                    <a:ext uri="{9D8B030D-6E8A-4147-A177-3AD203B41FA5}">
                      <a16:colId xmlns:a16="http://schemas.microsoft.com/office/drawing/2014/main" val="787950461"/>
                    </a:ext>
                  </a:extLst>
                </a:gridCol>
                <a:gridCol w="2633031">
                  <a:extLst>
                    <a:ext uri="{9D8B030D-6E8A-4147-A177-3AD203B41FA5}">
                      <a16:colId xmlns:a16="http://schemas.microsoft.com/office/drawing/2014/main" val="766134915"/>
                    </a:ext>
                  </a:extLst>
                </a:gridCol>
                <a:gridCol w="980501">
                  <a:extLst>
                    <a:ext uri="{9D8B030D-6E8A-4147-A177-3AD203B41FA5}">
                      <a16:colId xmlns:a16="http://schemas.microsoft.com/office/drawing/2014/main" val="35136614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№ строки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Вид субконто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Только обороты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97992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7030A0"/>
                          </a:solidFill>
                        </a:rPr>
                        <a:t>&lt;ПВХ</a:t>
                      </a:r>
                      <a:r>
                        <a:rPr lang="ru-RU" baseline="0" dirty="0">
                          <a:solidFill>
                            <a:srgbClr val="7030A0"/>
                          </a:solidFill>
                        </a:rPr>
                        <a:t> Номенклатура&gt;</a:t>
                      </a:r>
                      <a:endParaRPr lang="ru-RU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38056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7030A0"/>
                          </a:solidFill>
                        </a:rPr>
                        <a:t>&lt;ПВХ</a:t>
                      </a:r>
                      <a:r>
                        <a:rPr lang="ru-RU" baseline="0" dirty="0">
                          <a:solidFill>
                            <a:srgbClr val="7030A0"/>
                          </a:solidFill>
                        </a:rPr>
                        <a:t> Склады&gt;</a:t>
                      </a:r>
                      <a:endParaRPr lang="ru-RU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6576528"/>
                  </a:ext>
                </a:extLst>
              </a:tr>
            </a:tbl>
          </a:graphicData>
        </a:graphic>
      </p:graphicFrame>
      <p:sp>
        <p:nvSpPr>
          <p:cNvPr id="7" name="Скругленный прямоугольник 6"/>
          <p:cNvSpPr/>
          <p:nvPr/>
        </p:nvSpPr>
        <p:spPr>
          <a:xfrm>
            <a:off x="4305670" y="2670947"/>
            <a:ext cx="4666449" cy="551648"/>
          </a:xfrm>
          <a:prstGeom prst="roundRect">
            <a:avLst/>
          </a:prstGeom>
          <a:noFill/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55003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750" tmFilter="0, 0; .2, .5; .8, .5; 1, 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" dur="375" autoRev="1" fill="hold"/>
                                        <p:tgtEl>
                                          <p:spTgt spid="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7" grpId="2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5" name="Таблица 3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3883470"/>
              </p:ext>
            </p:extLst>
          </p:nvPr>
        </p:nvGraphicFramePr>
        <p:xfrm>
          <a:off x="188117" y="2053779"/>
          <a:ext cx="8784001" cy="1320800"/>
        </p:xfrm>
        <a:graphic>
          <a:graphicData uri="http://schemas.openxmlformats.org/drawingml/2006/table">
            <a:tbl>
              <a:tblPr/>
              <a:tblGrid>
                <a:gridCol w="817722">
                  <a:extLst>
                    <a:ext uri="{9D8B030D-6E8A-4147-A177-3AD203B41FA5}">
                      <a16:colId xmlns:a16="http://schemas.microsoft.com/office/drawing/2014/main" val="215911166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3627805699"/>
                    </a:ext>
                  </a:extLst>
                </a:gridCol>
                <a:gridCol w="1039091">
                  <a:extLst>
                    <a:ext uri="{9D8B030D-6E8A-4147-A177-3AD203B41FA5}">
                      <a16:colId xmlns:a16="http://schemas.microsoft.com/office/drawing/2014/main" val="1921632639"/>
                    </a:ext>
                  </a:extLst>
                </a:gridCol>
                <a:gridCol w="1172094">
                  <a:extLst>
                    <a:ext uri="{9D8B030D-6E8A-4147-A177-3AD203B41FA5}">
                      <a16:colId xmlns:a16="http://schemas.microsoft.com/office/drawing/2014/main" val="2812497627"/>
                    </a:ext>
                  </a:extLst>
                </a:gridCol>
                <a:gridCol w="1679172">
                  <a:extLst>
                    <a:ext uri="{9D8B030D-6E8A-4147-A177-3AD203B41FA5}">
                      <a16:colId xmlns:a16="http://schemas.microsoft.com/office/drawing/2014/main" val="4022660776"/>
                    </a:ext>
                  </a:extLst>
                </a:gridCol>
                <a:gridCol w="706582">
                  <a:extLst>
                    <a:ext uri="{9D8B030D-6E8A-4147-A177-3AD203B41FA5}">
                      <a16:colId xmlns:a16="http://schemas.microsoft.com/office/drawing/2014/main" val="368142078"/>
                    </a:ext>
                  </a:extLst>
                </a:gridCol>
                <a:gridCol w="745644">
                  <a:extLst>
                    <a:ext uri="{9D8B030D-6E8A-4147-A177-3AD203B41FA5}">
                      <a16:colId xmlns:a16="http://schemas.microsoft.com/office/drawing/2014/main" val="3962531684"/>
                    </a:ext>
                  </a:extLst>
                </a:gridCol>
                <a:gridCol w="792211">
                  <a:extLst>
                    <a:ext uri="{9D8B030D-6E8A-4147-A177-3AD203B41FA5}">
                      <a16:colId xmlns:a16="http://schemas.microsoft.com/office/drawing/2014/main" val="880598561"/>
                    </a:ext>
                  </a:extLst>
                </a:gridCol>
                <a:gridCol w="642765">
                  <a:extLst>
                    <a:ext uri="{9D8B030D-6E8A-4147-A177-3AD203B41FA5}">
                      <a16:colId xmlns:a16="http://schemas.microsoft.com/office/drawing/2014/main" val="2152956738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Период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Счет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Организация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Подразделение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Субконто 1</a:t>
                      </a: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Сумма </a:t>
                      </a: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219343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Остаток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Оборот Дт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Оборот Кт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Оборот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19526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kern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01.03.201</a:t>
                      </a:r>
                      <a:r>
                        <a:rPr lang="ru-RU" sz="1200" kern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9</a:t>
                      </a:r>
                      <a:endParaRPr lang="x-none" sz="1200" kern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kern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41</a:t>
                      </a:r>
                      <a:r>
                        <a:rPr lang="ru-RU" sz="1200" kern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.1</a:t>
                      </a:r>
                      <a:r>
                        <a:rPr lang="x-none" sz="1200" kern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(</a:t>
                      </a:r>
                      <a:r>
                        <a:rPr lang="ru-RU" sz="1200" kern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Т</a:t>
                      </a:r>
                      <a:r>
                        <a:rPr lang="x-none" sz="1200" kern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Администрация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Яблоки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5000</a:t>
                      </a: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50</a:t>
                      </a:r>
                      <a:r>
                        <a:rPr lang="x-none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167145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kern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01.11.3999</a:t>
                      </a:r>
                      <a:endParaRPr lang="x-none" sz="1200" kern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kern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41</a:t>
                      </a:r>
                      <a:r>
                        <a:rPr lang="ru-RU" sz="1200" kern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.1</a:t>
                      </a:r>
                      <a:r>
                        <a:rPr lang="x-none" sz="1200" kern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(</a:t>
                      </a:r>
                      <a:r>
                        <a:rPr lang="ru-RU" sz="1200" kern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Т</a:t>
                      </a:r>
                      <a:r>
                        <a:rPr lang="x-none" sz="1200" kern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Администрация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Яблоки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5000</a:t>
                      </a: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39766893"/>
                  </a:ext>
                </a:extLst>
              </a:tr>
            </a:tbl>
          </a:graphicData>
        </a:graphic>
      </p:graphicFrame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1097025"/>
          </a:xfrm>
        </p:spPr>
        <p:txBody>
          <a:bodyPr/>
          <a:lstStyle/>
          <a:p>
            <a:r>
              <a:rPr lang="ru-RU" dirty="0"/>
              <a:t>Таблицы остатков. У счёта 41.1 товары опт одно субконто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1092171"/>
              </p:ext>
            </p:extLst>
          </p:nvPr>
        </p:nvGraphicFramePr>
        <p:xfrm>
          <a:off x="188116" y="3639672"/>
          <a:ext cx="8784001" cy="751840"/>
        </p:xfrm>
        <a:graphic>
          <a:graphicData uri="http://schemas.openxmlformats.org/drawingml/2006/table">
            <a:tbl>
              <a:tblPr/>
              <a:tblGrid>
                <a:gridCol w="817723">
                  <a:extLst>
                    <a:ext uri="{9D8B030D-6E8A-4147-A177-3AD203B41FA5}">
                      <a16:colId xmlns:a16="http://schemas.microsoft.com/office/drawing/2014/main" val="14891986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679151112"/>
                    </a:ext>
                  </a:extLst>
                </a:gridCol>
                <a:gridCol w="1039091">
                  <a:extLst>
                    <a:ext uri="{9D8B030D-6E8A-4147-A177-3AD203B41FA5}">
                      <a16:colId xmlns:a16="http://schemas.microsoft.com/office/drawing/2014/main" val="3421561292"/>
                    </a:ext>
                  </a:extLst>
                </a:gridCol>
                <a:gridCol w="1163782">
                  <a:extLst>
                    <a:ext uri="{9D8B030D-6E8A-4147-A177-3AD203B41FA5}">
                      <a16:colId xmlns:a16="http://schemas.microsoft.com/office/drawing/2014/main" val="4256308087"/>
                    </a:ext>
                  </a:extLst>
                </a:gridCol>
                <a:gridCol w="831272">
                  <a:extLst>
                    <a:ext uri="{9D8B030D-6E8A-4147-A177-3AD203B41FA5}">
                      <a16:colId xmlns:a16="http://schemas.microsoft.com/office/drawing/2014/main" val="222144808"/>
                    </a:ext>
                  </a:extLst>
                </a:gridCol>
                <a:gridCol w="839586">
                  <a:extLst>
                    <a:ext uri="{9D8B030D-6E8A-4147-A177-3AD203B41FA5}">
                      <a16:colId xmlns:a16="http://schemas.microsoft.com/office/drawing/2014/main" val="398740633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1513212370"/>
                    </a:ext>
                  </a:extLst>
                </a:gridCol>
                <a:gridCol w="764771">
                  <a:extLst>
                    <a:ext uri="{9D8B030D-6E8A-4147-A177-3AD203B41FA5}">
                      <a16:colId xmlns:a16="http://schemas.microsoft.com/office/drawing/2014/main" val="3807624008"/>
                    </a:ext>
                  </a:extLst>
                </a:gridCol>
                <a:gridCol w="764771">
                  <a:extLst>
                    <a:ext uri="{9D8B030D-6E8A-4147-A177-3AD203B41FA5}">
                      <a16:colId xmlns:a16="http://schemas.microsoft.com/office/drawing/2014/main" val="1744979145"/>
                    </a:ext>
                  </a:extLst>
                </a:gridCol>
                <a:gridCol w="642765">
                  <a:extLst>
                    <a:ext uri="{9D8B030D-6E8A-4147-A177-3AD203B41FA5}">
                      <a16:colId xmlns:a16="http://schemas.microsoft.com/office/drawing/2014/main" val="3925993093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Период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Счет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Организация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Подразделение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Субконто 1</a:t>
                      </a: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1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Субконто 2</a:t>
                      </a: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Сумма </a:t>
                      </a: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62850735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Остаток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Оборот Дт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Оборот Кт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Оборот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965271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197362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5" name="Таблица 34"/>
          <p:cNvGraphicFramePr>
            <a:graphicFrameLocks noGrp="1"/>
          </p:cNvGraphicFramePr>
          <p:nvPr/>
        </p:nvGraphicFramePr>
        <p:xfrm>
          <a:off x="188117" y="2053779"/>
          <a:ext cx="8784001" cy="1320800"/>
        </p:xfrm>
        <a:graphic>
          <a:graphicData uri="http://schemas.openxmlformats.org/drawingml/2006/table">
            <a:tbl>
              <a:tblPr/>
              <a:tblGrid>
                <a:gridCol w="817722">
                  <a:extLst>
                    <a:ext uri="{9D8B030D-6E8A-4147-A177-3AD203B41FA5}">
                      <a16:colId xmlns:a16="http://schemas.microsoft.com/office/drawing/2014/main" val="215911166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3627805699"/>
                    </a:ext>
                  </a:extLst>
                </a:gridCol>
                <a:gridCol w="1039091">
                  <a:extLst>
                    <a:ext uri="{9D8B030D-6E8A-4147-A177-3AD203B41FA5}">
                      <a16:colId xmlns:a16="http://schemas.microsoft.com/office/drawing/2014/main" val="1921632639"/>
                    </a:ext>
                  </a:extLst>
                </a:gridCol>
                <a:gridCol w="1172094">
                  <a:extLst>
                    <a:ext uri="{9D8B030D-6E8A-4147-A177-3AD203B41FA5}">
                      <a16:colId xmlns:a16="http://schemas.microsoft.com/office/drawing/2014/main" val="2812497627"/>
                    </a:ext>
                  </a:extLst>
                </a:gridCol>
                <a:gridCol w="1679172">
                  <a:extLst>
                    <a:ext uri="{9D8B030D-6E8A-4147-A177-3AD203B41FA5}">
                      <a16:colId xmlns:a16="http://schemas.microsoft.com/office/drawing/2014/main" val="4022660776"/>
                    </a:ext>
                  </a:extLst>
                </a:gridCol>
                <a:gridCol w="706582">
                  <a:extLst>
                    <a:ext uri="{9D8B030D-6E8A-4147-A177-3AD203B41FA5}">
                      <a16:colId xmlns:a16="http://schemas.microsoft.com/office/drawing/2014/main" val="368142078"/>
                    </a:ext>
                  </a:extLst>
                </a:gridCol>
                <a:gridCol w="745644">
                  <a:extLst>
                    <a:ext uri="{9D8B030D-6E8A-4147-A177-3AD203B41FA5}">
                      <a16:colId xmlns:a16="http://schemas.microsoft.com/office/drawing/2014/main" val="3962531684"/>
                    </a:ext>
                  </a:extLst>
                </a:gridCol>
                <a:gridCol w="792211">
                  <a:extLst>
                    <a:ext uri="{9D8B030D-6E8A-4147-A177-3AD203B41FA5}">
                      <a16:colId xmlns:a16="http://schemas.microsoft.com/office/drawing/2014/main" val="880598561"/>
                    </a:ext>
                  </a:extLst>
                </a:gridCol>
                <a:gridCol w="642765">
                  <a:extLst>
                    <a:ext uri="{9D8B030D-6E8A-4147-A177-3AD203B41FA5}">
                      <a16:colId xmlns:a16="http://schemas.microsoft.com/office/drawing/2014/main" val="2152956738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Период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Счет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Организация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Подразделение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Субконто 1</a:t>
                      </a: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Сумма </a:t>
                      </a: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219343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Остаток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Оборот Дт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Оборот Кт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Оборот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19526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kern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01.03.201</a:t>
                      </a:r>
                      <a:r>
                        <a:rPr lang="ru-RU" sz="1200" kern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9</a:t>
                      </a:r>
                      <a:endParaRPr lang="x-none" sz="1200" kern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kern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41</a:t>
                      </a:r>
                      <a:r>
                        <a:rPr lang="ru-RU" sz="1200" kern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.1</a:t>
                      </a:r>
                      <a:r>
                        <a:rPr lang="x-none" sz="1200" kern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(</a:t>
                      </a:r>
                      <a:r>
                        <a:rPr lang="ru-RU" sz="1200" kern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Т</a:t>
                      </a:r>
                      <a:r>
                        <a:rPr lang="x-none" sz="1200" kern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Администрация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Яблоки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5000</a:t>
                      </a: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50</a:t>
                      </a:r>
                      <a:r>
                        <a:rPr lang="x-none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167145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kern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01.11.3999</a:t>
                      </a:r>
                      <a:endParaRPr lang="x-none" sz="1200" kern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kern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41</a:t>
                      </a:r>
                      <a:r>
                        <a:rPr lang="ru-RU" sz="1200" kern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.1</a:t>
                      </a:r>
                      <a:r>
                        <a:rPr lang="x-none" sz="1200" kern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(</a:t>
                      </a:r>
                      <a:r>
                        <a:rPr lang="ru-RU" sz="1200" kern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Т</a:t>
                      </a:r>
                      <a:r>
                        <a:rPr lang="x-none" sz="1200" kern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Администрация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Яблоки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5000</a:t>
                      </a: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39766893"/>
                  </a:ext>
                </a:extLst>
              </a:tr>
            </a:tbl>
          </a:graphicData>
        </a:graphic>
      </p:graphicFrame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1097025"/>
          </a:xfrm>
        </p:spPr>
        <p:txBody>
          <a:bodyPr/>
          <a:lstStyle/>
          <a:p>
            <a:r>
              <a:rPr lang="ru-RU" dirty="0"/>
              <a:t>Таблицы остатков. К счёту 41.1 товары опт добавили субконто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/>
        </p:nvGraphicFramePr>
        <p:xfrm>
          <a:off x="188116" y="3639672"/>
          <a:ext cx="8784001" cy="751840"/>
        </p:xfrm>
        <a:graphic>
          <a:graphicData uri="http://schemas.openxmlformats.org/drawingml/2006/table">
            <a:tbl>
              <a:tblPr/>
              <a:tblGrid>
                <a:gridCol w="817723">
                  <a:extLst>
                    <a:ext uri="{9D8B030D-6E8A-4147-A177-3AD203B41FA5}">
                      <a16:colId xmlns:a16="http://schemas.microsoft.com/office/drawing/2014/main" val="14891986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679151112"/>
                    </a:ext>
                  </a:extLst>
                </a:gridCol>
                <a:gridCol w="1039091">
                  <a:extLst>
                    <a:ext uri="{9D8B030D-6E8A-4147-A177-3AD203B41FA5}">
                      <a16:colId xmlns:a16="http://schemas.microsoft.com/office/drawing/2014/main" val="3421561292"/>
                    </a:ext>
                  </a:extLst>
                </a:gridCol>
                <a:gridCol w="1163782">
                  <a:extLst>
                    <a:ext uri="{9D8B030D-6E8A-4147-A177-3AD203B41FA5}">
                      <a16:colId xmlns:a16="http://schemas.microsoft.com/office/drawing/2014/main" val="4256308087"/>
                    </a:ext>
                  </a:extLst>
                </a:gridCol>
                <a:gridCol w="831272">
                  <a:extLst>
                    <a:ext uri="{9D8B030D-6E8A-4147-A177-3AD203B41FA5}">
                      <a16:colId xmlns:a16="http://schemas.microsoft.com/office/drawing/2014/main" val="222144808"/>
                    </a:ext>
                  </a:extLst>
                </a:gridCol>
                <a:gridCol w="839586">
                  <a:extLst>
                    <a:ext uri="{9D8B030D-6E8A-4147-A177-3AD203B41FA5}">
                      <a16:colId xmlns:a16="http://schemas.microsoft.com/office/drawing/2014/main" val="398740633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1513212370"/>
                    </a:ext>
                  </a:extLst>
                </a:gridCol>
                <a:gridCol w="764771">
                  <a:extLst>
                    <a:ext uri="{9D8B030D-6E8A-4147-A177-3AD203B41FA5}">
                      <a16:colId xmlns:a16="http://schemas.microsoft.com/office/drawing/2014/main" val="3807624008"/>
                    </a:ext>
                  </a:extLst>
                </a:gridCol>
                <a:gridCol w="764771">
                  <a:extLst>
                    <a:ext uri="{9D8B030D-6E8A-4147-A177-3AD203B41FA5}">
                      <a16:colId xmlns:a16="http://schemas.microsoft.com/office/drawing/2014/main" val="1744979145"/>
                    </a:ext>
                  </a:extLst>
                </a:gridCol>
                <a:gridCol w="642765">
                  <a:extLst>
                    <a:ext uri="{9D8B030D-6E8A-4147-A177-3AD203B41FA5}">
                      <a16:colId xmlns:a16="http://schemas.microsoft.com/office/drawing/2014/main" val="3925993093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Период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Счет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Организация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Подразделение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Субконто 1</a:t>
                      </a: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1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Субконто 2</a:t>
                      </a: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Сумма </a:t>
                      </a: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62850735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Остаток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Оборот Дт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Оборот Кт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Оборот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96527174"/>
                  </a:ext>
                </a:extLst>
              </a:tr>
            </a:tbl>
          </a:graphicData>
        </a:graphic>
      </p:graphicFrame>
      <p:sp>
        <p:nvSpPr>
          <p:cNvPr id="4" name="Стрелка вниз 3"/>
          <p:cNvSpPr/>
          <p:nvPr/>
        </p:nvSpPr>
        <p:spPr>
          <a:xfrm>
            <a:off x="2523744" y="3210920"/>
            <a:ext cx="868680" cy="804672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129047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750" tmFilter="0, 0; .2, .5; .8, .5; 1, 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" dur="375" autoRev="1" fill="hold"/>
                                        <p:tgtEl>
                                          <p:spTgt spid="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4" grpId="2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5" name="Таблица 3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5173685"/>
              </p:ext>
            </p:extLst>
          </p:nvPr>
        </p:nvGraphicFramePr>
        <p:xfrm>
          <a:off x="188117" y="2053779"/>
          <a:ext cx="8784001" cy="1320800"/>
        </p:xfrm>
        <a:graphic>
          <a:graphicData uri="http://schemas.openxmlformats.org/drawingml/2006/table">
            <a:tbl>
              <a:tblPr/>
              <a:tblGrid>
                <a:gridCol w="817722">
                  <a:extLst>
                    <a:ext uri="{9D8B030D-6E8A-4147-A177-3AD203B41FA5}">
                      <a16:colId xmlns:a16="http://schemas.microsoft.com/office/drawing/2014/main" val="215911166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3627805699"/>
                    </a:ext>
                  </a:extLst>
                </a:gridCol>
                <a:gridCol w="1039091">
                  <a:extLst>
                    <a:ext uri="{9D8B030D-6E8A-4147-A177-3AD203B41FA5}">
                      <a16:colId xmlns:a16="http://schemas.microsoft.com/office/drawing/2014/main" val="1921632639"/>
                    </a:ext>
                  </a:extLst>
                </a:gridCol>
                <a:gridCol w="1172094">
                  <a:extLst>
                    <a:ext uri="{9D8B030D-6E8A-4147-A177-3AD203B41FA5}">
                      <a16:colId xmlns:a16="http://schemas.microsoft.com/office/drawing/2014/main" val="2812497627"/>
                    </a:ext>
                  </a:extLst>
                </a:gridCol>
                <a:gridCol w="1679172">
                  <a:extLst>
                    <a:ext uri="{9D8B030D-6E8A-4147-A177-3AD203B41FA5}">
                      <a16:colId xmlns:a16="http://schemas.microsoft.com/office/drawing/2014/main" val="4022660776"/>
                    </a:ext>
                  </a:extLst>
                </a:gridCol>
                <a:gridCol w="706582">
                  <a:extLst>
                    <a:ext uri="{9D8B030D-6E8A-4147-A177-3AD203B41FA5}">
                      <a16:colId xmlns:a16="http://schemas.microsoft.com/office/drawing/2014/main" val="368142078"/>
                    </a:ext>
                  </a:extLst>
                </a:gridCol>
                <a:gridCol w="745644">
                  <a:extLst>
                    <a:ext uri="{9D8B030D-6E8A-4147-A177-3AD203B41FA5}">
                      <a16:colId xmlns:a16="http://schemas.microsoft.com/office/drawing/2014/main" val="3962531684"/>
                    </a:ext>
                  </a:extLst>
                </a:gridCol>
                <a:gridCol w="792211">
                  <a:extLst>
                    <a:ext uri="{9D8B030D-6E8A-4147-A177-3AD203B41FA5}">
                      <a16:colId xmlns:a16="http://schemas.microsoft.com/office/drawing/2014/main" val="880598561"/>
                    </a:ext>
                  </a:extLst>
                </a:gridCol>
                <a:gridCol w="642765">
                  <a:extLst>
                    <a:ext uri="{9D8B030D-6E8A-4147-A177-3AD203B41FA5}">
                      <a16:colId xmlns:a16="http://schemas.microsoft.com/office/drawing/2014/main" val="2152956738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Период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Счет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Организация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Подразделение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Субконто 1</a:t>
                      </a: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Сумма </a:t>
                      </a: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219343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Остаток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Оборот Дт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Оборот Кт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Оборот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19526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kern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kern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167145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kern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kern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39766893"/>
                  </a:ext>
                </a:extLst>
              </a:tr>
            </a:tbl>
          </a:graphicData>
        </a:graphic>
      </p:graphicFrame>
      <p:graphicFrame>
        <p:nvGraphicFramePr>
          <p:cNvPr id="36" name="Таблица 3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4666505"/>
              </p:ext>
            </p:extLst>
          </p:nvPr>
        </p:nvGraphicFramePr>
        <p:xfrm>
          <a:off x="188117" y="3613256"/>
          <a:ext cx="8784001" cy="1889760"/>
        </p:xfrm>
        <a:graphic>
          <a:graphicData uri="http://schemas.openxmlformats.org/drawingml/2006/table">
            <a:tbl>
              <a:tblPr/>
              <a:tblGrid>
                <a:gridCol w="817723">
                  <a:extLst>
                    <a:ext uri="{9D8B030D-6E8A-4147-A177-3AD203B41FA5}">
                      <a16:colId xmlns:a16="http://schemas.microsoft.com/office/drawing/2014/main" val="215911166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3627805699"/>
                    </a:ext>
                  </a:extLst>
                </a:gridCol>
                <a:gridCol w="1039091">
                  <a:extLst>
                    <a:ext uri="{9D8B030D-6E8A-4147-A177-3AD203B41FA5}">
                      <a16:colId xmlns:a16="http://schemas.microsoft.com/office/drawing/2014/main" val="1921632639"/>
                    </a:ext>
                  </a:extLst>
                </a:gridCol>
                <a:gridCol w="1163782">
                  <a:extLst>
                    <a:ext uri="{9D8B030D-6E8A-4147-A177-3AD203B41FA5}">
                      <a16:colId xmlns:a16="http://schemas.microsoft.com/office/drawing/2014/main" val="2812497627"/>
                    </a:ext>
                  </a:extLst>
                </a:gridCol>
                <a:gridCol w="831272">
                  <a:extLst>
                    <a:ext uri="{9D8B030D-6E8A-4147-A177-3AD203B41FA5}">
                      <a16:colId xmlns:a16="http://schemas.microsoft.com/office/drawing/2014/main" val="4022660776"/>
                    </a:ext>
                  </a:extLst>
                </a:gridCol>
                <a:gridCol w="839586">
                  <a:extLst>
                    <a:ext uri="{9D8B030D-6E8A-4147-A177-3AD203B41FA5}">
                      <a16:colId xmlns:a16="http://schemas.microsoft.com/office/drawing/2014/main" val="4250260318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68142078"/>
                    </a:ext>
                  </a:extLst>
                </a:gridCol>
                <a:gridCol w="764771">
                  <a:extLst>
                    <a:ext uri="{9D8B030D-6E8A-4147-A177-3AD203B41FA5}">
                      <a16:colId xmlns:a16="http://schemas.microsoft.com/office/drawing/2014/main" val="3962531684"/>
                    </a:ext>
                  </a:extLst>
                </a:gridCol>
                <a:gridCol w="764771">
                  <a:extLst>
                    <a:ext uri="{9D8B030D-6E8A-4147-A177-3AD203B41FA5}">
                      <a16:colId xmlns:a16="http://schemas.microsoft.com/office/drawing/2014/main" val="880598561"/>
                    </a:ext>
                  </a:extLst>
                </a:gridCol>
                <a:gridCol w="642765">
                  <a:extLst>
                    <a:ext uri="{9D8B030D-6E8A-4147-A177-3AD203B41FA5}">
                      <a16:colId xmlns:a16="http://schemas.microsoft.com/office/drawing/2014/main" val="2152956738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Период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Счет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Организация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Подразделение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Субконто 1</a:t>
                      </a: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1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Субконто 2</a:t>
                      </a: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Сумма </a:t>
                      </a: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219343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Остаток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Оборот Дт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Оборот Кт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Оборот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19526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01.03.201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9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41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.1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 (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Т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Администрация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Яблоки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2800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2800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167145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01.03.201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9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41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.1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 (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Т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Администрация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Яблоки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2200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2200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48225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01.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11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.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3999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41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.1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 (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Т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Администрация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Яблоки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2800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89048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01.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11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.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3999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41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.1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 (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Т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Администрация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Яблоки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2200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9004099"/>
                  </a:ext>
                </a:extLst>
              </a:tr>
            </a:tbl>
          </a:graphicData>
        </a:graphic>
      </p:graphicFrame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1097025"/>
          </a:xfrm>
        </p:spPr>
        <p:txBody>
          <a:bodyPr/>
          <a:lstStyle/>
          <a:p>
            <a:r>
              <a:rPr lang="ru-RU" dirty="0"/>
              <a:t>Таблицы остатков. У счёта 41.1 товары опт два субконто</a:t>
            </a:r>
          </a:p>
        </p:txBody>
      </p:sp>
    </p:spTree>
    <p:extLst>
      <p:ext uri="{BB962C8B-B14F-4D97-AF65-F5344CB8AC3E}">
        <p14:creationId xmlns:p14="http://schemas.microsoft.com/office/powerpoint/2010/main" val="430103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 tmFilter="0, 0; .2, .5; .8, .5; 1, 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" dur="250" autoRev="1" fill="hold"/>
                                        <p:tgtEl>
                                          <p:spTgt spid="3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5" name="Таблица 34"/>
          <p:cNvGraphicFramePr>
            <a:graphicFrameLocks noGrp="1"/>
          </p:cNvGraphicFramePr>
          <p:nvPr>
            <p:extLst/>
          </p:nvPr>
        </p:nvGraphicFramePr>
        <p:xfrm>
          <a:off x="188117" y="2053779"/>
          <a:ext cx="8784001" cy="1320800"/>
        </p:xfrm>
        <a:graphic>
          <a:graphicData uri="http://schemas.openxmlformats.org/drawingml/2006/table">
            <a:tbl>
              <a:tblPr/>
              <a:tblGrid>
                <a:gridCol w="817722">
                  <a:extLst>
                    <a:ext uri="{9D8B030D-6E8A-4147-A177-3AD203B41FA5}">
                      <a16:colId xmlns:a16="http://schemas.microsoft.com/office/drawing/2014/main" val="215911166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3627805699"/>
                    </a:ext>
                  </a:extLst>
                </a:gridCol>
                <a:gridCol w="1039091">
                  <a:extLst>
                    <a:ext uri="{9D8B030D-6E8A-4147-A177-3AD203B41FA5}">
                      <a16:colId xmlns:a16="http://schemas.microsoft.com/office/drawing/2014/main" val="1921632639"/>
                    </a:ext>
                  </a:extLst>
                </a:gridCol>
                <a:gridCol w="1172094">
                  <a:extLst>
                    <a:ext uri="{9D8B030D-6E8A-4147-A177-3AD203B41FA5}">
                      <a16:colId xmlns:a16="http://schemas.microsoft.com/office/drawing/2014/main" val="2812497627"/>
                    </a:ext>
                  </a:extLst>
                </a:gridCol>
                <a:gridCol w="1679172">
                  <a:extLst>
                    <a:ext uri="{9D8B030D-6E8A-4147-A177-3AD203B41FA5}">
                      <a16:colId xmlns:a16="http://schemas.microsoft.com/office/drawing/2014/main" val="4022660776"/>
                    </a:ext>
                  </a:extLst>
                </a:gridCol>
                <a:gridCol w="706582">
                  <a:extLst>
                    <a:ext uri="{9D8B030D-6E8A-4147-A177-3AD203B41FA5}">
                      <a16:colId xmlns:a16="http://schemas.microsoft.com/office/drawing/2014/main" val="368142078"/>
                    </a:ext>
                  </a:extLst>
                </a:gridCol>
                <a:gridCol w="745644">
                  <a:extLst>
                    <a:ext uri="{9D8B030D-6E8A-4147-A177-3AD203B41FA5}">
                      <a16:colId xmlns:a16="http://schemas.microsoft.com/office/drawing/2014/main" val="3962531684"/>
                    </a:ext>
                  </a:extLst>
                </a:gridCol>
                <a:gridCol w="792211">
                  <a:extLst>
                    <a:ext uri="{9D8B030D-6E8A-4147-A177-3AD203B41FA5}">
                      <a16:colId xmlns:a16="http://schemas.microsoft.com/office/drawing/2014/main" val="880598561"/>
                    </a:ext>
                  </a:extLst>
                </a:gridCol>
                <a:gridCol w="642765">
                  <a:extLst>
                    <a:ext uri="{9D8B030D-6E8A-4147-A177-3AD203B41FA5}">
                      <a16:colId xmlns:a16="http://schemas.microsoft.com/office/drawing/2014/main" val="2152956738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Период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Счет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Организация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Подразделение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Субконто 1</a:t>
                      </a: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Сумма </a:t>
                      </a: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219343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Остаток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Оборот Дт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Оборот Кт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Оборот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19526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kern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kern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167145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kern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kern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39766893"/>
                  </a:ext>
                </a:extLst>
              </a:tr>
            </a:tbl>
          </a:graphicData>
        </a:graphic>
      </p:graphicFrame>
      <p:graphicFrame>
        <p:nvGraphicFramePr>
          <p:cNvPr id="36" name="Таблица 35"/>
          <p:cNvGraphicFramePr>
            <a:graphicFrameLocks noGrp="1"/>
          </p:cNvGraphicFramePr>
          <p:nvPr/>
        </p:nvGraphicFramePr>
        <p:xfrm>
          <a:off x="188117" y="3613256"/>
          <a:ext cx="8784001" cy="2255520"/>
        </p:xfrm>
        <a:graphic>
          <a:graphicData uri="http://schemas.openxmlformats.org/drawingml/2006/table">
            <a:tbl>
              <a:tblPr/>
              <a:tblGrid>
                <a:gridCol w="817723">
                  <a:extLst>
                    <a:ext uri="{9D8B030D-6E8A-4147-A177-3AD203B41FA5}">
                      <a16:colId xmlns:a16="http://schemas.microsoft.com/office/drawing/2014/main" val="215911166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3627805699"/>
                    </a:ext>
                  </a:extLst>
                </a:gridCol>
                <a:gridCol w="1039091">
                  <a:extLst>
                    <a:ext uri="{9D8B030D-6E8A-4147-A177-3AD203B41FA5}">
                      <a16:colId xmlns:a16="http://schemas.microsoft.com/office/drawing/2014/main" val="1921632639"/>
                    </a:ext>
                  </a:extLst>
                </a:gridCol>
                <a:gridCol w="1163782">
                  <a:extLst>
                    <a:ext uri="{9D8B030D-6E8A-4147-A177-3AD203B41FA5}">
                      <a16:colId xmlns:a16="http://schemas.microsoft.com/office/drawing/2014/main" val="2812497627"/>
                    </a:ext>
                  </a:extLst>
                </a:gridCol>
                <a:gridCol w="831272">
                  <a:extLst>
                    <a:ext uri="{9D8B030D-6E8A-4147-A177-3AD203B41FA5}">
                      <a16:colId xmlns:a16="http://schemas.microsoft.com/office/drawing/2014/main" val="4022660776"/>
                    </a:ext>
                  </a:extLst>
                </a:gridCol>
                <a:gridCol w="839586">
                  <a:extLst>
                    <a:ext uri="{9D8B030D-6E8A-4147-A177-3AD203B41FA5}">
                      <a16:colId xmlns:a16="http://schemas.microsoft.com/office/drawing/2014/main" val="4250260318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68142078"/>
                    </a:ext>
                  </a:extLst>
                </a:gridCol>
                <a:gridCol w="764771">
                  <a:extLst>
                    <a:ext uri="{9D8B030D-6E8A-4147-A177-3AD203B41FA5}">
                      <a16:colId xmlns:a16="http://schemas.microsoft.com/office/drawing/2014/main" val="3962531684"/>
                    </a:ext>
                  </a:extLst>
                </a:gridCol>
                <a:gridCol w="764771">
                  <a:extLst>
                    <a:ext uri="{9D8B030D-6E8A-4147-A177-3AD203B41FA5}">
                      <a16:colId xmlns:a16="http://schemas.microsoft.com/office/drawing/2014/main" val="880598561"/>
                    </a:ext>
                  </a:extLst>
                </a:gridCol>
                <a:gridCol w="642765">
                  <a:extLst>
                    <a:ext uri="{9D8B030D-6E8A-4147-A177-3AD203B41FA5}">
                      <a16:colId xmlns:a16="http://schemas.microsoft.com/office/drawing/2014/main" val="2152956738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Период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Счет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Организация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Подразделение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Субконто 1</a:t>
                      </a: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1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Субконто 2</a:t>
                      </a: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Сумма </a:t>
                      </a: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219343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Остаток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Оборот Дт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Оборот Кт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Оборот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19526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01.03.201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9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41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.1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 (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Т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Администрация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Яблоки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Основной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2800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2800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167145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01.03.201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9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41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.1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 (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Т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Администрация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Яблоки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Холодильник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2200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2200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48225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01.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11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.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3999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41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.1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 (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Т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Администрация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Яблоки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Основной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2800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89048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01.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11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.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3999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41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.1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 (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Т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Администрация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Яблоки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Холодильник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2200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9004099"/>
                  </a:ext>
                </a:extLst>
              </a:tr>
            </a:tbl>
          </a:graphicData>
        </a:graphic>
      </p:graphicFrame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1097025"/>
          </a:xfrm>
        </p:spPr>
        <p:txBody>
          <a:bodyPr/>
          <a:lstStyle/>
          <a:p>
            <a:r>
              <a:rPr lang="ru-RU" dirty="0"/>
              <a:t>Таблицы остатков. У счёта 41.1 товары опт два субконто</a:t>
            </a:r>
          </a:p>
        </p:txBody>
      </p:sp>
      <p:sp>
        <p:nvSpPr>
          <p:cNvPr id="2" name="Выноска 2 1"/>
          <p:cNvSpPr/>
          <p:nvPr/>
        </p:nvSpPr>
        <p:spPr>
          <a:xfrm>
            <a:off x="6649375" y="2053779"/>
            <a:ext cx="2219418" cy="1471720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161136"/>
              <a:gd name="adj6" fmla="val -42157"/>
            </a:avLst>
          </a:prstGeom>
          <a:solidFill>
            <a:schemeClr val="accent1">
              <a:alpha val="77000"/>
            </a:schemeClr>
          </a:solidFill>
          <a:ln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Если остатки и обороты были, то склады надо заполнить </a:t>
            </a:r>
            <a:r>
              <a:rPr lang="ru-RU" dirty="0" err="1" smtClean="0"/>
              <a:t>программно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647179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 tmFilter="0, 0; .2, .5; .8, .5; 1, 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" dur="250" autoRev="1" fill="hold"/>
                                        <p:tgtEl>
                                          <p:spTgt spid="3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904283"/>
          </a:xfrm>
        </p:spPr>
        <p:txBody>
          <a:bodyPr/>
          <a:lstStyle/>
          <a:p>
            <a:r>
              <a:rPr lang="ru-RU" dirty="0"/>
              <a:t>Отключение субконто от счёта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/>
          </p:nvPr>
        </p:nvGraphicFramePr>
        <p:xfrm>
          <a:off x="448735" y="1476259"/>
          <a:ext cx="8523384" cy="1833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8691">
                  <a:extLst>
                    <a:ext uri="{9D8B030D-6E8A-4147-A177-3AD203B41FA5}">
                      <a16:colId xmlns:a16="http://schemas.microsoft.com/office/drawing/2014/main" val="932871703"/>
                    </a:ext>
                  </a:extLst>
                </a:gridCol>
                <a:gridCol w="683046">
                  <a:extLst>
                    <a:ext uri="{9D8B030D-6E8A-4147-A177-3AD203B41FA5}">
                      <a16:colId xmlns:a16="http://schemas.microsoft.com/office/drawing/2014/main" val="631033224"/>
                    </a:ext>
                  </a:extLst>
                </a:gridCol>
                <a:gridCol w="1707614">
                  <a:extLst>
                    <a:ext uri="{9D8B030D-6E8A-4147-A177-3AD203B41FA5}">
                      <a16:colId xmlns:a16="http://schemas.microsoft.com/office/drawing/2014/main" val="1495469993"/>
                    </a:ext>
                  </a:extLst>
                </a:gridCol>
                <a:gridCol w="4594033">
                  <a:extLst>
                    <a:ext uri="{9D8B030D-6E8A-4147-A177-3AD203B41FA5}">
                      <a16:colId xmlns:a16="http://schemas.microsoft.com/office/drawing/2014/main" val="38509035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Код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Наименование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Виды субконто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4929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C00000"/>
                          </a:solidFill>
                        </a:rPr>
                        <a:t>&lt;41.1</a:t>
                      </a:r>
                      <a:r>
                        <a:rPr lang="ru-RU" baseline="0" dirty="0">
                          <a:solidFill>
                            <a:srgbClr val="C00000"/>
                          </a:solidFill>
                        </a:rPr>
                        <a:t> Товары&gt;</a:t>
                      </a:r>
                      <a:endParaRPr lang="ru-RU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41.1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Товары опт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  <a:p>
                      <a:endParaRPr lang="ru-RU" dirty="0"/>
                    </a:p>
                    <a:p>
                      <a:endParaRPr lang="ru-RU" dirty="0"/>
                    </a:p>
                    <a:p>
                      <a:endParaRPr lang="ru-RU" dirty="0"/>
                    </a:p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2357516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>
            <p:extLst/>
          </p:nvPr>
        </p:nvGraphicFramePr>
        <p:xfrm>
          <a:off x="4465503" y="1885844"/>
          <a:ext cx="4359007" cy="125984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745475">
                  <a:extLst>
                    <a:ext uri="{9D8B030D-6E8A-4147-A177-3AD203B41FA5}">
                      <a16:colId xmlns:a16="http://schemas.microsoft.com/office/drawing/2014/main" val="787950461"/>
                    </a:ext>
                  </a:extLst>
                </a:gridCol>
                <a:gridCol w="2633031">
                  <a:extLst>
                    <a:ext uri="{9D8B030D-6E8A-4147-A177-3AD203B41FA5}">
                      <a16:colId xmlns:a16="http://schemas.microsoft.com/office/drawing/2014/main" val="766134915"/>
                    </a:ext>
                  </a:extLst>
                </a:gridCol>
                <a:gridCol w="980501">
                  <a:extLst>
                    <a:ext uri="{9D8B030D-6E8A-4147-A177-3AD203B41FA5}">
                      <a16:colId xmlns:a16="http://schemas.microsoft.com/office/drawing/2014/main" val="35136614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№ строки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Вид субконто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Только обороты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97992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7030A0"/>
                          </a:solidFill>
                        </a:rPr>
                        <a:t>&lt;ПВХ</a:t>
                      </a:r>
                      <a:r>
                        <a:rPr lang="ru-RU" baseline="0" dirty="0">
                          <a:solidFill>
                            <a:srgbClr val="7030A0"/>
                          </a:solidFill>
                        </a:rPr>
                        <a:t> Номенклатура&gt;</a:t>
                      </a:r>
                      <a:endParaRPr lang="ru-RU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38056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7030A0"/>
                          </a:solidFill>
                        </a:rPr>
                        <a:t>&lt;ПВХ</a:t>
                      </a:r>
                      <a:r>
                        <a:rPr lang="ru-RU" baseline="0" dirty="0">
                          <a:solidFill>
                            <a:srgbClr val="7030A0"/>
                          </a:solidFill>
                        </a:rPr>
                        <a:t> Склады&gt;</a:t>
                      </a:r>
                      <a:endParaRPr lang="ru-RU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6576528"/>
                  </a:ext>
                </a:extLst>
              </a:tr>
            </a:tbl>
          </a:graphicData>
        </a:graphic>
      </p:graphicFrame>
      <p:sp>
        <p:nvSpPr>
          <p:cNvPr id="7" name="Скругленный прямоугольник 6"/>
          <p:cNvSpPr/>
          <p:nvPr/>
        </p:nvSpPr>
        <p:spPr>
          <a:xfrm>
            <a:off x="4305670" y="2670947"/>
            <a:ext cx="4666449" cy="551648"/>
          </a:xfrm>
          <a:prstGeom prst="roundRect">
            <a:avLst/>
          </a:prstGeom>
          <a:noFill/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85922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750" tmFilter="0, 0; .2, .5; .8, .5; 1, 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" dur="375" autoRev="1" fill="hold"/>
                                        <p:tgtEl>
                                          <p:spTgt spid="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7" grpId="2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904283"/>
          </a:xfrm>
        </p:spPr>
        <p:txBody>
          <a:bodyPr/>
          <a:lstStyle/>
          <a:p>
            <a:r>
              <a:rPr lang="ru-RU" dirty="0" smtClean="0"/>
              <a:t>Отключение </a:t>
            </a:r>
            <a:r>
              <a:rPr lang="ru-RU" dirty="0"/>
              <a:t>субконто </a:t>
            </a:r>
            <a:r>
              <a:rPr lang="ru-RU" dirty="0" smtClean="0"/>
              <a:t>от счёта</a:t>
            </a:r>
            <a:endParaRPr lang="ru-RU" dirty="0"/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448735" y="1476259"/>
          <a:ext cx="8523384" cy="1833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8691">
                  <a:extLst>
                    <a:ext uri="{9D8B030D-6E8A-4147-A177-3AD203B41FA5}">
                      <a16:colId xmlns:a16="http://schemas.microsoft.com/office/drawing/2014/main" val="932871703"/>
                    </a:ext>
                  </a:extLst>
                </a:gridCol>
                <a:gridCol w="683046">
                  <a:extLst>
                    <a:ext uri="{9D8B030D-6E8A-4147-A177-3AD203B41FA5}">
                      <a16:colId xmlns:a16="http://schemas.microsoft.com/office/drawing/2014/main" val="631033224"/>
                    </a:ext>
                  </a:extLst>
                </a:gridCol>
                <a:gridCol w="1707614">
                  <a:extLst>
                    <a:ext uri="{9D8B030D-6E8A-4147-A177-3AD203B41FA5}">
                      <a16:colId xmlns:a16="http://schemas.microsoft.com/office/drawing/2014/main" val="1495469993"/>
                    </a:ext>
                  </a:extLst>
                </a:gridCol>
                <a:gridCol w="4594033">
                  <a:extLst>
                    <a:ext uri="{9D8B030D-6E8A-4147-A177-3AD203B41FA5}">
                      <a16:colId xmlns:a16="http://schemas.microsoft.com/office/drawing/2014/main" val="38509035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Код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Наименование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Виды субконто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4929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C00000"/>
                          </a:solidFill>
                        </a:rPr>
                        <a:t>&lt;41.1</a:t>
                      </a:r>
                      <a:r>
                        <a:rPr lang="ru-RU" baseline="0" dirty="0">
                          <a:solidFill>
                            <a:srgbClr val="C00000"/>
                          </a:solidFill>
                        </a:rPr>
                        <a:t> Товары&gt;</a:t>
                      </a:r>
                      <a:endParaRPr lang="ru-RU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41.1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Товары опт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  <a:p>
                      <a:endParaRPr lang="ru-RU" dirty="0"/>
                    </a:p>
                    <a:p>
                      <a:endParaRPr lang="ru-RU" dirty="0"/>
                    </a:p>
                    <a:p>
                      <a:endParaRPr lang="ru-RU" dirty="0"/>
                    </a:p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2357516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>
            <p:extLst/>
          </p:nvPr>
        </p:nvGraphicFramePr>
        <p:xfrm>
          <a:off x="4465503" y="1885844"/>
          <a:ext cx="4359007" cy="88900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745475">
                  <a:extLst>
                    <a:ext uri="{9D8B030D-6E8A-4147-A177-3AD203B41FA5}">
                      <a16:colId xmlns:a16="http://schemas.microsoft.com/office/drawing/2014/main" val="787950461"/>
                    </a:ext>
                  </a:extLst>
                </a:gridCol>
                <a:gridCol w="2633031">
                  <a:extLst>
                    <a:ext uri="{9D8B030D-6E8A-4147-A177-3AD203B41FA5}">
                      <a16:colId xmlns:a16="http://schemas.microsoft.com/office/drawing/2014/main" val="766134915"/>
                    </a:ext>
                  </a:extLst>
                </a:gridCol>
                <a:gridCol w="980501">
                  <a:extLst>
                    <a:ext uri="{9D8B030D-6E8A-4147-A177-3AD203B41FA5}">
                      <a16:colId xmlns:a16="http://schemas.microsoft.com/office/drawing/2014/main" val="35136614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№ строки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Вид субконто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Только обороты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97992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7030A0"/>
                          </a:solidFill>
                        </a:rPr>
                        <a:t>&lt;ПВХ</a:t>
                      </a:r>
                      <a:r>
                        <a:rPr lang="ru-RU" baseline="0" dirty="0">
                          <a:solidFill>
                            <a:srgbClr val="7030A0"/>
                          </a:solidFill>
                        </a:rPr>
                        <a:t> Номенклатура&gt;</a:t>
                      </a:r>
                      <a:endParaRPr lang="ru-RU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38056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09841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5" name="Таблица 34"/>
          <p:cNvGraphicFramePr>
            <a:graphicFrameLocks noGrp="1"/>
          </p:cNvGraphicFramePr>
          <p:nvPr>
            <p:extLst/>
          </p:nvPr>
        </p:nvGraphicFramePr>
        <p:xfrm>
          <a:off x="188117" y="2053779"/>
          <a:ext cx="8784001" cy="1320800"/>
        </p:xfrm>
        <a:graphic>
          <a:graphicData uri="http://schemas.openxmlformats.org/drawingml/2006/table">
            <a:tbl>
              <a:tblPr/>
              <a:tblGrid>
                <a:gridCol w="817722">
                  <a:extLst>
                    <a:ext uri="{9D8B030D-6E8A-4147-A177-3AD203B41FA5}">
                      <a16:colId xmlns:a16="http://schemas.microsoft.com/office/drawing/2014/main" val="215911166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3627805699"/>
                    </a:ext>
                  </a:extLst>
                </a:gridCol>
                <a:gridCol w="1039091">
                  <a:extLst>
                    <a:ext uri="{9D8B030D-6E8A-4147-A177-3AD203B41FA5}">
                      <a16:colId xmlns:a16="http://schemas.microsoft.com/office/drawing/2014/main" val="1921632639"/>
                    </a:ext>
                  </a:extLst>
                </a:gridCol>
                <a:gridCol w="1172094">
                  <a:extLst>
                    <a:ext uri="{9D8B030D-6E8A-4147-A177-3AD203B41FA5}">
                      <a16:colId xmlns:a16="http://schemas.microsoft.com/office/drawing/2014/main" val="2812497627"/>
                    </a:ext>
                  </a:extLst>
                </a:gridCol>
                <a:gridCol w="1679172">
                  <a:extLst>
                    <a:ext uri="{9D8B030D-6E8A-4147-A177-3AD203B41FA5}">
                      <a16:colId xmlns:a16="http://schemas.microsoft.com/office/drawing/2014/main" val="4022660776"/>
                    </a:ext>
                  </a:extLst>
                </a:gridCol>
                <a:gridCol w="706582">
                  <a:extLst>
                    <a:ext uri="{9D8B030D-6E8A-4147-A177-3AD203B41FA5}">
                      <a16:colId xmlns:a16="http://schemas.microsoft.com/office/drawing/2014/main" val="368142078"/>
                    </a:ext>
                  </a:extLst>
                </a:gridCol>
                <a:gridCol w="745644">
                  <a:extLst>
                    <a:ext uri="{9D8B030D-6E8A-4147-A177-3AD203B41FA5}">
                      <a16:colId xmlns:a16="http://schemas.microsoft.com/office/drawing/2014/main" val="3962531684"/>
                    </a:ext>
                  </a:extLst>
                </a:gridCol>
                <a:gridCol w="792211">
                  <a:extLst>
                    <a:ext uri="{9D8B030D-6E8A-4147-A177-3AD203B41FA5}">
                      <a16:colId xmlns:a16="http://schemas.microsoft.com/office/drawing/2014/main" val="880598561"/>
                    </a:ext>
                  </a:extLst>
                </a:gridCol>
                <a:gridCol w="642765">
                  <a:extLst>
                    <a:ext uri="{9D8B030D-6E8A-4147-A177-3AD203B41FA5}">
                      <a16:colId xmlns:a16="http://schemas.microsoft.com/office/drawing/2014/main" val="2152956738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Период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Счет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Организация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Подразделение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Субконто 1</a:t>
                      </a: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Сумма </a:t>
                      </a: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219343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Остаток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Оборот Дт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Оборот Кт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Оборот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19526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kern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kern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167145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kern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kern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39766893"/>
                  </a:ext>
                </a:extLst>
              </a:tr>
            </a:tbl>
          </a:graphicData>
        </a:graphic>
      </p:graphicFrame>
      <p:graphicFrame>
        <p:nvGraphicFramePr>
          <p:cNvPr id="36" name="Таблица 35"/>
          <p:cNvGraphicFramePr>
            <a:graphicFrameLocks noGrp="1"/>
          </p:cNvGraphicFramePr>
          <p:nvPr/>
        </p:nvGraphicFramePr>
        <p:xfrm>
          <a:off x="188117" y="3613256"/>
          <a:ext cx="8784001" cy="2255520"/>
        </p:xfrm>
        <a:graphic>
          <a:graphicData uri="http://schemas.openxmlformats.org/drawingml/2006/table">
            <a:tbl>
              <a:tblPr/>
              <a:tblGrid>
                <a:gridCol w="817723">
                  <a:extLst>
                    <a:ext uri="{9D8B030D-6E8A-4147-A177-3AD203B41FA5}">
                      <a16:colId xmlns:a16="http://schemas.microsoft.com/office/drawing/2014/main" val="215911166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3627805699"/>
                    </a:ext>
                  </a:extLst>
                </a:gridCol>
                <a:gridCol w="1039091">
                  <a:extLst>
                    <a:ext uri="{9D8B030D-6E8A-4147-A177-3AD203B41FA5}">
                      <a16:colId xmlns:a16="http://schemas.microsoft.com/office/drawing/2014/main" val="1921632639"/>
                    </a:ext>
                  </a:extLst>
                </a:gridCol>
                <a:gridCol w="1163782">
                  <a:extLst>
                    <a:ext uri="{9D8B030D-6E8A-4147-A177-3AD203B41FA5}">
                      <a16:colId xmlns:a16="http://schemas.microsoft.com/office/drawing/2014/main" val="2812497627"/>
                    </a:ext>
                  </a:extLst>
                </a:gridCol>
                <a:gridCol w="831272">
                  <a:extLst>
                    <a:ext uri="{9D8B030D-6E8A-4147-A177-3AD203B41FA5}">
                      <a16:colId xmlns:a16="http://schemas.microsoft.com/office/drawing/2014/main" val="4022660776"/>
                    </a:ext>
                  </a:extLst>
                </a:gridCol>
                <a:gridCol w="839586">
                  <a:extLst>
                    <a:ext uri="{9D8B030D-6E8A-4147-A177-3AD203B41FA5}">
                      <a16:colId xmlns:a16="http://schemas.microsoft.com/office/drawing/2014/main" val="4250260318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68142078"/>
                    </a:ext>
                  </a:extLst>
                </a:gridCol>
                <a:gridCol w="764771">
                  <a:extLst>
                    <a:ext uri="{9D8B030D-6E8A-4147-A177-3AD203B41FA5}">
                      <a16:colId xmlns:a16="http://schemas.microsoft.com/office/drawing/2014/main" val="3962531684"/>
                    </a:ext>
                  </a:extLst>
                </a:gridCol>
                <a:gridCol w="764771">
                  <a:extLst>
                    <a:ext uri="{9D8B030D-6E8A-4147-A177-3AD203B41FA5}">
                      <a16:colId xmlns:a16="http://schemas.microsoft.com/office/drawing/2014/main" val="880598561"/>
                    </a:ext>
                  </a:extLst>
                </a:gridCol>
                <a:gridCol w="642765">
                  <a:extLst>
                    <a:ext uri="{9D8B030D-6E8A-4147-A177-3AD203B41FA5}">
                      <a16:colId xmlns:a16="http://schemas.microsoft.com/office/drawing/2014/main" val="2152956738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Период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Счет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Организация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Подразделение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Субконто 1</a:t>
                      </a: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1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Субконто 2</a:t>
                      </a: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Сумма </a:t>
                      </a: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219343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Остаток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Оборот Дт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Оборот Кт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Оборот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19526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01.03.201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9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41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.1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 (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Т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Администрация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Яблоки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Основной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2800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2800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167145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01.03.201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9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41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.1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 (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Т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Администрация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Яблоки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Холодильник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2200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2200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48225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01.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11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.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3999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41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.1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 (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Т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Администрация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Яблоки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Основной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2800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89048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01.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11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.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3999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41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.1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 (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Т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Администрация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Яблоки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Холодильник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2200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9004099"/>
                  </a:ext>
                </a:extLst>
              </a:tr>
            </a:tbl>
          </a:graphicData>
        </a:graphic>
      </p:graphicFrame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1097025"/>
          </a:xfrm>
        </p:spPr>
        <p:txBody>
          <a:bodyPr/>
          <a:lstStyle/>
          <a:p>
            <a:r>
              <a:rPr lang="ru-RU" dirty="0"/>
              <a:t>Таблицы остатков. У счёта 41.1 товары опт два субконто</a:t>
            </a:r>
          </a:p>
        </p:txBody>
      </p:sp>
    </p:spTree>
    <p:extLst>
      <p:ext uri="{BB962C8B-B14F-4D97-AF65-F5344CB8AC3E}">
        <p14:creationId xmlns:p14="http://schemas.microsoft.com/office/powerpoint/2010/main" val="25354070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 tmFilter="0, 0; .2, .5; .8, .5; 1, 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" dur="250" autoRev="1" fill="hold"/>
                                        <p:tgtEl>
                                          <p:spTgt spid="3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5" name="Таблица 34"/>
          <p:cNvGraphicFramePr>
            <a:graphicFrameLocks noGrp="1"/>
          </p:cNvGraphicFramePr>
          <p:nvPr>
            <p:extLst/>
          </p:nvPr>
        </p:nvGraphicFramePr>
        <p:xfrm>
          <a:off x="188117" y="2053779"/>
          <a:ext cx="8784001" cy="1320800"/>
        </p:xfrm>
        <a:graphic>
          <a:graphicData uri="http://schemas.openxmlformats.org/drawingml/2006/table">
            <a:tbl>
              <a:tblPr/>
              <a:tblGrid>
                <a:gridCol w="817722">
                  <a:extLst>
                    <a:ext uri="{9D8B030D-6E8A-4147-A177-3AD203B41FA5}">
                      <a16:colId xmlns:a16="http://schemas.microsoft.com/office/drawing/2014/main" val="215911166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3627805699"/>
                    </a:ext>
                  </a:extLst>
                </a:gridCol>
                <a:gridCol w="1039091">
                  <a:extLst>
                    <a:ext uri="{9D8B030D-6E8A-4147-A177-3AD203B41FA5}">
                      <a16:colId xmlns:a16="http://schemas.microsoft.com/office/drawing/2014/main" val="1921632639"/>
                    </a:ext>
                  </a:extLst>
                </a:gridCol>
                <a:gridCol w="1172094">
                  <a:extLst>
                    <a:ext uri="{9D8B030D-6E8A-4147-A177-3AD203B41FA5}">
                      <a16:colId xmlns:a16="http://schemas.microsoft.com/office/drawing/2014/main" val="2812497627"/>
                    </a:ext>
                  </a:extLst>
                </a:gridCol>
                <a:gridCol w="1679172">
                  <a:extLst>
                    <a:ext uri="{9D8B030D-6E8A-4147-A177-3AD203B41FA5}">
                      <a16:colId xmlns:a16="http://schemas.microsoft.com/office/drawing/2014/main" val="4022660776"/>
                    </a:ext>
                  </a:extLst>
                </a:gridCol>
                <a:gridCol w="706582">
                  <a:extLst>
                    <a:ext uri="{9D8B030D-6E8A-4147-A177-3AD203B41FA5}">
                      <a16:colId xmlns:a16="http://schemas.microsoft.com/office/drawing/2014/main" val="368142078"/>
                    </a:ext>
                  </a:extLst>
                </a:gridCol>
                <a:gridCol w="745644">
                  <a:extLst>
                    <a:ext uri="{9D8B030D-6E8A-4147-A177-3AD203B41FA5}">
                      <a16:colId xmlns:a16="http://schemas.microsoft.com/office/drawing/2014/main" val="3962531684"/>
                    </a:ext>
                  </a:extLst>
                </a:gridCol>
                <a:gridCol w="792211">
                  <a:extLst>
                    <a:ext uri="{9D8B030D-6E8A-4147-A177-3AD203B41FA5}">
                      <a16:colId xmlns:a16="http://schemas.microsoft.com/office/drawing/2014/main" val="880598561"/>
                    </a:ext>
                  </a:extLst>
                </a:gridCol>
                <a:gridCol w="642765">
                  <a:extLst>
                    <a:ext uri="{9D8B030D-6E8A-4147-A177-3AD203B41FA5}">
                      <a16:colId xmlns:a16="http://schemas.microsoft.com/office/drawing/2014/main" val="2152956738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Период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Счет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Организация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Подразделение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Субконто 1</a:t>
                      </a: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Сумма </a:t>
                      </a: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219343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Остаток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Оборот Дт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Оборот Кт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Оборот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19526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kern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kern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167145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kern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kern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39766893"/>
                  </a:ext>
                </a:extLst>
              </a:tr>
            </a:tbl>
          </a:graphicData>
        </a:graphic>
      </p:graphicFrame>
      <p:graphicFrame>
        <p:nvGraphicFramePr>
          <p:cNvPr id="36" name="Таблица 3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2245137"/>
              </p:ext>
            </p:extLst>
          </p:nvPr>
        </p:nvGraphicFramePr>
        <p:xfrm>
          <a:off x="188117" y="3613256"/>
          <a:ext cx="8784001" cy="2255520"/>
        </p:xfrm>
        <a:graphic>
          <a:graphicData uri="http://schemas.openxmlformats.org/drawingml/2006/table">
            <a:tbl>
              <a:tblPr/>
              <a:tblGrid>
                <a:gridCol w="817723">
                  <a:extLst>
                    <a:ext uri="{9D8B030D-6E8A-4147-A177-3AD203B41FA5}">
                      <a16:colId xmlns:a16="http://schemas.microsoft.com/office/drawing/2014/main" val="215911166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3627805699"/>
                    </a:ext>
                  </a:extLst>
                </a:gridCol>
                <a:gridCol w="1039091">
                  <a:extLst>
                    <a:ext uri="{9D8B030D-6E8A-4147-A177-3AD203B41FA5}">
                      <a16:colId xmlns:a16="http://schemas.microsoft.com/office/drawing/2014/main" val="1921632639"/>
                    </a:ext>
                  </a:extLst>
                </a:gridCol>
                <a:gridCol w="1163782">
                  <a:extLst>
                    <a:ext uri="{9D8B030D-6E8A-4147-A177-3AD203B41FA5}">
                      <a16:colId xmlns:a16="http://schemas.microsoft.com/office/drawing/2014/main" val="2812497627"/>
                    </a:ext>
                  </a:extLst>
                </a:gridCol>
                <a:gridCol w="831272">
                  <a:extLst>
                    <a:ext uri="{9D8B030D-6E8A-4147-A177-3AD203B41FA5}">
                      <a16:colId xmlns:a16="http://schemas.microsoft.com/office/drawing/2014/main" val="4022660776"/>
                    </a:ext>
                  </a:extLst>
                </a:gridCol>
                <a:gridCol w="839586">
                  <a:extLst>
                    <a:ext uri="{9D8B030D-6E8A-4147-A177-3AD203B41FA5}">
                      <a16:colId xmlns:a16="http://schemas.microsoft.com/office/drawing/2014/main" val="4250260318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68142078"/>
                    </a:ext>
                  </a:extLst>
                </a:gridCol>
                <a:gridCol w="764771">
                  <a:extLst>
                    <a:ext uri="{9D8B030D-6E8A-4147-A177-3AD203B41FA5}">
                      <a16:colId xmlns:a16="http://schemas.microsoft.com/office/drawing/2014/main" val="3962531684"/>
                    </a:ext>
                  </a:extLst>
                </a:gridCol>
                <a:gridCol w="764771">
                  <a:extLst>
                    <a:ext uri="{9D8B030D-6E8A-4147-A177-3AD203B41FA5}">
                      <a16:colId xmlns:a16="http://schemas.microsoft.com/office/drawing/2014/main" val="880598561"/>
                    </a:ext>
                  </a:extLst>
                </a:gridCol>
                <a:gridCol w="642765">
                  <a:extLst>
                    <a:ext uri="{9D8B030D-6E8A-4147-A177-3AD203B41FA5}">
                      <a16:colId xmlns:a16="http://schemas.microsoft.com/office/drawing/2014/main" val="2152956738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Период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Счет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Организация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Подразделение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Субконто 1</a:t>
                      </a: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1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Субконто 2</a:t>
                      </a: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Сумма </a:t>
                      </a: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219343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Остаток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Оборот Дт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Оборот Кт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Оборот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19526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01.03.201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9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41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.1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 (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Т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Администрация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Яблоки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strike="sngStrike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Основной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2800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2800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167145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01.03.201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9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41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.1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 (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Т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Администрация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Яблоки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strike="sngStrike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Холодильник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2200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2200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48225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01.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11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.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3999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41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.1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 (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Т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Администрация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Яблоки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strike="sngStrike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Основной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2800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89048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01.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11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.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3999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41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.1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 (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Т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Администрация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Яблоки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strike="sngStrike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Холодильник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2200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9004099"/>
                  </a:ext>
                </a:extLst>
              </a:tr>
            </a:tbl>
          </a:graphicData>
        </a:graphic>
      </p:graphicFrame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1097025"/>
          </a:xfrm>
        </p:spPr>
        <p:txBody>
          <a:bodyPr/>
          <a:lstStyle/>
          <a:p>
            <a:r>
              <a:rPr lang="ru-RU" dirty="0"/>
              <a:t>Таблицы остатков. У счёта 41.1 товары опт два субконто</a:t>
            </a:r>
          </a:p>
        </p:txBody>
      </p:sp>
      <p:sp>
        <p:nvSpPr>
          <p:cNvPr id="5" name="Стрелка вниз 4"/>
          <p:cNvSpPr/>
          <p:nvPr/>
        </p:nvSpPr>
        <p:spPr>
          <a:xfrm rot="10800000">
            <a:off x="2523744" y="3210920"/>
            <a:ext cx="868680" cy="804672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961202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 tmFilter="0, 0; .2, .5; .8, .5; 1, 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" dur="250" autoRev="1" fill="hold"/>
                                        <p:tgtEl>
                                          <p:spTgt spid="3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750"/>
                            </p:stCondLst>
                            <p:childTnLst>
                              <p:par>
                                <p:cTn id="18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750" tmFilter="0, 0; .2, .5; .8, .5; 1, 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0" dur="375" autoRev="1" fill="hold"/>
                                        <p:tgtEl>
                                          <p:spTgt spid="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5" grpId="1" animBg="1"/>
      <p:bldP spid="5" grpId="2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5" name="Таблица 34"/>
          <p:cNvGraphicFramePr>
            <a:graphicFrameLocks noGrp="1"/>
          </p:cNvGraphicFramePr>
          <p:nvPr>
            <p:extLst/>
          </p:nvPr>
        </p:nvGraphicFramePr>
        <p:xfrm>
          <a:off x="188117" y="2053779"/>
          <a:ext cx="8784001" cy="1320800"/>
        </p:xfrm>
        <a:graphic>
          <a:graphicData uri="http://schemas.openxmlformats.org/drawingml/2006/table">
            <a:tbl>
              <a:tblPr/>
              <a:tblGrid>
                <a:gridCol w="817722">
                  <a:extLst>
                    <a:ext uri="{9D8B030D-6E8A-4147-A177-3AD203B41FA5}">
                      <a16:colId xmlns:a16="http://schemas.microsoft.com/office/drawing/2014/main" val="215911166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3627805699"/>
                    </a:ext>
                  </a:extLst>
                </a:gridCol>
                <a:gridCol w="1039091">
                  <a:extLst>
                    <a:ext uri="{9D8B030D-6E8A-4147-A177-3AD203B41FA5}">
                      <a16:colId xmlns:a16="http://schemas.microsoft.com/office/drawing/2014/main" val="1921632639"/>
                    </a:ext>
                  </a:extLst>
                </a:gridCol>
                <a:gridCol w="1172094">
                  <a:extLst>
                    <a:ext uri="{9D8B030D-6E8A-4147-A177-3AD203B41FA5}">
                      <a16:colId xmlns:a16="http://schemas.microsoft.com/office/drawing/2014/main" val="2812497627"/>
                    </a:ext>
                  </a:extLst>
                </a:gridCol>
                <a:gridCol w="1679172">
                  <a:extLst>
                    <a:ext uri="{9D8B030D-6E8A-4147-A177-3AD203B41FA5}">
                      <a16:colId xmlns:a16="http://schemas.microsoft.com/office/drawing/2014/main" val="4022660776"/>
                    </a:ext>
                  </a:extLst>
                </a:gridCol>
                <a:gridCol w="706582">
                  <a:extLst>
                    <a:ext uri="{9D8B030D-6E8A-4147-A177-3AD203B41FA5}">
                      <a16:colId xmlns:a16="http://schemas.microsoft.com/office/drawing/2014/main" val="368142078"/>
                    </a:ext>
                  </a:extLst>
                </a:gridCol>
                <a:gridCol w="745644">
                  <a:extLst>
                    <a:ext uri="{9D8B030D-6E8A-4147-A177-3AD203B41FA5}">
                      <a16:colId xmlns:a16="http://schemas.microsoft.com/office/drawing/2014/main" val="3962531684"/>
                    </a:ext>
                  </a:extLst>
                </a:gridCol>
                <a:gridCol w="792211">
                  <a:extLst>
                    <a:ext uri="{9D8B030D-6E8A-4147-A177-3AD203B41FA5}">
                      <a16:colId xmlns:a16="http://schemas.microsoft.com/office/drawing/2014/main" val="880598561"/>
                    </a:ext>
                  </a:extLst>
                </a:gridCol>
                <a:gridCol w="642765">
                  <a:extLst>
                    <a:ext uri="{9D8B030D-6E8A-4147-A177-3AD203B41FA5}">
                      <a16:colId xmlns:a16="http://schemas.microsoft.com/office/drawing/2014/main" val="2152956738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Период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Счет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Организация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Подразделение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Субконто 1</a:t>
                      </a: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Сумма </a:t>
                      </a: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219343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Остаток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Оборот Дт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Оборот Кт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Оборот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19526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kern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01.03.201</a:t>
                      </a:r>
                      <a:r>
                        <a:rPr lang="ru-RU" sz="1200" kern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9</a:t>
                      </a:r>
                      <a:endParaRPr lang="x-none" sz="1200" kern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kern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41</a:t>
                      </a:r>
                      <a:r>
                        <a:rPr lang="ru-RU" sz="1200" kern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.1</a:t>
                      </a:r>
                      <a:r>
                        <a:rPr lang="x-none" sz="1200" kern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(</a:t>
                      </a:r>
                      <a:r>
                        <a:rPr lang="ru-RU" sz="1200" kern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Т</a:t>
                      </a:r>
                      <a:r>
                        <a:rPr lang="x-none" sz="1200" kern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Администрация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Яблоки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5000</a:t>
                      </a: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50</a:t>
                      </a:r>
                      <a:r>
                        <a:rPr lang="x-none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167145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kern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01.11.3999</a:t>
                      </a:r>
                      <a:endParaRPr lang="x-none" sz="1200" kern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kern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41</a:t>
                      </a:r>
                      <a:r>
                        <a:rPr lang="ru-RU" sz="1200" kern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.1</a:t>
                      </a:r>
                      <a:r>
                        <a:rPr lang="x-none" sz="1200" kern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(</a:t>
                      </a:r>
                      <a:r>
                        <a:rPr lang="ru-RU" sz="1200" kern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Т</a:t>
                      </a:r>
                      <a:r>
                        <a:rPr lang="x-none" sz="1200" kern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Администрация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Яблоки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5000</a:t>
                      </a: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39766893"/>
                  </a:ext>
                </a:extLst>
              </a:tr>
            </a:tbl>
          </a:graphicData>
        </a:graphic>
      </p:graphicFrame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1097025"/>
          </a:xfrm>
        </p:spPr>
        <p:txBody>
          <a:bodyPr/>
          <a:lstStyle/>
          <a:p>
            <a:r>
              <a:rPr lang="ru-RU" dirty="0"/>
              <a:t>Таблицы остатков. У счёта 41.1 товары опт одно субконто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>
            <p:extLst/>
          </p:nvPr>
        </p:nvGraphicFramePr>
        <p:xfrm>
          <a:off x="188116" y="3639672"/>
          <a:ext cx="8784001" cy="751840"/>
        </p:xfrm>
        <a:graphic>
          <a:graphicData uri="http://schemas.openxmlformats.org/drawingml/2006/table">
            <a:tbl>
              <a:tblPr/>
              <a:tblGrid>
                <a:gridCol w="817723">
                  <a:extLst>
                    <a:ext uri="{9D8B030D-6E8A-4147-A177-3AD203B41FA5}">
                      <a16:colId xmlns:a16="http://schemas.microsoft.com/office/drawing/2014/main" val="14891986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679151112"/>
                    </a:ext>
                  </a:extLst>
                </a:gridCol>
                <a:gridCol w="1039091">
                  <a:extLst>
                    <a:ext uri="{9D8B030D-6E8A-4147-A177-3AD203B41FA5}">
                      <a16:colId xmlns:a16="http://schemas.microsoft.com/office/drawing/2014/main" val="3421561292"/>
                    </a:ext>
                  </a:extLst>
                </a:gridCol>
                <a:gridCol w="1163782">
                  <a:extLst>
                    <a:ext uri="{9D8B030D-6E8A-4147-A177-3AD203B41FA5}">
                      <a16:colId xmlns:a16="http://schemas.microsoft.com/office/drawing/2014/main" val="4256308087"/>
                    </a:ext>
                  </a:extLst>
                </a:gridCol>
                <a:gridCol w="831272">
                  <a:extLst>
                    <a:ext uri="{9D8B030D-6E8A-4147-A177-3AD203B41FA5}">
                      <a16:colId xmlns:a16="http://schemas.microsoft.com/office/drawing/2014/main" val="222144808"/>
                    </a:ext>
                  </a:extLst>
                </a:gridCol>
                <a:gridCol w="839586">
                  <a:extLst>
                    <a:ext uri="{9D8B030D-6E8A-4147-A177-3AD203B41FA5}">
                      <a16:colId xmlns:a16="http://schemas.microsoft.com/office/drawing/2014/main" val="398740633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1513212370"/>
                    </a:ext>
                  </a:extLst>
                </a:gridCol>
                <a:gridCol w="764771">
                  <a:extLst>
                    <a:ext uri="{9D8B030D-6E8A-4147-A177-3AD203B41FA5}">
                      <a16:colId xmlns:a16="http://schemas.microsoft.com/office/drawing/2014/main" val="3807624008"/>
                    </a:ext>
                  </a:extLst>
                </a:gridCol>
                <a:gridCol w="764771">
                  <a:extLst>
                    <a:ext uri="{9D8B030D-6E8A-4147-A177-3AD203B41FA5}">
                      <a16:colId xmlns:a16="http://schemas.microsoft.com/office/drawing/2014/main" val="1744979145"/>
                    </a:ext>
                  </a:extLst>
                </a:gridCol>
                <a:gridCol w="642765">
                  <a:extLst>
                    <a:ext uri="{9D8B030D-6E8A-4147-A177-3AD203B41FA5}">
                      <a16:colId xmlns:a16="http://schemas.microsoft.com/office/drawing/2014/main" val="3925993093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Период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Счет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Организация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Подразделение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Субконто 1</a:t>
                      </a: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1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Субконто 2</a:t>
                      </a: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Сумма </a:t>
                      </a: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62850735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Остаток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Оборот Дт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Оборот Кт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Оборот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965271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85919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Традиционная технология  проведения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Проведение состоится при выполнении определенных условий</a:t>
            </a:r>
          </a:p>
        </p:txBody>
      </p:sp>
    </p:spTree>
    <p:extLst>
      <p:ext uri="{BB962C8B-B14F-4D97-AF65-F5344CB8AC3E}">
        <p14:creationId xmlns:p14="http://schemas.microsoft.com/office/powerpoint/2010/main" val="22794123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Скругленный прямоугольник 12"/>
          <p:cNvSpPr/>
          <p:nvPr/>
        </p:nvSpPr>
        <p:spPr>
          <a:xfrm>
            <a:off x="500034" y="1124744"/>
            <a:ext cx="8143932" cy="2500330"/>
          </a:xfrm>
          <a:prstGeom prst="roundRect">
            <a:avLst/>
          </a:prstGeom>
          <a:gradFill>
            <a:gsLst>
              <a:gs pos="0">
                <a:srgbClr val="5E9EFF"/>
              </a:gs>
              <a:gs pos="39999">
                <a:srgbClr val="85C2FF"/>
              </a:gs>
              <a:gs pos="70000">
                <a:srgbClr val="C4D6EB"/>
              </a:gs>
              <a:gs pos="100000">
                <a:srgbClr val="FFEBFA"/>
              </a:gs>
            </a:gsLst>
            <a:lin ang="16200000" scaled="0"/>
          </a:gradFill>
          <a:ln>
            <a:solidFill>
              <a:schemeClr val="tx2"/>
            </a:solidFill>
            <a:prstDash val="dash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ru-RU" dirty="0"/>
              <a:t>Оперативная память</a:t>
            </a:r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500034" y="3767950"/>
            <a:ext cx="8143932" cy="2500330"/>
          </a:xfrm>
          <a:prstGeom prst="roundRect">
            <a:avLst/>
          </a:prstGeom>
          <a:gradFill>
            <a:gsLst>
              <a:gs pos="0">
                <a:schemeClr val="dk1">
                  <a:tint val="50000"/>
                  <a:satMod val="300000"/>
                </a:schemeClr>
              </a:gs>
              <a:gs pos="35000">
                <a:schemeClr val="dk1">
                  <a:tint val="37000"/>
                  <a:satMod val="300000"/>
                </a:schemeClr>
              </a:gs>
              <a:gs pos="100000">
                <a:schemeClr val="dk1">
                  <a:tint val="15000"/>
                  <a:satMod val="350000"/>
                </a:schemeClr>
              </a:gs>
            </a:gsLst>
            <a:lin ang="16200000" scaled="1"/>
          </a:gradFill>
          <a:ln>
            <a:prstDash val="dash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ru-RU" dirty="0"/>
              <a:t>База данных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2800" dirty="0"/>
              <a:t>Традиционная технология проведения</a:t>
            </a:r>
          </a:p>
        </p:txBody>
      </p:sp>
      <p:sp>
        <p:nvSpPr>
          <p:cNvPr id="3" name="Скругленный прямоугольник 2"/>
          <p:cNvSpPr/>
          <p:nvPr/>
        </p:nvSpPr>
        <p:spPr>
          <a:xfrm>
            <a:off x="928662" y="2339190"/>
            <a:ext cx="2232000" cy="720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Документ объект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5715008" y="4268016"/>
            <a:ext cx="2232000" cy="651854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Таблица движения регистра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928662" y="4268016"/>
            <a:ext cx="2232000" cy="72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Таблица документа</a:t>
            </a: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5715008" y="2267752"/>
            <a:ext cx="2232000" cy="360000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Набор записей</a:t>
            </a:r>
          </a:p>
        </p:txBody>
      </p:sp>
      <p:sp>
        <p:nvSpPr>
          <p:cNvPr id="19" name="Прямоугольник 18"/>
          <p:cNvSpPr/>
          <p:nvPr/>
        </p:nvSpPr>
        <p:spPr>
          <a:xfrm>
            <a:off x="5715008" y="5268148"/>
            <a:ext cx="2232000" cy="651854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Таблица итогов регистра</a:t>
            </a:r>
          </a:p>
        </p:txBody>
      </p:sp>
    </p:spTree>
    <p:extLst>
      <p:ext uri="{BB962C8B-B14F-4D97-AF65-F5344CB8AC3E}">
        <p14:creationId xmlns:p14="http://schemas.microsoft.com/office/powerpoint/2010/main" val="33999267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Скругленный прямоугольник 12"/>
          <p:cNvSpPr/>
          <p:nvPr/>
        </p:nvSpPr>
        <p:spPr>
          <a:xfrm>
            <a:off x="500034" y="1124744"/>
            <a:ext cx="8143932" cy="2500330"/>
          </a:xfrm>
          <a:prstGeom prst="roundRect">
            <a:avLst/>
          </a:prstGeom>
          <a:gradFill>
            <a:gsLst>
              <a:gs pos="0">
                <a:srgbClr val="5E9EFF"/>
              </a:gs>
              <a:gs pos="39999">
                <a:srgbClr val="85C2FF"/>
              </a:gs>
              <a:gs pos="70000">
                <a:srgbClr val="C4D6EB"/>
              </a:gs>
              <a:gs pos="100000">
                <a:srgbClr val="FFEBFA"/>
              </a:gs>
            </a:gsLst>
            <a:lin ang="16200000" scaled="0"/>
          </a:gradFill>
          <a:ln>
            <a:solidFill>
              <a:schemeClr val="tx2"/>
            </a:solidFill>
            <a:prstDash val="dash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ru-RU" dirty="0"/>
              <a:t>Оперативная память</a:t>
            </a:r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500034" y="3767950"/>
            <a:ext cx="8143932" cy="2500330"/>
          </a:xfrm>
          <a:prstGeom prst="roundRect">
            <a:avLst/>
          </a:prstGeom>
          <a:gradFill>
            <a:gsLst>
              <a:gs pos="0">
                <a:schemeClr val="dk1">
                  <a:tint val="50000"/>
                  <a:satMod val="300000"/>
                </a:schemeClr>
              </a:gs>
              <a:gs pos="35000">
                <a:schemeClr val="dk1">
                  <a:tint val="37000"/>
                  <a:satMod val="300000"/>
                </a:schemeClr>
              </a:gs>
              <a:gs pos="100000">
                <a:schemeClr val="dk1">
                  <a:tint val="15000"/>
                  <a:satMod val="350000"/>
                </a:schemeClr>
              </a:gs>
            </a:gsLst>
            <a:lin ang="16200000" scaled="1"/>
          </a:gradFill>
          <a:ln>
            <a:prstDash val="dash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ru-RU" dirty="0"/>
              <a:t>База данных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2800" dirty="0"/>
              <a:t>Традиционная технология проведения</a:t>
            </a:r>
          </a:p>
        </p:txBody>
      </p:sp>
      <p:sp>
        <p:nvSpPr>
          <p:cNvPr id="3" name="Скругленный прямоугольник 2"/>
          <p:cNvSpPr/>
          <p:nvPr/>
        </p:nvSpPr>
        <p:spPr>
          <a:xfrm>
            <a:off x="928662" y="2339190"/>
            <a:ext cx="2232000" cy="720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Документ объект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5715008" y="4268016"/>
            <a:ext cx="2232000" cy="651854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Таблица движения регистра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928662" y="4268016"/>
            <a:ext cx="2232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Таблица документа</a:t>
            </a: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5715008" y="2267752"/>
            <a:ext cx="2232000" cy="360000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Набор записей</a:t>
            </a:r>
          </a:p>
        </p:txBody>
      </p:sp>
      <p:sp>
        <p:nvSpPr>
          <p:cNvPr id="14" name="Стрелка вниз 13"/>
          <p:cNvSpPr/>
          <p:nvPr/>
        </p:nvSpPr>
        <p:spPr>
          <a:xfrm>
            <a:off x="2000232" y="3339322"/>
            <a:ext cx="428628" cy="85725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рямоугольник 18"/>
          <p:cNvSpPr/>
          <p:nvPr/>
        </p:nvSpPr>
        <p:spPr>
          <a:xfrm>
            <a:off x="5715008" y="5268148"/>
            <a:ext cx="2232000" cy="651854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Таблица итогов регистра</a:t>
            </a:r>
          </a:p>
        </p:txBody>
      </p:sp>
    </p:spTree>
    <p:extLst>
      <p:ext uri="{BB962C8B-B14F-4D97-AF65-F5344CB8AC3E}">
        <p14:creationId xmlns:p14="http://schemas.microsoft.com/office/powerpoint/2010/main" val="22624293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Скругленный прямоугольник 12"/>
          <p:cNvSpPr/>
          <p:nvPr/>
        </p:nvSpPr>
        <p:spPr>
          <a:xfrm>
            <a:off x="500034" y="1124744"/>
            <a:ext cx="8143932" cy="2500330"/>
          </a:xfrm>
          <a:prstGeom prst="roundRect">
            <a:avLst/>
          </a:prstGeom>
          <a:gradFill>
            <a:gsLst>
              <a:gs pos="0">
                <a:srgbClr val="5E9EFF"/>
              </a:gs>
              <a:gs pos="39999">
                <a:srgbClr val="85C2FF"/>
              </a:gs>
              <a:gs pos="70000">
                <a:srgbClr val="C4D6EB"/>
              </a:gs>
              <a:gs pos="100000">
                <a:srgbClr val="FFEBFA"/>
              </a:gs>
            </a:gsLst>
            <a:lin ang="16200000" scaled="0"/>
          </a:gradFill>
          <a:ln>
            <a:solidFill>
              <a:schemeClr val="tx2"/>
            </a:solidFill>
            <a:prstDash val="dash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ru-RU" dirty="0"/>
              <a:t>Оперативная память</a:t>
            </a:r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500034" y="3767950"/>
            <a:ext cx="8143932" cy="2500330"/>
          </a:xfrm>
          <a:prstGeom prst="roundRect">
            <a:avLst/>
          </a:prstGeom>
          <a:gradFill>
            <a:gsLst>
              <a:gs pos="0">
                <a:schemeClr val="dk1">
                  <a:tint val="50000"/>
                  <a:satMod val="300000"/>
                </a:schemeClr>
              </a:gs>
              <a:gs pos="35000">
                <a:schemeClr val="dk1">
                  <a:tint val="37000"/>
                  <a:satMod val="300000"/>
                </a:schemeClr>
              </a:gs>
              <a:gs pos="100000">
                <a:schemeClr val="dk1">
                  <a:tint val="15000"/>
                  <a:satMod val="350000"/>
                </a:schemeClr>
              </a:gs>
            </a:gsLst>
            <a:lin ang="16200000" scaled="1"/>
          </a:gradFill>
          <a:ln>
            <a:prstDash val="dash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ru-RU" dirty="0"/>
              <a:t>База данных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2800" dirty="0"/>
              <a:t>Традиционная технология проведения</a:t>
            </a:r>
          </a:p>
        </p:txBody>
      </p:sp>
      <p:sp>
        <p:nvSpPr>
          <p:cNvPr id="3" name="Скругленный прямоугольник 2"/>
          <p:cNvSpPr/>
          <p:nvPr/>
        </p:nvSpPr>
        <p:spPr>
          <a:xfrm>
            <a:off x="928662" y="2339190"/>
            <a:ext cx="2232000" cy="720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Документ объект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928662" y="4268016"/>
            <a:ext cx="2232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Таблица документа</a:t>
            </a:r>
          </a:p>
        </p:txBody>
      </p:sp>
      <p:sp>
        <p:nvSpPr>
          <p:cNvPr id="10" name="Скругленный прямоугольник 9"/>
          <p:cNvSpPr/>
          <p:nvPr/>
        </p:nvSpPr>
        <p:spPr>
          <a:xfrm>
            <a:off x="3428992" y="1267620"/>
            <a:ext cx="2232000" cy="928694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Результат запроса</a:t>
            </a:r>
          </a:p>
        </p:txBody>
      </p:sp>
      <p:sp>
        <p:nvSpPr>
          <p:cNvPr id="16" name="Стрелка вправо 15"/>
          <p:cNvSpPr/>
          <p:nvPr/>
        </p:nvSpPr>
        <p:spPr>
          <a:xfrm>
            <a:off x="3214678" y="5328401"/>
            <a:ext cx="1000132" cy="428628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Стрелка влево 16"/>
          <p:cNvSpPr/>
          <p:nvPr/>
        </p:nvSpPr>
        <p:spPr>
          <a:xfrm>
            <a:off x="4572000" y="5328401"/>
            <a:ext cx="1071570" cy="428628"/>
          </a:xfrm>
          <a:prstGeom prst="lef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Стрелка вверх 17"/>
          <p:cNvSpPr/>
          <p:nvPr/>
        </p:nvSpPr>
        <p:spPr>
          <a:xfrm>
            <a:off x="4143372" y="2339190"/>
            <a:ext cx="500066" cy="3077636"/>
          </a:xfrm>
          <a:prstGeom prst="up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рямоугольник 18"/>
          <p:cNvSpPr/>
          <p:nvPr/>
        </p:nvSpPr>
        <p:spPr>
          <a:xfrm>
            <a:off x="5715008" y="4268016"/>
            <a:ext cx="2232000" cy="651854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Таблица движения регистра</a:t>
            </a:r>
          </a:p>
        </p:txBody>
      </p:sp>
      <p:sp>
        <p:nvSpPr>
          <p:cNvPr id="20" name="Скругленный прямоугольник 19"/>
          <p:cNvSpPr/>
          <p:nvPr/>
        </p:nvSpPr>
        <p:spPr>
          <a:xfrm>
            <a:off x="5715008" y="2267752"/>
            <a:ext cx="2232000" cy="360000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Набор записей</a:t>
            </a:r>
          </a:p>
        </p:txBody>
      </p:sp>
      <p:sp>
        <p:nvSpPr>
          <p:cNvPr id="21" name="Прямоугольник 20"/>
          <p:cNvSpPr/>
          <p:nvPr/>
        </p:nvSpPr>
        <p:spPr>
          <a:xfrm>
            <a:off x="5715008" y="5268148"/>
            <a:ext cx="2232000" cy="651854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Таблица итогов регистра</a:t>
            </a:r>
          </a:p>
        </p:txBody>
      </p:sp>
    </p:spTree>
    <p:extLst>
      <p:ext uri="{BB962C8B-B14F-4D97-AF65-F5344CB8AC3E}">
        <p14:creationId xmlns:p14="http://schemas.microsoft.com/office/powerpoint/2010/main" val="9201555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Скругленный прямоугольник 12"/>
          <p:cNvSpPr/>
          <p:nvPr/>
        </p:nvSpPr>
        <p:spPr>
          <a:xfrm>
            <a:off x="500034" y="1124744"/>
            <a:ext cx="8143932" cy="2500330"/>
          </a:xfrm>
          <a:prstGeom prst="roundRect">
            <a:avLst/>
          </a:prstGeom>
          <a:gradFill>
            <a:gsLst>
              <a:gs pos="0">
                <a:srgbClr val="5E9EFF"/>
              </a:gs>
              <a:gs pos="39999">
                <a:srgbClr val="85C2FF"/>
              </a:gs>
              <a:gs pos="70000">
                <a:srgbClr val="C4D6EB"/>
              </a:gs>
              <a:gs pos="100000">
                <a:srgbClr val="FFEBFA"/>
              </a:gs>
            </a:gsLst>
            <a:lin ang="16200000" scaled="0"/>
          </a:gradFill>
          <a:ln>
            <a:solidFill>
              <a:schemeClr val="tx2"/>
            </a:solidFill>
            <a:prstDash val="dash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ru-RU" dirty="0"/>
              <a:t>Оперативная память</a:t>
            </a:r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500034" y="3767950"/>
            <a:ext cx="8143932" cy="2500330"/>
          </a:xfrm>
          <a:prstGeom prst="roundRect">
            <a:avLst/>
          </a:prstGeom>
          <a:gradFill>
            <a:gsLst>
              <a:gs pos="0">
                <a:schemeClr val="dk1">
                  <a:tint val="50000"/>
                  <a:satMod val="300000"/>
                </a:schemeClr>
              </a:gs>
              <a:gs pos="35000">
                <a:schemeClr val="dk1">
                  <a:tint val="37000"/>
                  <a:satMod val="300000"/>
                </a:schemeClr>
              </a:gs>
              <a:gs pos="100000">
                <a:schemeClr val="dk1">
                  <a:tint val="15000"/>
                  <a:satMod val="350000"/>
                </a:schemeClr>
              </a:gs>
            </a:gsLst>
            <a:lin ang="16200000" scaled="1"/>
          </a:gradFill>
          <a:ln>
            <a:prstDash val="dash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ru-RU" dirty="0"/>
              <a:t>База данных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2800" dirty="0"/>
              <a:t>Традиционная технология проведения</a:t>
            </a:r>
          </a:p>
        </p:txBody>
      </p:sp>
      <p:sp>
        <p:nvSpPr>
          <p:cNvPr id="3" name="Скругленный прямоугольник 2"/>
          <p:cNvSpPr/>
          <p:nvPr/>
        </p:nvSpPr>
        <p:spPr>
          <a:xfrm>
            <a:off x="928662" y="2339190"/>
            <a:ext cx="2232000" cy="720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Документ объект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928662" y="4268016"/>
            <a:ext cx="2232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Таблица документа</a:t>
            </a:r>
          </a:p>
        </p:txBody>
      </p:sp>
      <p:sp>
        <p:nvSpPr>
          <p:cNvPr id="10" name="Скругленный прямоугольник 9"/>
          <p:cNvSpPr/>
          <p:nvPr/>
        </p:nvSpPr>
        <p:spPr>
          <a:xfrm>
            <a:off x="3428992" y="1267620"/>
            <a:ext cx="2232000" cy="928694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Результат запроса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9388" y="1196182"/>
            <a:ext cx="1483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solidFill>
                  <a:srgbClr val="FF0000"/>
                </a:solidFill>
              </a:rPr>
              <a:t>Анализ строк</a:t>
            </a:r>
          </a:p>
        </p:txBody>
      </p:sp>
      <p:sp>
        <p:nvSpPr>
          <p:cNvPr id="15" name="Стрелка углом 14"/>
          <p:cNvSpPr/>
          <p:nvPr/>
        </p:nvSpPr>
        <p:spPr>
          <a:xfrm rot="5400000">
            <a:off x="5786446" y="1481934"/>
            <a:ext cx="785818" cy="785818"/>
          </a:xfrm>
          <a:prstGeom prst="bentArrow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9" name="Прямоугольник 18"/>
          <p:cNvSpPr/>
          <p:nvPr/>
        </p:nvSpPr>
        <p:spPr>
          <a:xfrm>
            <a:off x="5715008" y="4268016"/>
            <a:ext cx="2232000" cy="651854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Таблица движения регистра</a:t>
            </a:r>
          </a:p>
        </p:txBody>
      </p:sp>
      <p:sp>
        <p:nvSpPr>
          <p:cNvPr id="20" name="Скругленный прямоугольник 19"/>
          <p:cNvSpPr/>
          <p:nvPr/>
        </p:nvSpPr>
        <p:spPr>
          <a:xfrm>
            <a:off x="5715008" y="2267752"/>
            <a:ext cx="2232000" cy="720000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Набор записей</a:t>
            </a:r>
          </a:p>
        </p:txBody>
      </p:sp>
      <p:sp>
        <p:nvSpPr>
          <p:cNvPr id="21" name="Прямоугольник 20"/>
          <p:cNvSpPr/>
          <p:nvPr/>
        </p:nvSpPr>
        <p:spPr>
          <a:xfrm>
            <a:off x="5715008" y="5268148"/>
            <a:ext cx="2232000" cy="651854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Таблица итогов регистра</a:t>
            </a:r>
          </a:p>
        </p:txBody>
      </p:sp>
    </p:spTree>
    <p:extLst>
      <p:ext uri="{BB962C8B-B14F-4D97-AF65-F5344CB8AC3E}">
        <p14:creationId xmlns:p14="http://schemas.microsoft.com/office/powerpoint/2010/main" val="37620258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Скругленный прямоугольник 12"/>
          <p:cNvSpPr/>
          <p:nvPr/>
        </p:nvSpPr>
        <p:spPr>
          <a:xfrm>
            <a:off x="500034" y="1124744"/>
            <a:ext cx="8143932" cy="2500330"/>
          </a:xfrm>
          <a:prstGeom prst="roundRect">
            <a:avLst/>
          </a:prstGeom>
          <a:gradFill>
            <a:gsLst>
              <a:gs pos="0">
                <a:srgbClr val="5E9EFF"/>
              </a:gs>
              <a:gs pos="39999">
                <a:srgbClr val="85C2FF"/>
              </a:gs>
              <a:gs pos="70000">
                <a:srgbClr val="C4D6EB"/>
              </a:gs>
              <a:gs pos="100000">
                <a:srgbClr val="FFEBFA"/>
              </a:gs>
            </a:gsLst>
            <a:lin ang="16200000" scaled="0"/>
          </a:gradFill>
          <a:ln>
            <a:solidFill>
              <a:schemeClr val="tx2"/>
            </a:solidFill>
            <a:prstDash val="dash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ru-RU" dirty="0"/>
              <a:t>Оперативная память</a:t>
            </a:r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500034" y="3767950"/>
            <a:ext cx="8143932" cy="2500330"/>
          </a:xfrm>
          <a:prstGeom prst="roundRect">
            <a:avLst/>
          </a:prstGeom>
          <a:gradFill>
            <a:gsLst>
              <a:gs pos="0">
                <a:schemeClr val="dk1">
                  <a:tint val="50000"/>
                  <a:satMod val="300000"/>
                </a:schemeClr>
              </a:gs>
              <a:gs pos="35000">
                <a:schemeClr val="dk1">
                  <a:tint val="37000"/>
                  <a:satMod val="300000"/>
                </a:schemeClr>
              </a:gs>
              <a:gs pos="100000">
                <a:schemeClr val="dk1">
                  <a:tint val="15000"/>
                  <a:satMod val="350000"/>
                </a:schemeClr>
              </a:gs>
            </a:gsLst>
            <a:lin ang="16200000" scaled="1"/>
          </a:gradFill>
          <a:ln>
            <a:prstDash val="dash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ru-RU" dirty="0"/>
              <a:t>База данных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2800" dirty="0"/>
              <a:t>Традиционная технология проведения</a:t>
            </a:r>
          </a:p>
        </p:txBody>
      </p:sp>
      <p:sp>
        <p:nvSpPr>
          <p:cNvPr id="3" name="Скругленный прямоугольник 2"/>
          <p:cNvSpPr/>
          <p:nvPr/>
        </p:nvSpPr>
        <p:spPr>
          <a:xfrm>
            <a:off x="928662" y="2339190"/>
            <a:ext cx="2232000" cy="720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Документ объект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928662" y="4268016"/>
            <a:ext cx="2232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Таблица документа</a:t>
            </a:r>
          </a:p>
        </p:txBody>
      </p:sp>
      <p:sp>
        <p:nvSpPr>
          <p:cNvPr id="8" name="Стрелка вниз 7"/>
          <p:cNvSpPr/>
          <p:nvPr/>
        </p:nvSpPr>
        <p:spPr>
          <a:xfrm>
            <a:off x="6616694" y="3125008"/>
            <a:ext cx="428628" cy="714380"/>
          </a:xfrm>
          <a:prstGeom prst="downArrow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0" name="Скругленный прямоугольник 9"/>
          <p:cNvSpPr/>
          <p:nvPr/>
        </p:nvSpPr>
        <p:spPr>
          <a:xfrm>
            <a:off x="3428992" y="1267620"/>
            <a:ext cx="2232000" cy="928694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Результат запроса</a:t>
            </a:r>
          </a:p>
        </p:txBody>
      </p:sp>
      <p:sp>
        <p:nvSpPr>
          <p:cNvPr id="19" name="Прямоугольник 18"/>
          <p:cNvSpPr/>
          <p:nvPr/>
        </p:nvSpPr>
        <p:spPr>
          <a:xfrm>
            <a:off x="5715008" y="3862462"/>
            <a:ext cx="2232000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Таблица движения регистра</a:t>
            </a:r>
          </a:p>
        </p:txBody>
      </p:sp>
      <p:sp>
        <p:nvSpPr>
          <p:cNvPr id="20" name="Скругленный прямоугольник 19"/>
          <p:cNvSpPr/>
          <p:nvPr/>
        </p:nvSpPr>
        <p:spPr>
          <a:xfrm>
            <a:off x="5715008" y="2267752"/>
            <a:ext cx="2232000" cy="720000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Набор записей</a:t>
            </a:r>
          </a:p>
        </p:txBody>
      </p:sp>
      <p:sp>
        <p:nvSpPr>
          <p:cNvPr id="21" name="Прямоугольник 20"/>
          <p:cNvSpPr/>
          <p:nvPr/>
        </p:nvSpPr>
        <p:spPr>
          <a:xfrm>
            <a:off x="5715008" y="5268148"/>
            <a:ext cx="2232000" cy="651854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Таблица итогов регистра</a:t>
            </a:r>
          </a:p>
        </p:txBody>
      </p:sp>
    </p:spTree>
    <p:extLst>
      <p:ext uri="{BB962C8B-B14F-4D97-AF65-F5344CB8AC3E}">
        <p14:creationId xmlns:p14="http://schemas.microsoft.com/office/powerpoint/2010/main" val="19187506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Скругленный прямоугольник 12"/>
          <p:cNvSpPr/>
          <p:nvPr/>
        </p:nvSpPr>
        <p:spPr>
          <a:xfrm>
            <a:off x="500034" y="1124744"/>
            <a:ext cx="8143932" cy="2500330"/>
          </a:xfrm>
          <a:prstGeom prst="roundRect">
            <a:avLst/>
          </a:prstGeom>
          <a:gradFill>
            <a:gsLst>
              <a:gs pos="0">
                <a:srgbClr val="5E9EFF"/>
              </a:gs>
              <a:gs pos="39999">
                <a:srgbClr val="85C2FF"/>
              </a:gs>
              <a:gs pos="70000">
                <a:srgbClr val="C4D6EB"/>
              </a:gs>
              <a:gs pos="100000">
                <a:srgbClr val="FFEBFA"/>
              </a:gs>
            </a:gsLst>
            <a:lin ang="16200000" scaled="0"/>
          </a:gradFill>
          <a:ln>
            <a:solidFill>
              <a:schemeClr val="tx2"/>
            </a:solidFill>
            <a:prstDash val="dash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ru-RU" dirty="0"/>
              <a:t>Оперативная память</a:t>
            </a:r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500034" y="3767950"/>
            <a:ext cx="8143932" cy="2500330"/>
          </a:xfrm>
          <a:prstGeom prst="roundRect">
            <a:avLst/>
          </a:prstGeom>
          <a:gradFill>
            <a:gsLst>
              <a:gs pos="0">
                <a:schemeClr val="dk1">
                  <a:tint val="50000"/>
                  <a:satMod val="300000"/>
                </a:schemeClr>
              </a:gs>
              <a:gs pos="35000">
                <a:schemeClr val="dk1">
                  <a:tint val="37000"/>
                  <a:satMod val="300000"/>
                </a:schemeClr>
              </a:gs>
              <a:gs pos="100000">
                <a:schemeClr val="dk1">
                  <a:tint val="15000"/>
                  <a:satMod val="350000"/>
                </a:schemeClr>
              </a:gs>
            </a:gsLst>
            <a:lin ang="16200000" scaled="1"/>
          </a:gradFill>
          <a:ln>
            <a:prstDash val="dash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ru-RU" dirty="0"/>
              <a:t>База данных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2800" dirty="0"/>
              <a:t>Традиционная технология проведения</a:t>
            </a:r>
          </a:p>
        </p:txBody>
      </p:sp>
      <p:sp>
        <p:nvSpPr>
          <p:cNvPr id="3" name="Скругленный прямоугольник 2"/>
          <p:cNvSpPr/>
          <p:nvPr/>
        </p:nvSpPr>
        <p:spPr>
          <a:xfrm>
            <a:off x="928662" y="2339190"/>
            <a:ext cx="2232000" cy="720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Документ объект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928662" y="4268016"/>
            <a:ext cx="2232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Таблица документа</a:t>
            </a:r>
          </a:p>
        </p:txBody>
      </p:sp>
      <p:sp>
        <p:nvSpPr>
          <p:cNvPr id="10" name="Скругленный прямоугольник 9"/>
          <p:cNvSpPr/>
          <p:nvPr/>
        </p:nvSpPr>
        <p:spPr>
          <a:xfrm>
            <a:off x="3428992" y="1267620"/>
            <a:ext cx="2232000" cy="928694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Результат запроса</a:t>
            </a:r>
          </a:p>
        </p:txBody>
      </p:sp>
      <p:sp>
        <p:nvSpPr>
          <p:cNvPr id="19" name="Прямоугольник 18"/>
          <p:cNvSpPr/>
          <p:nvPr/>
        </p:nvSpPr>
        <p:spPr>
          <a:xfrm>
            <a:off x="5715008" y="3862462"/>
            <a:ext cx="2232000" cy="10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Таблица движения регистра</a:t>
            </a:r>
          </a:p>
        </p:txBody>
      </p:sp>
      <p:sp>
        <p:nvSpPr>
          <p:cNvPr id="20" name="Скругленный прямоугольник 19"/>
          <p:cNvSpPr/>
          <p:nvPr/>
        </p:nvSpPr>
        <p:spPr>
          <a:xfrm>
            <a:off x="5715008" y="2267752"/>
            <a:ext cx="2232000" cy="720000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Набор записей</a:t>
            </a:r>
          </a:p>
        </p:txBody>
      </p:sp>
      <p:sp>
        <p:nvSpPr>
          <p:cNvPr id="21" name="Прямоугольник 20"/>
          <p:cNvSpPr/>
          <p:nvPr/>
        </p:nvSpPr>
        <p:spPr>
          <a:xfrm>
            <a:off x="5715008" y="5237922"/>
            <a:ext cx="2232000" cy="90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Таблица итогов регистра</a:t>
            </a:r>
          </a:p>
        </p:txBody>
      </p:sp>
      <p:sp>
        <p:nvSpPr>
          <p:cNvPr id="4" name="Развернутая стрелка 3"/>
          <p:cNvSpPr/>
          <p:nvPr/>
        </p:nvSpPr>
        <p:spPr>
          <a:xfrm rot="5400000" flipV="1">
            <a:off x="4622532" y="4700603"/>
            <a:ext cx="1441174" cy="576000"/>
          </a:xfrm>
          <a:prstGeom prst="uturnArrow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050020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1017126"/>
          </a:xfrm>
        </p:spPr>
        <p:txBody>
          <a:bodyPr/>
          <a:lstStyle/>
          <a:p>
            <a:r>
              <a:rPr lang="ru-RU" dirty="0"/>
              <a:t>Проводки документа «Реализация товаров и услуг»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9263019"/>
              </p:ext>
            </p:extLst>
          </p:nvPr>
        </p:nvGraphicFramePr>
        <p:xfrm>
          <a:off x="296151" y="2488954"/>
          <a:ext cx="8675968" cy="2773680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1230808">
                  <a:extLst>
                    <a:ext uri="{9D8B030D-6E8A-4147-A177-3AD203B41FA5}">
                      <a16:colId xmlns:a16="http://schemas.microsoft.com/office/drawing/2014/main" val="1712032606"/>
                    </a:ext>
                  </a:extLst>
                </a:gridCol>
                <a:gridCol w="1056443">
                  <a:extLst>
                    <a:ext uri="{9D8B030D-6E8A-4147-A177-3AD203B41FA5}">
                      <a16:colId xmlns:a16="http://schemas.microsoft.com/office/drawing/2014/main" val="2831598434"/>
                    </a:ext>
                  </a:extLst>
                </a:gridCol>
                <a:gridCol w="1640630">
                  <a:extLst>
                    <a:ext uri="{9D8B030D-6E8A-4147-A177-3AD203B41FA5}">
                      <a16:colId xmlns:a16="http://schemas.microsoft.com/office/drawing/2014/main" val="2121083302"/>
                    </a:ext>
                  </a:extLst>
                </a:gridCol>
                <a:gridCol w="715139">
                  <a:extLst>
                    <a:ext uri="{9D8B030D-6E8A-4147-A177-3AD203B41FA5}">
                      <a16:colId xmlns:a16="http://schemas.microsoft.com/office/drawing/2014/main" val="4282678315"/>
                    </a:ext>
                  </a:extLst>
                </a:gridCol>
                <a:gridCol w="861482">
                  <a:extLst>
                    <a:ext uri="{9D8B030D-6E8A-4147-A177-3AD203B41FA5}">
                      <a16:colId xmlns:a16="http://schemas.microsoft.com/office/drawing/2014/main" val="757194878"/>
                    </a:ext>
                  </a:extLst>
                </a:gridCol>
                <a:gridCol w="1722434">
                  <a:extLst>
                    <a:ext uri="{9D8B030D-6E8A-4147-A177-3AD203B41FA5}">
                      <a16:colId xmlns:a16="http://schemas.microsoft.com/office/drawing/2014/main" val="1930054117"/>
                    </a:ext>
                  </a:extLst>
                </a:gridCol>
                <a:gridCol w="710847">
                  <a:extLst>
                    <a:ext uri="{9D8B030D-6E8A-4147-A177-3AD203B41FA5}">
                      <a16:colId xmlns:a16="http://schemas.microsoft.com/office/drawing/2014/main" val="3308725126"/>
                    </a:ext>
                  </a:extLst>
                </a:gridCol>
                <a:gridCol w="738185">
                  <a:extLst>
                    <a:ext uri="{9D8B030D-6E8A-4147-A177-3AD203B41FA5}">
                      <a16:colId xmlns:a16="http://schemas.microsoft.com/office/drawing/2014/main" val="2114263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Организация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Счет Дт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Субконто Дт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Кол-во</a:t>
                      </a:r>
                      <a:r>
                        <a:rPr lang="ru-RU" sz="1400" baseline="0" dirty="0"/>
                        <a:t> Дт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Счет Кт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Субконто Кт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Кол-во Кт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Сумма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75188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dirty="0"/>
                        <a:t>&lt;Осень&gt;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b="1" dirty="0"/>
                        <a:t>&lt;62.1&gt; </a:t>
                      </a:r>
                      <a:r>
                        <a:rPr lang="ru-RU" sz="1200" dirty="0"/>
                        <a:t/>
                      </a:r>
                      <a:br>
                        <a:rPr lang="ru-RU" sz="1200" dirty="0"/>
                      </a:br>
                      <a:r>
                        <a:rPr lang="ru-RU" sz="1200" dirty="0"/>
                        <a:t>Расчеты с покупателем</a:t>
                      </a:r>
                      <a:r>
                        <a:rPr lang="ru-RU" sz="1400" dirty="0"/>
                        <a:t/>
                      </a:r>
                      <a:br>
                        <a:rPr lang="ru-RU" sz="1400" dirty="0"/>
                      </a:br>
                      <a:r>
                        <a:rPr lang="ru-RU" sz="1400" dirty="0"/>
                        <a:t/>
                      </a:r>
                      <a:br>
                        <a:rPr lang="ru-RU" sz="1400" dirty="0"/>
                      </a:b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1" dirty="0"/>
                        <a:t>&lt;90&gt;</a:t>
                      </a:r>
                      <a:br>
                        <a:rPr lang="ru-RU" sz="1200" b="1" dirty="0"/>
                      </a:br>
                      <a:r>
                        <a:rPr lang="ru-RU" sz="1200" dirty="0"/>
                        <a:t>Доходы</a:t>
                      </a:r>
                      <a:r>
                        <a:rPr lang="ru-RU" sz="1200" baseline="0" dirty="0"/>
                        <a:t> и Расходы</a:t>
                      </a:r>
                      <a:endParaRPr lang="ru-RU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2000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02512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dirty="0"/>
                        <a:t>&lt;Осень&gt;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b="1" dirty="0"/>
                        <a:t>&lt;90&gt;</a:t>
                      </a:r>
                      <a:br>
                        <a:rPr lang="ru-RU" sz="1200" b="1" dirty="0"/>
                      </a:br>
                      <a:r>
                        <a:rPr lang="ru-RU" sz="1200" dirty="0"/>
                        <a:t>Доходы</a:t>
                      </a:r>
                      <a:r>
                        <a:rPr lang="ru-RU" sz="1200" baseline="0" dirty="0"/>
                        <a:t> и Расходы</a:t>
                      </a:r>
                      <a:br>
                        <a:rPr lang="ru-RU" sz="1200" baseline="0" dirty="0"/>
                      </a:br>
                      <a:r>
                        <a:rPr lang="ru-RU" sz="1200" baseline="0" dirty="0"/>
                        <a:t/>
                      </a:r>
                      <a:br>
                        <a:rPr lang="ru-RU" sz="1200" baseline="0" dirty="0"/>
                      </a:br>
                      <a:r>
                        <a:rPr lang="ru-RU" sz="1200" baseline="0" dirty="0"/>
                        <a:t/>
                      </a:r>
                      <a:br>
                        <a:rPr lang="ru-RU" sz="1200" baseline="0" dirty="0"/>
                      </a:br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b="1" dirty="0"/>
                        <a:t>Счёт</a:t>
                      </a:r>
                      <a:r>
                        <a:rPr lang="ru-RU" sz="1200" b="1" baseline="0" dirty="0"/>
                        <a:t> учета в док-те</a:t>
                      </a:r>
                      <a:endParaRPr lang="ru-RU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1127809"/>
                  </a:ext>
                </a:extLst>
              </a:tr>
            </a:tbl>
          </a:graphicData>
        </a:graphic>
      </p:graphicFrame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3614302"/>
              </p:ext>
            </p:extLst>
          </p:nvPr>
        </p:nvGraphicFramePr>
        <p:xfrm>
          <a:off x="2592281" y="3073278"/>
          <a:ext cx="1597980" cy="91440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32154">
                  <a:extLst>
                    <a:ext uri="{9D8B030D-6E8A-4147-A177-3AD203B41FA5}">
                      <a16:colId xmlns:a16="http://schemas.microsoft.com/office/drawing/2014/main" val="462951002"/>
                    </a:ext>
                  </a:extLst>
                </a:gridCol>
                <a:gridCol w="665826">
                  <a:extLst>
                    <a:ext uri="{9D8B030D-6E8A-4147-A177-3AD203B41FA5}">
                      <a16:colId xmlns:a16="http://schemas.microsoft.com/office/drawing/2014/main" val="3540422206"/>
                    </a:ext>
                  </a:extLst>
                </a:gridCol>
              </a:tblGrid>
              <a:tr h="286922">
                <a:tc>
                  <a:txBody>
                    <a:bodyPr/>
                    <a:lstStyle/>
                    <a:p>
                      <a:r>
                        <a:rPr lang="ru-RU" sz="1200" b="0" dirty="0">
                          <a:solidFill>
                            <a:srgbClr val="7030A0"/>
                          </a:solidFill>
                        </a:rPr>
                        <a:t>&lt;Контрагенты&gt;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b="0" dirty="0"/>
                        <a:t>ООО «Юг»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8733704"/>
                  </a:ext>
                </a:extLst>
              </a:tr>
              <a:tr h="286922">
                <a:tc>
                  <a:txBody>
                    <a:bodyPr/>
                    <a:lstStyle/>
                    <a:p>
                      <a:r>
                        <a:rPr lang="ru-RU" sz="1200" dirty="0">
                          <a:solidFill>
                            <a:srgbClr val="7030A0"/>
                          </a:solidFill>
                        </a:rPr>
                        <a:t>&lt;Договоры&gt;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Дог.</a:t>
                      </a:r>
                      <a:r>
                        <a:rPr lang="ru-RU" sz="1200" baseline="0" dirty="0"/>
                        <a:t> № 123</a:t>
                      </a:r>
                      <a:endParaRPr lang="ru-RU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8013502"/>
                  </a:ext>
                </a:extLst>
              </a:tr>
            </a:tbl>
          </a:graphicData>
        </a:graphic>
      </p:graphicFrame>
      <p:graphicFrame>
        <p:nvGraphicFramePr>
          <p:cNvPr id="7" name="Таблица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8857254"/>
              </p:ext>
            </p:extLst>
          </p:nvPr>
        </p:nvGraphicFramePr>
        <p:xfrm>
          <a:off x="5841507" y="4202343"/>
          <a:ext cx="1615964" cy="881726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843378">
                  <a:extLst>
                    <a:ext uri="{9D8B030D-6E8A-4147-A177-3AD203B41FA5}">
                      <a16:colId xmlns:a16="http://schemas.microsoft.com/office/drawing/2014/main" val="462951002"/>
                    </a:ext>
                  </a:extLst>
                </a:gridCol>
                <a:gridCol w="772586">
                  <a:extLst>
                    <a:ext uri="{9D8B030D-6E8A-4147-A177-3AD203B41FA5}">
                      <a16:colId xmlns:a16="http://schemas.microsoft.com/office/drawing/2014/main" val="3540422206"/>
                    </a:ext>
                  </a:extLst>
                </a:gridCol>
              </a:tblGrid>
              <a:tr h="424526">
                <a:tc>
                  <a:txBody>
                    <a:bodyPr/>
                    <a:lstStyle/>
                    <a:p>
                      <a:r>
                        <a:rPr lang="ru-RU" sz="1200" b="0" dirty="0">
                          <a:solidFill>
                            <a:srgbClr val="7030A0"/>
                          </a:solidFill>
                        </a:rPr>
                        <a:t>&lt;Номенклатура&gt;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b="0" dirty="0"/>
                        <a:t>Яблоки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8733704"/>
                  </a:ext>
                </a:extLst>
              </a:tr>
              <a:tr h="424526">
                <a:tc>
                  <a:txBody>
                    <a:bodyPr/>
                    <a:lstStyle/>
                    <a:p>
                      <a:r>
                        <a:rPr lang="ru-RU" sz="1200" dirty="0">
                          <a:solidFill>
                            <a:srgbClr val="7030A0"/>
                          </a:solidFill>
                        </a:rPr>
                        <a:t>&lt;Склады&gt;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Главный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8013502"/>
                  </a:ext>
                </a:extLst>
              </a:tr>
            </a:tbl>
          </a:graphicData>
        </a:graphic>
      </p:graphicFrame>
      <p:sp>
        <p:nvSpPr>
          <p:cNvPr id="9" name="Выноска 2 8"/>
          <p:cNvSpPr/>
          <p:nvPr/>
        </p:nvSpPr>
        <p:spPr>
          <a:xfrm>
            <a:off x="5406501" y="1704512"/>
            <a:ext cx="2050970" cy="479394"/>
          </a:xfrm>
          <a:prstGeom prst="borderCallout2">
            <a:avLst>
              <a:gd name="adj1" fmla="val 18750"/>
              <a:gd name="adj2" fmla="val 106921"/>
              <a:gd name="adj3" fmla="val 48379"/>
              <a:gd name="adj4" fmla="val 134673"/>
              <a:gd name="adj5" fmla="val 284721"/>
              <a:gd name="adj6" fmla="val 15447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Сумма продажи</a:t>
            </a:r>
          </a:p>
        </p:txBody>
      </p:sp>
      <p:sp>
        <p:nvSpPr>
          <p:cNvPr id="10" name="Выноска 2 9"/>
          <p:cNvSpPr/>
          <p:nvPr/>
        </p:nvSpPr>
        <p:spPr>
          <a:xfrm>
            <a:off x="4518734" y="5567682"/>
            <a:ext cx="2938737" cy="479394"/>
          </a:xfrm>
          <a:prstGeom prst="borderCallout2">
            <a:avLst>
              <a:gd name="adj1" fmla="val 52083"/>
              <a:gd name="adj2" fmla="val 104757"/>
              <a:gd name="adj3" fmla="val 16898"/>
              <a:gd name="adj4" fmla="val 137703"/>
              <a:gd name="adj5" fmla="val -224538"/>
              <a:gd name="adj6" fmla="val 14075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Себестоимость продажи</a:t>
            </a:r>
          </a:p>
        </p:txBody>
      </p:sp>
    </p:spTree>
    <p:extLst>
      <p:ext uri="{BB962C8B-B14F-4D97-AF65-F5344CB8AC3E}">
        <p14:creationId xmlns:p14="http://schemas.microsoft.com/office/powerpoint/2010/main" val="3368559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Себестоимость без учёта склада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6338140"/>
              </p:ext>
            </p:extLst>
          </p:nvPr>
        </p:nvGraphicFramePr>
        <p:xfrm>
          <a:off x="1987795" y="1944910"/>
          <a:ext cx="5184647" cy="1259840"/>
        </p:xfrm>
        <a:graphic>
          <a:graphicData uri="http://schemas.openxmlformats.org/drawingml/2006/table">
            <a:tbl>
              <a:tblPr/>
              <a:tblGrid>
                <a:gridCol w="1348740">
                  <a:extLst>
                    <a:ext uri="{9D8B030D-6E8A-4147-A177-3AD203B41FA5}">
                      <a16:colId xmlns:a16="http://schemas.microsoft.com/office/drawing/2014/main" val="3574496659"/>
                    </a:ext>
                  </a:extLst>
                </a:gridCol>
                <a:gridCol w="1337767">
                  <a:extLst>
                    <a:ext uri="{9D8B030D-6E8A-4147-A177-3AD203B41FA5}">
                      <a16:colId xmlns:a16="http://schemas.microsoft.com/office/drawing/2014/main" val="2663691714"/>
                    </a:ext>
                  </a:extLst>
                </a:gridCol>
                <a:gridCol w="764438">
                  <a:extLst>
                    <a:ext uri="{9D8B030D-6E8A-4147-A177-3AD203B41FA5}">
                      <a16:colId xmlns:a16="http://schemas.microsoft.com/office/drawing/2014/main" val="2048166428"/>
                    </a:ext>
                  </a:extLst>
                </a:gridCol>
                <a:gridCol w="1102766">
                  <a:extLst>
                    <a:ext uri="{9D8B030D-6E8A-4147-A177-3AD203B41FA5}">
                      <a16:colId xmlns:a16="http://schemas.microsoft.com/office/drawing/2014/main" val="2976474131"/>
                    </a:ext>
                  </a:extLst>
                </a:gridCol>
                <a:gridCol w="630936">
                  <a:extLst>
                    <a:ext uri="{9D8B030D-6E8A-4147-A177-3AD203B41FA5}">
                      <a16:colId xmlns:a16="http://schemas.microsoft.com/office/drawing/2014/main" val="305331647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 dirty="0">
                          <a:effectLst/>
                          <a:latin typeface="Calibri" panose="020F0502020204030204" pitchFamily="34" charset="0"/>
                        </a:rPr>
                        <a:t>Вид движения</a:t>
                      </a:r>
                      <a:endParaRPr lang="ru-RU" sz="14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Calibri" panose="020F0502020204030204" pitchFamily="34" charset="0"/>
                        </a:rPr>
                        <a:t>Номенклатура</a:t>
                      </a: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Calibri" panose="020F0502020204030204" pitchFamily="34" charset="0"/>
                        </a:rPr>
                        <a:t>Склад</a:t>
                      </a: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Calibri" panose="020F0502020204030204" pitchFamily="34" charset="0"/>
                        </a:rPr>
                        <a:t>Количество</a:t>
                      </a: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Calibri" panose="020F0502020204030204" pitchFamily="34" charset="0"/>
                        </a:rPr>
                        <a:t>Сумма</a:t>
                      </a: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814154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Приход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Яблоки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Склад 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10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100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362715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Приход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Яблоки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Склад2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10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200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29313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Расход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Яблоки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Склад1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10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150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31270979"/>
                  </a:ext>
                </a:extLst>
              </a:tr>
            </a:tbl>
          </a:graphicData>
        </a:graphic>
      </p:graphicFrame>
      <p:sp>
        <p:nvSpPr>
          <p:cNvPr id="4" name="Скругленный прямоугольник 3"/>
          <p:cNvSpPr/>
          <p:nvPr/>
        </p:nvSpPr>
        <p:spPr>
          <a:xfrm>
            <a:off x="6471821" y="2867487"/>
            <a:ext cx="763480" cy="355108"/>
          </a:xfrm>
          <a:prstGeom prst="roundRect">
            <a:avLst/>
          </a:prstGeom>
          <a:noFill/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2394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750" tmFilter="0, 0; .2, .5; .8, .5; 1, 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" dur="375" autoRev="1" fill="hold"/>
                                        <p:tgtEl>
                                          <p:spTgt spid="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1017126"/>
          </a:xfrm>
        </p:spPr>
        <p:txBody>
          <a:bodyPr/>
          <a:lstStyle/>
          <a:p>
            <a:r>
              <a:rPr lang="ru-RU" dirty="0"/>
              <a:t>Данные для формирования проводок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/>
        </p:nvGraphicFramePr>
        <p:xfrm>
          <a:off x="239698" y="1743229"/>
          <a:ext cx="8675968" cy="2773680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1339672">
                  <a:extLst>
                    <a:ext uri="{9D8B030D-6E8A-4147-A177-3AD203B41FA5}">
                      <a16:colId xmlns:a16="http://schemas.microsoft.com/office/drawing/2014/main" val="1712032606"/>
                    </a:ext>
                  </a:extLst>
                </a:gridCol>
                <a:gridCol w="1057155">
                  <a:extLst>
                    <a:ext uri="{9D8B030D-6E8A-4147-A177-3AD203B41FA5}">
                      <a16:colId xmlns:a16="http://schemas.microsoft.com/office/drawing/2014/main" val="2831598434"/>
                    </a:ext>
                  </a:extLst>
                </a:gridCol>
                <a:gridCol w="1531054">
                  <a:extLst>
                    <a:ext uri="{9D8B030D-6E8A-4147-A177-3AD203B41FA5}">
                      <a16:colId xmlns:a16="http://schemas.microsoft.com/office/drawing/2014/main" val="2121083302"/>
                    </a:ext>
                  </a:extLst>
                </a:gridCol>
                <a:gridCol w="715139">
                  <a:extLst>
                    <a:ext uri="{9D8B030D-6E8A-4147-A177-3AD203B41FA5}">
                      <a16:colId xmlns:a16="http://schemas.microsoft.com/office/drawing/2014/main" val="4282678315"/>
                    </a:ext>
                  </a:extLst>
                </a:gridCol>
                <a:gridCol w="861482">
                  <a:extLst>
                    <a:ext uri="{9D8B030D-6E8A-4147-A177-3AD203B41FA5}">
                      <a16:colId xmlns:a16="http://schemas.microsoft.com/office/drawing/2014/main" val="757194878"/>
                    </a:ext>
                  </a:extLst>
                </a:gridCol>
                <a:gridCol w="1722434">
                  <a:extLst>
                    <a:ext uri="{9D8B030D-6E8A-4147-A177-3AD203B41FA5}">
                      <a16:colId xmlns:a16="http://schemas.microsoft.com/office/drawing/2014/main" val="1930054117"/>
                    </a:ext>
                  </a:extLst>
                </a:gridCol>
                <a:gridCol w="710847">
                  <a:extLst>
                    <a:ext uri="{9D8B030D-6E8A-4147-A177-3AD203B41FA5}">
                      <a16:colId xmlns:a16="http://schemas.microsoft.com/office/drawing/2014/main" val="3308725126"/>
                    </a:ext>
                  </a:extLst>
                </a:gridCol>
                <a:gridCol w="738185">
                  <a:extLst>
                    <a:ext uri="{9D8B030D-6E8A-4147-A177-3AD203B41FA5}">
                      <a16:colId xmlns:a16="http://schemas.microsoft.com/office/drawing/2014/main" val="2114263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Организация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Счет Дт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Субконто Дт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Кол-во</a:t>
                      </a:r>
                      <a:r>
                        <a:rPr lang="ru-RU" sz="1400" baseline="0" dirty="0"/>
                        <a:t> Дт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Счет Кт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Субконто Кт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Кол-во Кт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Сумма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75188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dirty="0"/>
                        <a:t>&lt;Осень&gt;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b="1" dirty="0"/>
                        <a:t>&lt;62.1&gt; </a:t>
                      </a:r>
                      <a:r>
                        <a:rPr lang="ru-RU" sz="1200" dirty="0"/>
                        <a:t/>
                      </a:r>
                      <a:br>
                        <a:rPr lang="ru-RU" sz="1200" dirty="0"/>
                      </a:br>
                      <a:r>
                        <a:rPr lang="ru-RU" sz="1200" dirty="0"/>
                        <a:t>Расчеты с покупателем</a:t>
                      </a:r>
                      <a:r>
                        <a:rPr lang="ru-RU" sz="1400" dirty="0"/>
                        <a:t/>
                      </a:r>
                      <a:br>
                        <a:rPr lang="ru-RU" sz="1400" dirty="0"/>
                      </a:br>
                      <a:r>
                        <a:rPr lang="ru-RU" sz="1400" dirty="0"/>
                        <a:t/>
                      </a:r>
                      <a:br>
                        <a:rPr lang="ru-RU" sz="1400" dirty="0"/>
                      </a:b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1" dirty="0"/>
                        <a:t>&lt;90&gt;</a:t>
                      </a:r>
                      <a:br>
                        <a:rPr lang="ru-RU" sz="1200" b="1" dirty="0"/>
                      </a:br>
                      <a:r>
                        <a:rPr lang="ru-RU" sz="1200" dirty="0"/>
                        <a:t>Доходы</a:t>
                      </a:r>
                      <a:r>
                        <a:rPr lang="ru-RU" sz="1200" baseline="0" dirty="0"/>
                        <a:t> и Расходы</a:t>
                      </a:r>
                      <a:endParaRPr lang="ru-RU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2000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02512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dirty="0"/>
                        <a:t>&lt;Осень&gt;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b="1" dirty="0"/>
                        <a:t>&lt;90&gt;</a:t>
                      </a:r>
                      <a:br>
                        <a:rPr lang="ru-RU" sz="1200" b="1" dirty="0"/>
                      </a:br>
                      <a:r>
                        <a:rPr lang="ru-RU" sz="1200" dirty="0"/>
                        <a:t>Доходы</a:t>
                      </a:r>
                      <a:r>
                        <a:rPr lang="ru-RU" sz="1200" baseline="0" dirty="0"/>
                        <a:t> и Расходы</a:t>
                      </a:r>
                      <a:br>
                        <a:rPr lang="ru-RU" sz="1200" baseline="0" dirty="0"/>
                      </a:br>
                      <a:r>
                        <a:rPr lang="ru-RU" sz="1200" baseline="0" dirty="0"/>
                        <a:t/>
                      </a:r>
                      <a:br>
                        <a:rPr lang="ru-RU" sz="1200" baseline="0" dirty="0"/>
                      </a:br>
                      <a:r>
                        <a:rPr lang="ru-RU" sz="1200" baseline="0" dirty="0"/>
                        <a:t/>
                      </a:r>
                      <a:br>
                        <a:rPr lang="ru-RU" sz="1200" baseline="0" dirty="0"/>
                      </a:br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b="1" dirty="0"/>
                        <a:t>Счёт</a:t>
                      </a:r>
                      <a:r>
                        <a:rPr lang="ru-RU" sz="1200" b="1" baseline="0" dirty="0"/>
                        <a:t> учета в док-те</a:t>
                      </a:r>
                      <a:endParaRPr lang="ru-RU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1127809"/>
                  </a:ext>
                </a:extLst>
              </a:tr>
            </a:tbl>
          </a:graphicData>
        </a:graphic>
      </p:graphicFrame>
      <p:graphicFrame>
        <p:nvGraphicFramePr>
          <p:cNvPr id="6" name="Таблица 5"/>
          <p:cNvGraphicFramePr>
            <a:graphicFrameLocks noGrp="1"/>
          </p:cNvGraphicFramePr>
          <p:nvPr/>
        </p:nvGraphicFramePr>
        <p:xfrm>
          <a:off x="2686976" y="2327553"/>
          <a:ext cx="1432264" cy="91440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801948">
                  <a:extLst>
                    <a:ext uri="{9D8B030D-6E8A-4147-A177-3AD203B41FA5}">
                      <a16:colId xmlns:a16="http://schemas.microsoft.com/office/drawing/2014/main" val="462951002"/>
                    </a:ext>
                  </a:extLst>
                </a:gridCol>
                <a:gridCol w="630316">
                  <a:extLst>
                    <a:ext uri="{9D8B030D-6E8A-4147-A177-3AD203B41FA5}">
                      <a16:colId xmlns:a16="http://schemas.microsoft.com/office/drawing/2014/main" val="3540422206"/>
                    </a:ext>
                  </a:extLst>
                </a:gridCol>
              </a:tblGrid>
              <a:tr h="286922">
                <a:tc>
                  <a:txBody>
                    <a:bodyPr/>
                    <a:lstStyle/>
                    <a:p>
                      <a:r>
                        <a:rPr lang="ru-RU" sz="1200" b="0" dirty="0">
                          <a:solidFill>
                            <a:srgbClr val="7030A0"/>
                          </a:solidFill>
                        </a:rPr>
                        <a:t>&lt;Контрагенты&gt;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b="0" dirty="0"/>
                        <a:t>ООО «Юг»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8733704"/>
                  </a:ext>
                </a:extLst>
              </a:tr>
              <a:tr h="286922">
                <a:tc>
                  <a:txBody>
                    <a:bodyPr/>
                    <a:lstStyle/>
                    <a:p>
                      <a:r>
                        <a:rPr lang="ru-RU" sz="1200" dirty="0">
                          <a:solidFill>
                            <a:srgbClr val="7030A0"/>
                          </a:solidFill>
                        </a:rPr>
                        <a:t>&lt;Договоры&gt;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Дог.</a:t>
                      </a:r>
                      <a:r>
                        <a:rPr lang="ru-RU" sz="1200" baseline="0" dirty="0"/>
                        <a:t> № 123</a:t>
                      </a:r>
                      <a:endParaRPr lang="ru-RU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8013502"/>
                  </a:ext>
                </a:extLst>
              </a:tr>
            </a:tbl>
          </a:graphicData>
        </a:graphic>
      </p:graphicFrame>
      <p:graphicFrame>
        <p:nvGraphicFramePr>
          <p:cNvPr id="8" name="Таблица 7"/>
          <p:cNvGraphicFramePr>
            <a:graphicFrameLocks noGrp="1"/>
          </p:cNvGraphicFramePr>
          <p:nvPr/>
        </p:nvGraphicFramePr>
        <p:xfrm>
          <a:off x="244572" y="4610381"/>
          <a:ext cx="8671094" cy="163068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505564">
                  <a:extLst>
                    <a:ext uri="{9D8B030D-6E8A-4147-A177-3AD203B41FA5}">
                      <a16:colId xmlns:a16="http://schemas.microsoft.com/office/drawing/2014/main" val="764105677"/>
                    </a:ext>
                  </a:extLst>
                </a:gridCol>
                <a:gridCol w="798004">
                  <a:extLst>
                    <a:ext uri="{9D8B030D-6E8A-4147-A177-3AD203B41FA5}">
                      <a16:colId xmlns:a16="http://schemas.microsoft.com/office/drawing/2014/main" val="3932086939"/>
                    </a:ext>
                  </a:extLst>
                </a:gridCol>
                <a:gridCol w="798004">
                  <a:extLst>
                    <a:ext uri="{9D8B030D-6E8A-4147-A177-3AD203B41FA5}">
                      <a16:colId xmlns:a16="http://schemas.microsoft.com/office/drawing/2014/main" val="1023356965"/>
                    </a:ext>
                  </a:extLst>
                </a:gridCol>
                <a:gridCol w="1458978">
                  <a:extLst>
                    <a:ext uri="{9D8B030D-6E8A-4147-A177-3AD203B41FA5}">
                      <a16:colId xmlns:a16="http://schemas.microsoft.com/office/drawing/2014/main" val="3213414131"/>
                    </a:ext>
                  </a:extLst>
                </a:gridCol>
                <a:gridCol w="1458978">
                  <a:extLst>
                    <a:ext uri="{9D8B030D-6E8A-4147-A177-3AD203B41FA5}">
                      <a16:colId xmlns:a16="http://schemas.microsoft.com/office/drawing/2014/main" val="1548726310"/>
                    </a:ext>
                  </a:extLst>
                </a:gridCol>
                <a:gridCol w="1268974">
                  <a:extLst>
                    <a:ext uri="{9D8B030D-6E8A-4147-A177-3AD203B41FA5}">
                      <a16:colId xmlns:a16="http://schemas.microsoft.com/office/drawing/2014/main" val="1940637935"/>
                    </a:ext>
                  </a:extLst>
                </a:gridCol>
                <a:gridCol w="1382592">
                  <a:extLst>
                    <a:ext uri="{9D8B030D-6E8A-4147-A177-3AD203B41FA5}">
                      <a16:colId xmlns:a16="http://schemas.microsoft.com/office/drawing/2014/main" val="36425557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Кол-во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Сумма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Счет учёта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Кол-во остаток на складе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Кол-во остаток всего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Сумма остаток всего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18783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dirty="0"/>
                        <a:t>&lt;Яблоки&gt;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41 Товары опт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3300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12811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dirty="0"/>
                        <a:t>&lt;Груши&gt;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3000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41 Товары опт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5500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5008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dirty="0"/>
                        <a:t>&lt;Яблоки&gt;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10 Материалы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3000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0851377"/>
                  </a:ext>
                </a:extLst>
              </a:tr>
            </a:tbl>
          </a:graphicData>
        </a:graphic>
      </p:graphicFrame>
      <p:graphicFrame>
        <p:nvGraphicFramePr>
          <p:cNvPr id="10" name="Таблица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8588652"/>
              </p:ext>
            </p:extLst>
          </p:nvPr>
        </p:nvGraphicFramePr>
        <p:xfrm>
          <a:off x="5797119" y="3474374"/>
          <a:ext cx="1615964" cy="881726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843378">
                  <a:extLst>
                    <a:ext uri="{9D8B030D-6E8A-4147-A177-3AD203B41FA5}">
                      <a16:colId xmlns:a16="http://schemas.microsoft.com/office/drawing/2014/main" val="462951002"/>
                    </a:ext>
                  </a:extLst>
                </a:gridCol>
                <a:gridCol w="772586">
                  <a:extLst>
                    <a:ext uri="{9D8B030D-6E8A-4147-A177-3AD203B41FA5}">
                      <a16:colId xmlns:a16="http://schemas.microsoft.com/office/drawing/2014/main" val="3540422206"/>
                    </a:ext>
                  </a:extLst>
                </a:gridCol>
              </a:tblGrid>
              <a:tr h="424526">
                <a:tc>
                  <a:txBody>
                    <a:bodyPr/>
                    <a:lstStyle/>
                    <a:p>
                      <a:r>
                        <a:rPr lang="ru-RU" sz="1200" b="0" dirty="0">
                          <a:solidFill>
                            <a:srgbClr val="7030A0"/>
                          </a:solidFill>
                        </a:rPr>
                        <a:t>&lt;Номенклатура&gt;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b="0" dirty="0"/>
                        <a:t>Яблоки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8733704"/>
                  </a:ext>
                </a:extLst>
              </a:tr>
              <a:tr h="424526">
                <a:tc>
                  <a:txBody>
                    <a:bodyPr/>
                    <a:lstStyle/>
                    <a:p>
                      <a:r>
                        <a:rPr lang="ru-RU" sz="1200" dirty="0">
                          <a:solidFill>
                            <a:srgbClr val="7030A0"/>
                          </a:solidFill>
                        </a:rPr>
                        <a:t>&lt;Склады&gt;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Главный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80135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5655395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1017126"/>
          </a:xfrm>
        </p:spPr>
        <p:txBody>
          <a:bodyPr/>
          <a:lstStyle/>
          <a:p>
            <a:r>
              <a:rPr lang="ru-RU" dirty="0"/>
              <a:t>Данные для формирования проводок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/>
        </p:nvGraphicFramePr>
        <p:xfrm>
          <a:off x="239698" y="1743229"/>
          <a:ext cx="8675968" cy="2773680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1339672">
                  <a:extLst>
                    <a:ext uri="{9D8B030D-6E8A-4147-A177-3AD203B41FA5}">
                      <a16:colId xmlns:a16="http://schemas.microsoft.com/office/drawing/2014/main" val="1712032606"/>
                    </a:ext>
                  </a:extLst>
                </a:gridCol>
                <a:gridCol w="1057155">
                  <a:extLst>
                    <a:ext uri="{9D8B030D-6E8A-4147-A177-3AD203B41FA5}">
                      <a16:colId xmlns:a16="http://schemas.microsoft.com/office/drawing/2014/main" val="2831598434"/>
                    </a:ext>
                  </a:extLst>
                </a:gridCol>
                <a:gridCol w="1531054">
                  <a:extLst>
                    <a:ext uri="{9D8B030D-6E8A-4147-A177-3AD203B41FA5}">
                      <a16:colId xmlns:a16="http://schemas.microsoft.com/office/drawing/2014/main" val="2121083302"/>
                    </a:ext>
                  </a:extLst>
                </a:gridCol>
                <a:gridCol w="715139">
                  <a:extLst>
                    <a:ext uri="{9D8B030D-6E8A-4147-A177-3AD203B41FA5}">
                      <a16:colId xmlns:a16="http://schemas.microsoft.com/office/drawing/2014/main" val="4282678315"/>
                    </a:ext>
                  </a:extLst>
                </a:gridCol>
                <a:gridCol w="861482">
                  <a:extLst>
                    <a:ext uri="{9D8B030D-6E8A-4147-A177-3AD203B41FA5}">
                      <a16:colId xmlns:a16="http://schemas.microsoft.com/office/drawing/2014/main" val="757194878"/>
                    </a:ext>
                  </a:extLst>
                </a:gridCol>
                <a:gridCol w="1722434">
                  <a:extLst>
                    <a:ext uri="{9D8B030D-6E8A-4147-A177-3AD203B41FA5}">
                      <a16:colId xmlns:a16="http://schemas.microsoft.com/office/drawing/2014/main" val="1930054117"/>
                    </a:ext>
                  </a:extLst>
                </a:gridCol>
                <a:gridCol w="710847">
                  <a:extLst>
                    <a:ext uri="{9D8B030D-6E8A-4147-A177-3AD203B41FA5}">
                      <a16:colId xmlns:a16="http://schemas.microsoft.com/office/drawing/2014/main" val="3308725126"/>
                    </a:ext>
                  </a:extLst>
                </a:gridCol>
                <a:gridCol w="738185">
                  <a:extLst>
                    <a:ext uri="{9D8B030D-6E8A-4147-A177-3AD203B41FA5}">
                      <a16:colId xmlns:a16="http://schemas.microsoft.com/office/drawing/2014/main" val="2114263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Организация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Счет Дт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Субконто Дт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Кол-во</a:t>
                      </a:r>
                      <a:r>
                        <a:rPr lang="ru-RU" sz="1400" baseline="0" dirty="0"/>
                        <a:t> Дт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Счет Кт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Субконто Кт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Кол-во Кт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Сумма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75188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dirty="0"/>
                        <a:t>&lt;Осень&gt;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b="1" dirty="0"/>
                        <a:t>&lt;62.1&gt; </a:t>
                      </a:r>
                      <a:r>
                        <a:rPr lang="ru-RU" sz="1200" dirty="0"/>
                        <a:t/>
                      </a:r>
                      <a:br>
                        <a:rPr lang="ru-RU" sz="1200" dirty="0"/>
                      </a:br>
                      <a:r>
                        <a:rPr lang="ru-RU" sz="1200" dirty="0"/>
                        <a:t>Расчеты с покупателем</a:t>
                      </a:r>
                      <a:r>
                        <a:rPr lang="ru-RU" sz="1400" dirty="0"/>
                        <a:t/>
                      </a:r>
                      <a:br>
                        <a:rPr lang="ru-RU" sz="1400" dirty="0"/>
                      </a:br>
                      <a:r>
                        <a:rPr lang="ru-RU" sz="1400" dirty="0"/>
                        <a:t/>
                      </a:r>
                      <a:br>
                        <a:rPr lang="ru-RU" sz="1400" dirty="0"/>
                      </a:b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1" dirty="0"/>
                        <a:t>&lt;90&gt;</a:t>
                      </a:r>
                      <a:br>
                        <a:rPr lang="ru-RU" sz="1200" b="1" dirty="0"/>
                      </a:br>
                      <a:r>
                        <a:rPr lang="ru-RU" sz="1200" dirty="0"/>
                        <a:t>Доходы</a:t>
                      </a:r>
                      <a:r>
                        <a:rPr lang="ru-RU" sz="1200" baseline="0" dirty="0"/>
                        <a:t> и Расходы</a:t>
                      </a:r>
                      <a:endParaRPr lang="ru-RU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2000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02512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dirty="0"/>
                        <a:t>&lt;Осень&gt;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b="1" dirty="0"/>
                        <a:t>&lt;90&gt;</a:t>
                      </a:r>
                      <a:br>
                        <a:rPr lang="ru-RU" sz="1200" b="1" dirty="0"/>
                      </a:br>
                      <a:r>
                        <a:rPr lang="ru-RU" sz="1200" dirty="0"/>
                        <a:t>Доходы</a:t>
                      </a:r>
                      <a:r>
                        <a:rPr lang="ru-RU" sz="1200" baseline="0" dirty="0"/>
                        <a:t> и Расходы</a:t>
                      </a:r>
                      <a:br>
                        <a:rPr lang="ru-RU" sz="1200" baseline="0" dirty="0"/>
                      </a:br>
                      <a:r>
                        <a:rPr lang="ru-RU" sz="1200" baseline="0" dirty="0"/>
                        <a:t/>
                      </a:r>
                      <a:br>
                        <a:rPr lang="ru-RU" sz="1200" baseline="0" dirty="0"/>
                      </a:br>
                      <a:r>
                        <a:rPr lang="ru-RU" sz="1200" baseline="0" dirty="0"/>
                        <a:t/>
                      </a:r>
                      <a:br>
                        <a:rPr lang="ru-RU" sz="1200" baseline="0" dirty="0"/>
                      </a:br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b="1" dirty="0"/>
                        <a:t>Счёт</a:t>
                      </a:r>
                      <a:r>
                        <a:rPr lang="ru-RU" sz="1200" b="1" baseline="0" dirty="0"/>
                        <a:t> учета в док-те</a:t>
                      </a:r>
                      <a:endParaRPr lang="ru-RU" sz="12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1127809"/>
                  </a:ext>
                </a:extLst>
              </a:tr>
            </a:tbl>
          </a:graphicData>
        </a:graphic>
      </p:graphicFrame>
      <p:graphicFrame>
        <p:nvGraphicFramePr>
          <p:cNvPr id="6" name="Таблица 5"/>
          <p:cNvGraphicFramePr>
            <a:graphicFrameLocks noGrp="1"/>
          </p:cNvGraphicFramePr>
          <p:nvPr/>
        </p:nvGraphicFramePr>
        <p:xfrm>
          <a:off x="2686976" y="2327553"/>
          <a:ext cx="1432264" cy="91440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801948">
                  <a:extLst>
                    <a:ext uri="{9D8B030D-6E8A-4147-A177-3AD203B41FA5}">
                      <a16:colId xmlns:a16="http://schemas.microsoft.com/office/drawing/2014/main" val="462951002"/>
                    </a:ext>
                  </a:extLst>
                </a:gridCol>
                <a:gridCol w="630316">
                  <a:extLst>
                    <a:ext uri="{9D8B030D-6E8A-4147-A177-3AD203B41FA5}">
                      <a16:colId xmlns:a16="http://schemas.microsoft.com/office/drawing/2014/main" val="3540422206"/>
                    </a:ext>
                  </a:extLst>
                </a:gridCol>
              </a:tblGrid>
              <a:tr h="286922">
                <a:tc>
                  <a:txBody>
                    <a:bodyPr/>
                    <a:lstStyle/>
                    <a:p>
                      <a:r>
                        <a:rPr lang="ru-RU" sz="1200" b="0" dirty="0">
                          <a:solidFill>
                            <a:srgbClr val="7030A0"/>
                          </a:solidFill>
                        </a:rPr>
                        <a:t>&lt;Контрагенты&gt;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b="0" dirty="0"/>
                        <a:t>ООО «Юг»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8733704"/>
                  </a:ext>
                </a:extLst>
              </a:tr>
              <a:tr h="286922">
                <a:tc>
                  <a:txBody>
                    <a:bodyPr/>
                    <a:lstStyle/>
                    <a:p>
                      <a:r>
                        <a:rPr lang="ru-RU" sz="1200" dirty="0">
                          <a:solidFill>
                            <a:srgbClr val="7030A0"/>
                          </a:solidFill>
                        </a:rPr>
                        <a:t>&lt;Договоры&gt;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Дог.</a:t>
                      </a:r>
                      <a:r>
                        <a:rPr lang="ru-RU" sz="1200" baseline="0" dirty="0"/>
                        <a:t> № 123</a:t>
                      </a:r>
                      <a:endParaRPr lang="ru-RU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8013502"/>
                  </a:ext>
                </a:extLst>
              </a:tr>
            </a:tbl>
          </a:graphicData>
        </a:graphic>
      </p:graphicFrame>
      <p:graphicFrame>
        <p:nvGraphicFramePr>
          <p:cNvPr id="8" name="Таблица 7"/>
          <p:cNvGraphicFramePr>
            <a:graphicFrameLocks noGrp="1"/>
          </p:cNvGraphicFramePr>
          <p:nvPr/>
        </p:nvGraphicFramePr>
        <p:xfrm>
          <a:off x="244572" y="4610381"/>
          <a:ext cx="8671094" cy="163068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505564">
                  <a:extLst>
                    <a:ext uri="{9D8B030D-6E8A-4147-A177-3AD203B41FA5}">
                      <a16:colId xmlns:a16="http://schemas.microsoft.com/office/drawing/2014/main" val="764105677"/>
                    </a:ext>
                  </a:extLst>
                </a:gridCol>
                <a:gridCol w="798004">
                  <a:extLst>
                    <a:ext uri="{9D8B030D-6E8A-4147-A177-3AD203B41FA5}">
                      <a16:colId xmlns:a16="http://schemas.microsoft.com/office/drawing/2014/main" val="3932086939"/>
                    </a:ext>
                  </a:extLst>
                </a:gridCol>
                <a:gridCol w="798004">
                  <a:extLst>
                    <a:ext uri="{9D8B030D-6E8A-4147-A177-3AD203B41FA5}">
                      <a16:colId xmlns:a16="http://schemas.microsoft.com/office/drawing/2014/main" val="1023356965"/>
                    </a:ext>
                  </a:extLst>
                </a:gridCol>
                <a:gridCol w="1458978">
                  <a:extLst>
                    <a:ext uri="{9D8B030D-6E8A-4147-A177-3AD203B41FA5}">
                      <a16:colId xmlns:a16="http://schemas.microsoft.com/office/drawing/2014/main" val="3213414131"/>
                    </a:ext>
                  </a:extLst>
                </a:gridCol>
                <a:gridCol w="1458978">
                  <a:extLst>
                    <a:ext uri="{9D8B030D-6E8A-4147-A177-3AD203B41FA5}">
                      <a16:colId xmlns:a16="http://schemas.microsoft.com/office/drawing/2014/main" val="1548726310"/>
                    </a:ext>
                  </a:extLst>
                </a:gridCol>
                <a:gridCol w="1268974">
                  <a:extLst>
                    <a:ext uri="{9D8B030D-6E8A-4147-A177-3AD203B41FA5}">
                      <a16:colId xmlns:a16="http://schemas.microsoft.com/office/drawing/2014/main" val="1940637935"/>
                    </a:ext>
                  </a:extLst>
                </a:gridCol>
                <a:gridCol w="1382592">
                  <a:extLst>
                    <a:ext uri="{9D8B030D-6E8A-4147-A177-3AD203B41FA5}">
                      <a16:colId xmlns:a16="http://schemas.microsoft.com/office/drawing/2014/main" val="36425557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Кол-во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Сумма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Счет учёта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Кол-во остаток на складе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Кол-во остаток всего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Сумма остаток всего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18783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dirty="0"/>
                        <a:t>&lt;Яблоки&gt;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41 Товары опт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3300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12811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dirty="0"/>
                        <a:t>&lt;Груши&gt;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3000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41 Товары опт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5500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5008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dirty="0"/>
                        <a:t>&lt;Яблоки&gt;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10 Материалы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3000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0851377"/>
                  </a:ext>
                </a:extLst>
              </a:tr>
            </a:tbl>
          </a:graphicData>
        </a:graphic>
      </p:graphicFrame>
      <p:graphicFrame>
        <p:nvGraphicFramePr>
          <p:cNvPr id="10" name="Таблица 9"/>
          <p:cNvGraphicFramePr>
            <a:graphicFrameLocks noGrp="1"/>
          </p:cNvGraphicFramePr>
          <p:nvPr/>
        </p:nvGraphicFramePr>
        <p:xfrm>
          <a:off x="5797119" y="3474374"/>
          <a:ext cx="1615964" cy="881726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843378">
                  <a:extLst>
                    <a:ext uri="{9D8B030D-6E8A-4147-A177-3AD203B41FA5}">
                      <a16:colId xmlns:a16="http://schemas.microsoft.com/office/drawing/2014/main" val="462951002"/>
                    </a:ext>
                  </a:extLst>
                </a:gridCol>
                <a:gridCol w="772586">
                  <a:extLst>
                    <a:ext uri="{9D8B030D-6E8A-4147-A177-3AD203B41FA5}">
                      <a16:colId xmlns:a16="http://schemas.microsoft.com/office/drawing/2014/main" val="3540422206"/>
                    </a:ext>
                  </a:extLst>
                </a:gridCol>
              </a:tblGrid>
              <a:tr h="424526">
                <a:tc>
                  <a:txBody>
                    <a:bodyPr/>
                    <a:lstStyle/>
                    <a:p>
                      <a:r>
                        <a:rPr lang="ru-RU" sz="1200" b="0" dirty="0">
                          <a:solidFill>
                            <a:srgbClr val="7030A0"/>
                          </a:solidFill>
                        </a:rPr>
                        <a:t>&lt;Номенклатура&gt;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b="0" dirty="0"/>
                        <a:t>Яблоки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8733704"/>
                  </a:ext>
                </a:extLst>
              </a:tr>
              <a:tr h="424526">
                <a:tc>
                  <a:txBody>
                    <a:bodyPr/>
                    <a:lstStyle/>
                    <a:p>
                      <a:r>
                        <a:rPr lang="ru-RU" sz="1200" dirty="0">
                          <a:solidFill>
                            <a:srgbClr val="7030A0"/>
                          </a:solidFill>
                        </a:rPr>
                        <a:t>&lt;Склады&gt;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Главный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8013502"/>
                  </a:ext>
                </a:extLst>
              </a:tr>
            </a:tbl>
          </a:graphicData>
        </a:graphic>
      </p:graphicFrame>
      <p:sp>
        <p:nvSpPr>
          <p:cNvPr id="7" name="Скругленный прямоугольник 6"/>
          <p:cNvSpPr/>
          <p:nvPr/>
        </p:nvSpPr>
        <p:spPr>
          <a:xfrm>
            <a:off x="2565647" y="4554023"/>
            <a:ext cx="745724" cy="551648"/>
          </a:xfrm>
          <a:prstGeom prst="roundRect">
            <a:avLst/>
          </a:prstGeom>
          <a:noFill/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Скругленный прямоугольник 8"/>
          <p:cNvSpPr/>
          <p:nvPr/>
        </p:nvSpPr>
        <p:spPr>
          <a:xfrm>
            <a:off x="3400148" y="4573267"/>
            <a:ext cx="1376037" cy="551648"/>
          </a:xfrm>
          <a:prstGeom prst="roundRect">
            <a:avLst/>
          </a:prstGeom>
          <a:noFill/>
          <a:ln>
            <a:solidFill>
              <a:srgbClr val="0070C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Скругленный прямоугольник 10"/>
          <p:cNvSpPr/>
          <p:nvPr/>
        </p:nvSpPr>
        <p:spPr>
          <a:xfrm>
            <a:off x="4802817" y="4573267"/>
            <a:ext cx="1455940" cy="551648"/>
          </a:xfrm>
          <a:prstGeom prst="roundRect">
            <a:avLst/>
          </a:prstGeom>
          <a:noFill/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6258757" y="4573267"/>
            <a:ext cx="2656909" cy="551648"/>
          </a:xfrm>
          <a:prstGeom prst="roundRect">
            <a:avLst/>
          </a:prstGeom>
          <a:noFill/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олилиния 12"/>
          <p:cNvSpPr/>
          <p:nvPr/>
        </p:nvSpPr>
        <p:spPr>
          <a:xfrm>
            <a:off x="3116062" y="2636668"/>
            <a:ext cx="5113538" cy="1935332"/>
          </a:xfrm>
          <a:custGeom>
            <a:avLst/>
            <a:gdLst>
              <a:gd name="connsiteX0" fmla="*/ 0 w 5113538"/>
              <a:gd name="connsiteY0" fmla="*/ 1935332 h 1935332"/>
              <a:gd name="connsiteX1" fmla="*/ 1358284 w 5113538"/>
              <a:gd name="connsiteY1" fmla="*/ 585926 h 1935332"/>
              <a:gd name="connsiteX2" fmla="*/ 5113538 w 5113538"/>
              <a:gd name="connsiteY2" fmla="*/ 0 h 1935332"/>
              <a:gd name="connsiteX3" fmla="*/ 5113538 w 5113538"/>
              <a:gd name="connsiteY3" fmla="*/ 0 h 19353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113538" h="1935332">
                <a:moveTo>
                  <a:pt x="0" y="1935332"/>
                </a:moveTo>
                <a:cubicBezTo>
                  <a:pt x="253014" y="1421906"/>
                  <a:pt x="506028" y="908481"/>
                  <a:pt x="1358284" y="585926"/>
                </a:cubicBezTo>
                <a:cubicBezTo>
                  <a:pt x="2210540" y="263371"/>
                  <a:pt x="5113538" y="0"/>
                  <a:pt x="5113538" y="0"/>
                </a:cubicBezTo>
                <a:lnTo>
                  <a:pt x="5113538" y="0"/>
                </a:lnTo>
              </a:path>
            </a:pathLst>
          </a:custGeom>
          <a:ln w="28575">
            <a:solidFill>
              <a:srgbClr val="C0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Скругленный прямоугольник 13"/>
          <p:cNvSpPr/>
          <p:nvPr/>
        </p:nvSpPr>
        <p:spPr>
          <a:xfrm>
            <a:off x="1731146" y="4572000"/>
            <a:ext cx="745724" cy="551648"/>
          </a:xfrm>
          <a:prstGeom prst="roundRect">
            <a:avLst/>
          </a:prstGeom>
          <a:noFill/>
          <a:ln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олилиния 14"/>
          <p:cNvSpPr/>
          <p:nvPr/>
        </p:nvSpPr>
        <p:spPr>
          <a:xfrm>
            <a:off x="2148396" y="3185038"/>
            <a:ext cx="5370990" cy="1333696"/>
          </a:xfrm>
          <a:custGeom>
            <a:avLst/>
            <a:gdLst>
              <a:gd name="connsiteX0" fmla="*/ 0 w 5370990"/>
              <a:gd name="connsiteY0" fmla="*/ 1333696 h 1333696"/>
              <a:gd name="connsiteX1" fmla="*/ 2663301 w 5370990"/>
              <a:gd name="connsiteY1" fmla="*/ 81945 h 1333696"/>
              <a:gd name="connsiteX2" fmla="*/ 5370990 w 5370990"/>
              <a:gd name="connsiteY2" fmla="*/ 223987 h 1333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370990" h="1333696">
                <a:moveTo>
                  <a:pt x="0" y="1333696"/>
                </a:moveTo>
                <a:cubicBezTo>
                  <a:pt x="884068" y="800296"/>
                  <a:pt x="1768136" y="266896"/>
                  <a:pt x="2663301" y="81945"/>
                </a:cubicBezTo>
                <a:cubicBezTo>
                  <a:pt x="3558466" y="-103006"/>
                  <a:pt x="4464728" y="60490"/>
                  <a:pt x="5370990" y="223987"/>
                </a:cubicBezTo>
              </a:path>
            </a:pathLst>
          </a:cu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единительная линия 16"/>
          <p:cNvCxnSpPr/>
          <p:nvPr/>
        </p:nvCxnSpPr>
        <p:spPr>
          <a:xfrm flipV="1">
            <a:off x="4225771" y="3977196"/>
            <a:ext cx="781235" cy="594804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Прямая соединительная линия 17"/>
          <p:cNvCxnSpPr/>
          <p:nvPr/>
        </p:nvCxnSpPr>
        <p:spPr>
          <a:xfrm flipV="1">
            <a:off x="7585968" y="3666478"/>
            <a:ext cx="901084" cy="897167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84968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750" tmFilter="0, 0; .2, .5; .8, .5; 1, 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" dur="375" autoRev="1" fill="hold"/>
                                        <p:tgtEl>
                                          <p:spTgt spid="1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750"/>
                            </p:stCondLst>
                            <p:childTnLst>
                              <p:par>
                                <p:cTn id="22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750" tmFilter="0, 0; .2, .5; .8, .5; 1, 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4" dur="375" autoRev="1" fill="hold"/>
                                        <p:tgtEl>
                                          <p:spTgt spid="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7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750"/>
                            </p:stCondLst>
                            <p:childTnLst>
                              <p:par>
                                <p:cTn id="35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7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7" dur="37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0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750"/>
                            </p:stCondLst>
                            <p:childTnLst>
                              <p:par>
                                <p:cTn id="48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750" tmFilter="0, 0; .2, .5; .8, .5; 1, 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0" dur="375" autoRev="1" fill="hold"/>
                                        <p:tgtEl>
                                          <p:spTgt spid="1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750"/>
                            </p:stCondLst>
                            <p:childTnLst>
                              <p:par>
                                <p:cTn id="57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750" tmFilter="0, 0; .2, .5; .8, .5; 1, 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9" dur="375" autoRev="1" fill="hold"/>
                                        <p:tgtEl>
                                          <p:spTgt spid="1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3750"/>
                            </p:stCondLst>
                            <p:childTnLst>
                              <p:par>
                                <p:cTn id="6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9" grpId="0" animBg="1"/>
      <p:bldP spid="9" grpId="1" animBg="1"/>
      <p:bldP spid="11" grpId="0" animBg="1"/>
      <p:bldP spid="11" grpId="1" animBg="1"/>
      <p:bldP spid="12" grpId="0" animBg="1"/>
      <p:bldP spid="12" grpId="1" animBg="1"/>
      <p:bldP spid="13" grpId="0" animBg="1"/>
      <p:bldP spid="14" grpId="0" animBg="1"/>
      <p:bldP spid="14" grpId="1" animBg="1"/>
      <p:bldP spid="1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Данные в результате запроса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626778"/>
              </p:ext>
            </p:extLst>
          </p:nvPr>
        </p:nvGraphicFramePr>
        <p:xfrm>
          <a:off x="179512" y="1397000"/>
          <a:ext cx="8671094" cy="163068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505564">
                  <a:extLst>
                    <a:ext uri="{9D8B030D-6E8A-4147-A177-3AD203B41FA5}">
                      <a16:colId xmlns:a16="http://schemas.microsoft.com/office/drawing/2014/main" val="764105677"/>
                    </a:ext>
                  </a:extLst>
                </a:gridCol>
                <a:gridCol w="798004">
                  <a:extLst>
                    <a:ext uri="{9D8B030D-6E8A-4147-A177-3AD203B41FA5}">
                      <a16:colId xmlns:a16="http://schemas.microsoft.com/office/drawing/2014/main" val="3932086939"/>
                    </a:ext>
                  </a:extLst>
                </a:gridCol>
                <a:gridCol w="798004">
                  <a:extLst>
                    <a:ext uri="{9D8B030D-6E8A-4147-A177-3AD203B41FA5}">
                      <a16:colId xmlns:a16="http://schemas.microsoft.com/office/drawing/2014/main" val="1023356965"/>
                    </a:ext>
                  </a:extLst>
                </a:gridCol>
                <a:gridCol w="1458978">
                  <a:extLst>
                    <a:ext uri="{9D8B030D-6E8A-4147-A177-3AD203B41FA5}">
                      <a16:colId xmlns:a16="http://schemas.microsoft.com/office/drawing/2014/main" val="3213414131"/>
                    </a:ext>
                  </a:extLst>
                </a:gridCol>
                <a:gridCol w="1458978">
                  <a:extLst>
                    <a:ext uri="{9D8B030D-6E8A-4147-A177-3AD203B41FA5}">
                      <a16:colId xmlns:a16="http://schemas.microsoft.com/office/drawing/2014/main" val="1548726310"/>
                    </a:ext>
                  </a:extLst>
                </a:gridCol>
                <a:gridCol w="1268974">
                  <a:extLst>
                    <a:ext uri="{9D8B030D-6E8A-4147-A177-3AD203B41FA5}">
                      <a16:colId xmlns:a16="http://schemas.microsoft.com/office/drawing/2014/main" val="1940637935"/>
                    </a:ext>
                  </a:extLst>
                </a:gridCol>
                <a:gridCol w="1382592">
                  <a:extLst>
                    <a:ext uri="{9D8B030D-6E8A-4147-A177-3AD203B41FA5}">
                      <a16:colId xmlns:a16="http://schemas.microsoft.com/office/drawing/2014/main" val="36425557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Кол-во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Сумма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Счет учёта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Кол-во остаток на складе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Кол-во остаток всего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Сумма остаток всего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18783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dirty="0"/>
                        <a:t>&lt;Яблоки&gt;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41 Товары опт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3300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12811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dirty="0"/>
                        <a:t>&lt;Груши&gt;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3000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41 Товары опт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5500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5008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dirty="0"/>
                        <a:t>&lt;Яблоки&gt;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10 Материалы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3000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0851377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5751748"/>
              </p:ext>
            </p:extLst>
          </p:nvPr>
        </p:nvGraphicFramePr>
        <p:xfrm>
          <a:off x="188119" y="4536440"/>
          <a:ext cx="4561432" cy="1483360"/>
        </p:xfrm>
        <a:graphic>
          <a:graphicData uri="http://schemas.openxmlformats.org/drawingml/2006/table">
            <a:tbl>
              <a:tblPr firstRow="1" bandRow="1">
                <a:tableStyleId>{5DA37D80-6434-44D0-A028-1B22A696006F}</a:tableStyleId>
              </a:tblPr>
              <a:tblGrid>
                <a:gridCol w="1569660">
                  <a:extLst>
                    <a:ext uri="{9D8B030D-6E8A-4147-A177-3AD203B41FA5}">
                      <a16:colId xmlns:a16="http://schemas.microsoft.com/office/drawing/2014/main" val="764105677"/>
                    </a:ext>
                  </a:extLst>
                </a:gridCol>
                <a:gridCol w="754602">
                  <a:extLst>
                    <a:ext uri="{9D8B030D-6E8A-4147-A177-3AD203B41FA5}">
                      <a16:colId xmlns:a16="http://schemas.microsoft.com/office/drawing/2014/main" val="3932086939"/>
                    </a:ext>
                  </a:extLst>
                </a:gridCol>
                <a:gridCol w="825623">
                  <a:extLst>
                    <a:ext uri="{9D8B030D-6E8A-4147-A177-3AD203B41FA5}">
                      <a16:colId xmlns:a16="http://schemas.microsoft.com/office/drawing/2014/main" val="884535498"/>
                    </a:ext>
                  </a:extLst>
                </a:gridCol>
                <a:gridCol w="1411547">
                  <a:extLst>
                    <a:ext uri="{9D8B030D-6E8A-4147-A177-3AD203B41FA5}">
                      <a16:colId xmlns:a16="http://schemas.microsoft.com/office/drawing/2014/main" val="40161327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Номенклатура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Кол-во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Сумма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Счет учёта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18783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dirty="0"/>
                        <a:t>&lt;Яблоки&gt;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41 Товары опт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12811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dirty="0"/>
                        <a:t>&lt;Груши&gt;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3000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41 Товары опт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5008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dirty="0"/>
                        <a:t>&lt;Киви&gt;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10 Материалы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0851377"/>
                  </a:ext>
                </a:extLst>
              </a:tr>
            </a:tbl>
          </a:graphicData>
        </a:graphic>
      </p:graphicFrame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9004010"/>
              </p:ext>
            </p:extLst>
          </p:nvPr>
        </p:nvGraphicFramePr>
        <p:xfrm>
          <a:off x="4838331" y="4759960"/>
          <a:ext cx="4012275" cy="1259840"/>
        </p:xfrm>
        <a:graphic>
          <a:graphicData uri="http://schemas.openxmlformats.org/drawingml/2006/table">
            <a:tbl>
              <a:tblPr firstRow="1" bandRow="1">
                <a:tableStyleId>{8799B23B-EC83-4686-B30A-512413B5E67A}</a:tableStyleId>
              </a:tblPr>
              <a:tblGrid>
                <a:gridCol w="620637">
                  <a:extLst>
                    <a:ext uri="{9D8B030D-6E8A-4147-A177-3AD203B41FA5}">
                      <a16:colId xmlns:a16="http://schemas.microsoft.com/office/drawing/2014/main" val="1175521389"/>
                    </a:ext>
                  </a:extLst>
                </a:gridCol>
                <a:gridCol w="1133856">
                  <a:extLst>
                    <a:ext uri="{9D8B030D-6E8A-4147-A177-3AD203B41FA5}">
                      <a16:colId xmlns:a16="http://schemas.microsoft.com/office/drawing/2014/main" val="764105677"/>
                    </a:ext>
                  </a:extLst>
                </a:gridCol>
                <a:gridCol w="1256476">
                  <a:extLst>
                    <a:ext uri="{9D8B030D-6E8A-4147-A177-3AD203B41FA5}">
                      <a16:colId xmlns:a16="http://schemas.microsoft.com/office/drawing/2014/main" val="1548726310"/>
                    </a:ext>
                  </a:extLst>
                </a:gridCol>
                <a:gridCol w="1001306">
                  <a:extLst>
                    <a:ext uri="{9D8B030D-6E8A-4147-A177-3AD203B41FA5}">
                      <a16:colId xmlns:a16="http://schemas.microsoft.com/office/drawing/2014/main" val="1044346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Счет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Субконто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Количество остаток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Сумма остаток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18783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dirty="0"/>
                        <a:t>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&lt;Яблоки&gt;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6500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12811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dirty="0"/>
                        <a:t>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&lt;Груши&gt;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7500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500800"/>
                  </a:ext>
                </a:extLst>
              </a:tr>
            </a:tbl>
          </a:graphicData>
        </a:graphic>
      </p:graphicFrame>
      <p:sp>
        <p:nvSpPr>
          <p:cNvPr id="7" name="Правая фигурная скобка 6"/>
          <p:cNvSpPr/>
          <p:nvPr/>
        </p:nvSpPr>
        <p:spPr>
          <a:xfrm rot="5400000">
            <a:off x="2252807" y="1243815"/>
            <a:ext cx="432051" cy="4561436"/>
          </a:xfrm>
          <a:prstGeom prst="rightBrac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авая фигурная скобка 7"/>
          <p:cNvSpPr/>
          <p:nvPr/>
        </p:nvSpPr>
        <p:spPr>
          <a:xfrm rot="5400000">
            <a:off x="7334218" y="2224168"/>
            <a:ext cx="432050" cy="2600726"/>
          </a:xfrm>
          <a:prstGeom prst="rightBrace">
            <a:avLst/>
          </a:prstGeom>
          <a:ln>
            <a:solidFill>
              <a:srgbClr val="00B0F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TextBox 8"/>
          <p:cNvSpPr txBox="1"/>
          <p:nvPr/>
        </p:nvSpPr>
        <p:spPr>
          <a:xfrm>
            <a:off x="188113" y="3787879"/>
            <a:ext cx="45614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solidFill>
                  <a:srgbClr val="C00000"/>
                </a:solidFill>
              </a:rPr>
              <a:t>Табличная часть «Товары» документа «Реализация»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38331" y="3787879"/>
            <a:ext cx="40122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solidFill>
                  <a:srgbClr val="7030A0"/>
                </a:solidFill>
              </a:rPr>
              <a:t>Виртуальная таблица «Остатки»</a:t>
            </a:r>
          </a:p>
          <a:p>
            <a:pPr algn="ctr"/>
            <a:r>
              <a:rPr lang="ru-RU" dirty="0">
                <a:solidFill>
                  <a:srgbClr val="00B050"/>
                </a:solidFill>
              </a:rPr>
              <a:t>Остатки с учетом склада</a:t>
            </a:r>
            <a:r>
              <a:rPr lang="ru-RU" dirty="0">
                <a:solidFill>
                  <a:srgbClr val="7030A0"/>
                </a:solidFill>
              </a:rPr>
              <a:t/>
            </a:r>
            <a:br>
              <a:rPr lang="ru-RU" dirty="0">
                <a:solidFill>
                  <a:srgbClr val="7030A0"/>
                </a:solidFill>
              </a:rPr>
            </a:br>
            <a:r>
              <a:rPr lang="ru-RU" dirty="0">
                <a:solidFill>
                  <a:srgbClr val="00B0F0"/>
                </a:solidFill>
              </a:rPr>
              <a:t>и без учета склада</a:t>
            </a:r>
          </a:p>
        </p:txBody>
      </p:sp>
      <p:sp>
        <p:nvSpPr>
          <p:cNvPr id="11" name="Правая фигурная скобка 10"/>
          <p:cNvSpPr/>
          <p:nvPr/>
        </p:nvSpPr>
        <p:spPr>
          <a:xfrm rot="5400000">
            <a:off x="5283690" y="2814752"/>
            <a:ext cx="432051" cy="1419557"/>
          </a:xfrm>
          <a:prstGeom prst="rightBrace">
            <a:avLst/>
          </a:prstGeom>
          <a:ln>
            <a:solidFill>
              <a:srgbClr val="00B05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6732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7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7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/>
      <p:bldP spid="10" grpId="0"/>
      <p:bldP spid="1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Схема запроса</a:t>
            </a:r>
          </a:p>
        </p:txBody>
      </p:sp>
      <p:sp>
        <p:nvSpPr>
          <p:cNvPr id="3" name="Скругленный прямоугольник 2"/>
          <p:cNvSpPr/>
          <p:nvPr/>
        </p:nvSpPr>
        <p:spPr>
          <a:xfrm>
            <a:off x="466344" y="1505713"/>
            <a:ext cx="2798064" cy="329882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Табличная часть «Товары» документа реализация товаров и услуг </a:t>
            </a:r>
          </a:p>
        </p:txBody>
      </p:sp>
      <p:sp>
        <p:nvSpPr>
          <p:cNvPr id="4" name="Скругленный прямоугольник 3"/>
          <p:cNvSpPr/>
          <p:nvPr/>
        </p:nvSpPr>
        <p:spPr>
          <a:xfrm>
            <a:off x="5175504" y="1505712"/>
            <a:ext cx="3380232" cy="1456944"/>
          </a:xfrm>
          <a:prstGeom prst="round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Виртуальная таблица остатки регистра бухгалтерии «Проводки» (остатки с учётом склада)</a:t>
            </a:r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5175504" y="3347593"/>
            <a:ext cx="3380232" cy="1456944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Виртуальная таблица остатки регистра бухгалтерии «Проводки» (остатки без учётом склада)</a:t>
            </a:r>
          </a:p>
        </p:txBody>
      </p:sp>
      <p:sp>
        <p:nvSpPr>
          <p:cNvPr id="6" name="Стрелка влево 5"/>
          <p:cNvSpPr/>
          <p:nvPr/>
        </p:nvSpPr>
        <p:spPr>
          <a:xfrm>
            <a:off x="3525012" y="2005584"/>
            <a:ext cx="1389888" cy="457200"/>
          </a:xfrm>
          <a:prstGeom prst="leftArrow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Стрелка влево 6"/>
          <p:cNvSpPr/>
          <p:nvPr/>
        </p:nvSpPr>
        <p:spPr>
          <a:xfrm>
            <a:off x="3525012" y="3847465"/>
            <a:ext cx="1389888" cy="457200"/>
          </a:xfrm>
          <a:prstGeom prst="lef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118544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Соединение трех таблиц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4146618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512" y="551539"/>
            <a:ext cx="8784976" cy="1055795"/>
          </a:xfrm>
        </p:spPr>
        <p:txBody>
          <a:bodyPr>
            <a:normAutofit/>
          </a:bodyPr>
          <a:lstStyle/>
          <a:p>
            <a:r>
              <a:rPr lang="ru-RU" sz="2800" dirty="0"/>
              <a:t>Соединение трех таблиц</a:t>
            </a:r>
            <a:r>
              <a:rPr lang="ru-RU" sz="4800" dirty="0"/>
              <a:t/>
            </a:r>
            <a:br>
              <a:rPr lang="ru-RU" sz="4800" dirty="0"/>
            </a:br>
            <a:r>
              <a:rPr lang="ru-RU" b="1" dirty="0">
                <a:solidFill>
                  <a:srgbClr val="FF0000"/>
                </a:solidFill>
              </a:rPr>
              <a:t>(левое ,параллельно)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683568" y="2945465"/>
          <a:ext cx="2218816" cy="172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76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11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Киви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/>
        </p:nvGraphicFramePr>
        <p:xfrm>
          <a:off x="4716016" y="1932385"/>
          <a:ext cx="2218812" cy="1728000"/>
        </p:xfrm>
        <a:graphic>
          <a:graphicData uri="http://schemas.openxmlformats.org/drawingml/2006/table">
            <a:tbl>
              <a:tblPr>
                <a:tableStyleId>{21E4AEA4-8DFA-4A89-87EB-49C32662AFE0}</a:tableStyleId>
              </a:tblPr>
              <a:tblGrid>
                <a:gridCol w="17376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11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Бананы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  <a:endParaRPr lang="ru-RU" sz="14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483048" y="1428728"/>
            <a:ext cx="2177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solidFill>
                  <a:srgbClr val="002060"/>
                </a:solidFill>
              </a:rPr>
              <a:t>Исходные таблицы:</a:t>
            </a:r>
          </a:p>
        </p:txBody>
      </p:sp>
      <p:graphicFrame>
        <p:nvGraphicFramePr>
          <p:cNvPr id="15" name="Таблица 14"/>
          <p:cNvGraphicFramePr>
            <a:graphicFrameLocks noGrp="1"/>
          </p:cNvGraphicFramePr>
          <p:nvPr/>
        </p:nvGraphicFramePr>
        <p:xfrm>
          <a:off x="4716016" y="3958546"/>
          <a:ext cx="2218812" cy="1728000"/>
        </p:xfrm>
        <a:graphic>
          <a:graphicData uri="http://schemas.openxmlformats.org/drawingml/2006/table">
            <a:tbl>
              <a:tblPr>
                <a:tableStyleId>{21E4AEA4-8DFA-4A89-87EB-49C32662AFE0}</a:tableStyleId>
              </a:tblPr>
              <a:tblGrid>
                <a:gridCol w="17376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11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Бананы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  <a:endParaRPr lang="ru-RU" sz="14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Киви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Левая фигурная скобка 4"/>
          <p:cNvSpPr/>
          <p:nvPr/>
        </p:nvSpPr>
        <p:spPr>
          <a:xfrm>
            <a:off x="3995936" y="1798060"/>
            <a:ext cx="720080" cy="4079212"/>
          </a:xfrm>
          <a:prstGeom prst="leftBrace">
            <a:avLst>
              <a:gd name="adj1" fmla="val 8333"/>
              <a:gd name="adj2" fmla="val 48707"/>
            </a:avLst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7" name="Прямая со стрелкой 6"/>
          <p:cNvCxnSpPr>
            <a:stCxn id="5" idx="1"/>
          </p:cNvCxnSpPr>
          <p:nvPr/>
        </p:nvCxnSpPr>
        <p:spPr>
          <a:xfrm flipH="1">
            <a:off x="3059832" y="3784922"/>
            <a:ext cx="936104" cy="41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287325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512" y="551539"/>
            <a:ext cx="8784976" cy="1052017"/>
          </a:xfrm>
        </p:spPr>
        <p:txBody>
          <a:bodyPr>
            <a:normAutofit/>
          </a:bodyPr>
          <a:lstStyle/>
          <a:p>
            <a:r>
              <a:rPr lang="ru-RU" sz="2800" dirty="0"/>
              <a:t>Соединение трех таблиц</a:t>
            </a:r>
            <a:r>
              <a:rPr lang="ru-RU" sz="4800" dirty="0"/>
              <a:t/>
            </a:r>
            <a:br>
              <a:rPr lang="ru-RU" sz="4800" dirty="0"/>
            </a:br>
            <a:r>
              <a:rPr lang="ru-RU" sz="2800" dirty="0">
                <a:solidFill>
                  <a:srgbClr val="FF0000"/>
                </a:solidFill>
              </a:rPr>
              <a:t>(левое ,параллельно)</a:t>
            </a:r>
            <a:endParaRPr lang="ru-RU" b="1" dirty="0">
              <a:solidFill>
                <a:srgbClr val="FF0000"/>
              </a:solidFill>
            </a:endParaRP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465553" y="1879558"/>
          <a:ext cx="2700000" cy="172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76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11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11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Киви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/>
        </p:nvGraphicFramePr>
        <p:xfrm>
          <a:off x="5986800" y="1912886"/>
          <a:ext cx="2700000" cy="1728000"/>
        </p:xfrm>
        <a:graphic>
          <a:graphicData uri="http://schemas.openxmlformats.org/drawingml/2006/table">
            <a:tbl>
              <a:tblPr>
                <a:tableStyleId>{21E4AEA4-8DFA-4A89-87EB-49C32662AFE0}</a:tableStyleId>
              </a:tblPr>
              <a:tblGrid>
                <a:gridCol w="17376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11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11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Бананы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  <a:endParaRPr lang="ru-RU" sz="14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7" name="Таблица 6"/>
          <p:cNvGraphicFramePr>
            <a:graphicFrameLocks noGrp="1"/>
          </p:cNvGraphicFramePr>
          <p:nvPr/>
        </p:nvGraphicFramePr>
        <p:xfrm>
          <a:off x="2057618" y="3573015"/>
          <a:ext cx="4442400" cy="266891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2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2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44819">
                <a:tc>
                  <a:txBody>
                    <a:bodyPr/>
                    <a:lstStyle/>
                    <a:p>
                      <a:pPr algn="ctr"/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  <a:endParaRPr lang="ru-RU" sz="14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r>
                        <a:rPr lang="ru-RU" sz="1400" dirty="0"/>
                        <a:t>Киви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 Narrow" pitchFamily="34" charset="0"/>
                        </a:rPr>
                        <a:t>NULL</a:t>
                      </a:r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 Narrow" pitchFamily="34" charset="0"/>
                        </a:rPr>
                        <a:t>NULL</a:t>
                      </a:r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9027289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483048" y="1428728"/>
            <a:ext cx="2282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solidFill>
                  <a:srgbClr val="002060"/>
                </a:solidFill>
              </a:rPr>
              <a:t>Таблицы один и два: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77005" y="3607558"/>
            <a:ext cx="37341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solidFill>
                  <a:srgbClr val="002060"/>
                </a:solidFill>
              </a:rPr>
              <a:t>Результат соединения двух таблиц:</a:t>
            </a:r>
          </a:p>
        </p:txBody>
      </p:sp>
      <p:cxnSp>
        <p:nvCxnSpPr>
          <p:cNvPr id="8" name="Прямая со стрелкой 7"/>
          <p:cNvCxnSpPr/>
          <p:nvPr/>
        </p:nvCxnSpPr>
        <p:spPr>
          <a:xfrm>
            <a:off x="3220031" y="2060848"/>
            <a:ext cx="2648113" cy="504056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Прямая со стрелкой 11"/>
          <p:cNvCxnSpPr/>
          <p:nvPr/>
        </p:nvCxnSpPr>
        <p:spPr>
          <a:xfrm>
            <a:off x="3220031" y="2060848"/>
            <a:ext cx="2648113" cy="1358860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Прямая со стрелкой 16"/>
          <p:cNvCxnSpPr/>
          <p:nvPr/>
        </p:nvCxnSpPr>
        <p:spPr>
          <a:xfrm>
            <a:off x="3220031" y="2497542"/>
            <a:ext cx="2648113" cy="524654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9" name="Прямая со стрелкой 18"/>
          <p:cNvCxnSpPr/>
          <p:nvPr/>
        </p:nvCxnSpPr>
        <p:spPr>
          <a:xfrm flipV="1">
            <a:off x="3220031" y="3140968"/>
            <a:ext cx="2648113" cy="201079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92673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512" y="551539"/>
            <a:ext cx="8784976" cy="1052017"/>
          </a:xfrm>
        </p:spPr>
        <p:txBody>
          <a:bodyPr>
            <a:normAutofit/>
          </a:bodyPr>
          <a:lstStyle/>
          <a:p>
            <a:r>
              <a:rPr lang="ru-RU" sz="2800" dirty="0"/>
              <a:t>Соединение трех таблиц</a:t>
            </a:r>
            <a:r>
              <a:rPr lang="ru-RU" sz="4800" dirty="0"/>
              <a:t/>
            </a:r>
            <a:br>
              <a:rPr lang="ru-RU" sz="4800" dirty="0"/>
            </a:br>
            <a:r>
              <a:rPr lang="ru-RU" sz="2800" dirty="0">
                <a:solidFill>
                  <a:srgbClr val="FF0000"/>
                </a:solidFill>
              </a:rPr>
              <a:t>(левое ,параллельно)</a:t>
            </a:r>
            <a:endParaRPr lang="ru-RU" b="1" dirty="0">
              <a:solidFill>
                <a:srgbClr val="FF0000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483768" y="1421377"/>
            <a:ext cx="5484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solidFill>
                  <a:srgbClr val="002060"/>
                </a:solidFill>
              </a:rPr>
              <a:t>Результат соединения двух таблиц и третья таблица: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76946" y="3657435"/>
            <a:ext cx="37051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solidFill>
                  <a:srgbClr val="002060"/>
                </a:solidFill>
              </a:rPr>
              <a:t>Результат соединения трех таблиц:</a:t>
            </a:r>
          </a:p>
        </p:txBody>
      </p:sp>
      <p:cxnSp>
        <p:nvCxnSpPr>
          <p:cNvPr id="8" name="Прямая со стрелкой 7"/>
          <p:cNvCxnSpPr/>
          <p:nvPr/>
        </p:nvCxnSpPr>
        <p:spPr>
          <a:xfrm>
            <a:off x="4754468" y="1971991"/>
            <a:ext cx="1711191" cy="508754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Прямая со стрелкой 11"/>
          <p:cNvCxnSpPr/>
          <p:nvPr/>
        </p:nvCxnSpPr>
        <p:spPr>
          <a:xfrm>
            <a:off x="4754468" y="2442508"/>
            <a:ext cx="1711191" cy="114726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Прямая со стрелкой 16"/>
          <p:cNvCxnSpPr/>
          <p:nvPr/>
        </p:nvCxnSpPr>
        <p:spPr>
          <a:xfrm>
            <a:off x="4662445" y="2852045"/>
            <a:ext cx="1803214" cy="18581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9" name="Прямая со стрелкой 18"/>
          <p:cNvCxnSpPr/>
          <p:nvPr/>
        </p:nvCxnSpPr>
        <p:spPr>
          <a:xfrm flipV="1">
            <a:off x="4765928" y="3025572"/>
            <a:ext cx="1699731" cy="714785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graphicFrame>
        <p:nvGraphicFramePr>
          <p:cNvPr id="5" name="Таблица 4"/>
          <p:cNvGraphicFramePr>
            <a:graphicFrameLocks noGrp="1"/>
          </p:cNvGraphicFramePr>
          <p:nvPr/>
        </p:nvGraphicFramePr>
        <p:xfrm>
          <a:off x="323528" y="1774028"/>
          <a:ext cx="4442400" cy="222409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8800">
                  <a:extLst>
                    <a:ext uri="{9D8B030D-6E8A-4147-A177-3AD203B41FA5}">
                      <a16:colId xmlns:a16="http://schemas.microsoft.com/office/drawing/2014/main" val="3205013019"/>
                    </a:ext>
                  </a:extLst>
                </a:gridCol>
                <a:gridCol w="482400">
                  <a:extLst>
                    <a:ext uri="{9D8B030D-6E8A-4147-A177-3AD203B41FA5}">
                      <a16:colId xmlns:a16="http://schemas.microsoft.com/office/drawing/2014/main" val="3191543783"/>
                    </a:ext>
                  </a:extLst>
                </a:gridCol>
                <a:gridCol w="1738800">
                  <a:extLst>
                    <a:ext uri="{9D8B030D-6E8A-4147-A177-3AD203B41FA5}">
                      <a16:colId xmlns:a16="http://schemas.microsoft.com/office/drawing/2014/main" val="292969844"/>
                    </a:ext>
                  </a:extLst>
                </a:gridCol>
                <a:gridCol w="482400">
                  <a:extLst>
                    <a:ext uri="{9D8B030D-6E8A-4147-A177-3AD203B41FA5}">
                      <a16:colId xmlns:a16="http://schemas.microsoft.com/office/drawing/2014/main" val="114330064"/>
                    </a:ext>
                  </a:extLst>
                </a:gridCol>
              </a:tblGrid>
              <a:tr h="444819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  <a:endParaRPr lang="ru-RU" sz="14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6786467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7406141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0677845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r>
                        <a:rPr lang="ru-RU" sz="1400" dirty="0"/>
                        <a:t>Киви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 Narrow" pitchFamily="34" charset="0"/>
                        </a:rPr>
                        <a:t>NULL</a:t>
                      </a:r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 Narrow" pitchFamily="34" charset="0"/>
                        </a:rPr>
                        <a:t>NULL</a:t>
                      </a:r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55343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4132633"/>
                  </a:ext>
                </a:extLst>
              </a:tr>
            </a:tbl>
          </a:graphicData>
        </a:graphic>
      </p:graphicFrame>
      <p:graphicFrame>
        <p:nvGraphicFramePr>
          <p:cNvPr id="13" name="Таблица 12"/>
          <p:cNvGraphicFramePr>
            <a:graphicFrameLocks noGrp="1"/>
          </p:cNvGraphicFramePr>
          <p:nvPr/>
        </p:nvGraphicFramePr>
        <p:xfrm>
          <a:off x="6588129" y="1821537"/>
          <a:ext cx="2218812" cy="1728000"/>
        </p:xfrm>
        <a:graphic>
          <a:graphicData uri="http://schemas.openxmlformats.org/drawingml/2006/table">
            <a:tbl>
              <a:tblPr>
                <a:tableStyleId>{21E4AEA4-8DFA-4A89-87EB-49C32662AFE0}</a:tableStyleId>
              </a:tblPr>
              <a:tblGrid>
                <a:gridCol w="17376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11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Бананы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Киви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23" name="Прямая со стрелкой 22"/>
          <p:cNvCxnSpPr/>
          <p:nvPr/>
        </p:nvCxnSpPr>
        <p:spPr>
          <a:xfrm flipV="1">
            <a:off x="4780893" y="3269618"/>
            <a:ext cx="1807236" cy="6594"/>
          </a:xfrm>
          <a:prstGeom prst="straightConnector1">
            <a:avLst/>
          </a:prstGeom>
          <a:ln w="25400" cap="flat" cmpd="sng" algn="ctr">
            <a:solidFill>
              <a:schemeClr val="accent2"/>
            </a:solidFill>
            <a:prstDash val="dash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aphicFrame>
        <p:nvGraphicFramePr>
          <p:cNvPr id="27" name="Таблица 26"/>
          <p:cNvGraphicFramePr>
            <a:graphicFrameLocks noGrp="1"/>
          </p:cNvGraphicFramePr>
          <p:nvPr/>
        </p:nvGraphicFramePr>
        <p:xfrm>
          <a:off x="338493" y="4099867"/>
          <a:ext cx="6537762" cy="222409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13227">
                  <a:extLst>
                    <a:ext uri="{9D8B030D-6E8A-4147-A177-3AD203B41FA5}">
                      <a16:colId xmlns:a16="http://schemas.microsoft.com/office/drawing/2014/main" val="3205013019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3191543783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292969844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1063490969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33943568"/>
                    </a:ext>
                  </a:extLst>
                </a:gridCol>
                <a:gridCol w="648071">
                  <a:extLst>
                    <a:ext uri="{9D8B030D-6E8A-4147-A177-3AD203B41FA5}">
                      <a16:colId xmlns:a16="http://schemas.microsoft.com/office/drawing/2014/main" val="114330064"/>
                    </a:ext>
                  </a:extLst>
                </a:gridCol>
              </a:tblGrid>
              <a:tr h="444819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6786467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7406141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0677845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r>
                        <a:rPr lang="ru-RU" sz="1400" dirty="0"/>
                        <a:t>Киви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 Narrow" pitchFamily="34" charset="0"/>
                        </a:rPr>
                        <a:t>NULL</a:t>
                      </a:r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 Narrow" pitchFamily="34" charset="0"/>
                        </a:rPr>
                        <a:t>NULL</a:t>
                      </a:r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Киви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55343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4132633"/>
                  </a:ext>
                </a:extLst>
              </a:tr>
            </a:tbl>
          </a:graphicData>
        </a:graphic>
      </p:graphicFrame>
      <p:sp>
        <p:nvSpPr>
          <p:cNvPr id="28" name="Скругленный прямоугольник 27"/>
          <p:cNvSpPr/>
          <p:nvPr/>
        </p:nvSpPr>
        <p:spPr>
          <a:xfrm>
            <a:off x="179512" y="1676656"/>
            <a:ext cx="1944216" cy="2350111"/>
          </a:xfrm>
          <a:prstGeom prst="roundRect">
            <a:avLst/>
          </a:prstGeom>
          <a:noFill/>
          <a:ln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32389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00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0"/>
                            </p:stCondLst>
                            <p:childTnLst>
                              <p:par>
                                <p:cTn id="2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512" y="551539"/>
            <a:ext cx="8784976" cy="1052017"/>
          </a:xfrm>
        </p:spPr>
        <p:txBody>
          <a:bodyPr>
            <a:normAutofit/>
          </a:bodyPr>
          <a:lstStyle/>
          <a:p>
            <a:r>
              <a:rPr lang="ru-RU" sz="2800" dirty="0"/>
              <a:t>Соединение трех таблиц</a:t>
            </a:r>
            <a:r>
              <a:rPr lang="ru-RU" sz="4800" dirty="0"/>
              <a:t/>
            </a:r>
            <a:br>
              <a:rPr lang="ru-RU" sz="4800" dirty="0"/>
            </a:br>
            <a:r>
              <a:rPr lang="ru-RU" sz="2800" dirty="0">
                <a:solidFill>
                  <a:srgbClr val="FF0000"/>
                </a:solidFill>
              </a:rPr>
              <a:t>(левое , </a:t>
            </a:r>
            <a:r>
              <a:rPr lang="ru-RU" sz="2800" b="1" dirty="0">
                <a:solidFill>
                  <a:srgbClr val="FF0000"/>
                </a:solidFill>
              </a:rPr>
              <a:t>последовательно</a:t>
            </a:r>
            <a:r>
              <a:rPr lang="ru-RU" b="1" dirty="0">
                <a:solidFill>
                  <a:srgbClr val="FF0000"/>
                </a:solidFill>
              </a:rPr>
              <a:t>)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323528" y="1943962"/>
          <a:ext cx="2218816" cy="172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76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11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Киви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/>
        </p:nvGraphicFramePr>
        <p:xfrm>
          <a:off x="3563888" y="1932385"/>
          <a:ext cx="2218812" cy="1728000"/>
        </p:xfrm>
        <a:graphic>
          <a:graphicData uri="http://schemas.openxmlformats.org/drawingml/2006/table">
            <a:tbl>
              <a:tblPr>
                <a:tableStyleId>{21E4AEA4-8DFA-4A89-87EB-49C32662AFE0}</a:tableStyleId>
              </a:tblPr>
              <a:tblGrid>
                <a:gridCol w="17376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11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Бананы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  <a:endParaRPr lang="ru-RU" sz="14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483048" y="1428728"/>
            <a:ext cx="2177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solidFill>
                  <a:srgbClr val="002060"/>
                </a:solidFill>
              </a:rPr>
              <a:t>Исходные таблицы:</a:t>
            </a:r>
          </a:p>
        </p:txBody>
      </p:sp>
      <p:graphicFrame>
        <p:nvGraphicFramePr>
          <p:cNvPr id="15" name="Таблица 14"/>
          <p:cNvGraphicFramePr>
            <a:graphicFrameLocks noGrp="1"/>
          </p:cNvGraphicFramePr>
          <p:nvPr/>
        </p:nvGraphicFramePr>
        <p:xfrm>
          <a:off x="6745676" y="1932385"/>
          <a:ext cx="2218812" cy="1728000"/>
        </p:xfrm>
        <a:graphic>
          <a:graphicData uri="http://schemas.openxmlformats.org/drawingml/2006/table">
            <a:tbl>
              <a:tblPr>
                <a:tableStyleId>{21E4AEA4-8DFA-4A89-87EB-49C32662AFE0}</a:tableStyleId>
              </a:tblPr>
              <a:tblGrid>
                <a:gridCol w="17376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11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Бананы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  <a:endParaRPr lang="ru-RU" sz="14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Киви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7" name="Прямая со стрелкой 6"/>
          <p:cNvCxnSpPr/>
          <p:nvPr/>
        </p:nvCxnSpPr>
        <p:spPr>
          <a:xfrm flipH="1">
            <a:off x="2555776" y="2813187"/>
            <a:ext cx="936104" cy="41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Прямая со стрелкой 7"/>
          <p:cNvCxnSpPr/>
          <p:nvPr/>
        </p:nvCxnSpPr>
        <p:spPr>
          <a:xfrm flipH="1">
            <a:off x="5796136" y="2790635"/>
            <a:ext cx="936104" cy="41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8713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512" y="551539"/>
            <a:ext cx="8784976" cy="1052017"/>
          </a:xfrm>
        </p:spPr>
        <p:txBody>
          <a:bodyPr>
            <a:normAutofit/>
          </a:bodyPr>
          <a:lstStyle/>
          <a:p>
            <a:r>
              <a:rPr lang="ru-RU" sz="2800" dirty="0"/>
              <a:t>Соединение трех таблиц</a:t>
            </a:r>
            <a:r>
              <a:rPr lang="ru-RU" sz="4800" dirty="0"/>
              <a:t/>
            </a:r>
            <a:br>
              <a:rPr lang="ru-RU" sz="4800" dirty="0"/>
            </a:br>
            <a:r>
              <a:rPr lang="ru-RU" sz="2800" dirty="0">
                <a:solidFill>
                  <a:srgbClr val="FF0000"/>
                </a:solidFill>
              </a:rPr>
              <a:t>(левое , последовательно)</a:t>
            </a:r>
            <a:endParaRPr lang="ru-RU" b="1" dirty="0">
              <a:solidFill>
                <a:srgbClr val="FF0000"/>
              </a:solidFill>
            </a:endParaRP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465553" y="1879558"/>
          <a:ext cx="2700000" cy="172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76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11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11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Киви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/>
        </p:nvGraphicFramePr>
        <p:xfrm>
          <a:off x="5986800" y="1912886"/>
          <a:ext cx="2700000" cy="1728000"/>
        </p:xfrm>
        <a:graphic>
          <a:graphicData uri="http://schemas.openxmlformats.org/drawingml/2006/table">
            <a:tbl>
              <a:tblPr>
                <a:tableStyleId>{21E4AEA4-8DFA-4A89-87EB-49C32662AFE0}</a:tableStyleId>
              </a:tblPr>
              <a:tblGrid>
                <a:gridCol w="17376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11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11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Бананы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  <a:endParaRPr lang="ru-RU" sz="14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7" name="Таблица 6"/>
          <p:cNvGraphicFramePr>
            <a:graphicFrameLocks noGrp="1"/>
          </p:cNvGraphicFramePr>
          <p:nvPr/>
        </p:nvGraphicFramePr>
        <p:xfrm>
          <a:off x="2057618" y="3573015"/>
          <a:ext cx="4442400" cy="266891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2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2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44819">
                <a:tc>
                  <a:txBody>
                    <a:bodyPr/>
                    <a:lstStyle/>
                    <a:p>
                      <a:pPr algn="ctr"/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14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  <a:endParaRPr lang="ru-RU" sz="14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r>
                        <a:rPr lang="ru-RU" sz="1400" dirty="0"/>
                        <a:t>Киви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 Narrow" pitchFamily="34" charset="0"/>
                        </a:rPr>
                        <a:t>NULL</a:t>
                      </a:r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 Narrow" pitchFamily="34" charset="0"/>
                        </a:rPr>
                        <a:t>NULL</a:t>
                      </a:r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9027289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483048" y="1428728"/>
            <a:ext cx="2282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solidFill>
                  <a:srgbClr val="002060"/>
                </a:solidFill>
              </a:rPr>
              <a:t>Таблицы один и два: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11736" y="3620005"/>
            <a:ext cx="37341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solidFill>
                  <a:srgbClr val="002060"/>
                </a:solidFill>
              </a:rPr>
              <a:t>Результат соединения двух таблиц:</a:t>
            </a:r>
          </a:p>
        </p:txBody>
      </p:sp>
      <p:cxnSp>
        <p:nvCxnSpPr>
          <p:cNvPr id="8" name="Прямая со стрелкой 7"/>
          <p:cNvCxnSpPr/>
          <p:nvPr/>
        </p:nvCxnSpPr>
        <p:spPr>
          <a:xfrm>
            <a:off x="3220031" y="2060848"/>
            <a:ext cx="2648113" cy="504056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Прямая со стрелкой 11"/>
          <p:cNvCxnSpPr/>
          <p:nvPr/>
        </p:nvCxnSpPr>
        <p:spPr>
          <a:xfrm>
            <a:off x="3220031" y="2060848"/>
            <a:ext cx="2648113" cy="1358860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Прямая со стрелкой 16"/>
          <p:cNvCxnSpPr/>
          <p:nvPr/>
        </p:nvCxnSpPr>
        <p:spPr>
          <a:xfrm>
            <a:off x="3220031" y="2497542"/>
            <a:ext cx="2648113" cy="524654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9" name="Прямая со стрелкой 18"/>
          <p:cNvCxnSpPr/>
          <p:nvPr/>
        </p:nvCxnSpPr>
        <p:spPr>
          <a:xfrm flipV="1">
            <a:off x="3220031" y="3140968"/>
            <a:ext cx="2648113" cy="201079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09640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512" y="551539"/>
            <a:ext cx="8784976" cy="1052017"/>
          </a:xfrm>
        </p:spPr>
        <p:txBody>
          <a:bodyPr>
            <a:normAutofit/>
          </a:bodyPr>
          <a:lstStyle/>
          <a:p>
            <a:r>
              <a:rPr lang="ru-RU" sz="2800" dirty="0"/>
              <a:t>Соединение трех таблиц</a:t>
            </a:r>
            <a:r>
              <a:rPr lang="ru-RU" sz="4800" dirty="0"/>
              <a:t/>
            </a:r>
            <a:br>
              <a:rPr lang="ru-RU" sz="4800" dirty="0"/>
            </a:br>
            <a:r>
              <a:rPr lang="ru-RU" sz="2800" dirty="0">
                <a:solidFill>
                  <a:srgbClr val="FF0000"/>
                </a:solidFill>
              </a:rPr>
              <a:t>(левое , последовательно)</a:t>
            </a:r>
            <a:endParaRPr lang="ru-RU" b="1" dirty="0">
              <a:solidFill>
                <a:srgbClr val="FF0000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483048" y="1428728"/>
            <a:ext cx="5484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solidFill>
                  <a:srgbClr val="002060"/>
                </a:solidFill>
              </a:rPr>
              <a:t>Результат соединения</a:t>
            </a:r>
            <a:r>
              <a:rPr lang="en-US" b="1" dirty="0">
                <a:solidFill>
                  <a:srgbClr val="002060"/>
                </a:solidFill>
              </a:rPr>
              <a:t> </a:t>
            </a:r>
            <a:r>
              <a:rPr lang="ru-RU" b="1" dirty="0">
                <a:solidFill>
                  <a:srgbClr val="002060"/>
                </a:solidFill>
              </a:rPr>
              <a:t>двух таблиц и третья таблица: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76946" y="3657435"/>
            <a:ext cx="37051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solidFill>
                  <a:srgbClr val="002060"/>
                </a:solidFill>
              </a:rPr>
              <a:t>Результат соединения</a:t>
            </a:r>
            <a:r>
              <a:rPr lang="en-US" b="1" dirty="0">
                <a:solidFill>
                  <a:srgbClr val="002060"/>
                </a:solidFill>
              </a:rPr>
              <a:t> </a:t>
            </a:r>
            <a:r>
              <a:rPr lang="ru-RU" b="1" dirty="0">
                <a:solidFill>
                  <a:srgbClr val="002060"/>
                </a:solidFill>
              </a:rPr>
              <a:t>трех таблиц:</a:t>
            </a:r>
          </a:p>
        </p:txBody>
      </p:sp>
      <p:cxnSp>
        <p:nvCxnSpPr>
          <p:cNvPr id="8" name="Прямая со стрелкой 7"/>
          <p:cNvCxnSpPr/>
          <p:nvPr/>
        </p:nvCxnSpPr>
        <p:spPr>
          <a:xfrm>
            <a:off x="4754468" y="1971991"/>
            <a:ext cx="1711191" cy="508754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Прямая со стрелкой 11"/>
          <p:cNvCxnSpPr/>
          <p:nvPr/>
        </p:nvCxnSpPr>
        <p:spPr>
          <a:xfrm>
            <a:off x="4754468" y="2442508"/>
            <a:ext cx="1711191" cy="114726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Прямая со стрелкой 16"/>
          <p:cNvCxnSpPr/>
          <p:nvPr/>
        </p:nvCxnSpPr>
        <p:spPr>
          <a:xfrm>
            <a:off x="4662445" y="2852045"/>
            <a:ext cx="1803214" cy="18581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9" name="Прямая со стрелкой 18"/>
          <p:cNvCxnSpPr/>
          <p:nvPr/>
        </p:nvCxnSpPr>
        <p:spPr>
          <a:xfrm flipV="1">
            <a:off x="4765928" y="3025572"/>
            <a:ext cx="1699731" cy="714785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graphicFrame>
        <p:nvGraphicFramePr>
          <p:cNvPr id="5" name="Таблица 4"/>
          <p:cNvGraphicFramePr>
            <a:graphicFrameLocks noGrp="1"/>
          </p:cNvGraphicFramePr>
          <p:nvPr/>
        </p:nvGraphicFramePr>
        <p:xfrm>
          <a:off x="323528" y="1774028"/>
          <a:ext cx="4442400" cy="222409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8800">
                  <a:extLst>
                    <a:ext uri="{9D8B030D-6E8A-4147-A177-3AD203B41FA5}">
                      <a16:colId xmlns:a16="http://schemas.microsoft.com/office/drawing/2014/main" val="3205013019"/>
                    </a:ext>
                  </a:extLst>
                </a:gridCol>
                <a:gridCol w="482400">
                  <a:extLst>
                    <a:ext uri="{9D8B030D-6E8A-4147-A177-3AD203B41FA5}">
                      <a16:colId xmlns:a16="http://schemas.microsoft.com/office/drawing/2014/main" val="3191543783"/>
                    </a:ext>
                  </a:extLst>
                </a:gridCol>
                <a:gridCol w="1738800">
                  <a:extLst>
                    <a:ext uri="{9D8B030D-6E8A-4147-A177-3AD203B41FA5}">
                      <a16:colId xmlns:a16="http://schemas.microsoft.com/office/drawing/2014/main" val="292969844"/>
                    </a:ext>
                  </a:extLst>
                </a:gridCol>
                <a:gridCol w="482400">
                  <a:extLst>
                    <a:ext uri="{9D8B030D-6E8A-4147-A177-3AD203B41FA5}">
                      <a16:colId xmlns:a16="http://schemas.microsoft.com/office/drawing/2014/main" val="114330064"/>
                    </a:ext>
                  </a:extLst>
                </a:gridCol>
              </a:tblGrid>
              <a:tr h="444819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  <a:endParaRPr lang="ru-RU" sz="1400" dirty="0">
                        <a:solidFill>
                          <a:schemeClr val="bg1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6786467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7406141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0677845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r>
                        <a:rPr lang="ru-RU" sz="1400" dirty="0"/>
                        <a:t>Киви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 Narrow" pitchFamily="34" charset="0"/>
                        </a:rPr>
                        <a:t>NULL</a:t>
                      </a:r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 Narrow" pitchFamily="34" charset="0"/>
                        </a:rPr>
                        <a:t>NULL</a:t>
                      </a:r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55343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4132633"/>
                  </a:ext>
                </a:extLst>
              </a:tr>
            </a:tbl>
          </a:graphicData>
        </a:graphic>
      </p:graphicFrame>
      <p:graphicFrame>
        <p:nvGraphicFramePr>
          <p:cNvPr id="13" name="Таблица 12"/>
          <p:cNvGraphicFramePr>
            <a:graphicFrameLocks noGrp="1"/>
          </p:cNvGraphicFramePr>
          <p:nvPr/>
        </p:nvGraphicFramePr>
        <p:xfrm>
          <a:off x="6588129" y="1821537"/>
          <a:ext cx="2218812" cy="1728000"/>
        </p:xfrm>
        <a:graphic>
          <a:graphicData uri="http://schemas.openxmlformats.org/drawingml/2006/table">
            <a:tbl>
              <a:tblPr>
                <a:tableStyleId>{21E4AEA4-8DFA-4A89-87EB-49C32662AFE0}</a:tableStyleId>
              </a:tblPr>
              <a:tblGrid>
                <a:gridCol w="17376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11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Бананы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ru-RU" sz="1400" dirty="0"/>
                        <a:t>Киви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7" name="Таблица 26"/>
          <p:cNvGraphicFramePr>
            <a:graphicFrameLocks noGrp="1"/>
          </p:cNvGraphicFramePr>
          <p:nvPr/>
        </p:nvGraphicFramePr>
        <p:xfrm>
          <a:off x="338493" y="4099867"/>
          <a:ext cx="6537762" cy="222409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13227">
                  <a:extLst>
                    <a:ext uri="{9D8B030D-6E8A-4147-A177-3AD203B41FA5}">
                      <a16:colId xmlns:a16="http://schemas.microsoft.com/office/drawing/2014/main" val="3205013019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3191543783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292969844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1063490969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33943568"/>
                    </a:ext>
                  </a:extLst>
                </a:gridCol>
                <a:gridCol w="648071">
                  <a:extLst>
                    <a:ext uri="{9D8B030D-6E8A-4147-A177-3AD203B41FA5}">
                      <a16:colId xmlns:a16="http://schemas.microsoft.com/office/drawing/2014/main" val="114330064"/>
                    </a:ext>
                  </a:extLst>
                </a:gridCol>
              </a:tblGrid>
              <a:tr h="444819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6786467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7406141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0677845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r>
                        <a:rPr lang="ru-RU" sz="1400" dirty="0"/>
                        <a:t>Киви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 Narrow" pitchFamily="34" charset="0"/>
                        </a:rPr>
                        <a:t>NULL</a:t>
                      </a:r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 Narrow" pitchFamily="34" charset="0"/>
                        </a:rPr>
                        <a:t>NULL</a:t>
                      </a:r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 Narrow" pitchFamily="34" charset="0"/>
                        </a:rPr>
                        <a:t>NULL</a:t>
                      </a:r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 Narrow" pitchFamily="34" charset="0"/>
                        </a:rPr>
                        <a:t>NULL</a:t>
                      </a:r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55343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4132633"/>
                  </a:ext>
                </a:extLst>
              </a:tr>
            </a:tbl>
          </a:graphicData>
        </a:graphic>
      </p:graphicFrame>
      <p:sp>
        <p:nvSpPr>
          <p:cNvPr id="14" name="Скругленный прямоугольник 13"/>
          <p:cNvSpPr/>
          <p:nvPr/>
        </p:nvSpPr>
        <p:spPr>
          <a:xfrm>
            <a:off x="2483768" y="1676656"/>
            <a:ext cx="1872208" cy="2350111"/>
          </a:xfrm>
          <a:prstGeom prst="roundRect">
            <a:avLst/>
          </a:prstGeom>
          <a:noFill/>
          <a:ln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44675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00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512" y="551539"/>
            <a:ext cx="8784976" cy="1052017"/>
          </a:xfrm>
        </p:spPr>
        <p:txBody>
          <a:bodyPr>
            <a:normAutofit fontScale="90000"/>
          </a:bodyPr>
          <a:lstStyle/>
          <a:p>
            <a:r>
              <a:rPr lang="ru-RU" sz="4800" dirty="0"/>
              <a:t/>
            </a:r>
            <a:br>
              <a:rPr lang="ru-RU" sz="4800" dirty="0"/>
            </a:br>
            <a:endParaRPr lang="ru-RU" b="1" dirty="0">
              <a:solidFill>
                <a:srgbClr val="FF0000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884122" y="4099867"/>
            <a:ext cx="20882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solidFill>
                  <a:srgbClr val="002060"/>
                </a:solidFill>
              </a:rPr>
              <a:t>Последовательно:</a:t>
            </a:r>
          </a:p>
        </p:txBody>
      </p:sp>
      <p:graphicFrame>
        <p:nvGraphicFramePr>
          <p:cNvPr id="27" name="Таблица 26"/>
          <p:cNvGraphicFramePr>
            <a:graphicFrameLocks noGrp="1"/>
          </p:cNvGraphicFramePr>
          <p:nvPr/>
        </p:nvGraphicFramePr>
        <p:xfrm>
          <a:off x="338493" y="4099867"/>
          <a:ext cx="6537762" cy="222409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13227">
                  <a:extLst>
                    <a:ext uri="{9D8B030D-6E8A-4147-A177-3AD203B41FA5}">
                      <a16:colId xmlns:a16="http://schemas.microsoft.com/office/drawing/2014/main" val="3205013019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3191543783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292969844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1063490969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33943568"/>
                    </a:ext>
                  </a:extLst>
                </a:gridCol>
                <a:gridCol w="648071">
                  <a:extLst>
                    <a:ext uri="{9D8B030D-6E8A-4147-A177-3AD203B41FA5}">
                      <a16:colId xmlns:a16="http://schemas.microsoft.com/office/drawing/2014/main" val="114330064"/>
                    </a:ext>
                  </a:extLst>
                </a:gridCol>
              </a:tblGrid>
              <a:tr h="444819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6786467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7406141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0677845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r>
                        <a:rPr lang="ru-RU" sz="1400" dirty="0"/>
                        <a:t>Киви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 Narrow" pitchFamily="34" charset="0"/>
                        </a:rPr>
                        <a:t>NULL</a:t>
                      </a:r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 Narrow" pitchFamily="34" charset="0"/>
                        </a:rPr>
                        <a:t>NULL</a:t>
                      </a:r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 Narrow" pitchFamily="34" charset="0"/>
                        </a:rPr>
                        <a:t>NULL</a:t>
                      </a:r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 Narrow" pitchFamily="34" charset="0"/>
                        </a:rPr>
                        <a:t>NULL</a:t>
                      </a:r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55343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4132633"/>
                  </a:ext>
                </a:extLst>
              </a:tr>
            </a:tbl>
          </a:graphicData>
        </a:graphic>
      </p:graphicFrame>
      <p:sp>
        <p:nvSpPr>
          <p:cNvPr id="14" name="Заголовок 1"/>
          <p:cNvSpPr txBox="1">
            <a:spLocks/>
          </p:cNvSpPr>
          <p:nvPr/>
        </p:nvSpPr>
        <p:spPr bwMode="auto">
          <a:xfrm>
            <a:off x="179512" y="590879"/>
            <a:ext cx="8784976" cy="10520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Autofit/>
          </a:bodyPr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sz="3200" b="1" kern="1200">
                <a:ln>
                  <a:solidFill>
                    <a:schemeClr val="bg1"/>
                  </a:solidFill>
                </a:ln>
                <a:gradFill>
                  <a:gsLst>
                    <a:gs pos="55000">
                      <a:srgbClr val="F50516"/>
                    </a:gs>
                    <a:gs pos="86000">
                      <a:srgbClr val="C00000"/>
                    </a:gs>
                  </a:gsLst>
                  <a:lin ang="5400000" scaled="0"/>
                </a:gradFill>
                <a:effectLst>
                  <a:outerShdw blurRad="38100" dist="38100" dir="5400000" algn="ctr" rotWithShape="0">
                    <a:schemeClr val="bg1">
                      <a:lumMod val="50000"/>
                    </a:schemeClr>
                  </a:outerShdw>
                </a:effectLst>
                <a:latin typeface="Arial Black" pitchFamily="34" charset="0"/>
                <a:ea typeface="Verdana" pitchFamily="34" charset="0"/>
                <a:cs typeface="Verdana" pitchFamily="34" charset="0"/>
              </a:defRPr>
            </a:lvl1pPr>
            <a:lvl2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 Black" pitchFamily="34" charset="0"/>
                <a:ea typeface="Verdana" pitchFamily="34" charset="0"/>
                <a:cs typeface="Verdana" pitchFamily="34" charset="0"/>
              </a:defRPr>
            </a:lvl2pPr>
            <a:lvl3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 Black" pitchFamily="34" charset="0"/>
                <a:ea typeface="Verdana" pitchFamily="34" charset="0"/>
                <a:cs typeface="Verdana" pitchFamily="34" charset="0"/>
              </a:defRPr>
            </a:lvl3pPr>
            <a:lvl4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 Black" pitchFamily="34" charset="0"/>
                <a:ea typeface="Verdana" pitchFamily="34" charset="0"/>
                <a:cs typeface="Verdana" pitchFamily="34" charset="0"/>
              </a:defRPr>
            </a:lvl4pPr>
            <a:lvl5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 Black" pitchFamily="34" charset="0"/>
                <a:ea typeface="Verdana" pitchFamily="34" charset="0"/>
                <a:cs typeface="Verdana" pitchFamily="34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rgbClr val="C00000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rgbClr val="C00000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rgbClr val="C00000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rgbClr val="C00000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9pPr>
          </a:lstStyle>
          <a:p>
            <a:r>
              <a:rPr lang="ru-RU" sz="2800" dirty="0"/>
              <a:t>Соединение трех таблиц</a:t>
            </a:r>
            <a:r>
              <a:rPr lang="en-US" sz="2800" dirty="0"/>
              <a:t> </a:t>
            </a:r>
            <a:r>
              <a:rPr lang="ru-RU" sz="2800" dirty="0">
                <a:solidFill>
                  <a:srgbClr val="FF0000"/>
                </a:solidFill>
              </a:rPr>
              <a:t>(левое , параллельно </a:t>
            </a:r>
            <a:r>
              <a:rPr lang="en-US" sz="2800" dirty="0">
                <a:solidFill>
                  <a:srgbClr val="FF0000"/>
                </a:solidFill>
              </a:rPr>
              <a:t>vs </a:t>
            </a:r>
            <a:r>
              <a:rPr lang="ru-RU" sz="2800" dirty="0">
                <a:solidFill>
                  <a:srgbClr val="FF0000"/>
                </a:solidFill>
              </a:rPr>
              <a:t>последовательно)</a:t>
            </a:r>
          </a:p>
        </p:txBody>
      </p:sp>
      <p:graphicFrame>
        <p:nvGraphicFramePr>
          <p:cNvPr id="15" name="Таблица 14"/>
          <p:cNvGraphicFramePr>
            <a:graphicFrameLocks noGrp="1"/>
          </p:cNvGraphicFramePr>
          <p:nvPr/>
        </p:nvGraphicFramePr>
        <p:xfrm>
          <a:off x="331912" y="1723372"/>
          <a:ext cx="6537762" cy="222409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13227">
                  <a:extLst>
                    <a:ext uri="{9D8B030D-6E8A-4147-A177-3AD203B41FA5}">
                      <a16:colId xmlns:a16="http://schemas.microsoft.com/office/drawing/2014/main" val="3205013019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3191543783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292969844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1063490969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33943568"/>
                    </a:ext>
                  </a:extLst>
                </a:gridCol>
                <a:gridCol w="648071">
                  <a:extLst>
                    <a:ext uri="{9D8B030D-6E8A-4147-A177-3AD203B41FA5}">
                      <a16:colId xmlns:a16="http://schemas.microsoft.com/office/drawing/2014/main" val="114330064"/>
                    </a:ext>
                  </a:extLst>
                </a:gridCol>
              </a:tblGrid>
              <a:tr h="444819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6786467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7406141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0677845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r>
                        <a:rPr lang="ru-RU" sz="1400" dirty="0"/>
                        <a:t>Киви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 Narrow" pitchFamily="34" charset="0"/>
                        </a:rPr>
                        <a:t>NULL</a:t>
                      </a:r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 Narrow" pitchFamily="34" charset="0"/>
                        </a:rPr>
                        <a:t>NULL</a:t>
                      </a:r>
                      <a:endParaRPr lang="ru-RU" sz="1100" dirty="0">
                        <a:solidFill>
                          <a:srgbClr val="FF0000"/>
                        </a:solidFill>
                        <a:latin typeface="Arial Narrow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Киви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55343"/>
                  </a:ext>
                </a:extLst>
              </a:tr>
              <a:tr h="44481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65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4132633"/>
                  </a:ext>
                </a:extLst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869674" y="1795296"/>
            <a:ext cx="20882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solidFill>
                  <a:srgbClr val="002060"/>
                </a:solidFill>
              </a:rPr>
              <a:t>Параллельно:</a:t>
            </a:r>
          </a:p>
        </p:txBody>
      </p:sp>
    </p:spTree>
    <p:extLst>
      <p:ext uri="{BB962C8B-B14F-4D97-AF65-F5344CB8AC3E}">
        <p14:creationId xmlns:p14="http://schemas.microsoft.com/office/powerpoint/2010/main" val="1491528371"/>
      </p:ext>
    </p:extLst>
  </p:cSld>
  <p:clrMapOvr>
    <a:masterClrMapping/>
  </p:clrMapOvr>
</p:sld>
</file>

<file path=ppt/theme/theme1.xml><?xml version="1.0" encoding="utf-8"?>
<a:theme xmlns:a="http://schemas.openxmlformats.org/drawingml/2006/main" name="СофтБаланс_БухгалтерскийУчет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СофтБаланс_БухгалтерскийУчет" id="{7F72F8D9-2713-4673-8BBB-8953CDFC47FD}" vid="{7D13FDD6-802B-4F23-A255-BEF0D1C062B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СофтБаланс_БухгалтерскийУчет</Template>
  <TotalTime>1885</TotalTime>
  <Words>2564</Words>
  <Application>Microsoft Office PowerPoint</Application>
  <PresentationFormat>Экран (4:3)</PresentationFormat>
  <Paragraphs>1398</Paragraphs>
  <Slides>44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44</vt:i4>
      </vt:variant>
    </vt:vector>
  </HeadingPairs>
  <TitlesOfParts>
    <vt:vector size="52" baseType="lpstr">
      <vt:lpstr>Arial</vt:lpstr>
      <vt:lpstr>Arial Black</vt:lpstr>
      <vt:lpstr>Arial Narrow</vt:lpstr>
      <vt:lpstr>Calibri</vt:lpstr>
      <vt:lpstr>Tahoma</vt:lpstr>
      <vt:lpstr>Verdana</vt:lpstr>
      <vt:lpstr>Wingdings</vt:lpstr>
      <vt:lpstr>СофтБаланс_БухгалтерскийУчет</vt:lpstr>
      <vt:lpstr>Занятие 14</vt:lpstr>
      <vt:lpstr>Количественный учет</vt:lpstr>
      <vt:lpstr>Количественный учет</vt:lpstr>
      <vt:lpstr>Признак учета</vt:lpstr>
      <vt:lpstr>Настройка в регистре бухгалтерии</vt:lpstr>
      <vt:lpstr>Таблица движений по счетам до изменения.</vt:lpstr>
      <vt:lpstr>Таблица движений по счетам после изменений</vt:lpstr>
      <vt:lpstr>Таблица остатков и оборотов по счетам до изменения.</vt:lpstr>
      <vt:lpstr>Таблица остатков и оборотов по счетам после изменения.</vt:lpstr>
      <vt:lpstr>Таблица оборотов между счетами до изменения</vt:lpstr>
      <vt:lpstr>Таблица оборотов между счетами после изменения. </vt:lpstr>
      <vt:lpstr>Опциональная аналитика</vt:lpstr>
      <vt:lpstr>Подключение субконто к счёту</vt:lpstr>
      <vt:lpstr>Подключение субконто к счёту</vt:lpstr>
      <vt:lpstr>Таблицы остатков. У счёта 41.1 товары опт одно субконто</vt:lpstr>
      <vt:lpstr>Таблицы остатков. К счёту 41.1 товары опт добавили субконто</vt:lpstr>
      <vt:lpstr>Таблицы остатков. У счёта 41.1 товары опт два субконто</vt:lpstr>
      <vt:lpstr>Таблицы остатков. У счёта 41.1 товары опт два субконто</vt:lpstr>
      <vt:lpstr>Отключение субконто от счёта</vt:lpstr>
      <vt:lpstr>Отключение субконто от счёта</vt:lpstr>
      <vt:lpstr>Таблицы остатков. У счёта 41.1 товары опт два субконто</vt:lpstr>
      <vt:lpstr>Таблицы остатков. У счёта 41.1 товары опт два субконто</vt:lpstr>
      <vt:lpstr>Таблицы остатков. У счёта 41.1 товары опт одно субконто</vt:lpstr>
      <vt:lpstr>Традиционная технология  проведения</vt:lpstr>
      <vt:lpstr>Традиционная технология проведения</vt:lpstr>
      <vt:lpstr>Традиционная технология проведения</vt:lpstr>
      <vt:lpstr>Традиционная технология проведения</vt:lpstr>
      <vt:lpstr>Традиционная технология проведения</vt:lpstr>
      <vt:lpstr>Традиционная технология проведения</vt:lpstr>
      <vt:lpstr>Традиционная технология проведения</vt:lpstr>
      <vt:lpstr>Проводки документа «Реализация товаров и услуг»</vt:lpstr>
      <vt:lpstr>Себестоимость без учёта склада</vt:lpstr>
      <vt:lpstr>Данные для формирования проводок</vt:lpstr>
      <vt:lpstr>Данные для формирования проводок</vt:lpstr>
      <vt:lpstr>Данные в результате запроса</vt:lpstr>
      <vt:lpstr>Схема запроса</vt:lpstr>
      <vt:lpstr>Соединение трех таблиц</vt:lpstr>
      <vt:lpstr>Соединение трех таблиц (левое ,параллельно)</vt:lpstr>
      <vt:lpstr>Соединение трех таблиц (левое ,параллельно)</vt:lpstr>
      <vt:lpstr>Соединение трех таблиц (левое ,параллельно)</vt:lpstr>
      <vt:lpstr>Соединение трех таблиц (левое , последовательно)</vt:lpstr>
      <vt:lpstr>Соединение трех таблиц (левое , последовательно)</vt:lpstr>
      <vt:lpstr>Соединение трех таблиц (левое , последовательно)</vt:lpstr>
      <vt:lpstr>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eugeniy sizov</dc:creator>
  <cp:lastModifiedBy>eugeniy sizov</cp:lastModifiedBy>
  <cp:revision>96</cp:revision>
  <dcterms:created xsi:type="dcterms:W3CDTF">2015-05-03T18:24:44Z</dcterms:created>
  <dcterms:modified xsi:type="dcterms:W3CDTF">2020-10-30T10:46:48Z</dcterms:modified>
</cp:coreProperties>
</file>